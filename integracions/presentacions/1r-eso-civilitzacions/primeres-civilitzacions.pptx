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 id="{c40ff1f7-7500-a4fa-49af-25833f4b9255}">
          <p14:sldIdLst>
            <p14:sldId id="256"/>
            <p14:sldId id="257"/>
            <p14:sldId id="258"/>
          </p14:sldIdLst>
        </p14:section>
        <p14:section name="Apartat 1. Què és una civilització?" id="{d18ca053-8330-eebe-964f-c6655010061f}">
          <p14:sldIdLst>
            <p14:sldId id="259"/>
            <p14:sldId id="260"/>
            <p14:sldId id="261"/>
            <p14:sldId id="262"/>
            <p14:sldId id="263"/>
            <p14:sldId id="264"/>
            <p14:sldId id="265"/>
            <p14:sldId id="266"/>
            <p14:sldId id="267"/>
          </p14:sldIdLst>
        </p14:section>
        <p14:section name="Apartat 2. Mesopotàmia. El país entre rius" id="{fbbb2daf-3933-7f2b-9ac2-5063d9705138}">
          <p14:sldIdLst>
            <p14:sldId id="268"/>
            <p14:sldId id="269"/>
            <p14:sldId id="270"/>
            <p14:sldId id="271"/>
            <p14:sldId id="272"/>
            <p14:sldId id="273"/>
            <p14:sldId id="274"/>
            <p14:sldId id="275"/>
            <p14:sldId id="276"/>
            <p14:sldId id="277"/>
            <p14:sldId id="278"/>
            <p14:sldId id="279"/>
            <p14:sldId id="280"/>
            <p14:sldId id="281"/>
            <p14:sldId id="282"/>
            <p14:sldId id="283"/>
            <p14:sldId id="284"/>
          </p14:sldIdLst>
        </p14:section>
        <p14:section name="Apartat 3. Egipte, un do del Nil" id="{e1600dba-7cc2-bebb-a5b8-9d603ba58886}">
          <p14:sldIdLst>
            <p14:sldId id="285"/>
            <p14:sldId id="286"/>
            <p14:sldId id="287"/>
            <p14:sldId id="288"/>
            <p14:sldId id="289"/>
            <p14:sldId id="290"/>
            <p14:sldId id="291"/>
            <p14:sldId id="292"/>
          </p14:sldIdLst>
        </p14:section>
        <p14:section name="Apartat 4. Societat, religió i el més enllà" id="{86bf3b97-398f-b4f4-d585-e6173c2659ca}">
          <p14:sldIdLst>
            <p14:sldId id="293"/>
            <p14:sldId id="294"/>
            <p14:sldId id="295"/>
            <p14:sldId id="296"/>
            <p14:sldId id="297"/>
            <p14:sldId id="298"/>
            <p14:sldId id="299"/>
            <p14:sldId id="300"/>
            <p14:sldId id="301"/>
            <p14:sldId id="302"/>
            <p14:sldId id="303"/>
            <p14:sldId id="304"/>
            <p14:sldId id="305"/>
          </p14:sldIdLst>
        </p14:section>
        <p14:section name="Apartat 5. Piràmides, temples i jeroglífics" id="{16fb11db-eedd-c151-3b78-79748408402d}">
          <p14:sldIdLst>
            <p14:sldId id="306"/>
            <p14:sldId id="307"/>
            <p14:sldId id="308"/>
            <p14:sldId id="309"/>
            <p14:sldId id="310"/>
            <p14:sldId id="311"/>
            <p14:sldId id="312"/>
            <p14:sldId id="313"/>
            <p14:sldId id="314"/>
          </p14:sldIdLst>
        </p14:section>
        <p14:section name="Apartat 6. Altres civilitzacions urbanes del món antic" id="{cf3a079b-eab7-d2af-8aee-4a92592ab97b}">
          <p14:sldIdLst>
            <p14:sldId id="315"/>
            <p14:sldId id="316"/>
            <p14:sldId id="317"/>
            <p14:sldId id="318"/>
            <p14:sldId id="319"/>
            <p14:sldId id="320"/>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 més de 5.000 anys, a la vora del Tigris, l'Eufrates i el Nil, van néixer les primeres ciutats, els primers reis i les primeres lleis escrites. En aquesta unitat veurem per què va passar allà, com vivien aquelles societats, en què creien i què ens n'ha quedat. Les piràmides de Gizeh les tornarem a trobar als apartats 3 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Llegiu els objectius en veu alta i demaneu quin els sembla més fàcil i quin més difícil. Hi tornareu al final de la unitat, a la sessió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que ja coneixia l'escriptura i en conservem documents escrits. La frontera entre prehistòria i història és l'escriptura, i les ciutats, els metalls i l'agricultura van aparèixer abans que els textos escrits. 2, perquè el riu regava les terres i hi deixava un fang molt fèrtil, els llims. Amb aigua i bona terra hi havia collites grans, i els aliments que sobraven permetien alimentar ciutats senceres. 3, fals. Totes dues religions eren politeistes. Adoraven molts déus, cadascun amb el seu àmbit. 4, vertader. La plana entre el Tigris i l'Eufrates correspon sobretot a l'Iraq actual. Les preguntes 2 i 3 solen revelar les idees prèvies més arrelades, com pensar que els rius servien per pescar o per defensar-se, o creure que els antics ja eren monoteistes. L'avaluació inicial completa, amb deu preguntes, és a la pàgina de la unitat.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què és una civilització i quins trets la defineixen, on i quan van néixer les primeres, per què a la vora dels rius i com ho expliquen els historiadors. Deixeu la pregunta guia oberta i torneu-hi en acabar l'apartat. El ziggurat d'Ur el tornarem a veure a l'apartat 2, amb les ciutats sumèries.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Anomenem civilitzacions les societats que, a partir de l'Edat dels metalls, van arribar a una organització molt superior a la dels poblats neolítics. Aquí hi ha la resposta a la primera part de la pregunta guia. Un poblat neolític no tenia aquests sis trets, i una ciutat, sí. Demaneu a l'alumnat que tanqui els ulls i en digui els sis abans de passar de diapositiva. És la primera pregunta del «Comprova-ho».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franja verda és Mesopotàmia, des de l'escriptura fins a la conquesta persa del 539 aC. La taronja és Egipte, des de la unificació fins que, el 30 aC, amb la mort de Cleòpatra, passa a ser una província de Roma. Demaneu a l'alumnat que compti les marques de 500 anys de cada franja. Hammurabi, Gizeh i l'Imperi Nou els veurem als apartats 2 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Fluvial vol dir «del riu». Feu localitzar a l'alumnat els quatre rius al mapa i demaneu què tenen en comú els llocs on són (són zones càlides i seques, on sense el riu no hi hauria vida). Mesopotàmia i Egipte són les primeres, i al mapa es veu que la civilització de l'Indus i la Xina dels Shang són posteriors. Alguns llibres de text anomenen hindú la civilització de l'Indus. És més exacte dir-ne civilització de l'Indus o harappana.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crescudes anuals inundaven les ribes i hi deixaven una capa de llims. Amb canals de regadiu, aquells camps produïen collites enormes. Els excedents, el menjar que sobrava, van permetre alimentar ciutats senceres, mantenir funcionaris, sacerdots i artesans, i comerciar. Seguiu el dibuix amb l'alumnat, primer la crescuda i després el que queda quan l'aigua baixa. El dibuix és un esquema, no un riu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Riu, terra fèrtil, excedents, ciutats, necessitat d'organitzar-se, estat i escriptura. Una bona activitat és projectar només les icones i demanar a l'alumnat que posi les paraules en ordre. Aquí hi ha la resposta a la segona part de la pregunta guia, per què les primeres ciutats van néixer al costat d'un riu.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que l'excedent va permetre els oficis especialitzats és de l'arqueòleg Gordon Childe, que als anys 1930 va parlar de «revolució urbana» (diapositiva següent). La idea que els estats neixen per organitzar el regadiu és de K. Wittfogel (1957), i R. McC. Adams va mostrar que a Mesopotàmia els grans canals són posteriors als primers estats. La de la guerra en terres envoltades de desert és de R. Carneiro (1970). Demaneu als alumnes quina explicació els convenç més i per què.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nom el va posar l'arqueòleg Gordon Childe als anys 1930. Fixeu-vos que és una «revolució» de molts segles, no d'un dia. Amb els oficis especialitzats també van arribar les desigualtats, perquè els qui controlaven l'excedent es van fer rics i poderosos. Ho veurem a la piràmide social de l'apartat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ciutats, estat, societat jerarquitzada, religió organitzada, escriptura i grans obres. 2, el Tigris i l'Eufrates a Mesopotàmia, i el Nil a Egipte. 3, perquè feien la terra molt fèrtil. Amb regadiu donaven collites enormes, i els excedents permetien alimentar les ciutats. 4, per exemple, l'excedent, que va permetre que molta gent fes altres oficis, l'organització dels canals de regadiu, la guerra per les terres fèrtils o el comerç.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on era Mesopotàmia, com es van passar de les ciutats-estat als imperis, qui manava i qui treballava, el codi d'Hammurabi, els déus i el més enllà, el comerç i els invents. La resposta a la segona part de la pregunta guia és a les fonts. Sabem què hi passava gràcies a les tauletes escrites, les inscripcions, les lleis i objectes com aquest estendard, que llegirem més endavant.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mapa, la franja verda marca, de manera aproximada, les terres que reguen el Nil, el Tigris i l'Eufrates, i tot al voltant hi ha deserts. Els rius i les costes són els actuals. Feu-los localitzar Ur, Uruk, Lagaix i Babilònia, i comparar la plana oberta de Mesopotàmia amb la vall estreta del Nil, protegida pels deserts. Aquesta diferència explica moltes coses que veurem a l'apartat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Recordeu el ziggurat d'Ur de l'entrada de l'apartat 1. El va fer construir el rei Ur-Nammu per al déu de la lluna, Nanna. Pregunteu què passa quan dues ciutats veïnes depenen del mateix riu (es barallen per l'aigua i les terres) i com un rei fort pot acabar dominant-les totes.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Segons la tradició, Nabucodonosor II va fer a Babilònia els jardins penjants, però no se n'ha trobat cap prova. Atenció, l'Imperi neobabilònic comença el 626 aC. El 612 aC és la caiguda de Nínive. Abans ja s'havia corregit «Sargon I» per «Sargon d'Accad», perquè Sargon I és un rei assiri posterior.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orientativa. La muralla de maó, la ciutat, els palmerars, les terres baixes i el recinte del temple d'Ixtar. Hi ha una traducció catalana completa feta directament de l'accadi per Adelina Millet i Lluís Feliu (IPOA, Universitat de Barcelona). La història es pot escoltar a «En guàrdia!» (3Cat).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ciutats sumèries eren societats molt desiguals, amb molt poca gent a dalt i la gran majoria a baix. El lugal no era un déu, sinó el representant del déu de la ciutat a la terra. Dirigia l'exèrcit, feia justícia i manava construir temples, muralles i canals. Els escribes estudiaven molts anys a l'escola, que en sumeri es deia «la casa de les tauletes». Els pagesos conreaven les terres del temple, del rei o les seves, n'havien de lliurar una part de la collita i treballaven a les obres públiques. Segons el codi d'Hammurabi, qui havia estat venut per un deute treballava tres anys per a l'amo i el quart quedava lliure. A Enheduanna se li atribueixen himnes a la deessa Inanna, tot i que alguns experts en dubten.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el rei, que celebra un banquet amb els seus convidats mentre un músic toca la lira. La mida mostra la importància. 2, bous, cabres, ovelles i càrregues, potser tributs o botí de guerra. 3, el lapislàtzuli venia de l'actual Afganistan. Les figures són de petxina i les vores de pedra calcària vermella. És una bona manera de practicar la lectura d'una font iconogràfica. La relació entre la mida i la importància la tornarem a trobar a l'art egipci (apartat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dalt de l'estela, el rei Hammurabi es presenta dret davant del déu del sol i de la justícia, Xamaix, assegut al tron. A sota hi ha les lleis, en escriptura cuneïforme. Es va trobar a Susa (Iran) el 1901 i ara és al Museu del Louvre de París. Atenció, alguns llibres diuen que és el primer codi escrit. No ho és, però sí el més complet que es conserva. Els plebeus eren homes lliures de rang més baix.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Feu llegir els quatre articles i que descobreixin sols que el càstig depèn del grup social de la víctima. Una mina de plata era uns 500 grams. A l'article 198 hi faltava el cas de l'ull, que sí que és a l'original i que la traducció de l'XTEC deixa fora. Hi ha context en català a Ciències Socials en Xarxa. Pregunteu si avui la llei castigaria diferent segons qui és la víctima.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Inanna i Utu són els noms sumeris. Els accadis els anomenaven Ixtar i Xamaix. Xamaix és el déu que surt a dalt de l'estela d'Hammurabi. Atenció, el llibre de text diu que hi havia déus «bons i malignes». La pàgina no fa aquesta divisió.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poema és el del descens d'Ixtar al món dels morts (traducció anglesa de B. R. Foster). A l'apartat 4 veurem que els egipcis s'imaginaven el més enllà d'una manera molt diferent. Podeu demanar que ho anotin per comparar-ho després.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mercaderies viatjaven en vaixells pels rius i pel golf Pèrsic. Dilmun, a l'actual Bahrain, era un port de pas cap a Magan (Oman) i Meluhha, el nom que donaven a la vall de l'Indus. Per terra, viatjaven en caravanes d'ases. Cap al 1900 aC, els mercaders d'Assur portaven estany i teixits fins a Kanesh, a Anatòlia, a més de 700 km, i en tornaven amb plata i coure. Demaneu que segueixin amb el dit el camí del lapislàtzuli fins a 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L'estany per fer el bronze arribava de terres llunyanes de l'est. El lapislàtzuli és la pedra blava de l'estendard d'Ur. Aquesta diapositiva treballa el saber de les rutes comercials i el control dels recursos.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orientativa. Perquè demostrava el seu poder i la riquesa de la seva capital, que controlava el comerç de terres llunyanes. Accad, la capital de Sargon, encara no s'ha trobat. Localitzeu els tres llocs al mapa del comerç.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Cuneïforme ve del llatí cuneus, «tascó». Calia anotar quant gra entrava als magatzems, quants animals hi havia i qui havia pagat els impostos. Se n'han conservat centenars de milers de tauletes. Atenció, el llibre de text diu que les tauletes s'enduraven al forn. La majoria s'assecaven al sol, i moltes de les que avui són dures es van coure en incendis antics o als museus. Al IV mil·lenni aC els sumeris ja tenien el torn de terrissaire.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tauleta d'en Nanni encaixa bé amb el comerç, perquè el coure arribava a Ur pel golf Pèrsic. Es conserva al Museu Britànic. Podeu demanar que escriguin una reclamació breu, com si fossin en Nanni.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una ciutat independent amb el seu propi rei, el seu déu protector i el seu territori agrícola. 2, era el rei de la ciutat. Governava en nom del déu protector, dirigia l'exèrcit, feia justícia i manava construir temples, muralles i canals. 3, perquè el càstig canviava segons el grup social de la víctima i del culpable. Rebentar l'ull o trencar l'os d'un senyor es pagava amb el propi ull o el propi os, i el d'un plebeu, amb plata. 4, perquè era la casa del déu protector i, a més, el lloc més ric de la ciutat, amb terres, ramats, tallers i magatzems de gra. 5, com un món sota terra, fosc i trist, on anaven tots els morts, bons i dolents. 6, perquè gairebé no tenia pedra, ni fusta forta, ni metalls. Per exemple, el coure de Magan (Oman), la fusta de cedre del Líban o el lapislàtzuli de l'Afganistan. 7, del llatí cuneus, tascó, perquè els signes tenen forma de tascó.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per què el Nil ho era tot per a Egipte, les grans etapes de la seva història i el poder del faraó. Les tres petites piràmides del davant de la foto són piràmides de reines.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És el mateix mecanisme de la crescuda i els llims de l'apartat 1, però al Nil era molt regular. Atenció, el llibre de text diu que els pagesos sembraven cotó. No és correcte. Els teixits eren de lli, i el cotó no arriba a Egipte fins a l'època grecoromana.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Feu comparar el mapa d'Egipte amb el de Mesopotàmia. Mesopotàmia és una plana oberta, fàcil d'envair, i Egipte una vall estreta entre deserts. Localitzeu el Baix Egipte (el delta, al nord) i l'Alt Egipte (el sud). Fixeu-vos que el sud és a baix al mapa i que el Nil corre de sud a nord.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paleta es va trobar a Hieracòmpolis el 1898. Era una paleta per moldre maquillatge, però de cerimònia. En aquesta cara, el rei porta la corona vermella del Baix Egipte i, a l'altra, la corona blanca de l'Alt Egipte. Molts historiadors hi veuen la unificació de l'Alt i el Baix Egipte, i d'altres, una imatge del poder del rei. La identificació de Menes amb Narmer és la més acceptada, però no és segura. A la paleta també hi ha files d'enemics decapitats i dos animals de coll llarg entrellaçats.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Atenció, el llibre de text dona unes altres dates (Antic 2707-2170 aC, Mitjà 2119-1793 aC, i Menes cap al 3000 aC). Segueix la cronologia de J. von Beckerath, mentre que el web arrodoneix la d'I. Shaw (Oxford), que és la que fan servir molts museus. Totes dues són vàlides. Itjtawy era a prop de Memfis.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pedra de Rosetta (apartat 5) és un decret d'un dels Ptolemeus, del 196 aC. Per això està escrita també en grec. Els perses hi van arribar el 525 aC, i els assiris abans, però la pàgina no en dona la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a déu, el faraó era responsable que el Nil cresqués, que les collites fossin bones i que Egipte estigués protegit. Compareu-lo amb el rei mesopotàmic, el lugal, que governava en nom dels déus però no era un déu. A la màscara, fixeu-vos en la cobra al front i la barba postissa.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perquè sense el riu no hi hauria aigua, llims ni collites. Fora de la vall del Nil tot és desert. 2, Antic, les piràmides de Gizeh. Mitjà, l'expansió cap a Núbia. Nou, els grans temples i faraons com Ramsès II. 3, perquè el consideraven un déu vivent. Era amo de totes les terres, cap de l'exèrcit, jutge suprem i màxim sacerdot. 4, una família de reis grecs que va governar Egipte després de la conquesta d'Alexandre el Gran. L'última va ser Cleòpatra.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la societat egípcia, la vida dels pagesos, la religió, Akhenaton, el judici d'Osiris i la momificació, i acaba comparant Mesopotàmia i Egipte. A la pintura, uns pagesos trenquen la terra amb aixades, un altre sembra i un altre llaura amb dos bous. A dalt a la dreta, venten el gra. Nakht, un escriba, ho vigila assegut sota un tendal. La resposta honesta a la pregunta guia és que gairebé segur et tocaria ser pagès.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Escriure era una de les poques vies per ascendir socialment. Els pagesos pagaven impostos en forma de collita i de treball obligatori. Els esclaus treballaven sobretot a les cases, als temples i a les terres dels poderosos. Alguns egipcis hi queien per deutes, i alguns es podien casar i fins i tot ser alliberats. Feu dibuixar la piràmide i compareu-la amb la mesopotàmica de l'apartat 2. Atenció, el llibre posa els escribes en un grup intermedi, amb els soldats i els grans comerciants. Els estudis recents els situen a l'elit, perquè només una petita part de la població sabia llegir i escriure.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 corregit un detall del text original. Les llistes d'absències per malaltia no són dels constructors de les piràmides, sinó dels obrers de la Vall dels Reis, a Deir el-Medina, uns 1.300 anys després. Pregunteu d'on ve la idea que les piràmides les van fer esclaus (del cinema i d'algunes llegendes) i com ho ha pogut desmentir l'arqueologia.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calendari de 365 dies és un dels llegats d'Egipte (apartat 6). Pregunteu per què l'Akhet era el millor moment per fer obres públiques (els pagesos no podien treballar els camps inundats). Recordeu la pintura de Nakht de l'entrada de l'apartat, on es veu el Peret i el Shemu.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Compareu el que menjaven els pagesos amb el que menjaven els rics. Un dels textos que copiaven els aprenents intentava convèncer-los que l'ofici d'escriba era el millor del món. És la font de la diapositiva següent.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orientativa. Perquè vol convèncer el fill que estudiï per ser escriba, un ofici respectat i amb el qual no es passava necessitat. Els aprenents l'havien de copiar tantes vegades que se n'han conservat moltes còpies, sovint amb errors. El text sencer en anglès és a la World History Encyclopedia.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icones ajuden a recordar-los. Ra és el sol, Horus un falcó (ploma), Anubis el déu de les benes de la mòmia i Thot l'escriptura. Atenció, el llibre de text diu que hi havia «sis déus principals» (Ra, Osiris, Isis, Anubis, Thot i Maat) i que Seth era el «déu de l'infern». No és correcte. No hi ha cap llista oficial de déus principals, i Seth era el déu del desert, de les tempestes i del desordre. També diu que Ra era «anomenat Amon-Ra» amb culte a Tebes. Ra era d'Heliòpolis, i Amon, tebà, s'hi va fusionar.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raigs del sol de l'altar acaben en petites mans que arriben a la família reial. Abans d'Akhenaton, els faraons gairebé mai no es representaven en escenes familiars tan tendres com aquesta. L'art va canviar, i el faraó es va fer representar d'una manera més humana. Alguns historiadors creuen que Akhenaton va crear el primer monoteisme de la història, i d'altres, que només va posar Aton per sobre de tots els altres déus. Aquest bloc treballa la relació entre religió i poder.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egipcis creien en una vida després de la mort, però calia conservar el cos perquè l'esperit el pogués continuar habitant. D'aquí surten les mòmies, els sarcòfags, les tombes plenes d'objectes i les piràmides. Al papir, Anubis porta el difunt i pesa el seu cor contra la ploma de Maat. Thot, amb cap d'ibis, anota el resultat. Al costat espera Ammit, el monstre devorador, mig cocodril, mig lleó i mig hipopòtam. Com que el cor ha superat la prova, Horus porta el difunt davant d'Osiris. Feu-los trobar cada personatge a la imatge.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orientativa. Fer patir, matar, robar als temples i als horts, fer malbé els camps dels altres i fer plorar. Moltes coincideixen amb les normes d'avui. Un dels exemplars més bonics del Llibre dels Morts és el papir d'Ani (cap al 1250 aC), al Museu Britànic. El Museu Egipci de Barcelona també en conserva fragments.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cervell normalment es llençava, no es guardava als vasos canopis (ho hem corregit del text original). El cor es deixava dins del cos perquè calia per al judici d'Osiris. Atenció, el llibre de text diu que Tutankamon tenia 430 ushebtis (365 + 65). Són 413 (365 + 36 + 12). Activitat. Que ordenin els cinc passos barrejats.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taula serveix per tancar la comparació. Podeu donar-la buida perquè l'omplin en parelles, primer només la primera columna. Les files d'escriptura i construccions les acabarem de treballar a l'apartat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el faraó i la seva família, els privilegiats (nobles, sacerdots i escribes), el poble (artesans, comerciants i pagesos) i els esclaus. 2, el cor del difunt, contra la ploma de Maat, la deessa de la justícia. 3, perquè el necessitaven per al judici d'Osiris. 4, l'Akhet o inundació, quan treballaven en obres públiques. El Peret, quan llauraven i sembraven. I el Shemu, quan segaven i guardaven el gra. 5, perquè era un ofici respectat, amb el qual no es passava necessitat, i molt menys dur que els altres. 6, va posar al centre del culte un sol déu, Aton, i va deixar de banda els altres. Els sacerdots d'Amon perdien riquesa i poder.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L'apartat explica com construïen per a l'eternitat, l'art amb normes i els jeroglífics. La piràmide de Djoser originalment feia uns 62 m d'alçada.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Pregunteu de quin material són les cases d'avui i quant creuen que duraran. Recordeu que a Mesopotàmia gairebé no hi havia pedra (apartat 2), i per això els ziggurats eren de maó.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Els nobles i els alts funcionaris s'enterraven en mastabes, tombes de tova o de pedra en forma de banc. 2. Cap al 2650 aC, per al faraó Djoser es va fer una tomba de sis graons, com si fossin mastabes posades l'una sobre l'altra. És la primera piràmide, i se n'atribueix el projecte a l'arquitecte Imhotep. 3. Les piràmides de Gizeh, de l'Imperi Antic. 4. Com que les piràmides eren massa visibles per als lladres, els faraons posteriors es van fer enterrar en tombes excavades a la roca de la Vall dels Reis. Aquestes tombes sota terra s'anomenen hipogeus. El dibuix és un esquema, no una tomba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Recordeu que les piràmides de Gizeh són de cap al 2500 aC, de l'Imperi Antic, i la tomba de Tutankamon, de l'Imperi Nou, a la Vall dels Reis. La màscara d'or de Tutankamon la vam veure a l'apartat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Compareu-ho amb els temples de Mesopotàmia, on els sacerdots també vestien i alimentaven l'estàtua del déu (apartat 2). Pregunteu per què creuen que la UNESCO va ajudar a salvar Abu Simbel.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Demaneu que comprovin les tres normes a la paleta de Narmer i al papir d'Hunefer de l'apartat 4. «Llei de la frontalitat» és com en diuen molts llibres escolars, però en sentit estricte (J. Lange, 1892) es refereix a l'escultura, i la convenció de la pintura és la perspectiva composta. Recordeu també l'estendard d'Ur, on el rei era la figura més gran.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pedra té un mateix decret en tres escriptures, jeroglífica a dalt, demòtica al mig i grega a baix, i en dues llengües, l'egípcia i la grega. Comparant les tres versions, el francès Jean-François Champollion va aconseguir desxifrar els jeroglífics. Aquell dia va renéixer tota una civilització. La van trobar soldats francesos a Rashid (Rosetta), al delta del Nil. Compareu el cuneïforme i els jeroglífics, i per què neix l'escriptura (administrar, comptar, registrar).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que el grec se sabia llegir, es podien comparar les versions. El rei Ptolemeu del decret és un dels Ptolemeus de l'apartat 3. El text original deia «més d'un miler de peces» del Museu Egipci de Barcelona, però no s'ha pogut verificar la xifra i s'ha tret. Tampoc no s'ha pogut verificar que sigui «l'únic museu de l'Estat» dedicat a l'antic Egipte.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perquè la vida és curta i les cases només eren per viure-hi. Les tombes i els temples havien de durar per sempre. 2, amb el cap i les cames de perfil, però l'ull i les espatlles de front. És la perspectiva composta, que molts llibres anomenen llei de la frontalitat. 3, una mastaba és una tomba en forma de banc, on s'enterraven els nobles. Un hipogeu és una tomba excavada sota terra o dins la roca, com les de la Vall dels Reis. 4, perquè tenia el mateix text en jeroglífic, demòtic i grec. Com que el grec se sabia llegir, es podien comparar les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Mesopotàmia i Egipte no van ser les úniques. L'apartat presenta la civilització de l'Indus, la Xina antiga, els fenicis i els hebreus, i acaba amb el llegat de les primeres civilitzacions. Els maons del Gran Bany es van segellar amb guix i betum perquè no s'escapés l'aigua. Probablement servia per a cerimònies de purificació.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Recordeu el mapa de les civilitzacions fluvials de l'apartat 1. Les dates de l'Indus s'han ajustat a 3300-1300 aC. Alguns llibres de text l'anomenen civilització hindú. Recordeu també que la cornalina vermella que arribava a Mesopotàmia venia de la vall de l'Indus (Meluhha).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Compareu el «mandat del cel» amb el faraó, que governava perquè era un déu, i amb el lugal, que governava en nom del déu de la ciutat. Totes són maneres de justificar el poder.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 grecs els anomenaven amb una paraula que també volia dir «porpra». Des de les ciutats de Fenícia, els vaixells arribaven fins a l'Atlàntic. Aquest bloc treballa el saber de les rutes comercials. Compareu el comerç fenici per mar amb el de Mesopotàmia de l'apartat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 matisat dues afirmacions del text original. Els fenicis no van inventar el primer alfabet (el protosinaïtic és anterior), però sí el van difondre. I el monoteisme hebreu no és l'únic de l'antiguitat (hi ha el culte a Aton d'Akhenaton), però és el que ha perdurat. Algunes fonts diuen que Eivissa la van fundar els cartaginesos el 654 aC, seguint l'historiador Diodor de Sicília. L'arqueologia mostra que els primers a establir-s'hi van ser els fenicis, al segle VII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Feu que cada alumne triï un llegat i el connecti amb un objecte de l'aula (el rellotge, un llibre, el calendari, les normes de l'institut). Torneu a la pregunta guia de l'apartat.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Respostes. 1, eren ciutats planificades, amb carrers en angle recte, clavegueram, dipòsits públics i banys. 2, per comerciar. Eren ports on venien els seus productes i aconseguien metalls, com la plata. 3, perquè amb només 22 lletres era fàcil d'aprendre, i d'ell en deriven el grec, el llatí i el nostre alfabet. 4, per exemple, l'escriptura, la roda, les hores de 60 minuts o el calendari de 365 dies. N'hi ha prou amb dos. Per tancar la unitat, torneu als objectius de l'inici i a l'avaluació inicial, i que cada alumne compari els resultats.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parado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291072"/>
            <a:ext cx="11094415" cy="0"/>
          </a:xfrm>
          <a:prstGeom prst="line">
            <a:avLst/>
          </a:prstGeom>
          <a:noFill/>
          <a:ln w="9525">
            <a:solidFill>
              <a:srgbClr val="DADCE0"/>
            </a:solidFill>
            <a:prstDash val="solid"/>
          </a:ln>
        </p:spPr>
      </p:sp>
      <p:sp>
        <p:nvSpPr>
          <p:cNvPr id="3" name="Text 1"/>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uida">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050" dirty="0">
                <a:solidFill>
                  <a:srgbClr val="5F6368"/>
                </a:solidFill>
                <a:latin typeface="Roboto" pitchFamily="34" charset="0"/>
                <a:ea typeface="Roboto" pitchFamily="34" charset="-122"/>
                <a:cs typeface="Roboto" pitchFamily="34" charset="-120"/>
              </a:rPr>
              <a:t>1r ESO  ›  Ciències socials  ›  Unitat 3. Les primeres civilitzacions</a:t>
            </a:r>
            <a:endParaRPr lang="en-US" sz="1050" dirty="0"/>
          </a:p>
        </p:txBody>
      </p:sp>
      <p:sp>
        <p:nvSpPr>
          <p:cNvPr id="3" name="Shape 1"/>
          <p:cNvSpPr/>
          <p:nvPr/>
        </p:nvSpPr>
        <p:spPr>
          <a:xfrm>
            <a:off x="548640" y="6291072"/>
            <a:ext cx="11094415" cy="0"/>
          </a:xfrm>
          <a:prstGeom prst="line">
            <a:avLst/>
          </a:prstGeom>
          <a:noFill/>
          <a:ln w="9525">
            <a:solidFill>
              <a:srgbClr val="DADCE0"/>
            </a:solidFill>
            <a:prstDash val="solid"/>
          </a:ln>
        </p:spPr>
      </p:sp>
      <p:sp>
        <p:nvSpPr>
          <p:cNvPr id="4" name="Text 2"/>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ingu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7315200" cy="274320"/>
          </a:xfrm>
          <a:prstGeom prst="rect">
            <a:avLst/>
          </a:prstGeom>
          <a:noFill/>
          <a:ln/>
        </p:spPr>
        <p:txBody>
          <a:bodyPr wrap="square" lIns="0" tIns="0" rIns="0" bIns="0" rtlCol="0" anchor="ctr"/>
          <a:lstStyle/>
          <a:p>
            <a:pPr indent="0" marL="0">
              <a:buNone/>
            </a:pPr>
            <a:r>
              <a:rPr lang="en-US" sz="1050" dirty="0">
                <a:solidFill>
                  <a:srgbClr val="5F6368"/>
                </a:solidFill>
                <a:latin typeface="Roboto" pitchFamily="34" charset="0"/>
                <a:ea typeface="Roboto" pitchFamily="34" charset="-122"/>
                <a:cs typeface="Roboto" pitchFamily="34" charset="-120"/>
              </a:rPr>
              <a:t>1r ESO  ›  Ciències socials  ›  Unitat 3. Les primeres civilitzacions</a:t>
            </a:r>
            <a:endParaRPr lang="en-US" sz="1050" dirty="0"/>
          </a:p>
        </p:txBody>
      </p:sp>
      <p:sp>
        <p:nvSpPr>
          <p:cNvPr id="3" name="Text 1"/>
          <p:cNvSpPr/>
          <p:nvPr>
            <p:ph idx="101" type="title" hasCustomPrompt="1"/>
          </p:nvPr>
        </p:nvSpPr>
        <p:spPr>
          <a:xfrm>
            <a:off x="1298448" y="566928"/>
            <a:ext cx="10344607" cy="566928"/>
          </a:xfrm>
          <a:prstGeom prst="rect">
            <a:avLst/>
          </a:prstGeom>
          <a:noFill/>
          <a:ln/>
        </p:spPr>
        <p:txBody>
          <a:bodyPr wrap="square" rtlCol="0"/>
          <a:lstStyle>
            <a:lvl1pPr algn="l" indent="0" marL="0">
              <a:buNone/>
              <a:defRPr lang="en-US" sz="2800" b="1" dirty="0">
                <a:solidFill>
                  <a:srgbClr val="202124"/>
                </a:solidFill>
                <a:latin typeface="Roboto" pitchFamily="34" charset="0"/>
                <a:ea typeface="Roboto" pitchFamily="34" charset="-122"/>
                <a:cs typeface="Roboto" pitchFamily="34" charset="-120"/>
              </a:defRPr>
            </a:lvl1pPr>
          </a:lstStyle>
          <a:p>
            <a:pPr algn="l" indent="0" marL="0">
              <a:buNone/>
            </a:pPr>
            <a:endParaRPr lang="en-US" sz="2800" dirty="0"/>
          </a:p>
        </p:txBody>
      </p:sp>
      <p:sp>
        <p:nvSpPr>
          <p:cNvPr id="4" name="Shape 1"/>
          <p:cNvSpPr/>
          <p:nvPr/>
        </p:nvSpPr>
        <p:spPr>
          <a:xfrm>
            <a:off x="548640" y="6291072"/>
            <a:ext cx="11094415" cy="0"/>
          </a:xfrm>
          <a:prstGeom prst="line">
            <a:avLst/>
          </a:prstGeom>
          <a:noFill/>
          <a:ln w="9525">
            <a:solidFill>
              <a:srgbClr val="DADCE0"/>
            </a:solidFill>
            <a:prstDash val="solid"/>
          </a:ln>
        </p:spPr>
      </p:sp>
      <p:sp>
        <p:nvSpPr>
          <p:cNvPr id="5" name="Text 2"/>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0868B"/>
                </a:solidFill>
                <a:latin typeface="Roboto" pitchFamily="34" charset="0"/>
                <a:ea typeface="Roboto" pitchFamily="34" charset="-122"/>
                <a:cs typeface="Roboto" pitchFamily="34" charset="-120"/>
              </a:rPr>
              <a:t>professordesocials.cat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5.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5.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2.png"/><Relationship Id="rId6" Type="http://schemas.openxmlformats.org/officeDocument/2006/relationships/slideLayout" Target="../slideLayouts/slideLayout5.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5.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5.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5.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5.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5.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5.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5.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5.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5.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5.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5.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slideLayout" Target="../slideLayouts/slideLayout5.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5.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jpg"/><Relationship Id="rId3" Type="http://schemas.openxmlformats.org/officeDocument/2006/relationships/slideLayout" Target="../slideLayouts/slideLayout3.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5.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5.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5.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5.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5.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jpg"/><Relationship Id="rId3" Type="http://schemas.openxmlformats.org/officeDocument/2006/relationships/slideLayout" Target="../slideLayouts/slideLayout3.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5.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5.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5.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5.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5.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5.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5.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slideLayout" Target="../slideLayouts/slideLayout5.xml"/><Relationship Id="rId9"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jpg"/><Relationship Id="rId3" Type="http://schemas.openxmlformats.org/officeDocument/2006/relationships/slideLayout" Target="../slideLayouts/slideLayout3.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5.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5.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5.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5.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5.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jpg"/><Relationship Id="rId5" Type="http://schemas.openxmlformats.org/officeDocument/2006/relationships/slideLayout" Target="../slideLayouts/slideLayout5.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jpg"/><Relationship Id="rId3" Type="http://schemas.openxmlformats.org/officeDocument/2006/relationships/slideLayout" Target="../slideLayouts/slideLayout3.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5.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slideLayout" Target="../slideLayouts/slideLayout5.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slideLayout" Target="../slideLayouts/slideLayout5.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5.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slideLayout" Target="../slideLayouts/slideLayout5.xml"/><Relationship Id="rId8"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apçalera"/>
          <p:cNvSpPr/>
          <p:nvPr/>
        </p:nvSpPr>
        <p:spPr>
          <a:xfrm>
            <a:off x="548640" y="548640"/>
            <a:ext cx="7086600" cy="5760720"/>
          </a:xfrm>
          <a:prstGeom prst="roundRect">
            <a:avLst>
              <a:gd name="adj" fmla="val 1746"/>
            </a:avLst>
          </a:prstGeom>
          <a:solidFill>
            <a:srgbClr val="188038"/>
          </a:solidFill>
          <a:ln/>
        </p:spPr>
      </p:sp>
      <p:pic>
        <p:nvPicPr>
          <p:cNvPr id="3" name="Il·lustració d'un ziggurat i el sol" descr="/home/claude/pc/build/1r-eso-civilitzacions/hero-crop.png">    </p:cNvPr>
          <p:cNvPicPr>
            <a:picLocks noChangeAspect="1"/>
          </p:cNvPicPr>
          <p:nvPr/>
        </p:nvPicPr>
        <p:blipFill>
          <a:blip r:embed="rId1"/>
          <a:stretch>
            <a:fillRect/>
          </a:stretch>
        </p:blipFill>
        <p:spPr>
          <a:xfrm>
            <a:off x="4434840" y="4688565"/>
            <a:ext cx="3017520" cy="1602507"/>
          </a:xfrm>
          <a:prstGeom prst="rect">
            <a:avLst/>
          </a:prstGeom>
        </p:spPr>
      </p:pic>
      <p:sp>
        <p:nvSpPr>
          <p:cNvPr id="4" name="Text 1"/>
          <p:cNvSpPr txBox="1"/>
          <p:nvPr/>
        </p:nvSpPr>
        <p:spPr>
          <a:xfrm>
            <a:off x="1005840" y="914400"/>
            <a:ext cx="6217920" cy="274320"/>
          </a:xfrm>
          <a:prstGeom prst="rect">
            <a:avLst/>
          </a:prstGeom>
          <a:noFill/>
          <a:ln/>
        </p:spPr>
        <p:txBody>
          <a:bodyPr wrap="square" lIns="0" tIns="0" rIns="0" bIns="0" rtlCol="0" anchor="t"/>
          <a:lstStyle/>
          <a:p>
            <a:pPr indent="0" marL="0">
              <a:buNone/>
            </a:pPr>
            <a:r>
              <a:rPr lang="en-US" sz="1200" dirty="0">
                <a:solidFill>
                  <a:srgbClr val="D3EEDB"/>
                </a:solidFill>
                <a:latin typeface="Roboto" pitchFamily="34" charset="0"/>
                <a:ea typeface="Roboto" pitchFamily="34" charset="-122"/>
                <a:cs typeface="Roboto" pitchFamily="34" charset="-120"/>
              </a:rPr>
              <a:t>professordesocials.cat  ›  1r ESO  ›  Ciències socials</a:t>
            </a:r>
            <a:endParaRPr lang="en-US" sz="1200" dirty="0"/>
          </a:p>
        </p:txBody>
      </p:sp>
      <p:sp>
        <p:nvSpPr>
          <p:cNvPr id="5" name="Text 2"/>
          <p:cNvSpPr txBox="1"/>
          <p:nvPr/>
        </p:nvSpPr>
        <p:spPr>
          <a:xfrm>
            <a:off x="1005840" y="1325880"/>
            <a:ext cx="6217920" cy="1371600"/>
          </a:xfrm>
          <a:prstGeom prst="rect">
            <a:avLst/>
          </a:prstGeom>
          <a:noFill/>
          <a:ln/>
        </p:spPr>
        <p:txBody>
          <a:bodyPr wrap="square" lIns="0" tIns="0" rIns="0" bIns="0" rtlCol="0" anchor="t"/>
          <a:lstStyle/>
          <a:p>
            <a:pPr indent="0" marL="0">
              <a:lnSpc>
                <a:spcPct val="95000"/>
              </a:lnSpc>
              <a:buNone/>
            </a:pPr>
            <a:r>
              <a:rPr lang="en-US" sz="4200" b="1" dirty="0">
                <a:solidFill>
                  <a:srgbClr val="FFFFFF"/>
                </a:solidFill>
                <a:latin typeface="Roboto" pitchFamily="34" charset="0"/>
                <a:ea typeface="Roboto" pitchFamily="34" charset="-122"/>
                <a:cs typeface="Roboto" pitchFamily="34" charset="-120"/>
              </a:rPr>
              <a:t>Les primeres civilitzacions</a:t>
            </a:r>
            <a:endParaRPr lang="en-US" sz="4200" dirty="0"/>
          </a:p>
        </p:txBody>
      </p:sp>
      <p:sp>
        <p:nvSpPr>
          <p:cNvPr id="6" name="Text 3"/>
          <p:cNvSpPr txBox="1"/>
          <p:nvPr/>
        </p:nvSpPr>
        <p:spPr>
          <a:xfrm>
            <a:off x="1005840" y="2743200"/>
            <a:ext cx="6217920" cy="320040"/>
          </a:xfrm>
          <a:prstGeom prst="rect">
            <a:avLst/>
          </a:prstGeom>
          <a:noFill/>
          <a:ln/>
        </p:spPr>
        <p:txBody>
          <a:bodyPr wrap="square" lIns="0" tIns="0" rIns="0" bIns="0" rtlCol="0" anchor="t"/>
          <a:lstStyle/>
          <a:p>
            <a:pPr indent="0" marL="0">
              <a:buNone/>
            </a:pPr>
            <a:r>
              <a:rPr lang="en-US" sz="1500" dirty="0">
                <a:solidFill>
                  <a:srgbClr val="FFFFFF"/>
                </a:solidFill>
                <a:latin typeface="Roboto" pitchFamily="34" charset="0"/>
                <a:ea typeface="Roboto" pitchFamily="34" charset="-122"/>
                <a:cs typeface="Roboto" pitchFamily="34" charset="-120"/>
              </a:rPr>
              <a:t>Història  ·  Unitat 3</a:t>
            </a:r>
            <a:endParaRPr lang="en-US" sz="1500" dirty="0"/>
          </a:p>
        </p:txBody>
      </p:sp>
      <p:sp>
        <p:nvSpPr>
          <p:cNvPr id="7" name="Text 4"/>
          <p:cNvSpPr txBox="1"/>
          <p:nvPr/>
        </p:nvSpPr>
        <p:spPr>
          <a:xfrm>
            <a:off x="1005840" y="3154680"/>
            <a:ext cx="6126480" cy="1097280"/>
          </a:xfrm>
          <a:prstGeom prst="rect">
            <a:avLst/>
          </a:prstGeom>
          <a:noFill/>
          <a:ln/>
        </p:spPr>
        <p:txBody>
          <a:bodyPr wrap="square" lIns="0" tIns="0" rIns="0" bIns="0" rtlCol="0" anchor="t"/>
          <a:lstStyle/>
          <a:p>
            <a:pPr indent="0" marL="0">
              <a:buNone/>
            </a:pPr>
            <a:r>
              <a:rPr lang="en-US" sz="1700" dirty="0">
                <a:solidFill>
                  <a:srgbClr val="FFFFFF"/>
                </a:solidFill>
                <a:latin typeface="Roboto" pitchFamily="34" charset="0"/>
                <a:ea typeface="Roboto" pitchFamily="34" charset="-122"/>
                <a:cs typeface="Roboto" pitchFamily="34" charset="-120"/>
              </a:rPr>
              <a:t>Fa més de 5.000 anys, a la vora de grans rius, van aparèixer les primeres ciutats, els primers reis i la primera escriptura. Per què va passar allà, i què ens n'ha quedat a nosaltres?</a:t>
            </a:r>
            <a:endParaRPr lang="en-US" sz="1700" dirty="0"/>
          </a:p>
        </p:txBody>
      </p:sp>
      <p:sp>
        <p:nvSpPr>
          <p:cNvPr id="8" name="Etiqueta 6 apartats"/>
          <p:cNvSpPr/>
          <p:nvPr/>
        </p:nvSpPr>
        <p:spPr>
          <a:xfrm>
            <a:off x="1005840" y="4343400"/>
            <a:ext cx="1115568" cy="310896"/>
          </a:xfrm>
          <a:prstGeom prst="roundRect">
            <a:avLst>
              <a:gd name="adj" fmla="val 50000"/>
            </a:avLst>
          </a:prstGeom>
          <a:solidFill>
            <a:srgbClr val="FFFFFF">
              <a:alpha val="18000"/>
            </a:srgbClr>
          </a:solidFill>
          <a:ln/>
        </p:spPr>
      </p:sp>
      <p:sp>
        <p:nvSpPr>
          <p:cNvPr id="9" name="Text 6"/>
          <p:cNvSpPr txBox="1"/>
          <p:nvPr/>
        </p:nvSpPr>
        <p:spPr>
          <a:xfrm>
            <a:off x="1005840" y="4343400"/>
            <a:ext cx="1115568"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6 apartats</a:t>
            </a:r>
            <a:endParaRPr lang="en-US" sz="1200" dirty="0"/>
          </a:p>
        </p:txBody>
      </p:sp>
      <p:sp>
        <p:nvSpPr>
          <p:cNvPr id="10" name="Etiqueta Mapes i imatges"/>
          <p:cNvSpPr/>
          <p:nvPr/>
        </p:nvSpPr>
        <p:spPr>
          <a:xfrm>
            <a:off x="2231136" y="4343400"/>
            <a:ext cx="1517904" cy="310896"/>
          </a:xfrm>
          <a:prstGeom prst="roundRect">
            <a:avLst>
              <a:gd name="adj" fmla="val 50000"/>
            </a:avLst>
          </a:prstGeom>
          <a:solidFill>
            <a:srgbClr val="FFFFFF">
              <a:alpha val="18000"/>
            </a:srgbClr>
          </a:solidFill>
          <a:ln/>
        </p:spPr>
      </p:sp>
      <p:sp>
        <p:nvSpPr>
          <p:cNvPr id="11" name="Text 8"/>
          <p:cNvSpPr txBox="1"/>
          <p:nvPr/>
        </p:nvSpPr>
        <p:spPr>
          <a:xfrm>
            <a:off x="2231136" y="4343400"/>
            <a:ext cx="1517904"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Mapes i imatges</a:t>
            </a:r>
            <a:endParaRPr lang="en-US" sz="1200" dirty="0"/>
          </a:p>
        </p:txBody>
      </p:sp>
      <p:sp>
        <p:nvSpPr>
          <p:cNvPr id="12" name="Etiqueta Comprova-ho"/>
          <p:cNvSpPr/>
          <p:nvPr/>
        </p:nvSpPr>
        <p:spPr>
          <a:xfrm>
            <a:off x="3858768" y="4343400"/>
            <a:ext cx="1196035" cy="310896"/>
          </a:xfrm>
          <a:prstGeom prst="roundRect">
            <a:avLst>
              <a:gd name="adj" fmla="val 50000"/>
            </a:avLst>
          </a:prstGeom>
          <a:solidFill>
            <a:srgbClr val="FFFFFF">
              <a:alpha val="18000"/>
            </a:srgbClr>
          </a:solidFill>
          <a:ln/>
        </p:spPr>
      </p:sp>
      <p:sp>
        <p:nvSpPr>
          <p:cNvPr id="13" name="Text 10"/>
          <p:cNvSpPr txBox="1"/>
          <p:nvPr/>
        </p:nvSpPr>
        <p:spPr>
          <a:xfrm>
            <a:off x="3858768" y="4343400"/>
            <a:ext cx="1196035" cy="310896"/>
          </a:xfrm>
          <a:prstGeom prst="rect">
            <a:avLst/>
          </a:prstGeom>
          <a:noFill/>
          <a:ln/>
        </p:spPr>
        <p:txBody>
          <a:bodyPr wrap="square" lIns="0" tIns="0" rIns="0" bIns="0" rtlCol="0" anchor="ctr"/>
          <a:lstStyle/>
          <a:p>
            <a:pPr algn="ctr" indent="0" marL="0">
              <a:buNone/>
            </a:pPr>
            <a:r>
              <a:rPr lang="en-US" sz="1200" dirty="0">
                <a:solidFill>
                  <a:srgbClr val="FFFFFF"/>
                </a:solidFill>
                <a:latin typeface="Roboto" pitchFamily="34" charset="0"/>
                <a:ea typeface="Roboto" pitchFamily="34" charset="-122"/>
                <a:cs typeface="Roboto" pitchFamily="34" charset="-120"/>
              </a:rPr>
              <a:t>Comprova-ho</a:t>
            </a:r>
            <a:endParaRPr lang="en-US" sz="1200" dirty="0"/>
          </a:p>
        </p:txBody>
      </p:sp>
      <p:sp>
        <p:nvSpPr>
          <p:cNvPr id="14" name="Fons Les piràmides de Gizeh (Egipte), cap al 2500 aC"/>
          <p:cNvSpPr/>
          <p:nvPr/>
        </p:nvSpPr>
        <p:spPr>
          <a:xfrm>
            <a:off x="8001000" y="1761010"/>
            <a:ext cx="3642055" cy="2421579"/>
          </a:xfrm>
          <a:prstGeom prst="roundRect">
            <a:avLst>
              <a:gd name="adj" fmla="val 4154"/>
            </a:avLst>
          </a:prstGeom>
          <a:solidFill>
            <a:srgbClr val="F6F8FB"/>
          </a:solidFill>
          <a:ln/>
        </p:spPr>
      </p:sp>
      <p:pic>
        <p:nvPicPr>
          <p:cNvPr id="15" name="Les piràmides de Gizeh (Egipte), cap al 2500 aC" descr="/home/claude/pc/build/1r-eso-civilitzacions/img/gizeh.jpg">    </p:cNvPr>
          <p:cNvPicPr>
            <a:picLocks noChangeAspect="1"/>
          </p:cNvPicPr>
          <p:nvPr/>
        </p:nvPicPr>
        <p:blipFill>
          <a:blip r:embed="rId2"/>
          <a:stretch>
            <a:fillRect/>
          </a:stretch>
        </p:blipFill>
        <p:spPr>
          <a:xfrm>
            <a:off x="8001000" y="1761010"/>
            <a:ext cx="3642055" cy="2421579"/>
          </a:xfrm>
          <a:prstGeom prst="rect">
            <a:avLst/>
          </a:prstGeom>
        </p:spPr>
      </p:pic>
      <p:sp>
        <p:nvSpPr>
          <p:cNvPr id="16" name="Text 12"/>
          <p:cNvSpPr txBox="1"/>
          <p:nvPr/>
        </p:nvSpPr>
        <p:spPr>
          <a:xfrm>
            <a:off x="8001000" y="4274030"/>
            <a:ext cx="364205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piràmides de Gizeh (Egipte), cap al 2500 aC. Són les tombes dels faraons Kheops, Kefren i Micerí, de l'Imperi Antic. Les tres petites del davant són piràmides de reines. Foto: Ricardo Liberato, Wikimedia Commons, CC BY-SA 2.0.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pic>
        <p:nvPicPr>
          <p:cNvPr id="3" name="Icona" descr="/home/claude/pc/build/1r-eso-civilitzacions/../llibre.png">    </p:cNvPr>
          <p:cNvPicPr>
            <a:picLocks noChangeAspect="1"/>
          </p:cNvPicPr>
          <p:nvPr/>
        </p:nvPicPr>
        <p:blipFill>
          <a:blip r:embed="rId1"/>
          <a:stretch>
            <a:fillRect/>
          </a:stretch>
        </p:blipFill>
        <p:spPr>
          <a:xfrm>
            <a:off x="694944" y="713232"/>
            <a:ext cx="274320" cy="274320"/>
          </a:xfrm>
          <a:prstGeom prst="rect">
            <a:avLst/>
          </a:prstGeom>
        </p:spPr>
      </p:pic>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aprendràs</a:t>
            </a:r>
            <a:endParaRPr lang="en-US" sz="2800" dirty="0"/>
          </a:p>
        </p:txBody>
      </p:sp>
      <p:sp>
        <p:nvSpPr>
          <p:cNvPr id="5" name="Text 2"/>
          <p:cNvSpPr txBox="1"/>
          <p:nvPr/>
        </p:nvSpPr>
        <p:spPr>
          <a:xfrm>
            <a:off x="548640" y="1371600"/>
            <a:ext cx="7315200" cy="3657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Al final de la unitat seràs capaç de…</a:t>
            </a:r>
            <a:endParaRPr lang="en-US" sz="1700" dirty="0"/>
          </a:p>
        </p:txBody>
      </p:sp>
      <p:sp>
        <p:nvSpPr>
          <p:cNvPr id="6" name="Objectiu 1"/>
          <p:cNvSpPr/>
          <p:nvPr/>
        </p:nvSpPr>
        <p:spPr>
          <a:xfrm>
            <a:off x="548640" y="1938528"/>
            <a:ext cx="438912" cy="438912"/>
          </a:xfrm>
          <a:prstGeom prst="ellipse">
            <a:avLst/>
          </a:prstGeom>
          <a:solidFill>
            <a:srgbClr val="E6F4EA"/>
          </a:solidFill>
          <a:ln/>
        </p:spPr>
      </p:sp>
      <p:sp>
        <p:nvSpPr>
          <p:cNvPr id="7" name="Text 4"/>
          <p:cNvSpPr txBox="1"/>
          <p:nvPr/>
        </p:nvSpPr>
        <p:spPr>
          <a:xfrm>
            <a:off x="548640" y="1938528"/>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1</a:t>
            </a:r>
            <a:endParaRPr lang="en-US" sz="1600" dirty="0"/>
          </a:p>
        </p:txBody>
      </p:sp>
      <p:sp>
        <p:nvSpPr>
          <p:cNvPr id="8" name="Text 5"/>
          <p:cNvSpPr txBox="1"/>
          <p:nvPr/>
        </p:nvSpPr>
        <p:spPr>
          <a:xfrm>
            <a:off x="1188720" y="1920240"/>
            <a:ext cx="1001268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Explicar què és una civilització i quins elements la defineixen.</a:t>
            </a:r>
            <a:endParaRPr lang="en-US" sz="1800" dirty="0"/>
          </a:p>
        </p:txBody>
      </p:sp>
      <p:pic>
        <p:nvPicPr>
          <p:cNvPr id="9" name="Icona TbBuildingCommunity" descr="/home/claude/pc/build/1r-eso-civilitzacions/img/ic/TbBuildingCommunity-g.png">    </p:cNvPr>
          <p:cNvPicPr>
            <a:picLocks noChangeAspect="1"/>
          </p:cNvPicPr>
          <p:nvPr/>
        </p:nvPicPr>
        <p:blipFill>
          <a:blip r:embed="rId2"/>
          <a:stretch>
            <a:fillRect/>
          </a:stretch>
        </p:blipFill>
        <p:spPr>
          <a:xfrm>
            <a:off x="11259007" y="1965960"/>
            <a:ext cx="384048" cy="384048"/>
          </a:xfrm>
          <a:prstGeom prst="rect">
            <a:avLst/>
          </a:prstGeom>
        </p:spPr>
      </p:pic>
      <p:sp>
        <p:nvSpPr>
          <p:cNvPr id="10" name="Objectiu 2"/>
          <p:cNvSpPr/>
          <p:nvPr/>
        </p:nvSpPr>
        <p:spPr>
          <a:xfrm>
            <a:off x="548640" y="2724912"/>
            <a:ext cx="438912" cy="438912"/>
          </a:xfrm>
          <a:prstGeom prst="ellipse">
            <a:avLst/>
          </a:prstGeom>
          <a:solidFill>
            <a:srgbClr val="E6F4EA"/>
          </a:solidFill>
          <a:ln/>
        </p:spPr>
      </p:sp>
      <p:sp>
        <p:nvSpPr>
          <p:cNvPr id="11" name="Text 7"/>
          <p:cNvSpPr txBox="1"/>
          <p:nvPr/>
        </p:nvSpPr>
        <p:spPr>
          <a:xfrm>
            <a:off x="548640" y="2724912"/>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2</a:t>
            </a:r>
            <a:endParaRPr lang="en-US" sz="1600" dirty="0"/>
          </a:p>
        </p:txBody>
      </p:sp>
      <p:sp>
        <p:nvSpPr>
          <p:cNvPr id="12" name="Text 8"/>
          <p:cNvSpPr txBox="1"/>
          <p:nvPr/>
        </p:nvSpPr>
        <p:spPr>
          <a:xfrm>
            <a:off x="1188720" y="2706624"/>
            <a:ext cx="1001268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Relacionar els grans rius amb el naixement de les primeres civilitzacions a través d'una cadena de causes i conseqüències.</a:t>
            </a:r>
            <a:endParaRPr lang="en-US" sz="1800" dirty="0"/>
          </a:p>
        </p:txBody>
      </p:sp>
      <p:pic>
        <p:nvPicPr>
          <p:cNvPr id="13" name="Icona TbRipple" descr="/home/claude/pc/build/1r-eso-civilitzacions/img/ic/TbRipple-g.png">    </p:cNvPr>
          <p:cNvPicPr>
            <a:picLocks noChangeAspect="1"/>
          </p:cNvPicPr>
          <p:nvPr/>
        </p:nvPicPr>
        <p:blipFill>
          <a:blip r:embed="rId3"/>
          <a:stretch>
            <a:fillRect/>
          </a:stretch>
        </p:blipFill>
        <p:spPr>
          <a:xfrm>
            <a:off x="11259007" y="2752344"/>
            <a:ext cx="384048" cy="384048"/>
          </a:xfrm>
          <a:prstGeom prst="rect">
            <a:avLst/>
          </a:prstGeom>
        </p:spPr>
      </p:pic>
      <p:sp>
        <p:nvSpPr>
          <p:cNvPr id="14" name="Objectiu 3"/>
          <p:cNvSpPr/>
          <p:nvPr/>
        </p:nvSpPr>
        <p:spPr>
          <a:xfrm>
            <a:off x="548640" y="3511296"/>
            <a:ext cx="438912" cy="438912"/>
          </a:xfrm>
          <a:prstGeom prst="ellipse">
            <a:avLst/>
          </a:prstGeom>
          <a:solidFill>
            <a:srgbClr val="E6F4EA"/>
          </a:solidFill>
          <a:ln/>
        </p:spPr>
      </p:sp>
      <p:sp>
        <p:nvSpPr>
          <p:cNvPr id="15" name="Text 10"/>
          <p:cNvSpPr txBox="1"/>
          <p:nvPr/>
        </p:nvSpPr>
        <p:spPr>
          <a:xfrm>
            <a:off x="548640" y="3511296"/>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3</a:t>
            </a:r>
            <a:endParaRPr lang="en-US" sz="1600" dirty="0"/>
          </a:p>
        </p:txBody>
      </p:sp>
      <p:sp>
        <p:nvSpPr>
          <p:cNvPr id="16" name="Text 11"/>
          <p:cNvSpPr txBox="1"/>
          <p:nvPr/>
        </p:nvSpPr>
        <p:spPr>
          <a:xfrm>
            <a:off x="1188720" y="3493008"/>
            <a:ext cx="1001268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Descriure l'organització política, la societat i la religió de Mesopotàmia i d'Egipte, i comparar-les.</a:t>
            </a:r>
            <a:endParaRPr lang="en-US" sz="1800" dirty="0"/>
          </a:p>
        </p:txBody>
      </p:sp>
      <p:pic>
        <p:nvPicPr>
          <p:cNvPr id="17" name="Icona TbHierarchy" descr="/home/claude/pc/build/1r-eso-civilitzacions/img/ic/TbHierarchy-g.png">    </p:cNvPr>
          <p:cNvPicPr>
            <a:picLocks noChangeAspect="1"/>
          </p:cNvPicPr>
          <p:nvPr/>
        </p:nvPicPr>
        <p:blipFill>
          <a:blip r:embed="rId4"/>
          <a:stretch>
            <a:fillRect/>
          </a:stretch>
        </p:blipFill>
        <p:spPr>
          <a:xfrm>
            <a:off x="11259007" y="3538728"/>
            <a:ext cx="384048" cy="384048"/>
          </a:xfrm>
          <a:prstGeom prst="rect">
            <a:avLst/>
          </a:prstGeom>
        </p:spPr>
      </p:pic>
      <p:sp>
        <p:nvSpPr>
          <p:cNvPr id="18" name="Objectiu 4"/>
          <p:cNvSpPr/>
          <p:nvPr/>
        </p:nvSpPr>
        <p:spPr>
          <a:xfrm>
            <a:off x="548640" y="4297680"/>
            <a:ext cx="438912" cy="438912"/>
          </a:xfrm>
          <a:prstGeom prst="ellipse">
            <a:avLst/>
          </a:prstGeom>
          <a:solidFill>
            <a:srgbClr val="E6F4EA"/>
          </a:solidFill>
          <a:ln/>
        </p:spPr>
      </p:sp>
      <p:sp>
        <p:nvSpPr>
          <p:cNvPr id="19" name="Text 13"/>
          <p:cNvSpPr txBox="1"/>
          <p:nvPr/>
        </p:nvSpPr>
        <p:spPr>
          <a:xfrm>
            <a:off x="548640" y="4297680"/>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4</a:t>
            </a:r>
            <a:endParaRPr lang="en-US" sz="1600" dirty="0"/>
          </a:p>
        </p:txBody>
      </p:sp>
      <p:sp>
        <p:nvSpPr>
          <p:cNvPr id="20" name="Text 14"/>
          <p:cNvSpPr txBox="1"/>
          <p:nvPr/>
        </p:nvSpPr>
        <p:spPr>
          <a:xfrm>
            <a:off x="1188720" y="4279392"/>
            <a:ext cx="1001268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Llegir i interpretar fonts directes de l'antiguitat, com el codi d'Hammurabi o el Llibre dels Morts.</a:t>
            </a:r>
            <a:endParaRPr lang="en-US" sz="1800" dirty="0"/>
          </a:p>
        </p:txBody>
      </p:sp>
      <p:pic>
        <p:nvPicPr>
          <p:cNvPr id="21" name="Icona TbScript" descr="/home/claude/pc/build/1r-eso-civilitzacions/img/ic/TbScript-g.png">    </p:cNvPr>
          <p:cNvPicPr>
            <a:picLocks noChangeAspect="1"/>
          </p:cNvPicPr>
          <p:nvPr/>
        </p:nvPicPr>
        <p:blipFill>
          <a:blip r:embed="rId5"/>
          <a:stretch>
            <a:fillRect/>
          </a:stretch>
        </p:blipFill>
        <p:spPr>
          <a:xfrm>
            <a:off x="11259007" y="4325112"/>
            <a:ext cx="384048" cy="384048"/>
          </a:xfrm>
          <a:prstGeom prst="rect">
            <a:avLst/>
          </a:prstGeom>
        </p:spPr>
      </p:pic>
      <p:sp>
        <p:nvSpPr>
          <p:cNvPr id="22" name="Objectiu 5"/>
          <p:cNvSpPr/>
          <p:nvPr/>
        </p:nvSpPr>
        <p:spPr>
          <a:xfrm>
            <a:off x="548640" y="5084064"/>
            <a:ext cx="438912" cy="438912"/>
          </a:xfrm>
          <a:prstGeom prst="ellipse">
            <a:avLst/>
          </a:prstGeom>
          <a:solidFill>
            <a:srgbClr val="E6F4EA"/>
          </a:solidFill>
          <a:ln/>
        </p:spPr>
      </p:sp>
      <p:sp>
        <p:nvSpPr>
          <p:cNvPr id="23" name="Text 16"/>
          <p:cNvSpPr txBox="1"/>
          <p:nvPr/>
        </p:nvSpPr>
        <p:spPr>
          <a:xfrm>
            <a:off x="548640" y="5084064"/>
            <a:ext cx="438912" cy="438912"/>
          </a:xfrm>
          <a:prstGeom prst="rect">
            <a:avLst/>
          </a:prstGeom>
          <a:noFill/>
          <a:ln/>
        </p:spPr>
        <p:txBody>
          <a:bodyPr wrap="square" lIns="0" tIns="0" rIns="0" bIns="0" rtlCol="0" anchor="ctr"/>
          <a:lstStyle/>
          <a:p>
            <a:pPr algn="ctr" indent="0" marL="0">
              <a:buNone/>
            </a:pPr>
            <a:r>
              <a:rPr lang="en-US" sz="1600" b="1" dirty="0">
                <a:solidFill>
                  <a:srgbClr val="188038"/>
                </a:solidFill>
                <a:latin typeface="Roboto" pitchFamily="34" charset="0"/>
                <a:ea typeface="Roboto" pitchFamily="34" charset="-122"/>
                <a:cs typeface="Roboto" pitchFamily="34" charset="-120"/>
              </a:rPr>
              <a:t>5</a:t>
            </a:r>
            <a:endParaRPr lang="en-US" sz="1600" dirty="0"/>
          </a:p>
        </p:txBody>
      </p:sp>
      <p:sp>
        <p:nvSpPr>
          <p:cNvPr id="24" name="Text 17"/>
          <p:cNvSpPr txBox="1"/>
          <p:nvPr/>
        </p:nvSpPr>
        <p:spPr>
          <a:xfrm>
            <a:off x="1188720" y="5065776"/>
            <a:ext cx="10012680" cy="685800"/>
          </a:xfrm>
          <a:prstGeom prst="rect">
            <a:avLst/>
          </a:prstGeom>
          <a:noFill/>
          <a:ln/>
        </p:spPr>
        <p:txBody>
          <a:bodyPr wrap="square" lIns="0" tIns="0" rIns="0" bIns="0" rtlCol="0" anchor="ctr"/>
          <a:lstStyle/>
          <a:p>
            <a:pPr indent="0" marL="0">
              <a:buNone/>
            </a:pPr>
            <a:r>
              <a:rPr lang="en-US" sz="1800" dirty="0">
                <a:solidFill>
                  <a:srgbClr val="202124"/>
                </a:solidFill>
                <a:latin typeface="Roboto" pitchFamily="34" charset="0"/>
                <a:ea typeface="Roboto" pitchFamily="34" charset="-122"/>
                <a:cs typeface="Roboto" pitchFamily="34" charset="-120"/>
              </a:rPr>
              <a:t>Reconèixer el llegat d'aquestes civilitzacions en la nostra vida d'avui.</a:t>
            </a:r>
            <a:endParaRPr lang="en-US" sz="1800" dirty="0"/>
          </a:p>
        </p:txBody>
      </p:sp>
      <p:pic>
        <p:nvPicPr>
          <p:cNvPr id="25" name="Icona TbWriting" descr="/home/claude/pc/build/1r-eso-civilitzacions/img/ic/TbWriting-g.png">    </p:cNvPr>
          <p:cNvPicPr>
            <a:picLocks noChangeAspect="1"/>
          </p:cNvPicPr>
          <p:nvPr/>
        </p:nvPicPr>
        <p:blipFill>
          <a:blip r:embed="rId6"/>
          <a:stretch>
            <a:fillRect/>
          </a:stretch>
        </p:blipFill>
        <p:spPr>
          <a:xfrm>
            <a:off x="11259007" y="5111496"/>
            <a:ext cx="384048" cy="38404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pic>
        <p:nvPicPr>
          <p:cNvPr id="3" name="Icona" descr="/home/claude/pc/build/1r-eso-civilitzacions/../llibre.png">    </p:cNvPr>
          <p:cNvPicPr>
            <a:picLocks noChangeAspect="1"/>
          </p:cNvPicPr>
          <p:nvPr/>
        </p:nvPicPr>
        <p:blipFill>
          <a:blip r:embed="rId1"/>
          <a:stretch>
            <a:fillRect/>
          </a:stretch>
        </p:blipFill>
        <p:spPr>
          <a:xfrm>
            <a:off x="694944" y="713232"/>
            <a:ext cx="274320" cy="274320"/>
          </a:xfrm>
          <a:prstGeom prst="rect">
            <a:avLst/>
          </a:prstGeom>
        </p:spPr>
      </p:pic>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en saps?</a:t>
            </a:r>
            <a:endParaRPr lang="en-US" sz="2800" dirty="0"/>
          </a:p>
        </p:txBody>
      </p:sp>
      <p:sp>
        <p:nvSpPr>
          <p:cNvPr id="5" name="Text 2"/>
          <p:cNvSpPr txBox="1"/>
          <p:nvPr/>
        </p:nvSpPr>
        <p:spPr>
          <a:xfrm>
            <a:off x="548640" y="1371600"/>
            <a:ext cx="9144000" cy="3657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Una mini-prova abans de començar. No compta per a nota.</a:t>
            </a:r>
            <a:endParaRPr lang="en-US" sz="1700" dirty="0"/>
          </a:p>
        </p:txBody>
      </p:sp>
      <p:sp>
        <p:nvSpPr>
          <p:cNvPr id="6" name="Targeta Quan diem que algú vivia a la «història» i no a la «prehistòria», què vol dir?"/>
          <p:cNvSpPr/>
          <p:nvPr/>
        </p:nvSpPr>
        <p:spPr>
          <a:xfrm>
            <a:off x="548640" y="1920240"/>
            <a:ext cx="5410048" cy="1897380"/>
          </a:xfrm>
          <a:prstGeom prst="roundRect">
            <a:avLst>
              <a:gd name="adj" fmla="val 5301"/>
            </a:avLst>
          </a:prstGeom>
          <a:solidFill>
            <a:srgbClr val="FFFFFF"/>
          </a:solidFill>
          <a:ln w="12700">
            <a:solidFill>
              <a:srgbClr val="DADCE0"/>
            </a:solidFill>
            <a:prstDash val="solid"/>
          </a:ln>
        </p:spPr>
      </p:sp>
      <p:sp>
        <p:nvSpPr>
          <p:cNvPr id="7" name="Text 4"/>
          <p:cNvSpPr txBox="1"/>
          <p:nvPr/>
        </p:nvSpPr>
        <p:spPr>
          <a:xfrm>
            <a:off x="777240" y="210312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Quan diem que algú vivia a la «història» i no a la «prehistòria», què vol dir?</a:t>
            </a:r>
            <a:endParaRPr lang="en-US" sz="1900" dirty="0"/>
          </a:p>
        </p:txBody>
      </p:sp>
      <p:sp>
        <p:nvSpPr>
          <p:cNvPr id="8" name="Text 5"/>
          <p:cNvSpPr txBox="1"/>
          <p:nvPr/>
        </p:nvSpPr>
        <p:spPr>
          <a:xfrm>
            <a:off x="777240" y="2791968"/>
            <a:ext cx="4952848" cy="9067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Vivia en ciutats grans · Coneixia l'escriptura · Treballava els metalls · Ja feia agricultura</a:t>
            </a:r>
            <a:endParaRPr lang="en-US" sz="1700" dirty="0"/>
          </a:p>
        </p:txBody>
      </p:sp>
      <p:sp>
        <p:nvSpPr>
          <p:cNvPr id="9" name="Targeta Per què les primeres civilitzacions van néixer a la vora de grans rius?"/>
          <p:cNvSpPr/>
          <p:nvPr/>
        </p:nvSpPr>
        <p:spPr>
          <a:xfrm>
            <a:off x="6233008" y="1920240"/>
            <a:ext cx="5410048" cy="1897380"/>
          </a:xfrm>
          <a:prstGeom prst="roundRect">
            <a:avLst>
              <a:gd name="adj" fmla="val 5301"/>
            </a:avLst>
          </a:prstGeom>
          <a:solidFill>
            <a:srgbClr val="FFFFFF"/>
          </a:solidFill>
          <a:ln w="12700">
            <a:solidFill>
              <a:srgbClr val="DADCE0"/>
            </a:solidFill>
            <a:prstDash val="solid"/>
          </a:ln>
        </p:spPr>
      </p:sp>
      <p:sp>
        <p:nvSpPr>
          <p:cNvPr id="10" name="Text 7"/>
          <p:cNvSpPr txBox="1"/>
          <p:nvPr/>
        </p:nvSpPr>
        <p:spPr>
          <a:xfrm>
            <a:off x="6461608" y="210312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Per què les primeres civilitzacions van néixer a la vora de grans rius?</a:t>
            </a:r>
            <a:endParaRPr lang="en-US" sz="1900" dirty="0"/>
          </a:p>
        </p:txBody>
      </p:sp>
      <p:sp>
        <p:nvSpPr>
          <p:cNvPr id="11" name="Text 8"/>
          <p:cNvSpPr txBox="1"/>
          <p:nvPr/>
        </p:nvSpPr>
        <p:spPr>
          <a:xfrm>
            <a:off x="6461608" y="2791968"/>
            <a:ext cx="4952848" cy="9067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Eren una frontera · Hi podien pescar · Regaven la terra i hi deixaven fang fèrtil · Els protegien del mar</a:t>
            </a:r>
            <a:endParaRPr lang="en-US" sz="1700" dirty="0"/>
          </a:p>
        </p:txBody>
      </p:sp>
      <p:sp>
        <p:nvSpPr>
          <p:cNvPr id="12" name="Targeta A l'antic Egipte i a Mesopotàmia tothom adorava un sol déu."/>
          <p:cNvSpPr/>
          <p:nvPr/>
        </p:nvSpPr>
        <p:spPr>
          <a:xfrm>
            <a:off x="548640" y="4091940"/>
            <a:ext cx="5410048" cy="1897380"/>
          </a:xfrm>
          <a:prstGeom prst="roundRect">
            <a:avLst>
              <a:gd name="adj" fmla="val 5301"/>
            </a:avLst>
          </a:prstGeom>
          <a:solidFill>
            <a:srgbClr val="FFFFFF"/>
          </a:solidFill>
          <a:ln w="12700">
            <a:solidFill>
              <a:srgbClr val="DADCE0"/>
            </a:solidFill>
            <a:prstDash val="solid"/>
          </a:ln>
        </p:spPr>
      </p:sp>
      <p:sp>
        <p:nvSpPr>
          <p:cNvPr id="13" name="Text 10"/>
          <p:cNvSpPr txBox="1"/>
          <p:nvPr/>
        </p:nvSpPr>
        <p:spPr>
          <a:xfrm>
            <a:off x="777240" y="427482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A l'antic Egipte i a Mesopotàmia tothom adorava un sol déu.</a:t>
            </a:r>
            <a:endParaRPr lang="en-US" sz="1900" dirty="0"/>
          </a:p>
        </p:txBody>
      </p:sp>
      <p:sp>
        <p:nvSpPr>
          <p:cNvPr id="14" name="Text 11"/>
          <p:cNvSpPr txBox="1"/>
          <p:nvPr/>
        </p:nvSpPr>
        <p:spPr>
          <a:xfrm>
            <a:off x="777240" y="4963668"/>
            <a:ext cx="4952848" cy="9067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Vertader o fals?</a:t>
            </a:r>
            <a:endParaRPr lang="en-US" sz="1700" dirty="0"/>
          </a:p>
        </p:txBody>
      </p:sp>
      <p:sp>
        <p:nvSpPr>
          <p:cNvPr id="15" name="Targeta Mesopotàmia es trobava, més o menys, on avui hi ha l'Iraq."/>
          <p:cNvSpPr/>
          <p:nvPr/>
        </p:nvSpPr>
        <p:spPr>
          <a:xfrm>
            <a:off x="6233008" y="4091940"/>
            <a:ext cx="5410048" cy="1897380"/>
          </a:xfrm>
          <a:prstGeom prst="roundRect">
            <a:avLst>
              <a:gd name="adj" fmla="val 5301"/>
            </a:avLst>
          </a:prstGeom>
          <a:solidFill>
            <a:srgbClr val="FFFFFF"/>
          </a:solidFill>
          <a:ln w="12700">
            <a:solidFill>
              <a:srgbClr val="DADCE0"/>
            </a:solidFill>
            <a:prstDash val="solid"/>
          </a:ln>
        </p:spPr>
      </p:sp>
      <p:sp>
        <p:nvSpPr>
          <p:cNvPr id="16" name="Text 13"/>
          <p:cNvSpPr txBox="1"/>
          <p:nvPr/>
        </p:nvSpPr>
        <p:spPr>
          <a:xfrm>
            <a:off x="6461608" y="4274820"/>
            <a:ext cx="4952848" cy="57912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Mesopotàmia es trobava, més o menys, on avui hi ha l'Iraq.</a:t>
            </a:r>
            <a:endParaRPr lang="en-US" sz="1900" dirty="0"/>
          </a:p>
        </p:txBody>
      </p:sp>
      <p:sp>
        <p:nvSpPr>
          <p:cNvPr id="17" name="Text 14"/>
          <p:cNvSpPr txBox="1"/>
          <p:nvPr/>
        </p:nvSpPr>
        <p:spPr>
          <a:xfrm>
            <a:off x="6461608" y="4963668"/>
            <a:ext cx="4952848" cy="9067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Vertader o fals?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ziggurat i el sol" descr="/home/claude/pc/build/1r-eso-civilitzacions/hero-crop.png">    </p:cNvPr>
          <p:cNvPicPr>
            <a:picLocks noChangeAspect="1"/>
          </p:cNvPicPr>
          <p:nvPr/>
        </p:nvPicPr>
        <p:blipFill>
          <a:blip r:embed="rId1"/>
          <a:stretch>
            <a:fillRect/>
          </a:stretch>
        </p:blipFill>
        <p:spPr>
          <a:xfrm>
            <a:off x="3520440" y="2294081"/>
            <a:ext cx="3566160" cy="1893871"/>
          </a:xfrm>
          <a:prstGeom prst="rect">
            <a:avLst/>
          </a:prstGeom>
        </p:spPr>
      </p:pic>
      <p:sp>
        <p:nvSpPr>
          <p:cNvPr id="4" name="Etiqueta Apartat 1"/>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1</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Què és una civilització?</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Què té una ciutat que no tingui un poblat? I per què les primeres van néixer al costat d'un riu?</a:t>
            </a:r>
            <a:endParaRPr lang="en-US" sz="1900" dirty="0"/>
          </a:p>
        </p:txBody>
      </p:sp>
      <p:sp>
        <p:nvSpPr>
          <p:cNvPr id="10" name="Fons Què és una civilització?"/>
          <p:cNvSpPr/>
          <p:nvPr/>
        </p:nvSpPr>
        <p:spPr>
          <a:xfrm>
            <a:off x="7635240" y="1390769"/>
            <a:ext cx="4007815" cy="3006613"/>
          </a:xfrm>
          <a:prstGeom prst="roundRect">
            <a:avLst>
              <a:gd name="adj" fmla="val 3345"/>
            </a:avLst>
          </a:prstGeom>
          <a:solidFill>
            <a:srgbClr val="F6F8FB"/>
          </a:solidFill>
          <a:ln/>
        </p:spPr>
      </p:sp>
      <p:pic>
        <p:nvPicPr>
          <p:cNvPr id="11" name="Què és una civilització?" descr="/home/claude/pc/build/1r-eso-civilitzacions/img/ziggurat.jpg">    </p:cNvPr>
          <p:cNvPicPr>
            <a:picLocks noChangeAspect="1"/>
          </p:cNvPicPr>
          <p:nvPr/>
        </p:nvPicPr>
        <p:blipFill>
          <a:blip r:embed="rId2"/>
          <a:stretch>
            <a:fillRect/>
          </a:stretch>
        </p:blipFill>
        <p:spPr>
          <a:xfrm>
            <a:off x="7635240" y="1390769"/>
            <a:ext cx="4007815" cy="3006613"/>
          </a:xfrm>
          <a:prstGeom prst="rect">
            <a:avLst/>
          </a:prstGeom>
        </p:spPr>
      </p:pic>
      <p:sp>
        <p:nvSpPr>
          <p:cNvPr id="12" name="Text 8"/>
          <p:cNvSpPr txBox="1"/>
          <p:nvPr/>
        </p:nvSpPr>
        <p:spPr>
          <a:xfrm>
            <a:off x="7635240" y="4507111"/>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ziggurat d'Ur (Iraq), cap al segle XXI aC. El va fer construir el rei Ur-Nammu per al déu de la lluna, Nanna. Els temples-torre eren el cor religiós i polític de les ciutats sumèries. La part baixa i les escales es van reconstruir als anys 1980. Foto: Hardnfast, Wikimedia Commons, CC BY 3.0.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trets d'una civilització</a:t>
            </a:r>
            <a:endParaRPr lang="en-US" sz="2800" dirty="0"/>
          </a:p>
        </p:txBody>
      </p:sp>
      <p:sp>
        <p:nvSpPr>
          <p:cNvPr id="5" name="Targeta Ciutats"/>
          <p:cNvSpPr/>
          <p:nvPr/>
        </p:nvSpPr>
        <p:spPr>
          <a:xfrm>
            <a:off x="548640" y="1371600"/>
            <a:ext cx="3545738" cy="1714500"/>
          </a:xfrm>
          <a:prstGeom prst="roundRect">
            <a:avLst>
              <a:gd name="adj" fmla="val 5867"/>
            </a:avLst>
          </a:prstGeom>
          <a:solidFill>
            <a:srgbClr val="FFFFFF"/>
          </a:solidFill>
          <a:ln w="12700">
            <a:solidFill>
              <a:srgbClr val="DADCE0"/>
            </a:solidFill>
            <a:prstDash val="solid"/>
          </a:ln>
        </p:spPr>
      </p:sp>
      <p:sp>
        <p:nvSpPr>
          <p:cNvPr id="6" name="Cercle icona"/>
          <p:cNvSpPr/>
          <p:nvPr/>
        </p:nvSpPr>
        <p:spPr>
          <a:xfrm>
            <a:off x="777240" y="1600200"/>
            <a:ext cx="502920" cy="502920"/>
          </a:xfrm>
          <a:prstGeom prst="ellipse">
            <a:avLst/>
          </a:prstGeom>
          <a:solidFill>
            <a:srgbClr val="E6F4EA"/>
          </a:solidFill>
          <a:ln/>
        </p:spPr>
      </p:sp>
      <p:pic>
        <p:nvPicPr>
          <p:cNvPr id="7" name="Icona TbBuildingCommunity" descr="/home/claude/pc/build/1r-eso-civilitzacions/img/ic/TbBuildingCommunity-g.png">    </p:cNvPr>
          <p:cNvPicPr>
            <a:picLocks noChangeAspect="1"/>
          </p:cNvPicPr>
          <p:nvPr/>
        </p:nvPicPr>
        <p:blipFill>
          <a:blip r:embed="rId1"/>
          <a:stretch>
            <a:fillRect/>
          </a:stretch>
        </p:blipFill>
        <p:spPr>
          <a:xfrm>
            <a:off x="887882" y="1710842"/>
            <a:ext cx="281635" cy="281635"/>
          </a:xfrm>
          <a:prstGeom prst="rect">
            <a:avLst/>
          </a:prstGeom>
        </p:spPr>
      </p:pic>
      <p:sp>
        <p:nvSpPr>
          <p:cNvPr id="8" name="Text 5"/>
          <p:cNvSpPr txBox="1"/>
          <p:nvPr/>
        </p:nvSpPr>
        <p:spPr>
          <a:xfrm>
            <a:off x="1417320" y="1600200"/>
            <a:ext cx="2448458"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Ciutats</a:t>
            </a:r>
            <a:endParaRPr lang="en-US" sz="1800" dirty="0"/>
          </a:p>
        </p:txBody>
      </p:sp>
      <p:sp>
        <p:nvSpPr>
          <p:cNvPr id="9" name="Text 6"/>
          <p:cNvSpPr txBox="1"/>
          <p:nvPr/>
        </p:nvSpPr>
        <p:spPr>
          <a:xfrm>
            <a:off x="777240" y="2240280"/>
            <a:ext cx="3088538" cy="7086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Milers d'habitants, amb temples, palaus, muralles i mercats.</a:t>
            </a:r>
            <a:endParaRPr lang="en-US" sz="1500" dirty="0"/>
          </a:p>
        </p:txBody>
      </p:sp>
      <p:sp>
        <p:nvSpPr>
          <p:cNvPr id="10" name="Targeta Un estat"/>
          <p:cNvSpPr/>
          <p:nvPr/>
        </p:nvSpPr>
        <p:spPr>
          <a:xfrm>
            <a:off x="4322978" y="1371600"/>
            <a:ext cx="3545738" cy="1714500"/>
          </a:xfrm>
          <a:prstGeom prst="roundRect">
            <a:avLst>
              <a:gd name="adj" fmla="val 5867"/>
            </a:avLst>
          </a:prstGeom>
          <a:solidFill>
            <a:srgbClr val="FFFFFF"/>
          </a:solidFill>
          <a:ln w="12700">
            <a:solidFill>
              <a:srgbClr val="DADCE0"/>
            </a:solidFill>
            <a:prstDash val="solid"/>
          </a:ln>
        </p:spPr>
      </p:sp>
      <p:sp>
        <p:nvSpPr>
          <p:cNvPr id="11" name="Cercle icona"/>
          <p:cNvSpPr/>
          <p:nvPr/>
        </p:nvSpPr>
        <p:spPr>
          <a:xfrm>
            <a:off x="4551578" y="1600200"/>
            <a:ext cx="502920" cy="502920"/>
          </a:xfrm>
          <a:prstGeom prst="ellipse">
            <a:avLst/>
          </a:prstGeom>
          <a:solidFill>
            <a:srgbClr val="E6F4EA"/>
          </a:solidFill>
          <a:ln/>
        </p:spPr>
      </p:sp>
      <p:pic>
        <p:nvPicPr>
          <p:cNvPr id="12" name="Icona TbCrown" descr="/home/claude/pc/build/1r-eso-civilitzacions/img/ic/TbCrown-g.png">    </p:cNvPr>
          <p:cNvPicPr>
            <a:picLocks noChangeAspect="1"/>
          </p:cNvPicPr>
          <p:nvPr/>
        </p:nvPicPr>
        <p:blipFill>
          <a:blip r:embed="rId2"/>
          <a:stretch>
            <a:fillRect/>
          </a:stretch>
        </p:blipFill>
        <p:spPr>
          <a:xfrm>
            <a:off x="4662221" y="1710842"/>
            <a:ext cx="281635" cy="281635"/>
          </a:xfrm>
          <a:prstGeom prst="rect">
            <a:avLst/>
          </a:prstGeom>
        </p:spPr>
      </p:pic>
      <p:sp>
        <p:nvSpPr>
          <p:cNvPr id="13" name="Text 9"/>
          <p:cNvSpPr txBox="1"/>
          <p:nvPr/>
        </p:nvSpPr>
        <p:spPr>
          <a:xfrm>
            <a:off x="5191658" y="1600200"/>
            <a:ext cx="2448458"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Un estat</a:t>
            </a:r>
            <a:endParaRPr lang="en-US" sz="1800" dirty="0"/>
          </a:p>
        </p:txBody>
      </p:sp>
      <p:sp>
        <p:nvSpPr>
          <p:cNvPr id="14" name="Text 10"/>
          <p:cNvSpPr txBox="1"/>
          <p:nvPr/>
        </p:nvSpPr>
        <p:spPr>
          <a:xfrm>
            <a:off x="4551578" y="2240280"/>
            <a:ext cx="3088538" cy="7086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Un govern, normalment un rei, amb funcionaris, lleis, exèrcit i impostos.</a:t>
            </a:r>
            <a:endParaRPr lang="en-US" sz="1500" dirty="0"/>
          </a:p>
        </p:txBody>
      </p:sp>
      <p:sp>
        <p:nvSpPr>
          <p:cNvPr id="15" name="Targeta Societat jerarquitzada"/>
          <p:cNvSpPr/>
          <p:nvPr/>
        </p:nvSpPr>
        <p:spPr>
          <a:xfrm>
            <a:off x="8097317" y="1371600"/>
            <a:ext cx="3545738" cy="1714500"/>
          </a:xfrm>
          <a:prstGeom prst="roundRect">
            <a:avLst>
              <a:gd name="adj" fmla="val 5867"/>
            </a:avLst>
          </a:prstGeom>
          <a:solidFill>
            <a:srgbClr val="FFFFFF"/>
          </a:solidFill>
          <a:ln w="12700">
            <a:solidFill>
              <a:srgbClr val="DADCE0"/>
            </a:solidFill>
            <a:prstDash val="solid"/>
          </a:ln>
        </p:spPr>
      </p:sp>
      <p:sp>
        <p:nvSpPr>
          <p:cNvPr id="16" name="Cercle icona"/>
          <p:cNvSpPr/>
          <p:nvPr/>
        </p:nvSpPr>
        <p:spPr>
          <a:xfrm>
            <a:off x="8325917" y="1600200"/>
            <a:ext cx="502920" cy="502920"/>
          </a:xfrm>
          <a:prstGeom prst="ellipse">
            <a:avLst/>
          </a:prstGeom>
          <a:solidFill>
            <a:srgbClr val="E6F4EA"/>
          </a:solidFill>
          <a:ln/>
        </p:spPr>
      </p:sp>
      <p:pic>
        <p:nvPicPr>
          <p:cNvPr id="17" name="Icona TbHierarchy" descr="/home/claude/pc/build/1r-eso-civilitzacions/img/ic/TbHierarchy-g.png">    </p:cNvPr>
          <p:cNvPicPr>
            <a:picLocks noChangeAspect="1"/>
          </p:cNvPicPr>
          <p:nvPr/>
        </p:nvPicPr>
        <p:blipFill>
          <a:blip r:embed="rId3"/>
          <a:stretch>
            <a:fillRect/>
          </a:stretch>
        </p:blipFill>
        <p:spPr>
          <a:xfrm>
            <a:off x="8436559" y="1710842"/>
            <a:ext cx="281635" cy="281635"/>
          </a:xfrm>
          <a:prstGeom prst="rect">
            <a:avLst/>
          </a:prstGeom>
        </p:spPr>
      </p:pic>
      <p:sp>
        <p:nvSpPr>
          <p:cNvPr id="18" name="Text 13"/>
          <p:cNvSpPr txBox="1"/>
          <p:nvPr/>
        </p:nvSpPr>
        <p:spPr>
          <a:xfrm>
            <a:off x="8965997" y="1600200"/>
            <a:ext cx="2448458"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Societat jerarquitzada</a:t>
            </a:r>
            <a:endParaRPr lang="en-US" sz="1800" dirty="0"/>
          </a:p>
        </p:txBody>
      </p:sp>
      <p:sp>
        <p:nvSpPr>
          <p:cNvPr id="19" name="Text 14"/>
          <p:cNvSpPr txBox="1"/>
          <p:nvPr/>
        </p:nvSpPr>
        <p:spPr>
          <a:xfrm>
            <a:off x="8325917" y="2240280"/>
            <a:ext cx="3088538" cy="7086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Grups socials molt desiguals, des del rei fins als esclaus.</a:t>
            </a:r>
            <a:endParaRPr lang="en-US" sz="1500" dirty="0"/>
          </a:p>
        </p:txBody>
      </p:sp>
      <p:sp>
        <p:nvSpPr>
          <p:cNvPr id="20" name="Targeta Religió organitzada"/>
          <p:cNvSpPr/>
          <p:nvPr/>
        </p:nvSpPr>
        <p:spPr>
          <a:xfrm>
            <a:off x="548640" y="3314700"/>
            <a:ext cx="3545738" cy="1714500"/>
          </a:xfrm>
          <a:prstGeom prst="roundRect">
            <a:avLst>
              <a:gd name="adj" fmla="val 5867"/>
            </a:avLst>
          </a:prstGeom>
          <a:solidFill>
            <a:srgbClr val="FFFFFF"/>
          </a:solidFill>
          <a:ln w="12700">
            <a:solidFill>
              <a:srgbClr val="DADCE0"/>
            </a:solidFill>
            <a:prstDash val="solid"/>
          </a:ln>
        </p:spPr>
      </p:sp>
      <p:sp>
        <p:nvSpPr>
          <p:cNvPr id="21" name="Cercle icona"/>
          <p:cNvSpPr/>
          <p:nvPr/>
        </p:nvSpPr>
        <p:spPr>
          <a:xfrm>
            <a:off x="777240" y="3543300"/>
            <a:ext cx="502920" cy="502920"/>
          </a:xfrm>
          <a:prstGeom prst="ellipse">
            <a:avLst/>
          </a:prstGeom>
          <a:solidFill>
            <a:srgbClr val="E6F4EA"/>
          </a:solidFill>
          <a:ln/>
        </p:spPr>
      </p:sp>
      <p:pic>
        <p:nvPicPr>
          <p:cNvPr id="22" name="Icona TbFlame" descr="/home/claude/pc/build/1r-eso-civilitzacions/img/ic/TbFlame-g.png">    </p:cNvPr>
          <p:cNvPicPr>
            <a:picLocks noChangeAspect="1"/>
          </p:cNvPicPr>
          <p:nvPr/>
        </p:nvPicPr>
        <p:blipFill>
          <a:blip r:embed="rId4"/>
          <a:stretch>
            <a:fillRect/>
          </a:stretch>
        </p:blipFill>
        <p:spPr>
          <a:xfrm>
            <a:off x="887882" y="3653942"/>
            <a:ext cx="281635" cy="281635"/>
          </a:xfrm>
          <a:prstGeom prst="rect">
            <a:avLst/>
          </a:prstGeom>
        </p:spPr>
      </p:pic>
      <p:sp>
        <p:nvSpPr>
          <p:cNvPr id="23" name="Text 17"/>
          <p:cNvSpPr txBox="1"/>
          <p:nvPr/>
        </p:nvSpPr>
        <p:spPr>
          <a:xfrm>
            <a:off x="1417320" y="3543300"/>
            <a:ext cx="2448458"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Religió organitzada</a:t>
            </a:r>
            <a:endParaRPr lang="en-US" sz="1800" dirty="0"/>
          </a:p>
        </p:txBody>
      </p:sp>
      <p:sp>
        <p:nvSpPr>
          <p:cNvPr id="24" name="Text 18"/>
          <p:cNvSpPr txBox="1"/>
          <p:nvPr/>
        </p:nvSpPr>
        <p:spPr>
          <a:xfrm>
            <a:off x="777240" y="4183380"/>
            <a:ext cx="3088538" cy="7086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Temples, sacerdots i cerimònies, al centre de la vida de tothom.</a:t>
            </a:r>
            <a:endParaRPr lang="en-US" sz="1500" dirty="0"/>
          </a:p>
        </p:txBody>
      </p:sp>
      <p:sp>
        <p:nvSpPr>
          <p:cNvPr id="25" name="Targeta Escriptura"/>
          <p:cNvSpPr/>
          <p:nvPr/>
        </p:nvSpPr>
        <p:spPr>
          <a:xfrm>
            <a:off x="4322978" y="3314700"/>
            <a:ext cx="3545738" cy="1714500"/>
          </a:xfrm>
          <a:prstGeom prst="roundRect">
            <a:avLst>
              <a:gd name="adj" fmla="val 5867"/>
            </a:avLst>
          </a:prstGeom>
          <a:solidFill>
            <a:srgbClr val="FFFFFF"/>
          </a:solidFill>
          <a:ln w="12700">
            <a:solidFill>
              <a:srgbClr val="DADCE0"/>
            </a:solidFill>
            <a:prstDash val="solid"/>
          </a:ln>
        </p:spPr>
      </p:sp>
      <p:sp>
        <p:nvSpPr>
          <p:cNvPr id="26" name="Cercle icona"/>
          <p:cNvSpPr/>
          <p:nvPr/>
        </p:nvSpPr>
        <p:spPr>
          <a:xfrm>
            <a:off x="4551578" y="3543300"/>
            <a:ext cx="502920" cy="502920"/>
          </a:xfrm>
          <a:prstGeom prst="ellipse">
            <a:avLst/>
          </a:prstGeom>
          <a:solidFill>
            <a:srgbClr val="E6F4EA"/>
          </a:solidFill>
          <a:ln/>
        </p:spPr>
      </p:sp>
      <p:pic>
        <p:nvPicPr>
          <p:cNvPr id="27" name="Icona TbWriting" descr="/home/claude/pc/build/1r-eso-civilitzacions/img/ic/TbWriting-g.png">    </p:cNvPr>
          <p:cNvPicPr>
            <a:picLocks noChangeAspect="1"/>
          </p:cNvPicPr>
          <p:nvPr/>
        </p:nvPicPr>
        <p:blipFill>
          <a:blip r:embed="rId5"/>
          <a:stretch>
            <a:fillRect/>
          </a:stretch>
        </p:blipFill>
        <p:spPr>
          <a:xfrm>
            <a:off x="4662221" y="3653942"/>
            <a:ext cx="281635" cy="281635"/>
          </a:xfrm>
          <a:prstGeom prst="rect">
            <a:avLst/>
          </a:prstGeom>
        </p:spPr>
      </p:pic>
      <p:sp>
        <p:nvSpPr>
          <p:cNvPr id="28" name="Text 21"/>
          <p:cNvSpPr txBox="1"/>
          <p:nvPr/>
        </p:nvSpPr>
        <p:spPr>
          <a:xfrm>
            <a:off x="5191658" y="3543300"/>
            <a:ext cx="2448458"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Escriptura</a:t>
            </a:r>
            <a:endParaRPr lang="en-US" sz="1800" dirty="0"/>
          </a:p>
        </p:txBody>
      </p:sp>
      <p:sp>
        <p:nvSpPr>
          <p:cNvPr id="29" name="Text 22"/>
          <p:cNvSpPr txBox="1"/>
          <p:nvPr/>
        </p:nvSpPr>
        <p:spPr>
          <a:xfrm>
            <a:off x="4551578" y="4183380"/>
            <a:ext cx="3088538" cy="7086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Per administrar, fer lleis i transmetre coneixements.</a:t>
            </a:r>
            <a:endParaRPr lang="en-US" sz="1500" dirty="0"/>
          </a:p>
        </p:txBody>
      </p:sp>
      <p:sp>
        <p:nvSpPr>
          <p:cNvPr id="30" name="Targeta Grans obres"/>
          <p:cNvSpPr/>
          <p:nvPr/>
        </p:nvSpPr>
        <p:spPr>
          <a:xfrm>
            <a:off x="8097317" y="3314700"/>
            <a:ext cx="3545738" cy="1714500"/>
          </a:xfrm>
          <a:prstGeom prst="roundRect">
            <a:avLst>
              <a:gd name="adj" fmla="val 5867"/>
            </a:avLst>
          </a:prstGeom>
          <a:solidFill>
            <a:srgbClr val="FFFFFF"/>
          </a:solidFill>
          <a:ln w="12700">
            <a:solidFill>
              <a:srgbClr val="DADCE0"/>
            </a:solidFill>
            <a:prstDash val="solid"/>
          </a:ln>
        </p:spPr>
      </p:sp>
      <p:sp>
        <p:nvSpPr>
          <p:cNvPr id="31" name="Cercle icona"/>
          <p:cNvSpPr/>
          <p:nvPr/>
        </p:nvSpPr>
        <p:spPr>
          <a:xfrm>
            <a:off x="8325917" y="3543300"/>
            <a:ext cx="502920" cy="502920"/>
          </a:xfrm>
          <a:prstGeom prst="ellipse">
            <a:avLst/>
          </a:prstGeom>
          <a:solidFill>
            <a:srgbClr val="E6F4EA"/>
          </a:solidFill>
          <a:ln/>
        </p:spPr>
      </p:sp>
      <p:pic>
        <p:nvPicPr>
          <p:cNvPr id="32" name="Icona TbPyramid" descr="/home/claude/pc/build/1r-eso-civilitzacions/img/ic/TbPyramid-g.png">    </p:cNvPr>
          <p:cNvPicPr>
            <a:picLocks noChangeAspect="1"/>
          </p:cNvPicPr>
          <p:nvPr/>
        </p:nvPicPr>
        <p:blipFill>
          <a:blip r:embed="rId6"/>
          <a:stretch>
            <a:fillRect/>
          </a:stretch>
        </p:blipFill>
        <p:spPr>
          <a:xfrm>
            <a:off x="8436559" y="3653942"/>
            <a:ext cx="281635" cy="281635"/>
          </a:xfrm>
          <a:prstGeom prst="rect">
            <a:avLst/>
          </a:prstGeom>
        </p:spPr>
      </p:pic>
      <p:sp>
        <p:nvSpPr>
          <p:cNvPr id="33" name="Text 25"/>
          <p:cNvSpPr txBox="1"/>
          <p:nvPr/>
        </p:nvSpPr>
        <p:spPr>
          <a:xfrm>
            <a:off x="8965997" y="3543300"/>
            <a:ext cx="2448458"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Grans obres</a:t>
            </a:r>
            <a:endParaRPr lang="en-US" sz="1800" dirty="0"/>
          </a:p>
        </p:txBody>
      </p:sp>
      <p:sp>
        <p:nvSpPr>
          <p:cNvPr id="34" name="Text 26"/>
          <p:cNvSpPr txBox="1"/>
          <p:nvPr/>
        </p:nvSpPr>
        <p:spPr>
          <a:xfrm>
            <a:off x="8325917" y="4183380"/>
            <a:ext cx="3088538" cy="7086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Canals de regadiu, muralles, temples i tombes monumentals.</a:t>
            </a:r>
            <a:endParaRPr lang="en-US" sz="1500" dirty="0"/>
          </a:p>
        </p:txBody>
      </p:sp>
      <p:sp>
        <p:nvSpPr>
          <p:cNvPr id="35" name="Paraula clau · Civilització"/>
          <p:cNvSpPr/>
          <p:nvPr/>
        </p:nvSpPr>
        <p:spPr>
          <a:xfrm>
            <a:off x="548640" y="5120640"/>
            <a:ext cx="11094415" cy="914400"/>
          </a:xfrm>
          <a:prstGeom prst="roundRect">
            <a:avLst>
              <a:gd name="adj" fmla="val 11000"/>
            </a:avLst>
          </a:prstGeom>
          <a:solidFill>
            <a:srgbClr val="E6F4EA"/>
          </a:solidFill>
          <a:ln/>
        </p:spPr>
      </p:sp>
      <p:sp>
        <p:nvSpPr>
          <p:cNvPr id="36" name="Text 28"/>
          <p:cNvSpPr txBox="1"/>
          <p:nvPr/>
        </p:nvSpPr>
        <p:spPr>
          <a:xfrm>
            <a:off x="868680" y="527608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Civilització</a:t>
            </a:r>
            <a:endParaRPr lang="en-US" sz="1400" dirty="0"/>
          </a:p>
        </p:txBody>
      </p:sp>
      <p:sp>
        <p:nvSpPr>
          <p:cNvPr id="37" name="Text 29"/>
          <p:cNvSpPr txBox="1"/>
          <p:nvPr/>
        </p:nvSpPr>
        <p:spPr>
          <a:xfrm>
            <a:off x="868680" y="5623560"/>
            <a:ext cx="10454335" cy="2743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Societat amb ciutats, estat, jerarquia social, religió organitzada, escriptura i grans obres.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 primeres civilitzacions en el temps</a:t>
            </a:r>
            <a:endParaRPr lang="en-US" sz="2800" dirty="0"/>
          </a:p>
        </p:txBody>
      </p:sp>
      <p:sp>
        <p:nvSpPr>
          <p:cNvPr id="5" name="Fons Les primeres civilitzacions en el temps"/>
          <p:cNvSpPr/>
          <p:nvPr/>
        </p:nvSpPr>
        <p:spPr>
          <a:xfrm>
            <a:off x="548640" y="1371600"/>
            <a:ext cx="6949440" cy="3255264"/>
          </a:xfrm>
          <a:prstGeom prst="roundRect">
            <a:avLst>
              <a:gd name="adj" fmla="val 3090"/>
            </a:avLst>
          </a:prstGeom>
          <a:solidFill>
            <a:srgbClr val="F6F8FB"/>
          </a:solidFill>
          <a:ln/>
        </p:spPr>
      </p:sp>
      <p:pic>
        <p:nvPicPr>
          <p:cNvPr id="6" name="Les primeres civilitzacions en el temps" descr="/home/claude/pc/build/1r-eso-civilitzacions/img/linia.jpg">    </p:cNvPr>
          <p:cNvPicPr>
            <a:picLocks noChangeAspect="1"/>
          </p:cNvPicPr>
          <p:nvPr/>
        </p:nvPicPr>
        <p:blipFill>
          <a:blip r:embed="rId1"/>
          <a:stretch>
            <a:fillRect/>
          </a:stretch>
        </p:blipFill>
        <p:spPr>
          <a:xfrm>
            <a:off x="551621" y="1371600"/>
            <a:ext cx="6943478" cy="3255264"/>
          </a:xfrm>
          <a:prstGeom prst="rect">
            <a:avLst/>
          </a:prstGeom>
        </p:spPr>
      </p:pic>
      <p:sp>
        <p:nvSpPr>
          <p:cNvPr id="7" name="Text 4"/>
          <p:cNvSpPr txBox="1"/>
          <p:nvPr/>
        </p:nvSpPr>
        <p:spPr>
          <a:xfrm>
            <a:off x="548640" y="4718304"/>
            <a:ext cx="694944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primeres civilitzacions en el temps. Cada marca de l'eix són 500 anys. Gràfic: professordesocials.cat, CC BY-SA 4.0.</a:t>
            </a:r>
            <a:endParaRPr lang="en-US" sz="1000" dirty="0"/>
          </a:p>
        </p:txBody>
      </p:sp>
      <p:sp>
        <p:nvSpPr>
          <p:cNvPr id="8" name="Mesopotàmia"/>
          <p:cNvSpPr/>
          <p:nvPr/>
        </p:nvSpPr>
        <p:spPr>
          <a:xfrm>
            <a:off x="7772400" y="1371600"/>
            <a:ext cx="3870655" cy="1600200"/>
          </a:xfrm>
          <a:prstGeom prst="roundRect">
            <a:avLst>
              <a:gd name="adj" fmla="val 6286"/>
            </a:avLst>
          </a:prstGeom>
          <a:solidFill>
            <a:srgbClr val="FFFFFF"/>
          </a:solidFill>
          <a:ln w="12700">
            <a:solidFill>
              <a:srgbClr val="DADCE0"/>
            </a:solidFill>
            <a:prstDash val="solid"/>
          </a:ln>
        </p:spPr>
      </p:sp>
      <p:sp>
        <p:nvSpPr>
          <p:cNvPr id="9" name="Cercle icona"/>
          <p:cNvSpPr/>
          <p:nvPr/>
        </p:nvSpPr>
        <p:spPr>
          <a:xfrm>
            <a:off x="7973568" y="1554480"/>
            <a:ext cx="502920" cy="502920"/>
          </a:xfrm>
          <a:prstGeom prst="ellipse">
            <a:avLst/>
          </a:prstGeom>
          <a:solidFill>
            <a:srgbClr val="E6F4EA"/>
          </a:solidFill>
          <a:ln/>
        </p:spPr>
      </p:sp>
      <p:pic>
        <p:nvPicPr>
          <p:cNvPr id="10" name="Icona TbBuildingCommunity" descr="/home/claude/pc/build/1r-eso-civilitzacions/img/ic/TbBuildingCommunity-g.png">    </p:cNvPr>
          <p:cNvPicPr>
            <a:picLocks noChangeAspect="1"/>
          </p:cNvPicPr>
          <p:nvPr/>
        </p:nvPicPr>
        <p:blipFill>
          <a:blip r:embed="rId2"/>
          <a:stretch>
            <a:fillRect/>
          </a:stretch>
        </p:blipFill>
        <p:spPr>
          <a:xfrm>
            <a:off x="8084210" y="1665122"/>
            <a:ext cx="281635" cy="281635"/>
          </a:xfrm>
          <a:prstGeom prst="rect">
            <a:avLst/>
          </a:prstGeom>
        </p:spPr>
      </p:pic>
      <p:sp>
        <p:nvSpPr>
          <p:cNvPr id="11" name="Text 7"/>
          <p:cNvSpPr txBox="1"/>
          <p:nvPr/>
        </p:nvSpPr>
        <p:spPr>
          <a:xfrm>
            <a:off x="8595360" y="1554480"/>
            <a:ext cx="2864815"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Mesopotàmia</a:t>
            </a:r>
            <a:endParaRPr lang="en-US" sz="1800" dirty="0"/>
          </a:p>
        </p:txBody>
      </p:sp>
      <p:sp>
        <p:nvSpPr>
          <p:cNvPr id="12" name="Text 8"/>
          <p:cNvSpPr txBox="1"/>
          <p:nvPr/>
        </p:nvSpPr>
        <p:spPr>
          <a:xfrm>
            <a:off x="7973568" y="2148840"/>
            <a:ext cx="3468319" cy="749808"/>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Des de l'escriptura (3500 aC) fins a la conquesta persa del 539 aC.</a:t>
            </a:r>
            <a:endParaRPr lang="en-US" sz="1450" dirty="0"/>
          </a:p>
        </p:txBody>
      </p:sp>
      <p:sp>
        <p:nvSpPr>
          <p:cNvPr id="13" name="Egipte"/>
          <p:cNvSpPr/>
          <p:nvPr/>
        </p:nvSpPr>
        <p:spPr>
          <a:xfrm>
            <a:off x="7772400" y="3154680"/>
            <a:ext cx="3870655" cy="1600200"/>
          </a:xfrm>
          <a:prstGeom prst="roundRect">
            <a:avLst>
              <a:gd name="adj" fmla="val 6286"/>
            </a:avLst>
          </a:prstGeom>
          <a:solidFill>
            <a:srgbClr val="FFFFFF"/>
          </a:solidFill>
          <a:ln w="12700">
            <a:solidFill>
              <a:srgbClr val="DADCE0"/>
            </a:solidFill>
            <a:prstDash val="solid"/>
          </a:ln>
        </p:spPr>
      </p:sp>
      <p:sp>
        <p:nvSpPr>
          <p:cNvPr id="14" name="Cercle icona"/>
          <p:cNvSpPr/>
          <p:nvPr/>
        </p:nvSpPr>
        <p:spPr>
          <a:xfrm>
            <a:off x="7973568" y="3337560"/>
            <a:ext cx="502920" cy="502920"/>
          </a:xfrm>
          <a:prstGeom prst="ellipse">
            <a:avLst/>
          </a:prstGeom>
          <a:solidFill>
            <a:srgbClr val="E6F4EA"/>
          </a:solidFill>
          <a:ln/>
        </p:spPr>
      </p:sp>
      <p:pic>
        <p:nvPicPr>
          <p:cNvPr id="15" name="Icona TbPyramid" descr="/home/claude/pc/build/1r-eso-civilitzacions/img/ic/TbPyramid-g.png">    </p:cNvPr>
          <p:cNvPicPr>
            <a:picLocks noChangeAspect="1"/>
          </p:cNvPicPr>
          <p:nvPr/>
        </p:nvPicPr>
        <p:blipFill>
          <a:blip r:embed="rId3"/>
          <a:stretch>
            <a:fillRect/>
          </a:stretch>
        </p:blipFill>
        <p:spPr>
          <a:xfrm>
            <a:off x="8084210" y="3448202"/>
            <a:ext cx="281635" cy="281635"/>
          </a:xfrm>
          <a:prstGeom prst="rect">
            <a:avLst/>
          </a:prstGeom>
        </p:spPr>
      </p:pic>
      <p:sp>
        <p:nvSpPr>
          <p:cNvPr id="16" name="Text 11"/>
          <p:cNvSpPr txBox="1"/>
          <p:nvPr/>
        </p:nvSpPr>
        <p:spPr>
          <a:xfrm>
            <a:off x="8595360" y="3337560"/>
            <a:ext cx="2864815"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Egipte</a:t>
            </a:r>
            <a:endParaRPr lang="en-US" sz="1800" dirty="0"/>
          </a:p>
        </p:txBody>
      </p:sp>
      <p:sp>
        <p:nvSpPr>
          <p:cNvPr id="17" name="Text 12"/>
          <p:cNvSpPr txBox="1"/>
          <p:nvPr/>
        </p:nvSpPr>
        <p:spPr>
          <a:xfrm>
            <a:off x="7973568" y="3931920"/>
            <a:ext cx="3468319" cy="749808"/>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Des de la unificació (3100 aC) fins que passa a ser una província de Roma, el 30 aC.</a:t>
            </a:r>
            <a:endParaRPr lang="en-US" sz="1450" dirty="0"/>
          </a:p>
        </p:txBody>
      </p:sp>
      <p:sp>
        <p:nvSpPr>
          <p:cNvPr id="18" name="Durada d'Egipte"/>
          <p:cNvSpPr/>
          <p:nvPr/>
        </p:nvSpPr>
        <p:spPr>
          <a:xfrm>
            <a:off x="7772400" y="4983480"/>
            <a:ext cx="3870655" cy="1005840"/>
          </a:xfrm>
          <a:prstGeom prst="roundRect">
            <a:avLst>
              <a:gd name="adj" fmla="val 10000"/>
            </a:avLst>
          </a:prstGeom>
          <a:solidFill>
            <a:srgbClr val="188038"/>
          </a:solidFill>
          <a:ln/>
        </p:spPr>
      </p:sp>
      <p:sp>
        <p:nvSpPr>
          <p:cNvPr id="19" name="Text 14"/>
          <p:cNvSpPr txBox="1"/>
          <p:nvPr/>
        </p:nvSpPr>
        <p:spPr>
          <a:xfrm>
            <a:off x="8001000" y="4983480"/>
            <a:ext cx="3413455" cy="1005840"/>
          </a:xfrm>
          <a:prstGeom prst="rect">
            <a:avLst/>
          </a:prstGeom>
          <a:noFill/>
          <a:ln/>
        </p:spPr>
        <p:txBody>
          <a:bodyPr wrap="square" lIns="0" tIns="0" rIns="0" bIns="0" rtlCol="0" anchor="ctr"/>
          <a:lstStyle/>
          <a:p>
            <a:pPr indent="0" marL="0">
              <a:buNone/>
            </a:pPr>
            <a:r>
              <a:rPr lang="en-US" sz="2200" b="1" dirty="0">
                <a:solidFill>
                  <a:srgbClr val="FFFFFF"/>
                </a:solidFill>
                <a:latin typeface="Roboto" pitchFamily="34" charset="0"/>
                <a:ea typeface="Roboto" pitchFamily="34" charset="-122"/>
                <a:cs typeface="Roboto" pitchFamily="34" charset="-120"/>
              </a:rPr>
              <a:t>Més de 3.000 anys</a:t>
            </a:r>
            <a:endParaRPr lang="en-US" sz="2200" dirty="0"/>
          </a:p>
          <a:p>
            <a:pPr indent="0" marL="0">
              <a:buNone/>
            </a:pPr>
            <a:r>
              <a:rPr lang="en-US" sz="1500" dirty="0">
                <a:solidFill>
                  <a:srgbClr val="FFFFFF"/>
                </a:solidFill>
                <a:latin typeface="Roboto" pitchFamily="34" charset="0"/>
                <a:ea typeface="Roboto" pitchFamily="34" charset="-122"/>
                <a:cs typeface="Roboto" pitchFamily="34" charset="-120"/>
              </a:rPr>
              <a:t>va durar l'Egipte dels faraons.</a:t>
            </a:r>
            <a:endParaRPr lang="en-US" sz="2200" dirty="0"/>
          </a:p>
        </p:txBody>
      </p:sp>
      <p:sp>
        <p:nvSpPr>
          <p:cNvPr id="20" name="Com es llegeix?"/>
          <p:cNvSpPr/>
          <p:nvPr/>
        </p:nvSpPr>
        <p:spPr>
          <a:xfrm>
            <a:off x="548640" y="4983480"/>
            <a:ext cx="6949440" cy="1005840"/>
          </a:xfrm>
          <a:prstGeom prst="roundRect">
            <a:avLst>
              <a:gd name="adj" fmla="val 10000"/>
            </a:avLst>
          </a:prstGeom>
          <a:solidFill>
            <a:srgbClr val="F6F8FB"/>
          </a:solidFill>
          <a:ln/>
        </p:spPr>
      </p:sp>
      <p:sp>
        <p:nvSpPr>
          <p:cNvPr id="21" name="Text 16"/>
          <p:cNvSpPr txBox="1"/>
          <p:nvPr/>
        </p:nvSpPr>
        <p:spPr>
          <a:xfrm>
            <a:off x="868680" y="5138928"/>
            <a:ext cx="630936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Com es llegeix?</a:t>
            </a:r>
            <a:endParaRPr lang="en-US" sz="1400" dirty="0"/>
          </a:p>
        </p:txBody>
      </p:sp>
      <p:sp>
        <p:nvSpPr>
          <p:cNvPr id="22" name="Text 17"/>
          <p:cNvSpPr txBox="1"/>
          <p:nvPr/>
        </p:nvSpPr>
        <p:spPr>
          <a:xfrm>
            <a:off x="868680" y="5486400"/>
            <a:ext cx="6309360" cy="36576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Els anys abans de Crist (aC) es compten cap enrere. Com més gran és el número, més antic és l'any.</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Les civilitzacions fluvials</a:t>
            </a:r>
            <a:endParaRPr lang="en-US" sz="2800" dirty="0"/>
          </a:p>
        </p:txBody>
      </p:sp>
      <p:sp>
        <p:nvSpPr>
          <p:cNvPr id="5" name="Fons Les quatre primeres civilitzacions fluvials"/>
          <p:cNvSpPr/>
          <p:nvPr/>
        </p:nvSpPr>
        <p:spPr>
          <a:xfrm>
            <a:off x="548640" y="1371600"/>
            <a:ext cx="6949440" cy="3772769"/>
          </a:xfrm>
          <a:prstGeom prst="roundRect">
            <a:avLst>
              <a:gd name="adj" fmla="val 2666"/>
            </a:avLst>
          </a:prstGeom>
          <a:solidFill>
            <a:srgbClr val="F6F8FB"/>
          </a:solidFill>
          <a:ln/>
        </p:spPr>
      </p:sp>
      <p:pic>
        <p:nvPicPr>
          <p:cNvPr id="6" name="Les quatre primeres civilitzacions fluvials" descr="/home/claude/pc/build/1r-eso-civilitzacions/img/mapa.jpg">    </p:cNvPr>
          <p:cNvPicPr>
            <a:picLocks noChangeAspect="1"/>
          </p:cNvPicPr>
          <p:nvPr/>
        </p:nvPicPr>
        <p:blipFill>
          <a:blip r:embed="rId1"/>
          <a:stretch>
            <a:fillRect/>
          </a:stretch>
        </p:blipFill>
        <p:spPr>
          <a:xfrm>
            <a:off x="548640" y="1371600"/>
            <a:ext cx="6949440" cy="3772769"/>
          </a:xfrm>
          <a:prstGeom prst="rect">
            <a:avLst/>
          </a:prstGeom>
        </p:spPr>
      </p:pic>
      <p:sp>
        <p:nvSpPr>
          <p:cNvPr id="7" name="Text 4"/>
          <p:cNvSpPr txBox="1"/>
          <p:nvPr/>
        </p:nvSpPr>
        <p:spPr>
          <a:xfrm>
            <a:off x="548640" y="5235809"/>
            <a:ext cx="694944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quatre primeres civilitzacions fluvials. Les dates són aproximades. Mapa: professordesocials.cat, CC BY-SA 4.0. Base cartogràfica: Natural Earth (domini públic).</a:t>
            </a:r>
            <a:endParaRPr lang="en-US" sz="1000" dirty="0"/>
          </a:p>
        </p:txBody>
      </p:sp>
      <p:sp>
        <p:nvSpPr>
          <p:cNvPr id="8" name="Text 5"/>
          <p:cNvSpPr txBox="1"/>
          <p:nvPr/>
        </p:nvSpPr>
        <p:spPr>
          <a:xfrm>
            <a:off x="7772400" y="1371600"/>
            <a:ext cx="3870655" cy="10972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Totes van néixer a la vora d'un gran riu, en zones càlides i seques. Per això en diem </a:t>
            </a:r>
            <a:pPr indent="0" marL="0">
              <a:buNone/>
            </a:pPr>
            <a:r>
              <a:rPr lang="en-US" sz="1600" b="1" dirty="0">
                <a:solidFill>
                  <a:srgbClr val="188038"/>
                </a:solidFill>
                <a:latin typeface="Roboto" pitchFamily="34" charset="0"/>
                <a:ea typeface="Roboto" pitchFamily="34" charset="-122"/>
                <a:cs typeface="Roboto" pitchFamily="34" charset="-120"/>
              </a:rPr>
              <a:t>civilitzacions fluvials</a:t>
            </a:r>
            <a:pPr indent="0" marL="0">
              <a:buNone/>
            </a:pPr>
            <a:r>
              <a:rPr lang="en-US" sz="1600" dirty="0">
                <a:solidFill>
                  <a:srgbClr val="202124"/>
                </a:solidFill>
                <a:latin typeface="Roboto" pitchFamily="34" charset="0"/>
                <a:ea typeface="Roboto" pitchFamily="34" charset="-122"/>
                <a:cs typeface="Roboto" pitchFamily="34" charset="-120"/>
              </a:rPr>
              <a:t>.</a:t>
            </a:r>
            <a:endParaRPr lang="en-US" sz="1600" dirty="0"/>
          </a:p>
        </p:txBody>
      </p:sp>
      <p:sp>
        <p:nvSpPr>
          <p:cNvPr id="9" name="Cercle icona"/>
          <p:cNvSpPr/>
          <p:nvPr/>
        </p:nvSpPr>
        <p:spPr>
          <a:xfrm>
            <a:off x="7772400" y="2697480"/>
            <a:ext cx="457200" cy="457200"/>
          </a:xfrm>
          <a:prstGeom prst="ellipse">
            <a:avLst/>
          </a:prstGeom>
          <a:solidFill>
            <a:srgbClr val="E6F4EA"/>
          </a:solidFill>
          <a:ln/>
        </p:spPr>
      </p:sp>
      <p:pic>
        <p:nvPicPr>
          <p:cNvPr id="10" name="Icona TbMapPin" descr="/home/claude/pc/build/1r-eso-civilitzacions/img/ic/TbMapPin-g.png">    </p:cNvPr>
          <p:cNvPicPr>
            <a:picLocks noChangeAspect="1"/>
          </p:cNvPicPr>
          <p:nvPr/>
        </p:nvPicPr>
        <p:blipFill>
          <a:blip r:embed="rId2"/>
          <a:stretch>
            <a:fillRect/>
          </a:stretch>
        </p:blipFill>
        <p:spPr>
          <a:xfrm>
            <a:off x="7872984" y="2798064"/>
            <a:ext cx="256032" cy="256032"/>
          </a:xfrm>
          <a:prstGeom prst="rect">
            <a:avLst/>
          </a:prstGeom>
        </p:spPr>
      </p:pic>
      <p:sp>
        <p:nvSpPr>
          <p:cNvPr id="11" name="Text 7"/>
          <p:cNvSpPr txBox="1"/>
          <p:nvPr/>
        </p:nvSpPr>
        <p:spPr>
          <a:xfrm>
            <a:off x="8430768" y="2606040"/>
            <a:ext cx="3212287" cy="74980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Mesopotàmia. </a:t>
            </a:r>
            <a:pPr indent="0" marL="0">
              <a:buNone/>
            </a:pPr>
            <a:r>
              <a:rPr lang="en-US" sz="1500" dirty="0">
                <a:solidFill>
                  <a:srgbClr val="202124"/>
                </a:solidFill>
                <a:latin typeface="Roboto" pitchFamily="34" charset="0"/>
                <a:ea typeface="Roboto" pitchFamily="34" charset="-122"/>
                <a:cs typeface="Roboto" pitchFamily="34" charset="-120"/>
              </a:rPr>
              <a:t>Rius Tigris i Eufrates. Avui, l'Iraq, principalment.</a:t>
            </a:r>
            <a:endParaRPr lang="en-US" sz="1500" dirty="0"/>
          </a:p>
        </p:txBody>
      </p:sp>
      <p:sp>
        <p:nvSpPr>
          <p:cNvPr id="12" name="Cercle icona"/>
          <p:cNvSpPr/>
          <p:nvPr/>
        </p:nvSpPr>
        <p:spPr>
          <a:xfrm>
            <a:off x="7772400" y="3538728"/>
            <a:ext cx="457200" cy="457200"/>
          </a:xfrm>
          <a:prstGeom prst="ellipse">
            <a:avLst/>
          </a:prstGeom>
          <a:solidFill>
            <a:srgbClr val="E6F4EA"/>
          </a:solidFill>
          <a:ln/>
        </p:spPr>
      </p:sp>
      <p:pic>
        <p:nvPicPr>
          <p:cNvPr id="13" name="Icona TbMapPin" descr="/home/claude/pc/build/1r-eso-civilitzacions/img/ic/TbMapPin-g.png">    </p:cNvPr>
          <p:cNvPicPr>
            <a:picLocks noChangeAspect="1"/>
          </p:cNvPicPr>
          <p:nvPr/>
        </p:nvPicPr>
        <p:blipFill>
          <a:blip r:embed="rId3"/>
          <a:stretch>
            <a:fillRect/>
          </a:stretch>
        </p:blipFill>
        <p:spPr>
          <a:xfrm>
            <a:off x="7872984" y="3639312"/>
            <a:ext cx="256032" cy="256032"/>
          </a:xfrm>
          <a:prstGeom prst="rect">
            <a:avLst/>
          </a:prstGeom>
        </p:spPr>
      </p:pic>
      <p:sp>
        <p:nvSpPr>
          <p:cNvPr id="14" name="Text 9"/>
          <p:cNvSpPr txBox="1"/>
          <p:nvPr/>
        </p:nvSpPr>
        <p:spPr>
          <a:xfrm>
            <a:off x="8430768" y="3447288"/>
            <a:ext cx="3212287" cy="74980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Egipte. </a:t>
            </a:r>
            <a:pPr indent="0" marL="0">
              <a:buNone/>
            </a:pPr>
            <a:r>
              <a:rPr lang="en-US" sz="1500" dirty="0">
                <a:solidFill>
                  <a:srgbClr val="202124"/>
                </a:solidFill>
                <a:latin typeface="Roboto" pitchFamily="34" charset="0"/>
                <a:ea typeface="Roboto" pitchFamily="34" charset="-122"/>
                <a:cs typeface="Roboto" pitchFamily="34" charset="-120"/>
              </a:rPr>
              <a:t>Riu Nil. Avui, Egipte.</a:t>
            </a:r>
            <a:endParaRPr lang="en-US" sz="1500" dirty="0"/>
          </a:p>
        </p:txBody>
      </p:sp>
      <p:sp>
        <p:nvSpPr>
          <p:cNvPr id="15" name="Cercle icona"/>
          <p:cNvSpPr/>
          <p:nvPr/>
        </p:nvSpPr>
        <p:spPr>
          <a:xfrm>
            <a:off x="7772400" y="4379976"/>
            <a:ext cx="457200" cy="457200"/>
          </a:xfrm>
          <a:prstGeom prst="ellipse">
            <a:avLst/>
          </a:prstGeom>
          <a:solidFill>
            <a:srgbClr val="E6F4EA"/>
          </a:solidFill>
          <a:ln/>
        </p:spPr>
      </p:sp>
      <p:pic>
        <p:nvPicPr>
          <p:cNvPr id="16" name="Icona TbMapPin" descr="/home/claude/pc/build/1r-eso-civilitzacions/img/ic/TbMapPin-g.png">    </p:cNvPr>
          <p:cNvPicPr>
            <a:picLocks noChangeAspect="1"/>
          </p:cNvPicPr>
          <p:nvPr/>
        </p:nvPicPr>
        <p:blipFill>
          <a:blip r:embed="rId4"/>
          <a:stretch>
            <a:fillRect/>
          </a:stretch>
        </p:blipFill>
        <p:spPr>
          <a:xfrm>
            <a:off x="7872984" y="4480560"/>
            <a:ext cx="256032" cy="256032"/>
          </a:xfrm>
          <a:prstGeom prst="rect">
            <a:avLst/>
          </a:prstGeom>
        </p:spPr>
      </p:pic>
      <p:sp>
        <p:nvSpPr>
          <p:cNvPr id="17" name="Text 11"/>
          <p:cNvSpPr txBox="1"/>
          <p:nvPr/>
        </p:nvSpPr>
        <p:spPr>
          <a:xfrm>
            <a:off x="8430768" y="4288536"/>
            <a:ext cx="3212287" cy="74980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Civilització de l'Indus. </a:t>
            </a:r>
            <a:pPr indent="0" marL="0">
              <a:buNone/>
            </a:pPr>
            <a:r>
              <a:rPr lang="en-US" sz="1500" dirty="0">
                <a:solidFill>
                  <a:srgbClr val="202124"/>
                </a:solidFill>
                <a:latin typeface="Roboto" pitchFamily="34" charset="0"/>
                <a:ea typeface="Roboto" pitchFamily="34" charset="-122"/>
                <a:cs typeface="Roboto" pitchFamily="34" charset="-120"/>
              </a:rPr>
              <a:t>Riu Indus. Avui, el Pakistan i el nord-oest de l'Índia.</a:t>
            </a:r>
            <a:endParaRPr lang="en-US" sz="1500" dirty="0"/>
          </a:p>
        </p:txBody>
      </p:sp>
      <p:sp>
        <p:nvSpPr>
          <p:cNvPr id="18" name="Cercle icona"/>
          <p:cNvSpPr/>
          <p:nvPr/>
        </p:nvSpPr>
        <p:spPr>
          <a:xfrm>
            <a:off x="7772400" y="5221224"/>
            <a:ext cx="457200" cy="457200"/>
          </a:xfrm>
          <a:prstGeom prst="ellipse">
            <a:avLst/>
          </a:prstGeom>
          <a:solidFill>
            <a:srgbClr val="E6F4EA"/>
          </a:solidFill>
          <a:ln/>
        </p:spPr>
      </p:sp>
      <p:pic>
        <p:nvPicPr>
          <p:cNvPr id="19" name="Icona TbMapPin" descr="/home/claude/pc/build/1r-eso-civilitzacions/img/ic/TbMapPin-g.png">    </p:cNvPr>
          <p:cNvPicPr>
            <a:picLocks noChangeAspect="1"/>
          </p:cNvPicPr>
          <p:nvPr/>
        </p:nvPicPr>
        <p:blipFill>
          <a:blip r:embed="rId5"/>
          <a:stretch>
            <a:fillRect/>
          </a:stretch>
        </p:blipFill>
        <p:spPr>
          <a:xfrm>
            <a:off x="7872984" y="5321808"/>
            <a:ext cx="256032" cy="256032"/>
          </a:xfrm>
          <a:prstGeom prst="rect">
            <a:avLst/>
          </a:prstGeom>
        </p:spPr>
      </p:pic>
      <p:sp>
        <p:nvSpPr>
          <p:cNvPr id="20" name="Text 13"/>
          <p:cNvSpPr txBox="1"/>
          <p:nvPr/>
        </p:nvSpPr>
        <p:spPr>
          <a:xfrm>
            <a:off x="8430768" y="5129784"/>
            <a:ext cx="3212287" cy="74980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Xina. </a:t>
            </a:r>
            <a:pPr indent="0" marL="0">
              <a:buNone/>
            </a:pPr>
            <a:r>
              <a:rPr lang="en-US" sz="1500" dirty="0">
                <a:solidFill>
                  <a:srgbClr val="202124"/>
                </a:solidFill>
                <a:latin typeface="Roboto" pitchFamily="34" charset="0"/>
                <a:ea typeface="Roboto" pitchFamily="34" charset="-122"/>
                <a:cs typeface="Roboto" pitchFamily="34" charset="-120"/>
              </a:rPr>
              <a:t>Riu Groc (Huang He). Avui, la Xina.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a la vora dels rius?</a:t>
            </a:r>
            <a:endParaRPr lang="en-US" sz="2800" dirty="0"/>
          </a:p>
        </p:txBody>
      </p:sp>
      <p:sp>
        <p:nvSpPr>
          <p:cNvPr id="5" name="Fons Com el riu feia fèrtils les ribes"/>
          <p:cNvSpPr/>
          <p:nvPr/>
        </p:nvSpPr>
        <p:spPr>
          <a:xfrm>
            <a:off x="548640" y="1371600"/>
            <a:ext cx="7589520" cy="2845714"/>
          </a:xfrm>
          <a:prstGeom prst="roundRect">
            <a:avLst>
              <a:gd name="adj" fmla="val 3535"/>
            </a:avLst>
          </a:prstGeom>
          <a:solidFill>
            <a:srgbClr val="F6F8FB"/>
          </a:solidFill>
          <a:ln/>
        </p:spPr>
      </p:sp>
      <p:pic>
        <p:nvPicPr>
          <p:cNvPr id="6" name="Com el riu feia fèrtils les ribes" descr="/home/claude/pc/build/1r-eso-civilitzacions/img/crescuda.jpg">    </p:cNvPr>
          <p:cNvPicPr>
            <a:picLocks noChangeAspect="1"/>
          </p:cNvPicPr>
          <p:nvPr/>
        </p:nvPicPr>
        <p:blipFill>
          <a:blip r:embed="rId1"/>
          <a:stretch>
            <a:fillRect/>
          </a:stretch>
        </p:blipFill>
        <p:spPr>
          <a:xfrm>
            <a:off x="548640" y="1371600"/>
            <a:ext cx="7589520" cy="2845714"/>
          </a:xfrm>
          <a:prstGeom prst="rect">
            <a:avLst/>
          </a:prstGeom>
        </p:spPr>
      </p:pic>
      <p:sp>
        <p:nvSpPr>
          <p:cNvPr id="7" name="Text 4"/>
          <p:cNvSpPr txBox="1"/>
          <p:nvPr/>
        </p:nvSpPr>
        <p:spPr>
          <a:xfrm>
            <a:off x="548640" y="4308754"/>
            <a:ext cx="758952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Com el riu feia fèrtils les ribes. Esquema sense escala. Dibuix: professordesocials.cat, CC BY-SA 4.0.</a:t>
            </a:r>
            <a:endParaRPr lang="en-US" sz="1000" dirty="0"/>
          </a:p>
        </p:txBody>
      </p:sp>
      <p:sp>
        <p:nvSpPr>
          <p:cNvPr id="8" name="Paraula clau · Llims"/>
          <p:cNvSpPr/>
          <p:nvPr/>
        </p:nvSpPr>
        <p:spPr>
          <a:xfrm>
            <a:off x="8412480" y="1371600"/>
            <a:ext cx="3230575" cy="1600200"/>
          </a:xfrm>
          <a:prstGeom prst="roundRect">
            <a:avLst>
              <a:gd name="adj" fmla="val 6286"/>
            </a:avLst>
          </a:prstGeom>
          <a:solidFill>
            <a:srgbClr val="E6F4EA"/>
          </a:solidFill>
          <a:ln/>
        </p:spPr>
      </p:sp>
      <p:sp>
        <p:nvSpPr>
          <p:cNvPr id="9" name="Text 6"/>
          <p:cNvSpPr txBox="1"/>
          <p:nvPr/>
        </p:nvSpPr>
        <p:spPr>
          <a:xfrm>
            <a:off x="8732520" y="1527048"/>
            <a:ext cx="259049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Llims</a:t>
            </a:r>
            <a:endParaRPr lang="en-US" sz="1400" dirty="0"/>
          </a:p>
        </p:txBody>
      </p:sp>
      <p:sp>
        <p:nvSpPr>
          <p:cNvPr id="10" name="Text 7"/>
          <p:cNvSpPr txBox="1"/>
          <p:nvPr/>
        </p:nvSpPr>
        <p:spPr>
          <a:xfrm>
            <a:off x="8732520" y="1874520"/>
            <a:ext cx="2590495" cy="9601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Fang molt fèrtil que les crescudes dels rius dipositen a les ribes.</a:t>
            </a:r>
            <a:endParaRPr lang="en-US" sz="1550" dirty="0"/>
          </a:p>
        </p:txBody>
      </p:sp>
      <p:sp>
        <p:nvSpPr>
          <p:cNvPr id="11" name="Cercle icona"/>
          <p:cNvSpPr/>
          <p:nvPr/>
        </p:nvSpPr>
        <p:spPr>
          <a:xfrm>
            <a:off x="8412480" y="3200400"/>
            <a:ext cx="457200" cy="457200"/>
          </a:xfrm>
          <a:prstGeom prst="ellipse">
            <a:avLst/>
          </a:prstGeom>
          <a:solidFill>
            <a:srgbClr val="E6F4EA"/>
          </a:solidFill>
          <a:ln/>
        </p:spPr>
      </p:sp>
      <p:pic>
        <p:nvPicPr>
          <p:cNvPr id="12" name="Icona TbDroplet" descr="/home/claude/pc/build/1r-eso-civilitzacions/img/ic/TbDroplet-g.png">    </p:cNvPr>
          <p:cNvPicPr>
            <a:picLocks noChangeAspect="1"/>
          </p:cNvPicPr>
          <p:nvPr/>
        </p:nvPicPr>
        <p:blipFill>
          <a:blip r:embed="rId2"/>
          <a:stretch>
            <a:fillRect/>
          </a:stretch>
        </p:blipFill>
        <p:spPr>
          <a:xfrm>
            <a:off x="8513064" y="3300984"/>
            <a:ext cx="256032" cy="256032"/>
          </a:xfrm>
          <a:prstGeom prst="rect">
            <a:avLst/>
          </a:prstGeom>
        </p:spPr>
      </p:pic>
      <p:sp>
        <p:nvSpPr>
          <p:cNvPr id="13" name="Text 9"/>
          <p:cNvSpPr txBox="1"/>
          <p:nvPr/>
        </p:nvSpPr>
        <p:spPr>
          <a:xfrm>
            <a:off x="9070848" y="3154680"/>
            <a:ext cx="2572207" cy="65836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Canals. </a:t>
            </a:r>
            <a:pPr indent="0" marL="0">
              <a:buNone/>
            </a:pPr>
            <a:r>
              <a:rPr lang="en-US" sz="1500" dirty="0">
                <a:solidFill>
                  <a:srgbClr val="202124"/>
                </a:solidFill>
                <a:latin typeface="Roboto" pitchFamily="34" charset="0"/>
                <a:ea typeface="Roboto" pitchFamily="34" charset="-122"/>
                <a:cs typeface="Roboto" pitchFamily="34" charset="-120"/>
              </a:rPr>
              <a:t>Portaven l'aigua als camps.</a:t>
            </a:r>
            <a:endParaRPr lang="en-US" sz="1500" dirty="0"/>
          </a:p>
        </p:txBody>
      </p:sp>
      <p:sp>
        <p:nvSpPr>
          <p:cNvPr id="14" name="Cercle icona"/>
          <p:cNvSpPr/>
          <p:nvPr/>
        </p:nvSpPr>
        <p:spPr>
          <a:xfrm>
            <a:off x="8412480" y="3950208"/>
            <a:ext cx="457200" cy="457200"/>
          </a:xfrm>
          <a:prstGeom prst="ellipse">
            <a:avLst/>
          </a:prstGeom>
          <a:solidFill>
            <a:srgbClr val="E6F4EA"/>
          </a:solidFill>
          <a:ln/>
        </p:spPr>
      </p:sp>
      <p:pic>
        <p:nvPicPr>
          <p:cNvPr id="15" name="Icona TbWheat" descr="/home/claude/pc/build/1r-eso-civilitzacions/img/ic/TbWheat-g.png">    </p:cNvPr>
          <p:cNvPicPr>
            <a:picLocks noChangeAspect="1"/>
          </p:cNvPicPr>
          <p:nvPr/>
        </p:nvPicPr>
        <p:blipFill>
          <a:blip r:embed="rId3"/>
          <a:stretch>
            <a:fillRect/>
          </a:stretch>
        </p:blipFill>
        <p:spPr>
          <a:xfrm>
            <a:off x="8513064" y="4050792"/>
            <a:ext cx="256032" cy="256032"/>
          </a:xfrm>
          <a:prstGeom prst="rect">
            <a:avLst/>
          </a:prstGeom>
        </p:spPr>
      </p:pic>
      <p:sp>
        <p:nvSpPr>
          <p:cNvPr id="16" name="Text 11"/>
          <p:cNvSpPr txBox="1"/>
          <p:nvPr/>
        </p:nvSpPr>
        <p:spPr>
          <a:xfrm>
            <a:off x="9070848" y="3904488"/>
            <a:ext cx="2572207" cy="65836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Collites enormes. </a:t>
            </a:r>
            <a:pPr indent="0" marL="0">
              <a:buNone/>
            </a:pPr>
            <a:r>
              <a:rPr lang="en-US" sz="1500" dirty="0">
                <a:solidFill>
                  <a:srgbClr val="202124"/>
                </a:solidFill>
                <a:latin typeface="Roboto" pitchFamily="34" charset="0"/>
                <a:ea typeface="Roboto" pitchFamily="34" charset="-122"/>
                <a:cs typeface="Roboto" pitchFamily="34" charset="-120"/>
              </a:rPr>
              <a:t>I menjar de sobres.</a:t>
            </a:r>
            <a:endParaRPr lang="en-US" sz="1500" dirty="0"/>
          </a:p>
        </p:txBody>
      </p:sp>
      <p:sp>
        <p:nvSpPr>
          <p:cNvPr id="17" name="Però calia molta feina"/>
          <p:cNvSpPr/>
          <p:nvPr/>
        </p:nvSpPr>
        <p:spPr>
          <a:xfrm>
            <a:off x="548640" y="4754880"/>
            <a:ext cx="11094415" cy="1234440"/>
          </a:xfrm>
          <a:prstGeom prst="roundRect">
            <a:avLst>
              <a:gd name="adj" fmla="val 8148"/>
            </a:avLst>
          </a:prstGeom>
          <a:solidFill>
            <a:srgbClr val="F6F8FB"/>
          </a:solidFill>
          <a:ln/>
        </p:spPr>
      </p:sp>
      <p:sp>
        <p:nvSpPr>
          <p:cNvPr id="18" name="Text 13"/>
          <p:cNvSpPr txBox="1"/>
          <p:nvPr/>
        </p:nvSpPr>
        <p:spPr>
          <a:xfrm>
            <a:off x="868680" y="491032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Però calia molta feina</a:t>
            </a:r>
            <a:endParaRPr lang="en-US" sz="1400" dirty="0"/>
          </a:p>
        </p:txBody>
      </p:sp>
      <p:sp>
        <p:nvSpPr>
          <p:cNvPr id="19" name="Text 14"/>
          <p:cNvSpPr txBox="1"/>
          <p:nvPr/>
        </p:nvSpPr>
        <p:spPr>
          <a:xfrm>
            <a:off x="868680" y="5257800"/>
            <a:ext cx="10454335" cy="59436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Construir i mantenir els canals exigia organitzar el treball de milers de persones. Això va ajudar a fer néixer els primers estats.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cadena de causes i conseqüències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És la clau de tota la unitat. Cada peça fa possible la següent.</a:t>
            </a:r>
            <a:endParaRPr lang="en-US" sz="1800" dirty="0"/>
          </a:p>
        </p:txBody>
      </p:sp>
      <p:sp>
        <p:nvSpPr>
          <p:cNvPr id="6" name="Pas Riu"/>
          <p:cNvSpPr/>
          <p:nvPr/>
        </p:nvSpPr>
        <p:spPr>
          <a:xfrm>
            <a:off x="548640" y="2011680"/>
            <a:ext cx="1574749" cy="2514600"/>
          </a:xfrm>
          <a:prstGeom prst="roundRect">
            <a:avLst>
              <a:gd name="adj" fmla="val 6387"/>
            </a:avLst>
          </a:prstGeom>
          <a:solidFill>
            <a:srgbClr val="FFFFFF"/>
          </a:solidFill>
          <a:ln w="12700">
            <a:solidFill>
              <a:srgbClr val="DADCE0"/>
            </a:solidFill>
            <a:prstDash val="solid"/>
          </a:ln>
        </p:spPr>
      </p:sp>
      <p:sp>
        <p:nvSpPr>
          <p:cNvPr id="7" name="Cercle icona"/>
          <p:cNvSpPr/>
          <p:nvPr/>
        </p:nvSpPr>
        <p:spPr>
          <a:xfrm>
            <a:off x="947395" y="2240280"/>
            <a:ext cx="777240" cy="777240"/>
          </a:xfrm>
          <a:prstGeom prst="ellipse">
            <a:avLst/>
          </a:prstGeom>
          <a:solidFill>
            <a:srgbClr val="E6F4EA"/>
          </a:solidFill>
          <a:ln/>
        </p:spPr>
      </p:sp>
      <p:pic>
        <p:nvPicPr>
          <p:cNvPr id="8" name="Icona TbRipple" descr="/home/claude/pc/build/1r-eso-civilitzacions/img/ic/TbRipple-g.png">    </p:cNvPr>
          <p:cNvPicPr>
            <a:picLocks noChangeAspect="1"/>
          </p:cNvPicPr>
          <p:nvPr/>
        </p:nvPicPr>
        <p:blipFill>
          <a:blip r:embed="rId1"/>
          <a:stretch>
            <a:fillRect/>
          </a:stretch>
        </p:blipFill>
        <p:spPr>
          <a:xfrm>
            <a:off x="1118387" y="2411273"/>
            <a:ext cx="435254" cy="435254"/>
          </a:xfrm>
          <a:prstGeom prst="rect">
            <a:avLst/>
          </a:prstGeom>
        </p:spPr>
      </p:pic>
      <p:sp>
        <p:nvSpPr>
          <p:cNvPr id="9" name="Text 6"/>
          <p:cNvSpPr txBox="1"/>
          <p:nvPr/>
        </p:nvSpPr>
        <p:spPr>
          <a:xfrm>
            <a:off x="640080" y="3127248"/>
            <a:ext cx="1391869" cy="566928"/>
          </a:xfrm>
          <a:prstGeom prst="rect">
            <a:avLst/>
          </a:prstGeom>
          <a:noFill/>
          <a:ln/>
        </p:spPr>
        <p:txBody>
          <a:bodyPr wrap="square" lIns="0" tIns="0" rIns="0" bIns="0" rtlCol="0" anchor="ctr"/>
          <a:lstStyle/>
          <a:p>
            <a:pPr algn="ctr" indent="0" marL="0">
              <a:buNone/>
            </a:pPr>
            <a:r>
              <a:rPr lang="en-US" sz="1550" b="1" dirty="0">
                <a:solidFill>
                  <a:srgbClr val="202124"/>
                </a:solidFill>
                <a:latin typeface="Roboto" pitchFamily="34" charset="0"/>
                <a:ea typeface="Roboto" pitchFamily="34" charset="-122"/>
                <a:cs typeface="Roboto" pitchFamily="34" charset="-120"/>
              </a:rPr>
              <a:t>Riu</a:t>
            </a:r>
            <a:endParaRPr lang="en-US" sz="1550" dirty="0"/>
          </a:p>
        </p:txBody>
      </p:sp>
      <p:sp>
        <p:nvSpPr>
          <p:cNvPr id="10" name="Text 7"/>
          <p:cNvSpPr txBox="1"/>
          <p:nvPr/>
        </p:nvSpPr>
        <p:spPr>
          <a:xfrm>
            <a:off x="658368" y="3749040"/>
            <a:ext cx="1355293" cy="685800"/>
          </a:xfrm>
          <a:prstGeom prst="rect">
            <a:avLst/>
          </a:prstGeom>
          <a:noFill/>
          <a:ln/>
        </p:spPr>
        <p:txBody>
          <a:bodyPr wrap="square" lIns="0" tIns="0" rIns="0" bIns="0" rtlCol="0" anchor="t"/>
          <a:lstStyle/>
          <a:p>
            <a:pPr algn="ctr" indent="0" marL="0">
              <a:buNone/>
            </a:pPr>
            <a:r>
              <a:rPr lang="en-US" sz="1300" dirty="0">
                <a:solidFill>
                  <a:srgbClr val="5F6368"/>
                </a:solidFill>
                <a:latin typeface="Roboto" pitchFamily="34" charset="0"/>
                <a:ea typeface="Roboto" pitchFamily="34" charset="-122"/>
                <a:cs typeface="Roboto" pitchFamily="34" charset="-120"/>
              </a:rPr>
              <a:t>Cada any, la crescuda</a:t>
            </a:r>
            <a:endParaRPr lang="en-US" sz="1300" dirty="0"/>
          </a:p>
        </p:txBody>
      </p:sp>
      <p:sp>
        <p:nvSpPr>
          <p:cNvPr id="11" name="Fletxa"/>
          <p:cNvSpPr/>
          <p:nvPr/>
        </p:nvSpPr>
        <p:spPr>
          <a:xfrm>
            <a:off x="2196541" y="2496312"/>
            <a:ext cx="182880" cy="274320"/>
          </a:xfrm>
          <a:prstGeom prst="chevron">
            <a:avLst/>
          </a:prstGeom>
          <a:solidFill>
            <a:srgbClr val="188038"/>
          </a:solidFill>
          <a:ln/>
        </p:spPr>
      </p:sp>
      <p:sp>
        <p:nvSpPr>
          <p:cNvPr id="12" name="Pas Terra fèrtil"/>
          <p:cNvSpPr/>
          <p:nvPr/>
        </p:nvSpPr>
        <p:spPr>
          <a:xfrm>
            <a:off x="2452573" y="2011680"/>
            <a:ext cx="1574749" cy="2514600"/>
          </a:xfrm>
          <a:prstGeom prst="roundRect">
            <a:avLst>
              <a:gd name="adj" fmla="val 6387"/>
            </a:avLst>
          </a:prstGeom>
          <a:solidFill>
            <a:srgbClr val="FFFFFF"/>
          </a:solidFill>
          <a:ln w="12700">
            <a:solidFill>
              <a:srgbClr val="DADCE0"/>
            </a:solidFill>
            <a:prstDash val="solid"/>
          </a:ln>
        </p:spPr>
      </p:sp>
      <p:sp>
        <p:nvSpPr>
          <p:cNvPr id="13" name="Cercle icona"/>
          <p:cNvSpPr/>
          <p:nvPr/>
        </p:nvSpPr>
        <p:spPr>
          <a:xfrm>
            <a:off x="2851328" y="2240280"/>
            <a:ext cx="777240" cy="777240"/>
          </a:xfrm>
          <a:prstGeom prst="ellipse">
            <a:avLst/>
          </a:prstGeom>
          <a:solidFill>
            <a:srgbClr val="E6F4EA"/>
          </a:solidFill>
          <a:ln/>
        </p:spPr>
      </p:sp>
      <p:pic>
        <p:nvPicPr>
          <p:cNvPr id="14" name="Icona TbPlant2" descr="/home/claude/pc/build/1r-eso-civilitzacions/img/ic/TbPlant2-g.png">    </p:cNvPr>
          <p:cNvPicPr>
            <a:picLocks noChangeAspect="1"/>
          </p:cNvPicPr>
          <p:nvPr/>
        </p:nvPicPr>
        <p:blipFill>
          <a:blip r:embed="rId2"/>
          <a:stretch>
            <a:fillRect/>
          </a:stretch>
        </p:blipFill>
        <p:spPr>
          <a:xfrm>
            <a:off x="3022321" y="2411273"/>
            <a:ext cx="435254" cy="435254"/>
          </a:xfrm>
          <a:prstGeom prst="rect">
            <a:avLst/>
          </a:prstGeom>
        </p:spPr>
      </p:pic>
      <p:sp>
        <p:nvSpPr>
          <p:cNvPr id="15" name="Text 11"/>
          <p:cNvSpPr txBox="1"/>
          <p:nvPr/>
        </p:nvSpPr>
        <p:spPr>
          <a:xfrm>
            <a:off x="2544013" y="3127248"/>
            <a:ext cx="1391869" cy="566928"/>
          </a:xfrm>
          <a:prstGeom prst="rect">
            <a:avLst/>
          </a:prstGeom>
          <a:noFill/>
          <a:ln/>
        </p:spPr>
        <p:txBody>
          <a:bodyPr wrap="square" lIns="0" tIns="0" rIns="0" bIns="0" rtlCol="0" anchor="ctr"/>
          <a:lstStyle/>
          <a:p>
            <a:pPr algn="ctr" indent="0" marL="0">
              <a:buNone/>
            </a:pPr>
            <a:r>
              <a:rPr lang="en-US" sz="1550" b="1" dirty="0">
                <a:solidFill>
                  <a:srgbClr val="202124"/>
                </a:solidFill>
                <a:latin typeface="Roboto" pitchFamily="34" charset="0"/>
                <a:ea typeface="Roboto" pitchFamily="34" charset="-122"/>
                <a:cs typeface="Roboto" pitchFamily="34" charset="-120"/>
              </a:rPr>
              <a:t>Terra fèrtil</a:t>
            </a:r>
            <a:endParaRPr lang="en-US" sz="1550" dirty="0"/>
          </a:p>
        </p:txBody>
      </p:sp>
      <p:sp>
        <p:nvSpPr>
          <p:cNvPr id="16" name="Text 12"/>
          <p:cNvSpPr txBox="1"/>
          <p:nvPr/>
        </p:nvSpPr>
        <p:spPr>
          <a:xfrm>
            <a:off x="2562301" y="3749040"/>
            <a:ext cx="1355293" cy="685800"/>
          </a:xfrm>
          <a:prstGeom prst="rect">
            <a:avLst/>
          </a:prstGeom>
          <a:noFill/>
          <a:ln/>
        </p:spPr>
        <p:txBody>
          <a:bodyPr wrap="square" lIns="0" tIns="0" rIns="0" bIns="0" rtlCol="0" anchor="t"/>
          <a:lstStyle/>
          <a:p>
            <a:pPr algn="ctr" indent="0" marL="0">
              <a:buNone/>
            </a:pPr>
            <a:r>
              <a:rPr lang="en-US" sz="1300" dirty="0">
                <a:solidFill>
                  <a:srgbClr val="5F6368"/>
                </a:solidFill>
                <a:latin typeface="Roboto" pitchFamily="34" charset="0"/>
                <a:ea typeface="Roboto" pitchFamily="34" charset="-122"/>
                <a:cs typeface="Roboto" pitchFamily="34" charset="-120"/>
              </a:rPr>
              <a:t>Els llims</a:t>
            </a:r>
            <a:endParaRPr lang="en-US" sz="1300" dirty="0"/>
          </a:p>
        </p:txBody>
      </p:sp>
      <p:sp>
        <p:nvSpPr>
          <p:cNvPr id="17" name="Fletxa"/>
          <p:cNvSpPr/>
          <p:nvPr/>
        </p:nvSpPr>
        <p:spPr>
          <a:xfrm>
            <a:off x="4100474" y="2496312"/>
            <a:ext cx="182880" cy="274320"/>
          </a:xfrm>
          <a:prstGeom prst="chevron">
            <a:avLst/>
          </a:prstGeom>
          <a:solidFill>
            <a:srgbClr val="188038"/>
          </a:solidFill>
          <a:ln/>
        </p:spPr>
      </p:sp>
      <p:sp>
        <p:nvSpPr>
          <p:cNvPr id="18" name="Pas Excedents"/>
          <p:cNvSpPr/>
          <p:nvPr/>
        </p:nvSpPr>
        <p:spPr>
          <a:xfrm>
            <a:off x="4356506" y="2011680"/>
            <a:ext cx="1574749" cy="2514600"/>
          </a:xfrm>
          <a:prstGeom prst="roundRect">
            <a:avLst>
              <a:gd name="adj" fmla="val 6387"/>
            </a:avLst>
          </a:prstGeom>
          <a:solidFill>
            <a:srgbClr val="FFFFFF"/>
          </a:solidFill>
          <a:ln w="12700">
            <a:solidFill>
              <a:srgbClr val="DADCE0"/>
            </a:solidFill>
            <a:prstDash val="solid"/>
          </a:ln>
        </p:spPr>
      </p:sp>
      <p:sp>
        <p:nvSpPr>
          <p:cNvPr id="19" name="Cercle icona"/>
          <p:cNvSpPr/>
          <p:nvPr/>
        </p:nvSpPr>
        <p:spPr>
          <a:xfrm>
            <a:off x="4755261" y="2240280"/>
            <a:ext cx="777240" cy="777240"/>
          </a:xfrm>
          <a:prstGeom prst="ellipse">
            <a:avLst/>
          </a:prstGeom>
          <a:solidFill>
            <a:srgbClr val="E6F4EA"/>
          </a:solidFill>
          <a:ln/>
        </p:spPr>
      </p:sp>
      <p:pic>
        <p:nvPicPr>
          <p:cNvPr id="20" name="Icona TbWheat" descr="/home/claude/pc/build/1r-eso-civilitzacions/img/ic/TbWheat-g.png">    </p:cNvPr>
          <p:cNvPicPr>
            <a:picLocks noChangeAspect="1"/>
          </p:cNvPicPr>
          <p:nvPr/>
        </p:nvPicPr>
        <p:blipFill>
          <a:blip r:embed="rId3"/>
          <a:stretch>
            <a:fillRect/>
          </a:stretch>
        </p:blipFill>
        <p:spPr>
          <a:xfrm>
            <a:off x="4926254" y="2411273"/>
            <a:ext cx="435254" cy="435254"/>
          </a:xfrm>
          <a:prstGeom prst="rect">
            <a:avLst/>
          </a:prstGeom>
        </p:spPr>
      </p:pic>
      <p:sp>
        <p:nvSpPr>
          <p:cNvPr id="21" name="Text 16"/>
          <p:cNvSpPr txBox="1"/>
          <p:nvPr/>
        </p:nvSpPr>
        <p:spPr>
          <a:xfrm>
            <a:off x="4447946" y="3127248"/>
            <a:ext cx="1391869" cy="566928"/>
          </a:xfrm>
          <a:prstGeom prst="rect">
            <a:avLst/>
          </a:prstGeom>
          <a:noFill/>
          <a:ln/>
        </p:spPr>
        <p:txBody>
          <a:bodyPr wrap="square" lIns="0" tIns="0" rIns="0" bIns="0" rtlCol="0" anchor="ctr"/>
          <a:lstStyle/>
          <a:p>
            <a:pPr algn="ctr" indent="0" marL="0">
              <a:buNone/>
            </a:pPr>
            <a:r>
              <a:rPr lang="en-US" sz="1550" b="1" dirty="0">
                <a:solidFill>
                  <a:srgbClr val="202124"/>
                </a:solidFill>
                <a:latin typeface="Roboto" pitchFamily="34" charset="0"/>
                <a:ea typeface="Roboto" pitchFamily="34" charset="-122"/>
                <a:cs typeface="Roboto" pitchFamily="34" charset="-120"/>
              </a:rPr>
              <a:t>Excedents</a:t>
            </a:r>
            <a:endParaRPr lang="en-US" sz="1550" dirty="0"/>
          </a:p>
        </p:txBody>
      </p:sp>
      <p:sp>
        <p:nvSpPr>
          <p:cNvPr id="22" name="Text 17"/>
          <p:cNvSpPr txBox="1"/>
          <p:nvPr/>
        </p:nvSpPr>
        <p:spPr>
          <a:xfrm>
            <a:off x="4466234" y="3749040"/>
            <a:ext cx="1355293" cy="685800"/>
          </a:xfrm>
          <a:prstGeom prst="rect">
            <a:avLst/>
          </a:prstGeom>
          <a:noFill/>
          <a:ln/>
        </p:spPr>
        <p:txBody>
          <a:bodyPr wrap="square" lIns="0" tIns="0" rIns="0" bIns="0" rtlCol="0" anchor="t"/>
          <a:lstStyle/>
          <a:p>
            <a:pPr algn="ctr" indent="0" marL="0">
              <a:buNone/>
            </a:pPr>
            <a:r>
              <a:rPr lang="en-US" sz="1300" dirty="0">
                <a:solidFill>
                  <a:srgbClr val="5F6368"/>
                </a:solidFill>
                <a:latin typeface="Roboto" pitchFamily="34" charset="0"/>
                <a:ea typeface="Roboto" pitchFamily="34" charset="-122"/>
                <a:cs typeface="Roboto" pitchFamily="34" charset="-120"/>
              </a:rPr>
              <a:t>Menjar que sobra</a:t>
            </a:r>
            <a:endParaRPr lang="en-US" sz="1300" dirty="0"/>
          </a:p>
        </p:txBody>
      </p:sp>
      <p:sp>
        <p:nvSpPr>
          <p:cNvPr id="23" name="Fletxa"/>
          <p:cNvSpPr/>
          <p:nvPr/>
        </p:nvSpPr>
        <p:spPr>
          <a:xfrm>
            <a:off x="6004408" y="2496312"/>
            <a:ext cx="182880" cy="274320"/>
          </a:xfrm>
          <a:prstGeom prst="chevron">
            <a:avLst/>
          </a:prstGeom>
          <a:solidFill>
            <a:srgbClr val="188038"/>
          </a:solidFill>
          <a:ln/>
        </p:spPr>
      </p:sp>
      <p:sp>
        <p:nvSpPr>
          <p:cNvPr id="24" name="Pas Ciutats"/>
          <p:cNvSpPr/>
          <p:nvPr/>
        </p:nvSpPr>
        <p:spPr>
          <a:xfrm>
            <a:off x="6260440" y="2011680"/>
            <a:ext cx="1574749" cy="2514600"/>
          </a:xfrm>
          <a:prstGeom prst="roundRect">
            <a:avLst>
              <a:gd name="adj" fmla="val 6387"/>
            </a:avLst>
          </a:prstGeom>
          <a:solidFill>
            <a:srgbClr val="FFFFFF"/>
          </a:solidFill>
          <a:ln w="12700">
            <a:solidFill>
              <a:srgbClr val="DADCE0"/>
            </a:solidFill>
            <a:prstDash val="solid"/>
          </a:ln>
        </p:spPr>
      </p:sp>
      <p:sp>
        <p:nvSpPr>
          <p:cNvPr id="25" name="Cercle icona"/>
          <p:cNvSpPr/>
          <p:nvPr/>
        </p:nvSpPr>
        <p:spPr>
          <a:xfrm>
            <a:off x="6659194" y="2240280"/>
            <a:ext cx="777240" cy="777240"/>
          </a:xfrm>
          <a:prstGeom prst="ellipse">
            <a:avLst/>
          </a:prstGeom>
          <a:solidFill>
            <a:srgbClr val="E6F4EA"/>
          </a:solidFill>
          <a:ln/>
        </p:spPr>
      </p:sp>
      <p:pic>
        <p:nvPicPr>
          <p:cNvPr id="26" name="Icona TbBuildingCommunity" descr="/home/claude/pc/build/1r-eso-civilitzacions/img/ic/TbBuildingCommunity-g.png">    </p:cNvPr>
          <p:cNvPicPr>
            <a:picLocks noChangeAspect="1"/>
          </p:cNvPicPr>
          <p:nvPr/>
        </p:nvPicPr>
        <p:blipFill>
          <a:blip r:embed="rId4"/>
          <a:stretch>
            <a:fillRect/>
          </a:stretch>
        </p:blipFill>
        <p:spPr>
          <a:xfrm>
            <a:off x="6830187" y="2411273"/>
            <a:ext cx="435254" cy="435254"/>
          </a:xfrm>
          <a:prstGeom prst="rect">
            <a:avLst/>
          </a:prstGeom>
        </p:spPr>
      </p:pic>
      <p:sp>
        <p:nvSpPr>
          <p:cNvPr id="27" name="Text 21"/>
          <p:cNvSpPr txBox="1"/>
          <p:nvPr/>
        </p:nvSpPr>
        <p:spPr>
          <a:xfrm>
            <a:off x="6351880" y="3127248"/>
            <a:ext cx="1391869" cy="566928"/>
          </a:xfrm>
          <a:prstGeom prst="rect">
            <a:avLst/>
          </a:prstGeom>
          <a:noFill/>
          <a:ln/>
        </p:spPr>
        <p:txBody>
          <a:bodyPr wrap="square" lIns="0" tIns="0" rIns="0" bIns="0" rtlCol="0" anchor="ctr"/>
          <a:lstStyle/>
          <a:p>
            <a:pPr algn="ctr" indent="0" marL="0">
              <a:buNone/>
            </a:pPr>
            <a:r>
              <a:rPr lang="en-US" sz="1550" b="1" dirty="0">
                <a:solidFill>
                  <a:srgbClr val="202124"/>
                </a:solidFill>
                <a:latin typeface="Roboto" pitchFamily="34" charset="0"/>
                <a:ea typeface="Roboto" pitchFamily="34" charset="-122"/>
                <a:cs typeface="Roboto" pitchFamily="34" charset="-120"/>
              </a:rPr>
              <a:t>Ciutats</a:t>
            </a:r>
            <a:endParaRPr lang="en-US" sz="1550" dirty="0"/>
          </a:p>
        </p:txBody>
      </p:sp>
      <p:sp>
        <p:nvSpPr>
          <p:cNvPr id="28" name="Text 22"/>
          <p:cNvSpPr txBox="1"/>
          <p:nvPr/>
        </p:nvSpPr>
        <p:spPr>
          <a:xfrm>
            <a:off x="6370168" y="3749040"/>
            <a:ext cx="1355293" cy="685800"/>
          </a:xfrm>
          <a:prstGeom prst="rect">
            <a:avLst/>
          </a:prstGeom>
          <a:noFill/>
          <a:ln/>
        </p:spPr>
        <p:txBody>
          <a:bodyPr wrap="square" lIns="0" tIns="0" rIns="0" bIns="0" rtlCol="0" anchor="t"/>
          <a:lstStyle/>
          <a:p>
            <a:pPr algn="ctr" indent="0" marL="0">
              <a:buNone/>
            </a:pPr>
            <a:r>
              <a:rPr lang="en-US" sz="1300" dirty="0">
                <a:solidFill>
                  <a:srgbClr val="5F6368"/>
                </a:solidFill>
                <a:latin typeface="Roboto" pitchFamily="34" charset="0"/>
                <a:ea typeface="Roboto" pitchFamily="34" charset="-122"/>
                <a:cs typeface="Roboto" pitchFamily="34" charset="-120"/>
              </a:rPr>
              <a:t>Funcionaris, sacerdots i artesans</a:t>
            </a:r>
            <a:endParaRPr lang="en-US" sz="1300" dirty="0"/>
          </a:p>
        </p:txBody>
      </p:sp>
      <p:sp>
        <p:nvSpPr>
          <p:cNvPr id="29" name="Fletxa"/>
          <p:cNvSpPr/>
          <p:nvPr/>
        </p:nvSpPr>
        <p:spPr>
          <a:xfrm>
            <a:off x="7908341" y="2496312"/>
            <a:ext cx="182880" cy="274320"/>
          </a:xfrm>
          <a:prstGeom prst="chevron">
            <a:avLst/>
          </a:prstGeom>
          <a:solidFill>
            <a:srgbClr val="188038"/>
          </a:solidFill>
          <a:ln/>
        </p:spPr>
      </p:sp>
      <p:sp>
        <p:nvSpPr>
          <p:cNvPr id="30" name="Pas Organitzar-se"/>
          <p:cNvSpPr/>
          <p:nvPr/>
        </p:nvSpPr>
        <p:spPr>
          <a:xfrm>
            <a:off x="8164373" y="2011680"/>
            <a:ext cx="1574749" cy="2514600"/>
          </a:xfrm>
          <a:prstGeom prst="roundRect">
            <a:avLst>
              <a:gd name="adj" fmla="val 6387"/>
            </a:avLst>
          </a:prstGeom>
          <a:solidFill>
            <a:srgbClr val="FFFFFF"/>
          </a:solidFill>
          <a:ln w="12700">
            <a:solidFill>
              <a:srgbClr val="DADCE0"/>
            </a:solidFill>
            <a:prstDash val="solid"/>
          </a:ln>
        </p:spPr>
      </p:sp>
      <p:sp>
        <p:nvSpPr>
          <p:cNvPr id="31" name="Cercle icona"/>
          <p:cNvSpPr/>
          <p:nvPr/>
        </p:nvSpPr>
        <p:spPr>
          <a:xfrm>
            <a:off x="8563127" y="2240280"/>
            <a:ext cx="777240" cy="777240"/>
          </a:xfrm>
          <a:prstGeom prst="ellipse">
            <a:avLst/>
          </a:prstGeom>
          <a:solidFill>
            <a:srgbClr val="E6F4EA"/>
          </a:solidFill>
          <a:ln/>
        </p:spPr>
      </p:sp>
      <p:pic>
        <p:nvPicPr>
          <p:cNvPr id="32" name="Icona TbUsersGroup" descr="/home/claude/pc/build/1r-eso-civilitzacions/img/ic/TbUsersGroup-g.png">    </p:cNvPr>
          <p:cNvPicPr>
            <a:picLocks noChangeAspect="1"/>
          </p:cNvPicPr>
          <p:nvPr/>
        </p:nvPicPr>
        <p:blipFill>
          <a:blip r:embed="rId5"/>
          <a:stretch>
            <a:fillRect/>
          </a:stretch>
        </p:blipFill>
        <p:spPr>
          <a:xfrm>
            <a:off x="8734120" y="2411273"/>
            <a:ext cx="435254" cy="435254"/>
          </a:xfrm>
          <a:prstGeom prst="rect">
            <a:avLst/>
          </a:prstGeom>
        </p:spPr>
      </p:pic>
      <p:sp>
        <p:nvSpPr>
          <p:cNvPr id="33" name="Text 26"/>
          <p:cNvSpPr txBox="1"/>
          <p:nvPr/>
        </p:nvSpPr>
        <p:spPr>
          <a:xfrm>
            <a:off x="8255813" y="3127248"/>
            <a:ext cx="1391869" cy="566928"/>
          </a:xfrm>
          <a:prstGeom prst="rect">
            <a:avLst/>
          </a:prstGeom>
          <a:noFill/>
          <a:ln/>
        </p:spPr>
        <p:txBody>
          <a:bodyPr wrap="square" lIns="0" tIns="0" rIns="0" bIns="0" rtlCol="0" anchor="ctr"/>
          <a:lstStyle/>
          <a:p>
            <a:pPr algn="ctr" indent="0" marL="0">
              <a:buNone/>
            </a:pPr>
            <a:r>
              <a:rPr lang="en-US" sz="1550" b="1" dirty="0">
                <a:solidFill>
                  <a:srgbClr val="202124"/>
                </a:solidFill>
                <a:latin typeface="Roboto" pitchFamily="34" charset="0"/>
                <a:ea typeface="Roboto" pitchFamily="34" charset="-122"/>
                <a:cs typeface="Roboto" pitchFamily="34" charset="-120"/>
              </a:rPr>
              <a:t>Organitzar-se</a:t>
            </a:r>
            <a:endParaRPr lang="en-US" sz="1550" dirty="0"/>
          </a:p>
        </p:txBody>
      </p:sp>
      <p:sp>
        <p:nvSpPr>
          <p:cNvPr id="34" name="Text 27"/>
          <p:cNvSpPr txBox="1"/>
          <p:nvPr/>
        </p:nvSpPr>
        <p:spPr>
          <a:xfrm>
            <a:off x="8274101" y="3749040"/>
            <a:ext cx="1355293" cy="685800"/>
          </a:xfrm>
          <a:prstGeom prst="rect">
            <a:avLst/>
          </a:prstGeom>
          <a:noFill/>
          <a:ln/>
        </p:spPr>
        <p:txBody>
          <a:bodyPr wrap="square" lIns="0" tIns="0" rIns="0" bIns="0" rtlCol="0" anchor="t"/>
          <a:lstStyle/>
          <a:p>
            <a:pPr algn="ctr" indent="0" marL="0">
              <a:buNone/>
            </a:pPr>
            <a:r>
              <a:rPr lang="en-US" sz="1300" dirty="0">
                <a:solidFill>
                  <a:srgbClr val="5F6368"/>
                </a:solidFill>
                <a:latin typeface="Roboto" pitchFamily="34" charset="0"/>
                <a:ea typeface="Roboto" pitchFamily="34" charset="-122"/>
                <a:cs typeface="Roboto" pitchFamily="34" charset="-120"/>
              </a:rPr>
              <a:t>Canals i milers de treballadors</a:t>
            </a:r>
            <a:endParaRPr lang="en-US" sz="1300" dirty="0"/>
          </a:p>
        </p:txBody>
      </p:sp>
      <p:sp>
        <p:nvSpPr>
          <p:cNvPr id="35" name="Fletxa"/>
          <p:cNvSpPr/>
          <p:nvPr/>
        </p:nvSpPr>
        <p:spPr>
          <a:xfrm>
            <a:off x="9812274" y="2496312"/>
            <a:ext cx="182880" cy="274320"/>
          </a:xfrm>
          <a:prstGeom prst="chevron">
            <a:avLst/>
          </a:prstGeom>
          <a:solidFill>
            <a:srgbClr val="188038"/>
          </a:solidFill>
          <a:ln/>
        </p:spPr>
      </p:sp>
      <p:sp>
        <p:nvSpPr>
          <p:cNvPr id="36" name="Pas Estat i escriptura"/>
          <p:cNvSpPr/>
          <p:nvPr/>
        </p:nvSpPr>
        <p:spPr>
          <a:xfrm>
            <a:off x="10068306" y="2011680"/>
            <a:ext cx="1574749" cy="2514600"/>
          </a:xfrm>
          <a:prstGeom prst="roundRect">
            <a:avLst>
              <a:gd name="adj" fmla="val 6387"/>
            </a:avLst>
          </a:prstGeom>
          <a:solidFill>
            <a:srgbClr val="188038"/>
          </a:solidFill>
          <a:ln/>
        </p:spPr>
      </p:sp>
      <p:sp>
        <p:nvSpPr>
          <p:cNvPr id="37" name="Cercle icona"/>
          <p:cNvSpPr/>
          <p:nvPr/>
        </p:nvSpPr>
        <p:spPr>
          <a:xfrm>
            <a:off x="10467061" y="2240280"/>
            <a:ext cx="777240" cy="777240"/>
          </a:xfrm>
          <a:prstGeom prst="ellipse">
            <a:avLst/>
          </a:prstGeom>
          <a:solidFill>
            <a:srgbClr val="FFFFFF"/>
          </a:solidFill>
          <a:ln/>
        </p:spPr>
      </p:sp>
      <p:pic>
        <p:nvPicPr>
          <p:cNvPr id="38" name="Icona TbWriting" descr="/home/claude/pc/build/1r-eso-civilitzacions/img/ic/TbWriting-g.png">    </p:cNvPr>
          <p:cNvPicPr>
            <a:picLocks noChangeAspect="1"/>
          </p:cNvPicPr>
          <p:nvPr/>
        </p:nvPicPr>
        <p:blipFill>
          <a:blip r:embed="rId6"/>
          <a:stretch>
            <a:fillRect/>
          </a:stretch>
        </p:blipFill>
        <p:spPr>
          <a:xfrm>
            <a:off x="10638053" y="2411273"/>
            <a:ext cx="435254" cy="435254"/>
          </a:xfrm>
          <a:prstGeom prst="rect">
            <a:avLst/>
          </a:prstGeom>
        </p:spPr>
      </p:pic>
      <p:sp>
        <p:nvSpPr>
          <p:cNvPr id="39" name="Text 31"/>
          <p:cNvSpPr txBox="1"/>
          <p:nvPr/>
        </p:nvSpPr>
        <p:spPr>
          <a:xfrm>
            <a:off x="10159746" y="3127248"/>
            <a:ext cx="1391869"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Roboto" pitchFamily="34" charset="0"/>
                <a:ea typeface="Roboto" pitchFamily="34" charset="-122"/>
                <a:cs typeface="Roboto" pitchFamily="34" charset="-120"/>
              </a:rPr>
              <a:t>Estat i escriptura</a:t>
            </a:r>
            <a:endParaRPr lang="en-US" sz="1550" dirty="0"/>
          </a:p>
        </p:txBody>
      </p:sp>
      <p:sp>
        <p:nvSpPr>
          <p:cNvPr id="40" name="Text 32"/>
          <p:cNvSpPr txBox="1"/>
          <p:nvPr/>
        </p:nvSpPr>
        <p:spPr>
          <a:xfrm>
            <a:off x="10178034" y="3749040"/>
            <a:ext cx="1355293" cy="685800"/>
          </a:xfrm>
          <a:prstGeom prst="rect">
            <a:avLst/>
          </a:prstGeom>
          <a:noFill/>
          <a:ln/>
        </p:spPr>
        <p:txBody>
          <a:bodyPr wrap="square" lIns="0" tIns="0" rIns="0" bIns="0" rtlCol="0" anchor="t"/>
          <a:lstStyle/>
          <a:p>
            <a:pPr algn="ctr" indent="0" marL="0">
              <a:buNone/>
            </a:pPr>
            <a:r>
              <a:rPr lang="en-US" sz="1300" dirty="0">
                <a:solidFill>
                  <a:srgbClr val="FFFFFF"/>
                </a:solidFill>
                <a:latin typeface="Roboto" pitchFamily="34" charset="0"/>
                <a:ea typeface="Roboto" pitchFamily="34" charset="-122"/>
                <a:cs typeface="Roboto" pitchFamily="34" charset="-120"/>
              </a:rPr>
              <a:t>Per manar i administrar</a:t>
            </a:r>
            <a:endParaRPr lang="en-US" sz="1300" dirty="0"/>
          </a:p>
        </p:txBody>
      </p:sp>
      <p:sp>
        <p:nvSpPr>
          <p:cNvPr id="41" name="Saps que…?"/>
          <p:cNvSpPr/>
          <p:nvPr/>
        </p:nvSpPr>
        <p:spPr>
          <a:xfrm>
            <a:off x="548640" y="4800600"/>
            <a:ext cx="11094415" cy="1188720"/>
          </a:xfrm>
          <a:prstGeom prst="roundRect">
            <a:avLst>
              <a:gd name="adj" fmla="val 8462"/>
            </a:avLst>
          </a:prstGeom>
          <a:solidFill>
            <a:srgbClr val="E6F4EA"/>
          </a:solidFill>
          <a:ln/>
        </p:spPr>
      </p:sp>
      <p:sp>
        <p:nvSpPr>
          <p:cNvPr id="42" name="Text 34"/>
          <p:cNvSpPr txBox="1"/>
          <p:nvPr/>
        </p:nvSpPr>
        <p:spPr>
          <a:xfrm>
            <a:off x="868680" y="49560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43" name="Text 35"/>
          <p:cNvSpPr txBox="1"/>
          <p:nvPr/>
        </p:nvSpPr>
        <p:spPr>
          <a:xfrm>
            <a:off x="868680" y="5303520"/>
            <a:ext cx="10454335" cy="5486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Sense el riu, res de la resta no hauria existit. Reconstruiràs aquesta cadena pas a pas a la situació d'aprenentatge.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Per què van néixer? Diverses explicacions</a:t>
            </a:r>
            <a:endParaRPr lang="en-US" sz="2800" dirty="0"/>
          </a:p>
        </p:txBody>
      </p:sp>
      <p:sp>
        <p:nvSpPr>
          <p:cNvPr id="5" name="Text 3"/>
          <p:cNvSpPr txBox="1"/>
          <p:nvPr/>
        </p:nvSpPr>
        <p:spPr>
          <a:xfrm>
            <a:off x="548640" y="1371600"/>
            <a:ext cx="11094415" cy="4114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Els historiadors no ho expliquen d'una sola manera. Segurament totes aquestes explicacions hi van tenir un paper.</a:t>
            </a:r>
            <a:endParaRPr lang="en-US" sz="1700" dirty="0"/>
          </a:p>
        </p:txBody>
      </p:sp>
      <p:sp>
        <p:nvSpPr>
          <p:cNvPr id="6" name="Targeta L'excedent i els oficis"/>
          <p:cNvSpPr/>
          <p:nvPr/>
        </p:nvSpPr>
        <p:spPr>
          <a:xfrm>
            <a:off x="548640" y="1920240"/>
            <a:ext cx="5410048" cy="1897380"/>
          </a:xfrm>
          <a:prstGeom prst="roundRect">
            <a:avLst>
              <a:gd name="adj" fmla="val 5301"/>
            </a:avLst>
          </a:prstGeom>
          <a:solidFill>
            <a:srgbClr val="FFFFFF"/>
          </a:solidFill>
          <a:ln w="12700">
            <a:solidFill>
              <a:srgbClr val="DADCE0"/>
            </a:solidFill>
            <a:prstDash val="solid"/>
          </a:ln>
        </p:spPr>
      </p:sp>
      <p:sp>
        <p:nvSpPr>
          <p:cNvPr id="7" name="Cercle icona"/>
          <p:cNvSpPr/>
          <p:nvPr/>
        </p:nvSpPr>
        <p:spPr>
          <a:xfrm>
            <a:off x="777240" y="2148840"/>
            <a:ext cx="548640" cy="548640"/>
          </a:xfrm>
          <a:prstGeom prst="ellipse">
            <a:avLst/>
          </a:prstGeom>
          <a:solidFill>
            <a:srgbClr val="E6F4EA"/>
          </a:solidFill>
          <a:ln/>
        </p:spPr>
      </p:sp>
      <p:pic>
        <p:nvPicPr>
          <p:cNvPr id="8" name="Icona TbWheat" descr="/home/claude/pc/build/1r-eso-civilitzacions/img/ic/TbWheat-g.png">    </p:cNvPr>
          <p:cNvPicPr>
            <a:picLocks noChangeAspect="1"/>
          </p:cNvPicPr>
          <p:nvPr/>
        </p:nvPicPr>
        <p:blipFill>
          <a:blip r:embed="rId1"/>
          <a:stretch>
            <a:fillRect/>
          </a:stretch>
        </p:blipFill>
        <p:spPr>
          <a:xfrm>
            <a:off x="897941" y="2269541"/>
            <a:ext cx="307238" cy="307238"/>
          </a:xfrm>
          <a:prstGeom prst="rect">
            <a:avLst/>
          </a:prstGeom>
        </p:spPr>
      </p:pic>
      <p:sp>
        <p:nvSpPr>
          <p:cNvPr id="9" name="Text 6"/>
          <p:cNvSpPr txBox="1"/>
          <p:nvPr/>
        </p:nvSpPr>
        <p:spPr>
          <a:xfrm>
            <a:off x="1463040" y="2148840"/>
            <a:ext cx="426704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L'excedent i els oficis</a:t>
            </a:r>
            <a:endParaRPr lang="en-US" sz="1800" dirty="0"/>
          </a:p>
        </p:txBody>
      </p:sp>
      <p:sp>
        <p:nvSpPr>
          <p:cNvPr id="10" name="Text 7"/>
          <p:cNvSpPr txBox="1"/>
          <p:nvPr/>
        </p:nvSpPr>
        <p:spPr>
          <a:xfrm>
            <a:off x="777240" y="2834640"/>
            <a:ext cx="4952848" cy="8458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Amb el regadiu, l'arada i les eines de metall sobrava menjar. Una part de la gent va poder fer altres feines.</a:t>
            </a:r>
            <a:endParaRPr lang="en-US" sz="1550" dirty="0"/>
          </a:p>
        </p:txBody>
      </p:sp>
      <p:sp>
        <p:nvSpPr>
          <p:cNvPr id="11" name="Targeta Els canals de regadiu"/>
          <p:cNvSpPr/>
          <p:nvPr/>
        </p:nvSpPr>
        <p:spPr>
          <a:xfrm>
            <a:off x="6233008" y="1920240"/>
            <a:ext cx="5410048" cy="1897380"/>
          </a:xfrm>
          <a:prstGeom prst="roundRect">
            <a:avLst>
              <a:gd name="adj" fmla="val 5301"/>
            </a:avLst>
          </a:prstGeom>
          <a:solidFill>
            <a:srgbClr val="FFFFFF"/>
          </a:solidFill>
          <a:ln w="12700">
            <a:solidFill>
              <a:srgbClr val="DADCE0"/>
            </a:solidFill>
            <a:prstDash val="solid"/>
          </a:ln>
        </p:spPr>
      </p:sp>
      <p:sp>
        <p:nvSpPr>
          <p:cNvPr id="12" name="Cercle icona"/>
          <p:cNvSpPr/>
          <p:nvPr/>
        </p:nvSpPr>
        <p:spPr>
          <a:xfrm>
            <a:off x="6461608" y="2148840"/>
            <a:ext cx="548640" cy="548640"/>
          </a:xfrm>
          <a:prstGeom prst="ellipse">
            <a:avLst/>
          </a:prstGeom>
          <a:solidFill>
            <a:srgbClr val="E6F4EA"/>
          </a:solidFill>
          <a:ln/>
        </p:spPr>
      </p:sp>
      <p:pic>
        <p:nvPicPr>
          <p:cNvPr id="13" name="Icona TbDroplet" descr="/home/claude/pc/build/1r-eso-civilitzacions/img/ic/TbDroplet-g.png">    </p:cNvPr>
          <p:cNvPicPr>
            <a:picLocks noChangeAspect="1"/>
          </p:cNvPicPr>
          <p:nvPr/>
        </p:nvPicPr>
        <p:blipFill>
          <a:blip r:embed="rId2"/>
          <a:stretch>
            <a:fillRect/>
          </a:stretch>
        </p:blipFill>
        <p:spPr>
          <a:xfrm>
            <a:off x="6582308" y="2269541"/>
            <a:ext cx="307238" cy="307238"/>
          </a:xfrm>
          <a:prstGeom prst="rect">
            <a:avLst/>
          </a:prstGeom>
        </p:spPr>
      </p:pic>
      <p:sp>
        <p:nvSpPr>
          <p:cNvPr id="14" name="Text 10"/>
          <p:cNvSpPr txBox="1"/>
          <p:nvPr/>
        </p:nvSpPr>
        <p:spPr>
          <a:xfrm>
            <a:off x="7147408" y="2148840"/>
            <a:ext cx="426704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Els canals de regadiu</a:t>
            </a:r>
            <a:endParaRPr lang="en-US" sz="1800" dirty="0"/>
          </a:p>
        </p:txBody>
      </p:sp>
      <p:sp>
        <p:nvSpPr>
          <p:cNvPr id="15" name="Text 11"/>
          <p:cNvSpPr txBox="1"/>
          <p:nvPr/>
        </p:nvSpPr>
        <p:spPr>
          <a:xfrm>
            <a:off x="6461608" y="2834640"/>
            <a:ext cx="4952848" cy="8458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Calia algú que manés i organitzés milers de persones. Però a Mesopotàmia els grans canals es van fer quan ja hi havia reis.</a:t>
            </a:r>
            <a:endParaRPr lang="en-US" sz="1550" dirty="0"/>
          </a:p>
        </p:txBody>
      </p:sp>
      <p:sp>
        <p:nvSpPr>
          <p:cNvPr id="16" name="Targeta La guerra"/>
          <p:cNvSpPr/>
          <p:nvPr/>
        </p:nvSpPr>
        <p:spPr>
          <a:xfrm>
            <a:off x="548640" y="4091940"/>
            <a:ext cx="5410048" cy="1897380"/>
          </a:xfrm>
          <a:prstGeom prst="roundRect">
            <a:avLst>
              <a:gd name="adj" fmla="val 5301"/>
            </a:avLst>
          </a:prstGeom>
          <a:solidFill>
            <a:srgbClr val="FFFFFF"/>
          </a:solidFill>
          <a:ln w="12700">
            <a:solidFill>
              <a:srgbClr val="DADCE0"/>
            </a:solidFill>
            <a:prstDash val="solid"/>
          </a:ln>
        </p:spPr>
      </p:sp>
      <p:sp>
        <p:nvSpPr>
          <p:cNvPr id="17" name="Cercle icona"/>
          <p:cNvSpPr/>
          <p:nvPr/>
        </p:nvSpPr>
        <p:spPr>
          <a:xfrm>
            <a:off x="777240" y="4320540"/>
            <a:ext cx="548640" cy="548640"/>
          </a:xfrm>
          <a:prstGeom prst="ellipse">
            <a:avLst/>
          </a:prstGeom>
          <a:solidFill>
            <a:srgbClr val="E6F4EA"/>
          </a:solidFill>
          <a:ln/>
        </p:spPr>
      </p:sp>
      <p:pic>
        <p:nvPicPr>
          <p:cNvPr id="18" name="Icona TbSwords" descr="/home/claude/pc/build/1r-eso-civilitzacions/img/ic/TbSwords-g.png">    </p:cNvPr>
          <p:cNvPicPr>
            <a:picLocks noChangeAspect="1"/>
          </p:cNvPicPr>
          <p:nvPr/>
        </p:nvPicPr>
        <p:blipFill>
          <a:blip r:embed="rId3"/>
          <a:stretch>
            <a:fillRect/>
          </a:stretch>
        </p:blipFill>
        <p:spPr>
          <a:xfrm>
            <a:off x="897941" y="4441241"/>
            <a:ext cx="307238" cy="307238"/>
          </a:xfrm>
          <a:prstGeom prst="rect">
            <a:avLst/>
          </a:prstGeom>
        </p:spPr>
      </p:pic>
      <p:sp>
        <p:nvSpPr>
          <p:cNvPr id="19" name="Text 14"/>
          <p:cNvSpPr txBox="1"/>
          <p:nvPr/>
        </p:nvSpPr>
        <p:spPr>
          <a:xfrm>
            <a:off x="1463040" y="4320540"/>
            <a:ext cx="426704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La guerra</a:t>
            </a:r>
            <a:endParaRPr lang="en-US" sz="1800" dirty="0"/>
          </a:p>
        </p:txBody>
      </p:sp>
      <p:sp>
        <p:nvSpPr>
          <p:cNvPr id="20" name="Text 15"/>
          <p:cNvSpPr txBox="1"/>
          <p:nvPr/>
        </p:nvSpPr>
        <p:spPr>
          <a:xfrm>
            <a:off x="777240" y="5006340"/>
            <a:ext cx="4952848" cy="8458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Les terres fèrtils eren poques i envoltades de desert. Els vencedors dominaven els vençuts i els feien pagar tributs.</a:t>
            </a:r>
            <a:endParaRPr lang="en-US" sz="1550" dirty="0"/>
          </a:p>
        </p:txBody>
      </p:sp>
      <p:sp>
        <p:nvSpPr>
          <p:cNvPr id="21" name="Targeta El comerç i els temples"/>
          <p:cNvSpPr/>
          <p:nvPr/>
        </p:nvSpPr>
        <p:spPr>
          <a:xfrm>
            <a:off x="6233008" y="4091940"/>
            <a:ext cx="5410048" cy="1897380"/>
          </a:xfrm>
          <a:prstGeom prst="roundRect">
            <a:avLst>
              <a:gd name="adj" fmla="val 5301"/>
            </a:avLst>
          </a:prstGeom>
          <a:solidFill>
            <a:srgbClr val="FFFFFF"/>
          </a:solidFill>
          <a:ln w="12700">
            <a:solidFill>
              <a:srgbClr val="DADCE0"/>
            </a:solidFill>
            <a:prstDash val="solid"/>
          </a:ln>
        </p:spPr>
      </p:sp>
      <p:sp>
        <p:nvSpPr>
          <p:cNvPr id="22" name="Cercle icona"/>
          <p:cNvSpPr/>
          <p:nvPr/>
        </p:nvSpPr>
        <p:spPr>
          <a:xfrm>
            <a:off x="6461608" y="4320540"/>
            <a:ext cx="548640" cy="548640"/>
          </a:xfrm>
          <a:prstGeom prst="ellipse">
            <a:avLst/>
          </a:prstGeom>
          <a:solidFill>
            <a:srgbClr val="E6F4EA"/>
          </a:solidFill>
          <a:ln/>
        </p:spPr>
      </p:sp>
      <p:pic>
        <p:nvPicPr>
          <p:cNvPr id="23" name="Icona TbBuildingStore" descr="/home/claude/pc/build/1r-eso-civilitzacions/img/ic/TbBuildingStore-g.png">    </p:cNvPr>
          <p:cNvPicPr>
            <a:picLocks noChangeAspect="1"/>
          </p:cNvPicPr>
          <p:nvPr/>
        </p:nvPicPr>
        <p:blipFill>
          <a:blip r:embed="rId4"/>
          <a:stretch>
            <a:fillRect/>
          </a:stretch>
        </p:blipFill>
        <p:spPr>
          <a:xfrm>
            <a:off x="6582308" y="4441241"/>
            <a:ext cx="307238" cy="307238"/>
          </a:xfrm>
          <a:prstGeom prst="rect">
            <a:avLst/>
          </a:prstGeom>
        </p:spPr>
      </p:pic>
      <p:sp>
        <p:nvSpPr>
          <p:cNvPr id="24" name="Text 18"/>
          <p:cNvSpPr txBox="1"/>
          <p:nvPr/>
        </p:nvSpPr>
        <p:spPr>
          <a:xfrm>
            <a:off x="7147408" y="4320540"/>
            <a:ext cx="426704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El comerç i els temples</a:t>
            </a:r>
            <a:endParaRPr lang="en-US" sz="1800" dirty="0"/>
          </a:p>
        </p:txBody>
      </p:sp>
      <p:sp>
        <p:nvSpPr>
          <p:cNvPr id="25" name="Text 19"/>
          <p:cNvSpPr txBox="1"/>
          <p:nvPr/>
        </p:nvSpPr>
        <p:spPr>
          <a:xfrm>
            <a:off x="6461608" y="5006340"/>
            <a:ext cx="4952848" cy="8458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Qui controlava els intercanvis i els magatzems dels temples va acumular riquesa i poder.</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revolució urbana</a:t>
            </a:r>
            <a:endParaRPr lang="en-US" sz="2800" dirty="0"/>
          </a:p>
        </p:txBody>
      </p:sp>
      <p:sp>
        <p:nvSpPr>
          <p:cNvPr id="5" name="Els pagesos"/>
          <p:cNvSpPr/>
          <p:nvPr/>
        </p:nvSpPr>
        <p:spPr>
          <a:xfrm>
            <a:off x="548640" y="1371600"/>
            <a:ext cx="3154680" cy="3108960"/>
          </a:xfrm>
          <a:prstGeom prst="roundRect">
            <a:avLst>
              <a:gd name="adj" fmla="val 3235"/>
            </a:avLst>
          </a:prstGeom>
          <a:solidFill>
            <a:srgbClr val="FFFFFF"/>
          </a:solidFill>
          <a:ln w="12700">
            <a:solidFill>
              <a:srgbClr val="DADCE0"/>
            </a:solidFill>
            <a:prstDash val="solid"/>
          </a:ln>
        </p:spPr>
      </p:sp>
      <p:sp>
        <p:nvSpPr>
          <p:cNvPr id="6" name="Cercle icona"/>
          <p:cNvSpPr/>
          <p:nvPr/>
        </p:nvSpPr>
        <p:spPr>
          <a:xfrm>
            <a:off x="777240" y="1600200"/>
            <a:ext cx="640080" cy="640080"/>
          </a:xfrm>
          <a:prstGeom prst="ellipse">
            <a:avLst/>
          </a:prstGeom>
          <a:solidFill>
            <a:srgbClr val="E6F4EA"/>
          </a:solidFill>
          <a:ln/>
        </p:spPr>
      </p:sp>
      <p:pic>
        <p:nvPicPr>
          <p:cNvPr id="7" name="Icona TbShovel" descr="/home/claude/pc/build/1r-eso-civilitzacions/img/ic/TbShovel-g.png">    </p:cNvPr>
          <p:cNvPicPr>
            <a:picLocks noChangeAspect="1"/>
          </p:cNvPicPr>
          <p:nvPr/>
        </p:nvPicPr>
        <p:blipFill>
          <a:blip r:embed="rId1"/>
          <a:stretch>
            <a:fillRect/>
          </a:stretch>
        </p:blipFill>
        <p:spPr>
          <a:xfrm>
            <a:off x="918058" y="1741018"/>
            <a:ext cx="358445" cy="358445"/>
          </a:xfrm>
          <a:prstGeom prst="rect">
            <a:avLst/>
          </a:prstGeom>
        </p:spPr>
      </p:pic>
      <p:sp>
        <p:nvSpPr>
          <p:cNvPr id="8" name="Text 5"/>
          <p:cNvSpPr txBox="1"/>
          <p:nvPr/>
        </p:nvSpPr>
        <p:spPr>
          <a:xfrm>
            <a:off x="1554480" y="1600200"/>
            <a:ext cx="2011680" cy="64008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Els pagesos</a:t>
            </a:r>
            <a:endParaRPr lang="en-US" sz="1900" dirty="0"/>
          </a:p>
        </p:txBody>
      </p:sp>
      <p:sp>
        <p:nvSpPr>
          <p:cNvPr id="9" name="Text 6"/>
          <p:cNvSpPr txBox="1"/>
          <p:nvPr/>
        </p:nvSpPr>
        <p:spPr>
          <a:xfrm>
            <a:off x="777240" y="2423160"/>
            <a:ext cx="2697480" cy="19202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Amb el regadiu, l'arada tirada per bous i les eines de metall, produïen més aliment del que necessitaven.</a:t>
            </a:r>
            <a:endParaRPr lang="en-US" sz="1550" dirty="0"/>
          </a:p>
        </p:txBody>
      </p:sp>
      <p:sp>
        <p:nvSpPr>
          <p:cNvPr id="10" name="Fletxa"/>
          <p:cNvSpPr/>
          <p:nvPr/>
        </p:nvSpPr>
        <p:spPr>
          <a:xfrm>
            <a:off x="3840480" y="2788920"/>
            <a:ext cx="182880" cy="274320"/>
          </a:xfrm>
          <a:prstGeom prst="chevron">
            <a:avLst/>
          </a:prstGeom>
          <a:solidFill>
            <a:srgbClr val="188038"/>
          </a:solidFill>
          <a:ln/>
        </p:spPr>
      </p:sp>
      <p:sp>
        <p:nvSpPr>
          <p:cNvPr id="11" name="Cercle excedent"/>
          <p:cNvSpPr/>
          <p:nvPr/>
        </p:nvSpPr>
        <p:spPr>
          <a:xfrm>
            <a:off x="4617720" y="1691640"/>
            <a:ext cx="1554480" cy="1554480"/>
          </a:xfrm>
          <a:prstGeom prst="ellipse">
            <a:avLst/>
          </a:prstGeom>
          <a:solidFill>
            <a:srgbClr val="E6F4EA"/>
          </a:solidFill>
          <a:ln/>
        </p:spPr>
      </p:sp>
      <p:pic>
        <p:nvPicPr>
          <p:cNvPr id="12" name="Icona TbWheat" descr="/home/claude/pc/build/1r-eso-civilitzacions/img/ic/TbWheat-g.png">    </p:cNvPr>
          <p:cNvPicPr>
            <a:picLocks noChangeAspect="1"/>
          </p:cNvPicPr>
          <p:nvPr/>
        </p:nvPicPr>
        <p:blipFill>
          <a:blip r:embed="rId2"/>
          <a:stretch>
            <a:fillRect/>
          </a:stretch>
        </p:blipFill>
        <p:spPr>
          <a:xfrm>
            <a:off x="4937760" y="2011680"/>
            <a:ext cx="914400" cy="914400"/>
          </a:xfrm>
          <a:prstGeom prst="rect">
            <a:avLst/>
          </a:prstGeom>
        </p:spPr>
      </p:pic>
      <p:sp>
        <p:nvSpPr>
          <p:cNvPr id="13" name="Text 9"/>
          <p:cNvSpPr txBox="1"/>
          <p:nvPr/>
        </p:nvSpPr>
        <p:spPr>
          <a:xfrm>
            <a:off x="4206240" y="3383280"/>
            <a:ext cx="2377440" cy="457200"/>
          </a:xfrm>
          <a:prstGeom prst="rect">
            <a:avLst/>
          </a:prstGeom>
          <a:noFill/>
          <a:ln/>
        </p:spPr>
        <p:txBody>
          <a:bodyPr wrap="square" lIns="0" tIns="0" rIns="0" bIns="0" rtlCol="0" anchor="t"/>
          <a:lstStyle/>
          <a:p>
            <a:pPr algn="ctr" indent="0" marL="0">
              <a:buNone/>
            </a:pPr>
            <a:r>
              <a:rPr lang="en-US" sz="2100" b="1" dirty="0">
                <a:solidFill>
                  <a:srgbClr val="188038"/>
                </a:solidFill>
                <a:latin typeface="Roboto" pitchFamily="34" charset="0"/>
                <a:ea typeface="Roboto" pitchFamily="34" charset="-122"/>
                <a:cs typeface="Roboto" pitchFamily="34" charset="-120"/>
              </a:rPr>
              <a:t>Excedent</a:t>
            </a:r>
            <a:endParaRPr lang="en-US" sz="2100" dirty="0"/>
          </a:p>
        </p:txBody>
      </p:sp>
      <p:sp>
        <p:nvSpPr>
          <p:cNvPr id="14" name="Text 10"/>
          <p:cNvSpPr txBox="1"/>
          <p:nvPr/>
        </p:nvSpPr>
        <p:spPr>
          <a:xfrm>
            <a:off x="4206240" y="3858768"/>
            <a:ext cx="2377440" cy="365760"/>
          </a:xfrm>
          <a:prstGeom prst="rect">
            <a:avLst/>
          </a:prstGeom>
          <a:noFill/>
          <a:ln/>
        </p:spPr>
        <p:txBody>
          <a:bodyPr wrap="square" lIns="0" tIns="0" rIns="0" bIns="0" rtlCol="0" anchor="t"/>
          <a:lstStyle/>
          <a:p>
            <a:pPr algn="ctr" indent="0" marL="0">
              <a:buNone/>
            </a:pPr>
            <a:r>
              <a:rPr lang="en-US" sz="1500" dirty="0">
                <a:solidFill>
                  <a:srgbClr val="5F6368"/>
                </a:solidFill>
                <a:latin typeface="Roboto" pitchFamily="34" charset="0"/>
                <a:ea typeface="Roboto" pitchFamily="34" charset="-122"/>
                <a:cs typeface="Roboto" pitchFamily="34" charset="-120"/>
              </a:rPr>
              <a:t>Menjar que sobra</a:t>
            </a:r>
            <a:endParaRPr lang="en-US" sz="1500" dirty="0"/>
          </a:p>
        </p:txBody>
      </p:sp>
      <p:sp>
        <p:nvSpPr>
          <p:cNvPr id="15" name="Fletxa"/>
          <p:cNvSpPr/>
          <p:nvPr/>
        </p:nvSpPr>
        <p:spPr>
          <a:xfrm>
            <a:off x="6675120" y="2788920"/>
            <a:ext cx="182880" cy="274320"/>
          </a:xfrm>
          <a:prstGeom prst="chevron">
            <a:avLst/>
          </a:prstGeom>
          <a:solidFill>
            <a:srgbClr val="188038"/>
          </a:solidFill>
          <a:ln/>
        </p:spPr>
      </p:sp>
      <p:sp>
        <p:nvSpPr>
          <p:cNvPr id="16" name="Noves feines"/>
          <p:cNvSpPr/>
          <p:nvPr/>
        </p:nvSpPr>
        <p:spPr>
          <a:xfrm>
            <a:off x="7040880" y="1371600"/>
            <a:ext cx="4602175" cy="3108960"/>
          </a:xfrm>
          <a:prstGeom prst="roundRect">
            <a:avLst>
              <a:gd name="adj" fmla="val 3235"/>
            </a:avLst>
          </a:prstGeom>
          <a:solidFill>
            <a:srgbClr val="FFFFFF"/>
          </a:solidFill>
          <a:ln w="12700">
            <a:solidFill>
              <a:srgbClr val="DADCE0"/>
            </a:solidFill>
            <a:prstDash val="solid"/>
          </a:ln>
        </p:spPr>
      </p:sp>
      <p:sp>
        <p:nvSpPr>
          <p:cNvPr id="17" name="Text 13"/>
          <p:cNvSpPr txBox="1"/>
          <p:nvPr/>
        </p:nvSpPr>
        <p:spPr>
          <a:xfrm>
            <a:off x="7269480" y="1554480"/>
            <a:ext cx="4144975" cy="45720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Ja no calia que tothom treballés al camp</a:t>
            </a:r>
            <a:endParaRPr lang="en-US" sz="1600" dirty="0"/>
          </a:p>
        </p:txBody>
      </p:sp>
      <p:sp>
        <p:nvSpPr>
          <p:cNvPr id="18" name="Cercle icona"/>
          <p:cNvSpPr/>
          <p:nvPr/>
        </p:nvSpPr>
        <p:spPr>
          <a:xfrm>
            <a:off x="7269480" y="2148840"/>
            <a:ext cx="566928" cy="566928"/>
          </a:xfrm>
          <a:prstGeom prst="ellipse">
            <a:avLst/>
          </a:prstGeom>
          <a:solidFill>
            <a:srgbClr val="E6F4EA"/>
          </a:solidFill>
          <a:ln/>
        </p:spPr>
      </p:sp>
      <p:pic>
        <p:nvPicPr>
          <p:cNvPr id="19" name="Icona TbHammer" descr="/home/claude/pc/build/1r-eso-civilitzacions/img/ic/TbHammer-g.png">    </p:cNvPr>
          <p:cNvPicPr>
            <a:picLocks noChangeAspect="1"/>
          </p:cNvPicPr>
          <p:nvPr/>
        </p:nvPicPr>
        <p:blipFill>
          <a:blip r:embed="rId3"/>
          <a:stretch>
            <a:fillRect/>
          </a:stretch>
        </p:blipFill>
        <p:spPr>
          <a:xfrm>
            <a:off x="7394204" y="2273564"/>
            <a:ext cx="317480" cy="317480"/>
          </a:xfrm>
          <a:prstGeom prst="rect">
            <a:avLst/>
          </a:prstGeom>
        </p:spPr>
      </p:pic>
      <p:sp>
        <p:nvSpPr>
          <p:cNvPr id="20" name="Text 15"/>
          <p:cNvSpPr txBox="1"/>
          <p:nvPr/>
        </p:nvSpPr>
        <p:spPr>
          <a:xfrm>
            <a:off x="7955280" y="2148840"/>
            <a:ext cx="1340968" cy="566928"/>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Artesans</a:t>
            </a:r>
            <a:endParaRPr lang="en-US" sz="1700" dirty="0"/>
          </a:p>
        </p:txBody>
      </p:sp>
      <p:sp>
        <p:nvSpPr>
          <p:cNvPr id="21" name="Cercle icona"/>
          <p:cNvSpPr/>
          <p:nvPr/>
        </p:nvSpPr>
        <p:spPr>
          <a:xfrm>
            <a:off x="9341968" y="2148840"/>
            <a:ext cx="566928" cy="566928"/>
          </a:xfrm>
          <a:prstGeom prst="ellipse">
            <a:avLst/>
          </a:prstGeom>
          <a:solidFill>
            <a:srgbClr val="E6F4EA"/>
          </a:solidFill>
          <a:ln/>
        </p:spPr>
      </p:sp>
      <p:pic>
        <p:nvPicPr>
          <p:cNvPr id="22" name="Icona TbCoins" descr="/home/claude/pc/build/1r-eso-civilitzacions/img/ic/TbCoins-g.png">    </p:cNvPr>
          <p:cNvPicPr>
            <a:picLocks noChangeAspect="1"/>
          </p:cNvPicPr>
          <p:nvPr/>
        </p:nvPicPr>
        <p:blipFill>
          <a:blip r:embed="rId4"/>
          <a:stretch>
            <a:fillRect/>
          </a:stretch>
        </p:blipFill>
        <p:spPr>
          <a:xfrm>
            <a:off x="9466692" y="2273564"/>
            <a:ext cx="317480" cy="317480"/>
          </a:xfrm>
          <a:prstGeom prst="rect">
            <a:avLst/>
          </a:prstGeom>
        </p:spPr>
      </p:pic>
      <p:sp>
        <p:nvSpPr>
          <p:cNvPr id="23" name="Text 17"/>
          <p:cNvSpPr txBox="1"/>
          <p:nvPr/>
        </p:nvSpPr>
        <p:spPr>
          <a:xfrm>
            <a:off x="10027768" y="2148840"/>
            <a:ext cx="1340968" cy="566928"/>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Comerciants</a:t>
            </a:r>
            <a:endParaRPr lang="en-US" sz="1700" dirty="0"/>
          </a:p>
        </p:txBody>
      </p:sp>
      <p:sp>
        <p:nvSpPr>
          <p:cNvPr id="24" name="Cercle icona"/>
          <p:cNvSpPr/>
          <p:nvPr/>
        </p:nvSpPr>
        <p:spPr>
          <a:xfrm>
            <a:off x="7269480" y="2898648"/>
            <a:ext cx="566928" cy="566928"/>
          </a:xfrm>
          <a:prstGeom prst="ellipse">
            <a:avLst/>
          </a:prstGeom>
          <a:solidFill>
            <a:srgbClr val="E6F4EA"/>
          </a:solidFill>
          <a:ln/>
        </p:spPr>
      </p:sp>
      <p:pic>
        <p:nvPicPr>
          <p:cNvPr id="25" name="Icona TbFlame" descr="/home/claude/pc/build/1r-eso-civilitzacions/img/ic/TbFlame-g.png">    </p:cNvPr>
          <p:cNvPicPr>
            <a:picLocks noChangeAspect="1"/>
          </p:cNvPicPr>
          <p:nvPr/>
        </p:nvPicPr>
        <p:blipFill>
          <a:blip r:embed="rId5"/>
          <a:stretch>
            <a:fillRect/>
          </a:stretch>
        </p:blipFill>
        <p:spPr>
          <a:xfrm>
            <a:off x="7394204" y="3023372"/>
            <a:ext cx="317480" cy="317480"/>
          </a:xfrm>
          <a:prstGeom prst="rect">
            <a:avLst/>
          </a:prstGeom>
        </p:spPr>
      </p:pic>
      <p:sp>
        <p:nvSpPr>
          <p:cNvPr id="26" name="Text 19"/>
          <p:cNvSpPr txBox="1"/>
          <p:nvPr/>
        </p:nvSpPr>
        <p:spPr>
          <a:xfrm>
            <a:off x="7955280" y="2898648"/>
            <a:ext cx="1340968" cy="566928"/>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Sacerdots</a:t>
            </a:r>
            <a:endParaRPr lang="en-US" sz="1700" dirty="0"/>
          </a:p>
        </p:txBody>
      </p:sp>
      <p:sp>
        <p:nvSpPr>
          <p:cNvPr id="27" name="Cercle icona"/>
          <p:cNvSpPr/>
          <p:nvPr/>
        </p:nvSpPr>
        <p:spPr>
          <a:xfrm>
            <a:off x="9341968" y="2898648"/>
            <a:ext cx="566928" cy="566928"/>
          </a:xfrm>
          <a:prstGeom prst="ellipse">
            <a:avLst/>
          </a:prstGeom>
          <a:solidFill>
            <a:srgbClr val="E6F4EA"/>
          </a:solidFill>
          <a:ln/>
        </p:spPr>
      </p:sp>
      <p:pic>
        <p:nvPicPr>
          <p:cNvPr id="28" name="Icona TbShield" descr="/home/claude/pc/build/1r-eso-civilitzacions/img/ic/TbShield-g.png">    </p:cNvPr>
          <p:cNvPicPr>
            <a:picLocks noChangeAspect="1"/>
          </p:cNvPicPr>
          <p:nvPr/>
        </p:nvPicPr>
        <p:blipFill>
          <a:blip r:embed="rId6"/>
          <a:stretch>
            <a:fillRect/>
          </a:stretch>
        </p:blipFill>
        <p:spPr>
          <a:xfrm>
            <a:off x="9466692" y="3023372"/>
            <a:ext cx="317480" cy="317480"/>
          </a:xfrm>
          <a:prstGeom prst="rect">
            <a:avLst/>
          </a:prstGeom>
        </p:spPr>
      </p:pic>
      <p:sp>
        <p:nvSpPr>
          <p:cNvPr id="29" name="Text 21"/>
          <p:cNvSpPr txBox="1"/>
          <p:nvPr/>
        </p:nvSpPr>
        <p:spPr>
          <a:xfrm>
            <a:off x="10027768" y="2898648"/>
            <a:ext cx="1340968" cy="566928"/>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Soldats</a:t>
            </a:r>
            <a:endParaRPr lang="en-US" sz="1700" dirty="0"/>
          </a:p>
        </p:txBody>
      </p:sp>
      <p:sp>
        <p:nvSpPr>
          <p:cNvPr id="30" name="Cercle icona"/>
          <p:cNvSpPr/>
          <p:nvPr/>
        </p:nvSpPr>
        <p:spPr>
          <a:xfrm>
            <a:off x="7269480" y="3648456"/>
            <a:ext cx="566928" cy="566928"/>
          </a:xfrm>
          <a:prstGeom prst="ellipse">
            <a:avLst/>
          </a:prstGeom>
          <a:solidFill>
            <a:srgbClr val="E6F4EA"/>
          </a:solidFill>
          <a:ln/>
        </p:spPr>
      </p:sp>
      <p:pic>
        <p:nvPicPr>
          <p:cNvPr id="31" name="Icona TbClipboardList" descr="/home/claude/pc/build/1r-eso-civilitzacions/img/ic/TbClipboardList-g.png">    </p:cNvPr>
          <p:cNvPicPr>
            <a:picLocks noChangeAspect="1"/>
          </p:cNvPicPr>
          <p:nvPr/>
        </p:nvPicPr>
        <p:blipFill>
          <a:blip r:embed="rId7"/>
          <a:stretch>
            <a:fillRect/>
          </a:stretch>
        </p:blipFill>
        <p:spPr>
          <a:xfrm>
            <a:off x="7394204" y="3773180"/>
            <a:ext cx="317480" cy="317480"/>
          </a:xfrm>
          <a:prstGeom prst="rect">
            <a:avLst/>
          </a:prstGeom>
        </p:spPr>
      </p:pic>
      <p:sp>
        <p:nvSpPr>
          <p:cNvPr id="32" name="Text 23"/>
          <p:cNvSpPr txBox="1"/>
          <p:nvPr/>
        </p:nvSpPr>
        <p:spPr>
          <a:xfrm>
            <a:off x="7955280" y="3648456"/>
            <a:ext cx="1340968" cy="566928"/>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Funcionaris</a:t>
            </a:r>
            <a:endParaRPr lang="en-US" sz="1700" dirty="0"/>
          </a:p>
        </p:txBody>
      </p:sp>
      <p:sp>
        <p:nvSpPr>
          <p:cNvPr id="33" name="Paraula clau · Revolució urbana"/>
          <p:cNvSpPr/>
          <p:nvPr/>
        </p:nvSpPr>
        <p:spPr>
          <a:xfrm>
            <a:off x="548640" y="4663440"/>
            <a:ext cx="11094415" cy="1325880"/>
          </a:xfrm>
          <a:prstGeom prst="roundRect">
            <a:avLst>
              <a:gd name="adj" fmla="val 7586"/>
            </a:avLst>
          </a:prstGeom>
          <a:solidFill>
            <a:srgbClr val="E6F4EA"/>
          </a:solidFill>
          <a:ln/>
        </p:spPr>
      </p:sp>
      <p:sp>
        <p:nvSpPr>
          <p:cNvPr id="34" name="Text 25"/>
          <p:cNvSpPr txBox="1"/>
          <p:nvPr/>
        </p:nvSpPr>
        <p:spPr>
          <a:xfrm>
            <a:off x="868680" y="481888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Revolució urbana</a:t>
            </a:r>
            <a:endParaRPr lang="en-US" sz="1400" dirty="0"/>
          </a:p>
        </p:txBody>
      </p:sp>
      <p:sp>
        <p:nvSpPr>
          <p:cNvPr id="35" name="Text 26"/>
          <p:cNvSpPr txBox="1"/>
          <p:nvPr/>
        </p:nvSpPr>
        <p:spPr>
          <a:xfrm>
            <a:off x="868680" y="5166360"/>
            <a:ext cx="10454335" cy="68580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Conjunt de grans canvis que van portar dels poblats neolítics a les primeres ciutats i estats, amb excedents, oficis especialitzats, desigualtats socials i escriptura.</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Civilització"/>
          <p:cNvSpPr/>
          <p:nvPr/>
        </p:nvSpPr>
        <p:spPr>
          <a:xfrm>
            <a:off x="548640" y="1755648"/>
            <a:ext cx="1517904" cy="384048"/>
          </a:xfrm>
          <a:prstGeom prst="roundRect">
            <a:avLst>
              <a:gd name="adj" fmla="val 50000"/>
            </a:avLst>
          </a:prstGeom>
          <a:solidFill>
            <a:srgbClr val="E6F4EA"/>
          </a:solidFill>
          <a:ln/>
        </p:spPr>
      </p:sp>
      <p:sp>
        <p:nvSpPr>
          <p:cNvPr id="7" name="Text 5"/>
          <p:cNvSpPr txBox="1"/>
          <p:nvPr/>
        </p:nvSpPr>
        <p:spPr>
          <a:xfrm>
            <a:off x="548640" y="1755648"/>
            <a:ext cx="151790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Civilització</a:t>
            </a:r>
            <a:endParaRPr lang="en-US" sz="1500" dirty="0"/>
          </a:p>
        </p:txBody>
      </p:sp>
      <p:sp>
        <p:nvSpPr>
          <p:cNvPr id="8" name="Etiqueta Civilitzacions fluvials"/>
          <p:cNvSpPr/>
          <p:nvPr/>
        </p:nvSpPr>
        <p:spPr>
          <a:xfrm>
            <a:off x="2176272" y="1755648"/>
            <a:ext cx="2624328" cy="384048"/>
          </a:xfrm>
          <a:prstGeom prst="roundRect">
            <a:avLst>
              <a:gd name="adj" fmla="val 50000"/>
            </a:avLst>
          </a:prstGeom>
          <a:solidFill>
            <a:srgbClr val="E6F4EA"/>
          </a:solidFill>
          <a:ln/>
        </p:spPr>
      </p:sp>
      <p:sp>
        <p:nvSpPr>
          <p:cNvPr id="9" name="Text 7"/>
          <p:cNvSpPr txBox="1"/>
          <p:nvPr/>
        </p:nvSpPr>
        <p:spPr>
          <a:xfrm>
            <a:off x="2176272" y="1755648"/>
            <a:ext cx="262432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Civilitzacions fluvials</a:t>
            </a:r>
            <a:endParaRPr lang="en-US" sz="1500" dirty="0"/>
          </a:p>
        </p:txBody>
      </p:sp>
      <p:sp>
        <p:nvSpPr>
          <p:cNvPr id="10" name="Etiqueta Llims"/>
          <p:cNvSpPr/>
          <p:nvPr/>
        </p:nvSpPr>
        <p:spPr>
          <a:xfrm>
            <a:off x="4910328" y="1755648"/>
            <a:ext cx="813816" cy="384048"/>
          </a:xfrm>
          <a:prstGeom prst="roundRect">
            <a:avLst>
              <a:gd name="adj" fmla="val 50000"/>
            </a:avLst>
          </a:prstGeom>
          <a:solidFill>
            <a:srgbClr val="E6F4EA"/>
          </a:solidFill>
          <a:ln/>
        </p:spPr>
      </p:sp>
      <p:sp>
        <p:nvSpPr>
          <p:cNvPr id="11" name="Text 9"/>
          <p:cNvSpPr txBox="1"/>
          <p:nvPr/>
        </p:nvSpPr>
        <p:spPr>
          <a:xfrm>
            <a:off x="4910328"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Llims</a:t>
            </a:r>
            <a:endParaRPr lang="en-US" sz="1500" dirty="0"/>
          </a:p>
        </p:txBody>
      </p:sp>
      <p:sp>
        <p:nvSpPr>
          <p:cNvPr id="12" name="Etiqueta Excedent"/>
          <p:cNvSpPr/>
          <p:nvPr/>
        </p:nvSpPr>
        <p:spPr>
          <a:xfrm>
            <a:off x="5833872" y="1755648"/>
            <a:ext cx="1115568" cy="384048"/>
          </a:xfrm>
          <a:prstGeom prst="roundRect">
            <a:avLst>
              <a:gd name="adj" fmla="val 50000"/>
            </a:avLst>
          </a:prstGeom>
          <a:solidFill>
            <a:srgbClr val="E6F4EA"/>
          </a:solidFill>
          <a:ln/>
        </p:spPr>
      </p:sp>
      <p:sp>
        <p:nvSpPr>
          <p:cNvPr id="13" name="Text 11"/>
          <p:cNvSpPr txBox="1"/>
          <p:nvPr/>
        </p:nvSpPr>
        <p:spPr>
          <a:xfrm>
            <a:off x="5833872"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Excedent</a:t>
            </a:r>
            <a:endParaRPr lang="en-US" sz="1500" dirty="0"/>
          </a:p>
        </p:txBody>
      </p:sp>
      <p:sp>
        <p:nvSpPr>
          <p:cNvPr id="14" name="Etiqueta Revolució urbana"/>
          <p:cNvSpPr/>
          <p:nvPr/>
        </p:nvSpPr>
        <p:spPr>
          <a:xfrm>
            <a:off x="7059168" y="1755648"/>
            <a:ext cx="1920240" cy="384048"/>
          </a:xfrm>
          <a:prstGeom prst="roundRect">
            <a:avLst>
              <a:gd name="adj" fmla="val 50000"/>
            </a:avLst>
          </a:prstGeom>
          <a:solidFill>
            <a:srgbClr val="E6F4EA"/>
          </a:solidFill>
          <a:ln/>
        </p:spPr>
      </p:sp>
      <p:sp>
        <p:nvSpPr>
          <p:cNvPr id="15" name="Text 13"/>
          <p:cNvSpPr txBox="1"/>
          <p:nvPr/>
        </p:nvSpPr>
        <p:spPr>
          <a:xfrm>
            <a:off x="7059168" y="1755648"/>
            <a:ext cx="192024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Revolució urbana</a:t>
            </a:r>
            <a:endParaRPr lang="en-US" sz="1500" dirty="0"/>
          </a:p>
        </p:txBody>
      </p:sp>
      <p:sp>
        <p:nvSpPr>
          <p:cNvPr id="16" name="Pregunta 1"/>
          <p:cNvSpPr/>
          <p:nvPr/>
        </p:nvSpPr>
        <p:spPr>
          <a:xfrm>
            <a:off x="548640" y="2514600"/>
            <a:ext cx="11094415" cy="777240"/>
          </a:xfrm>
          <a:prstGeom prst="roundRect">
            <a:avLst>
              <a:gd name="adj" fmla="val 12941"/>
            </a:avLst>
          </a:prstGeom>
          <a:solidFill>
            <a:srgbClr val="FFFFFF"/>
          </a:solidFill>
          <a:ln w="12700">
            <a:solidFill>
              <a:srgbClr val="DADCE0"/>
            </a:solidFill>
            <a:prstDash val="solid"/>
          </a:ln>
        </p:spPr>
      </p:sp>
      <p:sp>
        <p:nvSpPr>
          <p:cNvPr id="17" name="Número 1"/>
          <p:cNvSpPr/>
          <p:nvPr/>
        </p:nvSpPr>
        <p:spPr>
          <a:xfrm>
            <a:off x="822960" y="2674620"/>
            <a:ext cx="457200" cy="457200"/>
          </a:xfrm>
          <a:prstGeom prst="ellipse">
            <a:avLst/>
          </a:prstGeom>
          <a:solidFill>
            <a:srgbClr val="188038"/>
          </a:solidFill>
          <a:ln/>
        </p:spPr>
      </p:sp>
      <p:sp>
        <p:nvSpPr>
          <p:cNvPr id="18" name="Text 16"/>
          <p:cNvSpPr txBox="1"/>
          <p:nvPr/>
        </p:nvSpPr>
        <p:spPr>
          <a:xfrm>
            <a:off x="822960" y="26746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19" name="Text 17"/>
          <p:cNvSpPr txBox="1"/>
          <p:nvPr/>
        </p:nvSpPr>
        <p:spPr>
          <a:xfrm>
            <a:off x="1508760" y="25146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Digues els sis elements que defineixen una civilització.</a:t>
            </a:r>
            <a:endParaRPr lang="en-US" sz="1900" dirty="0"/>
          </a:p>
        </p:txBody>
      </p:sp>
      <p:sp>
        <p:nvSpPr>
          <p:cNvPr id="20" name="Pregunta 2"/>
          <p:cNvSpPr/>
          <p:nvPr/>
        </p:nvSpPr>
        <p:spPr>
          <a:xfrm>
            <a:off x="548640" y="3429000"/>
            <a:ext cx="11094415" cy="777240"/>
          </a:xfrm>
          <a:prstGeom prst="roundRect">
            <a:avLst>
              <a:gd name="adj" fmla="val 12941"/>
            </a:avLst>
          </a:prstGeom>
          <a:solidFill>
            <a:srgbClr val="FFFFFF"/>
          </a:solidFill>
          <a:ln w="12700">
            <a:solidFill>
              <a:srgbClr val="DADCE0"/>
            </a:solidFill>
            <a:prstDash val="solid"/>
          </a:ln>
        </p:spPr>
      </p:sp>
      <p:sp>
        <p:nvSpPr>
          <p:cNvPr id="21" name="Número 2"/>
          <p:cNvSpPr/>
          <p:nvPr/>
        </p:nvSpPr>
        <p:spPr>
          <a:xfrm>
            <a:off x="822960" y="3589020"/>
            <a:ext cx="457200" cy="457200"/>
          </a:xfrm>
          <a:prstGeom prst="ellipse">
            <a:avLst/>
          </a:prstGeom>
          <a:solidFill>
            <a:srgbClr val="188038"/>
          </a:solidFill>
          <a:ln/>
        </p:spPr>
      </p:sp>
      <p:sp>
        <p:nvSpPr>
          <p:cNvPr id="22" name="Text 20"/>
          <p:cNvSpPr txBox="1"/>
          <p:nvPr/>
        </p:nvSpPr>
        <p:spPr>
          <a:xfrm>
            <a:off x="822960" y="35890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3" name="Text 21"/>
          <p:cNvSpPr txBox="1"/>
          <p:nvPr/>
        </p:nvSpPr>
        <p:spPr>
          <a:xfrm>
            <a:off x="1508760" y="34290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Quins són els rius de Mesopotàmia i d'Egipte?</a:t>
            </a:r>
            <a:endParaRPr lang="en-US" sz="1900" dirty="0"/>
          </a:p>
        </p:txBody>
      </p:sp>
      <p:sp>
        <p:nvSpPr>
          <p:cNvPr id="24" name="Pregunta 3"/>
          <p:cNvSpPr/>
          <p:nvPr/>
        </p:nvSpPr>
        <p:spPr>
          <a:xfrm>
            <a:off x="548640" y="4343400"/>
            <a:ext cx="11094415" cy="777240"/>
          </a:xfrm>
          <a:prstGeom prst="roundRect">
            <a:avLst>
              <a:gd name="adj" fmla="val 12941"/>
            </a:avLst>
          </a:prstGeom>
          <a:solidFill>
            <a:srgbClr val="FFFFFF"/>
          </a:solidFill>
          <a:ln w="12700">
            <a:solidFill>
              <a:srgbClr val="DADCE0"/>
            </a:solidFill>
            <a:prstDash val="solid"/>
          </a:ln>
        </p:spPr>
      </p:sp>
      <p:sp>
        <p:nvSpPr>
          <p:cNvPr id="25" name="Número 3"/>
          <p:cNvSpPr/>
          <p:nvPr/>
        </p:nvSpPr>
        <p:spPr>
          <a:xfrm>
            <a:off x="822960" y="4503420"/>
            <a:ext cx="457200" cy="457200"/>
          </a:xfrm>
          <a:prstGeom prst="ellipse">
            <a:avLst/>
          </a:prstGeom>
          <a:solidFill>
            <a:srgbClr val="188038"/>
          </a:solidFill>
          <a:ln/>
        </p:spPr>
      </p:sp>
      <p:sp>
        <p:nvSpPr>
          <p:cNvPr id="26" name="Text 24"/>
          <p:cNvSpPr txBox="1"/>
          <p:nvPr/>
        </p:nvSpPr>
        <p:spPr>
          <a:xfrm>
            <a:off x="822960" y="45034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7" name="Text 25"/>
          <p:cNvSpPr txBox="1"/>
          <p:nvPr/>
        </p:nvSpPr>
        <p:spPr>
          <a:xfrm>
            <a:off x="1508760" y="43434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els llims eren tan importants?</a:t>
            </a:r>
            <a:endParaRPr lang="en-US" sz="1900" dirty="0"/>
          </a:p>
        </p:txBody>
      </p:sp>
      <p:sp>
        <p:nvSpPr>
          <p:cNvPr id="28" name="Pregunta 4"/>
          <p:cNvSpPr/>
          <p:nvPr/>
        </p:nvSpPr>
        <p:spPr>
          <a:xfrm>
            <a:off x="548640" y="5257800"/>
            <a:ext cx="11094415" cy="777240"/>
          </a:xfrm>
          <a:prstGeom prst="roundRect">
            <a:avLst>
              <a:gd name="adj" fmla="val 12941"/>
            </a:avLst>
          </a:prstGeom>
          <a:solidFill>
            <a:srgbClr val="FFFFFF"/>
          </a:solidFill>
          <a:ln w="12700">
            <a:solidFill>
              <a:srgbClr val="DADCE0"/>
            </a:solidFill>
            <a:prstDash val="solid"/>
          </a:ln>
        </p:spPr>
      </p:sp>
      <p:sp>
        <p:nvSpPr>
          <p:cNvPr id="29" name="Número 4"/>
          <p:cNvSpPr/>
          <p:nvPr/>
        </p:nvSpPr>
        <p:spPr>
          <a:xfrm>
            <a:off x="822960" y="5417820"/>
            <a:ext cx="457200" cy="457200"/>
          </a:xfrm>
          <a:prstGeom prst="ellipse">
            <a:avLst/>
          </a:prstGeom>
          <a:solidFill>
            <a:srgbClr val="188038"/>
          </a:solidFill>
          <a:ln/>
        </p:spPr>
      </p:sp>
      <p:sp>
        <p:nvSpPr>
          <p:cNvPr id="30" name="Text 28"/>
          <p:cNvSpPr txBox="1"/>
          <p:nvPr/>
        </p:nvSpPr>
        <p:spPr>
          <a:xfrm>
            <a:off x="822960" y="54178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1" name="Text 29"/>
          <p:cNvSpPr txBox="1"/>
          <p:nvPr/>
        </p:nvSpPr>
        <p:spPr>
          <a:xfrm>
            <a:off x="1508760" y="52578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Digues dues explicacions de per què van néixer les primeres civilitzacions.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ziggurat i el sol" descr="/home/claude/pc/build/1r-eso-civilitzacions/hero-crop.png">    </p:cNvPr>
          <p:cNvPicPr>
            <a:picLocks noChangeAspect="1"/>
          </p:cNvPicPr>
          <p:nvPr/>
        </p:nvPicPr>
        <p:blipFill>
          <a:blip r:embed="rId1"/>
          <a:stretch>
            <a:fillRect/>
          </a:stretch>
        </p:blipFill>
        <p:spPr>
          <a:xfrm>
            <a:off x="3520440" y="2294081"/>
            <a:ext cx="3566160" cy="1893871"/>
          </a:xfrm>
          <a:prstGeom prst="rect">
            <a:avLst/>
          </a:prstGeom>
        </p:spPr>
      </p:pic>
      <p:sp>
        <p:nvSpPr>
          <p:cNvPr id="4" name="Etiqueta Apartat 2"/>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2</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Mesopotàmia. El país entre rius</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Com es governava una ciutat de fa 5.000 anys, i com sabem què hi passava?</a:t>
            </a:r>
            <a:endParaRPr lang="en-US" sz="1900" dirty="0"/>
          </a:p>
        </p:txBody>
      </p:sp>
      <p:sp>
        <p:nvSpPr>
          <p:cNvPr id="10" name="Fons Mesopotàmia. El país entre rius"/>
          <p:cNvSpPr/>
          <p:nvPr/>
        </p:nvSpPr>
        <p:spPr>
          <a:xfrm>
            <a:off x="7635240" y="1975695"/>
            <a:ext cx="4007815" cy="1836762"/>
          </a:xfrm>
          <a:prstGeom prst="roundRect">
            <a:avLst>
              <a:gd name="adj" fmla="val 5476"/>
            </a:avLst>
          </a:prstGeom>
          <a:solidFill>
            <a:srgbClr val="F6F8FB"/>
          </a:solidFill>
          <a:ln/>
        </p:spPr>
      </p:sp>
      <p:pic>
        <p:nvPicPr>
          <p:cNvPr id="11" name="Mesopotàmia. El país entre rius" descr="/home/claude/pc/build/1r-eso-civilitzacions/img/estendard.jpg">    </p:cNvPr>
          <p:cNvPicPr>
            <a:picLocks noChangeAspect="1"/>
          </p:cNvPicPr>
          <p:nvPr/>
        </p:nvPicPr>
        <p:blipFill>
          <a:blip r:embed="rId2"/>
          <a:stretch>
            <a:fillRect/>
          </a:stretch>
        </p:blipFill>
        <p:spPr>
          <a:xfrm>
            <a:off x="7635240" y="1975695"/>
            <a:ext cx="4007815" cy="1836762"/>
          </a:xfrm>
          <a:prstGeom prst="rect">
            <a:avLst/>
          </a:prstGeom>
        </p:spPr>
      </p:pic>
      <p:sp>
        <p:nvSpPr>
          <p:cNvPr id="12" name="Text 8"/>
          <p:cNvSpPr txBox="1"/>
          <p:nvPr/>
        </p:nvSpPr>
        <p:spPr>
          <a:xfrm>
            <a:off x="7635240" y="3922185"/>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L'estendard d'Ur, la cara de la pau (cap al 2500 aC). Figures de petxina, vores de pedra calcària vermella i fons de lapislàtzuli. Museu Britànic, Londres. Foto: LeastCommonAncestor, Wikimedia Commons, CC BY-SA 3.0.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terra rica i oberta</a:t>
            </a:r>
            <a:endParaRPr lang="en-US" sz="2800" dirty="0"/>
          </a:p>
        </p:txBody>
      </p:sp>
      <p:sp>
        <p:nvSpPr>
          <p:cNvPr id="5" name="Fons Mesopotàmia, Egipte i el Llevant"/>
          <p:cNvSpPr/>
          <p:nvPr/>
        </p:nvSpPr>
        <p:spPr>
          <a:xfrm>
            <a:off x="548640" y="1371600"/>
            <a:ext cx="4480560" cy="4480560"/>
          </a:xfrm>
          <a:prstGeom prst="roundRect">
            <a:avLst>
              <a:gd name="adj" fmla="val 2245"/>
            </a:avLst>
          </a:prstGeom>
          <a:solidFill>
            <a:srgbClr val="F6F8FB"/>
          </a:solidFill>
          <a:ln/>
        </p:spPr>
      </p:sp>
      <p:pic>
        <p:nvPicPr>
          <p:cNvPr id="6" name="Mesopotàmia, Egipte i el Llevant" descr="/home/claude/pc/build/1r-eso-civilitzacions/img/mapa-mes-egi.jpg">    </p:cNvPr>
          <p:cNvPicPr>
            <a:picLocks noChangeAspect="1"/>
          </p:cNvPicPr>
          <p:nvPr/>
        </p:nvPicPr>
        <p:blipFill>
          <a:blip r:embed="rId1"/>
          <a:stretch>
            <a:fillRect/>
          </a:stretch>
        </p:blipFill>
        <p:spPr>
          <a:xfrm>
            <a:off x="548640" y="1371600"/>
            <a:ext cx="4480560" cy="4480560"/>
          </a:xfrm>
          <a:prstGeom prst="rect">
            <a:avLst/>
          </a:prstGeom>
        </p:spPr>
      </p:pic>
      <p:sp>
        <p:nvSpPr>
          <p:cNvPr id="7" name="Text 4"/>
          <p:cNvSpPr txBox="1"/>
          <p:nvPr/>
        </p:nvSpPr>
        <p:spPr>
          <a:xfrm>
            <a:off x="548640" y="5943600"/>
            <a:ext cx="44805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Mesopotàmia, Egipte i el Llevant. La franja verda marca les terres que reguen els rius. Mapa: professordesocials.cat, CC BY-SA 4.0. Base: Natural Earth.</a:t>
            </a:r>
            <a:endParaRPr lang="en-US" sz="1000" dirty="0"/>
          </a:p>
        </p:txBody>
      </p:sp>
      <p:sp>
        <p:nvSpPr>
          <p:cNvPr id="8" name="Cercle icona"/>
          <p:cNvSpPr/>
          <p:nvPr/>
        </p:nvSpPr>
        <p:spPr>
          <a:xfrm>
            <a:off x="5394960" y="1554480"/>
            <a:ext cx="548640" cy="548640"/>
          </a:xfrm>
          <a:prstGeom prst="ellipse">
            <a:avLst/>
          </a:prstGeom>
          <a:solidFill>
            <a:srgbClr val="E6F4EA"/>
          </a:solidFill>
          <a:ln/>
        </p:spPr>
      </p:sp>
      <p:pic>
        <p:nvPicPr>
          <p:cNvPr id="9" name="Icona TbRipple" descr="/home/claude/pc/build/1r-eso-civilitzacions/img/ic/TbRipple-g.png">    </p:cNvPr>
          <p:cNvPicPr>
            <a:picLocks noChangeAspect="1"/>
          </p:cNvPicPr>
          <p:nvPr/>
        </p:nvPicPr>
        <p:blipFill>
          <a:blip r:embed="rId2"/>
          <a:stretch>
            <a:fillRect/>
          </a:stretch>
        </p:blipFill>
        <p:spPr>
          <a:xfrm>
            <a:off x="5515661" y="1675181"/>
            <a:ext cx="307238" cy="307238"/>
          </a:xfrm>
          <a:prstGeom prst="rect">
            <a:avLst/>
          </a:prstGeom>
        </p:spPr>
      </p:pic>
      <p:sp>
        <p:nvSpPr>
          <p:cNvPr id="10" name="Text 6"/>
          <p:cNvSpPr txBox="1"/>
          <p:nvPr/>
        </p:nvSpPr>
        <p:spPr>
          <a:xfrm>
            <a:off x="6144768" y="1371600"/>
            <a:ext cx="5498287" cy="1024128"/>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«Terra entre rius». </a:t>
            </a:r>
            <a:pPr indent="0" marL="0">
              <a:buNone/>
            </a:pPr>
            <a:r>
              <a:rPr lang="en-US" sz="1600" dirty="0">
                <a:solidFill>
                  <a:srgbClr val="202124"/>
                </a:solidFill>
                <a:latin typeface="Roboto" pitchFamily="34" charset="0"/>
                <a:ea typeface="Roboto" pitchFamily="34" charset="-122"/>
                <a:cs typeface="Roboto" pitchFamily="34" charset="-120"/>
              </a:rPr>
              <a:t>Això vol dir Mesopotàmia en grec. És la plana entre el Tigris i l'Eufrates, a l'actual Iraq.</a:t>
            </a:r>
            <a:endParaRPr lang="en-US" sz="1600" dirty="0"/>
          </a:p>
        </p:txBody>
      </p:sp>
      <p:sp>
        <p:nvSpPr>
          <p:cNvPr id="11" name="Cercle icona"/>
          <p:cNvSpPr/>
          <p:nvPr/>
        </p:nvSpPr>
        <p:spPr>
          <a:xfrm>
            <a:off x="5394960" y="2670048"/>
            <a:ext cx="548640" cy="548640"/>
          </a:xfrm>
          <a:prstGeom prst="ellipse">
            <a:avLst/>
          </a:prstGeom>
          <a:solidFill>
            <a:srgbClr val="E6F4EA"/>
          </a:solidFill>
          <a:ln/>
        </p:spPr>
      </p:sp>
      <p:pic>
        <p:nvPicPr>
          <p:cNvPr id="12" name="Icona TbPlant2" descr="/home/claude/pc/build/1r-eso-civilitzacions/img/ic/TbPlant2-g.png">    </p:cNvPr>
          <p:cNvPicPr>
            <a:picLocks noChangeAspect="1"/>
          </p:cNvPicPr>
          <p:nvPr/>
        </p:nvPicPr>
        <p:blipFill>
          <a:blip r:embed="rId3"/>
          <a:stretch>
            <a:fillRect/>
          </a:stretch>
        </p:blipFill>
        <p:spPr>
          <a:xfrm>
            <a:off x="5515661" y="2790749"/>
            <a:ext cx="307238" cy="307238"/>
          </a:xfrm>
          <a:prstGeom prst="rect">
            <a:avLst/>
          </a:prstGeom>
        </p:spPr>
      </p:pic>
      <p:sp>
        <p:nvSpPr>
          <p:cNvPr id="13" name="Text 8"/>
          <p:cNvSpPr txBox="1"/>
          <p:nvPr/>
        </p:nvSpPr>
        <p:spPr>
          <a:xfrm>
            <a:off x="6144768" y="2487168"/>
            <a:ext cx="5498287" cy="1024128"/>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Al Creixent Fèrtil. </a:t>
            </a:r>
            <a:pPr indent="0" marL="0">
              <a:buNone/>
            </a:pPr>
            <a:r>
              <a:rPr lang="en-US" sz="1600" dirty="0">
                <a:solidFill>
                  <a:srgbClr val="202124"/>
                </a:solidFill>
                <a:latin typeface="Roboto" pitchFamily="34" charset="0"/>
                <a:ea typeface="Roboto" pitchFamily="34" charset="-122"/>
                <a:cs typeface="Roboto" pitchFamily="34" charset="-120"/>
              </a:rPr>
              <a:t>L'arc de terres fèrtils on havia nascut l'agricultura.</a:t>
            </a:r>
            <a:endParaRPr lang="en-US" sz="1600" dirty="0"/>
          </a:p>
        </p:txBody>
      </p:sp>
      <p:sp>
        <p:nvSpPr>
          <p:cNvPr id="14" name="Cercle icona"/>
          <p:cNvSpPr/>
          <p:nvPr/>
        </p:nvSpPr>
        <p:spPr>
          <a:xfrm>
            <a:off x="5394960" y="3785616"/>
            <a:ext cx="548640" cy="548640"/>
          </a:xfrm>
          <a:prstGeom prst="ellipse">
            <a:avLst/>
          </a:prstGeom>
          <a:solidFill>
            <a:srgbClr val="E6F4EA"/>
          </a:solidFill>
          <a:ln/>
        </p:spPr>
      </p:sp>
      <p:pic>
        <p:nvPicPr>
          <p:cNvPr id="15" name="Icona TbWheat" descr="/home/claude/pc/build/1r-eso-civilitzacions/img/ic/TbWheat-g.png">    </p:cNvPr>
          <p:cNvPicPr>
            <a:picLocks noChangeAspect="1"/>
          </p:cNvPicPr>
          <p:nvPr/>
        </p:nvPicPr>
        <p:blipFill>
          <a:blip r:embed="rId4"/>
          <a:stretch>
            <a:fillRect/>
          </a:stretch>
        </p:blipFill>
        <p:spPr>
          <a:xfrm>
            <a:off x="5515661" y="3906317"/>
            <a:ext cx="307238" cy="307238"/>
          </a:xfrm>
          <a:prstGeom prst="rect">
            <a:avLst/>
          </a:prstGeom>
        </p:spPr>
      </p:pic>
      <p:sp>
        <p:nvSpPr>
          <p:cNvPr id="16" name="Text 10"/>
          <p:cNvSpPr txBox="1"/>
          <p:nvPr/>
        </p:nvSpPr>
        <p:spPr>
          <a:xfrm>
            <a:off x="6144768" y="3602736"/>
            <a:ext cx="5498287" cy="1024128"/>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Una terra riquíssima… </a:t>
            </a:r>
            <a:pPr indent="0" marL="0">
              <a:buNone/>
            </a:pPr>
            <a:r>
              <a:rPr lang="en-US" sz="1600" dirty="0">
                <a:solidFill>
                  <a:srgbClr val="202124"/>
                </a:solidFill>
                <a:latin typeface="Roboto" pitchFamily="34" charset="0"/>
                <a:ea typeface="Roboto" pitchFamily="34" charset="-122"/>
                <a:cs typeface="Roboto" pitchFamily="34" charset="-120"/>
              </a:rPr>
              <a:t>gràcies als rius i als llims.</a:t>
            </a:r>
            <a:endParaRPr lang="en-US" sz="1600" dirty="0"/>
          </a:p>
        </p:txBody>
      </p:sp>
      <p:sp>
        <p:nvSpPr>
          <p:cNvPr id="17" name="Cercle icona"/>
          <p:cNvSpPr/>
          <p:nvPr/>
        </p:nvSpPr>
        <p:spPr>
          <a:xfrm>
            <a:off x="5394960" y="4901184"/>
            <a:ext cx="548640" cy="548640"/>
          </a:xfrm>
          <a:prstGeom prst="ellipse">
            <a:avLst/>
          </a:prstGeom>
          <a:solidFill>
            <a:srgbClr val="E6F4EA"/>
          </a:solidFill>
          <a:ln/>
        </p:spPr>
      </p:sp>
      <p:pic>
        <p:nvPicPr>
          <p:cNvPr id="18" name="Icona TbDoor" descr="/home/claude/pc/build/1r-eso-civilitzacions/img/ic/TbDoor-g.png">    </p:cNvPr>
          <p:cNvPicPr>
            <a:picLocks noChangeAspect="1"/>
          </p:cNvPicPr>
          <p:nvPr/>
        </p:nvPicPr>
        <p:blipFill>
          <a:blip r:embed="rId5"/>
          <a:stretch>
            <a:fillRect/>
          </a:stretch>
        </p:blipFill>
        <p:spPr>
          <a:xfrm>
            <a:off x="5515661" y="5021885"/>
            <a:ext cx="307238" cy="307238"/>
          </a:xfrm>
          <a:prstGeom prst="rect">
            <a:avLst/>
          </a:prstGeom>
        </p:spPr>
      </p:pic>
      <p:sp>
        <p:nvSpPr>
          <p:cNvPr id="19" name="Text 12"/>
          <p:cNvSpPr txBox="1"/>
          <p:nvPr/>
        </p:nvSpPr>
        <p:spPr>
          <a:xfrm>
            <a:off x="6144768" y="4718304"/>
            <a:ext cx="5498287" cy="1024128"/>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 però oberta. </a:t>
            </a:r>
            <a:pPr indent="0" marL="0">
              <a:buNone/>
            </a:pPr>
            <a:r>
              <a:rPr lang="en-US" sz="1600" dirty="0">
                <a:solidFill>
                  <a:srgbClr val="202124"/>
                </a:solidFill>
                <a:latin typeface="Roboto" pitchFamily="34" charset="0"/>
                <a:ea typeface="Roboto" pitchFamily="34" charset="-122"/>
                <a:cs typeface="Roboto" pitchFamily="34" charset="-120"/>
              </a:rPr>
              <a:t>Plana i sense defenses naturals. Molts pobles hi van arribar, la van dominar i van ser substituïts per altres.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De les ciutats-estat als imperis</a:t>
            </a:r>
            <a:endParaRPr lang="en-US" sz="2800" dirty="0"/>
          </a:p>
        </p:txBody>
      </p:sp>
      <p:sp>
        <p:nvSpPr>
          <p:cNvPr id="5" name="Text 3"/>
          <p:cNvSpPr txBox="1"/>
          <p:nvPr/>
        </p:nvSpPr>
        <p:spPr>
          <a:xfrm>
            <a:off x="548640" y="1371600"/>
            <a:ext cx="11094415" cy="7772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Cap al 3500-3000 aC, els sumeris van fundar les primeres ciutats de la història, com Ur, Uruk o Lagaix.</a:t>
            </a:r>
            <a:endParaRPr lang="en-US" sz="1700" dirty="0"/>
          </a:p>
        </p:txBody>
      </p:sp>
      <p:sp>
        <p:nvSpPr>
          <p:cNvPr id="6" name="Targeta Ciutats-estat"/>
          <p:cNvSpPr/>
          <p:nvPr/>
        </p:nvSpPr>
        <p:spPr>
          <a:xfrm>
            <a:off x="548640" y="2240280"/>
            <a:ext cx="3423818" cy="2148840"/>
          </a:xfrm>
          <a:prstGeom prst="roundRect">
            <a:avLst>
              <a:gd name="adj" fmla="val 4681"/>
            </a:avLst>
          </a:prstGeom>
          <a:solidFill>
            <a:srgbClr val="FFFFFF"/>
          </a:solidFill>
          <a:ln w="12700">
            <a:solidFill>
              <a:srgbClr val="DADCE0"/>
            </a:solidFill>
            <a:prstDash val="solid"/>
          </a:ln>
        </p:spPr>
      </p:sp>
      <p:sp>
        <p:nvSpPr>
          <p:cNvPr id="7" name="Cercle icona"/>
          <p:cNvSpPr/>
          <p:nvPr/>
        </p:nvSpPr>
        <p:spPr>
          <a:xfrm>
            <a:off x="777240" y="2468880"/>
            <a:ext cx="548640" cy="548640"/>
          </a:xfrm>
          <a:prstGeom prst="ellipse">
            <a:avLst/>
          </a:prstGeom>
          <a:solidFill>
            <a:srgbClr val="E6F4EA"/>
          </a:solidFill>
          <a:ln/>
        </p:spPr>
      </p:sp>
      <p:pic>
        <p:nvPicPr>
          <p:cNvPr id="8" name="Icona TbBuildingCommunity" descr="/home/claude/pc/build/1r-eso-civilitzacions/img/ic/TbBuildingCommunity-g.png">    </p:cNvPr>
          <p:cNvPicPr>
            <a:picLocks noChangeAspect="1"/>
          </p:cNvPicPr>
          <p:nvPr/>
        </p:nvPicPr>
        <p:blipFill>
          <a:blip r:embed="rId1"/>
          <a:stretch>
            <a:fillRect/>
          </a:stretch>
        </p:blipFill>
        <p:spPr>
          <a:xfrm>
            <a:off x="897941" y="2589581"/>
            <a:ext cx="307238" cy="307238"/>
          </a:xfrm>
          <a:prstGeom prst="rect">
            <a:avLst/>
          </a:prstGeom>
        </p:spPr>
      </p:pic>
      <p:sp>
        <p:nvSpPr>
          <p:cNvPr id="9" name="Text 6"/>
          <p:cNvSpPr txBox="1"/>
          <p:nvPr/>
        </p:nvSpPr>
        <p:spPr>
          <a:xfrm>
            <a:off x="1463040" y="2468880"/>
            <a:ext cx="228081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Ciutats-estat</a:t>
            </a:r>
            <a:endParaRPr lang="en-US" sz="1800" dirty="0"/>
          </a:p>
        </p:txBody>
      </p:sp>
      <p:sp>
        <p:nvSpPr>
          <p:cNvPr id="10" name="Text 7"/>
          <p:cNvSpPr txBox="1"/>
          <p:nvPr/>
        </p:nvSpPr>
        <p:spPr>
          <a:xfrm>
            <a:off x="777240" y="3154680"/>
            <a:ext cx="2966618" cy="10972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Cada ciutat era independent, amb el seu rei, el seu déu protector i el seu territori agrícola.</a:t>
            </a:r>
            <a:endParaRPr lang="en-US" sz="1550" dirty="0"/>
          </a:p>
        </p:txBody>
      </p:sp>
      <p:sp>
        <p:nvSpPr>
          <p:cNvPr id="11" name="Targeta Guerres"/>
          <p:cNvSpPr/>
          <p:nvPr/>
        </p:nvSpPr>
        <p:spPr>
          <a:xfrm>
            <a:off x="4383938" y="2240280"/>
            <a:ext cx="3423818" cy="2148840"/>
          </a:xfrm>
          <a:prstGeom prst="roundRect">
            <a:avLst>
              <a:gd name="adj" fmla="val 4681"/>
            </a:avLst>
          </a:prstGeom>
          <a:solidFill>
            <a:srgbClr val="FFFFFF"/>
          </a:solidFill>
          <a:ln w="12700">
            <a:solidFill>
              <a:srgbClr val="DADCE0"/>
            </a:solidFill>
            <a:prstDash val="solid"/>
          </a:ln>
        </p:spPr>
      </p:sp>
      <p:sp>
        <p:nvSpPr>
          <p:cNvPr id="12" name="Cercle icona"/>
          <p:cNvSpPr/>
          <p:nvPr/>
        </p:nvSpPr>
        <p:spPr>
          <a:xfrm>
            <a:off x="4612538" y="2468880"/>
            <a:ext cx="548640" cy="548640"/>
          </a:xfrm>
          <a:prstGeom prst="ellipse">
            <a:avLst/>
          </a:prstGeom>
          <a:solidFill>
            <a:srgbClr val="E6F4EA"/>
          </a:solidFill>
          <a:ln/>
        </p:spPr>
      </p:sp>
      <p:pic>
        <p:nvPicPr>
          <p:cNvPr id="13" name="Icona TbSwords" descr="/home/claude/pc/build/1r-eso-civilitzacions/img/ic/TbSwords-g.png">    </p:cNvPr>
          <p:cNvPicPr>
            <a:picLocks noChangeAspect="1"/>
          </p:cNvPicPr>
          <p:nvPr/>
        </p:nvPicPr>
        <p:blipFill>
          <a:blip r:embed="rId2"/>
          <a:stretch>
            <a:fillRect/>
          </a:stretch>
        </p:blipFill>
        <p:spPr>
          <a:xfrm>
            <a:off x="4733239" y="2589581"/>
            <a:ext cx="307238" cy="307238"/>
          </a:xfrm>
          <a:prstGeom prst="rect">
            <a:avLst/>
          </a:prstGeom>
        </p:spPr>
      </p:pic>
      <p:sp>
        <p:nvSpPr>
          <p:cNvPr id="14" name="Text 10"/>
          <p:cNvSpPr txBox="1"/>
          <p:nvPr/>
        </p:nvSpPr>
        <p:spPr>
          <a:xfrm>
            <a:off x="5298338" y="2468880"/>
            <a:ext cx="228081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Guerres</a:t>
            </a:r>
            <a:endParaRPr lang="en-US" sz="1800" dirty="0"/>
          </a:p>
        </p:txBody>
      </p:sp>
      <p:sp>
        <p:nvSpPr>
          <p:cNvPr id="15" name="Text 11"/>
          <p:cNvSpPr txBox="1"/>
          <p:nvPr/>
        </p:nvSpPr>
        <p:spPr>
          <a:xfrm>
            <a:off x="4612538" y="3154680"/>
            <a:ext cx="2966618" cy="10972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Sovint es feien la guerra entre elles per l'aigua i les terres.</a:t>
            </a:r>
            <a:endParaRPr lang="en-US" sz="1550" dirty="0"/>
          </a:p>
        </p:txBody>
      </p:sp>
      <p:sp>
        <p:nvSpPr>
          <p:cNvPr id="16" name="Targeta Imperis"/>
          <p:cNvSpPr/>
          <p:nvPr/>
        </p:nvSpPr>
        <p:spPr>
          <a:xfrm>
            <a:off x="8219237" y="2240280"/>
            <a:ext cx="3423818" cy="2148840"/>
          </a:xfrm>
          <a:prstGeom prst="roundRect">
            <a:avLst>
              <a:gd name="adj" fmla="val 4681"/>
            </a:avLst>
          </a:prstGeom>
          <a:solidFill>
            <a:srgbClr val="FFFFFF"/>
          </a:solidFill>
          <a:ln w="12700">
            <a:solidFill>
              <a:srgbClr val="DADCE0"/>
            </a:solidFill>
            <a:prstDash val="solid"/>
          </a:ln>
        </p:spPr>
      </p:sp>
      <p:sp>
        <p:nvSpPr>
          <p:cNvPr id="17" name="Cercle icona"/>
          <p:cNvSpPr/>
          <p:nvPr/>
        </p:nvSpPr>
        <p:spPr>
          <a:xfrm>
            <a:off x="8447837" y="2468880"/>
            <a:ext cx="548640" cy="548640"/>
          </a:xfrm>
          <a:prstGeom prst="ellipse">
            <a:avLst/>
          </a:prstGeom>
          <a:solidFill>
            <a:srgbClr val="E6F4EA"/>
          </a:solidFill>
          <a:ln/>
        </p:spPr>
      </p:sp>
      <p:pic>
        <p:nvPicPr>
          <p:cNvPr id="18" name="Icona TbCrown" descr="/home/claude/pc/build/1r-eso-civilitzacions/img/ic/TbCrown-g.png">    </p:cNvPr>
          <p:cNvPicPr>
            <a:picLocks noChangeAspect="1"/>
          </p:cNvPicPr>
          <p:nvPr/>
        </p:nvPicPr>
        <p:blipFill>
          <a:blip r:embed="rId3"/>
          <a:stretch>
            <a:fillRect/>
          </a:stretch>
        </p:blipFill>
        <p:spPr>
          <a:xfrm>
            <a:off x="8568538" y="2589581"/>
            <a:ext cx="307238" cy="307238"/>
          </a:xfrm>
          <a:prstGeom prst="rect">
            <a:avLst/>
          </a:prstGeom>
        </p:spPr>
      </p:pic>
      <p:sp>
        <p:nvSpPr>
          <p:cNvPr id="19" name="Text 14"/>
          <p:cNvSpPr txBox="1"/>
          <p:nvPr/>
        </p:nvSpPr>
        <p:spPr>
          <a:xfrm>
            <a:off x="9133637" y="2468880"/>
            <a:ext cx="228081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Imperis</a:t>
            </a:r>
            <a:endParaRPr lang="en-US" sz="1800" dirty="0"/>
          </a:p>
        </p:txBody>
      </p:sp>
      <p:sp>
        <p:nvSpPr>
          <p:cNvPr id="20" name="Text 15"/>
          <p:cNvSpPr txBox="1"/>
          <p:nvPr/>
        </p:nvSpPr>
        <p:spPr>
          <a:xfrm>
            <a:off x="8447837" y="3154680"/>
            <a:ext cx="2966618" cy="10972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Alguns reis van unificar moltes ciutats sota un sol poder. Van ser els primers imperis.</a:t>
            </a:r>
            <a:endParaRPr lang="en-US" sz="1550" dirty="0"/>
          </a:p>
        </p:txBody>
      </p:sp>
      <p:sp>
        <p:nvSpPr>
          <p:cNvPr id="21" name="Fletxa"/>
          <p:cNvSpPr/>
          <p:nvPr/>
        </p:nvSpPr>
        <p:spPr>
          <a:xfrm>
            <a:off x="4082186" y="3154680"/>
            <a:ext cx="182880" cy="274320"/>
          </a:xfrm>
          <a:prstGeom prst="chevron">
            <a:avLst/>
          </a:prstGeom>
          <a:solidFill>
            <a:srgbClr val="188038"/>
          </a:solidFill>
          <a:ln/>
        </p:spPr>
      </p:sp>
      <p:sp>
        <p:nvSpPr>
          <p:cNvPr id="22" name="Fletxa"/>
          <p:cNvSpPr/>
          <p:nvPr/>
        </p:nvSpPr>
        <p:spPr>
          <a:xfrm>
            <a:off x="7917485" y="3154680"/>
            <a:ext cx="182880" cy="274320"/>
          </a:xfrm>
          <a:prstGeom prst="chevron">
            <a:avLst/>
          </a:prstGeom>
          <a:solidFill>
            <a:srgbClr val="188038"/>
          </a:solidFill>
          <a:ln/>
        </p:spPr>
      </p:sp>
      <p:sp>
        <p:nvSpPr>
          <p:cNvPr id="23" name="El cor de la ciutat · El ziggurat"/>
          <p:cNvSpPr/>
          <p:nvPr/>
        </p:nvSpPr>
        <p:spPr>
          <a:xfrm>
            <a:off x="548640" y="4617720"/>
            <a:ext cx="11094415" cy="1371600"/>
          </a:xfrm>
          <a:prstGeom prst="roundRect">
            <a:avLst>
              <a:gd name="adj" fmla="val 7333"/>
            </a:avLst>
          </a:prstGeom>
          <a:solidFill>
            <a:srgbClr val="F6F8FB"/>
          </a:solidFill>
          <a:ln/>
        </p:spPr>
      </p:sp>
      <p:sp>
        <p:nvSpPr>
          <p:cNvPr id="24" name="Text 19"/>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El cor de la ciutat · El ziggurat</a:t>
            </a:r>
            <a:endParaRPr lang="en-US" sz="1400" dirty="0"/>
          </a:p>
        </p:txBody>
      </p:sp>
      <p:sp>
        <p:nvSpPr>
          <p:cNvPr id="25" name="Text 20"/>
          <p:cNvSpPr txBox="1"/>
          <p:nvPr/>
        </p:nvSpPr>
        <p:spPr>
          <a:xfrm>
            <a:off x="868680" y="5120640"/>
            <a:ext cx="10454335" cy="731520"/>
          </a:xfrm>
          <a:prstGeom prst="rect">
            <a:avLst/>
          </a:prstGeom>
          <a:noFill/>
          <a:ln/>
        </p:spPr>
        <p:txBody>
          <a:bodyPr wrap="square" lIns="0" tIns="0" rIns="0" bIns="0" rtlCol="0" anchor="t"/>
          <a:lstStyle/>
          <a:p>
            <a:pPr indent="0" marL="0">
              <a:buNone/>
            </a:pPr>
            <a:r>
              <a:rPr lang="en-US" sz="1650" dirty="0">
                <a:solidFill>
                  <a:srgbClr val="5F6368"/>
                </a:solidFill>
                <a:latin typeface="Roboto" pitchFamily="34" charset="0"/>
                <a:ea typeface="Roboto" pitchFamily="34" charset="-122"/>
                <a:cs typeface="Roboto" pitchFamily="34" charset="-120"/>
              </a:rPr>
              <a:t>Una gran torre esglaonada de maó amb un temple al cim, dedicat al déu protector. Al voltant hi havia els magatzems del gra i les cases dels sacerdots.</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Pobles i imperis de Mesopotàmia</a:t>
            </a:r>
            <a:endParaRPr lang="en-US" sz="2800" dirty="0"/>
          </a:p>
        </p:txBody>
      </p:sp>
      <p:sp>
        <p:nvSpPr>
          <p:cNvPr id="5" name="Línia del temps"/>
          <p:cNvSpPr/>
          <p:nvPr/>
        </p:nvSpPr>
        <p:spPr>
          <a:xfrm>
            <a:off x="649224" y="1600200"/>
            <a:ext cx="0" cy="3749040"/>
          </a:xfrm>
          <a:prstGeom prst="line">
            <a:avLst/>
          </a:prstGeom>
          <a:noFill/>
          <a:ln w="31750">
            <a:solidFill>
              <a:srgbClr val="DADCE0"/>
            </a:solidFill>
            <a:prstDash val="solid"/>
          </a:ln>
        </p:spPr>
      </p:sp>
      <p:sp>
        <p:nvSpPr>
          <p:cNvPr id="6" name="Fita 3500 – 2300 aC"/>
          <p:cNvSpPr/>
          <p:nvPr/>
        </p:nvSpPr>
        <p:spPr>
          <a:xfrm>
            <a:off x="548640" y="1499616"/>
            <a:ext cx="201168" cy="201168"/>
          </a:xfrm>
          <a:prstGeom prst="ellipse">
            <a:avLst/>
          </a:prstGeom>
          <a:solidFill>
            <a:srgbClr val="FFFFFF"/>
          </a:solidFill>
          <a:ln w="28575">
            <a:solidFill>
              <a:srgbClr val="188038"/>
            </a:solidFill>
            <a:prstDash val="solid"/>
          </a:ln>
        </p:spPr>
      </p:sp>
      <p:sp>
        <p:nvSpPr>
          <p:cNvPr id="7" name="Text 5"/>
          <p:cNvSpPr txBox="1"/>
          <p:nvPr/>
        </p:nvSpPr>
        <p:spPr>
          <a:xfrm>
            <a:off x="932688" y="1463040"/>
            <a:ext cx="1965960" cy="292608"/>
          </a:xfrm>
          <a:prstGeom prst="rect">
            <a:avLst/>
          </a:prstGeom>
          <a:noFill/>
          <a:ln/>
        </p:spPr>
        <p:txBody>
          <a:bodyPr wrap="square" lIns="0" tIns="0" rIns="0" bIns="0" rtlCol="0" anchor="t"/>
          <a:lstStyle/>
          <a:p>
            <a:pPr indent="0" marL="0">
              <a:buNone/>
            </a:pPr>
            <a:r>
              <a:rPr lang="en-US" sz="1550" b="1" dirty="0">
                <a:solidFill>
                  <a:srgbClr val="188038"/>
                </a:solidFill>
                <a:latin typeface="Roboto" pitchFamily="34" charset="0"/>
                <a:ea typeface="Roboto" pitchFamily="34" charset="-122"/>
                <a:cs typeface="Roboto" pitchFamily="34" charset="-120"/>
              </a:rPr>
              <a:t>3500 – 2300 aC</a:t>
            </a:r>
            <a:endParaRPr lang="en-US" sz="1550" dirty="0"/>
          </a:p>
        </p:txBody>
      </p:sp>
      <p:sp>
        <p:nvSpPr>
          <p:cNvPr id="8" name="Text 6"/>
          <p:cNvSpPr txBox="1"/>
          <p:nvPr/>
        </p:nvSpPr>
        <p:spPr>
          <a:xfrm>
            <a:off x="2898648" y="1463040"/>
            <a:ext cx="5239512" cy="704088"/>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Sumeris. Funden les primeres ciutats i inventen l'escriptura cuneïforme.</a:t>
            </a:r>
            <a:endParaRPr lang="en-US" sz="1550" dirty="0"/>
          </a:p>
        </p:txBody>
      </p:sp>
      <p:sp>
        <p:nvSpPr>
          <p:cNvPr id="9" name="Fita 2334 – 2154 aC"/>
          <p:cNvSpPr/>
          <p:nvPr/>
        </p:nvSpPr>
        <p:spPr>
          <a:xfrm>
            <a:off x="548640" y="2249424"/>
            <a:ext cx="201168" cy="201168"/>
          </a:xfrm>
          <a:prstGeom prst="ellipse">
            <a:avLst/>
          </a:prstGeom>
          <a:solidFill>
            <a:srgbClr val="FFFFFF"/>
          </a:solidFill>
          <a:ln w="28575">
            <a:solidFill>
              <a:srgbClr val="188038"/>
            </a:solidFill>
            <a:prstDash val="solid"/>
          </a:ln>
        </p:spPr>
      </p:sp>
      <p:sp>
        <p:nvSpPr>
          <p:cNvPr id="10" name="Text 8"/>
          <p:cNvSpPr txBox="1"/>
          <p:nvPr/>
        </p:nvSpPr>
        <p:spPr>
          <a:xfrm>
            <a:off x="932688" y="2212848"/>
            <a:ext cx="1965960" cy="292608"/>
          </a:xfrm>
          <a:prstGeom prst="rect">
            <a:avLst/>
          </a:prstGeom>
          <a:noFill/>
          <a:ln/>
        </p:spPr>
        <p:txBody>
          <a:bodyPr wrap="square" lIns="0" tIns="0" rIns="0" bIns="0" rtlCol="0" anchor="t"/>
          <a:lstStyle/>
          <a:p>
            <a:pPr indent="0" marL="0">
              <a:buNone/>
            </a:pPr>
            <a:r>
              <a:rPr lang="en-US" sz="1550" b="1" dirty="0">
                <a:solidFill>
                  <a:srgbClr val="188038"/>
                </a:solidFill>
                <a:latin typeface="Roboto" pitchFamily="34" charset="0"/>
                <a:ea typeface="Roboto" pitchFamily="34" charset="-122"/>
                <a:cs typeface="Roboto" pitchFamily="34" charset="-120"/>
              </a:rPr>
              <a:t>2334 – 2154 aC</a:t>
            </a:r>
            <a:endParaRPr lang="en-US" sz="1550" dirty="0"/>
          </a:p>
        </p:txBody>
      </p:sp>
      <p:sp>
        <p:nvSpPr>
          <p:cNvPr id="11" name="Text 9"/>
          <p:cNvSpPr txBox="1"/>
          <p:nvPr/>
        </p:nvSpPr>
        <p:spPr>
          <a:xfrm>
            <a:off x="2898648" y="2212848"/>
            <a:ext cx="5239512" cy="704088"/>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Imperi accadi. Sargon d'Accad crea el que es considera el primer imperi de la història.</a:t>
            </a:r>
            <a:endParaRPr lang="en-US" sz="1550" dirty="0"/>
          </a:p>
        </p:txBody>
      </p:sp>
      <p:sp>
        <p:nvSpPr>
          <p:cNvPr id="12" name="Fita 1800 – 1600 aC"/>
          <p:cNvSpPr/>
          <p:nvPr/>
        </p:nvSpPr>
        <p:spPr>
          <a:xfrm>
            <a:off x="548640" y="2999232"/>
            <a:ext cx="201168" cy="201168"/>
          </a:xfrm>
          <a:prstGeom prst="ellipse">
            <a:avLst/>
          </a:prstGeom>
          <a:solidFill>
            <a:srgbClr val="FFFFFF"/>
          </a:solidFill>
          <a:ln w="28575">
            <a:solidFill>
              <a:srgbClr val="188038"/>
            </a:solidFill>
            <a:prstDash val="solid"/>
          </a:ln>
        </p:spPr>
      </p:sp>
      <p:sp>
        <p:nvSpPr>
          <p:cNvPr id="13" name="Text 11"/>
          <p:cNvSpPr txBox="1"/>
          <p:nvPr/>
        </p:nvSpPr>
        <p:spPr>
          <a:xfrm>
            <a:off x="932688" y="2962656"/>
            <a:ext cx="1965960" cy="292608"/>
          </a:xfrm>
          <a:prstGeom prst="rect">
            <a:avLst/>
          </a:prstGeom>
          <a:noFill/>
          <a:ln/>
        </p:spPr>
        <p:txBody>
          <a:bodyPr wrap="square" lIns="0" tIns="0" rIns="0" bIns="0" rtlCol="0" anchor="t"/>
          <a:lstStyle/>
          <a:p>
            <a:pPr indent="0" marL="0">
              <a:buNone/>
            </a:pPr>
            <a:r>
              <a:rPr lang="en-US" sz="1550" b="1" dirty="0">
                <a:solidFill>
                  <a:srgbClr val="188038"/>
                </a:solidFill>
                <a:latin typeface="Roboto" pitchFamily="34" charset="0"/>
                <a:ea typeface="Roboto" pitchFamily="34" charset="-122"/>
                <a:cs typeface="Roboto" pitchFamily="34" charset="-120"/>
              </a:rPr>
              <a:t>1800 – 1600 aC</a:t>
            </a:r>
            <a:endParaRPr lang="en-US" sz="1550" dirty="0"/>
          </a:p>
        </p:txBody>
      </p:sp>
      <p:sp>
        <p:nvSpPr>
          <p:cNvPr id="14" name="Text 12"/>
          <p:cNvSpPr txBox="1"/>
          <p:nvPr/>
        </p:nvSpPr>
        <p:spPr>
          <a:xfrm>
            <a:off x="2898648" y="2962656"/>
            <a:ext cx="5239512" cy="704088"/>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Imperi babilònic. El rei Hammurabi promulga el seu gran codi de lleis escrit.</a:t>
            </a:r>
            <a:endParaRPr lang="en-US" sz="1550" dirty="0"/>
          </a:p>
        </p:txBody>
      </p:sp>
      <p:sp>
        <p:nvSpPr>
          <p:cNvPr id="15" name="Fita 900 – 612 aC"/>
          <p:cNvSpPr/>
          <p:nvPr/>
        </p:nvSpPr>
        <p:spPr>
          <a:xfrm>
            <a:off x="548640" y="3749040"/>
            <a:ext cx="201168" cy="201168"/>
          </a:xfrm>
          <a:prstGeom prst="ellipse">
            <a:avLst/>
          </a:prstGeom>
          <a:solidFill>
            <a:srgbClr val="FFFFFF"/>
          </a:solidFill>
          <a:ln w="28575">
            <a:solidFill>
              <a:srgbClr val="188038"/>
            </a:solidFill>
            <a:prstDash val="solid"/>
          </a:ln>
        </p:spPr>
      </p:sp>
      <p:sp>
        <p:nvSpPr>
          <p:cNvPr id="16" name="Text 14"/>
          <p:cNvSpPr txBox="1"/>
          <p:nvPr/>
        </p:nvSpPr>
        <p:spPr>
          <a:xfrm>
            <a:off x="932688" y="3712464"/>
            <a:ext cx="1965960" cy="292608"/>
          </a:xfrm>
          <a:prstGeom prst="rect">
            <a:avLst/>
          </a:prstGeom>
          <a:noFill/>
          <a:ln/>
        </p:spPr>
        <p:txBody>
          <a:bodyPr wrap="square" lIns="0" tIns="0" rIns="0" bIns="0" rtlCol="0" anchor="t"/>
          <a:lstStyle/>
          <a:p>
            <a:pPr indent="0" marL="0">
              <a:buNone/>
            </a:pPr>
            <a:r>
              <a:rPr lang="en-US" sz="1550" b="1" dirty="0">
                <a:solidFill>
                  <a:srgbClr val="188038"/>
                </a:solidFill>
                <a:latin typeface="Roboto" pitchFamily="34" charset="0"/>
                <a:ea typeface="Roboto" pitchFamily="34" charset="-122"/>
                <a:cs typeface="Roboto" pitchFamily="34" charset="-120"/>
              </a:rPr>
              <a:t>900 – 612 aC</a:t>
            </a:r>
            <a:endParaRPr lang="en-US" sz="1550" dirty="0"/>
          </a:p>
        </p:txBody>
      </p:sp>
      <p:sp>
        <p:nvSpPr>
          <p:cNvPr id="17" name="Text 15"/>
          <p:cNvSpPr txBox="1"/>
          <p:nvPr/>
        </p:nvSpPr>
        <p:spPr>
          <a:xfrm>
            <a:off x="2898648" y="3712464"/>
            <a:ext cx="5239512" cy="704088"/>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Imperi assiri. Imperi guerrer amb capital a Nínive. Gran biblioteca d'Assurbanipal.</a:t>
            </a:r>
            <a:endParaRPr lang="en-US" sz="1550" dirty="0"/>
          </a:p>
        </p:txBody>
      </p:sp>
      <p:sp>
        <p:nvSpPr>
          <p:cNvPr id="18" name="Fita 626 – 539 aC"/>
          <p:cNvSpPr/>
          <p:nvPr/>
        </p:nvSpPr>
        <p:spPr>
          <a:xfrm>
            <a:off x="548640" y="4498848"/>
            <a:ext cx="201168" cy="201168"/>
          </a:xfrm>
          <a:prstGeom prst="ellipse">
            <a:avLst/>
          </a:prstGeom>
          <a:solidFill>
            <a:srgbClr val="FFFFFF"/>
          </a:solidFill>
          <a:ln w="28575">
            <a:solidFill>
              <a:srgbClr val="188038"/>
            </a:solidFill>
            <a:prstDash val="solid"/>
          </a:ln>
        </p:spPr>
      </p:sp>
      <p:sp>
        <p:nvSpPr>
          <p:cNvPr id="19" name="Text 17"/>
          <p:cNvSpPr txBox="1"/>
          <p:nvPr/>
        </p:nvSpPr>
        <p:spPr>
          <a:xfrm>
            <a:off x="932688" y="4462272"/>
            <a:ext cx="1965960" cy="292608"/>
          </a:xfrm>
          <a:prstGeom prst="rect">
            <a:avLst/>
          </a:prstGeom>
          <a:noFill/>
          <a:ln/>
        </p:spPr>
        <p:txBody>
          <a:bodyPr wrap="square" lIns="0" tIns="0" rIns="0" bIns="0" rtlCol="0" anchor="t"/>
          <a:lstStyle/>
          <a:p>
            <a:pPr indent="0" marL="0">
              <a:buNone/>
            </a:pPr>
            <a:r>
              <a:rPr lang="en-US" sz="1550" b="1" dirty="0">
                <a:solidFill>
                  <a:srgbClr val="188038"/>
                </a:solidFill>
                <a:latin typeface="Roboto" pitchFamily="34" charset="0"/>
                <a:ea typeface="Roboto" pitchFamily="34" charset="-122"/>
                <a:cs typeface="Roboto" pitchFamily="34" charset="-120"/>
              </a:rPr>
              <a:t>626 – 539 aC</a:t>
            </a:r>
            <a:endParaRPr lang="en-US" sz="1550" dirty="0"/>
          </a:p>
        </p:txBody>
      </p:sp>
      <p:sp>
        <p:nvSpPr>
          <p:cNvPr id="20" name="Text 18"/>
          <p:cNvSpPr txBox="1"/>
          <p:nvPr/>
        </p:nvSpPr>
        <p:spPr>
          <a:xfrm>
            <a:off x="2898648" y="4462272"/>
            <a:ext cx="5239512" cy="704088"/>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Imperi neobabilònic. Nabucodonosor II reconstrueix Babilònia.</a:t>
            </a:r>
            <a:endParaRPr lang="en-US" sz="1550" dirty="0"/>
          </a:p>
        </p:txBody>
      </p:sp>
      <p:sp>
        <p:nvSpPr>
          <p:cNvPr id="21" name="Fita 539 aC"/>
          <p:cNvSpPr/>
          <p:nvPr/>
        </p:nvSpPr>
        <p:spPr>
          <a:xfrm>
            <a:off x="548640" y="5248656"/>
            <a:ext cx="201168" cy="201168"/>
          </a:xfrm>
          <a:prstGeom prst="ellipse">
            <a:avLst/>
          </a:prstGeom>
          <a:solidFill>
            <a:srgbClr val="188038"/>
          </a:solidFill>
          <a:ln w="28575">
            <a:solidFill>
              <a:srgbClr val="188038"/>
            </a:solidFill>
            <a:prstDash val="solid"/>
          </a:ln>
        </p:spPr>
      </p:sp>
      <p:sp>
        <p:nvSpPr>
          <p:cNvPr id="22" name="Text 20"/>
          <p:cNvSpPr txBox="1"/>
          <p:nvPr/>
        </p:nvSpPr>
        <p:spPr>
          <a:xfrm>
            <a:off x="932688" y="5212080"/>
            <a:ext cx="1965960" cy="292608"/>
          </a:xfrm>
          <a:prstGeom prst="rect">
            <a:avLst/>
          </a:prstGeom>
          <a:noFill/>
          <a:ln/>
        </p:spPr>
        <p:txBody>
          <a:bodyPr wrap="square" lIns="0" tIns="0" rIns="0" bIns="0" rtlCol="0" anchor="t"/>
          <a:lstStyle/>
          <a:p>
            <a:pPr indent="0" marL="0">
              <a:buNone/>
            </a:pPr>
            <a:r>
              <a:rPr lang="en-US" sz="1550" b="1" dirty="0">
                <a:solidFill>
                  <a:srgbClr val="188038"/>
                </a:solidFill>
                <a:latin typeface="Roboto" pitchFamily="34" charset="0"/>
                <a:ea typeface="Roboto" pitchFamily="34" charset="-122"/>
                <a:cs typeface="Roboto" pitchFamily="34" charset="-120"/>
              </a:rPr>
              <a:t>539 aC</a:t>
            </a:r>
            <a:endParaRPr lang="en-US" sz="1550" dirty="0"/>
          </a:p>
        </p:txBody>
      </p:sp>
      <p:sp>
        <p:nvSpPr>
          <p:cNvPr id="23" name="Text 21"/>
          <p:cNvSpPr txBox="1"/>
          <p:nvPr/>
        </p:nvSpPr>
        <p:spPr>
          <a:xfrm>
            <a:off x="2898648" y="5212080"/>
            <a:ext cx="5239512" cy="704088"/>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El rei persa Cir el Gran conquereix Babilònia. Mesopotàmia passa a l'Imperi persa.</a:t>
            </a:r>
            <a:endParaRPr lang="en-US" sz="1550" dirty="0"/>
          </a:p>
        </p:txBody>
      </p:sp>
      <p:sp>
        <p:nvSpPr>
          <p:cNvPr id="24" name="Targeta Sargon d'Accad"/>
          <p:cNvSpPr/>
          <p:nvPr/>
        </p:nvSpPr>
        <p:spPr>
          <a:xfrm>
            <a:off x="8412480" y="1371600"/>
            <a:ext cx="3230575" cy="1417320"/>
          </a:xfrm>
          <a:prstGeom prst="roundRect">
            <a:avLst>
              <a:gd name="adj" fmla="val 7097"/>
            </a:avLst>
          </a:prstGeom>
          <a:solidFill>
            <a:srgbClr val="FFFFFF"/>
          </a:solidFill>
          <a:ln w="12700">
            <a:solidFill>
              <a:srgbClr val="DADCE0"/>
            </a:solidFill>
            <a:prstDash val="solid"/>
          </a:ln>
        </p:spPr>
      </p:sp>
      <p:sp>
        <p:nvSpPr>
          <p:cNvPr id="25" name="Cercle icona"/>
          <p:cNvSpPr/>
          <p:nvPr/>
        </p:nvSpPr>
        <p:spPr>
          <a:xfrm>
            <a:off x="8641080" y="1600200"/>
            <a:ext cx="502920" cy="502920"/>
          </a:xfrm>
          <a:prstGeom prst="ellipse">
            <a:avLst/>
          </a:prstGeom>
          <a:solidFill>
            <a:srgbClr val="E6F4EA"/>
          </a:solidFill>
          <a:ln/>
        </p:spPr>
      </p:sp>
      <p:pic>
        <p:nvPicPr>
          <p:cNvPr id="26" name="Icona TbCrown" descr="/home/claude/pc/build/1r-eso-civilitzacions/img/ic/TbCrown-g.png">    </p:cNvPr>
          <p:cNvPicPr>
            <a:picLocks noChangeAspect="1"/>
          </p:cNvPicPr>
          <p:nvPr/>
        </p:nvPicPr>
        <p:blipFill>
          <a:blip r:embed="rId1"/>
          <a:stretch>
            <a:fillRect/>
          </a:stretch>
        </p:blipFill>
        <p:spPr>
          <a:xfrm>
            <a:off x="8751722" y="1710842"/>
            <a:ext cx="281635" cy="281635"/>
          </a:xfrm>
          <a:prstGeom prst="rect">
            <a:avLst/>
          </a:prstGeom>
        </p:spPr>
      </p:pic>
      <p:sp>
        <p:nvSpPr>
          <p:cNvPr id="27" name="Text 24"/>
          <p:cNvSpPr txBox="1"/>
          <p:nvPr/>
        </p:nvSpPr>
        <p:spPr>
          <a:xfrm>
            <a:off x="9281160" y="1600200"/>
            <a:ext cx="2133295"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Sargon d'Accad</a:t>
            </a:r>
            <a:endParaRPr lang="en-US" sz="1700" dirty="0"/>
          </a:p>
        </p:txBody>
      </p:sp>
      <p:sp>
        <p:nvSpPr>
          <p:cNvPr id="28" name="Text 25"/>
          <p:cNvSpPr txBox="1"/>
          <p:nvPr/>
        </p:nvSpPr>
        <p:spPr>
          <a:xfrm>
            <a:off x="8641080" y="2240280"/>
            <a:ext cx="2773375" cy="4114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 primer imperi.</a:t>
            </a:r>
            <a:endParaRPr lang="en-US" sz="1500" dirty="0"/>
          </a:p>
        </p:txBody>
      </p:sp>
      <p:sp>
        <p:nvSpPr>
          <p:cNvPr id="29" name="Targeta Hammurabi"/>
          <p:cNvSpPr/>
          <p:nvPr/>
        </p:nvSpPr>
        <p:spPr>
          <a:xfrm>
            <a:off x="8412480" y="2971800"/>
            <a:ext cx="3230575" cy="1417320"/>
          </a:xfrm>
          <a:prstGeom prst="roundRect">
            <a:avLst>
              <a:gd name="adj" fmla="val 7097"/>
            </a:avLst>
          </a:prstGeom>
          <a:solidFill>
            <a:srgbClr val="FFFFFF"/>
          </a:solidFill>
          <a:ln w="12700">
            <a:solidFill>
              <a:srgbClr val="DADCE0"/>
            </a:solidFill>
            <a:prstDash val="solid"/>
          </a:ln>
        </p:spPr>
      </p:sp>
      <p:sp>
        <p:nvSpPr>
          <p:cNvPr id="30" name="Cercle icona"/>
          <p:cNvSpPr/>
          <p:nvPr/>
        </p:nvSpPr>
        <p:spPr>
          <a:xfrm>
            <a:off x="8641080" y="3200400"/>
            <a:ext cx="502920" cy="502920"/>
          </a:xfrm>
          <a:prstGeom prst="ellipse">
            <a:avLst/>
          </a:prstGeom>
          <a:solidFill>
            <a:srgbClr val="E6F4EA"/>
          </a:solidFill>
          <a:ln/>
        </p:spPr>
      </p:sp>
      <p:pic>
        <p:nvPicPr>
          <p:cNvPr id="31" name="Icona TbScale" descr="/home/claude/pc/build/1r-eso-civilitzacions/img/ic/TbScale-g.png">    </p:cNvPr>
          <p:cNvPicPr>
            <a:picLocks noChangeAspect="1"/>
          </p:cNvPicPr>
          <p:nvPr/>
        </p:nvPicPr>
        <p:blipFill>
          <a:blip r:embed="rId2"/>
          <a:stretch>
            <a:fillRect/>
          </a:stretch>
        </p:blipFill>
        <p:spPr>
          <a:xfrm>
            <a:off x="8751722" y="3311042"/>
            <a:ext cx="281635" cy="281635"/>
          </a:xfrm>
          <a:prstGeom prst="rect">
            <a:avLst/>
          </a:prstGeom>
        </p:spPr>
      </p:pic>
      <p:sp>
        <p:nvSpPr>
          <p:cNvPr id="32" name="Text 28"/>
          <p:cNvSpPr txBox="1"/>
          <p:nvPr/>
        </p:nvSpPr>
        <p:spPr>
          <a:xfrm>
            <a:off x="9281160" y="3200400"/>
            <a:ext cx="2133295"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Hammurabi</a:t>
            </a:r>
            <a:endParaRPr lang="en-US" sz="1700" dirty="0"/>
          </a:p>
        </p:txBody>
      </p:sp>
      <p:sp>
        <p:nvSpPr>
          <p:cNvPr id="33" name="Text 29"/>
          <p:cNvSpPr txBox="1"/>
          <p:nvPr/>
        </p:nvSpPr>
        <p:spPr>
          <a:xfrm>
            <a:off x="8641080" y="3840480"/>
            <a:ext cx="2773375" cy="4114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 gran codi de lleis.</a:t>
            </a:r>
            <a:endParaRPr lang="en-US" sz="1500" dirty="0"/>
          </a:p>
        </p:txBody>
      </p:sp>
      <p:sp>
        <p:nvSpPr>
          <p:cNvPr id="34" name="Targeta Assurbanipal"/>
          <p:cNvSpPr/>
          <p:nvPr/>
        </p:nvSpPr>
        <p:spPr>
          <a:xfrm>
            <a:off x="8412480" y="4572000"/>
            <a:ext cx="3230575" cy="1417320"/>
          </a:xfrm>
          <a:prstGeom prst="roundRect">
            <a:avLst>
              <a:gd name="adj" fmla="val 7097"/>
            </a:avLst>
          </a:prstGeom>
          <a:solidFill>
            <a:srgbClr val="FFFFFF"/>
          </a:solidFill>
          <a:ln w="12700">
            <a:solidFill>
              <a:srgbClr val="DADCE0"/>
            </a:solidFill>
            <a:prstDash val="solid"/>
          </a:ln>
        </p:spPr>
      </p:sp>
      <p:sp>
        <p:nvSpPr>
          <p:cNvPr id="35" name="Cercle icona"/>
          <p:cNvSpPr/>
          <p:nvPr/>
        </p:nvSpPr>
        <p:spPr>
          <a:xfrm>
            <a:off x="8641080" y="4800600"/>
            <a:ext cx="502920" cy="502920"/>
          </a:xfrm>
          <a:prstGeom prst="ellipse">
            <a:avLst/>
          </a:prstGeom>
          <a:solidFill>
            <a:srgbClr val="E6F4EA"/>
          </a:solidFill>
          <a:ln/>
        </p:spPr>
      </p:sp>
      <p:pic>
        <p:nvPicPr>
          <p:cNvPr id="36" name="Icona TbBooks" descr="/home/claude/pc/build/1r-eso-civilitzacions/img/ic/TbBooks-g.png">    </p:cNvPr>
          <p:cNvPicPr>
            <a:picLocks noChangeAspect="1"/>
          </p:cNvPicPr>
          <p:nvPr/>
        </p:nvPicPr>
        <p:blipFill>
          <a:blip r:embed="rId3"/>
          <a:stretch>
            <a:fillRect/>
          </a:stretch>
        </p:blipFill>
        <p:spPr>
          <a:xfrm>
            <a:off x="8751722" y="4911242"/>
            <a:ext cx="281635" cy="281635"/>
          </a:xfrm>
          <a:prstGeom prst="rect">
            <a:avLst/>
          </a:prstGeom>
        </p:spPr>
      </p:pic>
      <p:sp>
        <p:nvSpPr>
          <p:cNvPr id="37" name="Text 32"/>
          <p:cNvSpPr txBox="1"/>
          <p:nvPr/>
        </p:nvSpPr>
        <p:spPr>
          <a:xfrm>
            <a:off x="9281160" y="4800600"/>
            <a:ext cx="2133295"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Assurbanipal</a:t>
            </a:r>
            <a:endParaRPr lang="en-US" sz="1700" dirty="0"/>
          </a:p>
        </p:txBody>
      </p:sp>
      <p:sp>
        <p:nvSpPr>
          <p:cNvPr id="38" name="Text 33"/>
          <p:cNvSpPr txBox="1"/>
          <p:nvPr/>
        </p:nvSpPr>
        <p:spPr>
          <a:xfrm>
            <a:off x="8641080" y="5440680"/>
            <a:ext cx="2773375" cy="41148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Una gran biblioteca a Nínive.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muralla d'Uruk</a:t>
            </a:r>
            <a:endParaRPr lang="en-US" sz="2800" dirty="0"/>
          </a:p>
        </p:txBody>
      </p:sp>
      <p:sp>
        <p:nvSpPr>
          <p:cNvPr id="5" name="Font directa · Poema de Gilgamesh"/>
          <p:cNvSpPr/>
          <p:nvPr/>
        </p:nvSpPr>
        <p:spPr>
          <a:xfrm>
            <a:off x="548640" y="1371600"/>
            <a:ext cx="11094415" cy="2926080"/>
          </a:xfrm>
          <a:prstGeom prst="roundRect">
            <a:avLst>
              <a:gd name="adj" fmla="val 3438"/>
            </a:avLst>
          </a:prstGeom>
          <a:solidFill>
            <a:srgbClr val="F6F8FB"/>
          </a:solidFill>
          <a:ln/>
        </p:spPr>
      </p:sp>
      <p:sp>
        <p:nvSpPr>
          <p:cNvPr id="6" name="Text 4"/>
          <p:cNvSpPr txBox="1"/>
          <p:nvPr/>
        </p:nvSpPr>
        <p:spPr>
          <a:xfrm>
            <a:off x="914400" y="1554480"/>
            <a:ext cx="1036289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Poema de Gilgamesh</a:t>
            </a:r>
            <a:endParaRPr lang="en-US" sz="1400" dirty="0"/>
          </a:p>
        </p:txBody>
      </p:sp>
      <p:sp>
        <p:nvSpPr>
          <p:cNvPr id="7" name="Text 5"/>
          <p:cNvSpPr txBox="1"/>
          <p:nvPr/>
        </p:nvSpPr>
        <p:spPr>
          <a:xfrm>
            <a:off x="914400" y="1965960"/>
            <a:ext cx="10362895" cy="1600200"/>
          </a:xfrm>
          <a:prstGeom prst="rect">
            <a:avLst/>
          </a:prstGeom>
          <a:noFill/>
          <a:ln/>
        </p:spPr>
        <p:txBody>
          <a:bodyPr wrap="square" lIns="0" tIns="0" rIns="0" bIns="0" rtlCol="0" anchor="t"/>
          <a:lstStyle/>
          <a:p>
            <a:pPr indent="0" marL="0">
              <a:buNone/>
            </a:pPr>
            <a:r>
              <a:rPr lang="en-US" sz="1900" i="1" dirty="0">
                <a:solidFill>
                  <a:srgbClr val="202124"/>
                </a:solidFill>
                <a:latin typeface="Roboto" pitchFamily="34" charset="0"/>
                <a:ea typeface="Roboto" pitchFamily="34" charset="-122"/>
                <a:cs typeface="Roboto" pitchFamily="34" charset="-120"/>
              </a:rPr>
              <a:t>«Puja a la muralla d'Uruk i passeja-t'hi. Examina'n els fonaments, observa'n bé els maons. No és tota de maó cuit al forn? [...] Una llegua de ciutat, una llegua de palmerars, una llegua de terres baixes i el recinte del temple d'Ixtar.»</a:t>
            </a:r>
            <a:endParaRPr lang="en-US" sz="1900" dirty="0"/>
          </a:p>
        </p:txBody>
      </p:sp>
      <p:sp>
        <p:nvSpPr>
          <p:cNvPr id="8" name="Text 6"/>
          <p:cNvSpPr txBox="1"/>
          <p:nvPr/>
        </p:nvSpPr>
        <p:spPr>
          <a:xfrm>
            <a:off x="914400" y="3401568"/>
            <a:ext cx="10362895" cy="777240"/>
          </a:xfrm>
          <a:prstGeom prst="rect">
            <a:avLst/>
          </a:prstGeom>
          <a:noFill/>
          <a:ln/>
        </p:spPr>
        <p:txBody>
          <a:bodyPr wrap="square" lIns="0" tIns="0" rIns="0" bIns="0" rtlCol="0" anchor="b"/>
          <a:lstStyle/>
          <a:p>
            <a:pPr indent="0" marL="0">
              <a:buNone/>
            </a:pPr>
            <a:r>
              <a:rPr lang="en-US" sz="1300" dirty="0">
                <a:solidFill>
                  <a:srgbClr val="5F6368"/>
                </a:solidFill>
                <a:latin typeface="Roboto" pitchFamily="34" charset="0"/>
                <a:ea typeface="Roboto" pitchFamily="34" charset="-122"/>
                <a:cs typeface="Roboto" pitchFamily="34" charset="-120"/>
              </a:rPr>
              <a:t>Poema de Gilgamesh, tauleta I (Mesopotàmia), la primera gran obra de la literatura universal. Traducció catalana adaptada a partir de la versió anglesa de M. G. Kovacs.</a:t>
            </a:r>
            <a:endParaRPr lang="en-US" sz="1300" dirty="0"/>
          </a:p>
        </p:txBody>
      </p:sp>
      <p:sp>
        <p:nvSpPr>
          <p:cNvPr id="9" name="Pensa-hi"/>
          <p:cNvSpPr/>
          <p:nvPr/>
        </p:nvSpPr>
        <p:spPr>
          <a:xfrm>
            <a:off x="548640" y="4526280"/>
            <a:ext cx="11094415" cy="1508760"/>
          </a:xfrm>
          <a:prstGeom prst="roundRect">
            <a:avLst>
              <a:gd name="adj" fmla="val 6667"/>
            </a:avLst>
          </a:prstGeom>
          <a:solidFill>
            <a:srgbClr val="E6F4EA"/>
          </a:solidFill>
          <a:ln/>
        </p:spPr>
      </p:sp>
      <p:sp>
        <p:nvSpPr>
          <p:cNvPr id="10" name="Text 8"/>
          <p:cNvSpPr txBox="1"/>
          <p:nvPr/>
        </p:nvSpPr>
        <p:spPr>
          <a:xfrm>
            <a:off x="868680" y="468172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Pensa-hi</a:t>
            </a:r>
            <a:endParaRPr lang="en-US" sz="1400" dirty="0"/>
          </a:p>
        </p:txBody>
      </p:sp>
      <p:sp>
        <p:nvSpPr>
          <p:cNvPr id="11" name="Text 9"/>
          <p:cNvSpPr txBox="1"/>
          <p:nvPr/>
        </p:nvSpPr>
        <p:spPr>
          <a:xfrm>
            <a:off x="868680" y="5029200"/>
            <a:ext cx="10454335" cy="86868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Quines parts de la ciutat d'Uruk descriu el poema? Quina et sembla que n'és la més important?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Qui manava i qui treballava?</a:t>
            </a:r>
            <a:endParaRPr lang="en-US" sz="2800" dirty="0"/>
          </a:p>
        </p:txBody>
      </p:sp>
      <p:sp>
        <p:nvSpPr>
          <p:cNvPr id="5" name="Grup El rei, el lugal"/>
          <p:cNvSpPr/>
          <p:nvPr/>
        </p:nvSpPr>
        <p:spPr>
          <a:xfrm>
            <a:off x="2424989" y="1371600"/>
            <a:ext cx="3196742" cy="685800"/>
          </a:xfrm>
          <a:prstGeom prst="roundRect">
            <a:avLst>
              <a:gd name="adj" fmla="val 14667"/>
            </a:avLst>
          </a:prstGeom>
          <a:solidFill>
            <a:srgbClr val="188038"/>
          </a:solidFill>
          <a:ln/>
        </p:spPr>
      </p:sp>
      <p:pic>
        <p:nvPicPr>
          <p:cNvPr id="6" name="Icona TbCrown" descr="/home/claude/pc/build/1r-eso-civilitzacions/img/ic/TbCrown-w.png">    </p:cNvPr>
          <p:cNvPicPr>
            <a:picLocks noChangeAspect="1"/>
          </p:cNvPicPr>
          <p:nvPr/>
        </p:nvPicPr>
        <p:blipFill>
          <a:blip r:embed="rId1"/>
          <a:stretch>
            <a:fillRect/>
          </a:stretch>
        </p:blipFill>
        <p:spPr>
          <a:xfrm>
            <a:off x="2589581" y="1504188"/>
            <a:ext cx="420624" cy="420624"/>
          </a:xfrm>
          <a:prstGeom prst="rect">
            <a:avLst/>
          </a:prstGeom>
        </p:spPr>
      </p:pic>
      <p:sp>
        <p:nvSpPr>
          <p:cNvPr id="7" name="Text 4"/>
          <p:cNvSpPr txBox="1"/>
          <p:nvPr/>
        </p:nvSpPr>
        <p:spPr>
          <a:xfrm>
            <a:off x="3074213" y="1389888"/>
            <a:ext cx="2410358" cy="649224"/>
          </a:xfrm>
          <a:prstGeom prst="rect">
            <a:avLst/>
          </a:prstGeom>
          <a:noFill/>
          <a:ln/>
        </p:spPr>
        <p:txBody>
          <a:bodyPr wrap="square" lIns="0" tIns="0" rIns="0" bIns="0" rtlCol="0" anchor="ctr"/>
          <a:lstStyle/>
          <a:p>
            <a:pPr indent="0" marL="0">
              <a:buNone/>
            </a:pPr>
            <a:r>
              <a:rPr lang="en-US" sz="1600" b="1" dirty="0">
                <a:solidFill>
                  <a:srgbClr val="FFFFFF"/>
                </a:solidFill>
                <a:latin typeface="Roboto" pitchFamily="34" charset="0"/>
                <a:ea typeface="Roboto" pitchFamily="34" charset="-122"/>
                <a:cs typeface="Roboto" pitchFamily="34" charset="-120"/>
              </a:rPr>
              <a:t>El rei, el lugal</a:t>
            </a:r>
            <a:endParaRPr lang="en-US" sz="1600" dirty="0"/>
          </a:p>
          <a:p>
            <a:pPr indent="0" marL="0">
              <a:buNone/>
            </a:pPr>
            <a:r>
              <a:rPr lang="en-US" sz="1250" dirty="0">
                <a:solidFill>
                  <a:srgbClr val="FFFFFF"/>
                </a:solidFill>
                <a:latin typeface="Roboto" pitchFamily="34" charset="0"/>
                <a:ea typeface="Roboto" pitchFamily="34" charset="-122"/>
                <a:cs typeface="Roboto" pitchFamily="34" charset="-120"/>
              </a:rPr>
              <a:t>«Home gran». Representant del déu</a:t>
            </a:r>
            <a:endParaRPr lang="en-US" sz="1600" dirty="0"/>
          </a:p>
        </p:txBody>
      </p:sp>
      <p:sp>
        <p:nvSpPr>
          <p:cNvPr id="8" name="Grup Sacerdots i sacerdotesses"/>
          <p:cNvSpPr/>
          <p:nvPr/>
        </p:nvSpPr>
        <p:spPr>
          <a:xfrm>
            <a:off x="2049719" y="2148840"/>
            <a:ext cx="3947282" cy="685800"/>
          </a:xfrm>
          <a:prstGeom prst="roundRect">
            <a:avLst>
              <a:gd name="adj" fmla="val 14667"/>
            </a:avLst>
          </a:prstGeom>
          <a:solidFill>
            <a:srgbClr val="E6F4EA"/>
          </a:solidFill>
          <a:ln/>
        </p:spPr>
      </p:sp>
      <p:pic>
        <p:nvPicPr>
          <p:cNvPr id="9" name="Icona TbFlame" descr="/home/claude/pc/build/1r-eso-civilitzacions/img/ic/TbFlame-g.png">    </p:cNvPr>
          <p:cNvPicPr>
            <a:picLocks noChangeAspect="1"/>
          </p:cNvPicPr>
          <p:nvPr/>
        </p:nvPicPr>
        <p:blipFill>
          <a:blip r:embed="rId2"/>
          <a:stretch>
            <a:fillRect/>
          </a:stretch>
        </p:blipFill>
        <p:spPr>
          <a:xfrm>
            <a:off x="2214311" y="2281428"/>
            <a:ext cx="420624" cy="420624"/>
          </a:xfrm>
          <a:prstGeom prst="rect">
            <a:avLst/>
          </a:prstGeom>
        </p:spPr>
      </p:pic>
      <p:sp>
        <p:nvSpPr>
          <p:cNvPr id="10" name="Text 6"/>
          <p:cNvSpPr txBox="1"/>
          <p:nvPr/>
        </p:nvSpPr>
        <p:spPr>
          <a:xfrm>
            <a:off x="2698943" y="2167128"/>
            <a:ext cx="3160898" cy="64922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Sacerdots i sacerdotesses</a:t>
            </a:r>
            <a:endParaRPr lang="en-US" sz="1600" dirty="0"/>
          </a:p>
          <a:p>
            <a:pPr indent="0" marL="0">
              <a:buNone/>
            </a:pPr>
            <a:r>
              <a:rPr lang="en-US" sz="1300" dirty="0">
                <a:solidFill>
                  <a:srgbClr val="202124"/>
                </a:solidFill>
                <a:latin typeface="Roboto" pitchFamily="34" charset="0"/>
                <a:ea typeface="Roboto" pitchFamily="34" charset="-122"/>
                <a:cs typeface="Roboto" pitchFamily="34" charset="-120"/>
              </a:rPr>
              <a:t>Cuidaven el temple i els seus béns</a:t>
            </a:r>
            <a:endParaRPr lang="en-US" sz="1600" dirty="0"/>
          </a:p>
        </p:txBody>
      </p:sp>
      <p:sp>
        <p:nvSpPr>
          <p:cNvPr id="11" name="Grup Funcionaris i escribes"/>
          <p:cNvSpPr/>
          <p:nvPr/>
        </p:nvSpPr>
        <p:spPr>
          <a:xfrm>
            <a:off x="1674449" y="2926080"/>
            <a:ext cx="4697821" cy="685800"/>
          </a:xfrm>
          <a:prstGeom prst="roundRect">
            <a:avLst>
              <a:gd name="adj" fmla="val 14667"/>
            </a:avLst>
          </a:prstGeom>
          <a:solidFill>
            <a:srgbClr val="E6F4EA"/>
          </a:solidFill>
          <a:ln/>
        </p:spPr>
      </p:sp>
      <p:pic>
        <p:nvPicPr>
          <p:cNvPr id="12" name="Icona TbClipboardList" descr="/home/claude/pc/build/1r-eso-civilitzacions/img/ic/TbClipboardList-g.png">    </p:cNvPr>
          <p:cNvPicPr>
            <a:picLocks noChangeAspect="1"/>
          </p:cNvPicPr>
          <p:nvPr/>
        </p:nvPicPr>
        <p:blipFill>
          <a:blip r:embed="rId3"/>
          <a:stretch>
            <a:fillRect/>
          </a:stretch>
        </p:blipFill>
        <p:spPr>
          <a:xfrm>
            <a:off x="1839041" y="3058668"/>
            <a:ext cx="420624" cy="420624"/>
          </a:xfrm>
          <a:prstGeom prst="rect">
            <a:avLst/>
          </a:prstGeom>
        </p:spPr>
      </p:pic>
      <p:sp>
        <p:nvSpPr>
          <p:cNvPr id="13" name="Text 8"/>
          <p:cNvSpPr txBox="1"/>
          <p:nvPr/>
        </p:nvSpPr>
        <p:spPr>
          <a:xfrm>
            <a:off x="2323673" y="2944368"/>
            <a:ext cx="3911437" cy="64922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Funcionaris i escribes</a:t>
            </a:r>
            <a:endParaRPr lang="en-US" sz="1600" dirty="0"/>
          </a:p>
          <a:p>
            <a:pPr indent="0" marL="0">
              <a:buNone/>
            </a:pPr>
            <a:r>
              <a:rPr lang="en-US" sz="1300" dirty="0">
                <a:solidFill>
                  <a:srgbClr val="202124"/>
                </a:solidFill>
                <a:latin typeface="Roboto" pitchFamily="34" charset="0"/>
                <a:ea typeface="Roboto" pitchFamily="34" charset="-122"/>
                <a:cs typeface="Roboto" pitchFamily="34" charset="-120"/>
              </a:rPr>
              <a:t>Comptaven collites i cobraven impostos</a:t>
            </a:r>
            <a:endParaRPr lang="en-US" sz="1600" dirty="0"/>
          </a:p>
        </p:txBody>
      </p:sp>
      <p:sp>
        <p:nvSpPr>
          <p:cNvPr id="14" name="Grup Comerciants i artesans"/>
          <p:cNvSpPr/>
          <p:nvPr/>
        </p:nvSpPr>
        <p:spPr>
          <a:xfrm>
            <a:off x="1299180" y="3703320"/>
            <a:ext cx="5448361" cy="685800"/>
          </a:xfrm>
          <a:prstGeom prst="roundRect">
            <a:avLst>
              <a:gd name="adj" fmla="val 14667"/>
            </a:avLst>
          </a:prstGeom>
          <a:solidFill>
            <a:srgbClr val="E6F4EA"/>
          </a:solidFill>
          <a:ln/>
        </p:spPr>
      </p:sp>
      <p:pic>
        <p:nvPicPr>
          <p:cNvPr id="15" name="Icona TbHammer" descr="/home/claude/pc/build/1r-eso-civilitzacions/img/ic/TbHammer-g.png">    </p:cNvPr>
          <p:cNvPicPr>
            <a:picLocks noChangeAspect="1"/>
          </p:cNvPicPr>
          <p:nvPr/>
        </p:nvPicPr>
        <p:blipFill>
          <a:blip r:embed="rId4"/>
          <a:stretch>
            <a:fillRect/>
          </a:stretch>
        </p:blipFill>
        <p:spPr>
          <a:xfrm>
            <a:off x="1463772" y="3835908"/>
            <a:ext cx="420624" cy="420624"/>
          </a:xfrm>
          <a:prstGeom prst="rect">
            <a:avLst/>
          </a:prstGeom>
        </p:spPr>
      </p:pic>
      <p:sp>
        <p:nvSpPr>
          <p:cNvPr id="16" name="Text 10"/>
          <p:cNvSpPr txBox="1"/>
          <p:nvPr/>
        </p:nvSpPr>
        <p:spPr>
          <a:xfrm>
            <a:off x="1948404" y="3721608"/>
            <a:ext cx="4661977" cy="64922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Comerciants i artesans</a:t>
            </a:r>
            <a:endParaRPr lang="en-US" sz="1600" dirty="0"/>
          </a:p>
          <a:p>
            <a:pPr indent="0" marL="0">
              <a:buNone/>
            </a:pPr>
            <a:r>
              <a:rPr lang="en-US" sz="1300" dirty="0">
                <a:solidFill>
                  <a:srgbClr val="202124"/>
                </a:solidFill>
                <a:latin typeface="Roboto" pitchFamily="34" charset="0"/>
                <a:ea typeface="Roboto" pitchFamily="34" charset="-122"/>
                <a:cs typeface="Roboto" pitchFamily="34" charset="-120"/>
              </a:rPr>
              <a:t>Ceramistes, teixidors, fusters, joiers</a:t>
            </a:r>
            <a:endParaRPr lang="en-US" sz="1600" dirty="0"/>
          </a:p>
        </p:txBody>
      </p:sp>
      <p:sp>
        <p:nvSpPr>
          <p:cNvPr id="17" name="Grup Pagesos i pastors"/>
          <p:cNvSpPr/>
          <p:nvPr/>
        </p:nvSpPr>
        <p:spPr>
          <a:xfrm>
            <a:off x="923910" y="4480560"/>
            <a:ext cx="6198900" cy="685800"/>
          </a:xfrm>
          <a:prstGeom prst="roundRect">
            <a:avLst>
              <a:gd name="adj" fmla="val 14667"/>
            </a:avLst>
          </a:prstGeom>
          <a:solidFill>
            <a:srgbClr val="E6F4EA"/>
          </a:solidFill>
          <a:ln/>
        </p:spPr>
      </p:sp>
      <p:pic>
        <p:nvPicPr>
          <p:cNvPr id="18" name="Icona TbWheat" descr="/home/claude/pc/build/1r-eso-civilitzacions/img/ic/TbWheat-g.png">    </p:cNvPr>
          <p:cNvPicPr>
            <a:picLocks noChangeAspect="1"/>
          </p:cNvPicPr>
          <p:nvPr/>
        </p:nvPicPr>
        <p:blipFill>
          <a:blip r:embed="rId5"/>
          <a:stretch>
            <a:fillRect/>
          </a:stretch>
        </p:blipFill>
        <p:spPr>
          <a:xfrm>
            <a:off x="1088502" y="4613148"/>
            <a:ext cx="420624" cy="420624"/>
          </a:xfrm>
          <a:prstGeom prst="rect">
            <a:avLst/>
          </a:prstGeom>
        </p:spPr>
      </p:pic>
      <p:sp>
        <p:nvSpPr>
          <p:cNvPr id="19" name="Text 12"/>
          <p:cNvSpPr txBox="1"/>
          <p:nvPr/>
        </p:nvSpPr>
        <p:spPr>
          <a:xfrm>
            <a:off x="1573134" y="4498848"/>
            <a:ext cx="5412516" cy="64922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Pagesos i pastors</a:t>
            </a:r>
            <a:endParaRPr lang="en-US" sz="1600" dirty="0"/>
          </a:p>
          <a:p>
            <a:pPr indent="0" marL="0">
              <a:buNone/>
            </a:pPr>
            <a:r>
              <a:rPr lang="en-US" sz="1300" dirty="0">
                <a:solidFill>
                  <a:srgbClr val="202124"/>
                </a:solidFill>
                <a:latin typeface="Roboto" pitchFamily="34" charset="0"/>
                <a:ea typeface="Roboto" pitchFamily="34" charset="-122"/>
                <a:cs typeface="Roboto" pitchFamily="34" charset="-120"/>
              </a:rPr>
              <a:t>La gran majoria</a:t>
            </a:r>
            <a:endParaRPr lang="en-US" sz="1600" dirty="0"/>
          </a:p>
        </p:txBody>
      </p:sp>
      <p:sp>
        <p:nvSpPr>
          <p:cNvPr id="20" name="Grup Esclaus"/>
          <p:cNvSpPr/>
          <p:nvPr/>
        </p:nvSpPr>
        <p:spPr>
          <a:xfrm>
            <a:off x="548640" y="5257800"/>
            <a:ext cx="6949440" cy="685800"/>
          </a:xfrm>
          <a:prstGeom prst="roundRect">
            <a:avLst>
              <a:gd name="adj" fmla="val 14667"/>
            </a:avLst>
          </a:prstGeom>
          <a:solidFill>
            <a:srgbClr val="E8EAED"/>
          </a:solidFill>
          <a:ln/>
        </p:spPr>
      </p:sp>
      <p:pic>
        <p:nvPicPr>
          <p:cNvPr id="21" name="Icona TbLink" descr="/home/claude/pc/build/1r-eso-civilitzacions/img/ic/TbLink-k.png">    </p:cNvPr>
          <p:cNvPicPr>
            <a:picLocks noChangeAspect="1"/>
          </p:cNvPicPr>
          <p:nvPr/>
        </p:nvPicPr>
        <p:blipFill>
          <a:blip r:embed="rId6"/>
          <a:stretch>
            <a:fillRect/>
          </a:stretch>
        </p:blipFill>
        <p:spPr>
          <a:xfrm>
            <a:off x="713232" y="5390388"/>
            <a:ext cx="420624" cy="420624"/>
          </a:xfrm>
          <a:prstGeom prst="rect">
            <a:avLst/>
          </a:prstGeom>
        </p:spPr>
      </p:pic>
      <p:sp>
        <p:nvSpPr>
          <p:cNvPr id="22" name="Text 14"/>
          <p:cNvSpPr txBox="1"/>
          <p:nvPr/>
        </p:nvSpPr>
        <p:spPr>
          <a:xfrm>
            <a:off x="1197864" y="5276088"/>
            <a:ext cx="6163056" cy="64922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Esclaus</a:t>
            </a:r>
            <a:endParaRPr lang="en-US" sz="1600" dirty="0"/>
          </a:p>
          <a:p>
            <a:pPr indent="0" marL="0">
              <a:buNone/>
            </a:pPr>
            <a:r>
              <a:rPr lang="en-US" sz="1300" dirty="0">
                <a:solidFill>
                  <a:srgbClr val="202124"/>
                </a:solidFill>
                <a:latin typeface="Roboto" pitchFamily="34" charset="0"/>
                <a:ea typeface="Roboto" pitchFamily="34" charset="-122"/>
                <a:cs typeface="Roboto" pitchFamily="34" charset="-120"/>
              </a:rPr>
              <a:t>Presoners de guerra o per deutes</a:t>
            </a:r>
            <a:endParaRPr lang="en-US" sz="1600" dirty="0"/>
          </a:p>
        </p:txBody>
      </p:sp>
      <p:sp>
        <p:nvSpPr>
          <p:cNvPr id="23" name="Targeta Les dones"/>
          <p:cNvSpPr/>
          <p:nvPr/>
        </p:nvSpPr>
        <p:spPr>
          <a:xfrm>
            <a:off x="7772400" y="1371600"/>
            <a:ext cx="3870655" cy="2194560"/>
          </a:xfrm>
          <a:prstGeom prst="roundRect">
            <a:avLst>
              <a:gd name="adj" fmla="val 4583"/>
            </a:avLst>
          </a:prstGeom>
          <a:solidFill>
            <a:srgbClr val="FFFFFF"/>
          </a:solidFill>
          <a:ln w="12700">
            <a:solidFill>
              <a:srgbClr val="DADCE0"/>
            </a:solidFill>
            <a:prstDash val="solid"/>
          </a:ln>
        </p:spPr>
      </p:sp>
      <p:sp>
        <p:nvSpPr>
          <p:cNvPr id="24" name="Cercle icona"/>
          <p:cNvSpPr/>
          <p:nvPr/>
        </p:nvSpPr>
        <p:spPr>
          <a:xfrm>
            <a:off x="8001000" y="1600200"/>
            <a:ext cx="502920" cy="502920"/>
          </a:xfrm>
          <a:prstGeom prst="ellipse">
            <a:avLst/>
          </a:prstGeom>
          <a:solidFill>
            <a:srgbClr val="E6F4EA"/>
          </a:solidFill>
          <a:ln/>
        </p:spPr>
      </p:sp>
      <p:pic>
        <p:nvPicPr>
          <p:cNvPr id="25" name="Icona TbUsers" descr="/home/claude/pc/build/1r-eso-civilitzacions/img/ic/TbUsers-g.png">    </p:cNvPr>
          <p:cNvPicPr>
            <a:picLocks noChangeAspect="1"/>
          </p:cNvPicPr>
          <p:nvPr/>
        </p:nvPicPr>
        <p:blipFill>
          <a:blip r:embed="rId7"/>
          <a:stretch>
            <a:fillRect/>
          </a:stretch>
        </p:blipFill>
        <p:spPr>
          <a:xfrm>
            <a:off x="8111642" y="1710842"/>
            <a:ext cx="281635" cy="281635"/>
          </a:xfrm>
          <a:prstGeom prst="rect">
            <a:avLst/>
          </a:prstGeom>
        </p:spPr>
      </p:pic>
      <p:sp>
        <p:nvSpPr>
          <p:cNvPr id="26" name="Text 17"/>
          <p:cNvSpPr txBox="1"/>
          <p:nvPr/>
        </p:nvSpPr>
        <p:spPr>
          <a:xfrm>
            <a:off x="8641080" y="1600200"/>
            <a:ext cx="2773375"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Les dones</a:t>
            </a:r>
            <a:endParaRPr lang="en-US" sz="1800" dirty="0"/>
          </a:p>
        </p:txBody>
      </p:sp>
      <p:sp>
        <p:nvSpPr>
          <p:cNvPr id="27" name="Text 18"/>
          <p:cNvSpPr txBox="1"/>
          <p:nvPr/>
        </p:nvSpPr>
        <p:spPr>
          <a:xfrm>
            <a:off x="8001000" y="2240280"/>
            <a:ext cx="3413455" cy="11887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Depenien del pare i del marit. Tot i així, podien tenir béns, i algunes portaven tavernes o tallers de teixits.</a:t>
            </a:r>
            <a:endParaRPr lang="en-US" sz="1500" dirty="0"/>
          </a:p>
        </p:txBody>
      </p:sp>
      <p:sp>
        <p:nvSpPr>
          <p:cNvPr id="28" name="Targeta Enheduanna"/>
          <p:cNvSpPr/>
          <p:nvPr/>
        </p:nvSpPr>
        <p:spPr>
          <a:xfrm>
            <a:off x="7772400" y="3794760"/>
            <a:ext cx="3870655" cy="2194560"/>
          </a:xfrm>
          <a:prstGeom prst="roundRect">
            <a:avLst>
              <a:gd name="adj" fmla="val 4583"/>
            </a:avLst>
          </a:prstGeom>
          <a:solidFill>
            <a:srgbClr val="FFFFFF"/>
          </a:solidFill>
          <a:ln w="12700">
            <a:solidFill>
              <a:srgbClr val="DADCE0"/>
            </a:solidFill>
            <a:prstDash val="solid"/>
          </a:ln>
        </p:spPr>
      </p:sp>
      <p:sp>
        <p:nvSpPr>
          <p:cNvPr id="29" name="Cercle icona"/>
          <p:cNvSpPr/>
          <p:nvPr/>
        </p:nvSpPr>
        <p:spPr>
          <a:xfrm>
            <a:off x="8001000" y="4023360"/>
            <a:ext cx="502920" cy="502920"/>
          </a:xfrm>
          <a:prstGeom prst="ellipse">
            <a:avLst/>
          </a:prstGeom>
          <a:solidFill>
            <a:srgbClr val="E6F4EA"/>
          </a:solidFill>
          <a:ln/>
        </p:spPr>
      </p:sp>
      <p:pic>
        <p:nvPicPr>
          <p:cNvPr id="30" name="Icona TbUserStar" descr="/home/claude/pc/build/1r-eso-civilitzacions/img/ic/TbUserStar-g.png">    </p:cNvPr>
          <p:cNvPicPr>
            <a:picLocks noChangeAspect="1"/>
          </p:cNvPicPr>
          <p:nvPr/>
        </p:nvPicPr>
        <p:blipFill>
          <a:blip r:embed="rId8"/>
          <a:stretch>
            <a:fillRect/>
          </a:stretch>
        </p:blipFill>
        <p:spPr>
          <a:xfrm>
            <a:off x="8111642" y="4134002"/>
            <a:ext cx="281635" cy="281635"/>
          </a:xfrm>
          <a:prstGeom prst="rect">
            <a:avLst/>
          </a:prstGeom>
        </p:spPr>
      </p:pic>
      <p:sp>
        <p:nvSpPr>
          <p:cNvPr id="31" name="Text 21"/>
          <p:cNvSpPr txBox="1"/>
          <p:nvPr/>
        </p:nvSpPr>
        <p:spPr>
          <a:xfrm>
            <a:off x="8641080" y="4023360"/>
            <a:ext cx="2773375" cy="50292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Enheduanna</a:t>
            </a:r>
            <a:endParaRPr lang="en-US" sz="1800" dirty="0"/>
          </a:p>
        </p:txBody>
      </p:sp>
      <p:sp>
        <p:nvSpPr>
          <p:cNvPr id="32" name="Text 22"/>
          <p:cNvSpPr txBox="1"/>
          <p:nvPr/>
        </p:nvSpPr>
        <p:spPr>
          <a:xfrm>
            <a:off x="8001000" y="4663440"/>
            <a:ext cx="3413455" cy="11887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Filla de Sargon d'Accad i gran sacerdotessa a Ur. Sovint es diu que és la primera autora coneguda pel seu nom.</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Llegim l'estendard d'Ur</a:t>
            </a:r>
            <a:endParaRPr lang="en-US" sz="2800" dirty="0"/>
          </a:p>
        </p:txBody>
      </p:sp>
      <p:sp>
        <p:nvSpPr>
          <p:cNvPr id="5" name="Fons L'estendard d'Ur, la cara de la pau (cap al 2500 aC)"/>
          <p:cNvSpPr/>
          <p:nvPr/>
        </p:nvSpPr>
        <p:spPr>
          <a:xfrm>
            <a:off x="548640" y="1371600"/>
            <a:ext cx="7223760" cy="3310128"/>
          </a:xfrm>
          <a:prstGeom prst="roundRect">
            <a:avLst>
              <a:gd name="adj" fmla="val 3039"/>
            </a:avLst>
          </a:prstGeom>
          <a:solidFill>
            <a:srgbClr val="F6F8FB"/>
          </a:solidFill>
          <a:ln/>
        </p:spPr>
      </p:sp>
      <p:pic>
        <p:nvPicPr>
          <p:cNvPr id="6" name="L'estendard d'Ur, la cara de la pau (cap al 2500 aC)" descr="/home/claude/pc/build/1r-eso-civilitzacions/img/estendard.jpg">    </p:cNvPr>
          <p:cNvPicPr>
            <a:picLocks noChangeAspect="1"/>
          </p:cNvPicPr>
          <p:nvPr/>
        </p:nvPicPr>
        <p:blipFill>
          <a:blip r:embed="rId1"/>
          <a:stretch>
            <a:fillRect/>
          </a:stretch>
        </p:blipFill>
        <p:spPr>
          <a:xfrm>
            <a:off x="549170" y="1371600"/>
            <a:ext cx="7222699" cy="3310128"/>
          </a:xfrm>
          <a:prstGeom prst="rect">
            <a:avLst/>
          </a:prstGeom>
        </p:spPr>
      </p:pic>
      <p:sp>
        <p:nvSpPr>
          <p:cNvPr id="7" name="Text 4"/>
          <p:cNvSpPr txBox="1"/>
          <p:nvPr/>
        </p:nvSpPr>
        <p:spPr>
          <a:xfrm>
            <a:off x="548640" y="4773168"/>
            <a:ext cx="72237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L'estendard d'Ur, la cara de la pau (cap al 2500 aC). Es va trobar en una tomba reial d'Ur. Museu Britànic. Foto: LeastCommonAncestor, Wikimedia Commons, CC BY-SA 3.0.</a:t>
            </a:r>
            <a:endParaRPr lang="en-US" sz="1000" dirty="0"/>
          </a:p>
        </p:txBody>
      </p:sp>
      <p:sp>
        <p:nvSpPr>
          <p:cNvPr id="8" name="Text 5"/>
          <p:cNvSpPr txBox="1"/>
          <p:nvPr/>
        </p:nvSpPr>
        <p:spPr>
          <a:xfrm>
            <a:off x="8092440" y="1371600"/>
            <a:ext cx="3550615" cy="41148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Mira la imatge i respon</a:t>
            </a:r>
            <a:endParaRPr lang="en-US" sz="1800" dirty="0"/>
          </a:p>
        </p:txBody>
      </p:sp>
      <p:sp>
        <p:nvSpPr>
          <p:cNvPr id="9" name="Cercle icona"/>
          <p:cNvSpPr/>
          <p:nvPr/>
        </p:nvSpPr>
        <p:spPr>
          <a:xfrm>
            <a:off x="8092440" y="2048256"/>
            <a:ext cx="502920" cy="502920"/>
          </a:xfrm>
          <a:prstGeom prst="ellipse">
            <a:avLst/>
          </a:prstGeom>
          <a:solidFill>
            <a:srgbClr val="E6F4EA"/>
          </a:solidFill>
          <a:ln/>
        </p:spPr>
      </p:sp>
      <p:pic>
        <p:nvPicPr>
          <p:cNvPr id="10" name="Icona TbSearch" descr="/home/claude/pc/build/1r-eso-civilitzacions/img/ic/TbSearch-g.png">    </p:cNvPr>
          <p:cNvPicPr>
            <a:picLocks noChangeAspect="1"/>
          </p:cNvPicPr>
          <p:nvPr/>
        </p:nvPicPr>
        <p:blipFill>
          <a:blip r:embed="rId2"/>
          <a:stretch>
            <a:fillRect/>
          </a:stretch>
        </p:blipFill>
        <p:spPr>
          <a:xfrm>
            <a:off x="8203082" y="2158898"/>
            <a:ext cx="281635" cy="281635"/>
          </a:xfrm>
          <a:prstGeom prst="rect">
            <a:avLst/>
          </a:prstGeom>
        </p:spPr>
      </p:pic>
      <p:sp>
        <p:nvSpPr>
          <p:cNvPr id="11" name="Text 7"/>
          <p:cNvSpPr txBox="1"/>
          <p:nvPr/>
        </p:nvSpPr>
        <p:spPr>
          <a:xfrm>
            <a:off x="8796528" y="1920240"/>
            <a:ext cx="2846527" cy="86868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Qui és la figura més gran?</a:t>
            </a:r>
            <a:endParaRPr lang="en-US" sz="1600" dirty="0"/>
          </a:p>
        </p:txBody>
      </p:sp>
      <p:sp>
        <p:nvSpPr>
          <p:cNvPr id="12" name="Cercle icona"/>
          <p:cNvSpPr/>
          <p:nvPr/>
        </p:nvSpPr>
        <p:spPr>
          <a:xfrm>
            <a:off x="8092440" y="3008376"/>
            <a:ext cx="502920" cy="502920"/>
          </a:xfrm>
          <a:prstGeom prst="ellipse">
            <a:avLst/>
          </a:prstGeom>
          <a:solidFill>
            <a:srgbClr val="E6F4EA"/>
          </a:solidFill>
          <a:ln/>
        </p:spPr>
      </p:sp>
      <p:pic>
        <p:nvPicPr>
          <p:cNvPr id="13" name="Icona TbPackage" descr="/home/claude/pc/build/1r-eso-civilitzacions/img/ic/TbPackage-g.png">    </p:cNvPr>
          <p:cNvPicPr>
            <a:picLocks noChangeAspect="1"/>
          </p:cNvPicPr>
          <p:nvPr/>
        </p:nvPicPr>
        <p:blipFill>
          <a:blip r:embed="rId3"/>
          <a:stretch>
            <a:fillRect/>
          </a:stretch>
        </p:blipFill>
        <p:spPr>
          <a:xfrm>
            <a:off x="8203082" y="3119018"/>
            <a:ext cx="281635" cy="281635"/>
          </a:xfrm>
          <a:prstGeom prst="rect">
            <a:avLst/>
          </a:prstGeom>
        </p:spPr>
      </p:pic>
      <p:sp>
        <p:nvSpPr>
          <p:cNvPr id="14" name="Text 9"/>
          <p:cNvSpPr txBox="1"/>
          <p:nvPr/>
        </p:nvSpPr>
        <p:spPr>
          <a:xfrm>
            <a:off x="8796528" y="2880360"/>
            <a:ext cx="2846527" cy="86868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Què porten els homes de les franges de sota?</a:t>
            </a:r>
            <a:endParaRPr lang="en-US" sz="1600" dirty="0"/>
          </a:p>
        </p:txBody>
      </p:sp>
      <p:sp>
        <p:nvSpPr>
          <p:cNvPr id="15" name="Cercle icona"/>
          <p:cNvSpPr/>
          <p:nvPr/>
        </p:nvSpPr>
        <p:spPr>
          <a:xfrm>
            <a:off x="8092440" y="3968496"/>
            <a:ext cx="502920" cy="502920"/>
          </a:xfrm>
          <a:prstGeom prst="ellipse">
            <a:avLst/>
          </a:prstGeom>
          <a:solidFill>
            <a:srgbClr val="E6F4EA"/>
          </a:solidFill>
          <a:ln/>
        </p:spPr>
      </p:sp>
      <p:pic>
        <p:nvPicPr>
          <p:cNvPr id="16" name="Icona TbPalette" descr="/home/claude/pc/build/1r-eso-civilitzacions/img/ic/TbPalette-g.png">    </p:cNvPr>
          <p:cNvPicPr>
            <a:picLocks noChangeAspect="1"/>
          </p:cNvPicPr>
          <p:nvPr/>
        </p:nvPicPr>
        <p:blipFill>
          <a:blip r:embed="rId4"/>
          <a:stretch>
            <a:fillRect/>
          </a:stretch>
        </p:blipFill>
        <p:spPr>
          <a:xfrm>
            <a:off x="8203082" y="4079138"/>
            <a:ext cx="281635" cy="281635"/>
          </a:xfrm>
          <a:prstGeom prst="rect">
            <a:avLst/>
          </a:prstGeom>
        </p:spPr>
      </p:pic>
      <p:sp>
        <p:nvSpPr>
          <p:cNvPr id="17" name="Text 11"/>
          <p:cNvSpPr txBox="1"/>
          <p:nvPr/>
        </p:nvSpPr>
        <p:spPr>
          <a:xfrm>
            <a:off x="8796528" y="3840480"/>
            <a:ext cx="2846527" cy="868680"/>
          </a:xfrm>
          <a:prstGeom prst="rect">
            <a:avLst/>
          </a:prstGeom>
          <a:noFill/>
          <a:ln/>
        </p:spPr>
        <p:txBody>
          <a:bodyPr wrap="square" lIns="0" tIns="0" rIns="0" bIns="0" rtlCol="0" anchor="ctr"/>
          <a:lstStyle/>
          <a:p>
            <a:pPr indent="0" marL="0">
              <a:buNone/>
            </a:pPr>
            <a:r>
              <a:rPr lang="en-US" sz="1600" dirty="0">
                <a:solidFill>
                  <a:srgbClr val="202124"/>
                </a:solidFill>
                <a:latin typeface="Roboto" pitchFamily="34" charset="0"/>
                <a:ea typeface="Roboto" pitchFamily="34" charset="-122"/>
                <a:cs typeface="Roboto" pitchFamily="34" charset="-120"/>
              </a:rPr>
              <a:t>D'on venia la pedra blava del fons?</a:t>
            </a:r>
            <a:endParaRPr lang="en-US" sz="1600" dirty="0"/>
          </a:p>
        </p:txBody>
      </p:sp>
      <p:sp>
        <p:nvSpPr>
          <p:cNvPr id="18" name="Saps que…?"/>
          <p:cNvSpPr/>
          <p:nvPr/>
        </p:nvSpPr>
        <p:spPr>
          <a:xfrm>
            <a:off x="8092440" y="4937760"/>
            <a:ext cx="3550615" cy="1051560"/>
          </a:xfrm>
          <a:prstGeom prst="roundRect">
            <a:avLst>
              <a:gd name="adj" fmla="val 9565"/>
            </a:avLst>
          </a:prstGeom>
          <a:solidFill>
            <a:srgbClr val="F6F8FB"/>
          </a:solidFill>
          <a:ln/>
        </p:spPr>
      </p:sp>
      <p:sp>
        <p:nvSpPr>
          <p:cNvPr id="19" name="Text 13"/>
          <p:cNvSpPr txBox="1"/>
          <p:nvPr/>
        </p:nvSpPr>
        <p:spPr>
          <a:xfrm>
            <a:off x="8412480" y="5093208"/>
            <a:ext cx="29105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Saps que…?</a:t>
            </a:r>
            <a:endParaRPr lang="en-US" sz="1400" dirty="0"/>
          </a:p>
        </p:txBody>
      </p:sp>
      <p:sp>
        <p:nvSpPr>
          <p:cNvPr id="20" name="Text 14"/>
          <p:cNvSpPr txBox="1"/>
          <p:nvPr/>
        </p:nvSpPr>
        <p:spPr>
          <a:xfrm>
            <a:off x="8412480" y="5440680"/>
            <a:ext cx="2910535" cy="411480"/>
          </a:xfrm>
          <a:prstGeom prst="rect">
            <a:avLst/>
          </a:prstGeom>
          <a:noFill/>
          <a:ln/>
        </p:spPr>
        <p:txBody>
          <a:bodyPr wrap="square" lIns="0" tIns="0" rIns="0" bIns="0" rtlCol="0" anchor="t"/>
          <a:lstStyle/>
          <a:p>
            <a:pPr indent="0" marL="0">
              <a:buNone/>
            </a:pPr>
            <a:r>
              <a:rPr lang="en-US" sz="1550" dirty="0">
                <a:solidFill>
                  <a:srgbClr val="5F6368"/>
                </a:solidFill>
                <a:latin typeface="Roboto" pitchFamily="34" charset="0"/>
                <a:ea typeface="Roboto" pitchFamily="34" charset="-122"/>
                <a:cs typeface="Roboto" pitchFamily="34" charset="-120"/>
              </a:rPr>
              <a:t>No se sap per a què servia.</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codi d'Hammurabi. Les lleis a la pedra</a:t>
            </a:r>
            <a:endParaRPr lang="en-US" sz="2800" dirty="0"/>
          </a:p>
        </p:txBody>
      </p:sp>
      <p:sp>
        <p:nvSpPr>
          <p:cNvPr id="5" name="Fons L'estela del codi"/>
          <p:cNvSpPr/>
          <p:nvPr/>
        </p:nvSpPr>
        <p:spPr>
          <a:xfrm>
            <a:off x="548640" y="1371600"/>
            <a:ext cx="2743200" cy="4069080"/>
          </a:xfrm>
          <a:prstGeom prst="roundRect">
            <a:avLst>
              <a:gd name="adj" fmla="val 3667"/>
            </a:avLst>
          </a:prstGeom>
          <a:solidFill>
            <a:srgbClr val="F6F8FB"/>
          </a:solidFill>
          <a:ln/>
        </p:spPr>
      </p:sp>
      <p:pic>
        <p:nvPicPr>
          <p:cNvPr id="6" name="L'estela del codi" descr="/home/claude/pc/build/1r-eso-civilitzacions/img/hammurabi.jpg">    </p:cNvPr>
          <p:cNvPicPr>
            <a:picLocks noChangeAspect="1"/>
          </p:cNvPicPr>
          <p:nvPr/>
        </p:nvPicPr>
        <p:blipFill>
          <a:blip r:embed="rId1"/>
          <a:stretch>
            <a:fillRect/>
          </a:stretch>
        </p:blipFill>
        <p:spPr>
          <a:xfrm>
            <a:off x="683240" y="1371600"/>
            <a:ext cx="2474001" cy="4069080"/>
          </a:xfrm>
          <a:prstGeom prst="rect">
            <a:avLst/>
          </a:prstGeom>
        </p:spPr>
      </p:pic>
      <p:sp>
        <p:nvSpPr>
          <p:cNvPr id="7" name="Text 4"/>
          <p:cNvSpPr txBox="1"/>
          <p:nvPr/>
        </p:nvSpPr>
        <p:spPr>
          <a:xfrm>
            <a:off x="548640" y="5532120"/>
            <a:ext cx="274320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L'estela del codi. Basalt, 2,25 m. Louvre. Foto: Mbzt, Wikimedia Commons, CC BY 3.0.</a:t>
            </a:r>
            <a:endParaRPr lang="en-US" sz="1000" dirty="0"/>
          </a:p>
        </p:txBody>
      </p:sp>
      <p:sp>
        <p:nvSpPr>
          <p:cNvPr id="8" name="Text 5"/>
          <p:cNvSpPr txBox="1"/>
          <p:nvPr/>
        </p:nvSpPr>
        <p:spPr>
          <a:xfrm>
            <a:off x="3611880" y="1325880"/>
            <a:ext cx="3931920" cy="868680"/>
          </a:xfrm>
          <a:prstGeom prst="rect">
            <a:avLst/>
          </a:prstGeom>
          <a:noFill/>
          <a:ln/>
        </p:spPr>
        <p:txBody>
          <a:bodyPr wrap="square" lIns="0" tIns="0" rIns="0" bIns="0" rtlCol="0" anchor="t"/>
          <a:lstStyle/>
          <a:p>
            <a:pPr indent="0" marL="0">
              <a:buNone/>
            </a:pPr>
            <a:r>
              <a:rPr lang="en-US" sz="4000" b="1" dirty="0">
                <a:solidFill>
                  <a:srgbClr val="188038"/>
                </a:solidFill>
                <a:latin typeface="Roboto" pitchFamily="34" charset="0"/>
                <a:ea typeface="Roboto" pitchFamily="34" charset="-122"/>
                <a:cs typeface="Roboto" pitchFamily="34" charset="-120"/>
              </a:rPr>
              <a:t>282 lleis</a:t>
            </a:r>
            <a:endParaRPr lang="en-US" sz="4000" dirty="0"/>
          </a:p>
        </p:txBody>
      </p:sp>
      <p:sp>
        <p:nvSpPr>
          <p:cNvPr id="9" name="Text 6"/>
          <p:cNvSpPr txBox="1"/>
          <p:nvPr/>
        </p:nvSpPr>
        <p:spPr>
          <a:xfrm>
            <a:off x="3611880" y="2240280"/>
            <a:ext cx="3931920" cy="10972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gravades cap al 1750 aC pel rei Hammurabi de Babilònia en una gran estela de pedra negra.</a:t>
            </a:r>
            <a:endParaRPr lang="en-US" sz="1550" dirty="0"/>
          </a:p>
        </p:txBody>
      </p:sp>
      <p:sp>
        <p:nvSpPr>
          <p:cNvPr id="10" name="Cercle icona"/>
          <p:cNvSpPr/>
          <p:nvPr/>
        </p:nvSpPr>
        <p:spPr>
          <a:xfrm>
            <a:off x="3611880" y="3625596"/>
            <a:ext cx="457200" cy="457200"/>
          </a:xfrm>
          <a:prstGeom prst="ellipse">
            <a:avLst/>
          </a:prstGeom>
          <a:solidFill>
            <a:srgbClr val="E6F4EA"/>
          </a:solidFill>
          <a:ln/>
        </p:spPr>
      </p:sp>
      <p:pic>
        <p:nvPicPr>
          <p:cNvPr id="11" name="Icona TbEye" descr="/home/claude/pc/build/1r-eso-civilitzacions/img/ic/TbEye-g.png">    </p:cNvPr>
          <p:cNvPicPr>
            <a:picLocks noChangeAspect="1"/>
          </p:cNvPicPr>
          <p:nvPr/>
        </p:nvPicPr>
        <p:blipFill>
          <a:blip r:embed="rId2"/>
          <a:stretch>
            <a:fillRect/>
          </a:stretch>
        </p:blipFill>
        <p:spPr>
          <a:xfrm>
            <a:off x="3712464" y="3726180"/>
            <a:ext cx="256032" cy="256032"/>
          </a:xfrm>
          <a:prstGeom prst="rect">
            <a:avLst/>
          </a:prstGeom>
        </p:spPr>
      </p:pic>
      <p:sp>
        <p:nvSpPr>
          <p:cNvPr id="12" name="Text 8"/>
          <p:cNvSpPr txBox="1"/>
          <p:nvPr/>
        </p:nvSpPr>
        <p:spPr>
          <a:xfrm>
            <a:off x="4270248" y="3429000"/>
            <a:ext cx="3273552" cy="960120"/>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Públiques. </a:t>
            </a:r>
            <a:pPr indent="0" marL="0">
              <a:buNone/>
            </a:pPr>
            <a:r>
              <a:rPr lang="en-US" sz="1500" dirty="0">
                <a:solidFill>
                  <a:srgbClr val="202124"/>
                </a:solidFill>
                <a:latin typeface="Roboto" pitchFamily="34" charset="0"/>
                <a:ea typeface="Roboto" pitchFamily="34" charset="-122"/>
                <a:cs typeface="Roboto" pitchFamily="34" charset="-120"/>
              </a:rPr>
              <a:t>Tothom les podia conèixer. Ja no depenien del caprici de cada jutge.</a:t>
            </a:r>
            <a:endParaRPr lang="en-US" sz="1500" dirty="0"/>
          </a:p>
        </p:txBody>
      </p:sp>
      <p:sp>
        <p:nvSpPr>
          <p:cNvPr id="13" name="Cercle icona"/>
          <p:cNvSpPr/>
          <p:nvPr/>
        </p:nvSpPr>
        <p:spPr>
          <a:xfrm>
            <a:off x="3611880" y="4677156"/>
            <a:ext cx="457200" cy="457200"/>
          </a:xfrm>
          <a:prstGeom prst="ellipse">
            <a:avLst/>
          </a:prstGeom>
          <a:solidFill>
            <a:srgbClr val="E6F4EA"/>
          </a:solidFill>
          <a:ln/>
        </p:spPr>
      </p:sp>
      <p:pic>
        <p:nvPicPr>
          <p:cNvPr id="14" name="Icona TbUsers" descr="/home/claude/pc/build/1r-eso-civilitzacions/img/ic/TbUsers-g.png">    </p:cNvPr>
          <p:cNvPicPr>
            <a:picLocks noChangeAspect="1"/>
          </p:cNvPicPr>
          <p:nvPr/>
        </p:nvPicPr>
        <p:blipFill>
          <a:blip r:embed="rId3"/>
          <a:stretch>
            <a:fillRect/>
          </a:stretch>
        </p:blipFill>
        <p:spPr>
          <a:xfrm>
            <a:off x="3712464" y="4777740"/>
            <a:ext cx="256032" cy="256032"/>
          </a:xfrm>
          <a:prstGeom prst="rect">
            <a:avLst/>
          </a:prstGeom>
        </p:spPr>
      </p:pic>
      <p:sp>
        <p:nvSpPr>
          <p:cNvPr id="15" name="Text 10"/>
          <p:cNvSpPr txBox="1"/>
          <p:nvPr/>
        </p:nvSpPr>
        <p:spPr>
          <a:xfrm>
            <a:off x="4270248" y="4480560"/>
            <a:ext cx="3273552" cy="960120"/>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Però no iguals per a tothom. </a:t>
            </a:r>
            <a:pPr indent="0" marL="0">
              <a:buNone/>
            </a:pPr>
            <a:r>
              <a:rPr lang="en-US" sz="1500" dirty="0">
                <a:solidFill>
                  <a:srgbClr val="202124"/>
                </a:solidFill>
                <a:latin typeface="Roboto" pitchFamily="34" charset="0"/>
                <a:ea typeface="Roboto" pitchFamily="34" charset="-122"/>
                <a:cs typeface="Roboto" pitchFamily="34" charset="-120"/>
              </a:rPr>
              <a:t>El càstig depenia de si eren senyors, plebeus o esclaus.</a:t>
            </a:r>
            <a:endParaRPr lang="en-US" sz="1500" dirty="0"/>
          </a:p>
        </p:txBody>
      </p:sp>
      <p:sp>
        <p:nvSpPr>
          <p:cNvPr id="16" name="Paraula clau · Llei del talió"/>
          <p:cNvSpPr/>
          <p:nvPr/>
        </p:nvSpPr>
        <p:spPr>
          <a:xfrm>
            <a:off x="7863840" y="1371600"/>
            <a:ext cx="3779215" cy="2011680"/>
          </a:xfrm>
          <a:prstGeom prst="roundRect">
            <a:avLst>
              <a:gd name="adj" fmla="val 5000"/>
            </a:avLst>
          </a:prstGeom>
          <a:solidFill>
            <a:srgbClr val="E6F4EA"/>
          </a:solidFill>
          <a:ln/>
        </p:spPr>
      </p:sp>
      <p:sp>
        <p:nvSpPr>
          <p:cNvPr id="17" name="Text 12"/>
          <p:cNvSpPr txBox="1"/>
          <p:nvPr/>
        </p:nvSpPr>
        <p:spPr>
          <a:xfrm>
            <a:off x="8183880" y="1527048"/>
            <a:ext cx="31391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Llei del talió</a:t>
            </a:r>
            <a:endParaRPr lang="en-US" sz="1400" dirty="0"/>
          </a:p>
        </p:txBody>
      </p:sp>
      <p:sp>
        <p:nvSpPr>
          <p:cNvPr id="18" name="Text 13"/>
          <p:cNvSpPr txBox="1"/>
          <p:nvPr/>
        </p:nvSpPr>
        <p:spPr>
          <a:xfrm>
            <a:off x="8183880" y="1874520"/>
            <a:ext cx="3139135" cy="137160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Principi legal segons el qual el càstig ha de ser equivalent al dany causat («ull per ull»).</a:t>
            </a:r>
            <a:endParaRPr lang="en-US" sz="1600" dirty="0"/>
          </a:p>
        </p:txBody>
      </p:sp>
      <p:sp>
        <p:nvSpPr>
          <p:cNvPr id="19" name="El més complet"/>
          <p:cNvSpPr/>
          <p:nvPr/>
        </p:nvSpPr>
        <p:spPr>
          <a:xfrm>
            <a:off x="7863840" y="3566160"/>
            <a:ext cx="3779215" cy="2423160"/>
          </a:xfrm>
          <a:prstGeom prst="roundRect">
            <a:avLst>
              <a:gd name="adj" fmla="val 4151"/>
            </a:avLst>
          </a:prstGeom>
          <a:solidFill>
            <a:srgbClr val="F6F8FB"/>
          </a:solidFill>
          <a:ln/>
        </p:spPr>
      </p:sp>
      <p:sp>
        <p:nvSpPr>
          <p:cNvPr id="20" name="Text 15"/>
          <p:cNvSpPr txBox="1"/>
          <p:nvPr/>
        </p:nvSpPr>
        <p:spPr>
          <a:xfrm>
            <a:off x="8183880" y="3721608"/>
            <a:ext cx="31391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El més complet</a:t>
            </a:r>
            <a:endParaRPr lang="en-US" sz="1400" dirty="0"/>
          </a:p>
        </p:txBody>
      </p:sp>
      <p:sp>
        <p:nvSpPr>
          <p:cNvPr id="21" name="Text 16"/>
          <p:cNvSpPr txBox="1"/>
          <p:nvPr/>
        </p:nvSpPr>
        <p:spPr>
          <a:xfrm>
            <a:off x="8183880" y="4069080"/>
            <a:ext cx="3139135" cy="178308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És el recull de lleis més complet i més ben conservat de l'antiga Mesopotàmia. N'hi havia d'anteriors, com el d'Ur-Nammu, però només se'n conserven fragments.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Ull per ull?</a:t>
            </a:r>
            <a:endParaRPr lang="en-US" sz="2800" dirty="0"/>
          </a:p>
        </p:txBody>
      </p:sp>
      <p:sp>
        <p:nvSpPr>
          <p:cNvPr id="5" name="Font directa · Codi d'Hammurabi"/>
          <p:cNvSpPr/>
          <p:nvPr/>
        </p:nvSpPr>
        <p:spPr>
          <a:xfrm>
            <a:off x="548640" y="1371600"/>
            <a:ext cx="5760720" cy="4617720"/>
          </a:xfrm>
          <a:prstGeom prst="roundRect">
            <a:avLst>
              <a:gd name="adj" fmla="val 2178"/>
            </a:avLst>
          </a:prstGeom>
          <a:solidFill>
            <a:srgbClr val="F6F8FB"/>
          </a:solidFill>
          <a:ln/>
        </p:spPr>
      </p:sp>
      <p:sp>
        <p:nvSpPr>
          <p:cNvPr id="6" name="Text 4"/>
          <p:cNvSpPr txBox="1"/>
          <p:nvPr/>
        </p:nvSpPr>
        <p:spPr>
          <a:xfrm>
            <a:off x="868680" y="1536192"/>
            <a:ext cx="5120640" cy="320040"/>
          </a:xfrm>
          <a:prstGeom prst="rect">
            <a:avLst/>
          </a:prstGeom>
          <a:noFill/>
          <a:ln/>
        </p:spPr>
        <p:txBody>
          <a:bodyPr wrap="square" lIns="0" tIns="0" rIns="0" bIns="0" rtlCol="0" anchor="t"/>
          <a:lstStyle/>
          <a:p>
            <a:pPr indent="0" marL="0">
              <a:buNone/>
            </a:pPr>
            <a:r>
              <a:rPr lang="en-US" sz="1350" b="1" dirty="0">
                <a:solidFill>
                  <a:srgbClr val="202124"/>
                </a:solidFill>
                <a:latin typeface="Roboto" pitchFamily="34" charset="0"/>
                <a:ea typeface="Roboto" pitchFamily="34" charset="-122"/>
                <a:cs typeface="Roboto" pitchFamily="34" charset="-120"/>
              </a:rPr>
              <a:t>Font directa · El codi d'Hammurabi (cap al 1750 aC)</a:t>
            </a:r>
            <a:endParaRPr lang="en-US" sz="1350" dirty="0"/>
          </a:p>
        </p:txBody>
      </p:sp>
      <p:sp>
        <p:nvSpPr>
          <p:cNvPr id="7" name="Text 5"/>
          <p:cNvSpPr txBox="1"/>
          <p:nvPr/>
        </p:nvSpPr>
        <p:spPr>
          <a:xfrm>
            <a:off x="868680" y="1920240"/>
            <a:ext cx="5120640" cy="3200400"/>
          </a:xfrm>
          <a:prstGeom prst="rect">
            <a:avLst/>
          </a:prstGeom>
          <a:noFill/>
          <a:ln/>
        </p:spPr>
        <p:txBody>
          <a:bodyPr wrap="square" lIns="0" tIns="0" rIns="0" bIns="0" rtlCol="0" anchor="t"/>
          <a:lstStyle/>
          <a:p>
            <a:pPr indent="0" marL="0">
              <a:buNone/>
            </a:pPr>
            <a:r>
              <a:rPr lang="en-US" sz="1550" i="1" dirty="0">
                <a:solidFill>
                  <a:srgbClr val="202124"/>
                </a:solidFill>
                <a:latin typeface="Roboto" pitchFamily="34" charset="0"/>
                <a:ea typeface="Roboto" pitchFamily="34" charset="-122"/>
                <a:cs typeface="Roboto" pitchFamily="34" charset="-120"/>
              </a:rPr>
              <a:t>«Art. 196. Si un senyor ha rebentat l'ull d'un altre senyor, se li rebentarà el seu. Art. 197. Si un senyor ha trencat l'os d'un altre senyor, se li trencarà el seu os. Art. 198. Si ha rebentat l'ull d'un plebeu o li ha trencat l'os, pagarà una mina de plata. Art. 199. Si ha rebentat l'ull de l'esclau d'un particular o ha trencat l'os d'un esclau d'un particular, pagarà la meitat del seu preu.»</a:t>
            </a:r>
            <a:endParaRPr lang="en-US" sz="1550" dirty="0"/>
          </a:p>
        </p:txBody>
      </p:sp>
      <p:sp>
        <p:nvSpPr>
          <p:cNvPr id="8" name="Text 6"/>
          <p:cNvSpPr txBox="1"/>
          <p:nvPr/>
        </p:nvSpPr>
        <p:spPr>
          <a:xfrm>
            <a:off x="868680" y="5257800"/>
            <a:ext cx="5120640" cy="594360"/>
          </a:xfrm>
          <a:prstGeom prst="rect">
            <a:avLst/>
          </a:prstGeom>
          <a:noFill/>
          <a:ln/>
        </p:spPr>
        <p:txBody>
          <a:bodyPr wrap="square" lIns="0" tIns="0" rIns="0" bIns="0" rtlCol="0" anchor="b"/>
          <a:lstStyle/>
          <a:p>
            <a:pPr indent="0" marL="0">
              <a:buNone/>
            </a:pPr>
            <a:r>
              <a:rPr lang="en-US" sz="1200" dirty="0">
                <a:solidFill>
                  <a:srgbClr val="5F6368"/>
                </a:solidFill>
                <a:latin typeface="Roboto" pitchFamily="34" charset="0"/>
                <a:ea typeface="Roboto" pitchFamily="34" charset="-122"/>
                <a:cs typeface="Roboto" pitchFamily="34" charset="-120"/>
              </a:rPr>
              <a:t>Traducció de l'XTEC, completada a l'article 198 amb la de L. W. King (Universitat de Yale).</a:t>
            </a:r>
            <a:endParaRPr lang="en-US" sz="1200" dirty="0"/>
          </a:p>
        </p:txBody>
      </p:sp>
      <p:sp>
        <p:nvSpPr>
          <p:cNvPr id="9" name="Text 7"/>
          <p:cNvSpPr txBox="1"/>
          <p:nvPr/>
        </p:nvSpPr>
        <p:spPr>
          <a:xfrm>
            <a:off x="6583680" y="1371600"/>
            <a:ext cx="5059375" cy="4114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Qui és la víctima? Quin és el càstig?</a:t>
            </a:r>
            <a:endParaRPr lang="en-US" sz="1700" dirty="0"/>
          </a:p>
        </p:txBody>
      </p:sp>
      <p:sp>
        <p:nvSpPr>
          <p:cNvPr id="10" name="Un senyor"/>
          <p:cNvSpPr/>
          <p:nvPr/>
        </p:nvSpPr>
        <p:spPr>
          <a:xfrm>
            <a:off x="6583680" y="1920240"/>
            <a:ext cx="5059375" cy="1207008"/>
          </a:xfrm>
          <a:prstGeom prst="roundRect">
            <a:avLst>
              <a:gd name="adj" fmla="val 8333"/>
            </a:avLst>
          </a:prstGeom>
          <a:solidFill>
            <a:srgbClr val="188038"/>
          </a:solidFill>
          <a:ln/>
        </p:spPr>
      </p:sp>
      <p:sp>
        <p:nvSpPr>
          <p:cNvPr id="11" name="Persona"/>
          <p:cNvSpPr/>
          <p:nvPr/>
        </p:nvSpPr>
        <p:spPr>
          <a:xfrm>
            <a:off x="6972300" y="2121408"/>
            <a:ext cx="274320" cy="274320"/>
          </a:xfrm>
          <a:prstGeom prst="ellipse">
            <a:avLst/>
          </a:prstGeom>
          <a:solidFill>
            <a:srgbClr val="FFFFFF"/>
          </a:solidFill>
          <a:ln/>
        </p:spPr>
      </p:sp>
      <p:sp>
        <p:nvSpPr>
          <p:cNvPr id="12" name="Persona"/>
          <p:cNvSpPr/>
          <p:nvPr/>
        </p:nvSpPr>
        <p:spPr>
          <a:xfrm>
            <a:off x="6869430" y="2436876"/>
            <a:ext cx="480060" cy="480060"/>
          </a:xfrm>
          <a:prstGeom prst="roundRect">
            <a:avLst>
              <a:gd name="adj" fmla="val 35714"/>
            </a:avLst>
          </a:prstGeom>
          <a:solidFill>
            <a:srgbClr val="FFFFFF"/>
          </a:solidFill>
          <a:ln/>
        </p:spPr>
      </p:sp>
      <p:sp>
        <p:nvSpPr>
          <p:cNvPr id="13" name="Text 11"/>
          <p:cNvSpPr txBox="1"/>
          <p:nvPr/>
        </p:nvSpPr>
        <p:spPr>
          <a:xfrm>
            <a:off x="7635240" y="1920240"/>
            <a:ext cx="3824935" cy="1207008"/>
          </a:xfrm>
          <a:prstGeom prst="rect">
            <a:avLst/>
          </a:prstGeom>
          <a:noFill/>
          <a:ln/>
        </p:spPr>
        <p:txBody>
          <a:bodyPr wrap="square" lIns="0" tIns="0" rIns="0" bIns="0" rtlCol="0" anchor="ctr"/>
          <a:lstStyle/>
          <a:p>
            <a:pPr indent="0" marL="0">
              <a:buNone/>
            </a:pPr>
            <a:r>
              <a:rPr lang="en-US" sz="1700" b="1" dirty="0">
                <a:solidFill>
                  <a:srgbClr val="FFFFFF"/>
                </a:solidFill>
                <a:latin typeface="Roboto" pitchFamily="34" charset="0"/>
                <a:ea typeface="Roboto" pitchFamily="34" charset="-122"/>
                <a:cs typeface="Roboto" pitchFamily="34" charset="-120"/>
              </a:rPr>
              <a:t>Un senyor</a:t>
            </a:r>
            <a:endParaRPr lang="en-US" sz="1700" dirty="0"/>
          </a:p>
          <a:p>
            <a:pPr indent="0" marL="0">
              <a:buNone/>
            </a:pPr>
            <a:r>
              <a:rPr lang="en-US" sz="1450" dirty="0">
                <a:solidFill>
                  <a:srgbClr val="FFFFFF"/>
                </a:solidFill>
                <a:latin typeface="Roboto" pitchFamily="34" charset="0"/>
                <a:ea typeface="Roboto" pitchFamily="34" charset="-122"/>
                <a:cs typeface="Roboto" pitchFamily="34" charset="-120"/>
              </a:rPr>
              <a:t>Se li fa el mateix al culpable. Ull per ull, os per os.</a:t>
            </a:r>
            <a:endParaRPr lang="en-US" sz="1700" dirty="0"/>
          </a:p>
        </p:txBody>
      </p:sp>
      <p:sp>
        <p:nvSpPr>
          <p:cNvPr id="14" name="Un plebeu"/>
          <p:cNvSpPr/>
          <p:nvPr/>
        </p:nvSpPr>
        <p:spPr>
          <a:xfrm>
            <a:off x="6583680" y="3291840"/>
            <a:ext cx="5059375" cy="1207008"/>
          </a:xfrm>
          <a:prstGeom prst="roundRect">
            <a:avLst>
              <a:gd name="adj" fmla="val 8333"/>
            </a:avLst>
          </a:prstGeom>
          <a:solidFill>
            <a:srgbClr val="E6F4EA"/>
          </a:solidFill>
          <a:ln/>
        </p:spPr>
      </p:sp>
      <p:sp>
        <p:nvSpPr>
          <p:cNvPr id="15" name="Persona"/>
          <p:cNvSpPr/>
          <p:nvPr/>
        </p:nvSpPr>
        <p:spPr>
          <a:xfrm>
            <a:off x="6972300" y="3493008"/>
            <a:ext cx="274320" cy="274320"/>
          </a:xfrm>
          <a:prstGeom prst="ellipse">
            <a:avLst/>
          </a:prstGeom>
          <a:solidFill>
            <a:srgbClr val="188038"/>
          </a:solidFill>
          <a:ln/>
        </p:spPr>
      </p:sp>
      <p:sp>
        <p:nvSpPr>
          <p:cNvPr id="16" name="Persona"/>
          <p:cNvSpPr/>
          <p:nvPr/>
        </p:nvSpPr>
        <p:spPr>
          <a:xfrm>
            <a:off x="6869430" y="3808476"/>
            <a:ext cx="480060" cy="480060"/>
          </a:xfrm>
          <a:prstGeom prst="roundRect">
            <a:avLst>
              <a:gd name="adj" fmla="val 35714"/>
            </a:avLst>
          </a:prstGeom>
          <a:solidFill>
            <a:srgbClr val="188038"/>
          </a:solidFill>
          <a:ln/>
        </p:spPr>
      </p:sp>
      <p:sp>
        <p:nvSpPr>
          <p:cNvPr id="17" name="Text 15"/>
          <p:cNvSpPr txBox="1"/>
          <p:nvPr/>
        </p:nvSpPr>
        <p:spPr>
          <a:xfrm>
            <a:off x="7635240" y="3291840"/>
            <a:ext cx="3824935" cy="1207008"/>
          </a:xfrm>
          <a:prstGeom prst="rect">
            <a:avLst/>
          </a:prstGeom>
          <a:noFill/>
          <a:ln/>
        </p:spPr>
        <p:txBody>
          <a:bodyPr wrap="square" lIns="0" tIns="0" rIns="0" bIns="0" rtlCol="0" anchor="ctr"/>
          <a:lstStyle/>
          <a:p>
            <a:pPr indent="0" marL="0">
              <a:buNone/>
            </a:pPr>
            <a:r>
              <a:rPr lang="en-US" sz="1700" b="1" dirty="0">
                <a:solidFill>
                  <a:srgbClr val="202124"/>
                </a:solidFill>
                <a:latin typeface="Roboto" pitchFamily="34" charset="0"/>
                <a:ea typeface="Roboto" pitchFamily="34" charset="-122"/>
                <a:cs typeface="Roboto" pitchFamily="34" charset="-120"/>
              </a:rPr>
              <a:t>Un plebeu</a:t>
            </a:r>
            <a:endParaRPr lang="en-US" sz="1700" dirty="0"/>
          </a:p>
          <a:p>
            <a:pPr indent="0" marL="0">
              <a:buNone/>
            </a:pPr>
            <a:r>
              <a:rPr lang="en-US" sz="1450" dirty="0">
                <a:solidFill>
                  <a:srgbClr val="202124"/>
                </a:solidFill>
                <a:latin typeface="Roboto" pitchFamily="34" charset="0"/>
                <a:ea typeface="Roboto" pitchFamily="34" charset="-122"/>
                <a:cs typeface="Roboto" pitchFamily="34" charset="-120"/>
              </a:rPr>
              <a:t>El culpable paga una mina de plata (uns 500 grams).</a:t>
            </a:r>
            <a:endParaRPr lang="en-US" sz="1700" dirty="0"/>
          </a:p>
        </p:txBody>
      </p:sp>
      <p:sp>
        <p:nvSpPr>
          <p:cNvPr id="18" name="L'esclau d'un particular"/>
          <p:cNvSpPr/>
          <p:nvPr/>
        </p:nvSpPr>
        <p:spPr>
          <a:xfrm>
            <a:off x="6583680" y="4663440"/>
            <a:ext cx="5059375" cy="1207008"/>
          </a:xfrm>
          <a:prstGeom prst="roundRect">
            <a:avLst>
              <a:gd name="adj" fmla="val 8333"/>
            </a:avLst>
          </a:prstGeom>
          <a:solidFill>
            <a:srgbClr val="E8EAED"/>
          </a:solidFill>
          <a:ln/>
        </p:spPr>
      </p:sp>
      <p:sp>
        <p:nvSpPr>
          <p:cNvPr id="19" name="Persona"/>
          <p:cNvSpPr/>
          <p:nvPr/>
        </p:nvSpPr>
        <p:spPr>
          <a:xfrm>
            <a:off x="6972300" y="4864608"/>
            <a:ext cx="274320" cy="274320"/>
          </a:xfrm>
          <a:prstGeom prst="ellipse">
            <a:avLst/>
          </a:prstGeom>
          <a:solidFill>
            <a:srgbClr val="80868B"/>
          </a:solidFill>
          <a:ln/>
        </p:spPr>
      </p:sp>
      <p:sp>
        <p:nvSpPr>
          <p:cNvPr id="20" name="Persona"/>
          <p:cNvSpPr/>
          <p:nvPr/>
        </p:nvSpPr>
        <p:spPr>
          <a:xfrm>
            <a:off x="6869430" y="5180076"/>
            <a:ext cx="480060" cy="480060"/>
          </a:xfrm>
          <a:prstGeom prst="roundRect">
            <a:avLst>
              <a:gd name="adj" fmla="val 35714"/>
            </a:avLst>
          </a:prstGeom>
          <a:solidFill>
            <a:srgbClr val="80868B"/>
          </a:solidFill>
          <a:ln/>
        </p:spPr>
      </p:sp>
      <p:sp>
        <p:nvSpPr>
          <p:cNvPr id="21" name="Text 19"/>
          <p:cNvSpPr txBox="1"/>
          <p:nvPr/>
        </p:nvSpPr>
        <p:spPr>
          <a:xfrm>
            <a:off x="7635240" y="4663440"/>
            <a:ext cx="3824935" cy="1207008"/>
          </a:xfrm>
          <a:prstGeom prst="rect">
            <a:avLst/>
          </a:prstGeom>
          <a:noFill/>
          <a:ln/>
        </p:spPr>
        <p:txBody>
          <a:bodyPr wrap="square" lIns="0" tIns="0" rIns="0" bIns="0" rtlCol="0" anchor="ctr"/>
          <a:lstStyle/>
          <a:p>
            <a:pPr indent="0" marL="0">
              <a:buNone/>
            </a:pPr>
            <a:r>
              <a:rPr lang="en-US" sz="1700" b="1" dirty="0">
                <a:solidFill>
                  <a:srgbClr val="202124"/>
                </a:solidFill>
                <a:latin typeface="Roboto" pitchFamily="34" charset="0"/>
                <a:ea typeface="Roboto" pitchFamily="34" charset="-122"/>
                <a:cs typeface="Roboto" pitchFamily="34" charset="-120"/>
              </a:rPr>
              <a:t>L'esclau d'un particular</a:t>
            </a:r>
            <a:endParaRPr lang="en-US" sz="1700" dirty="0"/>
          </a:p>
          <a:p>
            <a:pPr indent="0" marL="0">
              <a:buNone/>
            </a:pPr>
            <a:r>
              <a:rPr lang="en-US" sz="1450" dirty="0">
                <a:solidFill>
                  <a:srgbClr val="202124"/>
                </a:solidFill>
                <a:latin typeface="Roboto" pitchFamily="34" charset="0"/>
                <a:ea typeface="Roboto" pitchFamily="34" charset="-122"/>
                <a:cs typeface="Roboto" pitchFamily="34" charset="-120"/>
              </a:rPr>
              <a:t>El culpable paga a l'amo la meitat del preu de l'esclau.</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Déus, temples i el més enllà</a:t>
            </a:r>
            <a:endParaRPr lang="en-US" sz="2800" dirty="0"/>
          </a:p>
        </p:txBody>
      </p:sp>
      <p:sp>
        <p:nvSpPr>
          <p:cNvPr id="5" name="Text 3"/>
          <p:cNvSpPr txBox="1"/>
          <p:nvPr/>
        </p:nvSpPr>
        <p:spPr>
          <a:xfrm>
            <a:off x="548640" y="1371600"/>
            <a:ext cx="11094415" cy="77724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Els mesopotàmics eren politeistes. Creien en molts déus amb forma humana, que menjaven, bevien i s'enfadaven, però eren immortals.</a:t>
            </a:r>
            <a:endParaRPr lang="en-US" sz="1650" dirty="0"/>
          </a:p>
        </p:txBody>
      </p:sp>
      <p:sp>
        <p:nvSpPr>
          <p:cNvPr id="6" name="Déu An"/>
          <p:cNvSpPr/>
          <p:nvPr/>
        </p:nvSpPr>
        <p:spPr>
          <a:xfrm>
            <a:off x="548640" y="2240280"/>
            <a:ext cx="3545738" cy="1024128"/>
          </a:xfrm>
          <a:prstGeom prst="roundRect">
            <a:avLst>
              <a:gd name="adj" fmla="val 9821"/>
            </a:avLst>
          </a:prstGeom>
          <a:solidFill>
            <a:srgbClr val="FFFFFF"/>
          </a:solidFill>
          <a:ln w="12700">
            <a:solidFill>
              <a:srgbClr val="DADCE0"/>
            </a:solidFill>
            <a:prstDash val="solid"/>
          </a:ln>
        </p:spPr>
      </p:sp>
      <p:sp>
        <p:nvSpPr>
          <p:cNvPr id="7" name="Cercle icona"/>
          <p:cNvSpPr/>
          <p:nvPr/>
        </p:nvSpPr>
        <p:spPr>
          <a:xfrm>
            <a:off x="731520" y="2468880"/>
            <a:ext cx="566928" cy="566928"/>
          </a:xfrm>
          <a:prstGeom prst="ellipse">
            <a:avLst/>
          </a:prstGeom>
          <a:solidFill>
            <a:srgbClr val="E6F4EA"/>
          </a:solidFill>
          <a:ln/>
        </p:spPr>
      </p:sp>
      <p:pic>
        <p:nvPicPr>
          <p:cNvPr id="8" name="Icona TbCloud" descr="/home/claude/pc/build/1r-eso-civilitzacions/img/ic/TbCloud-g.png">    </p:cNvPr>
          <p:cNvPicPr>
            <a:picLocks noChangeAspect="1"/>
          </p:cNvPicPr>
          <p:nvPr/>
        </p:nvPicPr>
        <p:blipFill>
          <a:blip r:embed="rId1"/>
          <a:stretch>
            <a:fillRect/>
          </a:stretch>
        </p:blipFill>
        <p:spPr>
          <a:xfrm>
            <a:off x="856244" y="2593604"/>
            <a:ext cx="317480" cy="317480"/>
          </a:xfrm>
          <a:prstGeom prst="rect">
            <a:avLst/>
          </a:prstGeom>
        </p:spPr>
      </p:pic>
      <p:sp>
        <p:nvSpPr>
          <p:cNvPr id="9" name="Text 6"/>
          <p:cNvSpPr txBox="1"/>
          <p:nvPr/>
        </p:nvSpPr>
        <p:spPr>
          <a:xfrm>
            <a:off x="1463040" y="2240280"/>
            <a:ext cx="2494178" cy="1024128"/>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An</a:t>
            </a:r>
            <a:endParaRPr lang="en-US" sz="1700" dirty="0"/>
          </a:p>
          <a:p>
            <a:pPr indent="0" marL="0">
              <a:buNone/>
            </a:pPr>
            <a:r>
              <a:rPr lang="en-US" sz="1450" dirty="0">
                <a:solidFill>
                  <a:srgbClr val="202124"/>
                </a:solidFill>
                <a:latin typeface="Roboto" pitchFamily="34" charset="0"/>
                <a:ea typeface="Roboto" pitchFamily="34" charset="-122"/>
                <a:cs typeface="Roboto" pitchFamily="34" charset="-120"/>
              </a:rPr>
              <a:t>El déu del cel</a:t>
            </a:r>
            <a:endParaRPr lang="en-US" sz="1700" dirty="0"/>
          </a:p>
        </p:txBody>
      </p:sp>
      <p:sp>
        <p:nvSpPr>
          <p:cNvPr id="10" name="Déu Enlil"/>
          <p:cNvSpPr/>
          <p:nvPr/>
        </p:nvSpPr>
        <p:spPr>
          <a:xfrm>
            <a:off x="4322978" y="2240280"/>
            <a:ext cx="3545738" cy="1024128"/>
          </a:xfrm>
          <a:prstGeom prst="roundRect">
            <a:avLst>
              <a:gd name="adj" fmla="val 9821"/>
            </a:avLst>
          </a:prstGeom>
          <a:solidFill>
            <a:srgbClr val="FFFFFF"/>
          </a:solidFill>
          <a:ln w="12700">
            <a:solidFill>
              <a:srgbClr val="DADCE0"/>
            </a:solidFill>
            <a:prstDash val="solid"/>
          </a:ln>
        </p:spPr>
      </p:sp>
      <p:sp>
        <p:nvSpPr>
          <p:cNvPr id="11" name="Cercle icona"/>
          <p:cNvSpPr/>
          <p:nvPr/>
        </p:nvSpPr>
        <p:spPr>
          <a:xfrm>
            <a:off x="4505858" y="2468880"/>
            <a:ext cx="566928" cy="566928"/>
          </a:xfrm>
          <a:prstGeom prst="ellipse">
            <a:avLst/>
          </a:prstGeom>
          <a:solidFill>
            <a:srgbClr val="E6F4EA"/>
          </a:solidFill>
          <a:ln/>
        </p:spPr>
      </p:sp>
      <p:pic>
        <p:nvPicPr>
          <p:cNvPr id="12" name="Icona TbWind" descr="/home/claude/pc/build/1r-eso-civilitzacions/img/ic/TbWind-g.png">    </p:cNvPr>
          <p:cNvPicPr>
            <a:picLocks noChangeAspect="1"/>
          </p:cNvPicPr>
          <p:nvPr/>
        </p:nvPicPr>
        <p:blipFill>
          <a:blip r:embed="rId2"/>
          <a:stretch>
            <a:fillRect/>
          </a:stretch>
        </p:blipFill>
        <p:spPr>
          <a:xfrm>
            <a:off x="4630583" y="2593604"/>
            <a:ext cx="317480" cy="317480"/>
          </a:xfrm>
          <a:prstGeom prst="rect">
            <a:avLst/>
          </a:prstGeom>
        </p:spPr>
      </p:pic>
      <p:sp>
        <p:nvSpPr>
          <p:cNvPr id="13" name="Text 9"/>
          <p:cNvSpPr txBox="1"/>
          <p:nvPr/>
        </p:nvSpPr>
        <p:spPr>
          <a:xfrm>
            <a:off x="5237378" y="2240280"/>
            <a:ext cx="2494178" cy="1024128"/>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Enlil</a:t>
            </a:r>
            <a:endParaRPr lang="en-US" sz="1700" dirty="0"/>
          </a:p>
          <a:p>
            <a:pPr indent="0" marL="0">
              <a:buNone/>
            </a:pPr>
            <a:r>
              <a:rPr lang="en-US" sz="1450" dirty="0">
                <a:solidFill>
                  <a:srgbClr val="202124"/>
                </a:solidFill>
                <a:latin typeface="Roboto" pitchFamily="34" charset="0"/>
                <a:ea typeface="Roboto" pitchFamily="34" charset="-122"/>
                <a:cs typeface="Roboto" pitchFamily="34" charset="-120"/>
              </a:rPr>
              <a:t>L'aire i el vent. El rei dels déus</a:t>
            </a:r>
            <a:endParaRPr lang="en-US" sz="1700" dirty="0"/>
          </a:p>
        </p:txBody>
      </p:sp>
      <p:sp>
        <p:nvSpPr>
          <p:cNvPr id="14" name="Déu Enki"/>
          <p:cNvSpPr/>
          <p:nvPr/>
        </p:nvSpPr>
        <p:spPr>
          <a:xfrm>
            <a:off x="8097317" y="2240280"/>
            <a:ext cx="3545738" cy="1024128"/>
          </a:xfrm>
          <a:prstGeom prst="roundRect">
            <a:avLst>
              <a:gd name="adj" fmla="val 9821"/>
            </a:avLst>
          </a:prstGeom>
          <a:solidFill>
            <a:srgbClr val="FFFFFF"/>
          </a:solidFill>
          <a:ln w="12700">
            <a:solidFill>
              <a:srgbClr val="DADCE0"/>
            </a:solidFill>
            <a:prstDash val="solid"/>
          </a:ln>
        </p:spPr>
      </p:sp>
      <p:sp>
        <p:nvSpPr>
          <p:cNvPr id="15" name="Cercle icona"/>
          <p:cNvSpPr/>
          <p:nvPr/>
        </p:nvSpPr>
        <p:spPr>
          <a:xfrm>
            <a:off x="8280197" y="2468880"/>
            <a:ext cx="566928" cy="566928"/>
          </a:xfrm>
          <a:prstGeom prst="ellipse">
            <a:avLst/>
          </a:prstGeom>
          <a:solidFill>
            <a:srgbClr val="E6F4EA"/>
          </a:solidFill>
          <a:ln/>
        </p:spPr>
      </p:sp>
      <p:pic>
        <p:nvPicPr>
          <p:cNvPr id="16" name="Icona TbDroplet" descr="/home/claude/pc/build/1r-eso-civilitzacions/img/ic/TbDroplet-g.png">    </p:cNvPr>
          <p:cNvPicPr>
            <a:picLocks noChangeAspect="1"/>
          </p:cNvPicPr>
          <p:nvPr/>
        </p:nvPicPr>
        <p:blipFill>
          <a:blip r:embed="rId3"/>
          <a:stretch>
            <a:fillRect/>
          </a:stretch>
        </p:blipFill>
        <p:spPr>
          <a:xfrm>
            <a:off x="8404921" y="2593604"/>
            <a:ext cx="317480" cy="317480"/>
          </a:xfrm>
          <a:prstGeom prst="rect">
            <a:avLst/>
          </a:prstGeom>
        </p:spPr>
      </p:pic>
      <p:sp>
        <p:nvSpPr>
          <p:cNvPr id="17" name="Text 12"/>
          <p:cNvSpPr txBox="1"/>
          <p:nvPr/>
        </p:nvSpPr>
        <p:spPr>
          <a:xfrm>
            <a:off x="9011717" y="2240280"/>
            <a:ext cx="2494178" cy="1024128"/>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Enki</a:t>
            </a:r>
            <a:endParaRPr lang="en-US" sz="1700" dirty="0"/>
          </a:p>
          <a:p>
            <a:pPr indent="0" marL="0">
              <a:buNone/>
            </a:pPr>
            <a:r>
              <a:rPr lang="en-US" sz="1450" dirty="0">
                <a:solidFill>
                  <a:srgbClr val="202124"/>
                </a:solidFill>
                <a:latin typeface="Roboto" pitchFamily="34" charset="0"/>
                <a:ea typeface="Roboto" pitchFamily="34" charset="-122"/>
                <a:cs typeface="Roboto" pitchFamily="34" charset="-120"/>
              </a:rPr>
              <a:t>L'aigua dolça i la saviesa</a:t>
            </a:r>
            <a:endParaRPr lang="en-US" sz="1700" dirty="0"/>
          </a:p>
        </p:txBody>
      </p:sp>
      <p:sp>
        <p:nvSpPr>
          <p:cNvPr id="18" name="Déu Inanna (Ixtar)"/>
          <p:cNvSpPr/>
          <p:nvPr/>
        </p:nvSpPr>
        <p:spPr>
          <a:xfrm>
            <a:off x="548640" y="3429000"/>
            <a:ext cx="3545738" cy="1024128"/>
          </a:xfrm>
          <a:prstGeom prst="roundRect">
            <a:avLst>
              <a:gd name="adj" fmla="val 9821"/>
            </a:avLst>
          </a:prstGeom>
          <a:solidFill>
            <a:srgbClr val="FFFFFF"/>
          </a:solidFill>
          <a:ln w="12700">
            <a:solidFill>
              <a:srgbClr val="DADCE0"/>
            </a:solidFill>
            <a:prstDash val="solid"/>
          </a:ln>
        </p:spPr>
      </p:sp>
      <p:sp>
        <p:nvSpPr>
          <p:cNvPr id="19" name="Cercle icona"/>
          <p:cNvSpPr/>
          <p:nvPr/>
        </p:nvSpPr>
        <p:spPr>
          <a:xfrm>
            <a:off x="731520" y="3657600"/>
            <a:ext cx="566928" cy="566928"/>
          </a:xfrm>
          <a:prstGeom prst="ellipse">
            <a:avLst/>
          </a:prstGeom>
          <a:solidFill>
            <a:srgbClr val="E6F4EA"/>
          </a:solidFill>
          <a:ln/>
        </p:spPr>
      </p:sp>
      <p:pic>
        <p:nvPicPr>
          <p:cNvPr id="20" name="Icona TbHeart" descr="/home/claude/pc/build/1r-eso-civilitzacions/img/ic/TbHeart-g.png">    </p:cNvPr>
          <p:cNvPicPr>
            <a:picLocks noChangeAspect="1"/>
          </p:cNvPicPr>
          <p:nvPr/>
        </p:nvPicPr>
        <p:blipFill>
          <a:blip r:embed="rId4"/>
          <a:stretch>
            <a:fillRect/>
          </a:stretch>
        </p:blipFill>
        <p:spPr>
          <a:xfrm>
            <a:off x="856244" y="3782324"/>
            <a:ext cx="317480" cy="317480"/>
          </a:xfrm>
          <a:prstGeom prst="rect">
            <a:avLst/>
          </a:prstGeom>
        </p:spPr>
      </p:pic>
      <p:sp>
        <p:nvSpPr>
          <p:cNvPr id="21" name="Text 15"/>
          <p:cNvSpPr txBox="1"/>
          <p:nvPr/>
        </p:nvSpPr>
        <p:spPr>
          <a:xfrm>
            <a:off x="1463040" y="3429000"/>
            <a:ext cx="2494178" cy="1024128"/>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Inanna (Ixtar)</a:t>
            </a:r>
            <a:endParaRPr lang="en-US" sz="1700" dirty="0"/>
          </a:p>
          <a:p>
            <a:pPr indent="0" marL="0">
              <a:buNone/>
            </a:pPr>
            <a:r>
              <a:rPr lang="en-US" sz="1450" dirty="0">
                <a:solidFill>
                  <a:srgbClr val="202124"/>
                </a:solidFill>
                <a:latin typeface="Roboto" pitchFamily="34" charset="0"/>
                <a:ea typeface="Roboto" pitchFamily="34" charset="-122"/>
                <a:cs typeface="Roboto" pitchFamily="34" charset="-120"/>
              </a:rPr>
              <a:t>L'amor i la guerra</a:t>
            </a:r>
            <a:endParaRPr lang="en-US" sz="1700" dirty="0"/>
          </a:p>
        </p:txBody>
      </p:sp>
      <p:sp>
        <p:nvSpPr>
          <p:cNvPr id="22" name="Déu Nanna"/>
          <p:cNvSpPr/>
          <p:nvPr/>
        </p:nvSpPr>
        <p:spPr>
          <a:xfrm>
            <a:off x="4322978" y="3429000"/>
            <a:ext cx="3545738" cy="1024128"/>
          </a:xfrm>
          <a:prstGeom prst="roundRect">
            <a:avLst>
              <a:gd name="adj" fmla="val 9821"/>
            </a:avLst>
          </a:prstGeom>
          <a:solidFill>
            <a:srgbClr val="FFFFFF"/>
          </a:solidFill>
          <a:ln w="12700">
            <a:solidFill>
              <a:srgbClr val="DADCE0"/>
            </a:solidFill>
            <a:prstDash val="solid"/>
          </a:ln>
        </p:spPr>
      </p:sp>
      <p:sp>
        <p:nvSpPr>
          <p:cNvPr id="23" name="Cercle icona"/>
          <p:cNvSpPr/>
          <p:nvPr/>
        </p:nvSpPr>
        <p:spPr>
          <a:xfrm>
            <a:off x="4505858" y="3657600"/>
            <a:ext cx="566928" cy="566928"/>
          </a:xfrm>
          <a:prstGeom prst="ellipse">
            <a:avLst/>
          </a:prstGeom>
          <a:solidFill>
            <a:srgbClr val="E6F4EA"/>
          </a:solidFill>
          <a:ln/>
        </p:spPr>
      </p:sp>
      <p:pic>
        <p:nvPicPr>
          <p:cNvPr id="24" name="Icona TbMoon" descr="/home/claude/pc/build/1r-eso-civilitzacions/img/ic/TbMoon-g.png">    </p:cNvPr>
          <p:cNvPicPr>
            <a:picLocks noChangeAspect="1"/>
          </p:cNvPicPr>
          <p:nvPr/>
        </p:nvPicPr>
        <p:blipFill>
          <a:blip r:embed="rId5"/>
          <a:stretch>
            <a:fillRect/>
          </a:stretch>
        </p:blipFill>
        <p:spPr>
          <a:xfrm>
            <a:off x="4630583" y="3782324"/>
            <a:ext cx="317480" cy="317480"/>
          </a:xfrm>
          <a:prstGeom prst="rect">
            <a:avLst/>
          </a:prstGeom>
        </p:spPr>
      </p:pic>
      <p:sp>
        <p:nvSpPr>
          <p:cNvPr id="25" name="Text 18"/>
          <p:cNvSpPr txBox="1"/>
          <p:nvPr/>
        </p:nvSpPr>
        <p:spPr>
          <a:xfrm>
            <a:off x="5237378" y="3429000"/>
            <a:ext cx="2494178" cy="1024128"/>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Nanna</a:t>
            </a:r>
            <a:endParaRPr lang="en-US" sz="1700" dirty="0"/>
          </a:p>
          <a:p>
            <a:pPr indent="0" marL="0">
              <a:buNone/>
            </a:pPr>
            <a:r>
              <a:rPr lang="en-US" sz="1450" dirty="0">
                <a:solidFill>
                  <a:srgbClr val="202124"/>
                </a:solidFill>
                <a:latin typeface="Roboto" pitchFamily="34" charset="0"/>
                <a:ea typeface="Roboto" pitchFamily="34" charset="-122"/>
                <a:cs typeface="Roboto" pitchFamily="34" charset="-120"/>
              </a:rPr>
              <a:t>La lluna. Protector d'Ur</a:t>
            </a:r>
            <a:endParaRPr lang="en-US" sz="1700" dirty="0"/>
          </a:p>
        </p:txBody>
      </p:sp>
      <p:sp>
        <p:nvSpPr>
          <p:cNvPr id="26" name="Déu Utu (Xamaix)"/>
          <p:cNvSpPr/>
          <p:nvPr/>
        </p:nvSpPr>
        <p:spPr>
          <a:xfrm>
            <a:off x="8097317" y="3429000"/>
            <a:ext cx="3545738" cy="1024128"/>
          </a:xfrm>
          <a:prstGeom prst="roundRect">
            <a:avLst>
              <a:gd name="adj" fmla="val 9821"/>
            </a:avLst>
          </a:prstGeom>
          <a:solidFill>
            <a:srgbClr val="FFFFFF"/>
          </a:solidFill>
          <a:ln w="12700">
            <a:solidFill>
              <a:srgbClr val="DADCE0"/>
            </a:solidFill>
            <a:prstDash val="solid"/>
          </a:ln>
        </p:spPr>
      </p:sp>
      <p:sp>
        <p:nvSpPr>
          <p:cNvPr id="27" name="Cercle icona"/>
          <p:cNvSpPr/>
          <p:nvPr/>
        </p:nvSpPr>
        <p:spPr>
          <a:xfrm>
            <a:off x="8280197" y="3657600"/>
            <a:ext cx="566928" cy="566928"/>
          </a:xfrm>
          <a:prstGeom prst="ellipse">
            <a:avLst/>
          </a:prstGeom>
          <a:solidFill>
            <a:srgbClr val="E6F4EA"/>
          </a:solidFill>
          <a:ln/>
        </p:spPr>
      </p:sp>
      <p:pic>
        <p:nvPicPr>
          <p:cNvPr id="28" name="Icona TbSun" descr="/home/claude/pc/build/1r-eso-civilitzacions/img/ic/TbSun-g.png">    </p:cNvPr>
          <p:cNvPicPr>
            <a:picLocks noChangeAspect="1"/>
          </p:cNvPicPr>
          <p:nvPr/>
        </p:nvPicPr>
        <p:blipFill>
          <a:blip r:embed="rId6"/>
          <a:stretch>
            <a:fillRect/>
          </a:stretch>
        </p:blipFill>
        <p:spPr>
          <a:xfrm>
            <a:off x="8404921" y="3782324"/>
            <a:ext cx="317480" cy="317480"/>
          </a:xfrm>
          <a:prstGeom prst="rect">
            <a:avLst/>
          </a:prstGeom>
        </p:spPr>
      </p:pic>
      <p:sp>
        <p:nvSpPr>
          <p:cNvPr id="29" name="Text 21"/>
          <p:cNvSpPr txBox="1"/>
          <p:nvPr/>
        </p:nvSpPr>
        <p:spPr>
          <a:xfrm>
            <a:off x="9011717" y="3429000"/>
            <a:ext cx="2494178" cy="1024128"/>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Utu (Xamaix)</a:t>
            </a:r>
            <a:endParaRPr lang="en-US" sz="1700" dirty="0"/>
          </a:p>
          <a:p>
            <a:pPr indent="0" marL="0">
              <a:buNone/>
            </a:pPr>
            <a:r>
              <a:rPr lang="en-US" sz="1450" dirty="0">
                <a:solidFill>
                  <a:srgbClr val="202124"/>
                </a:solidFill>
                <a:latin typeface="Roboto" pitchFamily="34" charset="0"/>
                <a:ea typeface="Roboto" pitchFamily="34" charset="-122"/>
                <a:cs typeface="Roboto" pitchFamily="34" charset="-120"/>
              </a:rPr>
              <a:t>El sol i la justícia</a:t>
            </a:r>
            <a:endParaRPr lang="en-US" sz="1700" dirty="0"/>
          </a:p>
        </p:txBody>
      </p:sp>
      <p:sp>
        <p:nvSpPr>
          <p:cNvPr id="30" name="Cada ciutat, un déu protector"/>
          <p:cNvSpPr/>
          <p:nvPr/>
        </p:nvSpPr>
        <p:spPr>
          <a:xfrm>
            <a:off x="548640" y="4709160"/>
            <a:ext cx="11094415" cy="1280160"/>
          </a:xfrm>
          <a:prstGeom prst="roundRect">
            <a:avLst>
              <a:gd name="adj" fmla="val 7857"/>
            </a:avLst>
          </a:prstGeom>
          <a:solidFill>
            <a:srgbClr val="E6F4EA"/>
          </a:solidFill>
          <a:ln/>
        </p:spPr>
      </p:sp>
      <p:sp>
        <p:nvSpPr>
          <p:cNvPr id="31" name="Text 23"/>
          <p:cNvSpPr txBox="1"/>
          <p:nvPr/>
        </p:nvSpPr>
        <p:spPr>
          <a:xfrm>
            <a:off x="868680" y="486460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Cada ciutat, un déu protector</a:t>
            </a:r>
            <a:endParaRPr lang="en-US" sz="1400" dirty="0"/>
          </a:p>
        </p:txBody>
      </p:sp>
      <p:sp>
        <p:nvSpPr>
          <p:cNvPr id="32" name="Text 24"/>
          <p:cNvSpPr txBox="1"/>
          <p:nvPr/>
        </p:nvSpPr>
        <p:spPr>
          <a:xfrm>
            <a:off x="868680" y="5212080"/>
            <a:ext cx="10454335" cy="6400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Nanna era el d'Ur, Inanna la d'Uruk i, més tard, Marduk el de Babilònia. Quan dues ciutats es feien la guerra, creien que també s'hi enfrontaven els seus déus.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temple, la casa del déu</a:t>
            </a:r>
            <a:endParaRPr lang="en-US" sz="2800" dirty="0"/>
          </a:p>
        </p:txBody>
      </p:sp>
      <p:sp>
        <p:nvSpPr>
          <p:cNvPr id="5" name="Targeta Per què hi havia temples?"/>
          <p:cNvSpPr/>
          <p:nvPr/>
        </p:nvSpPr>
        <p:spPr>
          <a:xfrm>
            <a:off x="548640" y="1371600"/>
            <a:ext cx="5410048" cy="2331720"/>
          </a:xfrm>
          <a:prstGeom prst="roundRect">
            <a:avLst>
              <a:gd name="adj" fmla="val 4314"/>
            </a:avLst>
          </a:prstGeom>
          <a:solidFill>
            <a:srgbClr val="FFFFFF"/>
          </a:solidFill>
          <a:ln w="12700">
            <a:solidFill>
              <a:srgbClr val="DADCE0"/>
            </a:solidFill>
            <a:prstDash val="solid"/>
          </a:ln>
        </p:spPr>
      </p:sp>
      <p:sp>
        <p:nvSpPr>
          <p:cNvPr id="6" name="Cercle icona"/>
          <p:cNvSpPr/>
          <p:nvPr/>
        </p:nvSpPr>
        <p:spPr>
          <a:xfrm>
            <a:off x="777240" y="1600200"/>
            <a:ext cx="548640" cy="548640"/>
          </a:xfrm>
          <a:prstGeom prst="ellipse">
            <a:avLst/>
          </a:prstGeom>
          <a:solidFill>
            <a:srgbClr val="E6F4EA"/>
          </a:solidFill>
          <a:ln/>
        </p:spPr>
      </p:sp>
      <p:pic>
        <p:nvPicPr>
          <p:cNvPr id="7" name="Icona TbBuildingMonument" descr="/home/claude/pc/build/1r-eso-civilitzacions/img/ic/TbBuildingMonument-g.png">    </p:cNvPr>
          <p:cNvPicPr>
            <a:picLocks noChangeAspect="1"/>
          </p:cNvPicPr>
          <p:nvPr/>
        </p:nvPicPr>
        <p:blipFill>
          <a:blip r:embed="rId1"/>
          <a:stretch>
            <a:fillRect/>
          </a:stretch>
        </p:blipFill>
        <p:spPr>
          <a:xfrm>
            <a:off x="897941" y="1720901"/>
            <a:ext cx="307238" cy="307238"/>
          </a:xfrm>
          <a:prstGeom prst="rect">
            <a:avLst/>
          </a:prstGeom>
        </p:spPr>
      </p:pic>
      <p:sp>
        <p:nvSpPr>
          <p:cNvPr id="8" name="Text 5"/>
          <p:cNvSpPr txBox="1"/>
          <p:nvPr/>
        </p:nvSpPr>
        <p:spPr>
          <a:xfrm>
            <a:off x="1463040" y="1600200"/>
            <a:ext cx="426704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Per què hi havia temples?</a:t>
            </a:r>
            <a:endParaRPr lang="en-US" sz="1800" dirty="0"/>
          </a:p>
        </p:txBody>
      </p:sp>
      <p:sp>
        <p:nvSpPr>
          <p:cNvPr id="9" name="Text 6"/>
          <p:cNvSpPr txBox="1"/>
          <p:nvPr/>
        </p:nvSpPr>
        <p:spPr>
          <a:xfrm>
            <a:off x="777240" y="2286000"/>
            <a:ext cx="4952848" cy="12801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Segons els mites, els déus havien creat els humans perquè treballessin per a ells. Cada dia els sacerdots vestien l'estàtua del déu i li servien menjar i beguda.</a:t>
            </a:r>
            <a:endParaRPr lang="en-US" sz="1550" dirty="0"/>
          </a:p>
        </p:txBody>
      </p:sp>
      <p:sp>
        <p:nvSpPr>
          <p:cNvPr id="10" name="Targeta El lloc més ric de la ciutat"/>
          <p:cNvSpPr/>
          <p:nvPr/>
        </p:nvSpPr>
        <p:spPr>
          <a:xfrm>
            <a:off x="6233008" y="1371600"/>
            <a:ext cx="5410048" cy="2331720"/>
          </a:xfrm>
          <a:prstGeom prst="roundRect">
            <a:avLst>
              <a:gd name="adj" fmla="val 4314"/>
            </a:avLst>
          </a:prstGeom>
          <a:solidFill>
            <a:srgbClr val="FFFFFF"/>
          </a:solidFill>
          <a:ln w="12700">
            <a:solidFill>
              <a:srgbClr val="DADCE0"/>
            </a:solidFill>
            <a:prstDash val="solid"/>
          </a:ln>
        </p:spPr>
      </p:sp>
      <p:sp>
        <p:nvSpPr>
          <p:cNvPr id="11" name="Cercle icona"/>
          <p:cNvSpPr/>
          <p:nvPr/>
        </p:nvSpPr>
        <p:spPr>
          <a:xfrm>
            <a:off x="6461608" y="1600200"/>
            <a:ext cx="548640" cy="548640"/>
          </a:xfrm>
          <a:prstGeom prst="ellipse">
            <a:avLst/>
          </a:prstGeom>
          <a:solidFill>
            <a:srgbClr val="E6F4EA"/>
          </a:solidFill>
          <a:ln/>
        </p:spPr>
      </p:sp>
      <p:pic>
        <p:nvPicPr>
          <p:cNvPr id="12" name="Icona TbCoins" descr="/home/claude/pc/build/1r-eso-civilitzacions/img/ic/TbCoins-g.png">    </p:cNvPr>
          <p:cNvPicPr>
            <a:picLocks noChangeAspect="1"/>
          </p:cNvPicPr>
          <p:nvPr/>
        </p:nvPicPr>
        <p:blipFill>
          <a:blip r:embed="rId2"/>
          <a:stretch>
            <a:fillRect/>
          </a:stretch>
        </p:blipFill>
        <p:spPr>
          <a:xfrm>
            <a:off x="6582308" y="1720901"/>
            <a:ext cx="307238" cy="307238"/>
          </a:xfrm>
          <a:prstGeom prst="rect">
            <a:avLst/>
          </a:prstGeom>
        </p:spPr>
      </p:pic>
      <p:sp>
        <p:nvSpPr>
          <p:cNvPr id="13" name="Text 9"/>
          <p:cNvSpPr txBox="1"/>
          <p:nvPr/>
        </p:nvSpPr>
        <p:spPr>
          <a:xfrm>
            <a:off x="7147408" y="1600200"/>
            <a:ext cx="426704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El lloc més ric de la ciutat</a:t>
            </a:r>
            <a:endParaRPr lang="en-US" sz="1800" dirty="0"/>
          </a:p>
        </p:txBody>
      </p:sp>
      <p:sp>
        <p:nvSpPr>
          <p:cNvPr id="14" name="Text 10"/>
          <p:cNvSpPr txBox="1"/>
          <p:nvPr/>
        </p:nvSpPr>
        <p:spPr>
          <a:xfrm>
            <a:off x="6461608" y="2286000"/>
            <a:ext cx="4952848" cy="12801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Tenia terres, ramats, tallers i magatzems plens de gra. Molts pagesos i artesans hi treballaven.</a:t>
            </a:r>
            <a:endParaRPr lang="en-US" sz="1550" dirty="0"/>
          </a:p>
        </p:txBody>
      </p:sp>
      <p:sp>
        <p:nvSpPr>
          <p:cNvPr id="15" name="Saps que…? · El «país sense retorn»"/>
          <p:cNvSpPr/>
          <p:nvPr/>
        </p:nvSpPr>
        <p:spPr>
          <a:xfrm>
            <a:off x="548640" y="3931920"/>
            <a:ext cx="11094415" cy="2057400"/>
          </a:xfrm>
          <a:prstGeom prst="roundRect">
            <a:avLst>
              <a:gd name="adj" fmla="val 4889"/>
            </a:avLst>
          </a:prstGeom>
          <a:solidFill>
            <a:srgbClr val="E6F4EA"/>
          </a:solidFill>
          <a:ln/>
        </p:spPr>
      </p:sp>
      <p:sp>
        <p:nvSpPr>
          <p:cNvPr id="16" name="Text 12"/>
          <p:cNvSpPr txBox="1"/>
          <p:nvPr/>
        </p:nvSpPr>
        <p:spPr>
          <a:xfrm>
            <a:off x="868680" y="40873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 · El «país sense retorn»</a:t>
            </a:r>
            <a:endParaRPr lang="en-US" sz="1400" dirty="0"/>
          </a:p>
        </p:txBody>
      </p:sp>
      <p:sp>
        <p:nvSpPr>
          <p:cNvPr id="17" name="Text 13"/>
          <p:cNvSpPr txBox="1"/>
          <p:nvPr/>
        </p:nvSpPr>
        <p:spPr>
          <a:xfrm>
            <a:off x="868680" y="4434840"/>
            <a:ext cx="10454335" cy="141732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No esperaven cap paradís. Tots els morts, bons i dolents, anaven a un món sota terra, fosc i trist. Un poema el descriu com el lloc «on la pols és el seu aliment i el fang, el seu menjar. No veuen la llum i viuen a la foscor». Per això les famílies abocaven aigua a les tombes, perquè els seus morts poguessin beure.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comerç. El que el riu no donava</a:t>
            </a:r>
            <a:endParaRPr lang="en-US" sz="2800" dirty="0"/>
          </a:p>
        </p:txBody>
      </p:sp>
      <p:sp>
        <p:nvSpPr>
          <p:cNvPr id="5" name="Fons Les rutes del comerç de Mesopotàmia (cap al 2500-1800 aC)"/>
          <p:cNvSpPr/>
          <p:nvPr/>
        </p:nvSpPr>
        <p:spPr>
          <a:xfrm>
            <a:off x="548640" y="1371600"/>
            <a:ext cx="6949440" cy="4096512"/>
          </a:xfrm>
          <a:prstGeom prst="roundRect">
            <a:avLst>
              <a:gd name="adj" fmla="val 2455"/>
            </a:avLst>
          </a:prstGeom>
          <a:solidFill>
            <a:srgbClr val="F6F8FB"/>
          </a:solidFill>
          <a:ln/>
        </p:spPr>
      </p:sp>
      <p:pic>
        <p:nvPicPr>
          <p:cNvPr id="6" name="Les rutes del comerç de Mesopotàmia (cap al 2500-1800 aC)" descr="/home/claude/pc/build/1r-eso-civilitzacions/img/mapa-comerc.jpg">    </p:cNvPr>
          <p:cNvPicPr>
            <a:picLocks noChangeAspect="1"/>
          </p:cNvPicPr>
          <p:nvPr/>
        </p:nvPicPr>
        <p:blipFill>
          <a:blip r:embed="rId1"/>
          <a:stretch>
            <a:fillRect/>
          </a:stretch>
        </p:blipFill>
        <p:spPr>
          <a:xfrm>
            <a:off x="549518" y="1371600"/>
            <a:ext cx="6947684" cy="4096512"/>
          </a:xfrm>
          <a:prstGeom prst="rect">
            <a:avLst/>
          </a:prstGeom>
        </p:spPr>
      </p:pic>
      <p:sp>
        <p:nvSpPr>
          <p:cNvPr id="7" name="Text 4"/>
          <p:cNvSpPr txBox="1"/>
          <p:nvPr/>
        </p:nvSpPr>
        <p:spPr>
          <a:xfrm>
            <a:off x="548640" y="5559552"/>
            <a:ext cx="694944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rutes del comerç de Mesopotàmia (cap al 2500-1800 aC). Rutes aproximades. Mapa: professordesocials.cat, CC BY-SA 4.0. Base: Natural Earth.</a:t>
            </a:r>
            <a:endParaRPr lang="en-US" sz="1000" dirty="0"/>
          </a:p>
        </p:txBody>
      </p:sp>
      <p:sp>
        <p:nvSpPr>
          <p:cNvPr id="8" name="Targeta Tenien"/>
          <p:cNvSpPr/>
          <p:nvPr/>
        </p:nvSpPr>
        <p:spPr>
          <a:xfrm>
            <a:off x="7772400" y="1371600"/>
            <a:ext cx="3870655" cy="1783080"/>
          </a:xfrm>
          <a:prstGeom prst="roundRect">
            <a:avLst>
              <a:gd name="adj" fmla="val 5641"/>
            </a:avLst>
          </a:prstGeom>
          <a:solidFill>
            <a:srgbClr val="FFFFFF"/>
          </a:solidFill>
          <a:ln w="12700">
            <a:solidFill>
              <a:srgbClr val="DADCE0"/>
            </a:solidFill>
            <a:prstDash val="solid"/>
          </a:ln>
        </p:spPr>
      </p:sp>
      <p:sp>
        <p:nvSpPr>
          <p:cNvPr id="9" name="Text 6"/>
          <p:cNvSpPr txBox="1"/>
          <p:nvPr/>
        </p:nvSpPr>
        <p:spPr>
          <a:xfrm>
            <a:off x="8046720" y="1572768"/>
            <a:ext cx="3322015" cy="36576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Tenien</a:t>
            </a:r>
            <a:endParaRPr lang="en-US" sz="1700" dirty="0"/>
          </a:p>
        </p:txBody>
      </p:sp>
      <p:sp>
        <p:nvSpPr>
          <p:cNvPr id="10" name="Text 7"/>
          <p:cNvSpPr txBox="1"/>
          <p:nvPr/>
        </p:nvSpPr>
        <p:spPr>
          <a:xfrm>
            <a:off x="8046720" y="2057400"/>
            <a:ext cx="3322015" cy="96012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Aigua, fang i canyes</a:t>
            </a:r>
            <a:endParaRPr lang="en-US" sz="1500" dirty="0"/>
          </a:p>
          <a:p>
            <a:pPr marL="228600" indent="-2286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Cereals i dàtils</a:t>
            </a:r>
            <a:endParaRPr lang="en-US" sz="1500" dirty="0"/>
          </a:p>
          <a:p>
            <a:pPr marL="228600" indent="-2286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Llana dels ramats</a:t>
            </a:r>
            <a:endParaRPr lang="en-US" sz="1500" dirty="0"/>
          </a:p>
        </p:txBody>
      </p:sp>
      <p:sp>
        <p:nvSpPr>
          <p:cNvPr id="11" name="Targeta Els faltava"/>
          <p:cNvSpPr/>
          <p:nvPr/>
        </p:nvSpPr>
        <p:spPr>
          <a:xfrm>
            <a:off x="7772400" y="3291840"/>
            <a:ext cx="3870655" cy="1600200"/>
          </a:xfrm>
          <a:prstGeom prst="roundRect">
            <a:avLst>
              <a:gd name="adj" fmla="val 6286"/>
            </a:avLst>
          </a:prstGeom>
          <a:solidFill>
            <a:srgbClr val="FFFFFF"/>
          </a:solidFill>
          <a:ln w="12700">
            <a:solidFill>
              <a:srgbClr val="DADCE0"/>
            </a:solidFill>
            <a:prstDash val="solid"/>
          </a:ln>
        </p:spPr>
      </p:sp>
      <p:sp>
        <p:nvSpPr>
          <p:cNvPr id="12" name="Text 9"/>
          <p:cNvSpPr txBox="1"/>
          <p:nvPr/>
        </p:nvSpPr>
        <p:spPr>
          <a:xfrm>
            <a:off x="8046720" y="3493008"/>
            <a:ext cx="3322015" cy="36576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Els faltava</a:t>
            </a:r>
            <a:endParaRPr lang="en-US" sz="1700" dirty="0"/>
          </a:p>
        </p:txBody>
      </p:sp>
      <p:sp>
        <p:nvSpPr>
          <p:cNvPr id="13" name="Text 10"/>
          <p:cNvSpPr txBox="1"/>
          <p:nvPr/>
        </p:nvSpPr>
        <p:spPr>
          <a:xfrm>
            <a:off x="8046720" y="3977640"/>
            <a:ext cx="3322015" cy="7772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Pedra</a:t>
            </a:r>
            <a:endParaRPr lang="en-US" sz="1500" dirty="0"/>
          </a:p>
          <a:p>
            <a:pPr marL="228600" indent="-2286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Fusta forta</a:t>
            </a:r>
            <a:endParaRPr lang="en-US" sz="1500" dirty="0"/>
          </a:p>
          <a:p>
            <a:pPr marL="228600" indent="-228600">
              <a:spcAft>
                <a:spcPts val="600"/>
              </a:spcAft>
              <a:buSzPct val="100000"/>
              <a:buChar char="•"/>
            </a:pPr>
            <a:r>
              <a:rPr lang="en-US" sz="1500" dirty="0">
                <a:solidFill>
                  <a:srgbClr val="202124"/>
                </a:solidFill>
                <a:latin typeface="Roboto" pitchFamily="34" charset="0"/>
                <a:ea typeface="Roboto" pitchFamily="34" charset="-122"/>
                <a:cs typeface="Roboto" pitchFamily="34" charset="-120"/>
              </a:rPr>
              <a:t>Metalls</a:t>
            </a:r>
            <a:endParaRPr lang="en-US" sz="1500" dirty="0"/>
          </a:p>
        </p:txBody>
      </p:sp>
      <p:sp>
        <p:nvSpPr>
          <p:cNvPr id="14" name="Text 11"/>
          <p:cNvSpPr txBox="1"/>
          <p:nvPr/>
        </p:nvSpPr>
        <p:spPr>
          <a:xfrm>
            <a:off x="7772400" y="5029200"/>
            <a:ext cx="3870655" cy="640080"/>
          </a:xfrm>
          <a:prstGeom prst="rect">
            <a:avLst/>
          </a:prstGeom>
          <a:noFill/>
          <a:ln/>
        </p:spPr>
        <p:txBody>
          <a:bodyPr wrap="square" lIns="0" tIns="0" rIns="0" bIns="0" rtlCol="0" anchor="t"/>
          <a:lstStyle/>
          <a:p>
            <a:pPr indent="0" marL="0">
              <a:buNone/>
            </a:pPr>
            <a:r>
              <a:rPr lang="en-US" sz="1500" b="1" dirty="0">
                <a:solidFill>
                  <a:srgbClr val="188038"/>
                </a:solidFill>
                <a:latin typeface="Roboto" pitchFamily="34" charset="0"/>
                <a:ea typeface="Roboto" pitchFamily="34" charset="-122"/>
                <a:cs typeface="Roboto" pitchFamily="34" charset="-120"/>
              </a:rPr>
              <a:t>A canvi, venien teixits de llana i aliments.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compraven i d'on venia?</a:t>
            </a:r>
            <a:endParaRPr lang="en-US" sz="2800" dirty="0"/>
          </a:p>
        </p:txBody>
      </p:sp>
      <p:sp>
        <p:nvSpPr>
          <p:cNvPr id="5" name="Targeta Coure"/>
          <p:cNvSpPr/>
          <p:nvPr/>
        </p:nvSpPr>
        <p:spPr>
          <a:xfrm>
            <a:off x="548640" y="1371600"/>
            <a:ext cx="3545738" cy="1623060"/>
          </a:xfrm>
          <a:prstGeom prst="roundRect">
            <a:avLst>
              <a:gd name="adj" fmla="val 6197"/>
            </a:avLst>
          </a:prstGeom>
          <a:solidFill>
            <a:srgbClr val="FFFFFF"/>
          </a:solidFill>
          <a:ln w="12700">
            <a:solidFill>
              <a:srgbClr val="DADCE0"/>
            </a:solidFill>
            <a:prstDash val="solid"/>
          </a:ln>
        </p:spPr>
      </p:sp>
      <p:sp>
        <p:nvSpPr>
          <p:cNvPr id="6" name="Cercle icona"/>
          <p:cNvSpPr/>
          <p:nvPr/>
        </p:nvSpPr>
        <p:spPr>
          <a:xfrm>
            <a:off x="777240" y="1600200"/>
            <a:ext cx="502920" cy="502920"/>
          </a:xfrm>
          <a:prstGeom prst="ellipse">
            <a:avLst/>
          </a:prstGeom>
          <a:solidFill>
            <a:srgbClr val="E6F4EA"/>
          </a:solidFill>
          <a:ln/>
        </p:spPr>
      </p:sp>
      <p:pic>
        <p:nvPicPr>
          <p:cNvPr id="7" name="Icona TbPick" descr="/home/claude/pc/build/1r-eso-civilitzacions/img/ic/TbPick-g.png">    </p:cNvPr>
          <p:cNvPicPr>
            <a:picLocks noChangeAspect="1"/>
          </p:cNvPicPr>
          <p:nvPr/>
        </p:nvPicPr>
        <p:blipFill>
          <a:blip r:embed="rId1"/>
          <a:stretch>
            <a:fillRect/>
          </a:stretch>
        </p:blipFill>
        <p:spPr>
          <a:xfrm>
            <a:off x="887882" y="1710842"/>
            <a:ext cx="281635" cy="281635"/>
          </a:xfrm>
          <a:prstGeom prst="rect">
            <a:avLst/>
          </a:prstGeom>
        </p:spPr>
      </p:pic>
      <p:sp>
        <p:nvSpPr>
          <p:cNvPr id="8" name="Text 5"/>
          <p:cNvSpPr txBox="1"/>
          <p:nvPr/>
        </p:nvSpPr>
        <p:spPr>
          <a:xfrm>
            <a:off x="1417320" y="160020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Coure</a:t>
            </a:r>
            <a:endParaRPr lang="en-US" sz="1700" dirty="0"/>
          </a:p>
        </p:txBody>
      </p:sp>
      <p:sp>
        <p:nvSpPr>
          <p:cNvPr id="9" name="Text 6"/>
          <p:cNvSpPr txBox="1"/>
          <p:nvPr/>
        </p:nvSpPr>
        <p:spPr>
          <a:xfrm>
            <a:off x="777240" y="2240280"/>
            <a:ext cx="3088538" cy="6172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De Magan (Oman), per a eines i armes.</a:t>
            </a:r>
            <a:endParaRPr lang="en-US" sz="1500" dirty="0"/>
          </a:p>
        </p:txBody>
      </p:sp>
      <p:sp>
        <p:nvSpPr>
          <p:cNvPr id="10" name="Targeta Fusta de cedre"/>
          <p:cNvSpPr/>
          <p:nvPr/>
        </p:nvSpPr>
        <p:spPr>
          <a:xfrm>
            <a:off x="4322978" y="1371600"/>
            <a:ext cx="3545738" cy="1623060"/>
          </a:xfrm>
          <a:prstGeom prst="roundRect">
            <a:avLst>
              <a:gd name="adj" fmla="val 6197"/>
            </a:avLst>
          </a:prstGeom>
          <a:solidFill>
            <a:srgbClr val="FFFFFF"/>
          </a:solidFill>
          <a:ln w="12700">
            <a:solidFill>
              <a:srgbClr val="DADCE0"/>
            </a:solidFill>
            <a:prstDash val="solid"/>
          </a:ln>
        </p:spPr>
      </p:sp>
      <p:sp>
        <p:nvSpPr>
          <p:cNvPr id="11" name="Cercle icona"/>
          <p:cNvSpPr/>
          <p:nvPr/>
        </p:nvSpPr>
        <p:spPr>
          <a:xfrm>
            <a:off x="4551578" y="1600200"/>
            <a:ext cx="502920" cy="502920"/>
          </a:xfrm>
          <a:prstGeom prst="ellipse">
            <a:avLst/>
          </a:prstGeom>
          <a:solidFill>
            <a:srgbClr val="E6F4EA"/>
          </a:solidFill>
          <a:ln/>
        </p:spPr>
      </p:sp>
      <p:pic>
        <p:nvPicPr>
          <p:cNvPr id="12" name="Icona TbTree" descr="/home/claude/pc/build/1r-eso-civilitzacions/img/ic/TbTree-g.png">    </p:cNvPr>
          <p:cNvPicPr>
            <a:picLocks noChangeAspect="1"/>
          </p:cNvPicPr>
          <p:nvPr/>
        </p:nvPicPr>
        <p:blipFill>
          <a:blip r:embed="rId2"/>
          <a:stretch>
            <a:fillRect/>
          </a:stretch>
        </p:blipFill>
        <p:spPr>
          <a:xfrm>
            <a:off x="4662221" y="1710842"/>
            <a:ext cx="281635" cy="281635"/>
          </a:xfrm>
          <a:prstGeom prst="rect">
            <a:avLst/>
          </a:prstGeom>
        </p:spPr>
      </p:pic>
      <p:sp>
        <p:nvSpPr>
          <p:cNvPr id="13" name="Text 9"/>
          <p:cNvSpPr txBox="1"/>
          <p:nvPr/>
        </p:nvSpPr>
        <p:spPr>
          <a:xfrm>
            <a:off x="5191658" y="160020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Fusta de cedre</a:t>
            </a:r>
            <a:endParaRPr lang="en-US" sz="1700" dirty="0"/>
          </a:p>
        </p:txBody>
      </p:sp>
      <p:sp>
        <p:nvSpPr>
          <p:cNvPr id="14" name="Text 10"/>
          <p:cNvSpPr txBox="1"/>
          <p:nvPr/>
        </p:nvSpPr>
        <p:spPr>
          <a:xfrm>
            <a:off x="4551578" y="2240280"/>
            <a:ext cx="3088538" cy="6172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De les muntanyes del Líban, per als temples i els palaus.</a:t>
            </a:r>
            <a:endParaRPr lang="en-US" sz="1500" dirty="0"/>
          </a:p>
        </p:txBody>
      </p:sp>
      <p:sp>
        <p:nvSpPr>
          <p:cNvPr id="15" name="Targeta Pedra dura"/>
          <p:cNvSpPr/>
          <p:nvPr/>
        </p:nvSpPr>
        <p:spPr>
          <a:xfrm>
            <a:off x="8097317" y="1371600"/>
            <a:ext cx="3545738" cy="1623060"/>
          </a:xfrm>
          <a:prstGeom prst="roundRect">
            <a:avLst>
              <a:gd name="adj" fmla="val 6197"/>
            </a:avLst>
          </a:prstGeom>
          <a:solidFill>
            <a:srgbClr val="FFFFFF"/>
          </a:solidFill>
          <a:ln w="12700">
            <a:solidFill>
              <a:srgbClr val="DADCE0"/>
            </a:solidFill>
            <a:prstDash val="solid"/>
          </a:ln>
        </p:spPr>
      </p:sp>
      <p:sp>
        <p:nvSpPr>
          <p:cNvPr id="16" name="Cercle icona"/>
          <p:cNvSpPr/>
          <p:nvPr/>
        </p:nvSpPr>
        <p:spPr>
          <a:xfrm>
            <a:off x="8325917" y="1600200"/>
            <a:ext cx="502920" cy="502920"/>
          </a:xfrm>
          <a:prstGeom prst="ellipse">
            <a:avLst/>
          </a:prstGeom>
          <a:solidFill>
            <a:srgbClr val="E6F4EA"/>
          </a:solidFill>
          <a:ln/>
        </p:spPr>
      </p:sp>
      <p:pic>
        <p:nvPicPr>
          <p:cNvPr id="17" name="Icona TbBuildingMonument" descr="/home/claude/pc/build/1r-eso-civilitzacions/img/ic/TbBuildingMonument-g.png">    </p:cNvPr>
          <p:cNvPicPr>
            <a:picLocks noChangeAspect="1"/>
          </p:cNvPicPr>
          <p:nvPr/>
        </p:nvPicPr>
        <p:blipFill>
          <a:blip r:embed="rId3"/>
          <a:stretch>
            <a:fillRect/>
          </a:stretch>
        </p:blipFill>
        <p:spPr>
          <a:xfrm>
            <a:off x="8436559" y="1710842"/>
            <a:ext cx="281635" cy="281635"/>
          </a:xfrm>
          <a:prstGeom prst="rect">
            <a:avLst/>
          </a:prstGeom>
        </p:spPr>
      </p:pic>
      <p:sp>
        <p:nvSpPr>
          <p:cNvPr id="18" name="Text 13"/>
          <p:cNvSpPr txBox="1"/>
          <p:nvPr/>
        </p:nvSpPr>
        <p:spPr>
          <a:xfrm>
            <a:off x="8965997" y="160020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Pedra dura</a:t>
            </a:r>
            <a:endParaRPr lang="en-US" sz="1700" dirty="0"/>
          </a:p>
        </p:txBody>
      </p:sp>
      <p:sp>
        <p:nvSpPr>
          <p:cNvPr id="19" name="Text 14"/>
          <p:cNvSpPr txBox="1"/>
          <p:nvPr/>
        </p:nvSpPr>
        <p:spPr>
          <a:xfrm>
            <a:off x="8325917" y="2240280"/>
            <a:ext cx="3088538" cy="6172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Com la diorita negra de Magan, per a les estàtues dels reis.</a:t>
            </a:r>
            <a:endParaRPr lang="en-US" sz="1500" dirty="0"/>
          </a:p>
        </p:txBody>
      </p:sp>
      <p:sp>
        <p:nvSpPr>
          <p:cNvPr id="20" name="Targeta Plata i or"/>
          <p:cNvSpPr/>
          <p:nvPr/>
        </p:nvSpPr>
        <p:spPr>
          <a:xfrm>
            <a:off x="548640" y="3223260"/>
            <a:ext cx="3545738" cy="1623060"/>
          </a:xfrm>
          <a:prstGeom prst="roundRect">
            <a:avLst>
              <a:gd name="adj" fmla="val 6197"/>
            </a:avLst>
          </a:prstGeom>
          <a:solidFill>
            <a:srgbClr val="FFFFFF"/>
          </a:solidFill>
          <a:ln w="12700">
            <a:solidFill>
              <a:srgbClr val="DADCE0"/>
            </a:solidFill>
            <a:prstDash val="solid"/>
          </a:ln>
        </p:spPr>
      </p:sp>
      <p:sp>
        <p:nvSpPr>
          <p:cNvPr id="21" name="Cercle icona"/>
          <p:cNvSpPr/>
          <p:nvPr/>
        </p:nvSpPr>
        <p:spPr>
          <a:xfrm>
            <a:off x="777240" y="3451860"/>
            <a:ext cx="502920" cy="502920"/>
          </a:xfrm>
          <a:prstGeom prst="ellipse">
            <a:avLst/>
          </a:prstGeom>
          <a:solidFill>
            <a:srgbClr val="E6F4EA"/>
          </a:solidFill>
          <a:ln/>
        </p:spPr>
      </p:sp>
      <p:pic>
        <p:nvPicPr>
          <p:cNvPr id="22" name="Icona TbCoins" descr="/home/claude/pc/build/1r-eso-civilitzacions/img/ic/TbCoins-g.png">    </p:cNvPr>
          <p:cNvPicPr>
            <a:picLocks noChangeAspect="1"/>
          </p:cNvPicPr>
          <p:nvPr/>
        </p:nvPicPr>
        <p:blipFill>
          <a:blip r:embed="rId4"/>
          <a:stretch>
            <a:fillRect/>
          </a:stretch>
        </p:blipFill>
        <p:spPr>
          <a:xfrm>
            <a:off x="887882" y="3562502"/>
            <a:ext cx="281635" cy="281635"/>
          </a:xfrm>
          <a:prstGeom prst="rect">
            <a:avLst/>
          </a:prstGeom>
        </p:spPr>
      </p:pic>
      <p:sp>
        <p:nvSpPr>
          <p:cNvPr id="23" name="Text 17"/>
          <p:cNvSpPr txBox="1"/>
          <p:nvPr/>
        </p:nvSpPr>
        <p:spPr>
          <a:xfrm>
            <a:off x="1417320" y="345186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Plata i or</a:t>
            </a:r>
            <a:endParaRPr lang="en-US" sz="1700" dirty="0"/>
          </a:p>
        </p:txBody>
      </p:sp>
      <p:sp>
        <p:nvSpPr>
          <p:cNvPr id="24" name="Text 18"/>
          <p:cNvSpPr txBox="1"/>
          <p:nvPr/>
        </p:nvSpPr>
        <p:spPr>
          <a:xfrm>
            <a:off x="777240" y="4091940"/>
            <a:ext cx="3088538" cy="6172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De les muntanyes d'Anatòlia i de l'Iran.</a:t>
            </a:r>
            <a:endParaRPr lang="en-US" sz="1500" dirty="0"/>
          </a:p>
        </p:txBody>
      </p:sp>
      <p:sp>
        <p:nvSpPr>
          <p:cNvPr id="25" name="Targeta Pedres precioses"/>
          <p:cNvSpPr/>
          <p:nvPr/>
        </p:nvSpPr>
        <p:spPr>
          <a:xfrm>
            <a:off x="4322978" y="3223260"/>
            <a:ext cx="3545738" cy="1623060"/>
          </a:xfrm>
          <a:prstGeom prst="roundRect">
            <a:avLst>
              <a:gd name="adj" fmla="val 6197"/>
            </a:avLst>
          </a:prstGeom>
          <a:solidFill>
            <a:srgbClr val="FFFFFF"/>
          </a:solidFill>
          <a:ln w="12700">
            <a:solidFill>
              <a:srgbClr val="DADCE0"/>
            </a:solidFill>
            <a:prstDash val="solid"/>
          </a:ln>
        </p:spPr>
      </p:sp>
      <p:sp>
        <p:nvSpPr>
          <p:cNvPr id="26" name="Cercle icona"/>
          <p:cNvSpPr/>
          <p:nvPr/>
        </p:nvSpPr>
        <p:spPr>
          <a:xfrm>
            <a:off x="4551578" y="3451860"/>
            <a:ext cx="502920" cy="502920"/>
          </a:xfrm>
          <a:prstGeom prst="ellipse">
            <a:avLst/>
          </a:prstGeom>
          <a:solidFill>
            <a:srgbClr val="E6F4EA"/>
          </a:solidFill>
          <a:ln/>
        </p:spPr>
      </p:sp>
      <p:pic>
        <p:nvPicPr>
          <p:cNvPr id="27" name="Icona TbSparkles" descr="/home/claude/pc/build/1r-eso-civilitzacions/img/ic/TbSparkles-g.png">    </p:cNvPr>
          <p:cNvPicPr>
            <a:picLocks noChangeAspect="1"/>
          </p:cNvPicPr>
          <p:nvPr/>
        </p:nvPicPr>
        <p:blipFill>
          <a:blip r:embed="rId5"/>
          <a:stretch>
            <a:fillRect/>
          </a:stretch>
        </p:blipFill>
        <p:spPr>
          <a:xfrm>
            <a:off x="4662221" y="3562502"/>
            <a:ext cx="281635" cy="281635"/>
          </a:xfrm>
          <a:prstGeom prst="rect">
            <a:avLst/>
          </a:prstGeom>
        </p:spPr>
      </p:pic>
      <p:sp>
        <p:nvSpPr>
          <p:cNvPr id="28" name="Text 21"/>
          <p:cNvSpPr txBox="1"/>
          <p:nvPr/>
        </p:nvSpPr>
        <p:spPr>
          <a:xfrm>
            <a:off x="5191658" y="345186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Pedres precioses</a:t>
            </a:r>
            <a:endParaRPr lang="en-US" sz="1700" dirty="0"/>
          </a:p>
        </p:txBody>
      </p:sp>
      <p:sp>
        <p:nvSpPr>
          <p:cNvPr id="29" name="Text 22"/>
          <p:cNvSpPr txBox="1"/>
          <p:nvPr/>
        </p:nvSpPr>
        <p:spPr>
          <a:xfrm>
            <a:off x="4551578" y="4091940"/>
            <a:ext cx="3088538" cy="6172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Lapislàtzuli de l'Afganistan, a més de 2.000 km, i cornalina de l'Indus.</a:t>
            </a:r>
            <a:endParaRPr lang="en-US" sz="1500" dirty="0"/>
          </a:p>
        </p:txBody>
      </p:sp>
      <p:sp>
        <p:nvSpPr>
          <p:cNvPr id="30" name="Targeta Paraula clau · Bronze"/>
          <p:cNvSpPr/>
          <p:nvPr/>
        </p:nvSpPr>
        <p:spPr>
          <a:xfrm>
            <a:off x="8097317" y="3223260"/>
            <a:ext cx="3545738" cy="1623060"/>
          </a:xfrm>
          <a:prstGeom prst="roundRect">
            <a:avLst>
              <a:gd name="adj" fmla="val 6197"/>
            </a:avLst>
          </a:prstGeom>
          <a:solidFill>
            <a:srgbClr val="188038"/>
          </a:solidFill>
          <a:ln/>
        </p:spPr>
      </p:sp>
      <p:sp>
        <p:nvSpPr>
          <p:cNvPr id="31" name="Cercle icona"/>
          <p:cNvSpPr/>
          <p:nvPr/>
        </p:nvSpPr>
        <p:spPr>
          <a:xfrm>
            <a:off x="8325917" y="3451860"/>
            <a:ext cx="502920" cy="502920"/>
          </a:xfrm>
          <a:prstGeom prst="ellipse">
            <a:avLst/>
          </a:prstGeom>
          <a:solidFill>
            <a:srgbClr val="FFFFFF"/>
          </a:solidFill>
          <a:ln/>
        </p:spPr>
      </p:sp>
      <p:pic>
        <p:nvPicPr>
          <p:cNvPr id="32" name="Icona TbHammer" descr="/home/claude/pc/build/1r-eso-civilitzacions/img/ic/TbHammer-g.png">    </p:cNvPr>
          <p:cNvPicPr>
            <a:picLocks noChangeAspect="1"/>
          </p:cNvPicPr>
          <p:nvPr/>
        </p:nvPicPr>
        <p:blipFill>
          <a:blip r:embed="rId6"/>
          <a:stretch>
            <a:fillRect/>
          </a:stretch>
        </p:blipFill>
        <p:spPr>
          <a:xfrm>
            <a:off x="8436559" y="3562502"/>
            <a:ext cx="281635" cy="281635"/>
          </a:xfrm>
          <a:prstGeom prst="rect">
            <a:avLst/>
          </a:prstGeom>
        </p:spPr>
      </p:pic>
      <p:sp>
        <p:nvSpPr>
          <p:cNvPr id="33" name="Text 25"/>
          <p:cNvSpPr txBox="1"/>
          <p:nvPr/>
        </p:nvSpPr>
        <p:spPr>
          <a:xfrm>
            <a:off x="8965997" y="3451860"/>
            <a:ext cx="2448458" cy="502920"/>
          </a:xfrm>
          <a:prstGeom prst="rect">
            <a:avLst/>
          </a:prstGeom>
          <a:noFill/>
          <a:ln/>
        </p:spPr>
        <p:txBody>
          <a:bodyPr wrap="square" lIns="0" tIns="0" rIns="0" bIns="0" rtlCol="0" anchor="ctr"/>
          <a:lstStyle/>
          <a:p>
            <a:pPr indent="0" marL="0">
              <a:buNone/>
            </a:pPr>
            <a:r>
              <a:rPr lang="en-US" sz="1700" b="1" dirty="0">
                <a:solidFill>
                  <a:srgbClr val="FFFFFF"/>
                </a:solidFill>
                <a:latin typeface="Roboto" pitchFamily="34" charset="0"/>
                <a:ea typeface="Roboto" pitchFamily="34" charset="-122"/>
                <a:cs typeface="Roboto" pitchFamily="34" charset="-120"/>
              </a:rPr>
              <a:t>Paraula clau · Bronze</a:t>
            </a:r>
            <a:endParaRPr lang="en-US" sz="1700" dirty="0"/>
          </a:p>
        </p:txBody>
      </p:sp>
      <p:sp>
        <p:nvSpPr>
          <p:cNvPr id="34" name="Text 26"/>
          <p:cNvSpPr txBox="1"/>
          <p:nvPr/>
        </p:nvSpPr>
        <p:spPr>
          <a:xfrm>
            <a:off x="8325917" y="4091940"/>
            <a:ext cx="3088538" cy="617220"/>
          </a:xfrm>
          <a:prstGeom prst="rect">
            <a:avLst/>
          </a:prstGeom>
          <a:noFill/>
          <a:ln/>
        </p:spPr>
        <p:txBody>
          <a:bodyPr wrap="square" lIns="0" tIns="0" rIns="0" bIns="0" rtlCol="0" anchor="t"/>
          <a:lstStyle/>
          <a:p>
            <a:pPr indent="0" marL="0">
              <a:buNone/>
            </a:pPr>
            <a:r>
              <a:rPr lang="en-US" sz="1500" dirty="0">
                <a:solidFill>
                  <a:srgbClr val="FFFFFF"/>
                </a:solidFill>
                <a:latin typeface="Roboto" pitchFamily="34" charset="0"/>
                <a:ea typeface="Roboto" pitchFamily="34" charset="-122"/>
                <a:cs typeface="Roboto" pitchFamily="34" charset="-120"/>
              </a:rPr>
              <a:t>Aliatge (barreja) de coure amb una mica d'estany.</a:t>
            </a:r>
            <a:endParaRPr lang="en-US" sz="1500" dirty="0"/>
          </a:p>
        </p:txBody>
      </p:sp>
      <p:sp>
        <p:nvSpPr>
          <p:cNvPr id="35" name="Poder i riquesa"/>
          <p:cNvSpPr/>
          <p:nvPr/>
        </p:nvSpPr>
        <p:spPr>
          <a:xfrm>
            <a:off x="548640" y="5029200"/>
            <a:ext cx="11094415" cy="960120"/>
          </a:xfrm>
          <a:prstGeom prst="roundRect">
            <a:avLst>
              <a:gd name="adj" fmla="val 10476"/>
            </a:avLst>
          </a:prstGeom>
          <a:solidFill>
            <a:srgbClr val="F6F8FB"/>
          </a:solidFill>
          <a:ln/>
        </p:spPr>
      </p:sp>
      <p:sp>
        <p:nvSpPr>
          <p:cNvPr id="36" name="Text 28"/>
          <p:cNvSpPr txBox="1"/>
          <p:nvPr/>
        </p:nvSpPr>
        <p:spPr>
          <a:xfrm>
            <a:off x="868680" y="518464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Poder i riquesa</a:t>
            </a:r>
            <a:endParaRPr lang="en-US" sz="1400" dirty="0"/>
          </a:p>
        </p:txBody>
      </p:sp>
      <p:sp>
        <p:nvSpPr>
          <p:cNvPr id="37" name="Text 29"/>
          <p:cNvSpPr txBox="1"/>
          <p:nvPr/>
        </p:nvSpPr>
        <p:spPr>
          <a:xfrm>
            <a:off x="868680" y="5532120"/>
            <a:ext cx="10454335" cy="32004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Controlar aquests camins donava riquesa i poder. Per això els reis feien la guerra per dominar-los, i en presumien a les seves inscripcions.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rei que presumeix del comerç</a:t>
            </a:r>
            <a:endParaRPr lang="en-US" sz="2800" dirty="0"/>
          </a:p>
        </p:txBody>
      </p:sp>
      <p:sp>
        <p:nvSpPr>
          <p:cNvPr id="5" name="Font directa · Una inscripció de Sargon d'Accad (cap al 2300 aC)"/>
          <p:cNvSpPr/>
          <p:nvPr/>
        </p:nvSpPr>
        <p:spPr>
          <a:xfrm>
            <a:off x="548640" y="1371600"/>
            <a:ext cx="11094415" cy="2514600"/>
          </a:xfrm>
          <a:prstGeom prst="roundRect">
            <a:avLst>
              <a:gd name="adj" fmla="val 4000"/>
            </a:avLst>
          </a:prstGeom>
          <a:solidFill>
            <a:srgbClr val="F6F8FB"/>
          </a:solidFill>
          <a:ln/>
        </p:spPr>
      </p:sp>
      <p:sp>
        <p:nvSpPr>
          <p:cNvPr id="6" name="Text 4"/>
          <p:cNvSpPr txBox="1"/>
          <p:nvPr/>
        </p:nvSpPr>
        <p:spPr>
          <a:xfrm>
            <a:off x="914400" y="1554480"/>
            <a:ext cx="1036289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Una inscripció de Sargon d'Accad (cap al 2300 aC)</a:t>
            </a:r>
            <a:endParaRPr lang="en-US" sz="1400" dirty="0"/>
          </a:p>
        </p:txBody>
      </p:sp>
      <p:sp>
        <p:nvSpPr>
          <p:cNvPr id="7" name="Text 5"/>
          <p:cNvSpPr txBox="1"/>
          <p:nvPr/>
        </p:nvSpPr>
        <p:spPr>
          <a:xfrm>
            <a:off x="914400" y="1965960"/>
            <a:ext cx="10362895" cy="1188720"/>
          </a:xfrm>
          <a:prstGeom prst="rect">
            <a:avLst/>
          </a:prstGeom>
          <a:noFill/>
          <a:ln/>
        </p:spPr>
        <p:txBody>
          <a:bodyPr wrap="square" lIns="0" tIns="0" rIns="0" bIns="0" rtlCol="0" anchor="t"/>
          <a:lstStyle/>
          <a:p>
            <a:pPr indent="0" marL="0">
              <a:buNone/>
            </a:pPr>
            <a:r>
              <a:rPr lang="en-US" sz="2200" i="1" dirty="0">
                <a:solidFill>
                  <a:srgbClr val="202124"/>
                </a:solidFill>
                <a:latin typeface="Roboto" pitchFamily="34" charset="0"/>
                <a:ea typeface="Roboto" pitchFamily="34" charset="-122"/>
                <a:cs typeface="Roboto" pitchFamily="34" charset="-120"/>
              </a:rPr>
              <a:t>«[Sargon] va fer amarrar al moll d'Accad els vaixells de Meluhha, els vaixells de Magan i els vaixells de Dilmun.»</a:t>
            </a:r>
            <a:endParaRPr lang="en-US" sz="2200" dirty="0"/>
          </a:p>
        </p:txBody>
      </p:sp>
      <p:sp>
        <p:nvSpPr>
          <p:cNvPr id="8" name="Text 6"/>
          <p:cNvSpPr txBox="1"/>
          <p:nvPr/>
        </p:nvSpPr>
        <p:spPr>
          <a:xfrm>
            <a:off x="914400" y="2990088"/>
            <a:ext cx="10362895" cy="777240"/>
          </a:xfrm>
          <a:prstGeom prst="rect">
            <a:avLst/>
          </a:prstGeom>
          <a:noFill/>
          <a:ln/>
        </p:spPr>
        <p:txBody>
          <a:bodyPr wrap="square" lIns="0" tIns="0" rIns="0" bIns="0" rtlCol="0" anchor="b"/>
          <a:lstStyle/>
          <a:p>
            <a:pPr indent="0" marL="0">
              <a:buNone/>
            </a:pPr>
            <a:r>
              <a:rPr lang="en-US" sz="1300" dirty="0">
                <a:solidFill>
                  <a:srgbClr val="5F6368"/>
                </a:solidFill>
                <a:latin typeface="Roboto" pitchFamily="34" charset="0"/>
                <a:ea typeface="Roboto" pitchFamily="34" charset="-122"/>
                <a:cs typeface="Roboto" pitchFamily="34" charset="-120"/>
              </a:rPr>
              <a:t>La va copiar segles més tard un escriba de Nippur en una tauleta. Traducció catalana a partir de la versió anglesa de la Cuneiform Digital Library Initiative (RIME 2.01.01.11).</a:t>
            </a:r>
            <a:endParaRPr lang="en-US" sz="1300" dirty="0"/>
          </a:p>
        </p:txBody>
      </p:sp>
      <p:sp>
        <p:nvSpPr>
          <p:cNvPr id="9" name="On eren?"/>
          <p:cNvSpPr/>
          <p:nvPr/>
        </p:nvSpPr>
        <p:spPr>
          <a:xfrm>
            <a:off x="548640" y="4114800"/>
            <a:ext cx="5410048" cy="1920240"/>
          </a:xfrm>
          <a:prstGeom prst="roundRect">
            <a:avLst>
              <a:gd name="adj" fmla="val 5238"/>
            </a:avLst>
          </a:prstGeom>
          <a:solidFill>
            <a:srgbClr val="F6F8FB"/>
          </a:solidFill>
          <a:ln/>
        </p:spPr>
      </p:sp>
      <p:sp>
        <p:nvSpPr>
          <p:cNvPr id="10" name="Text 8"/>
          <p:cNvSpPr txBox="1"/>
          <p:nvPr/>
        </p:nvSpPr>
        <p:spPr>
          <a:xfrm>
            <a:off x="868680" y="427024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On eren?</a:t>
            </a:r>
            <a:endParaRPr lang="en-US" sz="1400" dirty="0"/>
          </a:p>
        </p:txBody>
      </p:sp>
      <p:sp>
        <p:nvSpPr>
          <p:cNvPr id="11" name="Text 9"/>
          <p:cNvSpPr txBox="1"/>
          <p:nvPr/>
        </p:nvSpPr>
        <p:spPr>
          <a:xfrm>
            <a:off x="868680" y="4617720"/>
            <a:ext cx="4769968" cy="1280160"/>
          </a:xfrm>
          <a:prstGeom prst="rect">
            <a:avLst/>
          </a:prstGeom>
          <a:noFill/>
          <a:ln/>
        </p:spPr>
        <p:txBody>
          <a:bodyPr wrap="square" lIns="0" tIns="0" rIns="0" bIns="0" rtlCol="0" anchor="t"/>
          <a:lstStyle/>
          <a:p>
            <a:pPr indent="0" marL="0">
              <a:buNone/>
            </a:pPr>
            <a:r>
              <a:rPr lang="en-US" sz="1600" dirty="0">
                <a:solidFill>
                  <a:srgbClr val="5F6368"/>
                </a:solidFill>
                <a:latin typeface="Roboto" pitchFamily="34" charset="0"/>
                <a:ea typeface="Roboto" pitchFamily="34" charset="-122"/>
                <a:cs typeface="Roboto" pitchFamily="34" charset="-120"/>
              </a:rPr>
              <a:t>Meluhha és la vall de l'Indus, Magan l'actual Oman i Dilmun l'actual Bahrain.</a:t>
            </a:r>
            <a:endParaRPr lang="en-US" sz="1600" dirty="0"/>
          </a:p>
        </p:txBody>
      </p:sp>
      <p:sp>
        <p:nvSpPr>
          <p:cNvPr id="12" name="Pensa-hi"/>
          <p:cNvSpPr/>
          <p:nvPr/>
        </p:nvSpPr>
        <p:spPr>
          <a:xfrm>
            <a:off x="6233008" y="4114800"/>
            <a:ext cx="5410048" cy="1920240"/>
          </a:xfrm>
          <a:prstGeom prst="roundRect">
            <a:avLst>
              <a:gd name="adj" fmla="val 5238"/>
            </a:avLst>
          </a:prstGeom>
          <a:solidFill>
            <a:srgbClr val="E6F4EA"/>
          </a:solidFill>
          <a:ln/>
        </p:spPr>
      </p:sp>
      <p:sp>
        <p:nvSpPr>
          <p:cNvPr id="13" name="Text 11"/>
          <p:cNvSpPr txBox="1"/>
          <p:nvPr/>
        </p:nvSpPr>
        <p:spPr>
          <a:xfrm>
            <a:off x="6553048" y="427024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Pensa-hi</a:t>
            </a:r>
            <a:endParaRPr lang="en-US" sz="1400" dirty="0"/>
          </a:p>
        </p:txBody>
      </p:sp>
      <p:sp>
        <p:nvSpPr>
          <p:cNvPr id="14" name="Text 12"/>
          <p:cNvSpPr txBox="1"/>
          <p:nvPr/>
        </p:nvSpPr>
        <p:spPr>
          <a:xfrm>
            <a:off x="6553048" y="4617720"/>
            <a:ext cx="4769968" cy="128016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Per què creus que el rei volia que se sabés que hi arribaven vaixells de tan lluny?</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Invents que encara fem servir</a:t>
            </a:r>
            <a:endParaRPr lang="en-US" sz="2800" dirty="0"/>
          </a:p>
        </p:txBody>
      </p:sp>
      <p:sp>
        <p:nvSpPr>
          <p:cNvPr id="5" name="L'escriptura cuneïforme"/>
          <p:cNvSpPr/>
          <p:nvPr/>
        </p:nvSpPr>
        <p:spPr>
          <a:xfrm>
            <a:off x="548640" y="1371600"/>
            <a:ext cx="5120640" cy="4617720"/>
          </a:xfrm>
          <a:prstGeom prst="roundRect">
            <a:avLst>
              <a:gd name="adj" fmla="val 2178"/>
            </a:avLst>
          </a:prstGeom>
          <a:solidFill>
            <a:srgbClr val="FFFFFF"/>
          </a:solidFill>
          <a:ln w="12700">
            <a:solidFill>
              <a:srgbClr val="DADCE0"/>
            </a:solidFill>
            <a:prstDash val="solid"/>
          </a:ln>
        </p:spPr>
      </p:sp>
      <p:sp>
        <p:nvSpPr>
          <p:cNvPr id="6" name="Cercle icona"/>
          <p:cNvSpPr/>
          <p:nvPr/>
        </p:nvSpPr>
        <p:spPr>
          <a:xfrm>
            <a:off x="777240" y="1554480"/>
            <a:ext cx="685800" cy="685800"/>
          </a:xfrm>
          <a:prstGeom prst="ellipse">
            <a:avLst/>
          </a:prstGeom>
          <a:solidFill>
            <a:srgbClr val="188038"/>
          </a:solidFill>
          <a:ln/>
        </p:spPr>
      </p:sp>
      <p:pic>
        <p:nvPicPr>
          <p:cNvPr id="7" name="Icona TbWriting" descr="/home/claude/pc/build/1r-eso-civilitzacions/img/ic/TbWriting-w.png">    </p:cNvPr>
          <p:cNvPicPr>
            <a:picLocks noChangeAspect="1"/>
          </p:cNvPicPr>
          <p:nvPr/>
        </p:nvPicPr>
        <p:blipFill>
          <a:blip r:embed="rId1"/>
          <a:stretch>
            <a:fillRect/>
          </a:stretch>
        </p:blipFill>
        <p:spPr>
          <a:xfrm>
            <a:off x="928116" y="1705356"/>
            <a:ext cx="384048" cy="384048"/>
          </a:xfrm>
          <a:prstGeom prst="rect">
            <a:avLst/>
          </a:prstGeom>
        </p:spPr>
      </p:pic>
      <p:sp>
        <p:nvSpPr>
          <p:cNvPr id="8" name="Text 5"/>
          <p:cNvSpPr txBox="1"/>
          <p:nvPr/>
        </p:nvSpPr>
        <p:spPr>
          <a:xfrm>
            <a:off x="1645920" y="1554480"/>
            <a:ext cx="3840480" cy="68580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L'escriptura cuneïforme</a:t>
            </a:r>
            <a:endParaRPr lang="en-US" sz="1900" dirty="0"/>
          </a:p>
        </p:txBody>
      </p:sp>
      <p:sp>
        <p:nvSpPr>
          <p:cNvPr id="9" name="Cercle icona"/>
          <p:cNvSpPr/>
          <p:nvPr/>
        </p:nvSpPr>
        <p:spPr>
          <a:xfrm>
            <a:off x="822960" y="2560320"/>
            <a:ext cx="457200" cy="457200"/>
          </a:xfrm>
          <a:prstGeom prst="ellipse">
            <a:avLst/>
          </a:prstGeom>
          <a:solidFill>
            <a:srgbClr val="E6F4EA"/>
          </a:solidFill>
          <a:ln/>
        </p:spPr>
      </p:sp>
      <p:pic>
        <p:nvPicPr>
          <p:cNvPr id="10" name="Icona TbClipboardList" descr="/home/claude/pc/build/1r-eso-civilitzacions/img/ic/TbClipboardList-g.png">    </p:cNvPr>
          <p:cNvPicPr>
            <a:picLocks noChangeAspect="1"/>
          </p:cNvPicPr>
          <p:nvPr/>
        </p:nvPicPr>
        <p:blipFill>
          <a:blip r:embed="rId2"/>
          <a:stretch>
            <a:fillRect/>
          </a:stretch>
        </p:blipFill>
        <p:spPr>
          <a:xfrm>
            <a:off x="923544" y="2660904"/>
            <a:ext cx="256032" cy="256032"/>
          </a:xfrm>
          <a:prstGeom prst="rect">
            <a:avLst/>
          </a:prstGeom>
        </p:spPr>
      </p:pic>
      <p:sp>
        <p:nvSpPr>
          <p:cNvPr id="11" name="Text 7"/>
          <p:cNvSpPr txBox="1"/>
          <p:nvPr/>
        </p:nvSpPr>
        <p:spPr>
          <a:xfrm>
            <a:off x="1481328" y="2468880"/>
            <a:ext cx="3959352" cy="74980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Per portar els comptes </a:t>
            </a:r>
            <a:pPr indent="0" marL="0">
              <a:buNone/>
            </a:pPr>
            <a:r>
              <a:rPr lang="en-US" sz="1500" dirty="0">
                <a:solidFill>
                  <a:srgbClr val="202124"/>
                </a:solidFill>
                <a:latin typeface="Roboto" pitchFamily="34" charset="0"/>
                <a:ea typeface="Roboto" pitchFamily="34" charset="-122"/>
                <a:cs typeface="Roboto" pitchFamily="34" charset="-120"/>
              </a:rPr>
              <a:t>dels temples i dels palaus.</a:t>
            </a:r>
            <a:endParaRPr lang="en-US" sz="1500" dirty="0"/>
          </a:p>
        </p:txBody>
      </p:sp>
      <p:sp>
        <p:nvSpPr>
          <p:cNvPr id="12" name="Cercle icona"/>
          <p:cNvSpPr/>
          <p:nvPr/>
        </p:nvSpPr>
        <p:spPr>
          <a:xfrm>
            <a:off x="822960" y="3401568"/>
            <a:ext cx="457200" cy="457200"/>
          </a:xfrm>
          <a:prstGeom prst="ellipse">
            <a:avLst/>
          </a:prstGeom>
          <a:solidFill>
            <a:srgbClr val="E6F4EA"/>
          </a:solidFill>
          <a:ln/>
        </p:spPr>
      </p:sp>
      <p:pic>
        <p:nvPicPr>
          <p:cNvPr id="13" name="Icona TbBallpen" descr="/home/claude/pc/build/1r-eso-civilitzacions/img/ic/TbBallpen-g.png">    </p:cNvPr>
          <p:cNvPicPr>
            <a:picLocks noChangeAspect="1"/>
          </p:cNvPicPr>
          <p:nvPr/>
        </p:nvPicPr>
        <p:blipFill>
          <a:blip r:embed="rId3"/>
          <a:stretch>
            <a:fillRect/>
          </a:stretch>
        </p:blipFill>
        <p:spPr>
          <a:xfrm>
            <a:off x="923544" y="3502152"/>
            <a:ext cx="256032" cy="256032"/>
          </a:xfrm>
          <a:prstGeom prst="rect">
            <a:avLst/>
          </a:prstGeom>
        </p:spPr>
      </p:pic>
      <p:sp>
        <p:nvSpPr>
          <p:cNvPr id="14" name="Text 9"/>
          <p:cNvSpPr txBox="1"/>
          <p:nvPr/>
        </p:nvSpPr>
        <p:spPr>
          <a:xfrm>
            <a:off x="1481328" y="3310128"/>
            <a:ext cx="3959352" cy="74980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Un estilet de canya </a:t>
            </a:r>
            <a:pPr indent="0" marL="0">
              <a:buNone/>
            </a:pPr>
            <a:r>
              <a:rPr lang="en-US" sz="1500" dirty="0">
                <a:solidFill>
                  <a:srgbClr val="202124"/>
                </a:solidFill>
                <a:latin typeface="Roboto" pitchFamily="34" charset="0"/>
                <a:ea typeface="Roboto" pitchFamily="34" charset="-122"/>
                <a:cs typeface="Roboto" pitchFamily="34" charset="-120"/>
              </a:rPr>
              <a:t>gravava signes en forma de tascó sobre fang.</a:t>
            </a:r>
            <a:endParaRPr lang="en-US" sz="1500" dirty="0"/>
          </a:p>
        </p:txBody>
      </p:sp>
      <p:sp>
        <p:nvSpPr>
          <p:cNvPr id="15" name="Cercle icona"/>
          <p:cNvSpPr/>
          <p:nvPr/>
        </p:nvSpPr>
        <p:spPr>
          <a:xfrm>
            <a:off x="822960" y="4242816"/>
            <a:ext cx="457200" cy="457200"/>
          </a:xfrm>
          <a:prstGeom prst="ellipse">
            <a:avLst/>
          </a:prstGeom>
          <a:solidFill>
            <a:srgbClr val="E6F4EA"/>
          </a:solidFill>
          <a:ln/>
        </p:spPr>
      </p:sp>
      <p:pic>
        <p:nvPicPr>
          <p:cNvPr id="16" name="Icona TbSun" descr="/home/claude/pc/build/1r-eso-civilitzacions/img/ic/TbSun-g.png">    </p:cNvPr>
          <p:cNvPicPr>
            <a:picLocks noChangeAspect="1"/>
          </p:cNvPicPr>
          <p:nvPr/>
        </p:nvPicPr>
        <p:blipFill>
          <a:blip r:embed="rId4"/>
          <a:stretch>
            <a:fillRect/>
          </a:stretch>
        </p:blipFill>
        <p:spPr>
          <a:xfrm>
            <a:off x="923544" y="4343400"/>
            <a:ext cx="256032" cy="256032"/>
          </a:xfrm>
          <a:prstGeom prst="rect">
            <a:avLst/>
          </a:prstGeom>
        </p:spPr>
      </p:pic>
      <p:sp>
        <p:nvSpPr>
          <p:cNvPr id="17" name="Text 11"/>
          <p:cNvSpPr txBox="1"/>
          <p:nvPr/>
        </p:nvSpPr>
        <p:spPr>
          <a:xfrm>
            <a:off x="1481328" y="4151376"/>
            <a:ext cx="3959352" cy="74980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S'assecaven al sol. </a:t>
            </a:r>
            <a:pPr indent="0" marL="0">
              <a:buNone/>
            </a:pPr>
            <a:r>
              <a:rPr lang="en-US" sz="1500" dirty="0">
                <a:solidFill>
                  <a:srgbClr val="202124"/>
                </a:solidFill>
                <a:latin typeface="Roboto" pitchFamily="34" charset="0"/>
                <a:ea typeface="Roboto" pitchFamily="34" charset="-122"/>
                <a:cs typeface="Roboto" pitchFamily="34" charset="-120"/>
              </a:rPr>
              <a:t>Algunes es coïen al forn.</a:t>
            </a:r>
            <a:endParaRPr lang="en-US" sz="1500" dirty="0"/>
          </a:p>
        </p:txBody>
      </p:sp>
      <p:sp>
        <p:nvSpPr>
          <p:cNvPr id="18" name="Cercle icona"/>
          <p:cNvSpPr/>
          <p:nvPr/>
        </p:nvSpPr>
        <p:spPr>
          <a:xfrm>
            <a:off x="822960" y="5084064"/>
            <a:ext cx="457200" cy="457200"/>
          </a:xfrm>
          <a:prstGeom prst="ellipse">
            <a:avLst/>
          </a:prstGeom>
          <a:solidFill>
            <a:srgbClr val="E6F4EA"/>
          </a:solidFill>
          <a:ln/>
        </p:spPr>
      </p:sp>
      <p:pic>
        <p:nvPicPr>
          <p:cNvPr id="19" name="Icona TbHourglass" descr="/home/claude/pc/build/1r-eso-civilitzacions/img/ic/TbHourglass-g.png">    </p:cNvPr>
          <p:cNvPicPr>
            <a:picLocks noChangeAspect="1"/>
          </p:cNvPicPr>
          <p:nvPr/>
        </p:nvPicPr>
        <p:blipFill>
          <a:blip r:embed="rId5"/>
          <a:stretch>
            <a:fillRect/>
          </a:stretch>
        </p:blipFill>
        <p:spPr>
          <a:xfrm>
            <a:off x="923544" y="5184648"/>
            <a:ext cx="256032" cy="256032"/>
          </a:xfrm>
          <a:prstGeom prst="rect">
            <a:avLst/>
          </a:prstGeom>
        </p:spPr>
      </p:pic>
      <p:sp>
        <p:nvSpPr>
          <p:cNvPr id="20" name="Text 13"/>
          <p:cNvSpPr txBox="1"/>
          <p:nvPr/>
        </p:nvSpPr>
        <p:spPr>
          <a:xfrm>
            <a:off x="1481328" y="4992624"/>
            <a:ext cx="3959352" cy="749808"/>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Les més antigues, </a:t>
            </a:r>
            <a:pPr indent="0" marL="0">
              <a:buNone/>
            </a:pPr>
            <a:r>
              <a:rPr lang="en-US" sz="1500" dirty="0">
                <a:solidFill>
                  <a:srgbClr val="202124"/>
                </a:solidFill>
                <a:latin typeface="Roboto" pitchFamily="34" charset="0"/>
                <a:ea typeface="Roboto" pitchFamily="34" charset="-122"/>
                <a:cs typeface="Roboto" pitchFamily="34" charset="-120"/>
              </a:rPr>
              <a:t>d'Uruk, tenen uns 5.300 anys.</a:t>
            </a:r>
            <a:endParaRPr lang="en-US" sz="1500" dirty="0"/>
          </a:p>
        </p:txBody>
      </p:sp>
      <p:sp>
        <p:nvSpPr>
          <p:cNvPr id="21" name="Targeta La roda"/>
          <p:cNvSpPr/>
          <p:nvPr/>
        </p:nvSpPr>
        <p:spPr>
          <a:xfrm>
            <a:off x="5943600" y="1371600"/>
            <a:ext cx="2735428" cy="2194560"/>
          </a:xfrm>
          <a:prstGeom prst="roundRect">
            <a:avLst>
              <a:gd name="adj" fmla="val 4583"/>
            </a:avLst>
          </a:prstGeom>
          <a:solidFill>
            <a:srgbClr val="FFFFFF"/>
          </a:solidFill>
          <a:ln w="12700">
            <a:solidFill>
              <a:srgbClr val="DADCE0"/>
            </a:solidFill>
            <a:prstDash val="solid"/>
          </a:ln>
        </p:spPr>
      </p:sp>
      <p:sp>
        <p:nvSpPr>
          <p:cNvPr id="22" name="Cercle icona"/>
          <p:cNvSpPr/>
          <p:nvPr/>
        </p:nvSpPr>
        <p:spPr>
          <a:xfrm>
            <a:off x="6172200" y="1600200"/>
            <a:ext cx="548640" cy="548640"/>
          </a:xfrm>
          <a:prstGeom prst="ellipse">
            <a:avLst/>
          </a:prstGeom>
          <a:solidFill>
            <a:srgbClr val="E6F4EA"/>
          </a:solidFill>
          <a:ln/>
        </p:spPr>
      </p:sp>
      <p:pic>
        <p:nvPicPr>
          <p:cNvPr id="23" name="Icona TbWheel" descr="/home/claude/pc/build/1r-eso-civilitzacions/img/ic/TbWheel-g.png">    </p:cNvPr>
          <p:cNvPicPr>
            <a:picLocks noChangeAspect="1"/>
          </p:cNvPicPr>
          <p:nvPr/>
        </p:nvPicPr>
        <p:blipFill>
          <a:blip r:embed="rId6"/>
          <a:stretch>
            <a:fillRect/>
          </a:stretch>
        </p:blipFill>
        <p:spPr>
          <a:xfrm>
            <a:off x="6292901" y="1720901"/>
            <a:ext cx="307238" cy="307238"/>
          </a:xfrm>
          <a:prstGeom prst="rect">
            <a:avLst/>
          </a:prstGeom>
        </p:spPr>
      </p:pic>
      <p:sp>
        <p:nvSpPr>
          <p:cNvPr id="24" name="Text 16"/>
          <p:cNvSpPr txBox="1"/>
          <p:nvPr/>
        </p:nvSpPr>
        <p:spPr>
          <a:xfrm>
            <a:off x="6172200" y="2286000"/>
            <a:ext cx="2278228" cy="251460"/>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La roda</a:t>
            </a:r>
            <a:endParaRPr lang="en-US" sz="1650" dirty="0"/>
          </a:p>
        </p:txBody>
      </p:sp>
      <p:sp>
        <p:nvSpPr>
          <p:cNvPr id="25" name="Text 17"/>
          <p:cNvSpPr txBox="1"/>
          <p:nvPr/>
        </p:nvSpPr>
        <p:spPr>
          <a:xfrm>
            <a:off x="6172200" y="2628900"/>
            <a:ext cx="2278228" cy="8001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Dels primers pobles a fer-la servir. Cap al 3500 aC, rodes als carros.</a:t>
            </a:r>
            <a:endParaRPr lang="en-US" sz="1450" dirty="0"/>
          </a:p>
        </p:txBody>
      </p:sp>
      <p:sp>
        <p:nvSpPr>
          <p:cNvPr id="26" name="Targeta Els canals de regadiu"/>
          <p:cNvSpPr/>
          <p:nvPr/>
        </p:nvSpPr>
        <p:spPr>
          <a:xfrm>
            <a:off x="8907628" y="1371600"/>
            <a:ext cx="2735428" cy="2194560"/>
          </a:xfrm>
          <a:prstGeom prst="roundRect">
            <a:avLst>
              <a:gd name="adj" fmla="val 4583"/>
            </a:avLst>
          </a:prstGeom>
          <a:solidFill>
            <a:srgbClr val="FFFFFF"/>
          </a:solidFill>
          <a:ln w="12700">
            <a:solidFill>
              <a:srgbClr val="DADCE0"/>
            </a:solidFill>
            <a:prstDash val="solid"/>
          </a:ln>
        </p:spPr>
      </p:sp>
      <p:sp>
        <p:nvSpPr>
          <p:cNvPr id="27" name="Cercle icona"/>
          <p:cNvSpPr/>
          <p:nvPr/>
        </p:nvSpPr>
        <p:spPr>
          <a:xfrm>
            <a:off x="9136228" y="1600200"/>
            <a:ext cx="548640" cy="548640"/>
          </a:xfrm>
          <a:prstGeom prst="ellipse">
            <a:avLst/>
          </a:prstGeom>
          <a:solidFill>
            <a:srgbClr val="E6F4EA"/>
          </a:solidFill>
          <a:ln/>
        </p:spPr>
      </p:sp>
      <p:pic>
        <p:nvPicPr>
          <p:cNvPr id="28" name="Icona TbDroplets" descr="/home/claude/pc/build/1r-eso-civilitzacions/img/ic/TbDroplets-g.png">    </p:cNvPr>
          <p:cNvPicPr>
            <a:picLocks noChangeAspect="1"/>
          </p:cNvPicPr>
          <p:nvPr/>
        </p:nvPicPr>
        <p:blipFill>
          <a:blip r:embed="rId7"/>
          <a:stretch>
            <a:fillRect/>
          </a:stretch>
        </p:blipFill>
        <p:spPr>
          <a:xfrm>
            <a:off x="9256928" y="1720901"/>
            <a:ext cx="307238" cy="307238"/>
          </a:xfrm>
          <a:prstGeom prst="rect">
            <a:avLst/>
          </a:prstGeom>
        </p:spPr>
      </p:pic>
      <p:sp>
        <p:nvSpPr>
          <p:cNvPr id="29" name="Text 20"/>
          <p:cNvSpPr txBox="1"/>
          <p:nvPr/>
        </p:nvSpPr>
        <p:spPr>
          <a:xfrm>
            <a:off x="9136228" y="2286000"/>
            <a:ext cx="2278228" cy="251460"/>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Els canals de regadiu</a:t>
            </a:r>
            <a:endParaRPr lang="en-US" sz="1650" dirty="0"/>
          </a:p>
        </p:txBody>
      </p:sp>
      <p:sp>
        <p:nvSpPr>
          <p:cNvPr id="30" name="Text 21"/>
          <p:cNvSpPr txBox="1"/>
          <p:nvPr/>
        </p:nvSpPr>
        <p:spPr>
          <a:xfrm>
            <a:off x="9136228" y="2628900"/>
            <a:ext cx="2278228" cy="8001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Repartien l'aigua dels rius pels camps.</a:t>
            </a:r>
            <a:endParaRPr lang="en-US" sz="1450" dirty="0"/>
          </a:p>
        </p:txBody>
      </p:sp>
      <p:sp>
        <p:nvSpPr>
          <p:cNvPr id="31" name="Targeta El sistema de base 60"/>
          <p:cNvSpPr/>
          <p:nvPr/>
        </p:nvSpPr>
        <p:spPr>
          <a:xfrm>
            <a:off x="5943600" y="3794760"/>
            <a:ext cx="2735428" cy="2194560"/>
          </a:xfrm>
          <a:prstGeom prst="roundRect">
            <a:avLst>
              <a:gd name="adj" fmla="val 4583"/>
            </a:avLst>
          </a:prstGeom>
          <a:solidFill>
            <a:srgbClr val="FFFFFF"/>
          </a:solidFill>
          <a:ln w="12700">
            <a:solidFill>
              <a:srgbClr val="DADCE0"/>
            </a:solidFill>
            <a:prstDash val="solid"/>
          </a:ln>
        </p:spPr>
      </p:sp>
      <p:sp>
        <p:nvSpPr>
          <p:cNvPr id="32" name="Cercle icona"/>
          <p:cNvSpPr/>
          <p:nvPr/>
        </p:nvSpPr>
        <p:spPr>
          <a:xfrm>
            <a:off x="6172200" y="4023360"/>
            <a:ext cx="548640" cy="548640"/>
          </a:xfrm>
          <a:prstGeom prst="ellipse">
            <a:avLst/>
          </a:prstGeom>
          <a:solidFill>
            <a:srgbClr val="E6F4EA"/>
          </a:solidFill>
          <a:ln/>
        </p:spPr>
      </p:sp>
      <p:pic>
        <p:nvPicPr>
          <p:cNvPr id="33" name="Icona TbClock" descr="/home/claude/pc/build/1r-eso-civilitzacions/img/ic/TbClock-g.png">    </p:cNvPr>
          <p:cNvPicPr>
            <a:picLocks noChangeAspect="1"/>
          </p:cNvPicPr>
          <p:nvPr/>
        </p:nvPicPr>
        <p:blipFill>
          <a:blip r:embed="rId8"/>
          <a:stretch>
            <a:fillRect/>
          </a:stretch>
        </p:blipFill>
        <p:spPr>
          <a:xfrm>
            <a:off x="6292901" y="4144061"/>
            <a:ext cx="307238" cy="307238"/>
          </a:xfrm>
          <a:prstGeom prst="rect">
            <a:avLst/>
          </a:prstGeom>
        </p:spPr>
      </p:pic>
      <p:sp>
        <p:nvSpPr>
          <p:cNvPr id="34" name="Text 24"/>
          <p:cNvSpPr txBox="1"/>
          <p:nvPr/>
        </p:nvSpPr>
        <p:spPr>
          <a:xfrm>
            <a:off x="6172200" y="4709160"/>
            <a:ext cx="2278228" cy="251460"/>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El sistema de base 60</a:t>
            </a:r>
            <a:endParaRPr lang="en-US" sz="1650" dirty="0"/>
          </a:p>
        </p:txBody>
      </p:sp>
      <p:sp>
        <p:nvSpPr>
          <p:cNvPr id="35" name="Text 25"/>
          <p:cNvSpPr txBox="1"/>
          <p:nvPr/>
        </p:nvSpPr>
        <p:spPr>
          <a:xfrm>
            <a:off x="6172200" y="5052060"/>
            <a:ext cx="2278228" cy="8001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Per això una hora té 60 minuts i el cercle, 360 graus.</a:t>
            </a:r>
            <a:endParaRPr lang="en-US" sz="1450" dirty="0"/>
          </a:p>
        </p:txBody>
      </p:sp>
      <p:sp>
        <p:nvSpPr>
          <p:cNvPr id="36" name="Targeta Calendari i astronomia"/>
          <p:cNvSpPr/>
          <p:nvPr/>
        </p:nvSpPr>
        <p:spPr>
          <a:xfrm>
            <a:off x="8907628" y="3794760"/>
            <a:ext cx="2735428" cy="2194560"/>
          </a:xfrm>
          <a:prstGeom prst="roundRect">
            <a:avLst>
              <a:gd name="adj" fmla="val 4583"/>
            </a:avLst>
          </a:prstGeom>
          <a:solidFill>
            <a:srgbClr val="FFFFFF"/>
          </a:solidFill>
          <a:ln w="12700">
            <a:solidFill>
              <a:srgbClr val="DADCE0"/>
            </a:solidFill>
            <a:prstDash val="solid"/>
          </a:ln>
        </p:spPr>
      </p:sp>
      <p:sp>
        <p:nvSpPr>
          <p:cNvPr id="37" name="Cercle icona"/>
          <p:cNvSpPr/>
          <p:nvPr/>
        </p:nvSpPr>
        <p:spPr>
          <a:xfrm>
            <a:off x="9136228" y="4023360"/>
            <a:ext cx="548640" cy="548640"/>
          </a:xfrm>
          <a:prstGeom prst="ellipse">
            <a:avLst/>
          </a:prstGeom>
          <a:solidFill>
            <a:srgbClr val="E6F4EA"/>
          </a:solidFill>
          <a:ln/>
        </p:spPr>
      </p:sp>
      <p:pic>
        <p:nvPicPr>
          <p:cNvPr id="38" name="Icona TbMoonStars" descr="/home/claude/pc/build/1r-eso-civilitzacions/img/ic/TbMoonStars-g.png">    </p:cNvPr>
          <p:cNvPicPr>
            <a:picLocks noChangeAspect="1"/>
          </p:cNvPicPr>
          <p:nvPr/>
        </p:nvPicPr>
        <p:blipFill>
          <a:blip r:embed="rId9"/>
          <a:stretch>
            <a:fillRect/>
          </a:stretch>
        </p:blipFill>
        <p:spPr>
          <a:xfrm>
            <a:off x="9256928" y="4144061"/>
            <a:ext cx="307238" cy="307238"/>
          </a:xfrm>
          <a:prstGeom prst="rect">
            <a:avLst/>
          </a:prstGeom>
        </p:spPr>
      </p:pic>
      <p:sp>
        <p:nvSpPr>
          <p:cNvPr id="39" name="Text 28"/>
          <p:cNvSpPr txBox="1"/>
          <p:nvPr/>
        </p:nvSpPr>
        <p:spPr>
          <a:xfrm>
            <a:off x="9136228" y="4709160"/>
            <a:ext cx="2278228" cy="251460"/>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Calendari i astronomia</a:t>
            </a:r>
            <a:endParaRPr lang="en-US" sz="1650" dirty="0"/>
          </a:p>
        </p:txBody>
      </p:sp>
      <p:sp>
        <p:nvSpPr>
          <p:cNvPr id="40" name="Text 29"/>
          <p:cNvSpPr txBox="1"/>
          <p:nvPr/>
        </p:nvSpPr>
        <p:spPr>
          <a:xfrm>
            <a:off x="9136228" y="5052060"/>
            <a:ext cx="2278228" cy="80010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El calendari lunar, l'astronomia i les primeres matemàtiques per al comerç i la construcció.</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expliquen les tauletes?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Gràcies a les tauletes conservades sabem coses sorprenentment quotidianes.</a:t>
            </a:r>
            <a:endParaRPr lang="en-US" sz="1800" dirty="0"/>
          </a:p>
        </p:txBody>
      </p:sp>
      <p:sp>
        <p:nvSpPr>
          <p:cNvPr id="6" name="Targeta Deures d'escola"/>
          <p:cNvSpPr/>
          <p:nvPr/>
        </p:nvSpPr>
        <p:spPr>
          <a:xfrm>
            <a:off x="548640" y="1965960"/>
            <a:ext cx="3515258" cy="2468880"/>
          </a:xfrm>
          <a:prstGeom prst="roundRect">
            <a:avLst>
              <a:gd name="adj" fmla="val 4074"/>
            </a:avLst>
          </a:prstGeom>
          <a:solidFill>
            <a:srgbClr val="FFFFFF"/>
          </a:solidFill>
          <a:ln w="12700">
            <a:solidFill>
              <a:srgbClr val="DADCE0"/>
            </a:solidFill>
            <a:prstDash val="solid"/>
          </a:ln>
        </p:spPr>
      </p:sp>
      <p:sp>
        <p:nvSpPr>
          <p:cNvPr id="7" name="Cercle icona"/>
          <p:cNvSpPr/>
          <p:nvPr/>
        </p:nvSpPr>
        <p:spPr>
          <a:xfrm>
            <a:off x="777240" y="2194560"/>
            <a:ext cx="731520" cy="731520"/>
          </a:xfrm>
          <a:prstGeom prst="ellipse">
            <a:avLst/>
          </a:prstGeom>
          <a:solidFill>
            <a:srgbClr val="E6F4EA"/>
          </a:solidFill>
          <a:ln/>
        </p:spPr>
      </p:sp>
      <p:pic>
        <p:nvPicPr>
          <p:cNvPr id="8" name="Icona TbSchool" descr="/home/claude/pc/build/1r-eso-civilitzacions/img/ic/TbSchool-g.png">    </p:cNvPr>
          <p:cNvPicPr>
            <a:picLocks noChangeAspect="1"/>
          </p:cNvPicPr>
          <p:nvPr/>
        </p:nvPicPr>
        <p:blipFill>
          <a:blip r:embed="rId1"/>
          <a:stretch>
            <a:fillRect/>
          </a:stretch>
        </p:blipFill>
        <p:spPr>
          <a:xfrm>
            <a:off x="938174" y="2355494"/>
            <a:ext cx="409651" cy="409651"/>
          </a:xfrm>
          <a:prstGeom prst="rect">
            <a:avLst/>
          </a:prstGeom>
        </p:spPr>
      </p:pic>
      <p:sp>
        <p:nvSpPr>
          <p:cNvPr id="9" name="Text 6"/>
          <p:cNvSpPr txBox="1"/>
          <p:nvPr/>
        </p:nvSpPr>
        <p:spPr>
          <a:xfrm>
            <a:off x="777240" y="3063240"/>
            <a:ext cx="305805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Deures d'escola</a:t>
            </a:r>
            <a:endParaRPr lang="en-US" sz="1900" dirty="0"/>
          </a:p>
        </p:txBody>
      </p:sp>
      <p:sp>
        <p:nvSpPr>
          <p:cNvPr id="10" name="Text 7"/>
          <p:cNvSpPr txBox="1"/>
          <p:nvPr/>
        </p:nvSpPr>
        <p:spPr>
          <a:xfrm>
            <a:off x="777240" y="3444240"/>
            <a:ext cx="3058058" cy="85344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D'aprenents d'escriba, amb els errors corregits pel mestre.</a:t>
            </a:r>
            <a:endParaRPr lang="en-US" sz="1600" dirty="0"/>
          </a:p>
        </p:txBody>
      </p:sp>
      <p:sp>
        <p:nvSpPr>
          <p:cNvPr id="11" name="Targeta Receptes de cervesa"/>
          <p:cNvSpPr/>
          <p:nvPr/>
        </p:nvSpPr>
        <p:spPr>
          <a:xfrm>
            <a:off x="4338218" y="1965960"/>
            <a:ext cx="3515258" cy="2468880"/>
          </a:xfrm>
          <a:prstGeom prst="roundRect">
            <a:avLst>
              <a:gd name="adj" fmla="val 4074"/>
            </a:avLst>
          </a:prstGeom>
          <a:solidFill>
            <a:srgbClr val="FFFFFF"/>
          </a:solidFill>
          <a:ln w="12700">
            <a:solidFill>
              <a:srgbClr val="DADCE0"/>
            </a:solidFill>
            <a:prstDash val="solid"/>
          </a:ln>
        </p:spPr>
      </p:sp>
      <p:sp>
        <p:nvSpPr>
          <p:cNvPr id="12" name="Cercle icona"/>
          <p:cNvSpPr/>
          <p:nvPr/>
        </p:nvSpPr>
        <p:spPr>
          <a:xfrm>
            <a:off x="4566818" y="2194560"/>
            <a:ext cx="731520" cy="731520"/>
          </a:xfrm>
          <a:prstGeom prst="ellipse">
            <a:avLst/>
          </a:prstGeom>
          <a:solidFill>
            <a:srgbClr val="E6F4EA"/>
          </a:solidFill>
          <a:ln/>
        </p:spPr>
      </p:sp>
      <p:pic>
        <p:nvPicPr>
          <p:cNvPr id="13" name="Icona TbBeer" descr="/home/claude/pc/build/1r-eso-civilitzacions/img/ic/TbBeer-g.png">    </p:cNvPr>
          <p:cNvPicPr>
            <a:picLocks noChangeAspect="1"/>
          </p:cNvPicPr>
          <p:nvPr/>
        </p:nvPicPr>
        <p:blipFill>
          <a:blip r:embed="rId2"/>
          <a:stretch>
            <a:fillRect/>
          </a:stretch>
        </p:blipFill>
        <p:spPr>
          <a:xfrm>
            <a:off x="4727753" y="2355494"/>
            <a:ext cx="409651" cy="409651"/>
          </a:xfrm>
          <a:prstGeom prst="rect">
            <a:avLst/>
          </a:prstGeom>
        </p:spPr>
      </p:pic>
      <p:sp>
        <p:nvSpPr>
          <p:cNvPr id="14" name="Text 10"/>
          <p:cNvSpPr txBox="1"/>
          <p:nvPr/>
        </p:nvSpPr>
        <p:spPr>
          <a:xfrm>
            <a:off x="4566818" y="3063240"/>
            <a:ext cx="305805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Receptes de cervesa</a:t>
            </a:r>
            <a:endParaRPr lang="en-US" sz="1900" dirty="0"/>
          </a:p>
        </p:txBody>
      </p:sp>
      <p:sp>
        <p:nvSpPr>
          <p:cNvPr id="15" name="Text 11"/>
          <p:cNvSpPr txBox="1"/>
          <p:nvPr/>
        </p:nvSpPr>
        <p:spPr>
          <a:xfrm>
            <a:off x="4566818" y="3444240"/>
            <a:ext cx="3058058" cy="85344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Sí, ja en feien i n'anotaven com es preparava.</a:t>
            </a:r>
            <a:endParaRPr lang="en-US" sz="1600" dirty="0"/>
          </a:p>
        </p:txBody>
      </p:sp>
      <p:sp>
        <p:nvSpPr>
          <p:cNvPr id="16" name="Targeta Una reclamació"/>
          <p:cNvSpPr/>
          <p:nvPr/>
        </p:nvSpPr>
        <p:spPr>
          <a:xfrm>
            <a:off x="8127797" y="1965960"/>
            <a:ext cx="3515258" cy="2468880"/>
          </a:xfrm>
          <a:prstGeom prst="roundRect">
            <a:avLst>
              <a:gd name="adj" fmla="val 4074"/>
            </a:avLst>
          </a:prstGeom>
          <a:solidFill>
            <a:srgbClr val="FFFFFF"/>
          </a:solidFill>
          <a:ln w="12700">
            <a:solidFill>
              <a:srgbClr val="DADCE0"/>
            </a:solidFill>
            <a:prstDash val="solid"/>
          </a:ln>
        </p:spPr>
      </p:sp>
      <p:sp>
        <p:nvSpPr>
          <p:cNvPr id="17" name="Cercle icona"/>
          <p:cNvSpPr/>
          <p:nvPr/>
        </p:nvSpPr>
        <p:spPr>
          <a:xfrm>
            <a:off x="8356397" y="2194560"/>
            <a:ext cx="731520" cy="731520"/>
          </a:xfrm>
          <a:prstGeom prst="ellipse">
            <a:avLst/>
          </a:prstGeom>
          <a:solidFill>
            <a:srgbClr val="E6F4EA"/>
          </a:solidFill>
          <a:ln/>
        </p:spPr>
      </p:sp>
      <p:pic>
        <p:nvPicPr>
          <p:cNvPr id="18" name="Icona TbFileText" descr="/home/claude/pc/build/1r-eso-civilitzacions/img/ic/TbFileText-g.png">    </p:cNvPr>
          <p:cNvPicPr>
            <a:picLocks noChangeAspect="1"/>
          </p:cNvPicPr>
          <p:nvPr/>
        </p:nvPicPr>
        <p:blipFill>
          <a:blip r:embed="rId3"/>
          <a:stretch>
            <a:fillRect/>
          </a:stretch>
        </p:blipFill>
        <p:spPr>
          <a:xfrm>
            <a:off x="8517331" y="2355494"/>
            <a:ext cx="409651" cy="409651"/>
          </a:xfrm>
          <a:prstGeom prst="rect">
            <a:avLst/>
          </a:prstGeom>
        </p:spPr>
      </p:pic>
      <p:sp>
        <p:nvSpPr>
          <p:cNvPr id="19" name="Text 14"/>
          <p:cNvSpPr txBox="1"/>
          <p:nvPr/>
        </p:nvSpPr>
        <p:spPr>
          <a:xfrm>
            <a:off x="8356397" y="3063240"/>
            <a:ext cx="3058058" cy="289560"/>
          </a:xfrm>
          <a:prstGeom prst="rect">
            <a:avLst/>
          </a:prstGeom>
          <a:noFill/>
          <a:ln/>
        </p:spPr>
        <p:txBody>
          <a:bodyPr wrap="square" lIns="0" tIns="0" rIns="0" bIns="0" rtlCol="0" anchor="t"/>
          <a:lstStyle/>
          <a:p>
            <a:pPr indent="0" marL="0">
              <a:buNone/>
            </a:pPr>
            <a:r>
              <a:rPr lang="en-US" sz="1900" b="1" dirty="0">
                <a:solidFill>
                  <a:srgbClr val="188038"/>
                </a:solidFill>
                <a:latin typeface="Roboto" pitchFamily="34" charset="0"/>
                <a:ea typeface="Roboto" pitchFamily="34" charset="-122"/>
                <a:cs typeface="Roboto" pitchFamily="34" charset="-120"/>
              </a:rPr>
              <a:t>Una reclamació</a:t>
            </a:r>
            <a:endParaRPr lang="en-US" sz="1900" dirty="0"/>
          </a:p>
        </p:txBody>
      </p:sp>
      <p:sp>
        <p:nvSpPr>
          <p:cNvPr id="20" name="Text 15"/>
          <p:cNvSpPr txBox="1"/>
          <p:nvPr/>
        </p:nvSpPr>
        <p:spPr>
          <a:xfrm>
            <a:off x="8356397" y="3444240"/>
            <a:ext cx="3058058" cy="85344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En Nanni es queixa perquè el mercader Ea-nasir li ha venut lingots de coure de mala qualitat.</a:t>
            </a:r>
            <a:endParaRPr lang="en-US" sz="1600" dirty="0"/>
          </a:p>
        </p:txBody>
      </p:sp>
      <p:sp>
        <p:nvSpPr>
          <p:cNvPr id="21" name="Saps que…?"/>
          <p:cNvSpPr/>
          <p:nvPr/>
        </p:nvSpPr>
        <p:spPr>
          <a:xfrm>
            <a:off x="548640" y="4663440"/>
            <a:ext cx="11094415" cy="1325880"/>
          </a:xfrm>
          <a:prstGeom prst="roundRect">
            <a:avLst>
              <a:gd name="adj" fmla="val 7586"/>
            </a:avLst>
          </a:prstGeom>
          <a:solidFill>
            <a:srgbClr val="E6F4EA"/>
          </a:solidFill>
          <a:ln/>
        </p:spPr>
      </p:sp>
      <p:sp>
        <p:nvSpPr>
          <p:cNvPr id="22" name="Text 17"/>
          <p:cNvSpPr txBox="1"/>
          <p:nvPr/>
        </p:nvSpPr>
        <p:spPr>
          <a:xfrm>
            <a:off x="868680" y="481888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a:t>
            </a:r>
            <a:endParaRPr lang="en-US" sz="1400" dirty="0"/>
          </a:p>
        </p:txBody>
      </p:sp>
      <p:sp>
        <p:nvSpPr>
          <p:cNvPr id="23" name="Text 18"/>
          <p:cNvSpPr txBox="1"/>
          <p:nvPr/>
        </p:nvSpPr>
        <p:spPr>
          <a:xfrm>
            <a:off x="868680" y="5166360"/>
            <a:ext cx="10454335" cy="6858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La tauleta d'en Nanni és d'Ur i té gairebé 3.800 anys. El Llibre Guinness la considera la reclamació de consum escrita més antiga.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Ciutat-estat"/>
          <p:cNvSpPr/>
          <p:nvPr/>
        </p:nvSpPr>
        <p:spPr>
          <a:xfrm>
            <a:off x="548640" y="1755648"/>
            <a:ext cx="1517904" cy="384048"/>
          </a:xfrm>
          <a:prstGeom prst="roundRect">
            <a:avLst>
              <a:gd name="adj" fmla="val 50000"/>
            </a:avLst>
          </a:prstGeom>
          <a:solidFill>
            <a:srgbClr val="E6F4EA"/>
          </a:solidFill>
          <a:ln/>
        </p:spPr>
      </p:sp>
      <p:sp>
        <p:nvSpPr>
          <p:cNvPr id="7" name="Text 5"/>
          <p:cNvSpPr txBox="1"/>
          <p:nvPr/>
        </p:nvSpPr>
        <p:spPr>
          <a:xfrm>
            <a:off x="548640" y="1755648"/>
            <a:ext cx="151790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Ciutat-estat</a:t>
            </a:r>
            <a:endParaRPr lang="en-US" sz="1500" dirty="0"/>
          </a:p>
        </p:txBody>
      </p:sp>
      <p:sp>
        <p:nvSpPr>
          <p:cNvPr id="8" name="Etiqueta Ziggurat"/>
          <p:cNvSpPr/>
          <p:nvPr/>
        </p:nvSpPr>
        <p:spPr>
          <a:xfrm>
            <a:off x="2176272" y="1755648"/>
            <a:ext cx="1115568" cy="384048"/>
          </a:xfrm>
          <a:prstGeom prst="roundRect">
            <a:avLst>
              <a:gd name="adj" fmla="val 50000"/>
            </a:avLst>
          </a:prstGeom>
          <a:solidFill>
            <a:srgbClr val="E6F4EA"/>
          </a:solidFill>
          <a:ln/>
        </p:spPr>
      </p:sp>
      <p:sp>
        <p:nvSpPr>
          <p:cNvPr id="9" name="Text 7"/>
          <p:cNvSpPr txBox="1"/>
          <p:nvPr/>
        </p:nvSpPr>
        <p:spPr>
          <a:xfrm>
            <a:off x="2176272"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Ziggurat</a:t>
            </a:r>
            <a:endParaRPr lang="en-US" sz="1500" dirty="0"/>
          </a:p>
        </p:txBody>
      </p:sp>
      <p:sp>
        <p:nvSpPr>
          <p:cNvPr id="10" name="Etiqueta Lugal"/>
          <p:cNvSpPr/>
          <p:nvPr/>
        </p:nvSpPr>
        <p:spPr>
          <a:xfrm>
            <a:off x="3401568" y="1755648"/>
            <a:ext cx="813816" cy="384048"/>
          </a:xfrm>
          <a:prstGeom prst="roundRect">
            <a:avLst>
              <a:gd name="adj" fmla="val 50000"/>
            </a:avLst>
          </a:prstGeom>
          <a:solidFill>
            <a:srgbClr val="E6F4EA"/>
          </a:solidFill>
          <a:ln/>
        </p:spPr>
      </p:sp>
      <p:sp>
        <p:nvSpPr>
          <p:cNvPr id="11" name="Text 9"/>
          <p:cNvSpPr txBox="1"/>
          <p:nvPr/>
        </p:nvSpPr>
        <p:spPr>
          <a:xfrm>
            <a:off x="3401568"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Lugal</a:t>
            </a:r>
            <a:endParaRPr lang="en-US" sz="1500" dirty="0"/>
          </a:p>
        </p:txBody>
      </p:sp>
      <p:sp>
        <p:nvSpPr>
          <p:cNvPr id="12" name="Etiqueta Llei del talió"/>
          <p:cNvSpPr/>
          <p:nvPr/>
        </p:nvSpPr>
        <p:spPr>
          <a:xfrm>
            <a:off x="4325112" y="1755648"/>
            <a:ext cx="1719072" cy="384048"/>
          </a:xfrm>
          <a:prstGeom prst="roundRect">
            <a:avLst>
              <a:gd name="adj" fmla="val 50000"/>
            </a:avLst>
          </a:prstGeom>
          <a:solidFill>
            <a:srgbClr val="E6F4EA"/>
          </a:solidFill>
          <a:ln/>
        </p:spPr>
      </p:sp>
      <p:sp>
        <p:nvSpPr>
          <p:cNvPr id="13" name="Text 11"/>
          <p:cNvSpPr txBox="1"/>
          <p:nvPr/>
        </p:nvSpPr>
        <p:spPr>
          <a:xfrm>
            <a:off x="4325112" y="1755648"/>
            <a:ext cx="171907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Llei del talió</a:t>
            </a:r>
            <a:endParaRPr lang="en-US" sz="1500" dirty="0"/>
          </a:p>
        </p:txBody>
      </p:sp>
      <p:sp>
        <p:nvSpPr>
          <p:cNvPr id="14" name="Etiqueta Bronze"/>
          <p:cNvSpPr/>
          <p:nvPr/>
        </p:nvSpPr>
        <p:spPr>
          <a:xfrm>
            <a:off x="6153912" y="1755648"/>
            <a:ext cx="914400" cy="384048"/>
          </a:xfrm>
          <a:prstGeom prst="roundRect">
            <a:avLst>
              <a:gd name="adj" fmla="val 50000"/>
            </a:avLst>
          </a:prstGeom>
          <a:solidFill>
            <a:srgbClr val="E6F4EA"/>
          </a:solidFill>
          <a:ln/>
        </p:spPr>
      </p:sp>
      <p:sp>
        <p:nvSpPr>
          <p:cNvPr id="15" name="Text 13"/>
          <p:cNvSpPr txBox="1"/>
          <p:nvPr/>
        </p:nvSpPr>
        <p:spPr>
          <a:xfrm>
            <a:off x="6153912"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Bronze</a:t>
            </a:r>
            <a:endParaRPr lang="en-US" sz="1500" dirty="0"/>
          </a:p>
        </p:txBody>
      </p:sp>
      <p:sp>
        <p:nvSpPr>
          <p:cNvPr id="16" name="Etiqueta Cuneïforme"/>
          <p:cNvSpPr/>
          <p:nvPr/>
        </p:nvSpPr>
        <p:spPr>
          <a:xfrm>
            <a:off x="7178040" y="1755648"/>
            <a:ext cx="1316736" cy="384048"/>
          </a:xfrm>
          <a:prstGeom prst="roundRect">
            <a:avLst>
              <a:gd name="adj" fmla="val 50000"/>
            </a:avLst>
          </a:prstGeom>
          <a:solidFill>
            <a:srgbClr val="E6F4EA"/>
          </a:solidFill>
          <a:ln/>
        </p:spPr>
      </p:sp>
      <p:sp>
        <p:nvSpPr>
          <p:cNvPr id="17" name="Text 15"/>
          <p:cNvSpPr txBox="1"/>
          <p:nvPr/>
        </p:nvSpPr>
        <p:spPr>
          <a:xfrm>
            <a:off x="7178040"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Cuneïforme</a:t>
            </a:r>
            <a:endParaRPr lang="en-US" sz="1500" dirty="0"/>
          </a:p>
        </p:txBody>
      </p:sp>
      <p:sp>
        <p:nvSpPr>
          <p:cNvPr id="18" name="Pregunta 1"/>
          <p:cNvSpPr/>
          <p:nvPr/>
        </p:nvSpPr>
        <p:spPr>
          <a:xfrm>
            <a:off x="548640" y="2514600"/>
            <a:ext cx="5410048" cy="729234"/>
          </a:xfrm>
          <a:prstGeom prst="roundRect">
            <a:avLst>
              <a:gd name="adj" fmla="val 13793"/>
            </a:avLst>
          </a:prstGeom>
          <a:solidFill>
            <a:srgbClr val="FFFFFF"/>
          </a:solidFill>
          <a:ln w="12700">
            <a:solidFill>
              <a:srgbClr val="DADCE0"/>
            </a:solidFill>
            <a:prstDash val="solid"/>
          </a:ln>
        </p:spPr>
      </p:sp>
      <p:sp>
        <p:nvSpPr>
          <p:cNvPr id="19" name="Número 1"/>
          <p:cNvSpPr/>
          <p:nvPr/>
        </p:nvSpPr>
        <p:spPr>
          <a:xfrm>
            <a:off x="822960" y="2650617"/>
            <a:ext cx="457200" cy="457200"/>
          </a:xfrm>
          <a:prstGeom prst="ellipse">
            <a:avLst/>
          </a:prstGeom>
          <a:solidFill>
            <a:srgbClr val="188038"/>
          </a:solidFill>
          <a:ln/>
        </p:spPr>
      </p:sp>
      <p:sp>
        <p:nvSpPr>
          <p:cNvPr id="20" name="Text 18"/>
          <p:cNvSpPr txBox="1"/>
          <p:nvPr/>
        </p:nvSpPr>
        <p:spPr>
          <a:xfrm>
            <a:off x="822960" y="2650617"/>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4221328" cy="729234"/>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Què és una ciutat-estat?</a:t>
            </a:r>
            <a:endParaRPr lang="en-US" sz="1700" dirty="0"/>
          </a:p>
        </p:txBody>
      </p:sp>
      <p:sp>
        <p:nvSpPr>
          <p:cNvPr id="22" name="Pregunta 2"/>
          <p:cNvSpPr/>
          <p:nvPr/>
        </p:nvSpPr>
        <p:spPr>
          <a:xfrm>
            <a:off x="6233008" y="2514600"/>
            <a:ext cx="5410048" cy="729234"/>
          </a:xfrm>
          <a:prstGeom prst="roundRect">
            <a:avLst>
              <a:gd name="adj" fmla="val 13793"/>
            </a:avLst>
          </a:prstGeom>
          <a:solidFill>
            <a:srgbClr val="FFFFFF"/>
          </a:solidFill>
          <a:ln w="12700">
            <a:solidFill>
              <a:srgbClr val="DADCE0"/>
            </a:solidFill>
            <a:prstDash val="solid"/>
          </a:ln>
        </p:spPr>
      </p:sp>
      <p:sp>
        <p:nvSpPr>
          <p:cNvPr id="23" name="Número 2"/>
          <p:cNvSpPr/>
          <p:nvPr/>
        </p:nvSpPr>
        <p:spPr>
          <a:xfrm>
            <a:off x="6507328" y="2650617"/>
            <a:ext cx="457200" cy="457200"/>
          </a:xfrm>
          <a:prstGeom prst="ellipse">
            <a:avLst/>
          </a:prstGeom>
          <a:solidFill>
            <a:srgbClr val="188038"/>
          </a:solidFill>
          <a:ln/>
        </p:spPr>
      </p:sp>
      <p:sp>
        <p:nvSpPr>
          <p:cNvPr id="24" name="Text 22"/>
          <p:cNvSpPr txBox="1"/>
          <p:nvPr/>
        </p:nvSpPr>
        <p:spPr>
          <a:xfrm>
            <a:off x="6507328" y="2650617"/>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7193128" y="2514600"/>
            <a:ext cx="4221328" cy="729234"/>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Qui era el lugal i què feia?</a:t>
            </a:r>
            <a:endParaRPr lang="en-US" sz="1700" dirty="0"/>
          </a:p>
        </p:txBody>
      </p:sp>
      <p:sp>
        <p:nvSpPr>
          <p:cNvPr id="26" name="Pregunta 3"/>
          <p:cNvSpPr/>
          <p:nvPr/>
        </p:nvSpPr>
        <p:spPr>
          <a:xfrm>
            <a:off x="548640" y="3445002"/>
            <a:ext cx="5410048" cy="729234"/>
          </a:xfrm>
          <a:prstGeom prst="roundRect">
            <a:avLst>
              <a:gd name="adj" fmla="val 13793"/>
            </a:avLst>
          </a:prstGeom>
          <a:solidFill>
            <a:srgbClr val="FFFFFF"/>
          </a:solidFill>
          <a:ln w="12700">
            <a:solidFill>
              <a:srgbClr val="DADCE0"/>
            </a:solidFill>
            <a:prstDash val="solid"/>
          </a:ln>
        </p:spPr>
      </p:sp>
      <p:sp>
        <p:nvSpPr>
          <p:cNvPr id="27" name="Número 3"/>
          <p:cNvSpPr/>
          <p:nvPr/>
        </p:nvSpPr>
        <p:spPr>
          <a:xfrm>
            <a:off x="822960" y="3581019"/>
            <a:ext cx="457200" cy="457200"/>
          </a:xfrm>
          <a:prstGeom prst="ellipse">
            <a:avLst/>
          </a:prstGeom>
          <a:solidFill>
            <a:srgbClr val="188038"/>
          </a:solidFill>
          <a:ln/>
        </p:spPr>
      </p:sp>
      <p:sp>
        <p:nvSpPr>
          <p:cNvPr id="28" name="Text 26"/>
          <p:cNvSpPr txBox="1"/>
          <p:nvPr/>
        </p:nvSpPr>
        <p:spPr>
          <a:xfrm>
            <a:off x="822960" y="3581019"/>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3445002"/>
            <a:ext cx="4221328" cy="729234"/>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Per què el codi d'Hammurabi no era igual per a tothom?</a:t>
            </a:r>
            <a:endParaRPr lang="en-US" sz="1700" dirty="0"/>
          </a:p>
        </p:txBody>
      </p:sp>
      <p:sp>
        <p:nvSpPr>
          <p:cNvPr id="30" name="Pregunta 4"/>
          <p:cNvSpPr/>
          <p:nvPr/>
        </p:nvSpPr>
        <p:spPr>
          <a:xfrm>
            <a:off x="6233008" y="3445002"/>
            <a:ext cx="5410048" cy="729234"/>
          </a:xfrm>
          <a:prstGeom prst="roundRect">
            <a:avLst>
              <a:gd name="adj" fmla="val 13793"/>
            </a:avLst>
          </a:prstGeom>
          <a:solidFill>
            <a:srgbClr val="FFFFFF"/>
          </a:solidFill>
          <a:ln w="12700">
            <a:solidFill>
              <a:srgbClr val="DADCE0"/>
            </a:solidFill>
            <a:prstDash val="solid"/>
          </a:ln>
        </p:spPr>
      </p:sp>
      <p:sp>
        <p:nvSpPr>
          <p:cNvPr id="31" name="Número 4"/>
          <p:cNvSpPr/>
          <p:nvPr/>
        </p:nvSpPr>
        <p:spPr>
          <a:xfrm>
            <a:off x="6507328" y="3581019"/>
            <a:ext cx="457200" cy="457200"/>
          </a:xfrm>
          <a:prstGeom prst="ellipse">
            <a:avLst/>
          </a:prstGeom>
          <a:solidFill>
            <a:srgbClr val="188038"/>
          </a:solidFill>
          <a:ln/>
        </p:spPr>
      </p:sp>
      <p:sp>
        <p:nvSpPr>
          <p:cNvPr id="32" name="Text 30"/>
          <p:cNvSpPr txBox="1"/>
          <p:nvPr/>
        </p:nvSpPr>
        <p:spPr>
          <a:xfrm>
            <a:off x="6507328" y="3581019"/>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3" name="Text 31"/>
          <p:cNvSpPr txBox="1"/>
          <p:nvPr/>
        </p:nvSpPr>
        <p:spPr>
          <a:xfrm>
            <a:off x="7193128" y="3445002"/>
            <a:ext cx="4221328" cy="729234"/>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Per què el temple era tan important en una ciutat sumèria?</a:t>
            </a:r>
            <a:endParaRPr lang="en-US" sz="1700" dirty="0"/>
          </a:p>
        </p:txBody>
      </p:sp>
      <p:sp>
        <p:nvSpPr>
          <p:cNvPr id="34" name="Pregunta 5"/>
          <p:cNvSpPr/>
          <p:nvPr/>
        </p:nvSpPr>
        <p:spPr>
          <a:xfrm>
            <a:off x="548640" y="4375404"/>
            <a:ext cx="5410048" cy="729234"/>
          </a:xfrm>
          <a:prstGeom prst="roundRect">
            <a:avLst>
              <a:gd name="adj" fmla="val 13793"/>
            </a:avLst>
          </a:prstGeom>
          <a:solidFill>
            <a:srgbClr val="FFFFFF"/>
          </a:solidFill>
          <a:ln w="12700">
            <a:solidFill>
              <a:srgbClr val="DADCE0"/>
            </a:solidFill>
            <a:prstDash val="solid"/>
          </a:ln>
        </p:spPr>
      </p:sp>
      <p:sp>
        <p:nvSpPr>
          <p:cNvPr id="35" name="Número 5"/>
          <p:cNvSpPr/>
          <p:nvPr/>
        </p:nvSpPr>
        <p:spPr>
          <a:xfrm>
            <a:off x="822960" y="4511421"/>
            <a:ext cx="457200" cy="457200"/>
          </a:xfrm>
          <a:prstGeom prst="ellipse">
            <a:avLst/>
          </a:prstGeom>
          <a:solidFill>
            <a:srgbClr val="188038"/>
          </a:solidFill>
          <a:ln/>
        </p:spPr>
      </p:sp>
      <p:sp>
        <p:nvSpPr>
          <p:cNvPr id="36" name="Text 34"/>
          <p:cNvSpPr txBox="1"/>
          <p:nvPr/>
        </p:nvSpPr>
        <p:spPr>
          <a:xfrm>
            <a:off x="822960" y="4511421"/>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5</a:t>
            </a:r>
            <a:endParaRPr lang="en-US" sz="1700" dirty="0"/>
          </a:p>
        </p:txBody>
      </p:sp>
      <p:sp>
        <p:nvSpPr>
          <p:cNvPr id="37" name="Text 35"/>
          <p:cNvSpPr txBox="1"/>
          <p:nvPr/>
        </p:nvSpPr>
        <p:spPr>
          <a:xfrm>
            <a:off x="1508760" y="4375404"/>
            <a:ext cx="4221328" cy="729234"/>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Com s'imaginaven els mesopotàmics el més enllà?</a:t>
            </a:r>
            <a:endParaRPr lang="en-US" sz="1700" dirty="0"/>
          </a:p>
        </p:txBody>
      </p:sp>
      <p:sp>
        <p:nvSpPr>
          <p:cNvPr id="38" name="Pregunta 6"/>
          <p:cNvSpPr/>
          <p:nvPr/>
        </p:nvSpPr>
        <p:spPr>
          <a:xfrm>
            <a:off x="6233008" y="4375404"/>
            <a:ext cx="5410048" cy="729234"/>
          </a:xfrm>
          <a:prstGeom prst="roundRect">
            <a:avLst>
              <a:gd name="adj" fmla="val 13793"/>
            </a:avLst>
          </a:prstGeom>
          <a:solidFill>
            <a:srgbClr val="FFFFFF"/>
          </a:solidFill>
          <a:ln w="12700">
            <a:solidFill>
              <a:srgbClr val="DADCE0"/>
            </a:solidFill>
            <a:prstDash val="solid"/>
          </a:ln>
        </p:spPr>
      </p:sp>
      <p:sp>
        <p:nvSpPr>
          <p:cNvPr id="39" name="Número 6"/>
          <p:cNvSpPr/>
          <p:nvPr/>
        </p:nvSpPr>
        <p:spPr>
          <a:xfrm>
            <a:off x="6507328" y="4511421"/>
            <a:ext cx="457200" cy="457200"/>
          </a:xfrm>
          <a:prstGeom prst="ellipse">
            <a:avLst/>
          </a:prstGeom>
          <a:solidFill>
            <a:srgbClr val="188038"/>
          </a:solidFill>
          <a:ln/>
        </p:spPr>
      </p:sp>
      <p:sp>
        <p:nvSpPr>
          <p:cNvPr id="40" name="Text 38"/>
          <p:cNvSpPr txBox="1"/>
          <p:nvPr/>
        </p:nvSpPr>
        <p:spPr>
          <a:xfrm>
            <a:off x="6507328" y="4511421"/>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6</a:t>
            </a:r>
            <a:endParaRPr lang="en-US" sz="1700" dirty="0"/>
          </a:p>
        </p:txBody>
      </p:sp>
      <p:sp>
        <p:nvSpPr>
          <p:cNvPr id="41" name="Text 39"/>
          <p:cNvSpPr txBox="1"/>
          <p:nvPr/>
        </p:nvSpPr>
        <p:spPr>
          <a:xfrm>
            <a:off x="7193128" y="4375404"/>
            <a:ext cx="4221328" cy="729234"/>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Per què Mesopotàmia havia de comerciar amb terres llunyanes?</a:t>
            </a:r>
            <a:endParaRPr lang="en-US" sz="1700" dirty="0"/>
          </a:p>
        </p:txBody>
      </p:sp>
      <p:sp>
        <p:nvSpPr>
          <p:cNvPr id="42" name="Pregunta 7"/>
          <p:cNvSpPr/>
          <p:nvPr/>
        </p:nvSpPr>
        <p:spPr>
          <a:xfrm>
            <a:off x="548640" y="5305806"/>
            <a:ext cx="5410048" cy="729234"/>
          </a:xfrm>
          <a:prstGeom prst="roundRect">
            <a:avLst>
              <a:gd name="adj" fmla="val 13793"/>
            </a:avLst>
          </a:prstGeom>
          <a:solidFill>
            <a:srgbClr val="FFFFFF"/>
          </a:solidFill>
          <a:ln w="12700">
            <a:solidFill>
              <a:srgbClr val="DADCE0"/>
            </a:solidFill>
            <a:prstDash val="solid"/>
          </a:ln>
        </p:spPr>
      </p:sp>
      <p:sp>
        <p:nvSpPr>
          <p:cNvPr id="43" name="Número 7"/>
          <p:cNvSpPr/>
          <p:nvPr/>
        </p:nvSpPr>
        <p:spPr>
          <a:xfrm>
            <a:off x="822960" y="5441823"/>
            <a:ext cx="457200" cy="457200"/>
          </a:xfrm>
          <a:prstGeom prst="ellipse">
            <a:avLst/>
          </a:prstGeom>
          <a:solidFill>
            <a:srgbClr val="188038"/>
          </a:solidFill>
          <a:ln/>
        </p:spPr>
      </p:sp>
      <p:sp>
        <p:nvSpPr>
          <p:cNvPr id="44" name="Text 42"/>
          <p:cNvSpPr txBox="1"/>
          <p:nvPr/>
        </p:nvSpPr>
        <p:spPr>
          <a:xfrm>
            <a:off x="822960" y="5441823"/>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7</a:t>
            </a:r>
            <a:endParaRPr lang="en-US" sz="1700" dirty="0"/>
          </a:p>
        </p:txBody>
      </p:sp>
      <p:sp>
        <p:nvSpPr>
          <p:cNvPr id="45" name="Text 43"/>
          <p:cNvSpPr txBox="1"/>
          <p:nvPr/>
        </p:nvSpPr>
        <p:spPr>
          <a:xfrm>
            <a:off x="1508760" y="5305806"/>
            <a:ext cx="4221328" cy="729234"/>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D'on ve el nom «cuneïforme»?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ziggurat i el sol" descr="/home/claude/pc/build/1r-eso-civilitzacions/hero-crop.png">    </p:cNvPr>
          <p:cNvPicPr>
            <a:picLocks noChangeAspect="1"/>
          </p:cNvPicPr>
          <p:nvPr/>
        </p:nvPicPr>
        <p:blipFill>
          <a:blip r:embed="rId1"/>
          <a:stretch>
            <a:fillRect/>
          </a:stretch>
        </p:blipFill>
        <p:spPr>
          <a:xfrm>
            <a:off x="3520440" y="2294081"/>
            <a:ext cx="3566160" cy="1893871"/>
          </a:xfrm>
          <a:prstGeom prst="rect">
            <a:avLst/>
          </a:prstGeom>
        </p:spPr>
      </p:pic>
      <p:sp>
        <p:nvSpPr>
          <p:cNvPr id="4" name="Etiqueta Apartat 3"/>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3</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800" b="1" dirty="0">
                <a:solidFill>
                  <a:srgbClr val="FFFFFF"/>
                </a:solidFill>
                <a:latin typeface="Roboto" pitchFamily="34" charset="0"/>
                <a:ea typeface="Roboto" pitchFamily="34" charset="-122"/>
                <a:cs typeface="Roboto" pitchFamily="34" charset="-120"/>
              </a:rPr>
              <a:t>Egipte, un do del Nil</a:t>
            </a:r>
            <a:endParaRPr lang="en-US" sz="38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Com pot ser que un país fet gairebé tot de desert fos una de les civilitzacions més riques i duradores?</a:t>
            </a:r>
            <a:endParaRPr lang="en-US" sz="1900" dirty="0"/>
          </a:p>
        </p:txBody>
      </p:sp>
      <p:sp>
        <p:nvSpPr>
          <p:cNvPr id="10" name="Fons Egipte, un do del Nil"/>
          <p:cNvSpPr/>
          <p:nvPr/>
        </p:nvSpPr>
        <p:spPr>
          <a:xfrm>
            <a:off x="7635240" y="1561691"/>
            <a:ext cx="4007815" cy="2664771"/>
          </a:xfrm>
          <a:prstGeom prst="roundRect">
            <a:avLst>
              <a:gd name="adj" fmla="val 3775"/>
            </a:avLst>
          </a:prstGeom>
          <a:solidFill>
            <a:srgbClr val="F6F8FB"/>
          </a:solidFill>
          <a:ln/>
        </p:spPr>
      </p:sp>
      <p:pic>
        <p:nvPicPr>
          <p:cNvPr id="11" name="Egipte, un do del Nil" descr="/home/claude/pc/build/1r-eso-civilitzacions/img/gizeh.jpg">    </p:cNvPr>
          <p:cNvPicPr>
            <a:picLocks noChangeAspect="1"/>
          </p:cNvPicPr>
          <p:nvPr/>
        </p:nvPicPr>
        <p:blipFill>
          <a:blip r:embed="rId2"/>
          <a:stretch>
            <a:fillRect/>
          </a:stretch>
        </p:blipFill>
        <p:spPr>
          <a:xfrm>
            <a:off x="7635240" y="1561691"/>
            <a:ext cx="4007815" cy="2664771"/>
          </a:xfrm>
          <a:prstGeom prst="rect">
            <a:avLst/>
          </a:prstGeom>
        </p:spPr>
      </p:pic>
      <p:sp>
        <p:nvSpPr>
          <p:cNvPr id="12" name="Text 8"/>
          <p:cNvSpPr txBox="1"/>
          <p:nvPr/>
        </p:nvSpPr>
        <p:spPr>
          <a:xfrm>
            <a:off x="7635240" y="4336189"/>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piràmides de Gizeh (Egipte), cap al 2500 aC. Són les tombes dels faraons Kheops, Kefren i Micerí, de l'Imperi Antic. Foto: Ricardo Liberato, Wikimedia Commons, CC BY-SA 2.0.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regal del riu</a:t>
            </a:r>
            <a:endParaRPr lang="en-US" sz="2800" dirty="0"/>
          </a:p>
        </p:txBody>
      </p:sp>
      <p:sp>
        <p:nvSpPr>
          <p:cNvPr id="5" name="Heròdot, historiador grec"/>
          <p:cNvSpPr/>
          <p:nvPr/>
        </p:nvSpPr>
        <p:spPr>
          <a:xfrm>
            <a:off x="548640" y="1371600"/>
            <a:ext cx="11094415" cy="1188720"/>
          </a:xfrm>
          <a:prstGeom prst="roundRect">
            <a:avLst>
              <a:gd name="adj" fmla="val 8462"/>
            </a:avLst>
          </a:prstGeom>
          <a:solidFill>
            <a:srgbClr val="F6F8FB"/>
          </a:solidFill>
          <a:ln/>
        </p:spPr>
      </p:sp>
      <p:sp>
        <p:nvSpPr>
          <p:cNvPr id="6" name="Text 4"/>
          <p:cNvSpPr txBox="1"/>
          <p:nvPr/>
        </p:nvSpPr>
        <p:spPr>
          <a:xfrm>
            <a:off x="868680" y="152704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Heròdot, historiador grec</a:t>
            </a:r>
            <a:endParaRPr lang="en-US" sz="1400" dirty="0"/>
          </a:p>
        </p:txBody>
      </p:sp>
      <p:sp>
        <p:nvSpPr>
          <p:cNvPr id="7" name="Text 5"/>
          <p:cNvSpPr txBox="1"/>
          <p:nvPr/>
        </p:nvSpPr>
        <p:spPr>
          <a:xfrm>
            <a:off x="868680" y="1874520"/>
            <a:ext cx="10454335" cy="548640"/>
          </a:xfrm>
          <a:prstGeom prst="rect">
            <a:avLst/>
          </a:prstGeom>
          <a:noFill/>
          <a:ln/>
        </p:spPr>
        <p:txBody>
          <a:bodyPr wrap="square" lIns="0" tIns="0" rIns="0" bIns="0" rtlCol="0" anchor="t"/>
          <a:lstStyle/>
          <a:p>
            <a:pPr indent="0" marL="0">
              <a:buNone/>
            </a:pPr>
            <a:r>
              <a:rPr lang="en-US" sz="1650" dirty="0">
                <a:solidFill>
                  <a:srgbClr val="5F6368"/>
                </a:solidFill>
                <a:latin typeface="Roboto" pitchFamily="34" charset="0"/>
                <a:ea typeface="Roboto" pitchFamily="34" charset="-122"/>
                <a:cs typeface="Roboto" pitchFamily="34" charset="-120"/>
              </a:rPr>
              <a:t>«Egipte és un do del Nil.» Una estreta franja verda enmig d'un desert immens. Només la terra que el riu pot regar és habitable.</a:t>
            </a:r>
            <a:endParaRPr lang="en-US" sz="1650" dirty="0"/>
          </a:p>
        </p:txBody>
      </p:sp>
      <p:sp>
        <p:nvSpPr>
          <p:cNvPr id="8" name="Targeta A l'estiu"/>
          <p:cNvSpPr/>
          <p:nvPr/>
        </p:nvSpPr>
        <p:spPr>
          <a:xfrm>
            <a:off x="548640" y="2788920"/>
            <a:ext cx="3406140" cy="1485900"/>
          </a:xfrm>
          <a:prstGeom prst="roundRect">
            <a:avLst>
              <a:gd name="adj" fmla="val 6769"/>
            </a:avLst>
          </a:prstGeom>
          <a:solidFill>
            <a:srgbClr val="FFFFFF"/>
          </a:solidFill>
          <a:ln w="12700">
            <a:solidFill>
              <a:srgbClr val="DADCE0"/>
            </a:solidFill>
            <a:prstDash val="solid"/>
          </a:ln>
        </p:spPr>
      </p:sp>
      <p:sp>
        <p:nvSpPr>
          <p:cNvPr id="9" name="Cercle icona"/>
          <p:cNvSpPr/>
          <p:nvPr/>
        </p:nvSpPr>
        <p:spPr>
          <a:xfrm>
            <a:off x="777240" y="3017520"/>
            <a:ext cx="502920" cy="502920"/>
          </a:xfrm>
          <a:prstGeom prst="ellipse">
            <a:avLst/>
          </a:prstGeom>
          <a:solidFill>
            <a:srgbClr val="E6F4EA"/>
          </a:solidFill>
          <a:ln/>
        </p:spPr>
      </p:sp>
      <p:pic>
        <p:nvPicPr>
          <p:cNvPr id="10" name="Icona TbDroplets" descr="/home/claude/pc/build/1r-eso-civilitzacions/img/ic/TbDroplets-g.png">    </p:cNvPr>
          <p:cNvPicPr>
            <a:picLocks noChangeAspect="1"/>
          </p:cNvPicPr>
          <p:nvPr/>
        </p:nvPicPr>
        <p:blipFill>
          <a:blip r:embed="rId1"/>
          <a:stretch>
            <a:fillRect/>
          </a:stretch>
        </p:blipFill>
        <p:spPr>
          <a:xfrm>
            <a:off x="887882" y="3128162"/>
            <a:ext cx="281635" cy="281635"/>
          </a:xfrm>
          <a:prstGeom prst="rect">
            <a:avLst/>
          </a:prstGeom>
        </p:spPr>
      </p:pic>
      <p:sp>
        <p:nvSpPr>
          <p:cNvPr id="11" name="Text 8"/>
          <p:cNvSpPr txBox="1"/>
          <p:nvPr/>
        </p:nvSpPr>
        <p:spPr>
          <a:xfrm>
            <a:off x="1417320" y="3017520"/>
            <a:ext cx="2308860"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A l'estiu</a:t>
            </a:r>
            <a:endParaRPr lang="en-US" sz="1700" dirty="0"/>
          </a:p>
        </p:txBody>
      </p:sp>
      <p:sp>
        <p:nvSpPr>
          <p:cNvPr id="12" name="Text 9"/>
          <p:cNvSpPr txBox="1"/>
          <p:nvPr/>
        </p:nvSpPr>
        <p:spPr>
          <a:xfrm>
            <a:off x="777240" y="3657600"/>
            <a:ext cx="2948940" cy="4800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 Nil creixia i inundava les ribes.</a:t>
            </a:r>
            <a:endParaRPr lang="en-US" sz="1500" dirty="0"/>
          </a:p>
        </p:txBody>
      </p:sp>
      <p:sp>
        <p:nvSpPr>
          <p:cNvPr id="13" name="Targeta A la tardor"/>
          <p:cNvSpPr/>
          <p:nvPr/>
        </p:nvSpPr>
        <p:spPr>
          <a:xfrm>
            <a:off x="4183380" y="2788920"/>
            <a:ext cx="3406140" cy="1485900"/>
          </a:xfrm>
          <a:prstGeom prst="roundRect">
            <a:avLst>
              <a:gd name="adj" fmla="val 6769"/>
            </a:avLst>
          </a:prstGeom>
          <a:solidFill>
            <a:srgbClr val="FFFFFF"/>
          </a:solidFill>
          <a:ln w="12700">
            <a:solidFill>
              <a:srgbClr val="DADCE0"/>
            </a:solidFill>
            <a:prstDash val="solid"/>
          </a:ln>
        </p:spPr>
      </p:sp>
      <p:sp>
        <p:nvSpPr>
          <p:cNvPr id="14" name="Cercle icona"/>
          <p:cNvSpPr/>
          <p:nvPr/>
        </p:nvSpPr>
        <p:spPr>
          <a:xfrm>
            <a:off x="4411980" y="3017520"/>
            <a:ext cx="502920" cy="502920"/>
          </a:xfrm>
          <a:prstGeom prst="ellipse">
            <a:avLst/>
          </a:prstGeom>
          <a:solidFill>
            <a:srgbClr val="E6F4EA"/>
          </a:solidFill>
          <a:ln/>
        </p:spPr>
      </p:sp>
      <p:pic>
        <p:nvPicPr>
          <p:cNvPr id="15" name="Icona TbPlant2" descr="/home/claude/pc/build/1r-eso-civilitzacions/img/ic/TbPlant2-g.png">    </p:cNvPr>
          <p:cNvPicPr>
            <a:picLocks noChangeAspect="1"/>
          </p:cNvPicPr>
          <p:nvPr/>
        </p:nvPicPr>
        <p:blipFill>
          <a:blip r:embed="rId2"/>
          <a:stretch>
            <a:fillRect/>
          </a:stretch>
        </p:blipFill>
        <p:spPr>
          <a:xfrm>
            <a:off x="4522622" y="3128162"/>
            <a:ext cx="281635" cy="281635"/>
          </a:xfrm>
          <a:prstGeom prst="rect">
            <a:avLst/>
          </a:prstGeom>
        </p:spPr>
      </p:pic>
      <p:sp>
        <p:nvSpPr>
          <p:cNvPr id="16" name="Text 12"/>
          <p:cNvSpPr txBox="1"/>
          <p:nvPr/>
        </p:nvSpPr>
        <p:spPr>
          <a:xfrm>
            <a:off x="5052060" y="3017520"/>
            <a:ext cx="2308860"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A la tardor</a:t>
            </a:r>
            <a:endParaRPr lang="en-US" sz="1700" dirty="0"/>
          </a:p>
        </p:txBody>
      </p:sp>
      <p:sp>
        <p:nvSpPr>
          <p:cNvPr id="17" name="Text 13"/>
          <p:cNvSpPr txBox="1"/>
          <p:nvPr/>
        </p:nvSpPr>
        <p:spPr>
          <a:xfrm>
            <a:off x="4411980" y="3657600"/>
            <a:ext cx="2948940" cy="4800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L'aigua es retirava i hi deixava els llims fèrtils.</a:t>
            </a:r>
            <a:endParaRPr lang="en-US" sz="1500" dirty="0"/>
          </a:p>
        </p:txBody>
      </p:sp>
      <p:sp>
        <p:nvSpPr>
          <p:cNvPr id="18" name="Targeta Collites"/>
          <p:cNvSpPr/>
          <p:nvPr/>
        </p:nvSpPr>
        <p:spPr>
          <a:xfrm>
            <a:off x="548640" y="4503420"/>
            <a:ext cx="3406140" cy="1485900"/>
          </a:xfrm>
          <a:prstGeom prst="roundRect">
            <a:avLst>
              <a:gd name="adj" fmla="val 6769"/>
            </a:avLst>
          </a:prstGeom>
          <a:solidFill>
            <a:srgbClr val="FFFFFF"/>
          </a:solidFill>
          <a:ln w="12700">
            <a:solidFill>
              <a:srgbClr val="DADCE0"/>
            </a:solidFill>
            <a:prstDash val="solid"/>
          </a:ln>
        </p:spPr>
      </p:sp>
      <p:sp>
        <p:nvSpPr>
          <p:cNvPr id="19" name="Cercle icona"/>
          <p:cNvSpPr/>
          <p:nvPr/>
        </p:nvSpPr>
        <p:spPr>
          <a:xfrm>
            <a:off x="777240" y="4732020"/>
            <a:ext cx="502920" cy="502920"/>
          </a:xfrm>
          <a:prstGeom prst="ellipse">
            <a:avLst/>
          </a:prstGeom>
          <a:solidFill>
            <a:srgbClr val="E6F4EA"/>
          </a:solidFill>
          <a:ln/>
        </p:spPr>
      </p:sp>
      <p:pic>
        <p:nvPicPr>
          <p:cNvPr id="20" name="Icona TbWheat" descr="/home/claude/pc/build/1r-eso-civilitzacions/img/ic/TbWheat-g.png">    </p:cNvPr>
          <p:cNvPicPr>
            <a:picLocks noChangeAspect="1"/>
          </p:cNvPicPr>
          <p:nvPr/>
        </p:nvPicPr>
        <p:blipFill>
          <a:blip r:embed="rId3"/>
          <a:stretch>
            <a:fillRect/>
          </a:stretch>
        </p:blipFill>
        <p:spPr>
          <a:xfrm>
            <a:off x="887882" y="4842662"/>
            <a:ext cx="281635" cy="281635"/>
          </a:xfrm>
          <a:prstGeom prst="rect">
            <a:avLst/>
          </a:prstGeom>
        </p:spPr>
      </p:pic>
      <p:sp>
        <p:nvSpPr>
          <p:cNvPr id="21" name="Text 16"/>
          <p:cNvSpPr txBox="1"/>
          <p:nvPr/>
        </p:nvSpPr>
        <p:spPr>
          <a:xfrm>
            <a:off x="1417320" y="4732020"/>
            <a:ext cx="2308860"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Collites</a:t>
            </a:r>
            <a:endParaRPr lang="en-US" sz="1700" dirty="0"/>
          </a:p>
        </p:txBody>
      </p:sp>
      <p:sp>
        <p:nvSpPr>
          <p:cNvPr id="22" name="Text 17"/>
          <p:cNvSpPr txBox="1"/>
          <p:nvPr/>
        </p:nvSpPr>
        <p:spPr>
          <a:xfrm>
            <a:off x="777240" y="5372100"/>
            <a:ext cx="2948940" cy="4800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Blat, ordi i lli. A les maresmes creixia el papir.</a:t>
            </a:r>
            <a:endParaRPr lang="en-US" sz="1500" dirty="0"/>
          </a:p>
        </p:txBody>
      </p:sp>
      <p:sp>
        <p:nvSpPr>
          <p:cNvPr id="23" name="Targeta Canals i dics"/>
          <p:cNvSpPr/>
          <p:nvPr/>
        </p:nvSpPr>
        <p:spPr>
          <a:xfrm>
            <a:off x="4183380" y="4503420"/>
            <a:ext cx="3406140" cy="1485900"/>
          </a:xfrm>
          <a:prstGeom prst="roundRect">
            <a:avLst>
              <a:gd name="adj" fmla="val 6769"/>
            </a:avLst>
          </a:prstGeom>
          <a:solidFill>
            <a:srgbClr val="FFFFFF"/>
          </a:solidFill>
          <a:ln w="12700">
            <a:solidFill>
              <a:srgbClr val="DADCE0"/>
            </a:solidFill>
            <a:prstDash val="solid"/>
          </a:ln>
        </p:spPr>
      </p:sp>
      <p:sp>
        <p:nvSpPr>
          <p:cNvPr id="24" name="Cercle icona"/>
          <p:cNvSpPr/>
          <p:nvPr/>
        </p:nvSpPr>
        <p:spPr>
          <a:xfrm>
            <a:off x="4411980" y="4732020"/>
            <a:ext cx="502920" cy="502920"/>
          </a:xfrm>
          <a:prstGeom prst="ellipse">
            <a:avLst/>
          </a:prstGeom>
          <a:solidFill>
            <a:srgbClr val="E6F4EA"/>
          </a:solidFill>
          <a:ln/>
        </p:spPr>
      </p:sp>
      <p:pic>
        <p:nvPicPr>
          <p:cNvPr id="25" name="Icona TbShovel" descr="/home/claude/pc/build/1r-eso-civilitzacions/img/ic/TbShovel-g.png">    </p:cNvPr>
          <p:cNvPicPr>
            <a:picLocks noChangeAspect="1"/>
          </p:cNvPicPr>
          <p:nvPr/>
        </p:nvPicPr>
        <p:blipFill>
          <a:blip r:embed="rId4"/>
          <a:stretch>
            <a:fillRect/>
          </a:stretch>
        </p:blipFill>
        <p:spPr>
          <a:xfrm>
            <a:off x="4522622" y="4842662"/>
            <a:ext cx="281635" cy="281635"/>
          </a:xfrm>
          <a:prstGeom prst="rect">
            <a:avLst/>
          </a:prstGeom>
        </p:spPr>
      </p:pic>
      <p:sp>
        <p:nvSpPr>
          <p:cNvPr id="26" name="Text 20"/>
          <p:cNvSpPr txBox="1"/>
          <p:nvPr/>
        </p:nvSpPr>
        <p:spPr>
          <a:xfrm>
            <a:off x="5052060" y="4732020"/>
            <a:ext cx="2308860"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Canals i dics</a:t>
            </a:r>
            <a:endParaRPr lang="en-US" sz="1700" dirty="0"/>
          </a:p>
        </p:txBody>
      </p:sp>
      <p:sp>
        <p:nvSpPr>
          <p:cNvPr id="27" name="Text 21"/>
          <p:cNvSpPr txBox="1"/>
          <p:nvPr/>
        </p:nvSpPr>
        <p:spPr>
          <a:xfrm>
            <a:off x="4411980" y="5372100"/>
            <a:ext cx="2948940" cy="4800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Els pagesos repartien l'aigua i la retenien als camps.</a:t>
            </a:r>
            <a:endParaRPr lang="en-US" sz="1500" dirty="0"/>
          </a:p>
        </p:txBody>
      </p:sp>
      <p:sp>
        <p:nvSpPr>
          <p:cNvPr id="28" name="Kemet"/>
          <p:cNvSpPr/>
          <p:nvPr/>
        </p:nvSpPr>
        <p:spPr>
          <a:xfrm>
            <a:off x="7863840" y="2788920"/>
            <a:ext cx="3779215" cy="1508760"/>
          </a:xfrm>
          <a:prstGeom prst="roundRect">
            <a:avLst>
              <a:gd name="adj" fmla="val 6667"/>
            </a:avLst>
          </a:prstGeom>
          <a:solidFill>
            <a:srgbClr val="3C3A36"/>
          </a:solidFill>
          <a:ln/>
        </p:spPr>
      </p:sp>
      <p:sp>
        <p:nvSpPr>
          <p:cNvPr id="29" name="Text 23"/>
          <p:cNvSpPr txBox="1"/>
          <p:nvPr/>
        </p:nvSpPr>
        <p:spPr>
          <a:xfrm>
            <a:off x="8092440" y="2788920"/>
            <a:ext cx="3322015" cy="1508760"/>
          </a:xfrm>
          <a:prstGeom prst="rect">
            <a:avLst/>
          </a:prstGeom>
          <a:noFill/>
          <a:ln/>
        </p:spPr>
        <p:txBody>
          <a:bodyPr wrap="square" lIns="0" tIns="0" rIns="0" bIns="0" rtlCol="0" anchor="ctr"/>
          <a:lstStyle/>
          <a:p>
            <a:pPr indent="0" marL="0">
              <a:buNone/>
            </a:pPr>
            <a:r>
              <a:rPr lang="en-US" sz="2100" b="1" dirty="0">
                <a:solidFill>
                  <a:srgbClr val="FFFFFF"/>
                </a:solidFill>
                <a:latin typeface="Roboto" pitchFamily="34" charset="0"/>
                <a:ea typeface="Roboto" pitchFamily="34" charset="-122"/>
                <a:cs typeface="Roboto" pitchFamily="34" charset="-120"/>
              </a:rPr>
              <a:t>Kemet</a:t>
            </a:r>
            <a:endParaRPr lang="en-US" sz="2100" dirty="0"/>
          </a:p>
          <a:p>
            <a:pPr indent="0" marL="0">
              <a:buNone/>
            </a:pPr>
            <a:r>
              <a:rPr lang="en-US" sz="1450" dirty="0">
                <a:solidFill>
                  <a:srgbClr val="FFFFFF"/>
                </a:solidFill>
                <a:latin typeface="Roboto" pitchFamily="34" charset="0"/>
                <a:ea typeface="Roboto" pitchFamily="34" charset="-122"/>
                <a:cs typeface="Roboto" pitchFamily="34" charset="-120"/>
              </a:rPr>
              <a:t>«La terra negra», pel color dels llims. Així anomenaven el seu país.</a:t>
            </a:r>
            <a:endParaRPr lang="en-US" sz="2100" dirty="0"/>
          </a:p>
        </p:txBody>
      </p:sp>
      <p:sp>
        <p:nvSpPr>
          <p:cNvPr id="30" name="Deshret"/>
          <p:cNvSpPr/>
          <p:nvPr/>
        </p:nvSpPr>
        <p:spPr>
          <a:xfrm>
            <a:off x="7863840" y="4480560"/>
            <a:ext cx="3779215" cy="1508760"/>
          </a:xfrm>
          <a:prstGeom prst="roundRect">
            <a:avLst>
              <a:gd name="adj" fmla="val 6667"/>
            </a:avLst>
          </a:prstGeom>
          <a:solidFill>
            <a:srgbClr val="B5562B"/>
          </a:solidFill>
          <a:ln/>
        </p:spPr>
      </p:sp>
      <p:sp>
        <p:nvSpPr>
          <p:cNvPr id="31" name="Text 25"/>
          <p:cNvSpPr txBox="1"/>
          <p:nvPr/>
        </p:nvSpPr>
        <p:spPr>
          <a:xfrm>
            <a:off x="8092440" y="4480560"/>
            <a:ext cx="3322015" cy="1508760"/>
          </a:xfrm>
          <a:prstGeom prst="rect">
            <a:avLst/>
          </a:prstGeom>
          <a:noFill/>
          <a:ln/>
        </p:spPr>
        <p:txBody>
          <a:bodyPr wrap="square" lIns="0" tIns="0" rIns="0" bIns="0" rtlCol="0" anchor="ctr"/>
          <a:lstStyle/>
          <a:p>
            <a:pPr indent="0" marL="0">
              <a:buNone/>
            </a:pPr>
            <a:r>
              <a:rPr lang="en-US" sz="2100" b="1" dirty="0">
                <a:solidFill>
                  <a:srgbClr val="FFFFFF"/>
                </a:solidFill>
                <a:latin typeface="Roboto" pitchFamily="34" charset="0"/>
                <a:ea typeface="Roboto" pitchFamily="34" charset="-122"/>
                <a:cs typeface="Roboto" pitchFamily="34" charset="-120"/>
              </a:rPr>
              <a:t>Deshret</a:t>
            </a:r>
            <a:endParaRPr lang="en-US" sz="2100" dirty="0"/>
          </a:p>
          <a:p>
            <a:pPr indent="0" marL="0">
              <a:buNone/>
            </a:pPr>
            <a:r>
              <a:rPr lang="en-US" sz="1450" dirty="0">
                <a:solidFill>
                  <a:srgbClr val="FFFFFF"/>
                </a:solidFill>
                <a:latin typeface="Roboto" pitchFamily="34" charset="0"/>
                <a:ea typeface="Roboto" pitchFamily="34" charset="-122"/>
                <a:cs typeface="Roboto" pitchFamily="34" charset="-120"/>
              </a:rPr>
              <a:t>«La terra vermella». Així anomenaven el desert.</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país llarg i protegit</a:t>
            </a:r>
            <a:endParaRPr lang="en-US" sz="2800" dirty="0"/>
          </a:p>
        </p:txBody>
      </p:sp>
      <p:sp>
        <p:nvSpPr>
          <p:cNvPr id="5" name="Fons Egipte, a la vall del Nil, envoltat de deserts"/>
          <p:cNvSpPr/>
          <p:nvPr/>
        </p:nvSpPr>
        <p:spPr>
          <a:xfrm>
            <a:off x="548640" y="1371600"/>
            <a:ext cx="4480560" cy="4480560"/>
          </a:xfrm>
          <a:prstGeom prst="roundRect">
            <a:avLst>
              <a:gd name="adj" fmla="val 2245"/>
            </a:avLst>
          </a:prstGeom>
          <a:solidFill>
            <a:srgbClr val="F6F8FB"/>
          </a:solidFill>
          <a:ln/>
        </p:spPr>
      </p:sp>
      <p:pic>
        <p:nvPicPr>
          <p:cNvPr id="6" name="Egipte, a la vall del Nil, envoltat de deserts" descr="/home/claude/pc/build/1r-eso-civilitzacions/img/mapa-mes-egi.jpg">    </p:cNvPr>
          <p:cNvPicPr>
            <a:picLocks noChangeAspect="1"/>
          </p:cNvPicPr>
          <p:nvPr/>
        </p:nvPicPr>
        <p:blipFill>
          <a:blip r:embed="rId1"/>
          <a:stretch>
            <a:fillRect/>
          </a:stretch>
        </p:blipFill>
        <p:spPr>
          <a:xfrm>
            <a:off x="548640" y="1371600"/>
            <a:ext cx="4480560" cy="4480560"/>
          </a:xfrm>
          <a:prstGeom prst="rect">
            <a:avLst/>
          </a:prstGeom>
        </p:spPr>
      </p:pic>
      <p:sp>
        <p:nvSpPr>
          <p:cNvPr id="7" name="Text 4"/>
          <p:cNvSpPr txBox="1"/>
          <p:nvPr/>
        </p:nvSpPr>
        <p:spPr>
          <a:xfrm>
            <a:off x="548640" y="5943600"/>
            <a:ext cx="44805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Egipte, a la vall del Nil, envoltat de deserts. Mapa: professordesocials.cat, CC BY-SA 4.0. Base: Natural Earth.</a:t>
            </a:r>
            <a:endParaRPr lang="en-US" sz="1000" dirty="0"/>
          </a:p>
        </p:txBody>
      </p:sp>
      <p:sp>
        <p:nvSpPr>
          <p:cNvPr id="8" name="Targeta Una autopista"/>
          <p:cNvSpPr/>
          <p:nvPr/>
        </p:nvSpPr>
        <p:spPr>
          <a:xfrm>
            <a:off x="5394960" y="1371600"/>
            <a:ext cx="6248095" cy="1405128"/>
          </a:xfrm>
          <a:prstGeom prst="roundRect">
            <a:avLst>
              <a:gd name="adj" fmla="val 7158"/>
            </a:avLst>
          </a:prstGeom>
          <a:solidFill>
            <a:srgbClr val="FFFFFF"/>
          </a:solidFill>
          <a:ln w="12700">
            <a:solidFill>
              <a:srgbClr val="DADCE0"/>
            </a:solidFill>
            <a:prstDash val="solid"/>
          </a:ln>
        </p:spPr>
      </p:sp>
      <p:sp>
        <p:nvSpPr>
          <p:cNvPr id="9" name="Cercle icona"/>
          <p:cNvSpPr/>
          <p:nvPr/>
        </p:nvSpPr>
        <p:spPr>
          <a:xfrm>
            <a:off x="5623560" y="1600200"/>
            <a:ext cx="548640" cy="548640"/>
          </a:xfrm>
          <a:prstGeom prst="ellipse">
            <a:avLst/>
          </a:prstGeom>
          <a:solidFill>
            <a:srgbClr val="E6F4EA"/>
          </a:solidFill>
          <a:ln/>
        </p:spPr>
      </p:sp>
      <p:pic>
        <p:nvPicPr>
          <p:cNvPr id="10" name="Icona TbShip" descr="/home/claude/pc/build/1r-eso-civilitzacions/img/ic/TbShip-g.png">    </p:cNvPr>
          <p:cNvPicPr>
            <a:picLocks noChangeAspect="1"/>
          </p:cNvPicPr>
          <p:nvPr/>
        </p:nvPicPr>
        <p:blipFill>
          <a:blip r:embed="rId2"/>
          <a:stretch>
            <a:fillRect/>
          </a:stretch>
        </p:blipFill>
        <p:spPr>
          <a:xfrm>
            <a:off x="5744261" y="1720901"/>
            <a:ext cx="307238" cy="307238"/>
          </a:xfrm>
          <a:prstGeom prst="rect">
            <a:avLst/>
          </a:prstGeom>
        </p:spPr>
      </p:pic>
      <p:sp>
        <p:nvSpPr>
          <p:cNvPr id="11" name="Text 7"/>
          <p:cNvSpPr txBox="1"/>
          <p:nvPr/>
        </p:nvSpPr>
        <p:spPr>
          <a:xfrm>
            <a:off x="6309360" y="1600200"/>
            <a:ext cx="5105095"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Una autopista</a:t>
            </a:r>
            <a:endParaRPr lang="en-US" sz="1800" dirty="0"/>
          </a:p>
        </p:txBody>
      </p:sp>
      <p:sp>
        <p:nvSpPr>
          <p:cNvPr id="12" name="Text 8"/>
          <p:cNvSpPr txBox="1"/>
          <p:nvPr/>
        </p:nvSpPr>
        <p:spPr>
          <a:xfrm>
            <a:off x="5623560" y="2286000"/>
            <a:ext cx="5790895" cy="353568"/>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El Nil era la gran via del país. Tot es transportava en vaixell, riu amunt i riu avall.</a:t>
            </a:r>
            <a:endParaRPr lang="en-US" sz="1550" dirty="0"/>
          </a:p>
        </p:txBody>
      </p:sp>
      <p:sp>
        <p:nvSpPr>
          <p:cNvPr id="13" name="Targeta Protegit pels deserts"/>
          <p:cNvSpPr/>
          <p:nvPr/>
        </p:nvSpPr>
        <p:spPr>
          <a:xfrm>
            <a:off x="5394960" y="2977896"/>
            <a:ext cx="6248095" cy="1405128"/>
          </a:xfrm>
          <a:prstGeom prst="roundRect">
            <a:avLst>
              <a:gd name="adj" fmla="val 7158"/>
            </a:avLst>
          </a:prstGeom>
          <a:solidFill>
            <a:srgbClr val="FFFFFF"/>
          </a:solidFill>
          <a:ln w="12700">
            <a:solidFill>
              <a:srgbClr val="DADCE0"/>
            </a:solidFill>
            <a:prstDash val="solid"/>
          </a:ln>
        </p:spPr>
      </p:sp>
      <p:sp>
        <p:nvSpPr>
          <p:cNvPr id="14" name="Cercle icona"/>
          <p:cNvSpPr/>
          <p:nvPr/>
        </p:nvSpPr>
        <p:spPr>
          <a:xfrm>
            <a:off x="5623560" y="3206496"/>
            <a:ext cx="548640" cy="548640"/>
          </a:xfrm>
          <a:prstGeom prst="ellipse">
            <a:avLst/>
          </a:prstGeom>
          <a:solidFill>
            <a:srgbClr val="E6F4EA"/>
          </a:solidFill>
          <a:ln/>
        </p:spPr>
      </p:sp>
      <p:pic>
        <p:nvPicPr>
          <p:cNvPr id="15" name="Icona TbShield" descr="/home/claude/pc/build/1r-eso-civilitzacions/img/ic/TbShield-g.png">    </p:cNvPr>
          <p:cNvPicPr>
            <a:picLocks noChangeAspect="1"/>
          </p:cNvPicPr>
          <p:nvPr/>
        </p:nvPicPr>
        <p:blipFill>
          <a:blip r:embed="rId3"/>
          <a:stretch>
            <a:fillRect/>
          </a:stretch>
        </p:blipFill>
        <p:spPr>
          <a:xfrm>
            <a:off x="5744261" y="3327197"/>
            <a:ext cx="307238" cy="307238"/>
          </a:xfrm>
          <a:prstGeom prst="rect">
            <a:avLst/>
          </a:prstGeom>
        </p:spPr>
      </p:pic>
      <p:sp>
        <p:nvSpPr>
          <p:cNvPr id="16" name="Text 11"/>
          <p:cNvSpPr txBox="1"/>
          <p:nvPr/>
        </p:nvSpPr>
        <p:spPr>
          <a:xfrm>
            <a:off x="6309360" y="3206496"/>
            <a:ext cx="5105095"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Protegit pels deserts</a:t>
            </a:r>
            <a:endParaRPr lang="en-US" sz="1800" dirty="0"/>
          </a:p>
        </p:txBody>
      </p:sp>
      <p:sp>
        <p:nvSpPr>
          <p:cNvPr id="17" name="Text 12"/>
          <p:cNvSpPr txBox="1"/>
          <p:nvPr/>
        </p:nvSpPr>
        <p:spPr>
          <a:xfrm>
            <a:off x="5623560" y="3892296"/>
            <a:ext cx="5790895" cy="353568"/>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Rica, allargada i protegida. La seva història va ser molt més estable que la de Mesopotàmia.</a:t>
            </a:r>
            <a:endParaRPr lang="en-US" sz="1550" dirty="0"/>
          </a:p>
        </p:txBody>
      </p:sp>
      <p:sp>
        <p:nvSpPr>
          <p:cNvPr id="18" name="Targeta Més de 3.000 anys"/>
          <p:cNvSpPr/>
          <p:nvPr/>
        </p:nvSpPr>
        <p:spPr>
          <a:xfrm>
            <a:off x="5394960" y="4584192"/>
            <a:ext cx="6248095" cy="1405128"/>
          </a:xfrm>
          <a:prstGeom prst="roundRect">
            <a:avLst>
              <a:gd name="adj" fmla="val 7158"/>
            </a:avLst>
          </a:prstGeom>
          <a:solidFill>
            <a:srgbClr val="188038"/>
          </a:solidFill>
          <a:ln/>
        </p:spPr>
      </p:sp>
      <p:sp>
        <p:nvSpPr>
          <p:cNvPr id="19" name="Cercle icona"/>
          <p:cNvSpPr/>
          <p:nvPr/>
        </p:nvSpPr>
        <p:spPr>
          <a:xfrm>
            <a:off x="5623560" y="4812792"/>
            <a:ext cx="548640" cy="548640"/>
          </a:xfrm>
          <a:prstGeom prst="ellipse">
            <a:avLst/>
          </a:prstGeom>
          <a:solidFill>
            <a:srgbClr val="FFFFFF"/>
          </a:solidFill>
          <a:ln/>
        </p:spPr>
      </p:sp>
      <p:pic>
        <p:nvPicPr>
          <p:cNvPr id="20" name="Icona TbHourglass" descr="/home/claude/pc/build/1r-eso-civilitzacions/img/ic/TbHourglass-g.png">    </p:cNvPr>
          <p:cNvPicPr>
            <a:picLocks noChangeAspect="1"/>
          </p:cNvPicPr>
          <p:nvPr/>
        </p:nvPicPr>
        <p:blipFill>
          <a:blip r:embed="rId4"/>
          <a:stretch>
            <a:fillRect/>
          </a:stretch>
        </p:blipFill>
        <p:spPr>
          <a:xfrm>
            <a:off x="5744261" y="4933493"/>
            <a:ext cx="307238" cy="307238"/>
          </a:xfrm>
          <a:prstGeom prst="rect">
            <a:avLst/>
          </a:prstGeom>
        </p:spPr>
      </p:pic>
      <p:sp>
        <p:nvSpPr>
          <p:cNvPr id="21" name="Text 15"/>
          <p:cNvSpPr txBox="1"/>
          <p:nvPr/>
        </p:nvSpPr>
        <p:spPr>
          <a:xfrm>
            <a:off x="6309360" y="4812792"/>
            <a:ext cx="5105095" cy="548640"/>
          </a:xfrm>
          <a:prstGeom prst="rect">
            <a:avLst/>
          </a:prstGeom>
          <a:noFill/>
          <a:ln/>
        </p:spPr>
        <p:txBody>
          <a:bodyPr wrap="square" lIns="0" tIns="0" rIns="0" bIns="0" rtlCol="0" anchor="ctr"/>
          <a:lstStyle/>
          <a:p>
            <a:pPr indent="0" marL="0">
              <a:buNone/>
            </a:pPr>
            <a:r>
              <a:rPr lang="en-US" sz="1800" b="1" dirty="0">
                <a:solidFill>
                  <a:srgbClr val="FFFFFF"/>
                </a:solidFill>
                <a:latin typeface="Roboto" pitchFamily="34" charset="0"/>
                <a:ea typeface="Roboto" pitchFamily="34" charset="-122"/>
                <a:cs typeface="Roboto" pitchFamily="34" charset="-120"/>
              </a:rPr>
              <a:t>Més de 3.000 anys</a:t>
            </a:r>
            <a:endParaRPr lang="en-US" sz="1800" dirty="0"/>
          </a:p>
        </p:txBody>
      </p:sp>
      <p:sp>
        <p:nvSpPr>
          <p:cNvPr id="22" name="Text 16"/>
          <p:cNvSpPr txBox="1"/>
          <p:nvPr/>
        </p:nvSpPr>
        <p:spPr>
          <a:xfrm>
            <a:off x="5623560" y="5498592"/>
            <a:ext cx="5790895" cy="353568"/>
          </a:xfrm>
          <a:prstGeom prst="rect">
            <a:avLst/>
          </a:prstGeom>
          <a:noFill/>
          <a:ln/>
        </p:spPr>
        <p:txBody>
          <a:bodyPr wrap="square" lIns="0" tIns="0" rIns="0" bIns="0" rtlCol="0" anchor="t"/>
          <a:lstStyle/>
          <a:p>
            <a:pPr indent="0" marL="0">
              <a:buNone/>
            </a:pPr>
            <a:r>
              <a:rPr lang="en-US" sz="1550" dirty="0">
                <a:solidFill>
                  <a:srgbClr val="FFFFFF"/>
                </a:solidFill>
                <a:latin typeface="Roboto" pitchFamily="34" charset="0"/>
                <a:ea typeface="Roboto" pitchFamily="34" charset="-122"/>
                <a:cs typeface="Roboto" pitchFamily="34" charset="-120"/>
              </a:rPr>
              <a:t>Va durar més de tres mil anys amb una unitat extraordinària.</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sol regne. La paleta de Narmer</a:t>
            </a:r>
            <a:endParaRPr lang="en-US" sz="2800" dirty="0"/>
          </a:p>
        </p:txBody>
      </p:sp>
      <p:sp>
        <p:nvSpPr>
          <p:cNvPr id="5" name="Fons La paleta de Narmer, cap al 3100 aC"/>
          <p:cNvSpPr/>
          <p:nvPr/>
        </p:nvSpPr>
        <p:spPr>
          <a:xfrm>
            <a:off x="548640" y="1371600"/>
            <a:ext cx="3108960" cy="4145280"/>
          </a:xfrm>
          <a:prstGeom prst="roundRect">
            <a:avLst>
              <a:gd name="adj" fmla="val 3235"/>
            </a:avLst>
          </a:prstGeom>
          <a:solidFill>
            <a:srgbClr val="F6F8FB"/>
          </a:solidFill>
          <a:ln/>
        </p:spPr>
      </p:sp>
      <p:pic>
        <p:nvPicPr>
          <p:cNvPr id="6" name="La paleta de Narmer, cap al 3100 aC" descr="/home/claude/pc/build/1r-eso-civilitzacions/img/narmer.jpg">    </p:cNvPr>
          <p:cNvPicPr>
            <a:picLocks noChangeAspect="1"/>
          </p:cNvPicPr>
          <p:nvPr/>
        </p:nvPicPr>
        <p:blipFill>
          <a:blip r:embed="rId1"/>
          <a:stretch>
            <a:fillRect/>
          </a:stretch>
        </p:blipFill>
        <p:spPr>
          <a:xfrm>
            <a:off x="548640" y="1371600"/>
            <a:ext cx="3108960" cy="4145280"/>
          </a:xfrm>
          <a:prstGeom prst="rect">
            <a:avLst/>
          </a:prstGeom>
        </p:spPr>
      </p:pic>
      <p:sp>
        <p:nvSpPr>
          <p:cNvPr id="7" name="Text 4"/>
          <p:cNvSpPr txBox="1"/>
          <p:nvPr/>
        </p:nvSpPr>
        <p:spPr>
          <a:xfrm>
            <a:off x="548640" y="5608320"/>
            <a:ext cx="31089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paleta de Narmer, cap al 3100 aC. Fa uns 64 cm. Museu Egipci del Caire. Foto: Onceinawhile, Wikimedia Commons, CC BY-SA 4.0.</a:t>
            </a:r>
            <a:endParaRPr lang="en-US" sz="1000" dirty="0"/>
          </a:p>
        </p:txBody>
      </p:sp>
      <p:sp>
        <p:nvSpPr>
          <p:cNvPr id="8" name="Text 5"/>
          <p:cNvSpPr txBox="1"/>
          <p:nvPr/>
        </p:nvSpPr>
        <p:spPr>
          <a:xfrm>
            <a:off x="3977640" y="1371600"/>
            <a:ext cx="7665415" cy="123444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Cap al 3100 aC, un rei que la tradició anomena Menes, i que molts historiadors identifiquen amb Narmer, va unificar l'Alt Egipte (el sud) i el Baix Egipte (el delta, al nord).</a:t>
            </a:r>
            <a:endParaRPr lang="en-US" sz="1650" dirty="0"/>
          </a:p>
        </p:txBody>
      </p:sp>
      <p:sp>
        <p:nvSpPr>
          <p:cNvPr id="9" name="Font directa · La paleta de Narmer"/>
          <p:cNvSpPr/>
          <p:nvPr/>
        </p:nvSpPr>
        <p:spPr>
          <a:xfrm>
            <a:off x="3977640" y="2743200"/>
            <a:ext cx="7665415" cy="3246120"/>
          </a:xfrm>
          <a:prstGeom prst="roundRect">
            <a:avLst>
              <a:gd name="adj" fmla="val 3099"/>
            </a:avLst>
          </a:prstGeom>
          <a:solidFill>
            <a:srgbClr val="F6F8FB"/>
          </a:solidFill>
          <a:ln/>
        </p:spPr>
      </p:sp>
      <p:sp>
        <p:nvSpPr>
          <p:cNvPr id="10" name="Text 7"/>
          <p:cNvSpPr txBox="1"/>
          <p:nvPr/>
        </p:nvSpPr>
        <p:spPr>
          <a:xfrm>
            <a:off x="4251960" y="2880360"/>
            <a:ext cx="640080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Què hi veiem?</a:t>
            </a:r>
            <a:endParaRPr lang="en-US" sz="1400" dirty="0"/>
          </a:p>
        </p:txBody>
      </p:sp>
      <p:sp>
        <p:nvSpPr>
          <p:cNvPr id="11" name="Cercle icona"/>
          <p:cNvSpPr/>
          <p:nvPr/>
        </p:nvSpPr>
        <p:spPr>
          <a:xfrm>
            <a:off x="4251960" y="3396996"/>
            <a:ext cx="457200" cy="457200"/>
          </a:xfrm>
          <a:prstGeom prst="ellipse">
            <a:avLst/>
          </a:prstGeom>
          <a:solidFill>
            <a:srgbClr val="E6F4EA"/>
          </a:solidFill>
          <a:ln/>
        </p:spPr>
      </p:sp>
      <p:pic>
        <p:nvPicPr>
          <p:cNvPr id="12" name="Icona TbFileText" descr="/home/claude/pc/build/1r-eso-civilitzacions/img/ic/TbFileText-g.png">    </p:cNvPr>
          <p:cNvPicPr>
            <a:picLocks noChangeAspect="1"/>
          </p:cNvPicPr>
          <p:nvPr/>
        </p:nvPicPr>
        <p:blipFill>
          <a:blip r:embed="rId2"/>
          <a:stretch>
            <a:fillRect/>
          </a:stretch>
        </p:blipFill>
        <p:spPr>
          <a:xfrm>
            <a:off x="4352544" y="3497580"/>
            <a:ext cx="256032" cy="256032"/>
          </a:xfrm>
          <a:prstGeom prst="rect">
            <a:avLst/>
          </a:prstGeom>
        </p:spPr>
      </p:pic>
      <p:sp>
        <p:nvSpPr>
          <p:cNvPr id="13" name="Text 9"/>
          <p:cNvSpPr txBox="1"/>
          <p:nvPr/>
        </p:nvSpPr>
        <p:spPr>
          <a:xfrm>
            <a:off x="4910328" y="3291840"/>
            <a:ext cx="6458407" cy="777240"/>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A dalt, </a:t>
            </a:r>
            <a:pPr indent="0" marL="0">
              <a:buNone/>
            </a:pPr>
            <a:r>
              <a:rPr lang="en-US" sz="1500" dirty="0">
                <a:solidFill>
                  <a:srgbClr val="202124"/>
                </a:solidFill>
                <a:latin typeface="Roboto" pitchFamily="34" charset="0"/>
                <a:ea typeface="Roboto" pitchFamily="34" charset="-122"/>
                <a:cs typeface="Roboto" pitchFamily="34" charset="-120"/>
              </a:rPr>
              <a:t>el nom del rei amb dos signes, un peix siluro (nar) i un cisell (mer). Narmer.</a:t>
            </a:r>
            <a:endParaRPr lang="en-US" sz="1500" dirty="0"/>
          </a:p>
        </p:txBody>
      </p:sp>
      <p:sp>
        <p:nvSpPr>
          <p:cNvPr id="14" name="Cercle icona"/>
          <p:cNvSpPr/>
          <p:nvPr/>
        </p:nvSpPr>
        <p:spPr>
          <a:xfrm>
            <a:off x="4251960" y="4265676"/>
            <a:ext cx="457200" cy="457200"/>
          </a:xfrm>
          <a:prstGeom prst="ellipse">
            <a:avLst/>
          </a:prstGeom>
          <a:solidFill>
            <a:srgbClr val="E6F4EA"/>
          </a:solidFill>
          <a:ln/>
        </p:spPr>
      </p:sp>
      <p:pic>
        <p:nvPicPr>
          <p:cNvPr id="15" name="Icona TbCrown" descr="/home/claude/pc/build/1r-eso-civilitzacions/img/ic/TbCrown-g.png">    </p:cNvPr>
          <p:cNvPicPr>
            <a:picLocks noChangeAspect="1"/>
          </p:cNvPicPr>
          <p:nvPr/>
        </p:nvPicPr>
        <p:blipFill>
          <a:blip r:embed="rId3"/>
          <a:stretch>
            <a:fillRect/>
          </a:stretch>
        </p:blipFill>
        <p:spPr>
          <a:xfrm>
            <a:off x="4352544" y="4366260"/>
            <a:ext cx="256032" cy="256032"/>
          </a:xfrm>
          <a:prstGeom prst="rect">
            <a:avLst/>
          </a:prstGeom>
        </p:spPr>
      </p:pic>
      <p:sp>
        <p:nvSpPr>
          <p:cNvPr id="16" name="Text 11"/>
          <p:cNvSpPr txBox="1"/>
          <p:nvPr/>
        </p:nvSpPr>
        <p:spPr>
          <a:xfrm>
            <a:off x="4910328" y="4160520"/>
            <a:ext cx="6458407" cy="777240"/>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Al centre, </a:t>
            </a:r>
            <a:pPr indent="0" marL="0">
              <a:buNone/>
            </a:pPr>
            <a:r>
              <a:rPr lang="en-US" sz="1500" dirty="0">
                <a:solidFill>
                  <a:srgbClr val="202124"/>
                </a:solidFill>
                <a:latin typeface="Roboto" pitchFamily="34" charset="0"/>
                <a:ea typeface="Roboto" pitchFamily="34" charset="-122"/>
                <a:cs typeface="Roboto" pitchFamily="34" charset="-120"/>
              </a:rPr>
              <a:t>el rei avança amb la corona vermella del Baix Egipte.</a:t>
            </a:r>
            <a:endParaRPr lang="en-US" sz="1500" dirty="0"/>
          </a:p>
        </p:txBody>
      </p:sp>
      <p:sp>
        <p:nvSpPr>
          <p:cNvPr id="17" name="Cercle icona"/>
          <p:cNvSpPr/>
          <p:nvPr/>
        </p:nvSpPr>
        <p:spPr>
          <a:xfrm>
            <a:off x="4251960" y="5134356"/>
            <a:ext cx="457200" cy="457200"/>
          </a:xfrm>
          <a:prstGeom prst="ellipse">
            <a:avLst/>
          </a:prstGeom>
          <a:solidFill>
            <a:srgbClr val="E6F4EA"/>
          </a:solidFill>
          <a:ln/>
        </p:spPr>
      </p:sp>
      <p:pic>
        <p:nvPicPr>
          <p:cNvPr id="18" name="Icona TbBuildingFortress" descr="/home/claude/pc/build/1r-eso-civilitzacions/img/ic/TbBuildingFortress-g.png">    </p:cNvPr>
          <p:cNvPicPr>
            <a:picLocks noChangeAspect="1"/>
          </p:cNvPicPr>
          <p:nvPr/>
        </p:nvPicPr>
        <p:blipFill>
          <a:blip r:embed="rId4"/>
          <a:stretch>
            <a:fillRect/>
          </a:stretch>
        </p:blipFill>
        <p:spPr>
          <a:xfrm>
            <a:off x="4352544" y="5234940"/>
            <a:ext cx="256032" cy="256032"/>
          </a:xfrm>
          <a:prstGeom prst="rect">
            <a:avLst/>
          </a:prstGeom>
        </p:spPr>
      </p:pic>
      <p:sp>
        <p:nvSpPr>
          <p:cNvPr id="19" name="Text 13"/>
          <p:cNvSpPr txBox="1"/>
          <p:nvPr/>
        </p:nvSpPr>
        <p:spPr>
          <a:xfrm>
            <a:off x="4910328" y="5029200"/>
            <a:ext cx="6458407" cy="777240"/>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A baix, </a:t>
            </a:r>
            <a:pPr indent="0" marL="0">
              <a:buNone/>
            </a:pPr>
            <a:r>
              <a:rPr lang="en-US" sz="1500" dirty="0">
                <a:solidFill>
                  <a:srgbClr val="202124"/>
                </a:solidFill>
                <a:latin typeface="Roboto" pitchFamily="34" charset="0"/>
                <a:ea typeface="Roboto" pitchFamily="34" charset="-122"/>
                <a:cs typeface="Roboto" pitchFamily="34" charset="-120"/>
              </a:rPr>
              <a:t>un brau, símbol del rei, esbotza una muralla.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Tres mil anys d'història</a:t>
            </a:r>
            <a:endParaRPr lang="en-US" sz="2800" dirty="0"/>
          </a:p>
        </p:txBody>
      </p:sp>
      <p:sp>
        <p:nvSpPr>
          <p:cNvPr id="5" name="Targeta Imperi Antic"/>
          <p:cNvSpPr/>
          <p:nvPr/>
        </p:nvSpPr>
        <p:spPr>
          <a:xfrm>
            <a:off x="548640" y="1371600"/>
            <a:ext cx="3423818" cy="2971800"/>
          </a:xfrm>
          <a:prstGeom prst="roundRect">
            <a:avLst>
              <a:gd name="adj" fmla="val 3385"/>
            </a:avLst>
          </a:prstGeom>
          <a:solidFill>
            <a:srgbClr val="FFFFFF"/>
          </a:solidFill>
          <a:ln w="12700">
            <a:solidFill>
              <a:srgbClr val="DADCE0"/>
            </a:solidFill>
            <a:prstDash val="solid"/>
          </a:ln>
        </p:spPr>
      </p:sp>
      <p:sp>
        <p:nvSpPr>
          <p:cNvPr id="6" name="Cercle icona"/>
          <p:cNvSpPr/>
          <p:nvPr/>
        </p:nvSpPr>
        <p:spPr>
          <a:xfrm>
            <a:off x="777240" y="1600200"/>
            <a:ext cx="594360" cy="594360"/>
          </a:xfrm>
          <a:prstGeom prst="ellipse">
            <a:avLst/>
          </a:prstGeom>
          <a:solidFill>
            <a:srgbClr val="E6F4EA"/>
          </a:solidFill>
          <a:ln/>
        </p:spPr>
      </p:sp>
      <p:pic>
        <p:nvPicPr>
          <p:cNvPr id="7" name="Icona TbPyramid" descr="/home/claude/pc/build/1r-eso-civilitzacions/img/ic/TbPyramid-g.png">    </p:cNvPr>
          <p:cNvPicPr>
            <a:picLocks noChangeAspect="1"/>
          </p:cNvPicPr>
          <p:nvPr/>
        </p:nvPicPr>
        <p:blipFill>
          <a:blip r:embed="rId1"/>
          <a:stretch>
            <a:fillRect/>
          </a:stretch>
        </p:blipFill>
        <p:spPr>
          <a:xfrm>
            <a:off x="907999" y="1730959"/>
            <a:ext cx="332842" cy="332842"/>
          </a:xfrm>
          <a:prstGeom prst="rect">
            <a:avLst/>
          </a:prstGeom>
        </p:spPr>
      </p:pic>
      <p:sp>
        <p:nvSpPr>
          <p:cNvPr id="8" name="Text 5"/>
          <p:cNvSpPr txBox="1"/>
          <p:nvPr/>
        </p:nvSpPr>
        <p:spPr>
          <a:xfrm>
            <a:off x="1508760" y="1600200"/>
            <a:ext cx="2235098"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Imperi Antic</a:t>
            </a:r>
            <a:endParaRPr lang="en-US" sz="1900" dirty="0"/>
          </a:p>
        </p:txBody>
      </p:sp>
      <p:sp>
        <p:nvSpPr>
          <p:cNvPr id="9" name="Text 6"/>
          <p:cNvSpPr txBox="1"/>
          <p:nvPr/>
        </p:nvSpPr>
        <p:spPr>
          <a:xfrm>
            <a:off x="777240" y="2331720"/>
            <a:ext cx="2966618" cy="18745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2700 – 2200 aC</a:t>
            </a:r>
            <a:endParaRPr lang="en-US" sz="1550" dirty="0"/>
          </a:p>
          <a:p>
            <a:pPr indent="0" marL="0">
              <a:buNone/>
            </a:pPr>
            <a:r>
              <a:rPr lang="en-US" sz="1550" dirty="0">
                <a:solidFill>
                  <a:srgbClr val="202124"/>
                </a:solidFill>
                <a:latin typeface="Roboto" pitchFamily="34" charset="0"/>
                <a:ea typeface="Roboto" pitchFamily="34" charset="-122"/>
                <a:cs typeface="Roboto" pitchFamily="34" charset="-120"/>
              </a:rPr>
              <a:t>Capital a Memfis. L'època de les grans piràmides de Gizeh.</a:t>
            </a:r>
            <a:endParaRPr lang="en-US" sz="1550" dirty="0"/>
          </a:p>
        </p:txBody>
      </p:sp>
      <p:sp>
        <p:nvSpPr>
          <p:cNvPr id="10" name="Targeta Imperi Mitjà"/>
          <p:cNvSpPr/>
          <p:nvPr/>
        </p:nvSpPr>
        <p:spPr>
          <a:xfrm>
            <a:off x="4383938" y="1371600"/>
            <a:ext cx="3423818" cy="2971800"/>
          </a:xfrm>
          <a:prstGeom prst="roundRect">
            <a:avLst>
              <a:gd name="adj" fmla="val 3385"/>
            </a:avLst>
          </a:prstGeom>
          <a:solidFill>
            <a:srgbClr val="FFFFFF"/>
          </a:solidFill>
          <a:ln w="12700">
            <a:solidFill>
              <a:srgbClr val="DADCE0"/>
            </a:solidFill>
            <a:prstDash val="solid"/>
          </a:ln>
        </p:spPr>
      </p:sp>
      <p:sp>
        <p:nvSpPr>
          <p:cNvPr id="11" name="Cercle icona"/>
          <p:cNvSpPr/>
          <p:nvPr/>
        </p:nvSpPr>
        <p:spPr>
          <a:xfrm>
            <a:off x="4612538" y="1600200"/>
            <a:ext cx="594360" cy="594360"/>
          </a:xfrm>
          <a:prstGeom prst="ellipse">
            <a:avLst/>
          </a:prstGeom>
          <a:solidFill>
            <a:srgbClr val="E6F4EA"/>
          </a:solidFill>
          <a:ln/>
        </p:spPr>
      </p:sp>
      <p:pic>
        <p:nvPicPr>
          <p:cNvPr id="12" name="Icona TbWheat" descr="/home/claude/pc/build/1r-eso-civilitzacions/img/ic/TbWheat-g.png">    </p:cNvPr>
          <p:cNvPicPr>
            <a:picLocks noChangeAspect="1"/>
          </p:cNvPicPr>
          <p:nvPr/>
        </p:nvPicPr>
        <p:blipFill>
          <a:blip r:embed="rId2"/>
          <a:stretch>
            <a:fillRect/>
          </a:stretch>
        </p:blipFill>
        <p:spPr>
          <a:xfrm>
            <a:off x="4743298" y="1730959"/>
            <a:ext cx="332842" cy="332842"/>
          </a:xfrm>
          <a:prstGeom prst="rect">
            <a:avLst/>
          </a:prstGeom>
        </p:spPr>
      </p:pic>
      <p:sp>
        <p:nvSpPr>
          <p:cNvPr id="13" name="Text 9"/>
          <p:cNvSpPr txBox="1"/>
          <p:nvPr/>
        </p:nvSpPr>
        <p:spPr>
          <a:xfrm>
            <a:off x="5344058" y="1600200"/>
            <a:ext cx="2235098"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Imperi Mitjà</a:t>
            </a:r>
            <a:endParaRPr lang="en-US" sz="1900" dirty="0"/>
          </a:p>
        </p:txBody>
      </p:sp>
      <p:sp>
        <p:nvSpPr>
          <p:cNvPr id="14" name="Text 10"/>
          <p:cNvSpPr txBox="1"/>
          <p:nvPr/>
        </p:nvSpPr>
        <p:spPr>
          <a:xfrm>
            <a:off x="4612538" y="2331720"/>
            <a:ext cx="2966618" cy="18745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2050 – 1800 aC</a:t>
            </a:r>
            <a:endParaRPr lang="en-US" sz="1550" dirty="0"/>
          </a:p>
          <a:p>
            <a:pPr indent="0" marL="0">
              <a:buNone/>
            </a:pPr>
            <a:r>
              <a:rPr lang="en-US" sz="1550" dirty="0">
                <a:solidFill>
                  <a:srgbClr val="202124"/>
                </a:solidFill>
                <a:latin typeface="Roboto" pitchFamily="34" charset="0"/>
                <a:ea typeface="Roboto" pitchFamily="34" charset="-122"/>
                <a:cs typeface="Roboto" pitchFamily="34" charset="-120"/>
              </a:rPr>
              <a:t>Capital a Tebes i després a Itjtawy. Expansió cap a Núbia i gran desenvolupament agrícola.</a:t>
            </a:r>
            <a:endParaRPr lang="en-US" sz="1550" dirty="0"/>
          </a:p>
        </p:txBody>
      </p:sp>
      <p:sp>
        <p:nvSpPr>
          <p:cNvPr id="15" name="Targeta Imperi Nou"/>
          <p:cNvSpPr/>
          <p:nvPr/>
        </p:nvSpPr>
        <p:spPr>
          <a:xfrm>
            <a:off x="8219237" y="1371600"/>
            <a:ext cx="3423818" cy="2971800"/>
          </a:xfrm>
          <a:prstGeom prst="roundRect">
            <a:avLst>
              <a:gd name="adj" fmla="val 3385"/>
            </a:avLst>
          </a:prstGeom>
          <a:solidFill>
            <a:srgbClr val="FFFFFF"/>
          </a:solidFill>
          <a:ln w="12700">
            <a:solidFill>
              <a:srgbClr val="DADCE0"/>
            </a:solidFill>
            <a:prstDash val="solid"/>
          </a:ln>
        </p:spPr>
      </p:sp>
      <p:sp>
        <p:nvSpPr>
          <p:cNvPr id="16" name="Cercle icona"/>
          <p:cNvSpPr/>
          <p:nvPr/>
        </p:nvSpPr>
        <p:spPr>
          <a:xfrm>
            <a:off x="8447837" y="1600200"/>
            <a:ext cx="594360" cy="594360"/>
          </a:xfrm>
          <a:prstGeom prst="ellipse">
            <a:avLst/>
          </a:prstGeom>
          <a:solidFill>
            <a:srgbClr val="E6F4EA"/>
          </a:solidFill>
          <a:ln/>
        </p:spPr>
      </p:sp>
      <p:pic>
        <p:nvPicPr>
          <p:cNvPr id="17" name="Icona TbBuildingMonument" descr="/home/claude/pc/build/1r-eso-civilitzacions/img/ic/TbBuildingMonument-g.png">    </p:cNvPr>
          <p:cNvPicPr>
            <a:picLocks noChangeAspect="1"/>
          </p:cNvPicPr>
          <p:nvPr/>
        </p:nvPicPr>
        <p:blipFill>
          <a:blip r:embed="rId3"/>
          <a:stretch>
            <a:fillRect/>
          </a:stretch>
        </p:blipFill>
        <p:spPr>
          <a:xfrm>
            <a:off x="8578596" y="1730959"/>
            <a:ext cx="332842" cy="332842"/>
          </a:xfrm>
          <a:prstGeom prst="rect">
            <a:avLst/>
          </a:prstGeom>
        </p:spPr>
      </p:pic>
      <p:sp>
        <p:nvSpPr>
          <p:cNvPr id="18" name="Text 13"/>
          <p:cNvSpPr txBox="1"/>
          <p:nvPr/>
        </p:nvSpPr>
        <p:spPr>
          <a:xfrm>
            <a:off x="9179357" y="1600200"/>
            <a:ext cx="2235098" cy="594360"/>
          </a:xfrm>
          <a:prstGeom prst="rect">
            <a:avLst/>
          </a:prstGeom>
          <a:noFill/>
          <a:ln/>
        </p:spPr>
        <p:txBody>
          <a:bodyPr wrap="square" lIns="0" tIns="0" rIns="0" bIns="0" rtlCol="0" anchor="ctr"/>
          <a:lstStyle/>
          <a:p>
            <a:pPr indent="0" marL="0">
              <a:buNone/>
            </a:pPr>
            <a:r>
              <a:rPr lang="en-US" sz="1900" b="1" dirty="0">
                <a:solidFill>
                  <a:srgbClr val="188038"/>
                </a:solidFill>
                <a:latin typeface="Roboto" pitchFamily="34" charset="0"/>
                <a:ea typeface="Roboto" pitchFamily="34" charset="-122"/>
                <a:cs typeface="Roboto" pitchFamily="34" charset="-120"/>
              </a:rPr>
              <a:t>Imperi Nou</a:t>
            </a:r>
            <a:endParaRPr lang="en-US" sz="1900" dirty="0"/>
          </a:p>
        </p:txBody>
      </p:sp>
      <p:sp>
        <p:nvSpPr>
          <p:cNvPr id="19" name="Text 14"/>
          <p:cNvSpPr txBox="1"/>
          <p:nvPr/>
        </p:nvSpPr>
        <p:spPr>
          <a:xfrm>
            <a:off x="8447837" y="2331720"/>
            <a:ext cx="2966618" cy="187452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1550 – 1070 aC</a:t>
            </a:r>
            <a:endParaRPr lang="en-US" sz="1550" dirty="0"/>
          </a:p>
          <a:p>
            <a:pPr indent="0" marL="0">
              <a:buNone/>
            </a:pPr>
            <a:r>
              <a:rPr lang="en-US" sz="1550" dirty="0">
                <a:solidFill>
                  <a:srgbClr val="202124"/>
                </a:solidFill>
                <a:latin typeface="Roboto" pitchFamily="34" charset="0"/>
                <a:ea typeface="Roboto" pitchFamily="34" charset="-122"/>
                <a:cs typeface="Roboto" pitchFamily="34" charset="-120"/>
              </a:rPr>
              <a:t>Màxima esplendor. Karnak, Abu Simbel i faraons com Hatxepsut, Tutankamon i Ramsès II.</a:t>
            </a:r>
            <a:endParaRPr lang="en-US" sz="1550" dirty="0"/>
          </a:p>
        </p:txBody>
      </p:sp>
      <p:sp>
        <p:nvSpPr>
          <p:cNvPr id="20" name="Fletxa"/>
          <p:cNvSpPr/>
          <p:nvPr/>
        </p:nvSpPr>
        <p:spPr>
          <a:xfrm>
            <a:off x="4082186" y="2697480"/>
            <a:ext cx="182880" cy="274320"/>
          </a:xfrm>
          <a:prstGeom prst="chevron">
            <a:avLst/>
          </a:prstGeom>
          <a:solidFill>
            <a:srgbClr val="188038"/>
          </a:solidFill>
          <a:ln/>
        </p:spPr>
      </p:sp>
      <p:sp>
        <p:nvSpPr>
          <p:cNvPr id="21" name="Fletxa"/>
          <p:cNvSpPr/>
          <p:nvPr/>
        </p:nvSpPr>
        <p:spPr>
          <a:xfrm>
            <a:off x="7917485" y="2697480"/>
            <a:ext cx="182880" cy="274320"/>
          </a:xfrm>
          <a:prstGeom prst="chevron">
            <a:avLst/>
          </a:prstGeom>
          <a:solidFill>
            <a:srgbClr val="188038"/>
          </a:solidFill>
          <a:ln/>
        </p:spPr>
      </p:sp>
      <p:sp>
        <p:nvSpPr>
          <p:cNvPr id="22" name="Entre etapa i etapa, crisis"/>
          <p:cNvSpPr/>
          <p:nvPr/>
        </p:nvSpPr>
        <p:spPr>
          <a:xfrm>
            <a:off x="548640" y="4572000"/>
            <a:ext cx="11094415" cy="1417320"/>
          </a:xfrm>
          <a:prstGeom prst="roundRect">
            <a:avLst>
              <a:gd name="adj" fmla="val 7097"/>
            </a:avLst>
          </a:prstGeom>
          <a:solidFill>
            <a:srgbClr val="F6F8FB"/>
          </a:solidFill>
          <a:ln/>
        </p:spPr>
      </p:sp>
      <p:sp>
        <p:nvSpPr>
          <p:cNvPr id="23" name="Text 18"/>
          <p:cNvSpPr txBox="1"/>
          <p:nvPr/>
        </p:nvSpPr>
        <p:spPr>
          <a:xfrm>
            <a:off x="868680" y="472744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Entre etapa i etapa, crisis</a:t>
            </a:r>
            <a:endParaRPr lang="en-US" sz="1400" dirty="0"/>
          </a:p>
        </p:txBody>
      </p:sp>
      <p:sp>
        <p:nvSpPr>
          <p:cNvPr id="24" name="Text 19"/>
          <p:cNvSpPr txBox="1"/>
          <p:nvPr/>
        </p:nvSpPr>
        <p:spPr>
          <a:xfrm>
            <a:off x="868680" y="5074920"/>
            <a:ext cx="10454335" cy="77724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Hi va haver períodes de crisi, en què el país es va dividir i el poder del faraó es va afeblir.</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Crisis, conquestes i la darrera faraona</a:t>
            </a:r>
            <a:endParaRPr lang="en-US" sz="2800" dirty="0"/>
          </a:p>
        </p:txBody>
      </p:sp>
      <p:sp>
        <p:nvSpPr>
          <p:cNvPr id="5" name="Línia del temps"/>
          <p:cNvSpPr/>
          <p:nvPr/>
        </p:nvSpPr>
        <p:spPr>
          <a:xfrm>
            <a:off x="649224" y="1645920"/>
            <a:ext cx="0" cy="3291840"/>
          </a:xfrm>
          <a:prstGeom prst="line">
            <a:avLst/>
          </a:prstGeom>
          <a:noFill/>
          <a:ln w="31750">
            <a:solidFill>
              <a:srgbClr val="DADCE0"/>
            </a:solidFill>
            <a:prstDash val="solid"/>
          </a:ln>
        </p:spPr>
      </p:sp>
      <p:sp>
        <p:nvSpPr>
          <p:cNvPr id="6" name="Fita c. 1550 aC"/>
          <p:cNvSpPr/>
          <p:nvPr/>
        </p:nvSpPr>
        <p:spPr>
          <a:xfrm>
            <a:off x="548640" y="1545336"/>
            <a:ext cx="201168" cy="201168"/>
          </a:xfrm>
          <a:prstGeom prst="ellipse">
            <a:avLst/>
          </a:prstGeom>
          <a:solidFill>
            <a:srgbClr val="FFFFFF"/>
          </a:solidFill>
          <a:ln w="28575">
            <a:solidFill>
              <a:srgbClr val="188038"/>
            </a:solidFill>
            <a:prstDash val="solid"/>
          </a:ln>
        </p:spPr>
      </p:sp>
      <p:sp>
        <p:nvSpPr>
          <p:cNvPr id="7" name="Text 5"/>
          <p:cNvSpPr txBox="1"/>
          <p:nvPr/>
        </p:nvSpPr>
        <p:spPr>
          <a:xfrm>
            <a:off x="932688" y="1508760"/>
            <a:ext cx="1371600" cy="292608"/>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c. 1550 aC</a:t>
            </a:r>
            <a:endParaRPr lang="en-US" sz="1650" dirty="0"/>
          </a:p>
        </p:txBody>
      </p:sp>
      <p:sp>
        <p:nvSpPr>
          <p:cNvPr id="8" name="Text 6"/>
          <p:cNvSpPr txBox="1"/>
          <p:nvPr/>
        </p:nvSpPr>
        <p:spPr>
          <a:xfrm>
            <a:off x="2304288" y="1508760"/>
            <a:ext cx="5833872" cy="10515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El faraó Ahmose expulsa els hicsos, un poble vingut de l'Àsia que governava el nord.</a:t>
            </a:r>
            <a:endParaRPr lang="en-US" sz="1650" dirty="0"/>
          </a:p>
        </p:txBody>
      </p:sp>
      <p:sp>
        <p:nvSpPr>
          <p:cNvPr id="9" name="Fita 525 aC"/>
          <p:cNvSpPr/>
          <p:nvPr/>
        </p:nvSpPr>
        <p:spPr>
          <a:xfrm>
            <a:off x="548640" y="2642616"/>
            <a:ext cx="201168" cy="201168"/>
          </a:xfrm>
          <a:prstGeom prst="ellipse">
            <a:avLst/>
          </a:prstGeom>
          <a:solidFill>
            <a:srgbClr val="FFFFFF"/>
          </a:solidFill>
          <a:ln w="28575">
            <a:solidFill>
              <a:srgbClr val="188038"/>
            </a:solidFill>
            <a:prstDash val="solid"/>
          </a:ln>
        </p:spPr>
      </p:sp>
      <p:sp>
        <p:nvSpPr>
          <p:cNvPr id="10" name="Text 8"/>
          <p:cNvSpPr txBox="1"/>
          <p:nvPr/>
        </p:nvSpPr>
        <p:spPr>
          <a:xfrm>
            <a:off x="932688" y="2606040"/>
            <a:ext cx="1371600" cy="292608"/>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525 aC</a:t>
            </a:r>
            <a:endParaRPr lang="en-US" sz="1650" dirty="0"/>
          </a:p>
        </p:txBody>
      </p:sp>
      <p:sp>
        <p:nvSpPr>
          <p:cNvPr id="11" name="Text 9"/>
          <p:cNvSpPr txBox="1"/>
          <p:nvPr/>
        </p:nvSpPr>
        <p:spPr>
          <a:xfrm>
            <a:off x="2304288" y="2606040"/>
            <a:ext cx="5833872" cy="10515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Després de l'Imperi Nou, Egipte perd força. Primer arriben els assiris i després, els perses.</a:t>
            </a:r>
            <a:endParaRPr lang="en-US" sz="1650" dirty="0"/>
          </a:p>
        </p:txBody>
      </p:sp>
      <p:sp>
        <p:nvSpPr>
          <p:cNvPr id="12" name="Fita 332 aC"/>
          <p:cNvSpPr/>
          <p:nvPr/>
        </p:nvSpPr>
        <p:spPr>
          <a:xfrm>
            <a:off x="548640" y="3739896"/>
            <a:ext cx="201168" cy="201168"/>
          </a:xfrm>
          <a:prstGeom prst="ellipse">
            <a:avLst/>
          </a:prstGeom>
          <a:solidFill>
            <a:srgbClr val="FFFFFF"/>
          </a:solidFill>
          <a:ln w="28575">
            <a:solidFill>
              <a:srgbClr val="188038"/>
            </a:solidFill>
            <a:prstDash val="solid"/>
          </a:ln>
        </p:spPr>
      </p:sp>
      <p:sp>
        <p:nvSpPr>
          <p:cNvPr id="13" name="Text 11"/>
          <p:cNvSpPr txBox="1"/>
          <p:nvPr/>
        </p:nvSpPr>
        <p:spPr>
          <a:xfrm>
            <a:off x="932688" y="3703320"/>
            <a:ext cx="1371600" cy="292608"/>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332 aC</a:t>
            </a:r>
            <a:endParaRPr lang="en-US" sz="1650" dirty="0"/>
          </a:p>
        </p:txBody>
      </p:sp>
      <p:sp>
        <p:nvSpPr>
          <p:cNvPr id="14" name="Text 12"/>
          <p:cNvSpPr txBox="1"/>
          <p:nvPr/>
        </p:nvSpPr>
        <p:spPr>
          <a:xfrm>
            <a:off x="2304288" y="3703320"/>
            <a:ext cx="5833872" cy="10515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El conquereix Alexandre el Gran. Un dels seus generals, Ptolemeu, s'hi fa rei.</a:t>
            </a:r>
            <a:endParaRPr lang="en-US" sz="1650" dirty="0"/>
          </a:p>
        </p:txBody>
      </p:sp>
      <p:sp>
        <p:nvSpPr>
          <p:cNvPr id="15" name="Fita 30 aC"/>
          <p:cNvSpPr/>
          <p:nvPr/>
        </p:nvSpPr>
        <p:spPr>
          <a:xfrm>
            <a:off x="548640" y="4837176"/>
            <a:ext cx="201168" cy="201168"/>
          </a:xfrm>
          <a:prstGeom prst="ellipse">
            <a:avLst/>
          </a:prstGeom>
          <a:solidFill>
            <a:srgbClr val="188038"/>
          </a:solidFill>
          <a:ln w="28575">
            <a:solidFill>
              <a:srgbClr val="188038"/>
            </a:solidFill>
            <a:prstDash val="solid"/>
          </a:ln>
        </p:spPr>
      </p:sp>
      <p:sp>
        <p:nvSpPr>
          <p:cNvPr id="16" name="Text 14"/>
          <p:cNvSpPr txBox="1"/>
          <p:nvPr/>
        </p:nvSpPr>
        <p:spPr>
          <a:xfrm>
            <a:off x="932688" y="4800600"/>
            <a:ext cx="1371600" cy="292608"/>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30 aC</a:t>
            </a:r>
            <a:endParaRPr lang="en-US" sz="1650" dirty="0"/>
          </a:p>
        </p:txBody>
      </p:sp>
      <p:sp>
        <p:nvSpPr>
          <p:cNvPr id="17" name="Text 15"/>
          <p:cNvSpPr txBox="1"/>
          <p:nvPr/>
        </p:nvSpPr>
        <p:spPr>
          <a:xfrm>
            <a:off x="2304288" y="4800600"/>
            <a:ext cx="5833872" cy="105156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Mor Cleòpatra, l'última dels Ptolemeus. Egipte es converteix en una província de Roma.</a:t>
            </a:r>
            <a:endParaRPr lang="en-US" sz="1650" dirty="0"/>
          </a:p>
        </p:txBody>
      </p:sp>
      <p:sp>
        <p:nvSpPr>
          <p:cNvPr id="18" name="Els Ptolemeus"/>
          <p:cNvSpPr/>
          <p:nvPr/>
        </p:nvSpPr>
        <p:spPr>
          <a:xfrm>
            <a:off x="8412480" y="1371600"/>
            <a:ext cx="3230575" cy="1920240"/>
          </a:xfrm>
          <a:prstGeom prst="roundRect">
            <a:avLst>
              <a:gd name="adj" fmla="val 5238"/>
            </a:avLst>
          </a:prstGeom>
          <a:solidFill>
            <a:srgbClr val="E6F4EA"/>
          </a:solidFill>
          <a:ln/>
        </p:spPr>
      </p:sp>
      <p:sp>
        <p:nvSpPr>
          <p:cNvPr id="19" name="Text 17"/>
          <p:cNvSpPr txBox="1"/>
          <p:nvPr/>
        </p:nvSpPr>
        <p:spPr>
          <a:xfrm>
            <a:off x="8732520" y="1527048"/>
            <a:ext cx="259049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Els Ptolemeus</a:t>
            </a:r>
            <a:endParaRPr lang="en-US" sz="1400" dirty="0"/>
          </a:p>
        </p:txBody>
      </p:sp>
      <p:sp>
        <p:nvSpPr>
          <p:cNvPr id="20" name="Text 18"/>
          <p:cNvSpPr txBox="1"/>
          <p:nvPr/>
        </p:nvSpPr>
        <p:spPr>
          <a:xfrm>
            <a:off x="8732520" y="1874520"/>
            <a:ext cx="2590495" cy="128016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Eren grecs, però governaven com a faraons.</a:t>
            </a:r>
            <a:endParaRPr lang="en-US" sz="1600" dirty="0"/>
          </a:p>
        </p:txBody>
      </p:sp>
      <p:sp>
        <p:nvSpPr>
          <p:cNvPr id="21" name="Recorda"/>
          <p:cNvSpPr/>
          <p:nvPr/>
        </p:nvSpPr>
        <p:spPr>
          <a:xfrm>
            <a:off x="8412480" y="3520440"/>
            <a:ext cx="3230575" cy="2468880"/>
          </a:xfrm>
          <a:prstGeom prst="roundRect">
            <a:avLst>
              <a:gd name="adj" fmla="val 4074"/>
            </a:avLst>
          </a:prstGeom>
          <a:solidFill>
            <a:srgbClr val="F6F8FB"/>
          </a:solidFill>
          <a:ln/>
        </p:spPr>
      </p:sp>
      <p:sp>
        <p:nvSpPr>
          <p:cNvPr id="22" name="Text 20"/>
          <p:cNvSpPr txBox="1"/>
          <p:nvPr/>
        </p:nvSpPr>
        <p:spPr>
          <a:xfrm>
            <a:off x="8732520" y="3675888"/>
            <a:ext cx="259049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Recorda</a:t>
            </a:r>
            <a:endParaRPr lang="en-US" sz="1400" dirty="0"/>
          </a:p>
        </p:txBody>
      </p:sp>
      <p:sp>
        <p:nvSpPr>
          <p:cNvPr id="23" name="Text 21"/>
          <p:cNvSpPr txBox="1"/>
          <p:nvPr/>
        </p:nvSpPr>
        <p:spPr>
          <a:xfrm>
            <a:off x="8732520" y="4023360"/>
            <a:ext cx="2590495" cy="1828800"/>
          </a:xfrm>
          <a:prstGeom prst="rect">
            <a:avLst/>
          </a:prstGeom>
          <a:noFill/>
          <a:ln/>
        </p:spPr>
        <p:txBody>
          <a:bodyPr wrap="square" lIns="0" tIns="0" rIns="0" bIns="0" rtlCol="0" anchor="t"/>
          <a:lstStyle/>
          <a:p>
            <a:pPr indent="0" marL="0">
              <a:buNone/>
            </a:pPr>
            <a:r>
              <a:rPr lang="en-US" sz="1550" dirty="0">
                <a:solidFill>
                  <a:srgbClr val="5F6368"/>
                </a:solidFill>
                <a:latin typeface="Roboto" pitchFamily="34" charset="0"/>
                <a:ea typeface="Roboto" pitchFamily="34" charset="-122"/>
                <a:cs typeface="Roboto" pitchFamily="34" charset="-120"/>
              </a:rPr>
              <a:t>Alexandre el Gran i els Ptolemeus els tornaràs a trobar quan estudiïs l'antiga Grècia.</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faraó. Rei i déu alhora</a:t>
            </a:r>
            <a:endParaRPr lang="en-US" sz="2800" dirty="0"/>
          </a:p>
        </p:txBody>
      </p:sp>
      <p:sp>
        <p:nvSpPr>
          <p:cNvPr id="5" name="Fons La màscara funerària de Tutankamon, segle XIV aC"/>
          <p:cNvSpPr/>
          <p:nvPr/>
        </p:nvSpPr>
        <p:spPr>
          <a:xfrm>
            <a:off x="548640" y="1371600"/>
            <a:ext cx="3200400" cy="4000500"/>
          </a:xfrm>
          <a:prstGeom prst="roundRect">
            <a:avLst>
              <a:gd name="adj" fmla="val 3143"/>
            </a:avLst>
          </a:prstGeom>
          <a:solidFill>
            <a:srgbClr val="F6F8FB"/>
          </a:solidFill>
          <a:ln/>
        </p:spPr>
      </p:sp>
      <p:pic>
        <p:nvPicPr>
          <p:cNvPr id="6" name="La màscara funerària de Tutankamon, segle XIV aC" descr="/home/claude/pc/build/1r-eso-civilitzacions/img/tutankamon.jpg">    </p:cNvPr>
          <p:cNvPicPr>
            <a:picLocks noChangeAspect="1"/>
          </p:cNvPicPr>
          <p:nvPr/>
        </p:nvPicPr>
        <p:blipFill>
          <a:blip r:embed="rId1"/>
          <a:stretch>
            <a:fillRect/>
          </a:stretch>
        </p:blipFill>
        <p:spPr>
          <a:xfrm>
            <a:off x="548640" y="1371600"/>
            <a:ext cx="3200400" cy="4000500"/>
          </a:xfrm>
          <a:prstGeom prst="rect">
            <a:avLst/>
          </a:prstGeom>
        </p:spPr>
      </p:pic>
      <p:sp>
        <p:nvSpPr>
          <p:cNvPr id="7" name="Text 4"/>
          <p:cNvSpPr txBox="1"/>
          <p:nvPr/>
        </p:nvSpPr>
        <p:spPr>
          <a:xfrm>
            <a:off x="548640" y="5463540"/>
            <a:ext cx="320040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màscara funerària de Tutankamon, segle XIV aC. Or, lapislàtzuli i pasta de vidre. Foto: Roland Unger, Wikimedia Commons, CC BY-SA 3.0.</a:t>
            </a:r>
            <a:endParaRPr lang="en-US" sz="1000" dirty="0"/>
          </a:p>
        </p:txBody>
      </p:sp>
      <p:sp>
        <p:nvSpPr>
          <p:cNvPr id="8" name="Text 5"/>
          <p:cNvSpPr txBox="1"/>
          <p:nvPr/>
        </p:nvSpPr>
        <p:spPr>
          <a:xfrm>
            <a:off x="4114800" y="1371600"/>
            <a:ext cx="7528255" cy="77724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Era considerat un déu vivent, fill de Ra, el déu del sol. Havia de mantenir l'ordre del món.</a:t>
            </a:r>
            <a:endParaRPr lang="en-US" sz="1650" dirty="0"/>
          </a:p>
        </p:txBody>
      </p:sp>
      <p:sp>
        <p:nvSpPr>
          <p:cNvPr id="9" name="Targeta Propietari"/>
          <p:cNvSpPr/>
          <p:nvPr/>
        </p:nvSpPr>
        <p:spPr>
          <a:xfrm>
            <a:off x="4114800" y="2240280"/>
            <a:ext cx="1744904" cy="1783080"/>
          </a:xfrm>
          <a:prstGeom prst="roundRect">
            <a:avLst>
              <a:gd name="adj" fmla="val 5764"/>
            </a:avLst>
          </a:prstGeom>
          <a:solidFill>
            <a:srgbClr val="FFFFFF"/>
          </a:solidFill>
          <a:ln w="12700">
            <a:solidFill>
              <a:srgbClr val="DADCE0"/>
            </a:solidFill>
            <a:prstDash val="solid"/>
          </a:ln>
        </p:spPr>
      </p:sp>
      <p:sp>
        <p:nvSpPr>
          <p:cNvPr id="10" name="Cercle icona"/>
          <p:cNvSpPr/>
          <p:nvPr/>
        </p:nvSpPr>
        <p:spPr>
          <a:xfrm>
            <a:off x="4343400" y="2468880"/>
            <a:ext cx="457200" cy="457200"/>
          </a:xfrm>
          <a:prstGeom prst="ellipse">
            <a:avLst/>
          </a:prstGeom>
          <a:solidFill>
            <a:srgbClr val="E6F4EA"/>
          </a:solidFill>
          <a:ln/>
        </p:spPr>
      </p:sp>
      <p:pic>
        <p:nvPicPr>
          <p:cNvPr id="11" name="Icona TbMapPins" descr="/home/claude/pc/build/1r-eso-civilitzacions/img/ic/TbMapPins-g.png">    </p:cNvPr>
          <p:cNvPicPr>
            <a:picLocks noChangeAspect="1"/>
          </p:cNvPicPr>
          <p:nvPr/>
        </p:nvPicPr>
        <p:blipFill>
          <a:blip r:embed="rId2"/>
          <a:stretch>
            <a:fillRect/>
          </a:stretch>
        </p:blipFill>
        <p:spPr>
          <a:xfrm>
            <a:off x="4443984" y="2569464"/>
            <a:ext cx="256032" cy="256032"/>
          </a:xfrm>
          <a:prstGeom prst="rect">
            <a:avLst/>
          </a:prstGeom>
        </p:spPr>
      </p:pic>
      <p:sp>
        <p:nvSpPr>
          <p:cNvPr id="12" name="Text 8"/>
          <p:cNvSpPr txBox="1"/>
          <p:nvPr/>
        </p:nvSpPr>
        <p:spPr>
          <a:xfrm>
            <a:off x="4343400" y="3063240"/>
            <a:ext cx="1287704" cy="243840"/>
          </a:xfrm>
          <a:prstGeom prst="rect">
            <a:avLst/>
          </a:prstGeom>
          <a:noFill/>
          <a:ln/>
        </p:spPr>
        <p:txBody>
          <a:bodyPr wrap="square" lIns="0" tIns="0" rIns="0" bIns="0" rtlCol="0" anchor="t"/>
          <a:lstStyle/>
          <a:p>
            <a:pPr indent="0" marL="0">
              <a:buNone/>
            </a:pPr>
            <a:r>
              <a:rPr lang="en-US" sz="1600" b="1" dirty="0">
                <a:solidFill>
                  <a:srgbClr val="188038"/>
                </a:solidFill>
                <a:latin typeface="Roboto" pitchFamily="34" charset="0"/>
                <a:ea typeface="Roboto" pitchFamily="34" charset="-122"/>
                <a:cs typeface="Roboto" pitchFamily="34" charset="-120"/>
              </a:rPr>
              <a:t>Propietari</a:t>
            </a:r>
            <a:endParaRPr lang="en-US" sz="1600" dirty="0"/>
          </a:p>
        </p:txBody>
      </p:sp>
      <p:sp>
        <p:nvSpPr>
          <p:cNvPr id="13" name="Text 9"/>
          <p:cNvSpPr txBox="1"/>
          <p:nvPr/>
        </p:nvSpPr>
        <p:spPr>
          <a:xfrm>
            <a:off x="4343400" y="3398520"/>
            <a:ext cx="1287704" cy="4876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De totes les terres.</a:t>
            </a:r>
            <a:endParaRPr lang="en-US" sz="1450" dirty="0"/>
          </a:p>
        </p:txBody>
      </p:sp>
      <p:sp>
        <p:nvSpPr>
          <p:cNvPr id="14" name="Targeta Cap"/>
          <p:cNvSpPr/>
          <p:nvPr/>
        </p:nvSpPr>
        <p:spPr>
          <a:xfrm>
            <a:off x="6042584" y="2240280"/>
            <a:ext cx="1744904" cy="1783080"/>
          </a:xfrm>
          <a:prstGeom prst="roundRect">
            <a:avLst>
              <a:gd name="adj" fmla="val 5764"/>
            </a:avLst>
          </a:prstGeom>
          <a:solidFill>
            <a:srgbClr val="FFFFFF"/>
          </a:solidFill>
          <a:ln w="12700">
            <a:solidFill>
              <a:srgbClr val="DADCE0"/>
            </a:solidFill>
            <a:prstDash val="solid"/>
          </a:ln>
        </p:spPr>
      </p:sp>
      <p:sp>
        <p:nvSpPr>
          <p:cNvPr id="15" name="Cercle icona"/>
          <p:cNvSpPr/>
          <p:nvPr/>
        </p:nvSpPr>
        <p:spPr>
          <a:xfrm>
            <a:off x="6271184" y="2468880"/>
            <a:ext cx="457200" cy="457200"/>
          </a:xfrm>
          <a:prstGeom prst="ellipse">
            <a:avLst/>
          </a:prstGeom>
          <a:solidFill>
            <a:srgbClr val="E6F4EA"/>
          </a:solidFill>
          <a:ln/>
        </p:spPr>
      </p:sp>
      <p:pic>
        <p:nvPicPr>
          <p:cNvPr id="16" name="Icona TbShield" descr="/home/claude/pc/build/1r-eso-civilitzacions/img/ic/TbShield-g.png">    </p:cNvPr>
          <p:cNvPicPr>
            <a:picLocks noChangeAspect="1"/>
          </p:cNvPicPr>
          <p:nvPr/>
        </p:nvPicPr>
        <p:blipFill>
          <a:blip r:embed="rId3"/>
          <a:stretch>
            <a:fillRect/>
          </a:stretch>
        </p:blipFill>
        <p:spPr>
          <a:xfrm>
            <a:off x="6371768" y="2569464"/>
            <a:ext cx="256032" cy="256032"/>
          </a:xfrm>
          <a:prstGeom prst="rect">
            <a:avLst/>
          </a:prstGeom>
        </p:spPr>
      </p:pic>
      <p:sp>
        <p:nvSpPr>
          <p:cNvPr id="17" name="Text 12"/>
          <p:cNvSpPr txBox="1"/>
          <p:nvPr/>
        </p:nvSpPr>
        <p:spPr>
          <a:xfrm>
            <a:off x="6271184" y="3063240"/>
            <a:ext cx="1287704" cy="243840"/>
          </a:xfrm>
          <a:prstGeom prst="rect">
            <a:avLst/>
          </a:prstGeom>
          <a:noFill/>
          <a:ln/>
        </p:spPr>
        <p:txBody>
          <a:bodyPr wrap="square" lIns="0" tIns="0" rIns="0" bIns="0" rtlCol="0" anchor="t"/>
          <a:lstStyle/>
          <a:p>
            <a:pPr indent="0" marL="0">
              <a:buNone/>
            </a:pPr>
            <a:r>
              <a:rPr lang="en-US" sz="1600" b="1" dirty="0">
                <a:solidFill>
                  <a:srgbClr val="188038"/>
                </a:solidFill>
                <a:latin typeface="Roboto" pitchFamily="34" charset="0"/>
                <a:ea typeface="Roboto" pitchFamily="34" charset="-122"/>
                <a:cs typeface="Roboto" pitchFamily="34" charset="-120"/>
              </a:rPr>
              <a:t>Cap</a:t>
            </a:r>
            <a:endParaRPr lang="en-US" sz="1600" dirty="0"/>
          </a:p>
        </p:txBody>
      </p:sp>
      <p:sp>
        <p:nvSpPr>
          <p:cNvPr id="18" name="Text 13"/>
          <p:cNvSpPr txBox="1"/>
          <p:nvPr/>
        </p:nvSpPr>
        <p:spPr>
          <a:xfrm>
            <a:off x="6271184" y="3398520"/>
            <a:ext cx="1287704" cy="4876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De l'exèrcit.</a:t>
            </a:r>
            <a:endParaRPr lang="en-US" sz="1450" dirty="0"/>
          </a:p>
        </p:txBody>
      </p:sp>
      <p:sp>
        <p:nvSpPr>
          <p:cNvPr id="19" name="Targeta Jutge"/>
          <p:cNvSpPr/>
          <p:nvPr/>
        </p:nvSpPr>
        <p:spPr>
          <a:xfrm>
            <a:off x="7970368" y="2240280"/>
            <a:ext cx="1744904" cy="1783080"/>
          </a:xfrm>
          <a:prstGeom prst="roundRect">
            <a:avLst>
              <a:gd name="adj" fmla="val 5764"/>
            </a:avLst>
          </a:prstGeom>
          <a:solidFill>
            <a:srgbClr val="FFFFFF"/>
          </a:solidFill>
          <a:ln w="12700">
            <a:solidFill>
              <a:srgbClr val="DADCE0"/>
            </a:solidFill>
            <a:prstDash val="solid"/>
          </a:ln>
        </p:spPr>
      </p:sp>
      <p:sp>
        <p:nvSpPr>
          <p:cNvPr id="20" name="Cercle icona"/>
          <p:cNvSpPr/>
          <p:nvPr/>
        </p:nvSpPr>
        <p:spPr>
          <a:xfrm>
            <a:off x="8198968" y="2468880"/>
            <a:ext cx="457200" cy="457200"/>
          </a:xfrm>
          <a:prstGeom prst="ellipse">
            <a:avLst/>
          </a:prstGeom>
          <a:solidFill>
            <a:srgbClr val="E6F4EA"/>
          </a:solidFill>
          <a:ln/>
        </p:spPr>
      </p:sp>
      <p:pic>
        <p:nvPicPr>
          <p:cNvPr id="21" name="Icona TbScale" descr="/home/claude/pc/build/1r-eso-civilitzacions/img/ic/TbScale-g.png">    </p:cNvPr>
          <p:cNvPicPr>
            <a:picLocks noChangeAspect="1"/>
          </p:cNvPicPr>
          <p:nvPr/>
        </p:nvPicPr>
        <p:blipFill>
          <a:blip r:embed="rId4"/>
          <a:stretch>
            <a:fillRect/>
          </a:stretch>
        </p:blipFill>
        <p:spPr>
          <a:xfrm>
            <a:off x="8299552" y="2569464"/>
            <a:ext cx="256032" cy="256032"/>
          </a:xfrm>
          <a:prstGeom prst="rect">
            <a:avLst/>
          </a:prstGeom>
        </p:spPr>
      </p:pic>
      <p:sp>
        <p:nvSpPr>
          <p:cNvPr id="22" name="Text 16"/>
          <p:cNvSpPr txBox="1"/>
          <p:nvPr/>
        </p:nvSpPr>
        <p:spPr>
          <a:xfrm>
            <a:off x="8198968" y="3063240"/>
            <a:ext cx="1287704" cy="243840"/>
          </a:xfrm>
          <a:prstGeom prst="rect">
            <a:avLst/>
          </a:prstGeom>
          <a:noFill/>
          <a:ln/>
        </p:spPr>
        <p:txBody>
          <a:bodyPr wrap="square" lIns="0" tIns="0" rIns="0" bIns="0" rtlCol="0" anchor="t"/>
          <a:lstStyle/>
          <a:p>
            <a:pPr indent="0" marL="0">
              <a:buNone/>
            </a:pPr>
            <a:r>
              <a:rPr lang="en-US" sz="1600" b="1" dirty="0">
                <a:solidFill>
                  <a:srgbClr val="188038"/>
                </a:solidFill>
                <a:latin typeface="Roboto" pitchFamily="34" charset="0"/>
                <a:ea typeface="Roboto" pitchFamily="34" charset="-122"/>
                <a:cs typeface="Roboto" pitchFamily="34" charset="-120"/>
              </a:rPr>
              <a:t>Jutge</a:t>
            </a:r>
            <a:endParaRPr lang="en-US" sz="1600" dirty="0"/>
          </a:p>
        </p:txBody>
      </p:sp>
      <p:sp>
        <p:nvSpPr>
          <p:cNvPr id="23" name="Text 17"/>
          <p:cNvSpPr txBox="1"/>
          <p:nvPr/>
        </p:nvSpPr>
        <p:spPr>
          <a:xfrm>
            <a:off x="8198968" y="3398520"/>
            <a:ext cx="1287704" cy="4876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Suprem.</a:t>
            </a:r>
            <a:endParaRPr lang="en-US" sz="1450" dirty="0"/>
          </a:p>
        </p:txBody>
      </p:sp>
      <p:sp>
        <p:nvSpPr>
          <p:cNvPr id="24" name="Targeta Sacerdot"/>
          <p:cNvSpPr/>
          <p:nvPr/>
        </p:nvSpPr>
        <p:spPr>
          <a:xfrm>
            <a:off x="9898151" y="2240280"/>
            <a:ext cx="1744904" cy="1783080"/>
          </a:xfrm>
          <a:prstGeom prst="roundRect">
            <a:avLst>
              <a:gd name="adj" fmla="val 5764"/>
            </a:avLst>
          </a:prstGeom>
          <a:solidFill>
            <a:srgbClr val="FFFFFF"/>
          </a:solidFill>
          <a:ln w="12700">
            <a:solidFill>
              <a:srgbClr val="DADCE0"/>
            </a:solidFill>
            <a:prstDash val="solid"/>
          </a:ln>
        </p:spPr>
      </p:sp>
      <p:sp>
        <p:nvSpPr>
          <p:cNvPr id="25" name="Cercle icona"/>
          <p:cNvSpPr/>
          <p:nvPr/>
        </p:nvSpPr>
        <p:spPr>
          <a:xfrm>
            <a:off x="10126751" y="2468880"/>
            <a:ext cx="457200" cy="457200"/>
          </a:xfrm>
          <a:prstGeom prst="ellipse">
            <a:avLst/>
          </a:prstGeom>
          <a:solidFill>
            <a:srgbClr val="E6F4EA"/>
          </a:solidFill>
          <a:ln/>
        </p:spPr>
      </p:sp>
      <p:pic>
        <p:nvPicPr>
          <p:cNvPr id="26" name="Icona TbFlame" descr="/home/claude/pc/build/1r-eso-civilitzacions/img/ic/TbFlame-g.png">    </p:cNvPr>
          <p:cNvPicPr>
            <a:picLocks noChangeAspect="1"/>
          </p:cNvPicPr>
          <p:nvPr/>
        </p:nvPicPr>
        <p:blipFill>
          <a:blip r:embed="rId5"/>
          <a:stretch>
            <a:fillRect/>
          </a:stretch>
        </p:blipFill>
        <p:spPr>
          <a:xfrm>
            <a:off x="10227335" y="2569464"/>
            <a:ext cx="256032" cy="256032"/>
          </a:xfrm>
          <a:prstGeom prst="rect">
            <a:avLst/>
          </a:prstGeom>
        </p:spPr>
      </p:pic>
      <p:sp>
        <p:nvSpPr>
          <p:cNvPr id="27" name="Text 20"/>
          <p:cNvSpPr txBox="1"/>
          <p:nvPr/>
        </p:nvSpPr>
        <p:spPr>
          <a:xfrm>
            <a:off x="10126751" y="3063240"/>
            <a:ext cx="1287704" cy="243840"/>
          </a:xfrm>
          <a:prstGeom prst="rect">
            <a:avLst/>
          </a:prstGeom>
          <a:noFill/>
          <a:ln/>
        </p:spPr>
        <p:txBody>
          <a:bodyPr wrap="square" lIns="0" tIns="0" rIns="0" bIns="0" rtlCol="0" anchor="t"/>
          <a:lstStyle/>
          <a:p>
            <a:pPr indent="0" marL="0">
              <a:buNone/>
            </a:pPr>
            <a:r>
              <a:rPr lang="en-US" sz="1600" b="1" dirty="0">
                <a:solidFill>
                  <a:srgbClr val="188038"/>
                </a:solidFill>
                <a:latin typeface="Roboto" pitchFamily="34" charset="0"/>
                <a:ea typeface="Roboto" pitchFamily="34" charset="-122"/>
                <a:cs typeface="Roboto" pitchFamily="34" charset="-120"/>
              </a:rPr>
              <a:t>Sacerdot</a:t>
            </a:r>
            <a:endParaRPr lang="en-US" sz="1600" dirty="0"/>
          </a:p>
        </p:txBody>
      </p:sp>
      <p:sp>
        <p:nvSpPr>
          <p:cNvPr id="28" name="Text 21"/>
          <p:cNvSpPr txBox="1"/>
          <p:nvPr/>
        </p:nvSpPr>
        <p:spPr>
          <a:xfrm>
            <a:off x="10126751" y="3398520"/>
            <a:ext cx="1287704" cy="48768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Màxim.</a:t>
            </a:r>
            <a:endParaRPr lang="en-US" sz="1450" dirty="0"/>
          </a:p>
        </p:txBody>
      </p:sp>
      <p:sp>
        <p:nvSpPr>
          <p:cNvPr id="29" name="Els seus símbols"/>
          <p:cNvSpPr/>
          <p:nvPr/>
        </p:nvSpPr>
        <p:spPr>
          <a:xfrm>
            <a:off x="4114800" y="4206240"/>
            <a:ext cx="3649828" cy="1783080"/>
          </a:xfrm>
          <a:prstGeom prst="roundRect">
            <a:avLst>
              <a:gd name="adj" fmla="val 5641"/>
            </a:avLst>
          </a:prstGeom>
          <a:solidFill>
            <a:srgbClr val="F6F8FB"/>
          </a:solidFill>
          <a:ln/>
        </p:spPr>
      </p:sp>
      <p:sp>
        <p:nvSpPr>
          <p:cNvPr id="30" name="Text 23"/>
          <p:cNvSpPr txBox="1"/>
          <p:nvPr/>
        </p:nvSpPr>
        <p:spPr>
          <a:xfrm>
            <a:off x="4434840" y="4361688"/>
            <a:ext cx="300974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Els seus símbols</a:t>
            </a:r>
            <a:endParaRPr lang="en-US" sz="1400" dirty="0"/>
          </a:p>
        </p:txBody>
      </p:sp>
      <p:sp>
        <p:nvSpPr>
          <p:cNvPr id="31" name="Text 24"/>
          <p:cNvSpPr txBox="1"/>
          <p:nvPr/>
        </p:nvSpPr>
        <p:spPr>
          <a:xfrm>
            <a:off x="4434840" y="4709160"/>
            <a:ext cx="3009748" cy="114300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La doble corona (unió de l'Alt i el Baix Egipte), el ceptre en forma de gaiato i el flagell, i la cobra protectora al front.</a:t>
            </a:r>
            <a:endParaRPr lang="en-US" sz="1450" dirty="0"/>
          </a:p>
        </p:txBody>
      </p:sp>
      <p:sp>
        <p:nvSpPr>
          <p:cNvPr id="32" name="Paraula clau · Faraó"/>
          <p:cNvSpPr/>
          <p:nvPr/>
        </p:nvSpPr>
        <p:spPr>
          <a:xfrm>
            <a:off x="7993228" y="4206240"/>
            <a:ext cx="3649828" cy="1783080"/>
          </a:xfrm>
          <a:prstGeom prst="roundRect">
            <a:avLst>
              <a:gd name="adj" fmla="val 5641"/>
            </a:avLst>
          </a:prstGeom>
          <a:solidFill>
            <a:srgbClr val="E6F4EA"/>
          </a:solidFill>
          <a:ln/>
        </p:spPr>
      </p:sp>
      <p:sp>
        <p:nvSpPr>
          <p:cNvPr id="33" name="Text 26"/>
          <p:cNvSpPr txBox="1"/>
          <p:nvPr/>
        </p:nvSpPr>
        <p:spPr>
          <a:xfrm>
            <a:off x="8313268" y="4361688"/>
            <a:ext cx="300974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Faraó</a:t>
            </a:r>
            <a:endParaRPr lang="en-US" sz="1400" dirty="0"/>
          </a:p>
        </p:txBody>
      </p:sp>
      <p:sp>
        <p:nvSpPr>
          <p:cNvPr id="34" name="Text 27"/>
          <p:cNvSpPr txBox="1"/>
          <p:nvPr/>
        </p:nvSpPr>
        <p:spPr>
          <a:xfrm>
            <a:off x="8313268" y="4709160"/>
            <a:ext cx="3009748" cy="114300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Rei de l'antic Egipte, considerat un déu vivent i amb poder absolut.</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Do del Nil"/>
          <p:cNvSpPr/>
          <p:nvPr/>
        </p:nvSpPr>
        <p:spPr>
          <a:xfrm>
            <a:off x="548640" y="1755648"/>
            <a:ext cx="1316736" cy="384048"/>
          </a:xfrm>
          <a:prstGeom prst="roundRect">
            <a:avLst>
              <a:gd name="adj" fmla="val 50000"/>
            </a:avLst>
          </a:prstGeom>
          <a:solidFill>
            <a:srgbClr val="E6F4EA"/>
          </a:solidFill>
          <a:ln/>
        </p:spPr>
      </p:sp>
      <p:sp>
        <p:nvSpPr>
          <p:cNvPr id="7" name="Text 5"/>
          <p:cNvSpPr txBox="1"/>
          <p:nvPr/>
        </p:nvSpPr>
        <p:spPr>
          <a:xfrm>
            <a:off x="548640"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Do del Nil</a:t>
            </a:r>
            <a:endParaRPr lang="en-US" sz="1500" dirty="0"/>
          </a:p>
        </p:txBody>
      </p:sp>
      <p:sp>
        <p:nvSpPr>
          <p:cNvPr id="8" name="Etiqueta Kemet"/>
          <p:cNvSpPr/>
          <p:nvPr/>
        </p:nvSpPr>
        <p:spPr>
          <a:xfrm>
            <a:off x="1975104" y="1755648"/>
            <a:ext cx="813816" cy="384048"/>
          </a:xfrm>
          <a:prstGeom prst="roundRect">
            <a:avLst>
              <a:gd name="adj" fmla="val 50000"/>
            </a:avLst>
          </a:prstGeom>
          <a:solidFill>
            <a:srgbClr val="E6F4EA"/>
          </a:solidFill>
          <a:ln/>
        </p:spPr>
      </p:sp>
      <p:sp>
        <p:nvSpPr>
          <p:cNvPr id="9" name="Text 7"/>
          <p:cNvSpPr txBox="1"/>
          <p:nvPr/>
        </p:nvSpPr>
        <p:spPr>
          <a:xfrm>
            <a:off x="1975104"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Kemet</a:t>
            </a:r>
            <a:endParaRPr lang="en-US" sz="1500" dirty="0"/>
          </a:p>
        </p:txBody>
      </p:sp>
      <p:sp>
        <p:nvSpPr>
          <p:cNvPr id="10" name="Etiqueta Faraó"/>
          <p:cNvSpPr/>
          <p:nvPr/>
        </p:nvSpPr>
        <p:spPr>
          <a:xfrm>
            <a:off x="2898648" y="1755648"/>
            <a:ext cx="813816" cy="384048"/>
          </a:xfrm>
          <a:prstGeom prst="roundRect">
            <a:avLst>
              <a:gd name="adj" fmla="val 50000"/>
            </a:avLst>
          </a:prstGeom>
          <a:solidFill>
            <a:srgbClr val="E6F4EA"/>
          </a:solidFill>
          <a:ln/>
        </p:spPr>
      </p:sp>
      <p:sp>
        <p:nvSpPr>
          <p:cNvPr id="11" name="Text 9"/>
          <p:cNvSpPr txBox="1"/>
          <p:nvPr/>
        </p:nvSpPr>
        <p:spPr>
          <a:xfrm>
            <a:off x="2898648"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Faraó</a:t>
            </a:r>
            <a:endParaRPr lang="en-US" sz="1500" dirty="0"/>
          </a:p>
        </p:txBody>
      </p:sp>
      <p:sp>
        <p:nvSpPr>
          <p:cNvPr id="12" name="Etiqueta Imperi Antic"/>
          <p:cNvSpPr/>
          <p:nvPr/>
        </p:nvSpPr>
        <p:spPr>
          <a:xfrm>
            <a:off x="3822192" y="1755648"/>
            <a:ext cx="1517904" cy="384048"/>
          </a:xfrm>
          <a:prstGeom prst="roundRect">
            <a:avLst>
              <a:gd name="adj" fmla="val 50000"/>
            </a:avLst>
          </a:prstGeom>
          <a:solidFill>
            <a:srgbClr val="E6F4EA"/>
          </a:solidFill>
          <a:ln/>
        </p:spPr>
      </p:sp>
      <p:sp>
        <p:nvSpPr>
          <p:cNvPr id="13" name="Text 11"/>
          <p:cNvSpPr txBox="1"/>
          <p:nvPr/>
        </p:nvSpPr>
        <p:spPr>
          <a:xfrm>
            <a:off x="3822192" y="1755648"/>
            <a:ext cx="151790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Imperi Antic</a:t>
            </a:r>
            <a:endParaRPr lang="en-US" sz="1500" dirty="0"/>
          </a:p>
        </p:txBody>
      </p:sp>
      <p:sp>
        <p:nvSpPr>
          <p:cNvPr id="14" name="Etiqueta Imperi Nou"/>
          <p:cNvSpPr/>
          <p:nvPr/>
        </p:nvSpPr>
        <p:spPr>
          <a:xfrm>
            <a:off x="5449824" y="1755648"/>
            <a:ext cx="1316736" cy="384048"/>
          </a:xfrm>
          <a:prstGeom prst="roundRect">
            <a:avLst>
              <a:gd name="adj" fmla="val 50000"/>
            </a:avLst>
          </a:prstGeom>
          <a:solidFill>
            <a:srgbClr val="E6F4EA"/>
          </a:solidFill>
          <a:ln/>
        </p:spPr>
      </p:sp>
      <p:sp>
        <p:nvSpPr>
          <p:cNvPr id="15" name="Text 13"/>
          <p:cNvSpPr txBox="1"/>
          <p:nvPr/>
        </p:nvSpPr>
        <p:spPr>
          <a:xfrm>
            <a:off x="5449824"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Imperi Nou</a:t>
            </a:r>
            <a:endParaRPr lang="en-US" sz="1500" dirty="0"/>
          </a:p>
        </p:txBody>
      </p:sp>
      <p:sp>
        <p:nvSpPr>
          <p:cNvPr id="16" name="Etiqueta Ptolemeus"/>
          <p:cNvSpPr/>
          <p:nvPr/>
        </p:nvSpPr>
        <p:spPr>
          <a:xfrm>
            <a:off x="6876288" y="1755648"/>
            <a:ext cx="1216152" cy="384048"/>
          </a:xfrm>
          <a:prstGeom prst="roundRect">
            <a:avLst>
              <a:gd name="adj" fmla="val 50000"/>
            </a:avLst>
          </a:prstGeom>
          <a:solidFill>
            <a:srgbClr val="E6F4EA"/>
          </a:solidFill>
          <a:ln/>
        </p:spPr>
      </p:sp>
      <p:sp>
        <p:nvSpPr>
          <p:cNvPr id="17" name="Text 15"/>
          <p:cNvSpPr txBox="1"/>
          <p:nvPr/>
        </p:nvSpPr>
        <p:spPr>
          <a:xfrm>
            <a:off x="6876288" y="1755648"/>
            <a:ext cx="121615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Ptolemeus</a:t>
            </a:r>
            <a:endParaRPr lang="en-US" sz="1500" dirty="0"/>
          </a:p>
        </p:txBody>
      </p:sp>
      <p:sp>
        <p:nvSpPr>
          <p:cNvPr id="18" name="Pregunta 1"/>
          <p:cNvSpPr/>
          <p:nvPr/>
        </p:nvSpPr>
        <p:spPr>
          <a:xfrm>
            <a:off x="548640" y="2514600"/>
            <a:ext cx="11094415" cy="777240"/>
          </a:xfrm>
          <a:prstGeom prst="roundRect">
            <a:avLst>
              <a:gd name="adj" fmla="val 12941"/>
            </a:avLst>
          </a:prstGeom>
          <a:solidFill>
            <a:srgbClr val="FFFFFF"/>
          </a:solidFill>
          <a:ln w="12700">
            <a:solidFill>
              <a:srgbClr val="DADCE0"/>
            </a:solidFill>
            <a:prstDash val="solid"/>
          </a:ln>
        </p:spPr>
      </p:sp>
      <p:sp>
        <p:nvSpPr>
          <p:cNvPr id="19" name="Número 1"/>
          <p:cNvSpPr/>
          <p:nvPr/>
        </p:nvSpPr>
        <p:spPr>
          <a:xfrm>
            <a:off x="822960" y="2674620"/>
            <a:ext cx="457200" cy="457200"/>
          </a:xfrm>
          <a:prstGeom prst="ellipse">
            <a:avLst/>
          </a:prstGeom>
          <a:solidFill>
            <a:srgbClr val="188038"/>
          </a:solidFill>
          <a:ln/>
        </p:spPr>
      </p:sp>
      <p:sp>
        <p:nvSpPr>
          <p:cNvPr id="20" name="Text 18"/>
          <p:cNvSpPr txBox="1"/>
          <p:nvPr/>
        </p:nvSpPr>
        <p:spPr>
          <a:xfrm>
            <a:off x="822960" y="26746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Heròdot va dir que Egipte era «un do del Nil»?</a:t>
            </a:r>
            <a:endParaRPr lang="en-US" sz="1900" dirty="0"/>
          </a:p>
        </p:txBody>
      </p:sp>
      <p:sp>
        <p:nvSpPr>
          <p:cNvPr id="22" name="Pregunta 2"/>
          <p:cNvSpPr/>
          <p:nvPr/>
        </p:nvSpPr>
        <p:spPr>
          <a:xfrm>
            <a:off x="548640" y="3429000"/>
            <a:ext cx="11094415" cy="777240"/>
          </a:xfrm>
          <a:prstGeom prst="roundRect">
            <a:avLst>
              <a:gd name="adj" fmla="val 12941"/>
            </a:avLst>
          </a:prstGeom>
          <a:solidFill>
            <a:srgbClr val="FFFFFF"/>
          </a:solidFill>
          <a:ln w="12700">
            <a:solidFill>
              <a:srgbClr val="DADCE0"/>
            </a:solidFill>
            <a:prstDash val="solid"/>
          </a:ln>
        </p:spPr>
      </p:sp>
      <p:sp>
        <p:nvSpPr>
          <p:cNvPr id="23" name="Número 2"/>
          <p:cNvSpPr/>
          <p:nvPr/>
        </p:nvSpPr>
        <p:spPr>
          <a:xfrm>
            <a:off x="822960" y="3589020"/>
            <a:ext cx="457200" cy="457200"/>
          </a:xfrm>
          <a:prstGeom prst="ellipse">
            <a:avLst/>
          </a:prstGeom>
          <a:solidFill>
            <a:srgbClr val="188038"/>
          </a:solidFill>
          <a:ln/>
        </p:spPr>
      </p:sp>
      <p:sp>
        <p:nvSpPr>
          <p:cNvPr id="24" name="Text 22"/>
          <p:cNvSpPr txBox="1"/>
          <p:nvPr/>
        </p:nvSpPr>
        <p:spPr>
          <a:xfrm>
            <a:off x="822960" y="35890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1508760" y="34290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Ordena els tres imperis d'Egipte i digues una cosa de cadascun.</a:t>
            </a:r>
            <a:endParaRPr lang="en-US" sz="1900" dirty="0"/>
          </a:p>
        </p:txBody>
      </p:sp>
      <p:sp>
        <p:nvSpPr>
          <p:cNvPr id="26" name="Pregunta 3"/>
          <p:cNvSpPr/>
          <p:nvPr/>
        </p:nvSpPr>
        <p:spPr>
          <a:xfrm>
            <a:off x="548640" y="4343400"/>
            <a:ext cx="11094415" cy="777240"/>
          </a:xfrm>
          <a:prstGeom prst="roundRect">
            <a:avLst>
              <a:gd name="adj" fmla="val 12941"/>
            </a:avLst>
          </a:prstGeom>
          <a:solidFill>
            <a:srgbClr val="FFFFFF"/>
          </a:solidFill>
          <a:ln w="12700">
            <a:solidFill>
              <a:srgbClr val="DADCE0"/>
            </a:solidFill>
            <a:prstDash val="solid"/>
          </a:ln>
        </p:spPr>
      </p:sp>
      <p:sp>
        <p:nvSpPr>
          <p:cNvPr id="27" name="Número 3"/>
          <p:cNvSpPr/>
          <p:nvPr/>
        </p:nvSpPr>
        <p:spPr>
          <a:xfrm>
            <a:off x="822960" y="4503420"/>
            <a:ext cx="457200" cy="457200"/>
          </a:xfrm>
          <a:prstGeom prst="ellipse">
            <a:avLst/>
          </a:prstGeom>
          <a:solidFill>
            <a:srgbClr val="188038"/>
          </a:solidFill>
          <a:ln/>
        </p:spPr>
      </p:sp>
      <p:sp>
        <p:nvSpPr>
          <p:cNvPr id="28" name="Text 26"/>
          <p:cNvSpPr txBox="1"/>
          <p:nvPr/>
        </p:nvSpPr>
        <p:spPr>
          <a:xfrm>
            <a:off x="822960" y="45034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43434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el poder del faraó era tan gran?</a:t>
            </a:r>
            <a:endParaRPr lang="en-US" sz="1900" dirty="0"/>
          </a:p>
        </p:txBody>
      </p:sp>
      <p:sp>
        <p:nvSpPr>
          <p:cNvPr id="30" name="Pregunta 4"/>
          <p:cNvSpPr/>
          <p:nvPr/>
        </p:nvSpPr>
        <p:spPr>
          <a:xfrm>
            <a:off x="548640" y="5257800"/>
            <a:ext cx="11094415" cy="777240"/>
          </a:xfrm>
          <a:prstGeom prst="roundRect">
            <a:avLst>
              <a:gd name="adj" fmla="val 12941"/>
            </a:avLst>
          </a:prstGeom>
          <a:solidFill>
            <a:srgbClr val="FFFFFF"/>
          </a:solidFill>
          <a:ln w="12700">
            <a:solidFill>
              <a:srgbClr val="DADCE0"/>
            </a:solidFill>
            <a:prstDash val="solid"/>
          </a:ln>
        </p:spPr>
      </p:sp>
      <p:sp>
        <p:nvSpPr>
          <p:cNvPr id="31" name="Número 4"/>
          <p:cNvSpPr/>
          <p:nvPr/>
        </p:nvSpPr>
        <p:spPr>
          <a:xfrm>
            <a:off x="822960" y="5417820"/>
            <a:ext cx="457200" cy="457200"/>
          </a:xfrm>
          <a:prstGeom prst="ellipse">
            <a:avLst/>
          </a:prstGeom>
          <a:solidFill>
            <a:srgbClr val="188038"/>
          </a:solidFill>
          <a:ln/>
        </p:spPr>
      </p:sp>
      <p:sp>
        <p:nvSpPr>
          <p:cNvPr id="32" name="Text 30"/>
          <p:cNvSpPr txBox="1"/>
          <p:nvPr/>
        </p:nvSpPr>
        <p:spPr>
          <a:xfrm>
            <a:off x="822960" y="54178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3" name="Text 31"/>
          <p:cNvSpPr txBox="1"/>
          <p:nvPr/>
        </p:nvSpPr>
        <p:spPr>
          <a:xfrm>
            <a:off x="1508760" y="52578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Qui eren els Ptolemeus?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ziggurat i el sol" descr="/home/claude/pc/build/1r-eso-civilitzacions/hero-crop.png">    </p:cNvPr>
          <p:cNvPicPr>
            <a:picLocks noChangeAspect="1"/>
          </p:cNvPicPr>
          <p:nvPr/>
        </p:nvPicPr>
        <p:blipFill>
          <a:blip r:embed="rId1"/>
          <a:stretch>
            <a:fillRect/>
          </a:stretch>
        </p:blipFill>
        <p:spPr>
          <a:xfrm>
            <a:off x="3520440" y="2294081"/>
            <a:ext cx="3566160" cy="1893871"/>
          </a:xfrm>
          <a:prstGeom prst="rect">
            <a:avLst/>
          </a:prstGeom>
        </p:spPr>
      </p:pic>
      <p:sp>
        <p:nvSpPr>
          <p:cNvPr id="4" name="Etiqueta Apartat 4"/>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4</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Societat, religió i el més enllà</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Si poguessis viatjar a l'antic Egipte, quin lloc de la societat t'agradaria ocupar, i quin et tocaria segurament?</a:t>
            </a:r>
            <a:endParaRPr lang="en-US" sz="1900" dirty="0"/>
          </a:p>
        </p:txBody>
      </p:sp>
      <p:sp>
        <p:nvSpPr>
          <p:cNvPr id="10" name="Fons Societat, religió i el més enllà"/>
          <p:cNvSpPr/>
          <p:nvPr/>
        </p:nvSpPr>
        <p:spPr>
          <a:xfrm>
            <a:off x="7635240" y="1387379"/>
            <a:ext cx="4007815" cy="3013395"/>
          </a:xfrm>
          <a:prstGeom prst="roundRect">
            <a:avLst>
              <a:gd name="adj" fmla="val 3338"/>
            </a:avLst>
          </a:prstGeom>
          <a:solidFill>
            <a:srgbClr val="F6F8FB"/>
          </a:solidFill>
          <a:ln/>
        </p:spPr>
      </p:sp>
      <p:pic>
        <p:nvPicPr>
          <p:cNvPr id="11" name="Societat, religió i el més enllà" descr="/home/claude/pc/build/1r-eso-civilitzacions/img/nakht.jpg">    </p:cNvPr>
          <p:cNvPicPr>
            <a:picLocks noChangeAspect="1"/>
          </p:cNvPicPr>
          <p:nvPr/>
        </p:nvPicPr>
        <p:blipFill>
          <a:blip r:embed="rId2"/>
          <a:stretch>
            <a:fillRect/>
          </a:stretch>
        </p:blipFill>
        <p:spPr>
          <a:xfrm>
            <a:off x="7635240" y="1387379"/>
            <a:ext cx="4007815" cy="3013395"/>
          </a:xfrm>
          <a:prstGeom prst="rect">
            <a:avLst/>
          </a:prstGeom>
        </p:spPr>
      </p:pic>
      <p:sp>
        <p:nvSpPr>
          <p:cNvPr id="12" name="Text 8"/>
          <p:cNvSpPr txBox="1"/>
          <p:nvPr/>
        </p:nvSpPr>
        <p:spPr>
          <a:xfrm>
            <a:off x="7635240" y="4510501"/>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Pagesos treballant, a la tomba de Nakht (cap al 1400-1390 aC). Còpia pintada per N. de Garis Davies a partir de l'original de Tebes. Metropolitan Museum of Art, Nova York, domini públic (CC0).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piràmide humana</a:t>
            </a:r>
            <a:endParaRPr lang="en-US" sz="2800" dirty="0"/>
          </a:p>
        </p:txBody>
      </p:sp>
      <p:sp>
        <p:nvSpPr>
          <p:cNvPr id="5" name="Grup El faraó"/>
          <p:cNvSpPr/>
          <p:nvPr/>
        </p:nvSpPr>
        <p:spPr>
          <a:xfrm>
            <a:off x="2424989" y="1371600"/>
            <a:ext cx="3196742" cy="1051560"/>
          </a:xfrm>
          <a:prstGeom prst="roundRect">
            <a:avLst>
              <a:gd name="adj" fmla="val 9565"/>
            </a:avLst>
          </a:prstGeom>
          <a:solidFill>
            <a:srgbClr val="188038"/>
          </a:solidFill>
          <a:ln/>
        </p:spPr>
      </p:sp>
      <p:pic>
        <p:nvPicPr>
          <p:cNvPr id="6" name="Icona TbCrown" descr="/home/claude/pc/build/1r-eso-civilitzacions/img/ic/TbCrown-w.png">    </p:cNvPr>
          <p:cNvPicPr>
            <a:picLocks noChangeAspect="1"/>
          </p:cNvPicPr>
          <p:nvPr/>
        </p:nvPicPr>
        <p:blipFill>
          <a:blip r:embed="rId1"/>
          <a:stretch>
            <a:fillRect/>
          </a:stretch>
        </p:blipFill>
        <p:spPr>
          <a:xfrm>
            <a:off x="2589581" y="1687068"/>
            <a:ext cx="420624" cy="420624"/>
          </a:xfrm>
          <a:prstGeom prst="rect">
            <a:avLst/>
          </a:prstGeom>
        </p:spPr>
      </p:pic>
      <p:sp>
        <p:nvSpPr>
          <p:cNvPr id="7" name="Text 4"/>
          <p:cNvSpPr txBox="1"/>
          <p:nvPr/>
        </p:nvSpPr>
        <p:spPr>
          <a:xfrm>
            <a:off x="3074213" y="1389888"/>
            <a:ext cx="2410358" cy="1014984"/>
          </a:xfrm>
          <a:prstGeom prst="rect">
            <a:avLst/>
          </a:prstGeom>
          <a:noFill/>
          <a:ln/>
        </p:spPr>
        <p:txBody>
          <a:bodyPr wrap="square" lIns="0" tIns="0" rIns="0" bIns="0" rtlCol="0" anchor="ctr"/>
          <a:lstStyle/>
          <a:p>
            <a:pPr indent="0" marL="0">
              <a:buNone/>
            </a:pPr>
            <a:r>
              <a:rPr lang="en-US" sz="1700" b="1" dirty="0">
                <a:solidFill>
                  <a:srgbClr val="FFFFFF"/>
                </a:solidFill>
                <a:latin typeface="Roboto" pitchFamily="34" charset="0"/>
                <a:ea typeface="Roboto" pitchFamily="34" charset="-122"/>
                <a:cs typeface="Roboto" pitchFamily="34" charset="-120"/>
              </a:rPr>
              <a:t>El faraó</a:t>
            </a:r>
            <a:endParaRPr lang="en-US" sz="1700" dirty="0"/>
          </a:p>
          <a:p>
            <a:pPr indent="0" marL="0">
              <a:buNone/>
            </a:pPr>
            <a:r>
              <a:rPr lang="en-US" sz="1300" dirty="0">
                <a:solidFill>
                  <a:srgbClr val="FFFFFF"/>
                </a:solidFill>
                <a:latin typeface="Roboto" pitchFamily="34" charset="0"/>
                <a:ea typeface="Roboto" pitchFamily="34" charset="-122"/>
                <a:cs typeface="Roboto" pitchFamily="34" charset="-120"/>
              </a:rPr>
              <a:t>I la família reial</a:t>
            </a:r>
            <a:endParaRPr lang="en-US" sz="1700" dirty="0"/>
          </a:p>
        </p:txBody>
      </p:sp>
      <p:sp>
        <p:nvSpPr>
          <p:cNvPr id="8" name="Grup Els privilegiats"/>
          <p:cNvSpPr/>
          <p:nvPr/>
        </p:nvSpPr>
        <p:spPr>
          <a:xfrm>
            <a:off x="1799539" y="2560320"/>
            <a:ext cx="4447642" cy="1051560"/>
          </a:xfrm>
          <a:prstGeom prst="roundRect">
            <a:avLst>
              <a:gd name="adj" fmla="val 9565"/>
            </a:avLst>
          </a:prstGeom>
          <a:solidFill>
            <a:srgbClr val="E6F4EA"/>
          </a:solidFill>
          <a:ln/>
        </p:spPr>
      </p:sp>
      <p:pic>
        <p:nvPicPr>
          <p:cNvPr id="9" name="Icona TbClipboardList" descr="/home/claude/pc/build/1r-eso-civilitzacions/img/ic/TbClipboardList-g.png">    </p:cNvPr>
          <p:cNvPicPr>
            <a:picLocks noChangeAspect="1"/>
          </p:cNvPicPr>
          <p:nvPr/>
        </p:nvPicPr>
        <p:blipFill>
          <a:blip r:embed="rId2"/>
          <a:stretch>
            <a:fillRect/>
          </a:stretch>
        </p:blipFill>
        <p:spPr>
          <a:xfrm>
            <a:off x="1964131" y="2875788"/>
            <a:ext cx="420624" cy="420624"/>
          </a:xfrm>
          <a:prstGeom prst="rect">
            <a:avLst/>
          </a:prstGeom>
        </p:spPr>
      </p:pic>
      <p:sp>
        <p:nvSpPr>
          <p:cNvPr id="10" name="Text 6"/>
          <p:cNvSpPr txBox="1"/>
          <p:nvPr/>
        </p:nvSpPr>
        <p:spPr>
          <a:xfrm>
            <a:off x="2448763" y="2578608"/>
            <a:ext cx="3661258" cy="101498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Els privilegiats</a:t>
            </a:r>
            <a:endParaRPr lang="en-US" sz="1600" dirty="0"/>
          </a:p>
          <a:p>
            <a:pPr indent="0" marL="0">
              <a:buNone/>
            </a:pPr>
            <a:r>
              <a:rPr lang="en-US" sz="1300" dirty="0">
                <a:solidFill>
                  <a:srgbClr val="202124"/>
                </a:solidFill>
                <a:latin typeface="Roboto" pitchFamily="34" charset="0"/>
                <a:ea typeface="Roboto" pitchFamily="34" charset="-122"/>
                <a:cs typeface="Roboto" pitchFamily="34" charset="-120"/>
              </a:rPr>
              <a:t>Nobles, alts funcionaris (com el visir), sacerdots i escribes</a:t>
            </a:r>
            <a:endParaRPr lang="en-US" sz="1600" dirty="0"/>
          </a:p>
        </p:txBody>
      </p:sp>
      <p:sp>
        <p:nvSpPr>
          <p:cNvPr id="11" name="Grup El poble"/>
          <p:cNvSpPr/>
          <p:nvPr/>
        </p:nvSpPr>
        <p:spPr>
          <a:xfrm>
            <a:off x="1174090" y="3749040"/>
            <a:ext cx="5698541" cy="1051560"/>
          </a:xfrm>
          <a:prstGeom prst="roundRect">
            <a:avLst>
              <a:gd name="adj" fmla="val 9565"/>
            </a:avLst>
          </a:prstGeom>
          <a:solidFill>
            <a:srgbClr val="E6F4EA"/>
          </a:solidFill>
          <a:ln/>
        </p:spPr>
      </p:sp>
      <p:pic>
        <p:nvPicPr>
          <p:cNvPr id="12" name="Icona TbWheat" descr="/home/claude/pc/build/1r-eso-civilitzacions/img/ic/TbWheat-g.png">    </p:cNvPr>
          <p:cNvPicPr>
            <a:picLocks noChangeAspect="1"/>
          </p:cNvPicPr>
          <p:nvPr/>
        </p:nvPicPr>
        <p:blipFill>
          <a:blip r:embed="rId3"/>
          <a:stretch>
            <a:fillRect/>
          </a:stretch>
        </p:blipFill>
        <p:spPr>
          <a:xfrm>
            <a:off x="1338682" y="4064508"/>
            <a:ext cx="420624" cy="420624"/>
          </a:xfrm>
          <a:prstGeom prst="rect">
            <a:avLst/>
          </a:prstGeom>
        </p:spPr>
      </p:pic>
      <p:sp>
        <p:nvSpPr>
          <p:cNvPr id="13" name="Text 8"/>
          <p:cNvSpPr txBox="1"/>
          <p:nvPr/>
        </p:nvSpPr>
        <p:spPr>
          <a:xfrm>
            <a:off x="1823314" y="3767328"/>
            <a:ext cx="4912157" cy="101498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El poble</a:t>
            </a:r>
            <a:endParaRPr lang="en-US" sz="1600" dirty="0"/>
          </a:p>
          <a:p>
            <a:pPr indent="0" marL="0">
              <a:buNone/>
            </a:pPr>
            <a:r>
              <a:rPr lang="en-US" sz="1300" dirty="0">
                <a:solidFill>
                  <a:srgbClr val="202124"/>
                </a:solidFill>
                <a:latin typeface="Roboto" pitchFamily="34" charset="0"/>
                <a:ea typeface="Roboto" pitchFamily="34" charset="-122"/>
                <a:cs typeface="Roboto" pitchFamily="34" charset="-120"/>
              </a:rPr>
              <a:t>Artesans i comerciants, i sobretot pagesos, la immensa majoria</a:t>
            </a:r>
            <a:endParaRPr lang="en-US" sz="1600" dirty="0"/>
          </a:p>
        </p:txBody>
      </p:sp>
      <p:sp>
        <p:nvSpPr>
          <p:cNvPr id="14" name="Grup Els esclaus"/>
          <p:cNvSpPr/>
          <p:nvPr/>
        </p:nvSpPr>
        <p:spPr>
          <a:xfrm>
            <a:off x="548640" y="4937760"/>
            <a:ext cx="6949440" cy="1051560"/>
          </a:xfrm>
          <a:prstGeom prst="roundRect">
            <a:avLst>
              <a:gd name="adj" fmla="val 9565"/>
            </a:avLst>
          </a:prstGeom>
          <a:solidFill>
            <a:srgbClr val="E8EAED"/>
          </a:solidFill>
          <a:ln/>
        </p:spPr>
      </p:sp>
      <p:pic>
        <p:nvPicPr>
          <p:cNvPr id="15" name="Icona TbLink" descr="/home/claude/pc/build/1r-eso-civilitzacions/img/ic/TbLink-k.png">    </p:cNvPr>
          <p:cNvPicPr>
            <a:picLocks noChangeAspect="1"/>
          </p:cNvPicPr>
          <p:nvPr/>
        </p:nvPicPr>
        <p:blipFill>
          <a:blip r:embed="rId4"/>
          <a:stretch>
            <a:fillRect/>
          </a:stretch>
        </p:blipFill>
        <p:spPr>
          <a:xfrm>
            <a:off x="713232" y="5253228"/>
            <a:ext cx="420624" cy="420624"/>
          </a:xfrm>
          <a:prstGeom prst="rect">
            <a:avLst/>
          </a:prstGeom>
        </p:spPr>
      </p:pic>
      <p:sp>
        <p:nvSpPr>
          <p:cNvPr id="16" name="Text 10"/>
          <p:cNvSpPr txBox="1"/>
          <p:nvPr/>
        </p:nvSpPr>
        <p:spPr>
          <a:xfrm>
            <a:off x="1197864" y="4956048"/>
            <a:ext cx="6163056" cy="1014984"/>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Els esclaus</a:t>
            </a:r>
            <a:endParaRPr lang="en-US" sz="1600" dirty="0"/>
          </a:p>
          <a:p>
            <a:pPr indent="0" marL="0">
              <a:buNone/>
            </a:pPr>
            <a:r>
              <a:rPr lang="en-US" sz="1300" dirty="0">
                <a:solidFill>
                  <a:srgbClr val="202124"/>
                </a:solidFill>
                <a:latin typeface="Roboto" pitchFamily="34" charset="0"/>
                <a:ea typeface="Roboto" pitchFamily="34" charset="-122"/>
                <a:cs typeface="Roboto" pitchFamily="34" charset="-120"/>
              </a:rPr>
              <a:t>Pocs. Sobretot presoners de guerra</a:t>
            </a:r>
            <a:endParaRPr lang="en-US" sz="1600" dirty="0"/>
          </a:p>
        </p:txBody>
      </p:sp>
      <p:sp>
        <p:nvSpPr>
          <p:cNvPr id="17" name="Paraula clau · Escriba"/>
          <p:cNvSpPr/>
          <p:nvPr/>
        </p:nvSpPr>
        <p:spPr>
          <a:xfrm>
            <a:off x="7772400" y="1371600"/>
            <a:ext cx="3870655" cy="2011680"/>
          </a:xfrm>
          <a:prstGeom prst="roundRect">
            <a:avLst>
              <a:gd name="adj" fmla="val 5000"/>
            </a:avLst>
          </a:prstGeom>
          <a:solidFill>
            <a:srgbClr val="E6F4EA"/>
          </a:solidFill>
          <a:ln/>
        </p:spPr>
      </p:sp>
      <p:sp>
        <p:nvSpPr>
          <p:cNvPr id="18" name="Text 12"/>
          <p:cNvSpPr txBox="1"/>
          <p:nvPr/>
        </p:nvSpPr>
        <p:spPr>
          <a:xfrm>
            <a:off x="8092440" y="1527048"/>
            <a:ext cx="323057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Escriba</a:t>
            </a:r>
            <a:endParaRPr lang="en-US" sz="1400" dirty="0"/>
          </a:p>
        </p:txBody>
      </p:sp>
      <p:sp>
        <p:nvSpPr>
          <p:cNvPr id="19" name="Text 13"/>
          <p:cNvSpPr txBox="1"/>
          <p:nvPr/>
        </p:nvSpPr>
        <p:spPr>
          <a:xfrm>
            <a:off x="8092440" y="1874520"/>
            <a:ext cx="3230575" cy="137160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Funcionari especialitzat en l'escriptura, encarregat de l'administració, els impostos i els arxius.</a:t>
            </a:r>
            <a:endParaRPr lang="en-US" sz="1550" dirty="0"/>
          </a:p>
        </p:txBody>
      </p:sp>
      <p:sp>
        <p:nvSpPr>
          <p:cNvPr id="20" name="I les dones?"/>
          <p:cNvSpPr/>
          <p:nvPr/>
        </p:nvSpPr>
        <p:spPr>
          <a:xfrm>
            <a:off x="7772400" y="3566160"/>
            <a:ext cx="3870655" cy="2423160"/>
          </a:xfrm>
          <a:prstGeom prst="roundRect">
            <a:avLst>
              <a:gd name="adj" fmla="val 4151"/>
            </a:avLst>
          </a:prstGeom>
          <a:solidFill>
            <a:srgbClr val="F6F8FB"/>
          </a:solidFill>
          <a:ln/>
        </p:spPr>
      </p:sp>
      <p:sp>
        <p:nvSpPr>
          <p:cNvPr id="21" name="Text 15"/>
          <p:cNvSpPr txBox="1"/>
          <p:nvPr/>
        </p:nvSpPr>
        <p:spPr>
          <a:xfrm>
            <a:off x="8092440" y="3721608"/>
            <a:ext cx="323057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I les dones?</a:t>
            </a:r>
            <a:endParaRPr lang="en-US" sz="1400" dirty="0"/>
          </a:p>
        </p:txBody>
      </p:sp>
      <p:sp>
        <p:nvSpPr>
          <p:cNvPr id="22" name="Text 16"/>
          <p:cNvSpPr txBox="1"/>
          <p:nvPr/>
        </p:nvSpPr>
        <p:spPr>
          <a:xfrm>
            <a:off x="8092440" y="4069080"/>
            <a:ext cx="3230575" cy="1783080"/>
          </a:xfrm>
          <a:prstGeom prst="rect">
            <a:avLst/>
          </a:prstGeom>
          <a:noFill/>
          <a:ln/>
        </p:spPr>
        <p:txBody>
          <a:bodyPr wrap="square" lIns="0" tIns="0" rIns="0" bIns="0" rtlCol="0" anchor="t"/>
          <a:lstStyle/>
          <a:p>
            <a:pPr indent="0" marL="0">
              <a:buNone/>
            </a:pPr>
            <a:r>
              <a:rPr lang="en-US" sz="1450" dirty="0">
                <a:solidFill>
                  <a:srgbClr val="5F6368"/>
                </a:solidFill>
                <a:latin typeface="Roboto" pitchFamily="34" charset="0"/>
                <a:ea typeface="Roboto" pitchFamily="34" charset="-122"/>
                <a:cs typeface="Roboto" pitchFamily="34" charset="-120"/>
              </a:rPr>
              <a:t>No eren iguals als homes, però tenien més drets que en altres civilitzacions antigues. Podien tenir propietats, heretar, divorciar-se i fer negocis. Algunes van arribar al poder suprem, com la faraona Hatxepsut.</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Qui va construir les piràmides?</a:t>
            </a:r>
            <a:endParaRPr lang="en-US" sz="2800" dirty="0"/>
          </a:p>
        </p:txBody>
      </p:sp>
      <p:sp>
        <p:nvSpPr>
          <p:cNvPr id="5" name="No eren esclaus"/>
          <p:cNvSpPr/>
          <p:nvPr/>
        </p:nvSpPr>
        <p:spPr>
          <a:xfrm>
            <a:off x="548640" y="1371600"/>
            <a:ext cx="11094415" cy="1051560"/>
          </a:xfrm>
          <a:prstGeom prst="roundRect">
            <a:avLst>
              <a:gd name="adj" fmla="val 9565"/>
            </a:avLst>
          </a:prstGeom>
          <a:solidFill>
            <a:srgbClr val="188038"/>
          </a:solidFill>
          <a:ln/>
        </p:spPr>
      </p:sp>
      <p:sp>
        <p:nvSpPr>
          <p:cNvPr id="6" name="Text 4"/>
          <p:cNvSpPr txBox="1"/>
          <p:nvPr/>
        </p:nvSpPr>
        <p:spPr>
          <a:xfrm>
            <a:off x="868680" y="1371600"/>
            <a:ext cx="10454335" cy="1051560"/>
          </a:xfrm>
          <a:prstGeom prst="rect">
            <a:avLst/>
          </a:prstGeom>
          <a:noFill/>
          <a:ln/>
        </p:spPr>
        <p:txBody>
          <a:bodyPr wrap="square" lIns="0" tIns="0" rIns="0" bIns="0" rtlCol="0" anchor="ctr"/>
          <a:lstStyle/>
          <a:p>
            <a:pPr indent="0" marL="0">
              <a:buNone/>
            </a:pPr>
            <a:r>
              <a:rPr lang="en-US" sz="1900" b="1" dirty="0">
                <a:solidFill>
                  <a:srgbClr val="FFFFFF"/>
                </a:solidFill>
                <a:latin typeface="Roboto" pitchFamily="34" charset="0"/>
                <a:ea typeface="Roboto" pitchFamily="34" charset="-122"/>
                <a:cs typeface="Roboto" pitchFamily="34" charset="-120"/>
              </a:rPr>
              <a:t>No eren esclaus, </a:t>
            </a:r>
            <a:pPr indent="0" marL="0">
              <a:buNone/>
            </a:pPr>
            <a:r>
              <a:rPr lang="en-US" sz="1900" dirty="0">
                <a:solidFill>
                  <a:srgbClr val="FFFFFF"/>
                </a:solidFill>
                <a:latin typeface="Roboto" pitchFamily="34" charset="0"/>
                <a:ea typeface="Roboto" pitchFamily="34" charset="-122"/>
                <a:cs typeface="Roboto" pitchFamily="34" charset="-120"/>
              </a:rPr>
              <a:t>com sovint es diu. Eren treballadors egipcis organitzats per l'estat.</a:t>
            </a:r>
            <a:endParaRPr lang="en-US" sz="1900" dirty="0"/>
          </a:p>
        </p:txBody>
      </p:sp>
      <p:sp>
        <p:nvSpPr>
          <p:cNvPr id="7" name="Targeta Obrers especialitzats"/>
          <p:cNvSpPr/>
          <p:nvPr/>
        </p:nvSpPr>
        <p:spPr>
          <a:xfrm>
            <a:off x="548640" y="2651760"/>
            <a:ext cx="2602154" cy="2103120"/>
          </a:xfrm>
          <a:prstGeom prst="roundRect">
            <a:avLst>
              <a:gd name="adj" fmla="val 4783"/>
            </a:avLst>
          </a:prstGeom>
          <a:solidFill>
            <a:srgbClr val="FFFFFF"/>
          </a:solidFill>
          <a:ln w="12700">
            <a:solidFill>
              <a:srgbClr val="DADCE0"/>
            </a:solidFill>
            <a:prstDash val="solid"/>
          </a:ln>
        </p:spPr>
      </p:sp>
      <p:sp>
        <p:nvSpPr>
          <p:cNvPr id="8" name="Cercle icona"/>
          <p:cNvSpPr/>
          <p:nvPr/>
        </p:nvSpPr>
        <p:spPr>
          <a:xfrm>
            <a:off x="777240" y="2880360"/>
            <a:ext cx="548640" cy="548640"/>
          </a:xfrm>
          <a:prstGeom prst="ellipse">
            <a:avLst/>
          </a:prstGeom>
          <a:solidFill>
            <a:srgbClr val="E6F4EA"/>
          </a:solidFill>
          <a:ln/>
        </p:spPr>
      </p:sp>
      <p:pic>
        <p:nvPicPr>
          <p:cNvPr id="9" name="Icona TbHammer" descr="/home/claude/pc/build/1r-eso-civilitzacions/img/ic/TbHammer-g.png">    </p:cNvPr>
          <p:cNvPicPr>
            <a:picLocks noChangeAspect="1"/>
          </p:cNvPicPr>
          <p:nvPr/>
        </p:nvPicPr>
        <p:blipFill>
          <a:blip r:embed="rId1"/>
          <a:stretch>
            <a:fillRect/>
          </a:stretch>
        </p:blipFill>
        <p:spPr>
          <a:xfrm>
            <a:off x="897941" y="3001061"/>
            <a:ext cx="307238" cy="307238"/>
          </a:xfrm>
          <a:prstGeom prst="rect">
            <a:avLst/>
          </a:prstGeom>
        </p:spPr>
      </p:pic>
      <p:sp>
        <p:nvSpPr>
          <p:cNvPr id="10" name="Text 7"/>
          <p:cNvSpPr txBox="1"/>
          <p:nvPr/>
        </p:nvSpPr>
        <p:spPr>
          <a:xfrm>
            <a:off x="777240" y="3566160"/>
            <a:ext cx="2144954"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Obrers especialitzats</a:t>
            </a:r>
            <a:endParaRPr lang="en-US" sz="1700" dirty="0"/>
          </a:p>
        </p:txBody>
      </p:sp>
      <p:sp>
        <p:nvSpPr>
          <p:cNvPr id="11" name="Text 8"/>
          <p:cNvSpPr txBox="1"/>
          <p:nvPr/>
        </p:nvSpPr>
        <p:spPr>
          <a:xfrm>
            <a:off x="777240" y="3916680"/>
            <a:ext cx="2144954" cy="7010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Hi treballaven de manera fixa.</a:t>
            </a:r>
            <a:endParaRPr lang="en-US" sz="1500" dirty="0"/>
          </a:p>
        </p:txBody>
      </p:sp>
      <p:sp>
        <p:nvSpPr>
          <p:cNvPr id="12" name="Targeta Pagesos per torns"/>
          <p:cNvSpPr/>
          <p:nvPr/>
        </p:nvSpPr>
        <p:spPr>
          <a:xfrm>
            <a:off x="3379394" y="2651760"/>
            <a:ext cx="2602154" cy="2103120"/>
          </a:xfrm>
          <a:prstGeom prst="roundRect">
            <a:avLst>
              <a:gd name="adj" fmla="val 4783"/>
            </a:avLst>
          </a:prstGeom>
          <a:solidFill>
            <a:srgbClr val="FFFFFF"/>
          </a:solidFill>
          <a:ln w="12700">
            <a:solidFill>
              <a:srgbClr val="DADCE0"/>
            </a:solidFill>
            <a:prstDash val="solid"/>
          </a:ln>
        </p:spPr>
      </p:sp>
      <p:sp>
        <p:nvSpPr>
          <p:cNvPr id="13" name="Cercle icona"/>
          <p:cNvSpPr/>
          <p:nvPr/>
        </p:nvSpPr>
        <p:spPr>
          <a:xfrm>
            <a:off x="3607994" y="2880360"/>
            <a:ext cx="548640" cy="548640"/>
          </a:xfrm>
          <a:prstGeom prst="ellipse">
            <a:avLst/>
          </a:prstGeom>
          <a:solidFill>
            <a:srgbClr val="E6F4EA"/>
          </a:solidFill>
          <a:ln/>
        </p:spPr>
      </p:sp>
      <p:pic>
        <p:nvPicPr>
          <p:cNvPr id="14" name="Icona TbUsersGroup" descr="/home/claude/pc/build/1r-eso-civilitzacions/img/ic/TbUsersGroup-g.png">    </p:cNvPr>
          <p:cNvPicPr>
            <a:picLocks noChangeAspect="1"/>
          </p:cNvPicPr>
          <p:nvPr/>
        </p:nvPicPr>
        <p:blipFill>
          <a:blip r:embed="rId2"/>
          <a:stretch>
            <a:fillRect/>
          </a:stretch>
        </p:blipFill>
        <p:spPr>
          <a:xfrm>
            <a:off x="3728695" y="3001061"/>
            <a:ext cx="307238" cy="307238"/>
          </a:xfrm>
          <a:prstGeom prst="rect">
            <a:avLst/>
          </a:prstGeom>
        </p:spPr>
      </p:pic>
      <p:sp>
        <p:nvSpPr>
          <p:cNvPr id="15" name="Text 11"/>
          <p:cNvSpPr txBox="1"/>
          <p:nvPr/>
        </p:nvSpPr>
        <p:spPr>
          <a:xfrm>
            <a:off x="3607994" y="3566160"/>
            <a:ext cx="2144954"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Pagesos per torns</a:t>
            </a:r>
            <a:endParaRPr lang="en-US" sz="1700" dirty="0"/>
          </a:p>
        </p:txBody>
      </p:sp>
      <p:sp>
        <p:nvSpPr>
          <p:cNvPr id="16" name="Text 12"/>
          <p:cNvSpPr txBox="1"/>
          <p:nvPr/>
        </p:nvSpPr>
        <p:spPr>
          <a:xfrm>
            <a:off x="3607994" y="3916680"/>
            <a:ext cx="2144954" cy="7010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Molts pagesos hi anaven per torns.</a:t>
            </a:r>
            <a:endParaRPr lang="en-US" sz="1500" dirty="0"/>
          </a:p>
        </p:txBody>
      </p:sp>
      <p:sp>
        <p:nvSpPr>
          <p:cNvPr id="17" name="Targeta A canvi de…"/>
          <p:cNvSpPr/>
          <p:nvPr/>
        </p:nvSpPr>
        <p:spPr>
          <a:xfrm>
            <a:off x="6210148" y="2651760"/>
            <a:ext cx="2602154" cy="2103120"/>
          </a:xfrm>
          <a:prstGeom prst="roundRect">
            <a:avLst>
              <a:gd name="adj" fmla="val 4783"/>
            </a:avLst>
          </a:prstGeom>
          <a:solidFill>
            <a:srgbClr val="FFFFFF"/>
          </a:solidFill>
          <a:ln w="12700">
            <a:solidFill>
              <a:srgbClr val="DADCE0"/>
            </a:solidFill>
            <a:prstDash val="solid"/>
          </a:ln>
        </p:spPr>
      </p:sp>
      <p:sp>
        <p:nvSpPr>
          <p:cNvPr id="18" name="Cercle icona"/>
          <p:cNvSpPr/>
          <p:nvPr/>
        </p:nvSpPr>
        <p:spPr>
          <a:xfrm>
            <a:off x="6438748" y="2880360"/>
            <a:ext cx="548640" cy="548640"/>
          </a:xfrm>
          <a:prstGeom prst="ellipse">
            <a:avLst/>
          </a:prstGeom>
          <a:solidFill>
            <a:srgbClr val="E6F4EA"/>
          </a:solidFill>
          <a:ln/>
        </p:spPr>
      </p:sp>
      <p:pic>
        <p:nvPicPr>
          <p:cNvPr id="19" name="Icona TbBeer" descr="/home/claude/pc/build/1r-eso-civilitzacions/img/ic/TbBeer-g.png">    </p:cNvPr>
          <p:cNvPicPr>
            <a:picLocks noChangeAspect="1"/>
          </p:cNvPicPr>
          <p:nvPr/>
        </p:nvPicPr>
        <p:blipFill>
          <a:blip r:embed="rId3"/>
          <a:stretch>
            <a:fillRect/>
          </a:stretch>
        </p:blipFill>
        <p:spPr>
          <a:xfrm>
            <a:off x="6559448" y="3001061"/>
            <a:ext cx="307238" cy="307238"/>
          </a:xfrm>
          <a:prstGeom prst="rect">
            <a:avLst/>
          </a:prstGeom>
        </p:spPr>
      </p:pic>
      <p:sp>
        <p:nvSpPr>
          <p:cNvPr id="20" name="Text 15"/>
          <p:cNvSpPr txBox="1"/>
          <p:nvPr/>
        </p:nvSpPr>
        <p:spPr>
          <a:xfrm>
            <a:off x="6438748" y="3566160"/>
            <a:ext cx="2144954"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A canvi de…</a:t>
            </a:r>
            <a:endParaRPr lang="en-US" sz="1700" dirty="0"/>
          </a:p>
        </p:txBody>
      </p:sp>
      <p:sp>
        <p:nvSpPr>
          <p:cNvPr id="21" name="Text 16"/>
          <p:cNvSpPr txBox="1"/>
          <p:nvPr/>
        </p:nvSpPr>
        <p:spPr>
          <a:xfrm>
            <a:off x="6438748" y="3916680"/>
            <a:ext cx="2144954" cy="7010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Menjar, cervesa i allotjament.</a:t>
            </a:r>
            <a:endParaRPr lang="en-US" sz="1500" dirty="0"/>
          </a:p>
        </p:txBody>
      </p:sp>
      <p:sp>
        <p:nvSpPr>
          <p:cNvPr id="22" name="Targeta Com ho sabem?"/>
          <p:cNvSpPr/>
          <p:nvPr/>
        </p:nvSpPr>
        <p:spPr>
          <a:xfrm>
            <a:off x="9040901" y="2651760"/>
            <a:ext cx="2602154" cy="2103120"/>
          </a:xfrm>
          <a:prstGeom prst="roundRect">
            <a:avLst>
              <a:gd name="adj" fmla="val 4783"/>
            </a:avLst>
          </a:prstGeom>
          <a:solidFill>
            <a:srgbClr val="FFFFFF"/>
          </a:solidFill>
          <a:ln w="12700">
            <a:solidFill>
              <a:srgbClr val="DADCE0"/>
            </a:solidFill>
            <a:prstDash val="solid"/>
          </a:ln>
        </p:spPr>
      </p:sp>
      <p:sp>
        <p:nvSpPr>
          <p:cNvPr id="23" name="Cercle icona"/>
          <p:cNvSpPr/>
          <p:nvPr/>
        </p:nvSpPr>
        <p:spPr>
          <a:xfrm>
            <a:off x="9269501" y="2880360"/>
            <a:ext cx="548640" cy="548640"/>
          </a:xfrm>
          <a:prstGeom prst="ellipse">
            <a:avLst/>
          </a:prstGeom>
          <a:solidFill>
            <a:srgbClr val="E6F4EA"/>
          </a:solidFill>
          <a:ln/>
        </p:spPr>
      </p:sp>
      <p:pic>
        <p:nvPicPr>
          <p:cNvPr id="24" name="Icona TbSearch" descr="/home/claude/pc/build/1r-eso-civilitzacions/img/ic/TbSearch-g.png">    </p:cNvPr>
          <p:cNvPicPr>
            <a:picLocks noChangeAspect="1"/>
          </p:cNvPicPr>
          <p:nvPr/>
        </p:nvPicPr>
        <p:blipFill>
          <a:blip r:embed="rId4"/>
          <a:stretch>
            <a:fillRect/>
          </a:stretch>
        </p:blipFill>
        <p:spPr>
          <a:xfrm>
            <a:off x="9390202" y="3001061"/>
            <a:ext cx="307238" cy="307238"/>
          </a:xfrm>
          <a:prstGeom prst="rect">
            <a:avLst/>
          </a:prstGeom>
        </p:spPr>
      </p:pic>
      <p:sp>
        <p:nvSpPr>
          <p:cNvPr id="25" name="Text 19"/>
          <p:cNvSpPr txBox="1"/>
          <p:nvPr/>
        </p:nvSpPr>
        <p:spPr>
          <a:xfrm>
            <a:off x="9269501" y="3566160"/>
            <a:ext cx="2144954"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Com ho sabem?</a:t>
            </a:r>
            <a:endParaRPr lang="en-US" sz="1700" dirty="0"/>
          </a:p>
        </p:txBody>
      </p:sp>
      <p:sp>
        <p:nvSpPr>
          <p:cNvPr id="26" name="Text 20"/>
          <p:cNvSpPr txBox="1"/>
          <p:nvPr/>
        </p:nvSpPr>
        <p:spPr>
          <a:xfrm>
            <a:off x="9269501" y="3916680"/>
            <a:ext cx="2144954" cy="7010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A Gizeh s'han trobat el seu poblat, les fleques i les tombes.</a:t>
            </a:r>
            <a:endParaRPr lang="en-US" sz="1500" dirty="0"/>
          </a:p>
        </p:txBody>
      </p:sp>
      <p:sp>
        <p:nvSpPr>
          <p:cNvPr id="27" name="Saps que…?"/>
          <p:cNvSpPr/>
          <p:nvPr/>
        </p:nvSpPr>
        <p:spPr>
          <a:xfrm>
            <a:off x="548640" y="4937760"/>
            <a:ext cx="11094415" cy="1051560"/>
          </a:xfrm>
          <a:prstGeom prst="roundRect">
            <a:avLst>
              <a:gd name="adj" fmla="val 9565"/>
            </a:avLst>
          </a:prstGeom>
          <a:solidFill>
            <a:srgbClr val="F6F8FB"/>
          </a:solidFill>
          <a:ln/>
        </p:spPr>
      </p:sp>
      <p:sp>
        <p:nvSpPr>
          <p:cNvPr id="28" name="Text 22"/>
          <p:cNvSpPr txBox="1"/>
          <p:nvPr/>
        </p:nvSpPr>
        <p:spPr>
          <a:xfrm>
            <a:off x="868680" y="509320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Saps que…?</a:t>
            </a:r>
            <a:endParaRPr lang="en-US" sz="1400" dirty="0"/>
          </a:p>
        </p:txBody>
      </p:sp>
      <p:sp>
        <p:nvSpPr>
          <p:cNvPr id="29" name="Text 23"/>
          <p:cNvSpPr txBox="1"/>
          <p:nvPr/>
        </p:nvSpPr>
        <p:spPr>
          <a:xfrm>
            <a:off x="868680" y="5440680"/>
            <a:ext cx="10454335" cy="411480"/>
          </a:xfrm>
          <a:prstGeom prst="rect">
            <a:avLst/>
          </a:prstGeom>
          <a:noFill/>
          <a:ln/>
        </p:spPr>
        <p:txBody>
          <a:bodyPr wrap="square" lIns="0" tIns="0" rIns="0" bIns="0" rtlCol="0" anchor="t"/>
          <a:lstStyle/>
          <a:p>
            <a:pPr indent="0" marL="0">
              <a:buNone/>
            </a:pPr>
            <a:r>
              <a:rPr lang="en-US" sz="1550" dirty="0">
                <a:solidFill>
                  <a:srgbClr val="5F6368"/>
                </a:solidFill>
                <a:latin typeface="Roboto" pitchFamily="34" charset="0"/>
                <a:ea typeface="Roboto" pitchFamily="34" charset="-122"/>
                <a:cs typeface="Roboto" pitchFamily="34" charset="-120"/>
              </a:rPr>
              <a:t>Molt més tard, els obrers que excavaven les tombes de la Vall dels Reis anotaven fins i tot les absències per malaltia en llistes que s'han conservat.</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L'any del pagès</a:t>
            </a:r>
            <a:endParaRPr lang="en-US" sz="2800" dirty="0"/>
          </a:p>
        </p:txBody>
      </p:sp>
      <p:sp>
        <p:nvSpPr>
          <p:cNvPr id="5" name="Text 3"/>
          <p:cNvSpPr txBox="1"/>
          <p:nvPr/>
        </p:nvSpPr>
        <p:spPr>
          <a:xfrm>
            <a:off x="548640" y="1371600"/>
            <a:ext cx="11094415" cy="777240"/>
          </a:xfrm>
          <a:prstGeom prst="rect">
            <a:avLst/>
          </a:prstGeom>
          <a:noFill/>
          <a:ln/>
        </p:spPr>
        <p:txBody>
          <a:bodyPr wrap="square" lIns="0" tIns="0" rIns="0" bIns="0" rtlCol="0" anchor="t"/>
          <a:lstStyle/>
          <a:p>
            <a:pPr indent="0" marL="0">
              <a:buNone/>
            </a:pPr>
            <a:r>
              <a:rPr lang="en-US" sz="1650" dirty="0">
                <a:solidFill>
                  <a:srgbClr val="202124"/>
                </a:solidFill>
                <a:latin typeface="Roboto" pitchFamily="34" charset="0"/>
                <a:ea typeface="Roboto" pitchFamily="34" charset="-122"/>
                <a:cs typeface="Roboto" pitchFamily="34" charset="-120"/>
              </a:rPr>
              <a:t>La vida dels pagesos seguia el ritme del riu. L'any tenia 365 dies, repartits en tres estacions de quatre mesos de 30 dies, i cinc dies més al final.</a:t>
            </a:r>
            <a:endParaRPr lang="en-US" sz="1650" dirty="0"/>
          </a:p>
        </p:txBody>
      </p:sp>
      <p:sp>
        <p:nvSpPr>
          <p:cNvPr id="6" name="Targeta Akhet · La inundació"/>
          <p:cNvSpPr/>
          <p:nvPr/>
        </p:nvSpPr>
        <p:spPr>
          <a:xfrm>
            <a:off x="548640" y="2286000"/>
            <a:ext cx="3423818" cy="2743200"/>
          </a:xfrm>
          <a:prstGeom prst="roundRect">
            <a:avLst>
              <a:gd name="adj" fmla="val 3667"/>
            </a:avLst>
          </a:prstGeom>
          <a:solidFill>
            <a:srgbClr val="FFFFFF"/>
          </a:solidFill>
          <a:ln w="12700">
            <a:solidFill>
              <a:srgbClr val="DADCE0"/>
            </a:solidFill>
            <a:prstDash val="solid"/>
          </a:ln>
        </p:spPr>
      </p:sp>
      <p:sp>
        <p:nvSpPr>
          <p:cNvPr id="7" name="Cercle icona"/>
          <p:cNvSpPr/>
          <p:nvPr/>
        </p:nvSpPr>
        <p:spPr>
          <a:xfrm>
            <a:off x="777240" y="2514600"/>
            <a:ext cx="640080" cy="640080"/>
          </a:xfrm>
          <a:prstGeom prst="ellipse">
            <a:avLst/>
          </a:prstGeom>
          <a:solidFill>
            <a:srgbClr val="E6F4EA"/>
          </a:solidFill>
          <a:ln/>
        </p:spPr>
      </p:sp>
      <p:pic>
        <p:nvPicPr>
          <p:cNvPr id="8" name="Icona TbDroplets" descr="/home/claude/pc/build/1r-eso-civilitzacions/img/ic/TbDroplets-g.png">    </p:cNvPr>
          <p:cNvPicPr>
            <a:picLocks noChangeAspect="1"/>
          </p:cNvPicPr>
          <p:nvPr/>
        </p:nvPicPr>
        <p:blipFill>
          <a:blip r:embed="rId1"/>
          <a:stretch>
            <a:fillRect/>
          </a:stretch>
        </p:blipFill>
        <p:spPr>
          <a:xfrm>
            <a:off x="918058" y="2655418"/>
            <a:ext cx="358445" cy="358445"/>
          </a:xfrm>
          <a:prstGeom prst="rect">
            <a:avLst/>
          </a:prstGeom>
        </p:spPr>
      </p:pic>
      <p:sp>
        <p:nvSpPr>
          <p:cNvPr id="9" name="Text 6"/>
          <p:cNvSpPr txBox="1"/>
          <p:nvPr/>
        </p:nvSpPr>
        <p:spPr>
          <a:xfrm>
            <a:off x="777240" y="3291840"/>
            <a:ext cx="2966618"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Akhet · La inundació</a:t>
            </a:r>
            <a:endParaRPr lang="en-US" sz="1800" dirty="0"/>
          </a:p>
        </p:txBody>
      </p:sp>
      <p:sp>
        <p:nvSpPr>
          <p:cNvPr id="10" name="Text 7"/>
          <p:cNvSpPr txBox="1"/>
          <p:nvPr/>
        </p:nvSpPr>
        <p:spPr>
          <a:xfrm>
            <a:off x="777240" y="3657600"/>
            <a:ext cx="2966618" cy="12344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 Nil cobria els camps. Com que no es podia conrear, molts pagesos treballaven per al faraó en canals, temples o piràmides.</a:t>
            </a:r>
            <a:endParaRPr lang="en-US" sz="1500" dirty="0"/>
          </a:p>
        </p:txBody>
      </p:sp>
      <p:sp>
        <p:nvSpPr>
          <p:cNvPr id="11" name="Targeta Peret · La sembra"/>
          <p:cNvSpPr/>
          <p:nvPr/>
        </p:nvSpPr>
        <p:spPr>
          <a:xfrm>
            <a:off x="4383938" y="2286000"/>
            <a:ext cx="3423818" cy="2743200"/>
          </a:xfrm>
          <a:prstGeom prst="roundRect">
            <a:avLst>
              <a:gd name="adj" fmla="val 3667"/>
            </a:avLst>
          </a:prstGeom>
          <a:solidFill>
            <a:srgbClr val="FFFFFF"/>
          </a:solidFill>
          <a:ln w="12700">
            <a:solidFill>
              <a:srgbClr val="DADCE0"/>
            </a:solidFill>
            <a:prstDash val="solid"/>
          </a:ln>
        </p:spPr>
      </p:sp>
      <p:sp>
        <p:nvSpPr>
          <p:cNvPr id="12" name="Cercle icona"/>
          <p:cNvSpPr/>
          <p:nvPr/>
        </p:nvSpPr>
        <p:spPr>
          <a:xfrm>
            <a:off x="4612538" y="2514600"/>
            <a:ext cx="640080" cy="640080"/>
          </a:xfrm>
          <a:prstGeom prst="ellipse">
            <a:avLst/>
          </a:prstGeom>
          <a:solidFill>
            <a:srgbClr val="E6F4EA"/>
          </a:solidFill>
          <a:ln/>
        </p:spPr>
      </p:sp>
      <p:pic>
        <p:nvPicPr>
          <p:cNvPr id="13" name="Icona TbPlant2" descr="/home/claude/pc/build/1r-eso-civilitzacions/img/ic/TbPlant2-g.png">    </p:cNvPr>
          <p:cNvPicPr>
            <a:picLocks noChangeAspect="1"/>
          </p:cNvPicPr>
          <p:nvPr/>
        </p:nvPicPr>
        <p:blipFill>
          <a:blip r:embed="rId2"/>
          <a:stretch>
            <a:fillRect/>
          </a:stretch>
        </p:blipFill>
        <p:spPr>
          <a:xfrm>
            <a:off x="4753356" y="2655418"/>
            <a:ext cx="358445" cy="358445"/>
          </a:xfrm>
          <a:prstGeom prst="rect">
            <a:avLst/>
          </a:prstGeom>
        </p:spPr>
      </p:pic>
      <p:sp>
        <p:nvSpPr>
          <p:cNvPr id="14" name="Text 10"/>
          <p:cNvSpPr txBox="1"/>
          <p:nvPr/>
        </p:nvSpPr>
        <p:spPr>
          <a:xfrm>
            <a:off x="4612538" y="3291840"/>
            <a:ext cx="2966618"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Peret · La sembra</a:t>
            </a:r>
            <a:endParaRPr lang="en-US" sz="1800" dirty="0"/>
          </a:p>
        </p:txBody>
      </p:sp>
      <p:sp>
        <p:nvSpPr>
          <p:cNvPr id="15" name="Text 11"/>
          <p:cNvSpPr txBox="1"/>
          <p:nvPr/>
        </p:nvSpPr>
        <p:spPr>
          <a:xfrm>
            <a:off x="4612538" y="3657600"/>
            <a:ext cx="2966618" cy="12344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Quan l'aigua es retirava, llauraven la terra humida i sembraven blat, ordi i lli.</a:t>
            </a:r>
            <a:endParaRPr lang="en-US" sz="1500" dirty="0"/>
          </a:p>
        </p:txBody>
      </p:sp>
      <p:sp>
        <p:nvSpPr>
          <p:cNvPr id="16" name="Targeta Shemu · La collita"/>
          <p:cNvSpPr/>
          <p:nvPr/>
        </p:nvSpPr>
        <p:spPr>
          <a:xfrm>
            <a:off x="8219237" y="2286000"/>
            <a:ext cx="3423818" cy="2743200"/>
          </a:xfrm>
          <a:prstGeom prst="roundRect">
            <a:avLst>
              <a:gd name="adj" fmla="val 3667"/>
            </a:avLst>
          </a:prstGeom>
          <a:solidFill>
            <a:srgbClr val="FFFFFF"/>
          </a:solidFill>
          <a:ln w="12700">
            <a:solidFill>
              <a:srgbClr val="DADCE0"/>
            </a:solidFill>
            <a:prstDash val="solid"/>
          </a:ln>
        </p:spPr>
      </p:sp>
      <p:sp>
        <p:nvSpPr>
          <p:cNvPr id="17" name="Cercle icona"/>
          <p:cNvSpPr/>
          <p:nvPr/>
        </p:nvSpPr>
        <p:spPr>
          <a:xfrm>
            <a:off x="8447837" y="2514600"/>
            <a:ext cx="640080" cy="640080"/>
          </a:xfrm>
          <a:prstGeom prst="ellipse">
            <a:avLst/>
          </a:prstGeom>
          <a:solidFill>
            <a:srgbClr val="E6F4EA"/>
          </a:solidFill>
          <a:ln/>
        </p:spPr>
      </p:sp>
      <p:pic>
        <p:nvPicPr>
          <p:cNvPr id="18" name="Icona TbWheat" descr="/home/claude/pc/build/1r-eso-civilitzacions/img/ic/TbWheat-g.png">    </p:cNvPr>
          <p:cNvPicPr>
            <a:picLocks noChangeAspect="1"/>
          </p:cNvPicPr>
          <p:nvPr/>
        </p:nvPicPr>
        <p:blipFill>
          <a:blip r:embed="rId3"/>
          <a:stretch>
            <a:fillRect/>
          </a:stretch>
        </p:blipFill>
        <p:spPr>
          <a:xfrm>
            <a:off x="8588654" y="2655418"/>
            <a:ext cx="358445" cy="358445"/>
          </a:xfrm>
          <a:prstGeom prst="rect">
            <a:avLst/>
          </a:prstGeom>
        </p:spPr>
      </p:pic>
      <p:sp>
        <p:nvSpPr>
          <p:cNvPr id="19" name="Text 14"/>
          <p:cNvSpPr txBox="1"/>
          <p:nvPr/>
        </p:nvSpPr>
        <p:spPr>
          <a:xfrm>
            <a:off x="8447837" y="3291840"/>
            <a:ext cx="2966618"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Shemu · La collita</a:t>
            </a:r>
            <a:endParaRPr lang="en-US" sz="1800" dirty="0"/>
          </a:p>
        </p:txBody>
      </p:sp>
      <p:sp>
        <p:nvSpPr>
          <p:cNvPr id="20" name="Text 15"/>
          <p:cNvSpPr txBox="1"/>
          <p:nvPr/>
        </p:nvSpPr>
        <p:spPr>
          <a:xfrm>
            <a:off x="8447837" y="3657600"/>
            <a:ext cx="2966618" cy="12344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Segaven, separaven el gra de la palla i el guardaven. Els escribes ho comptaven tot i cobraven els impostos.</a:t>
            </a:r>
            <a:endParaRPr lang="en-US" sz="1500" dirty="0"/>
          </a:p>
        </p:txBody>
      </p:sp>
      <p:sp>
        <p:nvSpPr>
          <p:cNvPr id="21" name="Fletxa"/>
          <p:cNvSpPr/>
          <p:nvPr/>
        </p:nvSpPr>
        <p:spPr>
          <a:xfrm>
            <a:off x="4082186" y="3520440"/>
            <a:ext cx="182880" cy="274320"/>
          </a:xfrm>
          <a:prstGeom prst="chevron">
            <a:avLst/>
          </a:prstGeom>
          <a:solidFill>
            <a:srgbClr val="188038"/>
          </a:solidFill>
          <a:ln/>
        </p:spPr>
      </p:sp>
      <p:sp>
        <p:nvSpPr>
          <p:cNvPr id="22" name="Fletxa"/>
          <p:cNvSpPr/>
          <p:nvPr/>
        </p:nvSpPr>
        <p:spPr>
          <a:xfrm>
            <a:off x="7917485" y="3520440"/>
            <a:ext cx="182880" cy="274320"/>
          </a:xfrm>
          <a:prstGeom prst="chevron">
            <a:avLst/>
          </a:prstGeom>
          <a:solidFill>
            <a:srgbClr val="188038"/>
          </a:solidFill>
          <a:ln/>
        </p:spPr>
      </p:sp>
      <p:sp>
        <p:nvSpPr>
          <p:cNvPr id="23" name="Càlcul"/>
          <p:cNvSpPr/>
          <p:nvPr/>
        </p:nvSpPr>
        <p:spPr>
          <a:xfrm>
            <a:off x="548640" y="5212080"/>
            <a:ext cx="11094415" cy="777240"/>
          </a:xfrm>
          <a:prstGeom prst="roundRect">
            <a:avLst>
              <a:gd name="adj" fmla="val 12941"/>
            </a:avLst>
          </a:prstGeom>
          <a:solidFill>
            <a:srgbClr val="E6F4EA"/>
          </a:solidFill>
          <a:ln/>
        </p:spPr>
      </p:sp>
      <p:sp>
        <p:nvSpPr>
          <p:cNvPr id="24" name="Text 19"/>
          <p:cNvSpPr txBox="1"/>
          <p:nvPr/>
        </p:nvSpPr>
        <p:spPr>
          <a:xfrm>
            <a:off x="548640" y="5212080"/>
            <a:ext cx="11094415" cy="777240"/>
          </a:xfrm>
          <a:prstGeom prst="rect">
            <a:avLst/>
          </a:prstGeom>
          <a:noFill/>
          <a:ln/>
        </p:spPr>
        <p:txBody>
          <a:bodyPr wrap="square" lIns="0" tIns="0" rIns="0" bIns="0" rtlCol="0" anchor="ctr"/>
          <a:lstStyle/>
          <a:p>
            <a:pPr algn="ctr" indent="0" marL="0">
              <a:buNone/>
            </a:pPr>
            <a:r>
              <a:rPr lang="en-US" sz="1900" b="1" dirty="0">
                <a:solidFill>
                  <a:srgbClr val="188038"/>
                </a:solidFill>
                <a:latin typeface="Roboto" pitchFamily="34" charset="0"/>
                <a:ea typeface="Roboto" pitchFamily="34" charset="-122"/>
                <a:cs typeface="Roboto" pitchFamily="34" charset="-120"/>
              </a:rPr>
              <a:t>3 estacions × 4 mesos × 30 dies = 360 dies  +  5 dies  =  365 dies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menjaven i com vivien?</a:t>
            </a:r>
            <a:endParaRPr lang="en-US" sz="2800" dirty="0"/>
          </a:p>
        </p:txBody>
      </p:sp>
      <p:sp>
        <p:nvSpPr>
          <p:cNvPr id="5" name="Targeta Cases de tova"/>
          <p:cNvSpPr/>
          <p:nvPr/>
        </p:nvSpPr>
        <p:spPr>
          <a:xfrm>
            <a:off x="548640" y="1371600"/>
            <a:ext cx="2602154" cy="2651760"/>
          </a:xfrm>
          <a:prstGeom prst="roundRect">
            <a:avLst>
              <a:gd name="adj" fmla="val 3865"/>
            </a:avLst>
          </a:prstGeom>
          <a:solidFill>
            <a:srgbClr val="FFFFFF"/>
          </a:solidFill>
          <a:ln w="12700">
            <a:solidFill>
              <a:srgbClr val="DADCE0"/>
            </a:solidFill>
            <a:prstDash val="solid"/>
          </a:ln>
        </p:spPr>
      </p:sp>
      <p:sp>
        <p:nvSpPr>
          <p:cNvPr id="6" name="Cercle icona"/>
          <p:cNvSpPr/>
          <p:nvPr/>
        </p:nvSpPr>
        <p:spPr>
          <a:xfrm>
            <a:off x="777240" y="1600200"/>
            <a:ext cx="640080" cy="640080"/>
          </a:xfrm>
          <a:prstGeom prst="ellipse">
            <a:avLst/>
          </a:prstGeom>
          <a:solidFill>
            <a:srgbClr val="E6F4EA"/>
          </a:solidFill>
          <a:ln/>
        </p:spPr>
      </p:sp>
      <p:pic>
        <p:nvPicPr>
          <p:cNvPr id="7" name="Icona TbHome" descr="/home/claude/pc/build/1r-eso-civilitzacions/img/ic/TbHome-g.png">    </p:cNvPr>
          <p:cNvPicPr>
            <a:picLocks noChangeAspect="1"/>
          </p:cNvPicPr>
          <p:nvPr/>
        </p:nvPicPr>
        <p:blipFill>
          <a:blip r:embed="rId1"/>
          <a:stretch>
            <a:fillRect/>
          </a:stretch>
        </p:blipFill>
        <p:spPr>
          <a:xfrm>
            <a:off x="918058" y="1741018"/>
            <a:ext cx="358445" cy="358445"/>
          </a:xfrm>
          <a:prstGeom prst="rect">
            <a:avLst/>
          </a:prstGeom>
        </p:spPr>
      </p:pic>
      <p:sp>
        <p:nvSpPr>
          <p:cNvPr id="8" name="Text 5"/>
          <p:cNvSpPr txBox="1"/>
          <p:nvPr/>
        </p:nvSpPr>
        <p:spPr>
          <a:xfrm>
            <a:off x="777240" y="2377440"/>
            <a:ext cx="2144954"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Cases de tova</a:t>
            </a:r>
            <a:endParaRPr lang="en-US" sz="1700" dirty="0"/>
          </a:p>
        </p:txBody>
      </p:sp>
      <p:sp>
        <p:nvSpPr>
          <p:cNvPr id="9" name="Text 6"/>
          <p:cNvSpPr txBox="1"/>
          <p:nvPr/>
        </p:nvSpPr>
        <p:spPr>
          <a:xfrm>
            <a:off x="777240" y="2727960"/>
            <a:ext cx="2144954" cy="11582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Les famílies pageses vivien en cases petites de tova, amb pocs mobles.</a:t>
            </a:r>
            <a:endParaRPr lang="en-US" sz="1500" dirty="0"/>
          </a:p>
        </p:txBody>
      </p:sp>
      <p:sp>
        <p:nvSpPr>
          <p:cNvPr id="10" name="Targeta Pa i cervesa"/>
          <p:cNvSpPr/>
          <p:nvPr/>
        </p:nvSpPr>
        <p:spPr>
          <a:xfrm>
            <a:off x="3379394" y="1371600"/>
            <a:ext cx="2602154" cy="2651760"/>
          </a:xfrm>
          <a:prstGeom prst="roundRect">
            <a:avLst>
              <a:gd name="adj" fmla="val 3865"/>
            </a:avLst>
          </a:prstGeom>
          <a:solidFill>
            <a:srgbClr val="FFFFFF"/>
          </a:solidFill>
          <a:ln w="12700">
            <a:solidFill>
              <a:srgbClr val="DADCE0"/>
            </a:solidFill>
            <a:prstDash val="solid"/>
          </a:ln>
        </p:spPr>
      </p:sp>
      <p:sp>
        <p:nvSpPr>
          <p:cNvPr id="11" name="Cercle icona"/>
          <p:cNvSpPr/>
          <p:nvPr/>
        </p:nvSpPr>
        <p:spPr>
          <a:xfrm>
            <a:off x="3607994" y="1600200"/>
            <a:ext cx="640080" cy="640080"/>
          </a:xfrm>
          <a:prstGeom prst="ellipse">
            <a:avLst/>
          </a:prstGeom>
          <a:solidFill>
            <a:srgbClr val="E6F4EA"/>
          </a:solidFill>
          <a:ln/>
        </p:spPr>
      </p:sp>
      <p:pic>
        <p:nvPicPr>
          <p:cNvPr id="12" name="Icona TbWheat" descr="/home/claude/pc/build/1r-eso-civilitzacions/img/ic/TbWheat-g.png">    </p:cNvPr>
          <p:cNvPicPr>
            <a:picLocks noChangeAspect="1"/>
          </p:cNvPicPr>
          <p:nvPr/>
        </p:nvPicPr>
        <p:blipFill>
          <a:blip r:embed="rId2"/>
          <a:stretch>
            <a:fillRect/>
          </a:stretch>
        </p:blipFill>
        <p:spPr>
          <a:xfrm>
            <a:off x="3748811" y="1741018"/>
            <a:ext cx="358445" cy="358445"/>
          </a:xfrm>
          <a:prstGeom prst="rect">
            <a:avLst/>
          </a:prstGeom>
        </p:spPr>
      </p:pic>
      <p:sp>
        <p:nvSpPr>
          <p:cNvPr id="13" name="Text 9"/>
          <p:cNvSpPr txBox="1"/>
          <p:nvPr/>
        </p:nvSpPr>
        <p:spPr>
          <a:xfrm>
            <a:off x="3607994" y="2377440"/>
            <a:ext cx="2144954"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Pa i cervesa</a:t>
            </a:r>
            <a:endParaRPr lang="en-US" sz="1700" dirty="0"/>
          </a:p>
        </p:txBody>
      </p:sp>
      <p:sp>
        <p:nvSpPr>
          <p:cNvPr id="14" name="Text 10"/>
          <p:cNvSpPr txBox="1"/>
          <p:nvPr/>
        </p:nvSpPr>
        <p:spPr>
          <a:xfrm>
            <a:off x="3607994" y="2727960"/>
            <a:ext cx="2144954" cy="11582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 que més menjaven. La cervesa era d'ordi.</a:t>
            </a:r>
            <a:endParaRPr lang="en-US" sz="1500" dirty="0"/>
          </a:p>
        </p:txBody>
      </p:sp>
      <p:sp>
        <p:nvSpPr>
          <p:cNvPr id="15" name="Targeta I també…"/>
          <p:cNvSpPr/>
          <p:nvPr/>
        </p:nvSpPr>
        <p:spPr>
          <a:xfrm>
            <a:off x="6210148" y="1371600"/>
            <a:ext cx="2602154" cy="2651760"/>
          </a:xfrm>
          <a:prstGeom prst="roundRect">
            <a:avLst>
              <a:gd name="adj" fmla="val 3865"/>
            </a:avLst>
          </a:prstGeom>
          <a:solidFill>
            <a:srgbClr val="FFFFFF"/>
          </a:solidFill>
          <a:ln w="12700">
            <a:solidFill>
              <a:srgbClr val="DADCE0"/>
            </a:solidFill>
            <a:prstDash val="solid"/>
          </a:ln>
        </p:spPr>
      </p:sp>
      <p:sp>
        <p:nvSpPr>
          <p:cNvPr id="16" name="Cercle icona"/>
          <p:cNvSpPr/>
          <p:nvPr/>
        </p:nvSpPr>
        <p:spPr>
          <a:xfrm>
            <a:off x="6438748" y="1600200"/>
            <a:ext cx="640080" cy="640080"/>
          </a:xfrm>
          <a:prstGeom prst="ellipse">
            <a:avLst/>
          </a:prstGeom>
          <a:solidFill>
            <a:srgbClr val="E6F4EA"/>
          </a:solidFill>
          <a:ln/>
        </p:spPr>
      </p:sp>
      <p:pic>
        <p:nvPicPr>
          <p:cNvPr id="17" name="Icona TbFish" descr="/home/claude/pc/build/1r-eso-civilitzacions/img/ic/TbFish-g.png">    </p:cNvPr>
          <p:cNvPicPr>
            <a:picLocks noChangeAspect="1"/>
          </p:cNvPicPr>
          <p:nvPr/>
        </p:nvPicPr>
        <p:blipFill>
          <a:blip r:embed="rId3"/>
          <a:stretch>
            <a:fillRect/>
          </a:stretch>
        </p:blipFill>
        <p:spPr>
          <a:xfrm>
            <a:off x="6579565" y="1741018"/>
            <a:ext cx="358445" cy="358445"/>
          </a:xfrm>
          <a:prstGeom prst="rect">
            <a:avLst/>
          </a:prstGeom>
        </p:spPr>
      </p:pic>
      <p:sp>
        <p:nvSpPr>
          <p:cNvPr id="18" name="Text 13"/>
          <p:cNvSpPr txBox="1"/>
          <p:nvPr/>
        </p:nvSpPr>
        <p:spPr>
          <a:xfrm>
            <a:off x="6438748" y="2377440"/>
            <a:ext cx="2144954"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I també…</a:t>
            </a:r>
            <a:endParaRPr lang="en-US" sz="1700" dirty="0"/>
          </a:p>
        </p:txBody>
      </p:sp>
      <p:sp>
        <p:nvSpPr>
          <p:cNvPr id="19" name="Text 14"/>
          <p:cNvSpPr txBox="1"/>
          <p:nvPr/>
        </p:nvSpPr>
        <p:spPr>
          <a:xfrm>
            <a:off x="6438748" y="2727960"/>
            <a:ext cx="2144954" cy="115824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Llegums, verdures, fruita com figues i dàtils, i peix.</a:t>
            </a:r>
            <a:endParaRPr lang="en-US" sz="1500" dirty="0"/>
          </a:p>
        </p:txBody>
      </p:sp>
      <p:sp>
        <p:nvSpPr>
          <p:cNvPr id="20" name="Targeta Per als rics"/>
          <p:cNvSpPr/>
          <p:nvPr/>
        </p:nvSpPr>
        <p:spPr>
          <a:xfrm>
            <a:off x="9040901" y="1371600"/>
            <a:ext cx="2602154" cy="2651760"/>
          </a:xfrm>
          <a:prstGeom prst="roundRect">
            <a:avLst>
              <a:gd name="adj" fmla="val 3865"/>
            </a:avLst>
          </a:prstGeom>
          <a:solidFill>
            <a:srgbClr val="188038"/>
          </a:solidFill>
          <a:ln/>
        </p:spPr>
      </p:sp>
      <p:sp>
        <p:nvSpPr>
          <p:cNvPr id="21" name="Cercle icona"/>
          <p:cNvSpPr/>
          <p:nvPr/>
        </p:nvSpPr>
        <p:spPr>
          <a:xfrm>
            <a:off x="9269501" y="1600200"/>
            <a:ext cx="640080" cy="640080"/>
          </a:xfrm>
          <a:prstGeom prst="ellipse">
            <a:avLst/>
          </a:prstGeom>
          <a:solidFill>
            <a:srgbClr val="FFFFFF"/>
          </a:solidFill>
          <a:ln/>
        </p:spPr>
      </p:sp>
      <p:pic>
        <p:nvPicPr>
          <p:cNvPr id="22" name="Icona TbGrape" descr="/home/claude/pc/build/1r-eso-civilitzacions/img/ic/TbGrape-g.png">    </p:cNvPr>
          <p:cNvPicPr>
            <a:picLocks noChangeAspect="1"/>
          </p:cNvPicPr>
          <p:nvPr/>
        </p:nvPicPr>
        <p:blipFill>
          <a:blip r:embed="rId4"/>
          <a:stretch>
            <a:fillRect/>
          </a:stretch>
        </p:blipFill>
        <p:spPr>
          <a:xfrm>
            <a:off x="9410319" y="1741018"/>
            <a:ext cx="358445" cy="358445"/>
          </a:xfrm>
          <a:prstGeom prst="rect">
            <a:avLst/>
          </a:prstGeom>
        </p:spPr>
      </p:pic>
      <p:sp>
        <p:nvSpPr>
          <p:cNvPr id="23" name="Text 17"/>
          <p:cNvSpPr txBox="1"/>
          <p:nvPr/>
        </p:nvSpPr>
        <p:spPr>
          <a:xfrm>
            <a:off x="9269501" y="2377440"/>
            <a:ext cx="2144954" cy="259080"/>
          </a:xfrm>
          <a:prstGeom prst="rect">
            <a:avLst/>
          </a:prstGeom>
          <a:noFill/>
          <a:ln/>
        </p:spPr>
        <p:txBody>
          <a:bodyPr wrap="square" lIns="0" tIns="0" rIns="0" bIns="0" rtlCol="0" anchor="t"/>
          <a:lstStyle/>
          <a:p>
            <a:pPr indent="0" marL="0">
              <a:buNone/>
            </a:pPr>
            <a:r>
              <a:rPr lang="en-US" sz="1700" b="1" dirty="0">
                <a:solidFill>
                  <a:srgbClr val="FFFFFF"/>
                </a:solidFill>
                <a:latin typeface="Roboto" pitchFamily="34" charset="0"/>
                <a:ea typeface="Roboto" pitchFamily="34" charset="-122"/>
                <a:cs typeface="Roboto" pitchFamily="34" charset="-120"/>
              </a:rPr>
              <a:t>Per als rics</a:t>
            </a:r>
            <a:endParaRPr lang="en-US" sz="1700" dirty="0"/>
          </a:p>
        </p:txBody>
      </p:sp>
      <p:sp>
        <p:nvSpPr>
          <p:cNvPr id="24" name="Text 18"/>
          <p:cNvSpPr txBox="1"/>
          <p:nvPr/>
        </p:nvSpPr>
        <p:spPr>
          <a:xfrm>
            <a:off x="9269501" y="2727960"/>
            <a:ext cx="2144954" cy="1158240"/>
          </a:xfrm>
          <a:prstGeom prst="rect">
            <a:avLst/>
          </a:prstGeom>
          <a:noFill/>
          <a:ln/>
        </p:spPr>
        <p:txBody>
          <a:bodyPr wrap="square" lIns="0" tIns="0" rIns="0" bIns="0" rtlCol="0" anchor="t"/>
          <a:lstStyle/>
          <a:p>
            <a:pPr indent="0" marL="0">
              <a:buNone/>
            </a:pPr>
            <a:r>
              <a:rPr lang="en-US" sz="1500" dirty="0">
                <a:solidFill>
                  <a:srgbClr val="FFFFFF"/>
                </a:solidFill>
                <a:latin typeface="Roboto" pitchFamily="34" charset="0"/>
                <a:ea typeface="Roboto" pitchFamily="34" charset="-122"/>
                <a:cs typeface="Roboto" pitchFamily="34" charset="-120"/>
              </a:rPr>
              <a:t>La carn, sobretot la de vaca, i el vi.</a:t>
            </a:r>
            <a:endParaRPr lang="en-US" sz="1500" dirty="0"/>
          </a:p>
        </p:txBody>
      </p:sp>
      <p:sp>
        <p:nvSpPr>
          <p:cNvPr id="25" name="Ser escriba, el somni de moltes famílies"/>
          <p:cNvSpPr/>
          <p:nvPr/>
        </p:nvSpPr>
        <p:spPr>
          <a:xfrm>
            <a:off x="548640" y="4251960"/>
            <a:ext cx="11094415" cy="1737360"/>
          </a:xfrm>
          <a:prstGeom prst="roundRect">
            <a:avLst>
              <a:gd name="adj" fmla="val 5789"/>
            </a:avLst>
          </a:prstGeom>
          <a:solidFill>
            <a:srgbClr val="F6F8FB"/>
          </a:solidFill>
          <a:ln/>
        </p:spPr>
      </p:sp>
      <p:sp>
        <p:nvSpPr>
          <p:cNvPr id="26" name="Text 20"/>
          <p:cNvSpPr txBox="1"/>
          <p:nvPr/>
        </p:nvSpPr>
        <p:spPr>
          <a:xfrm>
            <a:off x="868680" y="4407408"/>
            <a:ext cx="1045433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Ser escriba, el somni de moltes famílies</a:t>
            </a:r>
            <a:endParaRPr lang="en-US" sz="1400" dirty="0"/>
          </a:p>
        </p:txBody>
      </p:sp>
      <p:sp>
        <p:nvSpPr>
          <p:cNvPr id="27" name="Text 21"/>
          <p:cNvSpPr txBox="1"/>
          <p:nvPr/>
        </p:nvSpPr>
        <p:spPr>
          <a:xfrm>
            <a:off x="868680" y="4754880"/>
            <a:ext cx="10454335" cy="1097280"/>
          </a:xfrm>
          <a:prstGeom prst="rect">
            <a:avLst/>
          </a:prstGeom>
          <a:noFill/>
          <a:ln/>
        </p:spPr>
        <p:txBody>
          <a:bodyPr wrap="square" lIns="0" tIns="0" rIns="0" bIns="0" rtlCol="0" anchor="t"/>
          <a:lstStyle/>
          <a:p>
            <a:pPr indent="0" marL="0">
              <a:buNone/>
            </a:pPr>
            <a:r>
              <a:rPr lang="en-US" sz="1700" dirty="0">
                <a:solidFill>
                  <a:srgbClr val="5F6368"/>
                </a:solidFill>
                <a:latin typeface="Roboto" pitchFamily="34" charset="0"/>
                <a:ea typeface="Roboto" pitchFamily="34" charset="-122"/>
                <a:cs typeface="Roboto" pitchFamily="34" charset="-120"/>
              </a:rPr>
              <a:t>Era un ofici respectat i amb el qual no es passava necessitat. Els nois que podien anar a l'escola aprenien a llegir i a escriure copiant textos antics.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millor ofici del món?</a:t>
            </a:r>
            <a:endParaRPr lang="en-US" sz="2800" dirty="0"/>
          </a:p>
        </p:txBody>
      </p:sp>
      <p:sp>
        <p:nvSpPr>
          <p:cNvPr id="5" name="Font directa · La sàtira dels oficis (Imperi Mitjà)"/>
          <p:cNvSpPr/>
          <p:nvPr/>
        </p:nvSpPr>
        <p:spPr>
          <a:xfrm>
            <a:off x="548640" y="1371600"/>
            <a:ext cx="11094415" cy="3017520"/>
          </a:xfrm>
          <a:prstGeom prst="roundRect">
            <a:avLst>
              <a:gd name="adj" fmla="val 3333"/>
            </a:avLst>
          </a:prstGeom>
          <a:solidFill>
            <a:srgbClr val="F6F8FB"/>
          </a:solidFill>
          <a:ln/>
        </p:spPr>
      </p:sp>
      <p:sp>
        <p:nvSpPr>
          <p:cNvPr id="6" name="Text 4"/>
          <p:cNvSpPr txBox="1"/>
          <p:nvPr/>
        </p:nvSpPr>
        <p:spPr>
          <a:xfrm>
            <a:off x="914400" y="1554480"/>
            <a:ext cx="1036289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La sàtira dels oficis (Imperi Mitjà)</a:t>
            </a:r>
            <a:endParaRPr lang="en-US" sz="1400" dirty="0"/>
          </a:p>
        </p:txBody>
      </p:sp>
      <p:sp>
        <p:nvSpPr>
          <p:cNvPr id="7" name="Text 5"/>
          <p:cNvSpPr txBox="1"/>
          <p:nvPr/>
        </p:nvSpPr>
        <p:spPr>
          <a:xfrm>
            <a:off x="914400" y="1965960"/>
            <a:ext cx="10362895" cy="1691640"/>
          </a:xfrm>
          <a:prstGeom prst="rect">
            <a:avLst/>
          </a:prstGeom>
          <a:noFill/>
          <a:ln/>
        </p:spPr>
        <p:txBody>
          <a:bodyPr wrap="square" lIns="0" tIns="0" rIns="0" bIns="0" rtlCol="0" anchor="t"/>
          <a:lstStyle/>
          <a:p>
            <a:pPr indent="0" marL="0">
              <a:buNone/>
            </a:pPr>
            <a:r>
              <a:rPr lang="en-US" sz="1800" i="1" dirty="0">
                <a:solidFill>
                  <a:srgbClr val="202124"/>
                </a:solidFill>
                <a:latin typeface="Roboto" pitchFamily="34" charset="0"/>
                <a:ea typeface="Roboto" pitchFamily="34" charset="-122"/>
                <a:cs typeface="Roboto" pitchFamily="34" charset="-120"/>
              </a:rPr>
              <a:t>«Faré que estimis els llibres més que la teva mare, i et mostraré com són de bonics. És més gran que qualsevol altre ofici, no n'hi ha cap d'igual a la terra. [...] El terrissaire està cobert de terra, tot i que encara és entre els vius. [...] El bugader renta la roba a la vora del riu, al costat del cocodril.»</a:t>
            </a:r>
            <a:endParaRPr lang="en-US" sz="1800" dirty="0"/>
          </a:p>
        </p:txBody>
      </p:sp>
      <p:sp>
        <p:nvSpPr>
          <p:cNvPr id="8" name="Text 6"/>
          <p:cNvSpPr txBox="1"/>
          <p:nvPr/>
        </p:nvSpPr>
        <p:spPr>
          <a:xfrm>
            <a:off x="914400" y="3493008"/>
            <a:ext cx="10362895" cy="777240"/>
          </a:xfrm>
          <a:prstGeom prst="rect">
            <a:avLst/>
          </a:prstGeom>
          <a:noFill/>
          <a:ln/>
        </p:spPr>
        <p:txBody>
          <a:bodyPr wrap="square" lIns="0" tIns="0" rIns="0" bIns="0" rtlCol="0" anchor="b"/>
          <a:lstStyle/>
          <a:p>
            <a:pPr indent="0" marL="0">
              <a:buNone/>
            </a:pPr>
            <a:r>
              <a:rPr lang="en-US" sz="1300" dirty="0">
                <a:solidFill>
                  <a:srgbClr val="5F6368"/>
                </a:solidFill>
                <a:latin typeface="Roboto" pitchFamily="34" charset="0"/>
                <a:ea typeface="Roboto" pitchFamily="34" charset="-122"/>
                <a:cs typeface="Roboto" pitchFamily="34" charset="-120"/>
              </a:rPr>
              <a:t>Ensenyament de Dua-Khety. Un pare explica al seu fill que tots els oficis són durs, menys el d'escriba. Traducció catalana a partir de la versió anglesa de W. K. Simpson.</a:t>
            </a:r>
            <a:endParaRPr lang="en-US" sz="1300" dirty="0"/>
          </a:p>
        </p:txBody>
      </p:sp>
      <p:sp>
        <p:nvSpPr>
          <p:cNvPr id="9" name="Pensa-hi"/>
          <p:cNvSpPr/>
          <p:nvPr/>
        </p:nvSpPr>
        <p:spPr>
          <a:xfrm>
            <a:off x="548640" y="4617720"/>
            <a:ext cx="11094415" cy="1417320"/>
          </a:xfrm>
          <a:prstGeom prst="roundRect">
            <a:avLst>
              <a:gd name="adj" fmla="val 7097"/>
            </a:avLst>
          </a:prstGeom>
          <a:solidFill>
            <a:srgbClr val="E6F4EA"/>
          </a:solidFill>
          <a:ln/>
        </p:spPr>
      </p:sp>
      <p:sp>
        <p:nvSpPr>
          <p:cNvPr id="10" name="Text 8"/>
          <p:cNvSpPr txBox="1"/>
          <p:nvPr/>
        </p:nvSpPr>
        <p:spPr>
          <a:xfrm>
            <a:off x="868680" y="47731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Pensa-hi</a:t>
            </a:r>
            <a:endParaRPr lang="en-US" sz="1400" dirty="0"/>
          </a:p>
        </p:txBody>
      </p:sp>
      <p:sp>
        <p:nvSpPr>
          <p:cNvPr id="11" name="Text 9"/>
          <p:cNvSpPr txBox="1"/>
          <p:nvPr/>
        </p:nvSpPr>
        <p:spPr>
          <a:xfrm>
            <a:off x="868680" y="5120640"/>
            <a:ext cx="10454335" cy="7772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Per què creus que el pare exagera tant?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Una religió amb molts déus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Adoraven centenars de déus, sovint representats amb cos humà i cap d'animal.</a:t>
            </a:r>
            <a:endParaRPr lang="en-US" sz="1800" dirty="0"/>
          </a:p>
        </p:txBody>
      </p:sp>
      <p:sp>
        <p:nvSpPr>
          <p:cNvPr id="6" name="Déu Ra"/>
          <p:cNvSpPr/>
          <p:nvPr/>
        </p:nvSpPr>
        <p:spPr>
          <a:xfrm>
            <a:off x="548640" y="1965960"/>
            <a:ext cx="3545738" cy="1691640"/>
          </a:xfrm>
          <a:prstGeom prst="roundRect">
            <a:avLst>
              <a:gd name="adj" fmla="val 5946"/>
            </a:avLst>
          </a:prstGeom>
          <a:solidFill>
            <a:srgbClr val="FFFFFF"/>
          </a:solidFill>
          <a:ln w="12700">
            <a:solidFill>
              <a:srgbClr val="DADCE0"/>
            </a:solidFill>
            <a:prstDash val="solid"/>
          </a:ln>
        </p:spPr>
      </p:sp>
      <p:sp>
        <p:nvSpPr>
          <p:cNvPr id="7" name="Cercle icona"/>
          <p:cNvSpPr/>
          <p:nvPr/>
        </p:nvSpPr>
        <p:spPr>
          <a:xfrm>
            <a:off x="777240" y="2194560"/>
            <a:ext cx="640080" cy="640080"/>
          </a:xfrm>
          <a:prstGeom prst="ellipse">
            <a:avLst/>
          </a:prstGeom>
          <a:solidFill>
            <a:srgbClr val="E6F4EA"/>
          </a:solidFill>
          <a:ln/>
        </p:spPr>
      </p:sp>
      <p:pic>
        <p:nvPicPr>
          <p:cNvPr id="8" name="Icona TbSun" descr="/home/claude/pc/build/1r-eso-civilitzacions/img/ic/TbSun-g.png">    </p:cNvPr>
          <p:cNvPicPr>
            <a:picLocks noChangeAspect="1"/>
          </p:cNvPicPr>
          <p:nvPr/>
        </p:nvPicPr>
        <p:blipFill>
          <a:blip r:embed="rId1"/>
          <a:stretch>
            <a:fillRect/>
          </a:stretch>
        </p:blipFill>
        <p:spPr>
          <a:xfrm>
            <a:off x="918058" y="2335378"/>
            <a:ext cx="358445" cy="358445"/>
          </a:xfrm>
          <a:prstGeom prst="rect">
            <a:avLst/>
          </a:prstGeom>
        </p:spPr>
      </p:pic>
      <p:sp>
        <p:nvSpPr>
          <p:cNvPr id="9" name="Text 6"/>
          <p:cNvSpPr txBox="1"/>
          <p:nvPr/>
        </p:nvSpPr>
        <p:spPr>
          <a:xfrm>
            <a:off x="1554480" y="2194560"/>
            <a:ext cx="23570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Ra</a:t>
            </a:r>
            <a:endParaRPr lang="en-US" sz="2000" dirty="0"/>
          </a:p>
        </p:txBody>
      </p:sp>
      <p:sp>
        <p:nvSpPr>
          <p:cNvPr id="10" name="Text 7"/>
          <p:cNvSpPr txBox="1"/>
          <p:nvPr/>
        </p:nvSpPr>
        <p:spPr>
          <a:xfrm>
            <a:off x="777240" y="2926080"/>
            <a:ext cx="3088538" cy="6400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El sol. Déu suprem</a:t>
            </a:r>
            <a:endParaRPr lang="en-US" sz="1550" dirty="0"/>
          </a:p>
        </p:txBody>
      </p:sp>
      <p:sp>
        <p:nvSpPr>
          <p:cNvPr id="11" name="Déu Osiris"/>
          <p:cNvSpPr/>
          <p:nvPr/>
        </p:nvSpPr>
        <p:spPr>
          <a:xfrm>
            <a:off x="4322978" y="1965960"/>
            <a:ext cx="3545738" cy="1691640"/>
          </a:xfrm>
          <a:prstGeom prst="roundRect">
            <a:avLst>
              <a:gd name="adj" fmla="val 5946"/>
            </a:avLst>
          </a:prstGeom>
          <a:solidFill>
            <a:srgbClr val="FFFFFF"/>
          </a:solidFill>
          <a:ln w="12700">
            <a:solidFill>
              <a:srgbClr val="DADCE0"/>
            </a:solidFill>
            <a:prstDash val="solid"/>
          </a:ln>
        </p:spPr>
      </p:sp>
      <p:sp>
        <p:nvSpPr>
          <p:cNvPr id="12" name="Cercle icona"/>
          <p:cNvSpPr/>
          <p:nvPr/>
        </p:nvSpPr>
        <p:spPr>
          <a:xfrm>
            <a:off x="4551578" y="2194560"/>
            <a:ext cx="640080" cy="640080"/>
          </a:xfrm>
          <a:prstGeom prst="ellipse">
            <a:avLst/>
          </a:prstGeom>
          <a:solidFill>
            <a:srgbClr val="E6F4EA"/>
          </a:solidFill>
          <a:ln/>
        </p:spPr>
      </p:sp>
      <p:pic>
        <p:nvPicPr>
          <p:cNvPr id="13" name="Icona TbCrown" descr="/home/claude/pc/build/1r-eso-civilitzacions/img/ic/TbCrown-g.png">    </p:cNvPr>
          <p:cNvPicPr>
            <a:picLocks noChangeAspect="1"/>
          </p:cNvPicPr>
          <p:nvPr/>
        </p:nvPicPr>
        <p:blipFill>
          <a:blip r:embed="rId2"/>
          <a:stretch>
            <a:fillRect/>
          </a:stretch>
        </p:blipFill>
        <p:spPr>
          <a:xfrm>
            <a:off x="4692396" y="2335378"/>
            <a:ext cx="358445" cy="358445"/>
          </a:xfrm>
          <a:prstGeom prst="rect">
            <a:avLst/>
          </a:prstGeom>
        </p:spPr>
      </p:pic>
      <p:sp>
        <p:nvSpPr>
          <p:cNvPr id="14" name="Text 10"/>
          <p:cNvSpPr txBox="1"/>
          <p:nvPr/>
        </p:nvSpPr>
        <p:spPr>
          <a:xfrm>
            <a:off x="5328818" y="2194560"/>
            <a:ext cx="23570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Osiris</a:t>
            </a:r>
            <a:endParaRPr lang="en-US" sz="2000" dirty="0"/>
          </a:p>
        </p:txBody>
      </p:sp>
      <p:sp>
        <p:nvSpPr>
          <p:cNvPr id="15" name="Text 11"/>
          <p:cNvSpPr txBox="1"/>
          <p:nvPr/>
        </p:nvSpPr>
        <p:spPr>
          <a:xfrm>
            <a:off x="4551578" y="2926080"/>
            <a:ext cx="3088538" cy="6400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Déu dels morts i de la resurrecció</a:t>
            </a:r>
            <a:endParaRPr lang="en-US" sz="1550" dirty="0"/>
          </a:p>
        </p:txBody>
      </p:sp>
      <p:sp>
        <p:nvSpPr>
          <p:cNvPr id="16" name="Déu Isis"/>
          <p:cNvSpPr/>
          <p:nvPr/>
        </p:nvSpPr>
        <p:spPr>
          <a:xfrm>
            <a:off x="8097317" y="1965960"/>
            <a:ext cx="3545738" cy="1691640"/>
          </a:xfrm>
          <a:prstGeom prst="roundRect">
            <a:avLst>
              <a:gd name="adj" fmla="val 5946"/>
            </a:avLst>
          </a:prstGeom>
          <a:solidFill>
            <a:srgbClr val="FFFFFF"/>
          </a:solidFill>
          <a:ln w="12700">
            <a:solidFill>
              <a:srgbClr val="DADCE0"/>
            </a:solidFill>
            <a:prstDash val="solid"/>
          </a:ln>
        </p:spPr>
      </p:sp>
      <p:sp>
        <p:nvSpPr>
          <p:cNvPr id="17" name="Cercle icona"/>
          <p:cNvSpPr/>
          <p:nvPr/>
        </p:nvSpPr>
        <p:spPr>
          <a:xfrm>
            <a:off x="8325917" y="2194560"/>
            <a:ext cx="640080" cy="640080"/>
          </a:xfrm>
          <a:prstGeom prst="ellipse">
            <a:avLst/>
          </a:prstGeom>
          <a:solidFill>
            <a:srgbClr val="E6F4EA"/>
          </a:solidFill>
          <a:ln/>
        </p:spPr>
      </p:sp>
      <p:pic>
        <p:nvPicPr>
          <p:cNvPr id="18" name="Icona TbSparkles" descr="/home/claude/pc/build/1r-eso-civilitzacions/img/ic/TbSparkles-g.png">    </p:cNvPr>
          <p:cNvPicPr>
            <a:picLocks noChangeAspect="1"/>
          </p:cNvPicPr>
          <p:nvPr/>
        </p:nvPicPr>
        <p:blipFill>
          <a:blip r:embed="rId3"/>
          <a:stretch>
            <a:fillRect/>
          </a:stretch>
        </p:blipFill>
        <p:spPr>
          <a:xfrm>
            <a:off x="8466734" y="2335378"/>
            <a:ext cx="358445" cy="358445"/>
          </a:xfrm>
          <a:prstGeom prst="rect">
            <a:avLst/>
          </a:prstGeom>
        </p:spPr>
      </p:pic>
      <p:sp>
        <p:nvSpPr>
          <p:cNvPr id="19" name="Text 14"/>
          <p:cNvSpPr txBox="1"/>
          <p:nvPr/>
        </p:nvSpPr>
        <p:spPr>
          <a:xfrm>
            <a:off x="9103157" y="2194560"/>
            <a:ext cx="23570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Isis</a:t>
            </a:r>
            <a:endParaRPr lang="en-US" sz="2000" dirty="0"/>
          </a:p>
        </p:txBody>
      </p:sp>
      <p:sp>
        <p:nvSpPr>
          <p:cNvPr id="20" name="Text 15"/>
          <p:cNvSpPr txBox="1"/>
          <p:nvPr/>
        </p:nvSpPr>
        <p:spPr>
          <a:xfrm>
            <a:off x="8325917" y="2926080"/>
            <a:ext cx="3088538" cy="6400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Esposa d'Osiris. Protectora i de la màgia</a:t>
            </a:r>
            <a:endParaRPr lang="en-US" sz="1550" dirty="0"/>
          </a:p>
        </p:txBody>
      </p:sp>
      <p:sp>
        <p:nvSpPr>
          <p:cNvPr id="21" name="Déu Horus"/>
          <p:cNvSpPr/>
          <p:nvPr/>
        </p:nvSpPr>
        <p:spPr>
          <a:xfrm>
            <a:off x="548640" y="3886200"/>
            <a:ext cx="3545738" cy="1691640"/>
          </a:xfrm>
          <a:prstGeom prst="roundRect">
            <a:avLst>
              <a:gd name="adj" fmla="val 5946"/>
            </a:avLst>
          </a:prstGeom>
          <a:solidFill>
            <a:srgbClr val="FFFFFF"/>
          </a:solidFill>
          <a:ln w="12700">
            <a:solidFill>
              <a:srgbClr val="DADCE0"/>
            </a:solidFill>
            <a:prstDash val="solid"/>
          </a:ln>
        </p:spPr>
      </p:sp>
      <p:sp>
        <p:nvSpPr>
          <p:cNvPr id="22" name="Cercle icona"/>
          <p:cNvSpPr/>
          <p:nvPr/>
        </p:nvSpPr>
        <p:spPr>
          <a:xfrm>
            <a:off x="777240" y="4114800"/>
            <a:ext cx="640080" cy="640080"/>
          </a:xfrm>
          <a:prstGeom prst="ellipse">
            <a:avLst/>
          </a:prstGeom>
          <a:solidFill>
            <a:srgbClr val="E6F4EA"/>
          </a:solidFill>
          <a:ln/>
        </p:spPr>
      </p:sp>
      <p:pic>
        <p:nvPicPr>
          <p:cNvPr id="23" name="Icona TbFeather" descr="/home/claude/pc/build/1r-eso-civilitzacions/img/ic/TbFeather-g.png">    </p:cNvPr>
          <p:cNvPicPr>
            <a:picLocks noChangeAspect="1"/>
          </p:cNvPicPr>
          <p:nvPr/>
        </p:nvPicPr>
        <p:blipFill>
          <a:blip r:embed="rId4"/>
          <a:stretch>
            <a:fillRect/>
          </a:stretch>
        </p:blipFill>
        <p:spPr>
          <a:xfrm>
            <a:off x="918058" y="4255618"/>
            <a:ext cx="358445" cy="358445"/>
          </a:xfrm>
          <a:prstGeom prst="rect">
            <a:avLst/>
          </a:prstGeom>
        </p:spPr>
      </p:pic>
      <p:sp>
        <p:nvSpPr>
          <p:cNvPr id="24" name="Text 18"/>
          <p:cNvSpPr txBox="1"/>
          <p:nvPr/>
        </p:nvSpPr>
        <p:spPr>
          <a:xfrm>
            <a:off x="1554480" y="4114800"/>
            <a:ext cx="23570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Horus</a:t>
            </a:r>
            <a:endParaRPr lang="en-US" sz="2000" dirty="0"/>
          </a:p>
        </p:txBody>
      </p:sp>
      <p:sp>
        <p:nvSpPr>
          <p:cNvPr id="25" name="Text 19"/>
          <p:cNvSpPr txBox="1"/>
          <p:nvPr/>
        </p:nvSpPr>
        <p:spPr>
          <a:xfrm>
            <a:off x="777240" y="4846320"/>
            <a:ext cx="3088538" cy="6400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Déu falcó, protector del faraó</a:t>
            </a:r>
            <a:endParaRPr lang="en-US" sz="1550" dirty="0"/>
          </a:p>
        </p:txBody>
      </p:sp>
      <p:sp>
        <p:nvSpPr>
          <p:cNvPr id="26" name="Déu Anubis"/>
          <p:cNvSpPr/>
          <p:nvPr/>
        </p:nvSpPr>
        <p:spPr>
          <a:xfrm>
            <a:off x="4322978" y="3886200"/>
            <a:ext cx="3545738" cy="1691640"/>
          </a:xfrm>
          <a:prstGeom prst="roundRect">
            <a:avLst>
              <a:gd name="adj" fmla="val 5946"/>
            </a:avLst>
          </a:prstGeom>
          <a:solidFill>
            <a:srgbClr val="FFFFFF"/>
          </a:solidFill>
          <a:ln w="12700">
            <a:solidFill>
              <a:srgbClr val="DADCE0"/>
            </a:solidFill>
            <a:prstDash val="solid"/>
          </a:ln>
        </p:spPr>
      </p:sp>
      <p:sp>
        <p:nvSpPr>
          <p:cNvPr id="27" name="Cercle icona"/>
          <p:cNvSpPr/>
          <p:nvPr/>
        </p:nvSpPr>
        <p:spPr>
          <a:xfrm>
            <a:off x="4551578" y="4114800"/>
            <a:ext cx="640080" cy="640080"/>
          </a:xfrm>
          <a:prstGeom prst="ellipse">
            <a:avLst/>
          </a:prstGeom>
          <a:solidFill>
            <a:srgbClr val="E6F4EA"/>
          </a:solidFill>
          <a:ln/>
        </p:spPr>
      </p:sp>
      <p:pic>
        <p:nvPicPr>
          <p:cNvPr id="28" name="Icona TbBandage" descr="/home/claude/pc/build/1r-eso-civilitzacions/img/ic/TbBandage-g.png">    </p:cNvPr>
          <p:cNvPicPr>
            <a:picLocks noChangeAspect="1"/>
          </p:cNvPicPr>
          <p:nvPr/>
        </p:nvPicPr>
        <p:blipFill>
          <a:blip r:embed="rId5"/>
          <a:stretch>
            <a:fillRect/>
          </a:stretch>
        </p:blipFill>
        <p:spPr>
          <a:xfrm>
            <a:off x="4692396" y="4255618"/>
            <a:ext cx="358445" cy="358445"/>
          </a:xfrm>
          <a:prstGeom prst="rect">
            <a:avLst/>
          </a:prstGeom>
        </p:spPr>
      </p:pic>
      <p:sp>
        <p:nvSpPr>
          <p:cNvPr id="29" name="Text 22"/>
          <p:cNvSpPr txBox="1"/>
          <p:nvPr/>
        </p:nvSpPr>
        <p:spPr>
          <a:xfrm>
            <a:off x="5328818" y="4114800"/>
            <a:ext cx="23570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Anubis</a:t>
            </a:r>
            <a:endParaRPr lang="en-US" sz="2000" dirty="0"/>
          </a:p>
        </p:txBody>
      </p:sp>
      <p:sp>
        <p:nvSpPr>
          <p:cNvPr id="30" name="Text 23"/>
          <p:cNvSpPr txBox="1"/>
          <p:nvPr/>
        </p:nvSpPr>
        <p:spPr>
          <a:xfrm>
            <a:off x="4551578" y="4846320"/>
            <a:ext cx="3088538" cy="6400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Déu xacal de la momificació</a:t>
            </a:r>
            <a:endParaRPr lang="en-US" sz="1550" dirty="0"/>
          </a:p>
        </p:txBody>
      </p:sp>
      <p:sp>
        <p:nvSpPr>
          <p:cNvPr id="31" name="Déu Thot"/>
          <p:cNvSpPr/>
          <p:nvPr/>
        </p:nvSpPr>
        <p:spPr>
          <a:xfrm>
            <a:off x="8097317" y="3886200"/>
            <a:ext cx="3545738" cy="1691640"/>
          </a:xfrm>
          <a:prstGeom prst="roundRect">
            <a:avLst>
              <a:gd name="adj" fmla="val 5946"/>
            </a:avLst>
          </a:prstGeom>
          <a:solidFill>
            <a:srgbClr val="FFFFFF"/>
          </a:solidFill>
          <a:ln w="12700">
            <a:solidFill>
              <a:srgbClr val="DADCE0"/>
            </a:solidFill>
            <a:prstDash val="solid"/>
          </a:ln>
        </p:spPr>
      </p:sp>
      <p:sp>
        <p:nvSpPr>
          <p:cNvPr id="32" name="Cercle icona"/>
          <p:cNvSpPr/>
          <p:nvPr/>
        </p:nvSpPr>
        <p:spPr>
          <a:xfrm>
            <a:off x="8325917" y="4114800"/>
            <a:ext cx="640080" cy="640080"/>
          </a:xfrm>
          <a:prstGeom prst="ellipse">
            <a:avLst/>
          </a:prstGeom>
          <a:solidFill>
            <a:srgbClr val="E6F4EA"/>
          </a:solidFill>
          <a:ln/>
        </p:spPr>
      </p:sp>
      <p:pic>
        <p:nvPicPr>
          <p:cNvPr id="33" name="Icona TbWriting" descr="/home/claude/pc/build/1r-eso-civilitzacions/img/ic/TbWriting-g.png">    </p:cNvPr>
          <p:cNvPicPr>
            <a:picLocks noChangeAspect="1"/>
          </p:cNvPicPr>
          <p:nvPr/>
        </p:nvPicPr>
        <p:blipFill>
          <a:blip r:embed="rId6"/>
          <a:stretch>
            <a:fillRect/>
          </a:stretch>
        </p:blipFill>
        <p:spPr>
          <a:xfrm>
            <a:off x="8466734" y="4255618"/>
            <a:ext cx="358445" cy="358445"/>
          </a:xfrm>
          <a:prstGeom prst="rect">
            <a:avLst/>
          </a:prstGeom>
        </p:spPr>
      </p:pic>
      <p:sp>
        <p:nvSpPr>
          <p:cNvPr id="34" name="Text 26"/>
          <p:cNvSpPr txBox="1"/>
          <p:nvPr/>
        </p:nvSpPr>
        <p:spPr>
          <a:xfrm>
            <a:off x="9103157" y="4114800"/>
            <a:ext cx="2357018" cy="640080"/>
          </a:xfrm>
          <a:prstGeom prst="rect">
            <a:avLst/>
          </a:prstGeom>
          <a:noFill/>
          <a:ln/>
        </p:spPr>
        <p:txBody>
          <a:bodyPr wrap="square" lIns="0" tIns="0" rIns="0" bIns="0" rtlCol="0" anchor="ctr"/>
          <a:lstStyle/>
          <a:p>
            <a:pPr indent="0" marL="0">
              <a:buNone/>
            </a:pPr>
            <a:r>
              <a:rPr lang="en-US" sz="2000" b="1" dirty="0">
                <a:solidFill>
                  <a:srgbClr val="188038"/>
                </a:solidFill>
                <a:latin typeface="Roboto" pitchFamily="34" charset="0"/>
                <a:ea typeface="Roboto" pitchFamily="34" charset="-122"/>
                <a:cs typeface="Roboto" pitchFamily="34" charset="-120"/>
              </a:rPr>
              <a:t>Thot</a:t>
            </a:r>
            <a:endParaRPr lang="en-US" sz="2000" dirty="0"/>
          </a:p>
        </p:txBody>
      </p:sp>
      <p:sp>
        <p:nvSpPr>
          <p:cNvPr id="35" name="Text 27"/>
          <p:cNvSpPr txBox="1"/>
          <p:nvPr/>
        </p:nvSpPr>
        <p:spPr>
          <a:xfrm>
            <a:off x="8325917" y="4846320"/>
            <a:ext cx="3088538" cy="6400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Déu ibis de l'escriptura i la saviesa</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faraó contra els sacerdots</a:t>
            </a:r>
            <a:endParaRPr lang="en-US" sz="2800" dirty="0"/>
          </a:p>
        </p:txBody>
      </p:sp>
      <p:sp>
        <p:nvSpPr>
          <p:cNvPr id="5" name="Fons Akhenaton, Nefertiti i tres filles sota el disc d'Aton (cap al 1350-1335 aC)"/>
          <p:cNvSpPr/>
          <p:nvPr/>
        </p:nvSpPr>
        <p:spPr>
          <a:xfrm>
            <a:off x="548640" y="1371600"/>
            <a:ext cx="4023360" cy="3792045"/>
          </a:xfrm>
          <a:prstGeom prst="roundRect">
            <a:avLst>
              <a:gd name="adj" fmla="val 2653"/>
            </a:avLst>
          </a:prstGeom>
          <a:solidFill>
            <a:srgbClr val="F6F8FB"/>
          </a:solidFill>
          <a:ln/>
        </p:spPr>
      </p:sp>
      <p:pic>
        <p:nvPicPr>
          <p:cNvPr id="6" name="Akhenaton, Nefertiti i tres filles sota el disc d'Aton (cap al 1350-1335 aC)" descr="/home/claude/pc/build/1r-eso-civilitzacions/img/akhenaton.jpg">    </p:cNvPr>
          <p:cNvPicPr>
            <a:picLocks noChangeAspect="1"/>
          </p:cNvPicPr>
          <p:nvPr/>
        </p:nvPicPr>
        <p:blipFill>
          <a:blip r:embed="rId1"/>
          <a:stretch>
            <a:fillRect/>
          </a:stretch>
        </p:blipFill>
        <p:spPr>
          <a:xfrm>
            <a:off x="548640" y="1371600"/>
            <a:ext cx="4023360" cy="3792045"/>
          </a:xfrm>
          <a:prstGeom prst="rect">
            <a:avLst/>
          </a:prstGeom>
        </p:spPr>
      </p:pic>
      <p:sp>
        <p:nvSpPr>
          <p:cNvPr id="7" name="Text 4"/>
          <p:cNvSpPr txBox="1"/>
          <p:nvPr/>
        </p:nvSpPr>
        <p:spPr>
          <a:xfrm>
            <a:off x="548640" y="5255085"/>
            <a:ext cx="40233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Akhenaton, Nefertiti i tres filles sota el disc d'Aton (cap al 1350-1335 aC). Museu Egipci de Berlín. Foto: A. Praefcke, Wikimedia Commons, domini públic.</a:t>
            </a:r>
            <a:endParaRPr lang="en-US" sz="1000" dirty="0"/>
          </a:p>
        </p:txBody>
      </p:sp>
      <p:sp>
        <p:nvSpPr>
          <p:cNvPr id="8" name="Cercle icona"/>
          <p:cNvSpPr/>
          <p:nvPr/>
        </p:nvSpPr>
        <p:spPr>
          <a:xfrm>
            <a:off x="4937760" y="1591056"/>
            <a:ext cx="502920" cy="502920"/>
          </a:xfrm>
          <a:prstGeom prst="ellipse">
            <a:avLst/>
          </a:prstGeom>
          <a:solidFill>
            <a:srgbClr val="E6F4EA"/>
          </a:solidFill>
          <a:ln/>
        </p:spPr>
      </p:sp>
      <p:pic>
        <p:nvPicPr>
          <p:cNvPr id="9" name="Icona TbCoins" descr="/home/claude/pc/build/1r-eso-civilitzacions/img/ic/TbCoins-g.png">    </p:cNvPr>
          <p:cNvPicPr>
            <a:picLocks noChangeAspect="1"/>
          </p:cNvPicPr>
          <p:nvPr/>
        </p:nvPicPr>
        <p:blipFill>
          <a:blip r:embed="rId2"/>
          <a:stretch>
            <a:fillRect/>
          </a:stretch>
        </p:blipFill>
        <p:spPr>
          <a:xfrm>
            <a:off x="5048402" y="1701698"/>
            <a:ext cx="281635" cy="281635"/>
          </a:xfrm>
          <a:prstGeom prst="rect">
            <a:avLst/>
          </a:prstGeom>
        </p:spPr>
      </p:pic>
      <p:sp>
        <p:nvSpPr>
          <p:cNvPr id="10" name="Text 6"/>
          <p:cNvSpPr txBox="1"/>
          <p:nvPr/>
        </p:nvSpPr>
        <p:spPr>
          <a:xfrm>
            <a:off x="5641848" y="1371600"/>
            <a:ext cx="6001207" cy="1051560"/>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Uns sacerdots molt rics. </a:t>
            </a:r>
            <a:pPr indent="0" marL="0">
              <a:buNone/>
            </a:pPr>
            <a:r>
              <a:rPr lang="en-US" sz="1500" dirty="0">
                <a:solidFill>
                  <a:srgbClr val="202124"/>
                </a:solidFill>
                <a:latin typeface="Roboto" pitchFamily="34" charset="0"/>
                <a:ea typeface="Roboto" pitchFamily="34" charset="-122"/>
                <a:cs typeface="Roboto" pitchFamily="34" charset="-120"/>
              </a:rPr>
              <a:t>Els d'Amon, a Tebes, tenien tantes terres que el seu poder feia ombra al del faraó.</a:t>
            </a:r>
            <a:endParaRPr lang="en-US" sz="1500" dirty="0"/>
          </a:p>
        </p:txBody>
      </p:sp>
      <p:sp>
        <p:nvSpPr>
          <p:cNvPr id="11" name="Cercle icona"/>
          <p:cNvSpPr/>
          <p:nvPr/>
        </p:nvSpPr>
        <p:spPr>
          <a:xfrm>
            <a:off x="4937760" y="2734056"/>
            <a:ext cx="502920" cy="502920"/>
          </a:xfrm>
          <a:prstGeom prst="ellipse">
            <a:avLst/>
          </a:prstGeom>
          <a:solidFill>
            <a:srgbClr val="E6F4EA"/>
          </a:solidFill>
          <a:ln/>
        </p:spPr>
      </p:sp>
      <p:pic>
        <p:nvPicPr>
          <p:cNvPr id="12" name="Icona TbSun" descr="/home/claude/pc/build/1r-eso-civilitzacions/img/ic/TbSun-g.png">    </p:cNvPr>
          <p:cNvPicPr>
            <a:picLocks noChangeAspect="1"/>
          </p:cNvPicPr>
          <p:nvPr/>
        </p:nvPicPr>
        <p:blipFill>
          <a:blip r:embed="rId3"/>
          <a:stretch>
            <a:fillRect/>
          </a:stretch>
        </p:blipFill>
        <p:spPr>
          <a:xfrm>
            <a:off x="5048402" y="2844698"/>
            <a:ext cx="281635" cy="281635"/>
          </a:xfrm>
          <a:prstGeom prst="rect">
            <a:avLst/>
          </a:prstGeom>
        </p:spPr>
      </p:pic>
      <p:sp>
        <p:nvSpPr>
          <p:cNvPr id="13" name="Text 8"/>
          <p:cNvSpPr txBox="1"/>
          <p:nvPr/>
        </p:nvSpPr>
        <p:spPr>
          <a:xfrm>
            <a:off x="5641848" y="2514600"/>
            <a:ext cx="6001207" cy="1051560"/>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Cap al 1350 aC, un sol déu. </a:t>
            </a:r>
            <a:pPr indent="0" marL="0">
              <a:buNone/>
            </a:pPr>
            <a:r>
              <a:rPr lang="en-US" sz="1500" dirty="0">
                <a:solidFill>
                  <a:srgbClr val="202124"/>
                </a:solidFill>
                <a:latin typeface="Roboto" pitchFamily="34" charset="0"/>
                <a:ea typeface="Roboto" pitchFamily="34" charset="-122"/>
                <a:cs typeface="Roboto" pitchFamily="34" charset="-120"/>
              </a:rPr>
              <a:t>Amenofis IV va posar al centre del culte Aton, el disc del sol, i es va canviar el nom per Akhenaton.</a:t>
            </a:r>
            <a:endParaRPr lang="en-US" sz="1500" dirty="0"/>
          </a:p>
        </p:txBody>
      </p:sp>
      <p:sp>
        <p:nvSpPr>
          <p:cNvPr id="14" name="Cercle icona"/>
          <p:cNvSpPr/>
          <p:nvPr/>
        </p:nvSpPr>
        <p:spPr>
          <a:xfrm>
            <a:off x="4937760" y="3877056"/>
            <a:ext cx="502920" cy="502920"/>
          </a:xfrm>
          <a:prstGeom prst="ellipse">
            <a:avLst/>
          </a:prstGeom>
          <a:solidFill>
            <a:srgbClr val="E6F4EA"/>
          </a:solidFill>
          <a:ln/>
        </p:spPr>
      </p:sp>
      <p:pic>
        <p:nvPicPr>
          <p:cNvPr id="15" name="Icona TbBuildingCommunity" descr="/home/claude/pc/build/1r-eso-civilitzacions/img/ic/TbBuildingCommunity-g.png">    </p:cNvPr>
          <p:cNvPicPr>
            <a:picLocks noChangeAspect="1"/>
          </p:cNvPicPr>
          <p:nvPr/>
        </p:nvPicPr>
        <p:blipFill>
          <a:blip r:embed="rId4"/>
          <a:stretch>
            <a:fillRect/>
          </a:stretch>
        </p:blipFill>
        <p:spPr>
          <a:xfrm>
            <a:off x="5048402" y="3987698"/>
            <a:ext cx="281635" cy="281635"/>
          </a:xfrm>
          <a:prstGeom prst="rect">
            <a:avLst/>
          </a:prstGeom>
        </p:spPr>
      </p:pic>
      <p:sp>
        <p:nvSpPr>
          <p:cNvPr id="16" name="Text 10"/>
          <p:cNvSpPr txBox="1"/>
          <p:nvPr/>
        </p:nvSpPr>
        <p:spPr>
          <a:xfrm>
            <a:off x="5641848" y="3657600"/>
            <a:ext cx="6001207" cy="1051560"/>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Una capital nova. </a:t>
            </a:r>
            <a:pPr indent="0" marL="0">
              <a:buNone/>
            </a:pPr>
            <a:r>
              <a:rPr lang="en-US" sz="1500" dirty="0">
                <a:solidFill>
                  <a:srgbClr val="202124"/>
                </a:solidFill>
                <a:latin typeface="Roboto" pitchFamily="34" charset="0"/>
                <a:ea typeface="Roboto" pitchFamily="34" charset="-122"/>
                <a:cs typeface="Roboto" pitchFamily="34" charset="-120"/>
              </a:rPr>
              <a:t>Akhetaton, l'actual Amarna. Va fer esborrar el nom d'Amon de molts monuments.</a:t>
            </a:r>
            <a:endParaRPr lang="en-US" sz="1500" dirty="0"/>
          </a:p>
        </p:txBody>
      </p:sp>
      <p:sp>
        <p:nvSpPr>
          <p:cNvPr id="17" name="Cercle icona"/>
          <p:cNvSpPr/>
          <p:nvPr/>
        </p:nvSpPr>
        <p:spPr>
          <a:xfrm>
            <a:off x="4937760" y="5020056"/>
            <a:ext cx="502920" cy="502920"/>
          </a:xfrm>
          <a:prstGeom prst="ellipse">
            <a:avLst/>
          </a:prstGeom>
          <a:solidFill>
            <a:srgbClr val="E6F4EA"/>
          </a:solidFill>
          <a:ln/>
        </p:spPr>
      </p:sp>
      <p:pic>
        <p:nvPicPr>
          <p:cNvPr id="18" name="Icona TbArrowsExchange" descr="/home/claude/pc/build/1r-eso-civilitzacions/img/ic/TbArrowsExchange-g.png">    </p:cNvPr>
          <p:cNvPicPr>
            <a:picLocks noChangeAspect="1"/>
          </p:cNvPicPr>
          <p:nvPr/>
        </p:nvPicPr>
        <p:blipFill>
          <a:blip r:embed="rId5"/>
          <a:stretch>
            <a:fillRect/>
          </a:stretch>
        </p:blipFill>
        <p:spPr>
          <a:xfrm>
            <a:off x="5048402" y="5130698"/>
            <a:ext cx="281635" cy="281635"/>
          </a:xfrm>
          <a:prstGeom prst="rect">
            <a:avLst/>
          </a:prstGeom>
        </p:spPr>
      </p:pic>
      <p:sp>
        <p:nvSpPr>
          <p:cNvPr id="19" name="Text 12"/>
          <p:cNvSpPr txBox="1"/>
          <p:nvPr/>
        </p:nvSpPr>
        <p:spPr>
          <a:xfrm>
            <a:off x="5641848" y="4800600"/>
            <a:ext cx="6001207" cy="1051560"/>
          </a:xfrm>
          <a:prstGeom prst="rect">
            <a:avLst/>
          </a:prstGeom>
          <a:noFill/>
          <a:ln/>
        </p:spPr>
        <p:txBody>
          <a:bodyPr wrap="square" lIns="0" tIns="0" rIns="0" bIns="0" rtlCol="0" anchor="ctr"/>
          <a:lstStyle/>
          <a:p>
            <a:pPr indent="0" marL="0">
              <a:buNone/>
            </a:pPr>
            <a:r>
              <a:rPr lang="en-US" sz="1500" b="1" dirty="0">
                <a:solidFill>
                  <a:srgbClr val="202124"/>
                </a:solidFill>
                <a:latin typeface="Roboto" pitchFamily="34" charset="0"/>
                <a:ea typeface="Roboto" pitchFamily="34" charset="-122"/>
                <a:cs typeface="Roboto" pitchFamily="34" charset="-120"/>
              </a:rPr>
              <a:t>No va durar. </a:t>
            </a:r>
            <a:pPr indent="0" marL="0">
              <a:buNone/>
            </a:pPr>
            <a:r>
              <a:rPr lang="en-US" sz="1500" dirty="0">
                <a:solidFill>
                  <a:srgbClr val="202124"/>
                </a:solidFill>
                <a:latin typeface="Roboto" pitchFamily="34" charset="0"/>
                <a:ea typeface="Roboto" pitchFamily="34" charset="-122"/>
                <a:cs typeface="Roboto" pitchFamily="34" charset="-120"/>
              </a:rPr>
              <a:t>Després de la seva mort, Tutankaton es va canviar el nom per Tutankamon, en honor d'Amon.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judici d'Osiris</a:t>
            </a:r>
            <a:endParaRPr lang="en-US" sz="2800" dirty="0"/>
          </a:p>
        </p:txBody>
      </p:sp>
      <p:sp>
        <p:nvSpPr>
          <p:cNvPr id="5" name="Fons El judici d'Osiris al papir d'Hunefer, cap al 1275 aC"/>
          <p:cNvSpPr/>
          <p:nvPr/>
        </p:nvSpPr>
        <p:spPr>
          <a:xfrm>
            <a:off x="548640" y="1371600"/>
            <a:ext cx="11094415" cy="2514600"/>
          </a:xfrm>
          <a:prstGeom prst="roundRect">
            <a:avLst>
              <a:gd name="adj" fmla="val 4000"/>
            </a:avLst>
          </a:prstGeom>
          <a:solidFill>
            <a:srgbClr val="F6F8FB"/>
          </a:solidFill>
          <a:ln/>
        </p:spPr>
      </p:sp>
      <p:pic>
        <p:nvPicPr>
          <p:cNvPr id="6" name="El judici d'Osiris al papir d'Hunefer, cap al 1275 aC" descr="/home/claude/pc/build/1r-eso-civilitzacions/img/hunefer.jpg">    </p:cNvPr>
          <p:cNvPicPr>
            <a:picLocks noChangeAspect="1"/>
          </p:cNvPicPr>
          <p:nvPr/>
        </p:nvPicPr>
        <p:blipFill>
          <a:blip r:embed="rId1"/>
          <a:stretch>
            <a:fillRect/>
          </a:stretch>
        </p:blipFill>
        <p:spPr>
          <a:xfrm>
            <a:off x="3332302" y="1371600"/>
            <a:ext cx="5527091" cy="2514600"/>
          </a:xfrm>
          <a:prstGeom prst="rect">
            <a:avLst/>
          </a:prstGeom>
        </p:spPr>
      </p:pic>
      <p:sp>
        <p:nvSpPr>
          <p:cNvPr id="7" name="Text 4"/>
          <p:cNvSpPr txBox="1"/>
          <p:nvPr/>
        </p:nvSpPr>
        <p:spPr>
          <a:xfrm>
            <a:off x="548640" y="3977640"/>
            <a:ext cx="110944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judici d'Osiris al papir d'Hunefer, cap al 1275 aC. Es llegeix d'esquerra a dreta. Museu Britànic. Imatge: Wikimedia Commons, domini públic.</a:t>
            </a:r>
            <a:endParaRPr lang="en-US" sz="1000" dirty="0"/>
          </a:p>
        </p:txBody>
      </p:sp>
      <p:sp>
        <p:nvSpPr>
          <p:cNvPr id="8" name="Targeta La balança"/>
          <p:cNvSpPr/>
          <p:nvPr/>
        </p:nvSpPr>
        <p:spPr>
          <a:xfrm>
            <a:off x="548640" y="4434840"/>
            <a:ext cx="3545738" cy="1554480"/>
          </a:xfrm>
          <a:prstGeom prst="roundRect">
            <a:avLst>
              <a:gd name="adj" fmla="val 6471"/>
            </a:avLst>
          </a:prstGeom>
          <a:solidFill>
            <a:srgbClr val="FFFFFF"/>
          </a:solidFill>
          <a:ln w="12700">
            <a:solidFill>
              <a:srgbClr val="DADCE0"/>
            </a:solidFill>
            <a:prstDash val="solid"/>
          </a:ln>
        </p:spPr>
      </p:sp>
      <p:sp>
        <p:nvSpPr>
          <p:cNvPr id="9" name="Cercle icona"/>
          <p:cNvSpPr/>
          <p:nvPr/>
        </p:nvSpPr>
        <p:spPr>
          <a:xfrm>
            <a:off x="777240" y="4663440"/>
            <a:ext cx="457200" cy="457200"/>
          </a:xfrm>
          <a:prstGeom prst="ellipse">
            <a:avLst/>
          </a:prstGeom>
          <a:solidFill>
            <a:srgbClr val="E6F4EA"/>
          </a:solidFill>
          <a:ln/>
        </p:spPr>
      </p:sp>
      <p:pic>
        <p:nvPicPr>
          <p:cNvPr id="10" name="Icona TbScale" descr="/home/claude/pc/build/1r-eso-civilitzacions/img/ic/TbScale-g.png">    </p:cNvPr>
          <p:cNvPicPr>
            <a:picLocks noChangeAspect="1"/>
          </p:cNvPicPr>
          <p:nvPr/>
        </p:nvPicPr>
        <p:blipFill>
          <a:blip r:embed="rId2"/>
          <a:stretch>
            <a:fillRect/>
          </a:stretch>
        </p:blipFill>
        <p:spPr>
          <a:xfrm>
            <a:off x="877824" y="4764024"/>
            <a:ext cx="256032" cy="256032"/>
          </a:xfrm>
          <a:prstGeom prst="rect">
            <a:avLst/>
          </a:prstGeom>
        </p:spPr>
      </p:pic>
      <p:sp>
        <p:nvSpPr>
          <p:cNvPr id="11" name="Text 7"/>
          <p:cNvSpPr txBox="1"/>
          <p:nvPr/>
        </p:nvSpPr>
        <p:spPr>
          <a:xfrm>
            <a:off x="1371600" y="4663440"/>
            <a:ext cx="2494178" cy="457200"/>
          </a:xfrm>
          <a:prstGeom prst="rect">
            <a:avLst/>
          </a:prstGeom>
          <a:noFill/>
          <a:ln/>
        </p:spPr>
        <p:txBody>
          <a:bodyPr wrap="square" lIns="0" tIns="0" rIns="0" bIns="0" rtlCol="0" anchor="ctr"/>
          <a:lstStyle/>
          <a:p>
            <a:pPr indent="0" marL="0">
              <a:buNone/>
            </a:pPr>
            <a:r>
              <a:rPr lang="en-US" sz="1650" b="1" dirty="0">
                <a:solidFill>
                  <a:srgbClr val="188038"/>
                </a:solidFill>
                <a:latin typeface="Roboto" pitchFamily="34" charset="0"/>
                <a:ea typeface="Roboto" pitchFamily="34" charset="-122"/>
                <a:cs typeface="Roboto" pitchFamily="34" charset="-120"/>
              </a:rPr>
              <a:t>La balança</a:t>
            </a:r>
            <a:endParaRPr lang="en-US" sz="1650" dirty="0"/>
          </a:p>
        </p:txBody>
      </p:sp>
      <p:sp>
        <p:nvSpPr>
          <p:cNvPr id="12" name="Text 8"/>
          <p:cNvSpPr txBox="1"/>
          <p:nvPr/>
        </p:nvSpPr>
        <p:spPr>
          <a:xfrm>
            <a:off x="777240" y="5257800"/>
            <a:ext cx="3088538" cy="59436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El cor del difunt es pesava contra la ploma de Maat, la deessa de la justícia.</a:t>
            </a:r>
            <a:endParaRPr lang="en-US" sz="1400" dirty="0"/>
          </a:p>
        </p:txBody>
      </p:sp>
      <p:sp>
        <p:nvSpPr>
          <p:cNvPr id="13" name="Targeta Si pesava més…"/>
          <p:cNvSpPr/>
          <p:nvPr/>
        </p:nvSpPr>
        <p:spPr>
          <a:xfrm>
            <a:off x="4322978" y="4434840"/>
            <a:ext cx="3545738" cy="1554480"/>
          </a:xfrm>
          <a:prstGeom prst="roundRect">
            <a:avLst>
              <a:gd name="adj" fmla="val 6471"/>
            </a:avLst>
          </a:prstGeom>
          <a:solidFill>
            <a:srgbClr val="FFFFFF"/>
          </a:solidFill>
          <a:ln w="12700">
            <a:solidFill>
              <a:srgbClr val="DADCE0"/>
            </a:solidFill>
            <a:prstDash val="solid"/>
          </a:ln>
        </p:spPr>
      </p:sp>
      <p:sp>
        <p:nvSpPr>
          <p:cNvPr id="14" name="Cercle icona"/>
          <p:cNvSpPr/>
          <p:nvPr/>
        </p:nvSpPr>
        <p:spPr>
          <a:xfrm>
            <a:off x="4551578" y="4663440"/>
            <a:ext cx="457200" cy="457200"/>
          </a:xfrm>
          <a:prstGeom prst="ellipse">
            <a:avLst/>
          </a:prstGeom>
          <a:solidFill>
            <a:srgbClr val="E6F4EA"/>
          </a:solidFill>
          <a:ln/>
        </p:spPr>
      </p:sp>
      <p:pic>
        <p:nvPicPr>
          <p:cNvPr id="15" name="Icona TbSkull" descr="/home/claude/pc/build/1r-eso-civilitzacions/img/ic/TbSkull-g.png">    </p:cNvPr>
          <p:cNvPicPr>
            <a:picLocks noChangeAspect="1"/>
          </p:cNvPicPr>
          <p:nvPr/>
        </p:nvPicPr>
        <p:blipFill>
          <a:blip r:embed="rId3"/>
          <a:stretch>
            <a:fillRect/>
          </a:stretch>
        </p:blipFill>
        <p:spPr>
          <a:xfrm>
            <a:off x="4652162" y="4764024"/>
            <a:ext cx="256032" cy="256032"/>
          </a:xfrm>
          <a:prstGeom prst="rect">
            <a:avLst/>
          </a:prstGeom>
        </p:spPr>
      </p:pic>
      <p:sp>
        <p:nvSpPr>
          <p:cNvPr id="16" name="Text 11"/>
          <p:cNvSpPr txBox="1"/>
          <p:nvPr/>
        </p:nvSpPr>
        <p:spPr>
          <a:xfrm>
            <a:off x="5145938" y="4663440"/>
            <a:ext cx="2494178" cy="457200"/>
          </a:xfrm>
          <a:prstGeom prst="rect">
            <a:avLst/>
          </a:prstGeom>
          <a:noFill/>
          <a:ln/>
        </p:spPr>
        <p:txBody>
          <a:bodyPr wrap="square" lIns="0" tIns="0" rIns="0" bIns="0" rtlCol="0" anchor="ctr"/>
          <a:lstStyle/>
          <a:p>
            <a:pPr indent="0" marL="0">
              <a:buNone/>
            </a:pPr>
            <a:r>
              <a:rPr lang="en-US" sz="1650" b="1" dirty="0">
                <a:solidFill>
                  <a:srgbClr val="188038"/>
                </a:solidFill>
                <a:latin typeface="Roboto" pitchFamily="34" charset="0"/>
                <a:ea typeface="Roboto" pitchFamily="34" charset="-122"/>
                <a:cs typeface="Roboto" pitchFamily="34" charset="-120"/>
              </a:rPr>
              <a:t>Si pesava més…</a:t>
            </a:r>
            <a:endParaRPr lang="en-US" sz="1650" dirty="0"/>
          </a:p>
        </p:txBody>
      </p:sp>
      <p:sp>
        <p:nvSpPr>
          <p:cNvPr id="17" name="Text 12"/>
          <p:cNvSpPr txBox="1"/>
          <p:nvPr/>
        </p:nvSpPr>
        <p:spPr>
          <a:xfrm>
            <a:off x="4551578" y="5257800"/>
            <a:ext cx="3088538" cy="59436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Senyal de males accions. Un monstre el devorava i el difunt desapareixia per sempre.</a:t>
            </a:r>
            <a:endParaRPr lang="en-US" sz="1400" dirty="0"/>
          </a:p>
        </p:txBody>
      </p:sp>
      <p:sp>
        <p:nvSpPr>
          <p:cNvPr id="18" name="Targeta Si pesava igual o menys…"/>
          <p:cNvSpPr/>
          <p:nvPr/>
        </p:nvSpPr>
        <p:spPr>
          <a:xfrm>
            <a:off x="8097317" y="4434840"/>
            <a:ext cx="3545738" cy="1554480"/>
          </a:xfrm>
          <a:prstGeom prst="roundRect">
            <a:avLst>
              <a:gd name="adj" fmla="val 6471"/>
            </a:avLst>
          </a:prstGeom>
          <a:solidFill>
            <a:srgbClr val="FFFFFF"/>
          </a:solidFill>
          <a:ln w="12700">
            <a:solidFill>
              <a:srgbClr val="DADCE0"/>
            </a:solidFill>
            <a:prstDash val="solid"/>
          </a:ln>
        </p:spPr>
      </p:sp>
      <p:sp>
        <p:nvSpPr>
          <p:cNvPr id="19" name="Cercle icona"/>
          <p:cNvSpPr/>
          <p:nvPr/>
        </p:nvSpPr>
        <p:spPr>
          <a:xfrm>
            <a:off x="8325917" y="4663440"/>
            <a:ext cx="457200" cy="457200"/>
          </a:xfrm>
          <a:prstGeom prst="ellipse">
            <a:avLst/>
          </a:prstGeom>
          <a:solidFill>
            <a:srgbClr val="E6F4EA"/>
          </a:solidFill>
          <a:ln/>
        </p:spPr>
      </p:sp>
      <p:pic>
        <p:nvPicPr>
          <p:cNvPr id="20" name="Icona TbFlower" descr="/home/claude/pc/build/1r-eso-civilitzacions/img/ic/TbFlower-g.png">    </p:cNvPr>
          <p:cNvPicPr>
            <a:picLocks noChangeAspect="1"/>
          </p:cNvPicPr>
          <p:nvPr/>
        </p:nvPicPr>
        <p:blipFill>
          <a:blip r:embed="rId4"/>
          <a:stretch>
            <a:fillRect/>
          </a:stretch>
        </p:blipFill>
        <p:spPr>
          <a:xfrm>
            <a:off x="8426501" y="4764024"/>
            <a:ext cx="256032" cy="256032"/>
          </a:xfrm>
          <a:prstGeom prst="rect">
            <a:avLst/>
          </a:prstGeom>
        </p:spPr>
      </p:pic>
      <p:sp>
        <p:nvSpPr>
          <p:cNvPr id="21" name="Text 15"/>
          <p:cNvSpPr txBox="1"/>
          <p:nvPr/>
        </p:nvSpPr>
        <p:spPr>
          <a:xfrm>
            <a:off x="8920277" y="4663440"/>
            <a:ext cx="2494178" cy="457200"/>
          </a:xfrm>
          <a:prstGeom prst="rect">
            <a:avLst/>
          </a:prstGeom>
          <a:noFill/>
          <a:ln/>
        </p:spPr>
        <p:txBody>
          <a:bodyPr wrap="square" lIns="0" tIns="0" rIns="0" bIns="0" rtlCol="0" anchor="ctr"/>
          <a:lstStyle/>
          <a:p>
            <a:pPr indent="0" marL="0">
              <a:buNone/>
            </a:pPr>
            <a:r>
              <a:rPr lang="en-US" sz="1650" b="1" dirty="0">
                <a:solidFill>
                  <a:srgbClr val="188038"/>
                </a:solidFill>
                <a:latin typeface="Roboto" pitchFamily="34" charset="0"/>
                <a:ea typeface="Roboto" pitchFamily="34" charset="-122"/>
                <a:cs typeface="Roboto" pitchFamily="34" charset="-120"/>
              </a:rPr>
              <a:t>Si pesava igual o menys…</a:t>
            </a:r>
            <a:endParaRPr lang="en-US" sz="1650" dirty="0"/>
          </a:p>
        </p:txBody>
      </p:sp>
      <p:sp>
        <p:nvSpPr>
          <p:cNvPr id="22" name="Text 16"/>
          <p:cNvSpPr txBox="1"/>
          <p:nvPr/>
        </p:nvSpPr>
        <p:spPr>
          <a:xfrm>
            <a:off x="8325917" y="5257800"/>
            <a:ext cx="3088538" cy="594360"/>
          </a:xfrm>
          <a:prstGeom prst="rect">
            <a:avLst/>
          </a:prstGeom>
          <a:noFill/>
          <a:ln/>
        </p:spPr>
        <p:txBody>
          <a:bodyPr wrap="square" lIns="0" tIns="0" rIns="0" bIns="0" rtlCol="0" anchor="t"/>
          <a:lstStyle/>
          <a:p>
            <a:pPr indent="0" marL="0">
              <a:buNone/>
            </a:pPr>
            <a:r>
              <a:rPr lang="en-US" sz="1400" dirty="0">
                <a:solidFill>
                  <a:srgbClr val="202124"/>
                </a:solidFill>
                <a:latin typeface="Roboto" pitchFamily="34" charset="0"/>
                <a:ea typeface="Roboto" pitchFamily="34" charset="-122"/>
                <a:cs typeface="Roboto" pitchFamily="34" charset="-120"/>
              </a:rPr>
              <a:t>Accedia a la vida eterna als camps d'Aaru.</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Què deia el difunt als déus?</a:t>
            </a:r>
            <a:endParaRPr lang="en-US" sz="2800" dirty="0"/>
          </a:p>
        </p:txBody>
      </p:sp>
      <p:sp>
        <p:nvSpPr>
          <p:cNvPr id="5" name="Font directa · Llibre dels Morts, capítol 125 (Imperi Nou)"/>
          <p:cNvSpPr/>
          <p:nvPr/>
        </p:nvSpPr>
        <p:spPr>
          <a:xfrm>
            <a:off x="548640" y="1371600"/>
            <a:ext cx="11094415" cy="2743200"/>
          </a:xfrm>
          <a:prstGeom prst="roundRect">
            <a:avLst>
              <a:gd name="adj" fmla="val 3667"/>
            </a:avLst>
          </a:prstGeom>
          <a:solidFill>
            <a:srgbClr val="F6F8FB"/>
          </a:solidFill>
          <a:ln/>
        </p:spPr>
      </p:sp>
      <p:sp>
        <p:nvSpPr>
          <p:cNvPr id="6" name="Text 4"/>
          <p:cNvSpPr txBox="1"/>
          <p:nvPr/>
        </p:nvSpPr>
        <p:spPr>
          <a:xfrm>
            <a:off x="914400" y="1554480"/>
            <a:ext cx="1036289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Llibre dels Morts, capítol 125 (Imperi Nou)</a:t>
            </a:r>
            <a:endParaRPr lang="en-US" sz="1400" dirty="0"/>
          </a:p>
        </p:txBody>
      </p:sp>
      <p:sp>
        <p:nvSpPr>
          <p:cNvPr id="7" name="Text 5"/>
          <p:cNvSpPr txBox="1"/>
          <p:nvPr/>
        </p:nvSpPr>
        <p:spPr>
          <a:xfrm>
            <a:off x="914400" y="1965960"/>
            <a:ext cx="10362895" cy="1417320"/>
          </a:xfrm>
          <a:prstGeom prst="rect">
            <a:avLst/>
          </a:prstGeom>
          <a:noFill/>
          <a:ln/>
        </p:spPr>
        <p:txBody>
          <a:bodyPr wrap="square" lIns="0" tIns="0" rIns="0" bIns="0" rtlCol="0" anchor="t"/>
          <a:lstStyle/>
          <a:p>
            <a:pPr indent="0" marL="0">
              <a:buNone/>
            </a:pPr>
            <a:r>
              <a:rPr lang="en-US" sz="2000" i="1" dirty="0">
                <a:solidFill>
                  <a:srgbClr val="202124"/>
                </a:solidFill>
                <a:latin typeface="Roboto" pitchFamily="34" charset="0"/>
                <a:ea typeface="Roboto" pitchFamily="34" charset="-122"/>
                <a:cs typeface="Roboto" pitchFamily="34" charset="-120"/>
              </a:rPr>
              <a:t>«No he causat misèria ni he fet patir ningú. No he matat ni he manat matar ningú. No he robat les ofrenes dels temples. No he robat als horts ni he trepitjat els camps. No he fet plorar ningú.»</a:t>
            </a:r>
            <a:endParaRPr lang="en-US" sz="2000" dirty="0"/>
          </a:p>
        </p:txBody>
      </p:sp>
      <p:sp>
        <p:nvSpPr>
          <p:cNvPr id="8" name="Text 6"/>
          <p:cNvSpPr txBox="1"/>
          <p:nvPr/>
        </p:nvSpPr>
        <p:spPr>
          <a:xfrm>
            <a:off x="914400" y="3218688"/>
            <a:ext cx="10362895" cy="777240"/>
          </a:xfrm>
          <a:prstGeom prst="rect">
            <a:avLst/>
          </a:prstGeom>
          <a:noFill/>
          <a:ln/>
        </p:spPr>
        <p:txBody>
          <a:bodyPr wrap="square" lIns="0" tIns="0" rIns="0" bIns="0" rtlCol="0" anchor="b"/>
          <a:lstStyle/>
          <a:p>
            <a:pPr indent="0" marL="0">
              <a:buNone/>
            </a:pPr>
            <a:r>
              <a:rPr lang="en-US" sz="1300" dirty="0">
                <a:solidFill>
                  <a:srgbClr val="5F6368"/>
                </a:solidFill>
                <a:latin typeface="Roboto" pitchFamily="34" charset="0"/>
                <a:ea typeface="Roboto" pitchFamily="34" charset="-122"/>
                <a:cs typeface="Roboto" pitchFamily="34" charset="-120"/>
              </a:rPr>
              <a:t>És la «confessió negativa» que el difunt recitava davant dels déus. Traducció catalana adaptada a partir de la versió anglesa d'E. A. Wallis Budge.</a:t>
            </a:r>
            <a:endParaRPr lang="en-US" sz="1300" dirty="0"/>
          </a:p>
        </p:txBody>
      </p:sp>
      <p:sp>
        <p:nvSpPr>
          <p:cNvPr id="9" name="Pensa-hi"/>
          <p:cNvSpPr/>
          <p:nvPr/>
        </p:nvSpPr>
        <p:spPr>
          <a:xfrm>
            <a:off x="548640" y="4343400"/>
            <a:ext cx="11094415" cy="1691640"/>
          </a:xfrm>
          <a:prstGeom prst="roundRect">
            <a:avLst>
              <a:gd name="adj" fmla="val 5946"/>
            </a:avLst>
          </a:prstGeom>
          <a:solidFill>
            <a:srgbClr val="E6F4EA"/>
          </a:solidFill>
          <a:ln/>
        </p:spPr>
      </p:sp>
      <p:sp>
        <p:nvSpPr>
          <p:cNvPr id="10" name="Text 8"/>
          <p:cNvSpPr txBox="1"/>
          <p:nvPr/>
        </p:nvSpPr>
        <p:spPr>
          <a:xfrm>
            <a:off x="868680" y="449884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Pensa-hi</a:t>
            </a:r>
            <a:endParaRPr lang="en-US" sz="1400" dirty="0"/>
          </a:p>
        </p:txBody>
      </p:sp>
      <p:sp>
        <p:nvSpPr>
          <p:cNvPr id="11" name="Text 9"/>
          <p:cNvSpPr txBox="1"/>
          <p:nvPr/>
        </p:nvSpPr>
        <p:spPr>
          <a:xfrm>
            <a:off x="868680" y="4846320"/>
            <a:ext cx="10454335" cy="105156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Quines coses estaven mal fetes per als egipcis? S'assemblen a les d'avui?</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momificació, pas a pas</a:t>
            </a:r>
            <a:endParaRPr lang="en-US" sz="2800" dirty="0"/>
          </a:p>
        </p:txBody>
      </p:sp>
      <p:sp>
        <p:nvSpPr>
          <p:cNvPr id="5" name="Pas 1"/>
          <p:cNvSpPr/>
          <p:nvPr/>
        </p:nvSpPr>
        <p:spPr>
          <a:xfrm>
            <a:off x="548640" y="1371600"/>
            <a:ext cx="1889699" cy="3154680"/>
          </a:xfrm>
          <a:prstGeom prst="roundRect">
            <a:avLst>
              <a:gd name="adj" fmla="val 5323"/>
            </a:avLst>
          </a:prstGeom>
          <a:solidFill>
            <a:srgbClr val="FFFFFF"/>
          </a:solidFill>
          <a:ln w="12700">
            <a:solidFill>
              <a:srgbClr val="DADCE0"/>
            </a:solidFill>
            <a:prstDash val="solid"/>
          </a:ln>
        </p:spPr>
      </p:sp>
      <p:sp>
        <p:nvSpPr>
          <p:cNvPr id="6" name="Número del pas 1"/>
          <p:cNvSpPr/>
          <p:nvPr/>
        </p:nvSpPr>
        <p:spPr>
          <a:xfrm>
            <a:off x="804672" y="1600200"/>
            <a:ext cx="420624" cy="420624"/>
          </a:xfrm>
          <a:prstGeom prst="ellipse">
            <a:avLst/>
          </a:prstGeom>
          <a:solidFill>
            <a:srgbClr val="E6F4EA"/>
          </a:solidFill>
          <a:ln/>
        </p:spPr>
      </p:sp>
      <p:sp>
        <p:nvSpPr>
          <p:cNvPr id="7" name="Text 5"/>
          <p:cNvSpPr txBox="1"/>
          <p:nvPr/>
        </p:nvSpPr>
        <p:spPr>
          <a:xfrm>
            <a:off x="804672" y="1600200"/>
            <a:ext cx="420624" cy="420624"/>
          </a:xfrm>
          <a:prstGeom prst="rect">
            <a:avLst/>
          </a:prstGeom>
          <a:noFill/>
          <a:ln/>
        </p:spPr>
        <p:txBody>
          <a:bodyPr wrap="square" lIns="0" tIns="0" rIns="0" bIns="0" rtlCol="0" anchor="ctr"/>
          <a:lstStyle/>
          <a:p>
            <a:pPr algn="ctr" indent="0" marL="0">
              <a:buNone/>
            </a:pPr>
            <a:r>
              <a:rPr lang="en-US" sz="1500" b="1" dirty="0">
                <a:solidFill>
                  <a:srgbClr val="188038"/>
                </a:solidFill>
                <a:latin typeface="Roboto" pitchFamily="34" charset="0"/>
                <a:ea typeface="Roboto" pitchFamily="34" charset="-122"/>
                <a:cs typeface="Roboto" pitchFamily="34" charset="-120"/>
              </a:rPr>
              <a:t>1</a:t>
            </a:r>
            <a:endParaRPr lang="en-US" sz="1500" dirty="0"/>
          </a:p>
        </p:txBody>
      </p:sp>
      <p:sp>
        <p:nvSpPr>
          <p:cNvPr id="8" name="Text 6"/>
          <p:cNvSpPr txBox="1"/>
          <p:nvPr/>
        </p:nvSpPr>
        <p:spPr>
          <a:xfrm>
            <a:off x="804672" y="2148840"/>
            <a:ext cx="1432499" cy="54864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Els òrgans</a:t>
            </a:r>
            <a:endParaRPr lang="en-US" sz="1600" dirty="0"/>
          </a:p>
        </p:txBody>
      </p:sp>
      <p:sp>
        <p:nvSpPr>
          <p:cNvPr id="9" name="Text 7"/>
          <p:cNvSpPr txBox="1"/>
          <p:nvPr/>
        </p:nvSpPr>
        <p:spPr>
          <a:xfrm>
            <a:off x="804672" y="2743200"/>
            <a:ext cx="1432499" cy="1645920"/>
          </a:xfrm>
          <a:prstGeom prst="rect">
            <a:avLst/>
          </a:prstGeom>
          <a:noFill/>
          <a:ln/>
        </p:spPr>
        <p:txBody>
          <a:bodyPr wrap="square" lIns="0" tIns="0" rIns="0" bIns="0" rtlCol="0" anchor="t"/>
          <a:lstStyle/>
          <a:p>
            <a:pPr indent="0" marL="0">
              <a:buNone/>
            </a:pPr>
            <a:r>
              <a:rPr lang="en-US" sz="1350" dirty="0">
                <a:solidFill>
                  <a:srgbClr val="5F6368"/>
                </a:solidFill>
                <a:latin typeface="Roboto" pitchFamily="34" charset="0"/>
                <a:ea typeface="Roboto" pitchFamily="34" charset="-122"/>
                <a:cs typeface="Roboto" pitchFamily="34" charset="-120"/>
              </a:rPr>
              <a:t>Treien el cervell i els òrgans, que es guardaven als vasos canopis. El cor es deixava dins.</a:t>
            </a:r>
            <a:endParaRPr lang="en-US" sz="1350" dirty="0"/>
          </a:p>
        </p:txBody>
      </p:sp>
      <p:sp>
        <p:nvSpPr>
          <p:cNvPr id="10" name="Fletxa 1"/>
          <p:cNvSpPr/>
          <p:nvPr/>
        </p:nvSpPr>
        <p:spPr>
          <a:xfrm>
            <a:off x="2557211" y="2240280"/>
            <a:ext cx="182880" cy="274320"/>
          </a:xfrm>
          <a:prstGeom prst="chevron">
            <a:avLst/>
          </a:prstGeom>
          <a:solidFill>
            <a:srgbClr val="188038"/>
          </a:solidFill>
          <a:ln/>
        </p:spPr>
      </p:sp>
      <p:sp>
        <p:nvSpPr>
          <p:cNvPr id="11" name="Pas 2"/>
          <p:cNvSpPr/>
          <p:nvPr/>
        </p:nvSpPr>
        <p:spPr>
          <a:xfrm>
            <a:off x="2849819" y="1371600"/>
            <a:ext cx="1889699" cy="3154680"/>
          </a:xfrm>
          <a:prstGeom prst="roundRect">
            <a:avLst>
              <a:gd name="adj" fmla="val 5323"/>
            </a:avLst>
          </a:prstGeom>
          <a:solidFill>
            <a:srgbClr val="FFFFFF"/>
          </a:solidFill>
          <a:ln w="12700">
            <a:solidFill>
              <a:srgbClr val="DADCE0"/>
            </a:solidFill>
            <a:prstDash val="solid"/>
          </a:ln>
        </p:spPr>
      </p:sp>
      <p:sp>
        <p:nvSpPr>
          <p:cNvPr id="12" name="Número del pas 2"/>
          <p:cNvSpPr/>
          <p:nvPr/>
        </p:nvSpPr>
        <p:spPr>
          <a:xfrm>
            <a:off x="3105851" y="1600200"/>
            <a:ext cx="420624" cy="420624"/>
          </a:xfrm>
          <a:prstGeom prst="ellipse">
            <a:avLst/>
          </a:prstGeom>
          <a:solidFill>
            <a:srgbClr val="E6F4EA"/>
          </a:solidFill>
          <a:ln/>
        </p:spPr>
      </p:sp>
      <p:sp>
        <p:nvSpPr>
          <p:cNvPr id="13" name="Text 11"/>
          <p:cNvSpPr txBox="1"/>
          <p:nvPr/>
        </p:nvSpPr>
        <p:spPr>
          <a:xfrm>
            <a:off x="3105851" y="1600200"/>
            <a:ext cx="420624" cy="420624"/>
          </a:xfrm>
          <a:prstGeom prst="rect">
            <a:avLst/>
          </a:prstGeom>
          <a:noFill/>
          <a:ln/>
        </p:spPr>
        <p:txBody>
          <a:bodyPr wrap="square" lIns="0" tIns="0" rIns="0" bIns="0" rtlCol="0" anchor="ctr"/>
          <a:lstStyle/>
          <a:p>
            <a:pPr algn="ctr" indent="0" marL="0">
              <a:buNone/>
            </a:pPr>
            <a:r>
              <a:rPr lang="en-US" sz="1500" b="1" dirty="0">
                <a:solidFill>
                  <a:srgbClr val="188038"/>
                </a:solidFill>
                <a:latin typeface="Roboto" pitchFamily="34" charset="0"/>
                <a:ea typeface="Roboto" pitchFamily="34" charset="-122"/>
                <a:cs typeface="Roboto" pitchFamily="34" charset="-120"/>
              </a:rPr>
              <a:t>2</a:t>
            </a:r>
            <a:endParaRPr lang="en-US" sz="1500" dirty="0"/>
          </a:p>
        </p:txBody>
      </p:sp>
      <p:sp>
        <p:nvSpPr>
          <p:cNvPr id="14" name="Text 12"/>
          <p:cNvSpPr txBox="1"/>
          <p:nvPr/>
        </p:nvSpPr>
        <p:spPr>
          <a:xfrm>
            <a:off x="3105851" y="2148840"/>
            <a:ext cx="1432499" cy="54864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El natró</a:t>
            </a:r>
            <a:endParaRPr lang="en-US" sz="1600" dirty="0"/>
          </a:p>
        </p:txBody>
      </p:sp>
      <p:sp>
        <p:nvSpPr>
          <p:cNvPr id="15" name="Text 13"/>
          <p:cNvSpPr txBox="1"/>
          <p:nvPr/>
        </p:nvSpPr>
        <p:spPr>
          <a:xfrm>
            <a:off x="3105851" y="2743200"/>
            <a:ext cx="1432499" cy="1645920"/>
          </a:xfrm>
          <a:prstGeom prst="rect">
            <a:avLst/>
          </a:prstGeom>
          <a:noFill/>
          <a:ln/>
        </p:spPr>
        <p:txBody>
          <a:bodyPr wrap="square" lIns="0" tIns="0" rIns="0" bIns="0" rtlCol="0" anchor="t"/>
          <a:lstStyle/>
          <a:p>
            <a:pPr indent="0" marL="0">
              <a:buNone/>
            </a:pPr>
            <a:r>
              <a:rPr lang="en-US" sz="1350" dirty="0">
                <a:solidFill>
                  <a:srgbClr val="5F6368"/>
                </a:solidFill>
                <a:latin typeface="Roboto" pitchFamily="34" charset="0"/>
                <a:ea typeface="Roboto" pitchFamily="34" charset="-122"/>
                <a:cs typeface="Roboto" pitchFamily="34" charset="-120"/>
              </a:rPr>
              <a:t>Una sal assecava el cos durant uns 40 dies.</a:t>
            </a:r>
            <a:endParaRPr lang="en-US" sz="1350" dirty="0"/>
          </a:p>
        </p:txBody>
      </p:sp>
      <p:sp>
        <p:nvSpPr>
          <p:cNvPr id="16" name="Fletxa 2"/>
          <p:cNvSpPr/>
          <p:nvPr/>
        </p:nvSpPr>
        <p:spPr>
          <a:xfrm>
            <a:off x="4858390" y="2240280"/>
            <a:ext cx="182880" cy="274320"/>
          </a:xfrm>
          <a:prstGeom prst="chevron">
            <a:avLst/>
          </a:prstGeom>
          <a:solidFill>
            <a:srgbClr val="188038"/>
          </a:solidFill>
          <a:ln/>
        </p:spPr>
      </p:sp>
      <p:sp>
        <p:nvSpPr>
          <p:cNvPr id="17" name="Pas 3"/>
          <p:cNvSpPr/>
          <p:nvPr/>
        </p:nvSpPr>
        <p:spPr>
          <a:xfrm>
            <a:off x="5150998" y="1371600"/>
            <a:ext cx="1889699" cy="3154680"/>
          </a:xfrm>
          <a:prstGeom prst="roundRect">
            <a:avLst>
              <a:gd name="adj" fmla="val 5323"/>
            </a:avLst>
          </a:prstGeom>
          <a:solidFill>
            <a:srgbClr val="FFFFFF"/>
          </a:solidFill>
          <a:ln w="12700">
            <a:solidFill>
              <a:srgbClr val="DADCE0"/>
            </a:solidFill>
            <a:prstDash val="solid"/>
          </a:ln>
        </p:spPr>
      </p:sp>
      <p:sp>
        <p:nvSpPr>
          <p:cNvPr id="18" name="Número del pas 3"/>
          <p:cNvSpPr/>
          <p:nvPr/>
        </p:nvSpPr>
        <p:spPr>
          <a:xfrm>
            <a:off x="5407030" y="1600200"/>
            <a:ext cx="420624" cy="420624"/>
          </a:xfrm>
          <a:prstGeom prst="ellipse">
            <a:avLst/>
          </a:prstGeom>
          <a:solidFill>
            <a:srgbClr val="E6F4EA"/>
          </a:solidFill>
          <a:ln/>
        </p:spPr>
      </p:sp>
      <p:sp>
        <p:nvSpPr>
          <p:cNvPr id="19" name="Text 17"/>
          <p:cNvSpPr txBox="1"/>
          <p:nvPr/>
        </p:nvSpPr>
        <p:spPr>
          <a:xfrm>
            <a:off x="5407030" y="1600200"/>
            <a:ext cx="420624" cy="420624"/>
          </a:xfrm>
          <a:prstGeom prst="rect">
            <a:avLst/>
          </a:prstGeom>
          <a:noFill/>
          <a:ln/>
        </p:spPr>
        <p:txBody>
          <a:bodyPr wrap="square" lIns="0" tIns="0" rIns="0" bIns="0" rtlCol="0" anchor="ctr"/>
          <a:lstStyle/>
          <a:p>
            <a:pPr algn="ctr" indent="0" marL="0">
              <a:buNone/>
            </a:pPr>
            <a:r>
              <a:rPr lang="en-US" sz="1500" b="1" dirty="0">
                <a:solidFill>
                  <a:srgbClr val="188038"/>
                </a:solidFill>
                <a:latin typeface="Roboto" pitchFamily="34" charset="0"/>
                <a:ea typeface="Roboto" pitchFamily="34" charset="-122"/>
                <a:cs typeface="Roboto" pitchFamily="34" charset="-120"/>
              </a:rPr>
              <a:t>3</a:t>
            </a:r>
            <a:endParaRPr lang="en-US" sz="1500" dirty="0"/>
          </a:p>
        </p:txBody>
      </p:sp>
      <p:sp>
        <p:nvSpPr>
          <p:cNvPr id="20" name="Text 18"/>
          <p:cNvSpPr txBox="1"/>
          <p:nvPr/>
        </p:nvSpPr>
        <p:spPr>
          <a:xfrm>
            <a:off x="5407030" y="2148840"/>
            <a:ext cx="1432499" cy="54864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Resines i olis</a:t>
            </a:r>
            <a:endParaRPr lang="en-US" sz="1600" dirty="0"/>
          </a:p>
        </p:txBody>
      </p:sp>
      <p:sp>
        <p:nvSpPr>
          <p:cNvPr id="21" name="Text 19"/>
          <p:cNvSpPr txBox="1"/>
          <p:nvPr/>
        </p:nvSpPr>
        <p:spPr>
          <a:xfrm>
            <a:off x="5407030" y="2743200"/>
            <a:ext cx="1432499" cy="1645920"/>
          </a:xfrm>
          <a:prstGeom prst="rect">
            <a:avLst/>
          </a:prstGeom>
          <a:noFill/>
          <a:ln/>
        </p:spPr>
        <p:txBody>
          <a:bodyPr wrap="square" lIns="0" tIns="0" rIns="0" bIns="0" rtlCol="0" anchor="t"/>
          <a:lstStyle/>
          <a:p>
            <a:pPr indent="0" marL="0">
              <a:buNone/>
            </a:pPr>
            <a:r>
              <a:rPr lang="en-US" sz="1350" dirty="0">
                <a:solidFill>
                  <a:srgbClr val="5F6368"/>
                </a:solidFill>
                <a:latin typeface="Roboto" pitchFamily="34" charset="0"/>
                <a:ea typeface="Roboto" pitchFamily="34" charset="-122"/>
                <a:cs typeface="Roboto" pitchFamily="34" charset="-120"/>
              </a:rPr>
              <a:t>L'omplien i el perfumaven amb resines, olis i ungüents.</a:t>
            </a:r>
            <a:endParaRPr lang="en-US" sz="1350" dirty="0"/>
          </a:p>
        </p:txBody>
      </p:sp>
      <p:sp>
        <p:nvSpPr>
          <p:cNvPr id="22" name="Fletxa 3"/>
          <p:cNvSpPr/>
          <p:nvPr/>
        </p:nvSpPr>
        <p:spPr>
          <a:xfrm>
            <a:off x="7159569" y="2240280"/>
            <a:ext cx="182880" cy="274320"/>
          </a:xfrm>
          <a:prstGeom prst="chevron">
            <a:avLst/>
          </a:prstGeom>
          <a:solidFill>
            <a:srgbClr val="188038"/>
          </a:solidFill>
          <a:ln/>
        </p:spPr>
      </p:sp>
      <p:sp>
        <p:nvSpPr>
          <p:cNvPr id="23" name="Pas 4"/>
          <p:cNvSpPr/>
          <p:nvPr/>
        </p:nvSpPr>
        <p:spPr>
          <a:xfrm>
            <a:off x="7452177" y="1371600"/>
            <a:ext cx="1889699" cy="3154680"/>
          </a:xfrm>
          <a:prstGeom prst="roundRect">
            <a:avLst>
              <a:gd name="adj" fmla="val 5323"/>
            </a:avLst>
          </a:prstGeom>
          <a:solidFill>
            <a:srgbClr val="FFFFFF"/>
          </a:solidFill>
          <a:ln w="12700">
            <a:solidFill>
              <a:srgbClr val="DADCE0"/>
            </a:solidFill>
            <a:prstDash val="solid"/>
          </a:ln>
        </p:spPr>
      </p:sp>
      <p:sp>
        <p:nvSpPr>
          <p:cNvPr id="24" name="Número del pas 4"/>
          <p:cNvSpPr/>
          <p:nvPr/>
        </p:nvSpPr>
        <p:spPr>
          <a:xfrm>
            <a:off x="7708209" y="1600200"/>
            <a:ext cx="420624" cy="420624"/>
          </a:xfrm>
          <a:prstGeom prst="ellipse">
            <a:avLst/>
          </a:prstGeom>
          <a:solidFill>
            <a:srgbClr val="E6F4EA"/>
          </a:solidFill>
          <a:ln/>
        </p:spPr>
      </p:sp>
      <p:sp>
        <p:nvSpPr>
          <p:cNvPr id="25" name="Text 23"/>
          <p:cNvSpPr txBox="1"/>
          <p:nvPr/>
        </p:nvSpPr>
        <p:spPr>
          <a:xfrm>
            <a:off x="7708209" y="1600200"/>
            <a:ext cx="420624" cy="420624"/>
          </a:xfrm>
          <a:prstGeom prst="rect">
            <a:avLst/>
          </a:prstGeom>
          <a:noFill/>
          <a:ln/>
        </p:spPr>
        <p:txBody>
          <a:bodyPr wrap="square" lIns="0" tIns="0" rIns="0" bIns="0" rtlCol="0" anchor="ctr"/>
          <a:lstStyle/>
          <a:p>
            <a:pPr algn="ctr" indent="0" marL="0">
              <a:buNone/>
            </a:pPr>
            <a:r>
              <a:rPr lang="en-US" sz="1500" b="1" dirty="0">
                <a:solidFill>
                  <a:srgbClr val="188038"/>
                </a:solidFill>
                <a:latin typeface="Roboto" pitchFamily="34" charset="0"/>
                <a:ea typeface="Roboto" pitchFamily="34" charset="-122"/>
                <a:cs typeface="Roboto" pitchFamily="34" charset="-120"/>
              </a:rPr>
              <a:t>4</a:t>
            </a:r>
            <a:endParaRPr lang="en-US" sz="1500" dirty="0"/>
          </a:p>
        </p:txBody>
      </p:sp>
      <p:sp>
        <p:nvSpPr>
          <p:cNvPr id="26" name="Text 24"/>
          <p:cNvSpPr txBox="1"/>
          <p:nvPr/>
        </p:nvSpPr>
        <p:spPr>
          <a:xfrm>
            <a:off x="7708209" y="2148840"/>
            <a:ext cx="1432499" cy="54864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Les benes</a:t>
            </a:r>
            <a:endParaRPr lang="en-US" sz="1600" dirty="0"/>
          </a:p>
        </p:txBody>
      </p:sp>
      <p:sp>
        <p:nvSpPr>
          <p:cNvPr id="27" name="Text 25"/>
          <p:cNvSpPr txBox="1"/>
          <p:nvPr/>
        </p:nvSpPr>
        <p:spPr>
          <a:xfrm>
            <a:off x="7708209" y="2743200"/>
            <a:ext cx="1432499" cy="1645920"/>
          </a:xfrm>
          <a:prstGeom prst="rect">
            <a:avLst/>
          </a:prstGeom>
          <a:noFill/>
          <a:ln/>
        </p:spPr>
        <p:txBody>
          <a:bodyPr wrap="square" lIns="0" tIns="0" rIns="0" bIns="0" rtlCol="0" anchor="t"/>
          <a:lstStyle/>
          <a:p>
            <a:pPr indent="0" marL="0">
              <a:buNone/>
            </a:pPr>
            <a:r>
              <a:rPr lang="en-US" sz="1350" dirty="0">
                <a:solidFill>
                  <a:srgbClr val="5F6368"/>
                </a:solidFill>
                <a:latin typeface="Roboto" pitchFamily="34" charset="0"/>
                <a:ea typeface="Roboto" pitchFamily="34" charset="-122"/>
                <a:cs typeface="Roboto" pitchFamily="34" charset="-120"/>
              </a:rPr>
              <a:t>Metres i metres de benes de lli, amb amulets entre les capes.</a:t>
            </a:r>
            <a:endParaRPr lang="en-US" sz="1350" dirty="0"/>
          </a:p>
        </p:txBody>
      </p:sp>
      <p:sp>
        <p:nvSpPr>
          <p:cNvPr id="28" name="Fletxa 4"/>
          <p:cNvSpPr/>
          <p:nvPr/>
        </p:nvSpPr>
        <p:spPr>
          <a:xfrm>
            <a:off x="9460748" y="2240280"/>
            <a:ext cx="182880" cy="274320"/>
          </a:xfrm>
          <a:prstGeom prst="chevron">
            <a:avLst/>
          </a:prstGeom>
          <a:solidFill>
            <a:srgbClr val="188038"/>
          </a:solidFill>
          <a:ln/>
        </p:spPr>
      </p:sp>
      <p:sp>
        <p:nvSpPr>
          <p:cNvPr id="29" name="Pas 5"/>
          <p:cNvSpPr/>
          <p:nvPr/>
        </p:nvSpPr>
        <p:spPr>
          <a:xfrm>
            <a:off x="9753356" y="1371600"/>
            <a:ext cx="1889699" cy="3154680"/>
          </a:xfrm>
          <a:prstGeom prst="roundRect">
            <a:avLst>
              <a:gd name="adj" fmla="val 5323"/>
            </a:avLst>
          </a:prstGeom>
          <a:solidFill>
            <a:srgbClr val="FFFFFF"/>
          </a:solidFill>
          <a:ln w="12700">
            <a:solidFill>
              <a:srgbClr val="DADCE0"/>
            </a:solidFill>
            <a:prstDash val="solid"/>
          </a:ln>
        </p:spPr>
      </p:sp>
      <p:sp>
        <p:nvSpPr>
          <p:cNvPr id="30" name="Número del pas 5"/>
          <p:cNvSpPr/>
          <p:nvPr/>
        </p:nvSpPr>
        <p:spPr>
          <a:xfrm>
            <a:off x="10009388" y="1600200"/>
            <a:ext cx="420624" cy="420624"/>
          </a:xfrm>
          <a:prstGeom prst="ellipse">
            <a:avLst/>
          </a:prstGeom>
          <a:solidFill>
            <a:srgbClr val="E6F4EA"/>
          </a:solidFill>
          <a:ln/>
        </p:spPr>
      </p:sp>
      <p:sp>
        <p:nvSpPr>
          <p:cNvPr id="31" name="Text 29"/>
          <p:cNvSpPr txBox="1"/>
          <p:nvPr/>
        </p:nvSpPr>
        <p:spPr>
          <a:xfrm>
            <a:off x="10009388" y="1600200"/>
            <a:ext cx="420624" cy="420624"/>
          </a:xfrm>
          <a:prstGeom prst="rect">
            <a:avLst/>
          </a:prstGeom>
          <a:noFill/>
          <a:ln/>
        </p:spPr>
        <p:txBody>
          <a:bodyPr wrap="square" lIns="0" tIns="0" rIns="0" bIns="0" rtlCol="0" anchor="ctr"/>
          <a:lstStyle/>
          <a:p>
            <a:pPr algn="ctr" indent="0" marL="0">
              <a:buNone/>
            </a:pPr>
            <a:r>
              <a:rPr lang="en-US" sz="1500" b="1" dirty="0">
                <a:solidFill>
                  <a:srgbClr val="188038"/>
                </a:solidFill>
                <a:latin typeface="Roboto" pitchFamily="34" charset="0"/>
                <a:ea typeface="Roboto" pitchFamily="34" charset="-122"/>
                <a:cs typeface="Roboto" pitchFamily="34" charset="-120"/>
              </a:rPr>
              <a:t>5</a:t>
            </a:r>
            <a:endParaRPr lang="en-US" sz="1500" dirty="0"/>
          </a:p>
        </p:txBody>
      </p:sp>
      <p:sp>
        <p:nvSpPr>
          <p:cNvPr id="32" name="Text 30"/>
          <p:cNvSpPr txBox="1"/>
          <p:nvPr/>
        </p:nvSpPr>
        <p:spPr>
          <a:xfrm>
            <a:off x="10009388" y="2148840"/>
            <a:ext cx="1432499" cy="548640"/>
          </a:xfrm>
          <a:prstGeom prst="rect">
            <a:avLst/>
          </a:prstGeom>
          <a:noFill/>
          <a:ln/>
        </p:spPr>
        <p:txBody>
          <a:bodyPr wrap="square" lIns="0" tIns="0" rIns="0" bIns="0" rtlCol="0" anchor="t"/>
          <a:lstStyle/>
          <a:p>
            <a:pPr indent="0" marL="0">
              <a:buNone/>
            </a:pPr>
            <a:r>
              <a:rPr lang="en-US" sz="1600" b="1" dirty="0">
                <a:solidFill>
                  <a:srgbClr val="202124"/>
                </a:solidFill>
                <a:latin typeface="Roboto" pitchFamily="34" charset="0"/>
                <a:ea typeface="Roboto" pitchFamily="34" charset="-122"/>
                <a:cs typeface="Roboto" pitchFamily="34" charset="-120"/>
              </a:rPr>
              <a:t>El sarcòfag</a:t>
            </a:r>
            <a:endParaRPr lang="en-US" sz="1600" dirty="0"/>
          </a:p>
        </p:txBody>
      </p:sp>
      <p:sp>
        <p:nvSpPr>
          <p:cNvPr id="33" name="Text 31"/>
          <p:cNvSpPr txBox="1"/>
          <p:nvPr/>
        </p:nvSpPr>
        <p:spPr>
          <a:xfrm>
            <a:off x="10009388" y="2743200"/>
            <a:ext cx="1432499" cy="1645920"/>
          </a:xfrm>
          <a:prstGeom prst="rect">
            <a:avLst/>
          </a:prstGeom>
          <a:noFill/>
          <a:ln/>
        </p:spPr>
        <p:txBody>
          <a:bodyPr wrap="square" lIns="0" tIns="0" rIns="0" bIns="0" rtlCol="0" anchor="t"/>
          <a:lstStyle/>
          <a:p>
            <a:pPr indent="0" marL="0">
              <a:buNone/>
            </a:pPr>
            <a:r>
              <a:rPr lang="en-US" sz="1350" dirty="0">
                <a:solidFill>
                  <a:srgbClr val="5F6368"/>
                </a:solidFill>
                <a:latin typeface="Roboto" pitchFamily="34" charset="0"/>
                <a:ea typeface="Roboto" pitchFamily="34" charset="-122"/>
                <a:cs typeface="Roboto" pitchFamily="34" charset="-120"/>
              </a:rPr>
              <a:t>Un o més sarcòfags i l'aixovar, amb el Llibre dels Morts.</a:t>
            </a:r>
            <a:endParaRPr lang="en-US" sz="1350" dirty="0"/>
          </a:p>
        </p:txBody>
      </p:sp>
      <p:sp>
        <p:nvSpPr>
          <p:cNvPr id="34" name="Text 32"/>
          <p:cNvSpPr txBox="1"/>
          <p:nvPr/>
        </p:nvSpPr>
        <p:spPr>
          <a:xfrm>
            <a:off x="548640" y="4709160"/>
            <a:ext cx="2834640" cy="1280160"/>
          </a:xfrm>
          <a:prstGeom prst="rect">
            <a:avLst/>
          </a:prstGeom>
          <a:noFill/>
          <a:ln/>
        </p:spPr>
        <p:txBody>
          <a:bodyPr wrap="square" lIns="0" tIns="0" rIns="0" bIns="0" rtlCol="0" anchor="ctr"/>
          <a:lstStyle/>
          <a:p>
            <a:pPr indent="0" marL="0">
              <a:buNone/>
            </a:pPr>
            <a:r>
              <a:rPr lang="en-US" sz="3000" b="1" dirty="0">
                <a:solidFill>
                  <a:srgbClr val="188038"/>
                </a:solidFill>
                <a:latin typeface="Roboto" pitchFamily="34" charset="0"/>
                <a:ea typeface="Roboto" pitchFamily="34" charset="-122"/>
                <a:cs typeface="Roboto" pitchFamily="34" charset="-120"/>
              </a:rPr>
              <a:t>Uns 70 dies</a:t>
            </a:r>
            <a:endParaRPr lang="en-US" sz="3000" dirty="0"/>
          </a:p>
          <a:p>
            <a:pPr indent="0" marL="0">
              <a:buNone/>
            </a:pPr>
            <a:r>
              <a:rPr lang="en-US" sz="1500" dirty="0">
                <a:solidFill>
                  <a:srgbClr val="202124"/>
                </a:solidFill>
                <a:latin typeface="Roboto" pitchFamily="34" charset="0"/>
                <a:ea typeface="Roboto" pitchFamily="34" charset="-122"/>
                <a:cs typeface="Roboto" pitchFamily="34" charset="-120"/>
              </a:rPr>
              <a:t>durava tot el procés.</a:t>
            </a:r>
            <a:endParaRPr lang="en-US" sz="3000" dirty="0"/>
          </a:p>
        </p:txBody>
      </p:sp>
      <p:sp>
        <p:nvSpPr>
          <p:cNvPr id="35" name="Només per als rics"/>
          <p:cNvSpPr/>
          <p:nvPr/>
        </p:nvSpPr>
        <p:spPr>
          <a:xfrm>
            <a:off x="3566160" y="4709160"/>
            <a:ext cx="8076895" cy="1280160"/>
          </a:xfrm>
          <a:prstGeom prst="roundRect">
            <a:avLst>
              <a:gd name="adj" fmla="val 7857"/>
            </a:avLst>
          </a:prstGeom>
          <a:solidFill>
            <a:srgbClr val="F6F8FB"/>
          </a:solidFill>
          <a:ln/>
        </p:spPr>
      </p:sp>
      <p:sp>
        <p:nvSpPr>
          <p:cNvPr id="36" name="Text 34"/>
          <p:cNvSpPr txBox="1"/>
          <p:nvPr/>
        </p:nvSpPr>
        <p:spPr>
          <a:xfrm>
            <a:off x="3886200" y="4864608"/>
            <a:ext cx="743681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Només per als rics</a:t>
            </a:r>
            <a:endParaRPr lang="en-US" sz="1400" dirty="0"/>
          </a:p>
        </p:txBody>
      </p:sp>
      <p:sp>
        <p:nvSpPr>
          <p:cNvPr id="37" name="Text 35"/>
          <p:cNvSpPr txBox="1"/>
          <p:nvPr/>
        </p:nvSpPr>
        <p:spPr>
          <a:xfrm>
            <a:off x="3886200" y="5212080"/>
            <a:ext cx="7436815" cy="640080"/>
          </a:xfrm>
          <a:prstGeom prst="rect">
            <a:avLst/>
          </a:prstGeom>
          <a:noFill/>
          <a:ln/>
        </p:spPr>
        <p:txBody>
          <a:bodyPr wrap="square" lIns="0" tIns="0" rIns="0" bIns="0" rtlCol="0" anchor="t"/>
          <a:lstStyle/>
          <a:p>
            <a:pPr indent="0" marL="0">
              <a:buNone/>
            </a:pPr>
            <a:r>
              <a:rPr lang="en-US" sz="1550" dirty="0">
                <a:solidFill>
                  <a:srgbClr val="5F6368"/>
                </a:solidFill>
                <a:latin typeface="Roboto" pitchFamily="34" charset="0"/>
                <a:ea typeface="Roboto" pitchFamily="34" charset="-122"/>
                <a:cs typeface="Roboto" pitchFamily="34" charset="-120"/>
              </a:rPr>
              <a:t>La gent senzilla s'enterrava al desert, on la sorra calenta i seca, irònicament, momificava els cossos de franc.</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Mesopotàmia i Egipte, cara a cara</a:t>
            </a:r>
            <a:endParaRPr lang="en-US" sz="28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286000"/>
                <a:gridCol w="4404208"/>
                <a:gridCol w="4404208"/>
              </a:tblGrid>
              <a:tr h="457200">
                <a:tc>
                  <a:txBody>
                    <a:bodyPr/>
                    <a:lstStyle/>
                    <a:p>
                      <a:pPr indent="0" marL="0">
                        <a:buNone/>
                      </a:pP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188038"/>
                    </a:solidFill>
                  </a:tcPr>
                </a:tc>
                <a:tc>
                  <a:txBody>
                    <a:bodyPr/>
                    <a:lstStyle/>
                    <a:p>
                      <a:pPr indent="0" marL="0">
                        <a:buNone/>
                      </a:pPr>
                      <a:r>
                        <a:rPr lang="en-US" sz="1700" b="1" dirty="0">
                          <a:solidFill>
                            <a:srgbClr val="FFFFFF"/>
                          </a:solidFill>
                          <a:latin typeface="Roboto" pitchFamily="34" charset="0"/>
                          <a:ea typeface="Roboto" pitchFamily="34" charset="-122"/>
                          <a:cs typeface="Roboto" pitchFamily="34" charset="-120"/>
                        </a:rPr>
                        <a:t>Mesopotàmia</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188038"/>
                    </a:solidFill>
                  </a:tcPr>
                </a:tc>
                <a:tc>
                  <a:txBody>
                    <a:bodyPr/>
                    <a:lstStyle/>
                    <a:p>
                      <a:pPr indent="0" marL="0">
                        <a:buNone/>
                      </a:pPr>
                      <a:r>
                        <a:rPr lang="en-US" sz="1700" b="1" dirty="0">
                          <a:solidFill>
                            <a:srgbClr val="FFFFFF"/>
                          </a:solidFill>
                          <a:latin typeface="Roboto" pitchFamily="34" charset="0"/>
                          <a:ea typeface="Roboto" pitchFamily="34" charset="-122"/>
                          <a:cs typeface="Roboto" pitchFamily="34" charset="-120"/>
                        </a:rPr>
                        <a:t>Egipte</a:t>
                      </a:r>
                      <a:endParaRPr lang="en-US" sz="17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188038"/>
                    </a:solidFill>
                  </a:tcPr>
                </a:tc>
              </a:tr>
              <a:tr h="585216">
                <a:tc>
                  <a:txBody>
                    <a:bodyPr/>
                    <a:lstStyle/>
                    <a:p>
                      <a:pPr indent="0" marL="0">
                        <a:buNone/>
                      </a:pPr>
                      <a:r>
                        <a:rPr lang="en-US" sz="1500" b="1" dirty="0">
                          <a:solidFill>
                            <a:srgbClr val="188038"/>
                          </a:solidFill>
                          <a:latin typeface="Roboto" pitchFamily="34" charset="0"/>
                          <a:ea typeface="Roboto" pitchFamily="34" charset="-122"/>
                          <a:cs typeface="Roboto" pitchFamily="34" charset="-120"/>
                        </a:rPr>
                        <a:t>Geografia</a:t>
                      </a:r>
                      <a:endParaRPr lang="en-US" sz="1500" dirty="0">
                        <a:latin typeface="Roboto" charset="0"/>
                        <a:ea typeface="Roboto" charset="0"/>
                        <a:cs typeface="Roboto" charset="0"/>
                      </a:endParaRPr>
                    </a:p>
                  </a:txBody>
                  <a:tcPr marL="5588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Una plana oberta, fàcil d'envair</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Una vall estreta, protegida pels deserts</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585216">
                <a:tc>
                  <a:txBody>
                    <a:bodyPr/>
                    <a:lstStyle/>
                    <a:p>
                      <a:pPr indent="0" marL="0">
                        <a:buNone/>
                      </a:pPr>
                      <a:r>
                        <a:rPr lang="en-US" sz="1500" b="1" dirty="0">
                          <a:solidFill>
                            <a:srgbClr val="188038"/>
                          </a:solidFill>
                          <a:latin typeface="Roboto" pitchFamily="34" charset="0"/>
                          <a:ea typeface="Roboto" pitchFamily="34" charset="-122"/>
                          <a:cs typeface="Roboto" pitchFamily="34" charset="-120"/>
                        </a:rPr>
                        <a:t>Govern</a:t>
                      </a:r>
                      <a:endParaRPr lang="en-US" sz="1500" dirty="0">
                        <a:latin typeface="Roboto" charset="0"/>
                        <a:ea typeface="Roboto" charset="0"/>
                        <a:cs typeface="Roboto" charset="0"/>
                      </a:endParaRPr>
                    </a:p>
                  </a:txBody>
                  <a:tcPr marL="5588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Ciutats-estat i, més tard, imperis</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Un sol regne, unit la major part del temps</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585216">
                <a:tc>
                  <a:txBody>
                    <a:bodyPr/>
                    <a:lstStyle/>
                    <a:p>
                      <a:pPr indent="0" marL="0">
                        <a:buNone/>
                      </a:pPr>
                      <a:r>
                        <a:rPr lang="en-US" sz="1500" b="1" dirty="0">
                          <a:solidFill>
                            <a:srgbClr val="188038"/>
                          </a:solidFill>
                          <a:latin typeface="Roboto" pitchFamily="34" charset="0"/>
                          <a:ea typeface="Roboto" pitchFamily="34" charset="-122"/>
                          <a:cs typeface="Roboto" pitchFamily="34" charset="-120"/>
                        </a:rPr>
                        <a:t>El rei</a:t>
                      </a:r>
                      <a:endParaRPr lang="en-US" sz="1500" dirty="0">
                        <a:latin typeface="Roboto" charset="0"/>
                        <a:ea typeface="Roboto" charset="0"/>
                        <a:cs typeface="Roboto" charset="0"/>
                      </a:endParaRPr>
                    </a:p>
                  </a:txBody>
                  <a:tcPr marL="5588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Representant dels déus</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Un déu vivent</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585216">
                <a:tc>
                  <a:txBody>
                    <a:bodyPr/>
                    <a:lstStyle/>
                    <a:p>
                      <a:pPr indent="0" marL="0">
                        <a:buNone/>
                      </a:pPr>
                      <a:r>
                        <a:rPr lang="en-US" sz="1500" b="1" dirty="0">
                          <a:solidFill>
                            <a:srgbClr val="188038"/>
                          </a:solidFill>
                          <a:latin typeface="Roboto" pitchFamily="34" charset="0"/>
                          <a:ea typeface="Roboto" pitchFamily="34" charset="-122"/>
                          <a:cs typeface="Roboto" pitchFamily="34" charset="-120"/>
                        </a:rPr>
                        <a:t>Els déus</a:t>
                      </a:r>
                      <a:endParaRPr lang="en-US" sz="1500" dirty="0">
                        <a:latin typeface="Roboto" charset="0"/>
                        <a:ea typeface="Roboto" charset="0"/>
                        <a:cs typeface="Roboto" charset="0"/>
                      </a:endParaRPr>
                    </a:p>
                  </a:txBody>
                  <a:tcPr marL="5588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Amb forma humana</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Sovint amb cos humà i cap d'animal</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585216">
                <a:tc>
                  <a:txBody>
                    <a:bodyPr/>
                    <a:lstStyle/>
                    <a:p>
                      <a:pPr indent="0" marL="0">
                        <a:buNone/>
                      </a:pPr>
                      <a:r>
                        <a:rPr lang="en-US" sz="1500" b="1" dirty="0">
                          <a:solidFill>
                            <a:srgbClr val="188038"/>
                          </a:solidFill>
                          <a:latin typeface="Roboto" pitchFamily="34" charset="0"/>
                          <a:ea typeface="Roboto" pitchFamily="34" charset="-122"/>
                          <a:cs typeface="Roboto" pitchFamily="34" charset="-120"/>
                        </a:rPr>
                        <a:t>El més enllà</a:t>
                      </a:r>
                      <a:endParaRPr lang="en-US" sz="1500" dirty="0">
                        <a:latin typeface="Roboto" charset="0"/>
                        <a:ea typeface="Roboto" charset="0"/>
                        <a:cs typeface="Roboto" charset="0"/>
                      </a:endParaRPr>
                    </a:p>
                  </a:txBody>
                  <a:tcPr marL="5588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Un «país sense retorn», fosc i trist per a tothom</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Vida eterna per a qui superava el judici d'Osiris</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585216">
                <a:tc>
                  <a:txBody>
                    <a:bodyPr/>
                    <a:lstStyle/>
                    <a:p>
                      <a:pPr indent="0" marL="0">
                        <a:buNone/>
                      </a:pPr>
                      <a:r>
                        <a:rPr lang="en-US" sz="1500" b="1" dirty="0">
                          <a:solidFill>
                            <a:srgbClr val="188038"/>
                          </a:solidFill>
                          <a:latin typeface="Roboto" pitchFamily="34" charset="0"/>
                          <a:ea typeface="Roboto" pitchFamily="34" charset="-122"/>
                          <a:cs typeface="Roboto" pitchFamily="34" charset="-120"/>
                        </a:rPr>
                        <a:t>Escriptura</a:t>
                      </a:r>
                      <a:endParaRPr lang="en-US" sz="1500" dirty="0">
                        <a:latin typeface="Roboto" charset="0"/>
                        <a:ea typeface="Roboto" charset="0"/>
                        <a:cs typeface="Roboto" charset="0"/>
                      </a:endParaRPr>
                    </a:p>
                  </a:txBody>
                  <a:tcPr marL="5588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Cuneïforme, en tauletes de fang</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Jeroglífics, en pedra i papir</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r h="585216">
                <a:tc>
                  <a:txBody>
                    <a:bodyPr/>
                    <a:lstStyle/>
                    <a:p>
                      <a:pPr indent="0" marL="0">
                        <a:buNone/>
                      </a:pPr>
                      <a:r>
                        <a:rPr lang="en-US" sz="1500" b="1" dirty="0">
                          <a:solidFill>
                            <a:srgbClr val="188038"/>
                          </a:solidFill>
                          <a:latin typeface="Roboto" pitchFamily="34" charset="0"/>
                          <a:ea typeface="Roboto" pitchFamily="34" charset="-122"/>
                          <a:cs typeface="Roboto" pitchFamily="34" charset="-120"/>
                        </a:rPr>
                        <a:t>Construccions</a:t>
                      </a:r>
                      <a:endParaRPr lang="en-US" sz="1500" dirty="0">
                        <a:latin typeface="Roboto" charset="0"/>
                        <a:ea typeface="Roboto" charset="0"/>
                        <a:cs typeface="Roboto" charset="0"/>
                      </a:endParaRPr>
                    </a:p>
                  </a:txBody>
                  <a:tcPr marL="558800" marR="1016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E6F4EA"/>
                    </a:solidFill>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Ziggurats de maó</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c>
                  <a:txBody>
                    <a:bodyPr/>
                    <a:lstStyle/>
                    <a:p>
                      <a:pPr indent="0" marL="0">
                        <a:buNone/>
                      </a:pPr>
                      <a:r>
                        <a:rPr lang="en-US" sz="1500" dirty="0">
                          <a:solidFill>
                            <a:srgbClr val="202124"/>
                          </a:solidFill>
                          <a:latin typeface="Roboto" pitchFamily="34" charset="0"/>
                          <a:ea typeface="Roboto" pitchFamily="34" charset="-122"/>
                          <a:cs typeface="Roboto" pitchFamily="34" charset="-120"/>
                        </a:rPr>
                        <a:t>Piràmides i temples de pedra</a:t>
                      </a:r>
                      <a:endParaRPr lang="en-US" sz="1500" dirty="0">
                        <a:latin typeface="Roboto" charset="0"/>
                        <a:ea typeface="Roboto" charset="0"/>
                        <a:cs typeface="Roboto" charset="0"/>
                      </a:endParaRPr>
                    </a:p>
                  </a:txBody>
                  <a:tcPr marL="127000" marR="1270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tcPr>
                </a:tc>
              </a:tr>
            </a:tbl>
          </a:graphicData>
        </a:graphic>
      </p:graphicFrame>
      <p:pic>
        <p:nvPicPr>
          <p:cNvPr id="6" name="Icona TbMapPin" descr="/home/claude/pc/build/1r-eso-civilitzacions/img/ic/TbMapPin-g.png">    </p:cNvPr>
          <p:cNvPicPr>
            <a:picLocks noChangeAspect="1"/>
          </p:cNvPicPr>
          <p:nvPr/>
        </p:nvPicPr>
        <p:blipFill>
          <a:blip r:embed="rId1"/>
          <a:stretch>
            <a:fillRect/>
          </a:stretch>
        </p:blipFill>
        <p:spPr>
          <a:xfrm>
            <a:off x="640080" y="1956816"/>
            <a:ext cx="329184" cy="329184"/>
          </a:xfrm>
          <a:prstGeom prst="rect">
            <a:avLst/>
          </a:prstGeom>
        </p:spPr>
      </p:pic>
      <p:pic>
        <p:nvPicPr>
          <p:cNvPr id="7" name="Icona TbBuildingCommunity" descr="/home/claude/pc/build/1r-eso-civilitzacions/img/ic/TbBuildingCommunity-g.png">    </p:cNvPr>
          <p:cNvPicPr>
            <a:picLocks noChangeAspect="1"/>
          </p:cNvPicPr>
          <p:nvPr/>
        </p:nvPicPr>
        <p:blipFill>
          <a:blip r:embed="rId2"/>
          <a:stretch>
            <a:fillRect/>
          </a:stretch>
        </p:blipFill>
        <p:spPr>
          <a:xfrm>
            <a:off x="640080" y="2542032"/>
            <a:ext cx="329184" cy="329184"/>
          </a:xfrm>
          <a:prstGeom prst="rect">
            <a:avLst/>
          </a:prstGeom>
        </p:spPr>
      </p:pic>
      <p:pic>
        <p:nvPicPr>
          <p:cNvPr id="8" name="Icona TbCrown" descr="/home/claude/pc/build/1r-eso-civilitzacions/img/ic/TbCrown-g.png">    </p:cNvPr>
          <p:cNvPicPr>
            <a:picLocks noChangeAspect="1"/>
          </p:cNvPicPr>
          <p:nvPr/>
        </p:nvPicPr>
        <p:blipFill>
          <a:blip r:embed="rId3"/>
          <a:stretch>
            <a:fillRect/>
          </a:stretch>
        </p:blipFill>
        <p:spPr>
          <a:xfrm>
            <a:off x="640080" y="3127248"/>
            <a:ext cx="329184" cy="329184"/>
          </a:xfrm>
          <a:prstGeom prst="rect">
            <a:avLst/>
          </a:prstGeom>
        </p:spPr>
      </p:pic>
      <p:pic>
        <p:nvPicPr>
          <p:cNvPr id="9" name="Icona TbSun" descr="/home/claude/pc/build/1r-eso-civilitzacions/img/ic/TbSun-g.png">    </p:cNvPr>
          <p:cNvPicPr>
            <a:picLocks noChangeAspect="1"/>
          </p:cNvPicPr>
          <p:nvPr/>
        </p:nvPicPr>
        <p:blipFill>
          <a:blip r:embed="rId4"/>
          <a:stretch>
            <a:fillRect/>
          </a:stretch>
        </p:blipFill>
        <p:spPr>
          <a:xfrm>
            <a:off x="640080" y="3712464"/>
            <a:ext cx="329184" cy="329184"/>
          </a:xfrm>
          <a:prstGeom prst="rect">
            <a:avLst/>
          </a:prstGeom>
        </p:spPr>
      </p:pic>
      <p:pic>
        <p:nvPicPr>
          <p:cNvPr id="10" name="Icona TbSkull" descr="/home/claude/pc/build/1r-eso-civilitzacions/img/ic/TbSkull-g.png">    </p:cNvPr>
          <p:cNvPicPr>
            <a:picLocks noChangeAspect="1"/>
          </p:cNvPicPr>
          <p:nvPr/>
        </p:nvPicPr>
        <p:blipFill>
          <a:blip r:embed="rId5"/>
          <a:stretch>
            <a:fillRect/>
          </a:stretch>
        </p:blipFill>
        <p:spPr>
          <a:xfrm>
            <a:off x="640080" y="4297680"/>
            <a:ext cx="329184" cy="329184"/>
          </a:xfrm>
          <a:prstGeom prst="rect">
            <a:avLst/>
          </a:prstGeom>
        </p:spPr>
      </p:pic>
      <p:pic>
        <p:nvPicPr>
          <p:cNvPr id="11" name="Icona TbWriting" descr="/home/claude/pc/build/1r-eso-civilitzacions/img/ic/TbWriting-g.png">    </p:cNvPr>
          <p:cNvPicPr>
            <a:picLocks noChangeAspect="1"/>
          </p:cNvPicPr>
          <p:nvPr/>
        </p:nvPicPr>
        <p:blipFill>
          <a:blip r:embed="rId6"/>
          <a:stretch>
            <a:fillRect/>
          </a:stretch>
        </p:blipFill>
        <p:spPr>
          <a:xfrm>
            <a:off x="640080" y="4882896"/>
            <a:ext cx="329184" cy="329184"/>
          </a:xfrm>
          <a:prstGeom prst="rect">
            <a:avLst/>
          </a:prstGeom>
        </p:spPr>
      </p:pic>
      <p:pic>
        <p:nvPicPr>
          <p:cNvPr id="12" name="Icona TbPyramid" descr="/home/claude/pc/build/1r-eso-civilitzacions/img/ic/TbPyramid-g.png">    </p:cNvPr>
          <p:cNvPicPr>
            <a:picLocks noChangeAspect="1"/>
          </p:cNvPicPr>
          <p:nvPr/>
        </p:nvPicPr>
        <p:blipFill>
          <a:blip r:embed="rId7"/>
          <a:stretch>
            <a:fillRect/>
          </a:stretch>
        </p:blipFill>
        <p:spPr>
          <a:xfrm>
            <a:off x="640080" y="5468112"/>
            <a:ext cx="329184" cy="329184"/>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Escriba"/>
          <p:cNvSpPr/>
          <p:nvPr/>
        </p:nvSpPr>
        <p:spPr>
          <a:xfrm>
            <a:off x="548640" y="1755648"/>
            <a:ext cx="1014984" cy="384048"/>
          </a:xfrm>
          <a:prstGeom prst="roundRect">
            <a:avLst>
              <a:gd name="adj" fmla="val 50000"/>
            </a:avLst>
          </a:prstGeom>
          <a:solidFill>
            <a:srgbClr val="E6F4EA"/>
          </a:solidFill>
          <a:ln/>
        </p:spPr>
      </p:sp>
      <p:sp>
        <p:nvSpPr>
          <p:cNvPr id="7" name="Text 5"/>
          <p:cNvSpPr txBox="1"/>
          <p:nvPr/>
        </p:nvSpPr>
        <p:spPr>
          <a:xfrm>
            <a:off x="548640"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Escriba</a:t>
            </a:r>
            <a:endParaRPr lang="en-US" sz="1500" dirty="0"/>
          </a:p>
        </p:txBody>
      </p:sp>
      <p:sp>
        <p:nvSpPr>
          <p:cNvPr id="8" name="Etiqueta Akhet"/>
          <p:cNvSpPr/>
          <p:nvPr/>
        </p:nvSpPr>
        <p:spPr>
          <a:xfrm>
            <a:off x="1673352" y="1755648"/>
            <a:ext cx="813816" cy="384048"/>
          </a:xfrm>
          <a:prstGeom prst="roundRect">
            <a:avLst>
              <a:gd name="adj" fmla="val 50000"/>
            </a:avLst>
          </a:prstGeom>
          <a:solidFill>
            <a:srgbClr val="E6F4EA"/>
          </a:solidFill>
          <a:ln/>
        </p:spPr>
      </p:sp>
      <p:sp>
        <p:nvSpPr>
          <p:cNvPr id="9" name="Text 7"/>
          <p:cNvSpPr txBox="1"/>
          <p:nvPr/>
        </p:nvSpPr>
        <p:spPr>
          <a:xfrm>
            <a:off x="1673352"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Akhet</a:t>
            </a:r>
            <a:endParaRPr lang="en-US" sz="1500" dirty="0"/>
          </a:p>
        </p:txBody>
      </p:sp>
      <p:sp>
        <p:nvSpPr>
          <p:cNvPr id="10" name="Etiqueta Politeisme"/>
          <p:cNvSpPr/>
          <p:nvPr/>
        </p:nvSpPr>
        <p:spPr>
          <a:xfrm>
            <a:off x="2596896" y="1755648"/>
            <a:ext cx="1316736" cy="384048"/>
          </a:xfrm>
          <a:prstGeom prst="roundRect">
            <a:avLst>
              <a:gd name="adj" fmla="val 50000"/>
            </a:avLst>
          </a:prstGeom>
          <a:solidFill>
            <a:srgbClr val="E6F4EA"/>
          </a:solidFill>
          <a:ln/>
        </p:spPr>
      </p:sp>
      <p:sp>
        <p:nvSpPr>
          <p:cNvPr id="11" name="Text 9"/>
          <p:cNvSpPr txBox="1"/>
          <p:nvPr/>
        </p:nvSpPr>
        <p:spPr>
          <a:xfrm>
            <a:off x="2596896" y="1755648"/>
            <a:ext cx="131673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Politeisme</a:t>
            </a:r>
            <a:endParaRPr lang="en-US" sz="1500" dirty="0"/>
          </a:p>
        </p:txBody>
      </p:sp>
      <p:sp>
        <p:nvSpPr>
          <p:cNvPr id="12" name="Etiqueta Judici d'Osiris"/>
          <p:cNvSpPr/>
          <p:nvPr/>
        </p:nvSpPr>
        <p:spPr>
          <a:xfrm>
            <a:off x="4023360" y="1755648"/>
            <a:ext cx="1819656" cy="384048"/>
          </a:xfrm>
          <a:prstGeom prst="roundRect">
            <a:avLst>
              <a:gd name="adj" fmla="val 50000"/>
            </a:avLst>
          </a:prstGeom>
          <a:solidFill>
            <a:srgbClr val="E6F4EA"/>
          </a:solidFill>
          <a:ln/>
        </p:spPr>
      </p:sp>
      <p:sp>
        <p:nvSpPr>
          <p:cNvPr id="13" name="Text 11"/>
          <p:cNvSpPr txBox="1"/>
          <p:nvPr/>
        </p:nvSpPr>
        <p:spPr>
          <a:xfrm>
            <a:off x="4023360" y="1755648"/>
            <a:ext cx="181965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Judici d'Osiris</a:t>
            </a:r>
            <a:endParaRPr lang="en-US" sz="1500" dirty="0"/>
          </a:p>
        </p:txBody>
      </p:sp>
      <p:sp>
        <p:nvSpPr>
          <p:cNvPr id="14" name="Etiqueta Momificació"/>
          <p:cNvSpPr/>
          <p:nvPr/>
        </p:nvSpPr>
        <p:spPr>
          <a:xfrm>
            <a:off x="5952744" y="1755648"/>
            <a:ext cx="1417320" cy="384048"/>
          </a:xfrm>
          <a:prstGeom prst="roundRect">
            <a:avLst>
              <a:gd name="adj" fmla="val 50000"/>
            </a:avLst>
          </a:prstGeom>
          <a:solidFill>
            <a:srgbClr val="E6F4EA"/>
          </a:solidFill>
          <a:ln/>
        </p:spPr>
      </p:sp>
      <p:sp>
        <p:nvSpPr>
          <p:cNvPr id="15" name="Text 13"/>
          <p:cNvSpPr txBox="1"/>
          <p:nvPr/>
        </p:nvSpPr>
        <p:spPr>
          <a:xfrm>
            <a:off x="5952744"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Momificació</a:t>
            </a:r>
            <a:endParaRPr lang="en-US" sz="1500" dirty="0"/>
          </a:p>
        </p:txBody>
      </p:sp>
      <p:sp>
        <p:nvSpPr>
          <p:cNvPr id="16" name="Etiqueta Vasos canopis"/>
          <p:cNvSpPr/>
          <p:nvPr/>
        </p:nvSpPr>
        <p:spPr>
          <a:xfrm>
            <a:off x="7479792" y="1755648"/>
            <a:ext cx="1618488" cy="384048"/>
          </a:xfrm>
          <a:prstGeom prst="roundRect">
            <a:avLst>
              <a:gd name="adj" fmla="val 50000"/>
            </a:avLst>
          </a:prstGeom>
          <a:solidFill>
            <a:srgbClr val="E6F4EA"/>
          </a:solidFill>
          <a:ln/>
        </p:spPr>
      </p:sp>
      <p:sp>
        <p:nvSpPr>
          <p:cNvPr id="17" name="Text 15"/>
          <p:cNvSpPr txBox="1"/>
          <p:nvPr/>
        </p:nvSpPr>
        <p:spPr>
          <a:xfrm>
            <a:off x="7479792" y="1755648"/>
            <a:ext cx="161848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Vasos canopis</a:t>
            </a:r>
            <a:endParaRPr lang="en-US" sz="1500" dirty="0"/>
          </a:p>
        </p:txBody>
      </p:sp>
      <p:sp>
        <p:nvSpPr>
          <p:cNvPr id="18" name="Pregunta 1"/>
          <p:cNvSpPr/>
          <p:nvPr/>
        </p:nvSpPr>
        <p:spPr>
          <a:xfrm>
            <a:off x="548640" y="2514600"/>
            <a:ext cx="5410048" cy="960120"/>
          </a:xfrm>
          <a:prstGeom prst="roundRect">
            <a:avLst>
              <a:gd name="adj" fmla="val 10476"/>
            </a:avLst>
          </a:prstGeom>
          <a:solidFill>
            <a:srgbClr val="FFFFFF"/>
          </a:solidFill>
          <a:ln w="12700">
            <a:solidFill>
              <a:srgbClr val="DADCE0"/>
            </a:solidFill>
            <a:prstDash val="solid"/>
          </a:ln>
        </p:spPr>
      </p:sp>
      <p:sp>
        <p:nvSpPr>
          <p:cNvPr id="19" name="Número 1"/>
          <p:cNvSpPr/>
          <p:nvPr/>
        </p:nvSpPr>
        <p:spPr>
          <a:xfrm>
            <a:off x="822960" y="2766060"/>
            <a:ext cx="457200" cy="457200"/>
          </a:xfrm>
          <a:prstGeom prst="ellipse">
            <a:avLst/>
          </a:prstGeom>
          <a:solidFill>
            <a:srgbClr val="188038"/>
          </a:solidFill>
          <a:ln/>
        </p:spPr>
      </p:sp>
      <p:sp>
        <p:nvSpPr>
          <p:cNvPr id="20" name="Text 18"/>
          <p:cNvSpPr txBox="1"/>
          <p:nvPr/>
        </p:nvSpPr>
        <p:spPr>
          <a:xfrm>
            <a:off x="822960"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Quins grups formaven la piràmide social egípcia, de dalt a baix?</a:t>
            </a:r>
            <a:endParaRPr lang="en-US" sz="1700" dirty="0"/>
          </a:p>
        </p:txBody>
      </p:sp>
      <p:sp>
        <p:nvSpPr>
          <p:cNvPr id="22" name="Pregunta 2"/>
          <p:cNvSpPr/>
          <p:nvPr/>
        </p:nvSpPr>
        <p:spPr>
          <a:xfrm>
            <a:off x="6233008" y="2514600"/>
            <a:ext cx="5410048" cy="960120"/>
          </a:xfrm>
          <a:prstGeom prst="roundRect">
            <a:avLst>
              <a:gd name="adj" fmla="val 10476"/>
            </a:avLst>
          </a:prstGeom>
          <a:solidFill>
            <a:srgbClr val="FFFFFF"/>
          </a:solidFill>
          <a:ln w="12700">
            <a:solidFill>
              <a:srgbClr val="DADCE0"/>
            </a:solidFill>
            <a:prstDash val="solid"/>
          </a:ln>
        </p:spPr>
      </p:sp>
      <p:sp>
        <p:nvSpPr>
          <p:cNvPr id="23" name="Número 2"/>
          <p:cNvSpPr/>
          <p:nvPr/>
        </p:nvSpPr>
        <p:spPr>
          <a:xfrm>
            <a:off x="6507328" y="2766060"/>
            <a:ext cx="457200" cy="457200"/>
          </a:xfrm>
          <a:prstGeom prst="ellipse">
            <a:avLst/>
          </a:prstGeom>
          <a:solidFill>
            <a:srgbClr val="188038"/>
          </a:solidFill>
          <a:ln/>
        </p:spPr>
      </p:sp>
      <p:sp>
        <p:nvSpPr>
          <p:cNvPr id="24" name="Text 22"/>
          <p:cNvSpPr txBox="1"/>
          <p:nvPr/>
        </p:nvSpPr>
        <p:spPr>
          <a:xfrm>
            <a:off x="6507328" y="27660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7193128" y="2514600"/>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Què es pesava al judici d'Osiris i contra què?</a:t>
            </a:r>
            <a:endParaRPr lang="en-US" sz="1700" dirty="0"/>
          </a:p>
        </p:txBody>
      </p:sp>
      <p:sp>
        <p:nvSpPr>
          <p:cNvPr id="26" name="Pregunta 3"/>
          <p:cNvSpPr/>
          <p:nvPr/>
        </p:nvSpPr>
        <p:spPr>
          <a:xfrm>
            <a:off x="548640" y="3675888"/>
            <a:ext cx="5410048" cy="960120"/>
          </a:xfrm>
          <a:prstGeom prst="roundRect">
            <a:avLst>
              <a:gd name="adj" fmla="val 10476"/>
            </a:avLst>
          </a:prstGeom>
          <a:solidFill>
            <a:srgbClr val="FFFFFF"/>
          </a:solidFill>
          <a:ln w="12700">
            <a:solidFill>
              <a:srgbClr val="DADCE0"/>
            </a:solidFill>
            <a:prstDash val="solid"/>
          </a:ln>
        </p:spPr>
      </p:sp>
      <p:sp>
        <p:nvSpPr>
          <p:cNvPr id="27" name="Número 3"/>
          <p:cNvSpPr/>
          <p:nvPr/>
        </p:nvSpPr>
        <p:spPr>
          <a:xfrm>
            <a:off x="822960" y="3927348"/>
            <a:ext cx="457200" cy="457200"/>
          </a:xfrm>
          <a:prstGeom prst="ellipse">
            <a:avLst/>
          </a:prstGeom>
          <a:solidFill>
            <a:srgbClr val="188038"/>
          </a:solidFill>
          <a:ln/>
        </p:spPr>
      </p:sp>
      <p:sp>
        <p:nvSpPr>
          <p:cNvPr id="28" name="Text 26"/>
          <p:cNvSpPr txBox="1"/>
          <p:nvPr/>
        </p:nvSpPr>
        <p:spPr>
          <a:xfrm>
            <a:off x="822960"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Per què es deixava el cor dins de la mòmia?</a:t>
            </a:r>
            <a:endParaRPr lang="en-US" sz="1700" dirty="0"/>
          </a:p>
        </p:txBody>
      </p:sp>
      <p:sp>
        <p:nvSpPr>
          <p:cNvPr id="30" name="Pregunta 4"/>
          <p:cNvSpPr/>
          <p:nvPr/>
        </p:nvSpPr>
        <p:spPr>
          <a:xfrm>
            <a:off x="6233008" y="3675888"/>
            <a:ext cx="5410048" cy="960120"/>
          </a:xfrm>
          <a:prstGeom prst="roundRect">
            <a:avLst>
              <a:gd name="adj" fmla="val 10476"/>
            </a:avLst>
          </a:prstGeom>
          <a:solidFill>
            <a:srgbClr val="FFFFFF"/>
          </a:solidFill>
          <a:ln w="12700">
            <a:solidFill>
              <a:srgbClr val="DADCE0"/>
            </a:solidFill>
            <a:prstDash val="solid"/>
          </a:ln>
        </p:spPr>
      </p:sp>
      <p:sp>
        <p:nvSpPr>
          <p:cNvPr id="31" name="Número 4"/>
          <p:cNvSpPr/>
          <p:nvPr/>
        </p:nvSpPr>
        <p:spPr>
          <a:xfrm>
            <a:off x="6507328" y="3927348"/>
            <a:ext cx="457200" cy="457200"/>
          </a:xfrm>
          <a:prstGeom prst="ellipse">
            <a:avLst/>
          </a:prstGeom>
          <a:solidFill>
            <a:srgbClr val="188038"/>
          </a:solidFill>
          <a:ln/>
        </p:spPr>
      </p:sp>
      <p:sp>
        <p:nvSpPr>
          <p:cNvPr id="32" name="Text 30"/>
          <p:cNvSpPr txBox="1"/>
          <p:nvPr/>
        </p:nvSpPr>
        <p:spPr>
          <a:xfrm>
            <a:off x="6507328" y="39273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3" name="Text 31"/>
          <p:cNvSpPr txBox="1"/>
          <p:nvPr/>
        </p:nvSpPr>
        <p:spPr>
          <a:xfrm>
            <a:off x="7193128" y="3675888"/>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Quines eren les tres estacions de l'any egipci?</a:t>
            </a:r>
            <a:endParaRPr lang="en-US" sz="1700" dirty="0"/>
          </a:p>
        </p:txBody>
      </p:sp>
      <p:sp>
        <p:nvSpPr>
          <p:cNvPr id="34" name="Pregunta 5"/>
          <p:cNvSpPr/>
          <p:nvPr/>
        </p:nvSpPr>
        <p:spPr>
          <a:xfrm>
            <a:off x="548640" y="4837176"/>
            <a:ext cx="5410048" cy="960120"/>
          </a:xfrm>
          <a:prstGeom prst="roundRect">
            <a:avLst>
              <a:gd name="adj" fmla="val 10476"/>
            </a:avLst>
          </a:prstGeom>
          <a:solidFill>
            <a:srgbClr val="FFFFFF"/>
          </a:solidFill>
          <a:ln w="12700">
            <a:solidFill>
              <a:srgbClr val="DADCE0"/>
            </a:solidFill>
            <a:prstDash val="solid"/>
          </a:ln>
        </p:spPr>
      </p:sp>
      <p:sp>
        <p:nvSpPr>
          <p:cNvPr id="35" name="Número 5"/>
          <p:cNvSpPr/>
          <p:nvPr/>
        </p:nvSpPr>
        <p:spPr>
          <a:xfrm>
            <a:off x="822960" y="5088636"/>
            <a:ext cx="457200" cy="457200"/>
          </a:xfrm>
          <a:prstGeom prst="ellipse">
            <a:avLst/>
          </a:prstGeom>
          <a:solidFill>
            <a:srgbClr val="188038"/>
          </a:solidFill>
          <a:ln/>
        </p:spPr>
      </p:sp>
      <p:sp>
        <p:nvSpPr>
          <p:cNvPr id="36" name="Text 34"/>
          <p:cNvSpPr txBox="1"/>
          <p:nvPr/>
        </p:nvSpPr>
        <p:spPr>
          <a:xfrm>
            <a:off x="822960" y="50886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5</a:t>
            </a:r>
            <a:endParaRPr lang="en-US" sz="1700" dirty="0"/>
          </a:p>
        </p:txBody>
      </p:sp>
      <p:sp>
        <p:nvSpPr>
          <p:cNvPr id="37" name="Text 35"/>
          <p:cNvSpPr txBox="1"/>
          <p:nvPr/>
        </p:nvSpPr>
        <p:spPr>
          <a:xfrm>
            <a:off x="1508760" y="4837176"/>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Per què molts pares volien que el seu fill fos escriba?</a:t>
            </a:r>
            <a:endParaRPr lang="en-US" sz="1700" dirty="0"/>
          </a:p>
        </p:txBody>
      </p:sp>
      <p:sp>
        <p:nvSpPr>
          <p:cNvPr id="38" name="Pregunta 6"/>
          <p:cNvSpPr/>
          <p:nvPr/>
        </p:nvSpPr>
        <p:spPr>
          <a:xfrm>
            <a:off x="6233008" y="4837176"/>
            <a:ext cx="5410048" cy="960120"/>
          </a:xfrm>
          <a:prstGeom prst="roundRect">
            <a:avLst>
              <a:gd name="adj" fmla="val 10476"/>
            </a:avLst>
          </a:prstGeom>
          <a:solidFill>
            <a:srgbClr val="FFFFFF"/>
          </a:solidFill>
          <a:ln w="12700">
            <a:solidFill>
              <a:srgbClr val="DADCE0"/>
            </a:solidFill>
            <a:prstDash val="solid"/>
          </a:ln>
        </p:spPr>
      </p:sp>
      <p:sp>
        <p:nvSpPr>
          <p:cNvPr id="39" name="Número 6"/>
          <p:cNvSpPr/>
          <p:nvPr/>
        </p:nvSpPr>
        <p:spPr>
          <a:xfrm>
            <a:off x="6507328" y="5088636"/>
            <a:ext cx="457200" cy="457200"/>
          </a:xfrm>
          <a:prstGeom prst="ellipse">
            <a:avLst/>
          </a:prstGeom>
          <a:solidFill>
            <a:srgbClr val="188038"/>
          </a:solidFill>
          <a:ln/>
        </p:spPr>
      </p:sp>
      <p:sp>
        <p:nvSpPr>
          <p:cNvPr id="40" name="Text 38"/>
          <p:cNvSpPr txBox="1"/>
          <p:nvPr/>
        </p:nvSpPr>
        <p:spPr>
          <a:xfrm>
            <a:off x="6507328" y="50886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6</a:t>
            </a:r>
            <a:endParaRPr lang="en-US" sz="1700" dirty="0"/>
          </a:p>
        </p:txBody>
      </p:sp>
      <p:sp>
        <p:nvSpPr>
          <p:cNvPr id="41" name="Text 39"/>
          <p:cNvSpPr txBox="1"/>
          <p:nvPr/>
        </p:nvSpPr>
        <p:spPr>
          <a:xfrm>
            <a:off x="7193128" y="4837176"/>
            <a:ext cx="4221328" cy="960120"/>
          </a:xfrm>
          <a:prstGeom prst="rect">
            <a:avLst/>
          </a:prstGeom>
          <a:noFill/>
          <a:ln/>
        </p:spPr>
        <p:txBody>
          <a:bodyPr wrap="square" lIns="0" tIns="0" rIns="0" bIns="0" rtlCol="0" anchor="ctr"/>
          <a:lstStyle/>
          <a:p>
            <a:pPr indent="0" marL="0">
              <a:buNone/>
            </a:pPr>
            <a:r>
              <a:rPr lang="en-US" sz="1700" dirty="0">
                <a:solidFill>
                  <a:srgbClr val="202124"/>
                </a:solidFill>
                <a:latin typeface="Roboto" pitchFamily="34" charset="0"/>
                <a:ea typeface="Roboto" pitchFamily="34" charset="-122"/>
                <a:cs typeface="Roboto" pitchFamily="34" charset="-120"/>
              </a:rPr>
              <a:t>Què va canviar Akhenaton, i per què no ho volien els sacerdots d'Amon?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ziggurat i el sol" descr="/home/claude/pc/build/1r-eso-civilitzacions/hero-crop.png">    </p:cNvPr>
          <p:cNvPicPr>
            <a:picLocks noChangeAspect="1"/>
          </p:cNvPicPr>
          <p:nvPr/>
        </p:nvPicPr>
        <p:blipFill>
          <a:blip r:embed="rId1"/>
          <a:stretch>
            <a:fillRect/>
          </a:stretch>
        </p:blipFill>
        <p:spPr>
          <a:xfrm>
            <a:off x="3520440" y="2294081"/>
            <a:ext cx="3566160" cy="1893871"/>
          </a:xfrm>
          <a:prstGeom prst="rect">
            <a:avLst/>
          </a:prstGeom>
        </p:spPr>
      </p:pic>
      <p:sp>
        <p:nvSpPr>
          <p:cNvPr id="4" name="Etiqueta Apartat 5"/>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5</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Piràmides, temples i jeroglífics</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Per què les cases dels egipcis han desaparegut i, en canvi, les seves tombes encara són dempeus?</a:t>
            </a:r>
            <a:endParaRPr lang="en-US" sz="1900" dirty="0"/>
          </a:p>
        </p:txBody>
      </p:sp>
      <p:sp>
        <p:nvSpPr>
          <p:cNvPr id="10" name="Fons Piràmides, temples i jeroglífics"/>
          <p:cNvSpPr/>
          <p:nvPr/>
        </p:nvSpPr>
        <p:spPr>
          <a:xfrm>
            <a:off x="7635240" y="1558138"/>
            <a:ext cx="4007815" cy="2671877"/>
          </a:xfrm>
          <a:prstGeom prst="roundRect">
            <a:avLst>
              <a:gd name="adj" fmla="val 3765"/>
            </a:avLst>
          </a:prstGeom>
          <a:solidFill>
            <a:srgbClr val="F6F8FB"/>
          </a:solidFill>
          <a:ln/>
        </p:spPr>
      </p:sp>
      <p:pic>
        <p:nvPicPr>
          <p:cNvPr id="11" name="Piràmides, temples i jeroglífics" descr="/home/claude/pc/build/1r-eso-civilitzacions/img/djoser.jpg">    </p:cNvPr>
          <p:cNvPicPr>
            <a:picLocks noChangeAspect="1"/>
          </p:cNvPicPr>
          <p:nvPr/>
        </p:nvPicPr>
        <p:blipFill>
          <a:blip r:embed="rId2"/>
          <a:stretch>
            <a:fillRect/>
          </a:stretch>
        </p:blipFill>
        <p:spPr>
          <a:xfrm>
            <a:off x="7635240" y="1558138"/>
            <a:ext cx="4007815" cy="2671877"/>
          </a:xfrm>
          <a:prstGeom prst="rect">
            <a:avLst/>
          </a:prstGeom>
        </p:spPr>
      </p:pic>
      <p:sp>
        <p:nvSpPr>
          <p:cNvPr id="12" name="Text 8"/>
          <p:cNvSpPr txBox="1"/>
          <p:nvPr/>
        </p:nvSpPr>
        <p:spPr>
          <a:xfrm>
            <a:off x="7635240" y="4339742"/>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piràmide esglaonada de Djoser, a Saqqara (Egipte), cap al 2650 aC. És la primera piràmide i el primer gran edifici de pedra d'Egipte. Foto: Vyacheslav Argenberg, Wikimedia Commons, CC BY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Construir per a l'eternitat</a:t>
            </a:r>
            <a:endParaRPr lang="en-US" sz="2800" dirty="0"/>
          </a:p>
        </p:txBody>
      </p:sp>
      <p:sp>
        <p:nvSpPr>
          <p:cNvPr id="5" name="Per a la vida"/>
          <p:cNvSpPr/>
          <p:nvPr/>
        </p:nvSpPr>
        <p:spPr>
          <a:xfrm>
            <a:off x="548640" y="1371600"/>
            <a:ext cx="5090008" cy="2743200"/>
          </a:xfrm>
          <a:prstGeom prst="roundRect">
            <a:avLst>
              <a:gd name="adj" fmla="val 3667"/>
            </a:avLst>
          </a:prstGeom>
          <a:solidFill>
            <a:srgbClr val="FFFFFF"/>
          </a:solidFill>
          <a:ln w="12700">
            <a:solidFill>
              <a:srgbClr val="DADCE0"/>
            </a:solidFill>
            <a:prstDash val="solid"/>
          </a:ln>
        </p:spPr>
      </p:sp>
      <p:sp>
        <p:nvSpPr>
          <p:cNvPr id="6" name="Cercle icona"/>
          <p:cNvSpPr/>
          <p:nvPr/>
        </p:nvSpPr>
        <p:spPr>
          <a:xfrm>
            <a:off x="822960" y="1600200"/>
            <a:ext cx="777240" cy="777240"/>
          </a:xfrm>
          <a:prstGeom prst="ellipse">
            <a:avLst/>
          </a:prstGeom>
          <a:solidFill>
            <a:srgbClr val="E8EAED"/>
          </a:solidFill>
          <a:ln/>
        </p:spPr>
      </p:sp>
      <p:pic>
        <p:nvPicPr>
          <p:cNvPr id="7" name="Icona TbHome" descr="/home/claude/pc/build/1r-eso-civilitzacions/img/ic/TbHome-k.png">    </p:cNvPr>
          <p:cNvPicPr>
            <a:picLocks noChangeAspect="1"/>
          </p:cNvPicPr>
          <p:nvPr/>
        </p:nvPicPr>
        <p:blipFill>
          <a:blip r:embed="rId1"/>
          <a:stretch>
            <a:fillRect/>
          </a:stretch>
        </p:blipFill>
        <p:spPr>
          <a:xfrm>
            <a:off x="993953" y="1771193"/>
            <a:ext cx="435254" cy="435254"/>
          </a:xfrm>
          <a:prstGeom prst="rect">
            <a:avLst/>
          </a:prstGeom>
        </p:spPr>
      </p:pic>
      <p:sp>
        <p:nvSpPr>
          <p:cNvPr id="8" name="Text 5"/>
          <p:cNvSpPr txBox="1"/>
          <p:nvPr/>
        </p:nvSpPr>
        <p:spPr>
          <a:xfrm>
            <a:off x="1828800" y="1554480"/>
            <a:ext cx="3626968" cy="2377440"/>
          </a:xfrm>
          <a:prstGeom prst="rect">
            <a:avLst/>
          </a:prstGeom>
          <a:noFill/>
          <a:ln/>
        </p:spPr>
        <p:txBody>
          <a:bodyPr wrap="square" lIns="0" tIns="0" rIns="0" bIns="0" rtlCol="0" anchor="t"/>
          <a:lstStyle/>
          <a:p>
            <a:pPr indent="0" marL="0">
              <a:buNone/>
            </a:pPr>
            <a:r>
              <a:rPr lang="en-US" sz="2000" b="1" dirty="0">
                <a:solidFill>
                  <a:srgbClr val="202124"/>
                </a:solidFill>
                <a:latin typeface="Roboto" pitchFamily="34" charset="0"/>
                <a:ea typeface="Roboto" pitchFamily="34" charset="-122"/>
                <a:cs typeface="Roboto" pitchFamily="34" charset="-120"/>
              </a:rPr>
              <a:t>Per a la vida, tova</a:t>
            </a:r>
            <a:endParaRPr lang="en-US" sz="2000" dirty="0"/>
          </a:p>
          <a:p>
            <a:pPr indent="0" marL="0">
              <a:buNone/>
            </a:pPr>
            <a:r>
              <a:rPr lang="en-US" sz="1800" dirty="0">
                <a:solidFill>
                  <a:srgbClr val="202124"/>
                </a:solidFill>
                <a:latin typeface="Roboto" pitchFamily="34" charset="0"/>
                <a:ea typeface="Roboto" pitchFamily="34" charset="-122"/>
                <a:cs typeface="Roboto" pitchFamily="34" charset="-120"/>
              </a:rPr>
              <a:t>Les cases, fins i tot els palaus, eren de tova, un material pobre. La vida és curta.</a:t>
            </a:r>
            <a:endParaRPr lang="en-US" sz="2000" dirty="0"/>
          </a:p>
        </p:txBody>
      </p:sp>
      <p:sp>
        <p:nvSpPr>
          <p:cNvPr id="9" name="Fletxa"/>
          <p:cNvSpPr/>
          <p:nvPr/>
        </p:nvSpPr>
        <p:spPr>
          <a:xfrm>
            <a:off x="6004408" y="2606040"/>
            <a:ext cx="182880" cy="274320"/>
          </a:xfrm>
          <a:prstGeom prst="chevron">
            <a:avLst/>
          </a:prstGeom>
          <a:solidFill>
            <a:srgbClr val="188038"/>
          </a:solidFill>
          <a:ln/>
        </p:spPr>
      </p:sp>
      <p:sp>
        <p:nvSpPr>
          <p:cNvPr id="10" name="Per a sempre"/>
          <p:cNvSpPr/>
          <p:nvPr/>
        </p:nvSpPr>
        <p:spPr>
          <a:xfrm>
            <a:off x="6553048" y="1371600"/>
            <a:ext cx="5090008" cy="2743200"/>
          </a:xfrm>
          <a:prstGeom prst="roundRect">
            <a:avLst>
              <a:gd name="adj" fmla="val 3667"/>
            </a:avLst>
          </a:prstGeom>
          <a:solidFill>
            <a:srgbClr val="188038"/>
          </a:solidFill>
          <a:ln/>
        </p:spPr>
      </p:sp>
      <p:sp>
        <p:nvSpPr>
          <p:cNvPr id="11" name="Cercle icona"/>
          <p:cNvSpPr/>
          <p:nvPr/>
        </p:nvSpPr>
        <p:spPr>
          <a:xfrm>
            <a:off x="6827368" y="1600200"/>
            <a:ext cx="777240" cy="777240"/>
          </a:xfrm>
          <a:prstGeom prst="ellipse">
            <a:avLst/>
          </a:prstGeom>
          <a:solidFill>
            <a:srgbClr val="FFFFFF"/>
          </a:solidFill>
          <a:ln/>
        </p:spPr>
      </p:sp>
      <p:pic>
        <p:nvPicPr>
          <p:cNvPr id="12" name="Icona TbPyramid" descr="/home/claude/pc/build/1r-eso-civilitzacions/img/ic/TbPyramid-g.png">    </p:cNvPr>
          <p:cNvPicPr>
            <a:picLocks noChangeAspect="1"/>
          </p:cNvPicPr>
          <p:nvPr/>
        </p:nvPicPr>
        <p:blipFill>
          <a:blip r:embed="rId2"/>
          <a:stretch>
            <a:fillRect/>
          </a:stretch>
        </p:blipFill>
        <p:spPr>
          <a:xfrm>
            <a:off x="6998360" y="1771193"/>
            <a:ext cx="435254" cy="435254"/>
          </a:xfrm>
          <a:prstGeom prst="rect">
            <a:avLst/>
          </a:prstGeom>
        </p:spPr>
      </p:pic>
      <p:sp>
        <p:nvSpPr>
          <p:cNvPr id="13" name="Text 9"/>
          <p:cNvSpPr txBox="1"/>
          <p:nvPr/>
        </p:nvSpPr>
        <p:spPr>
          <a:xfrm>
            <a:off x="7833208" y="1554480"/>
            <a:ext cx="3626968" cy="2377440"/>
          </a:xfrm>
          <a:prstGeom prst="rect">
            <a:avLst/>
          </a:prstGeom>
          <a:noFill/>
          <a:ln/>
        </p:spPr>
        <p:txBody>
          <a:bodyPr wrap="square" lIns="0" tIns="0" rIns="0" bIns="0" rtlCol="0" anchor="t"/>
          <a:lstStyle/>
          <a:p>
            <a:pPr indent="0" marL="0">
              <a:buNone/>
            </a:pPr>
            <a:r>
              <a:rPr lang="en-US" sz="2000" b="1" dirty="0">
                <a:solidFill>
                  <a:srgbClr val="FFFFFF"/>
                </a:solidFill>
                <a:latin typeface="Roboto" pitchFamily="34" charset="0"/>
                <a:ea typeface="Roboto" pitchFamily="34" charset="-122"/>
                <a:cs typeface="Roboto" pitchFamily="34" charset="-120"/>
              </a:rPr>
              <a:t>Per a sempre, pedra</a:t>
            </a:r>
            <a:endParaRPr lang="en-US" sz="2000" dirty="0"/>
          </a:p>
          <a:p>
            <a:pPr indent="0" marL="0">
              <a:buNone/>
            </a:pPr>
            <a:r>
              <a:rPr lang="en-US" sz="1800" dirty="0">
                <a:solidFill>
                  <a:srgbClr val="FFFFFF"/>
                </a:solidFill>
                <a:latin typeface="Roboto" pitchFamily="34" charset="0"/>
                <a:ea typeface="Roboto" pitchFamily="34" charset="-122"/>
                <a:cs typeface="Roboto" pitchFamily="34" charset="-120"/>
              </a:rPr>
              <a:t>Les tombes i els temples eren de pedra, perquè havien de durar per sempre.</a:t>
            </a:r>
            <a:endParaRPr lang="en-US" sz="2000" dirty="0"/>
          </a:p>
        </p:txBody>
      </p:sp>
      <p:sp>
        <p:nvSpPr>
          <p:cNvPr id="14" name="Resposta a la pregunta guia"/>
          <p:cNvSpPr/>
          <p:nvPr/>
        </p:nvSpPr>
        <p:spPr>
          <a:xfrm>
            <a:off x="548640" y="4389120"/>
            <a:ext cx="11094415" cy="1280160"/>
          </a:xfrm>
          <a:prstGeom prst="roundRect">
            <a:avLst>
              <a:gd name="adj" fmla="val 7857"/>
            </a:avLst>
          </a:prstGeom>
          <a:solidFill>
            <a:srgbClr val="E6F4EA"/>
          </a:solidFill>
          <a:ln/>
        </p:spPr>
      </p:sp>
      <p:sp>
        <p:nvSpPr>
          <p:cNvPr id="15" name="Text 11"/>
          <p:cNvSpPr txBox="1"/>
          <p:nvPr/>
        </p:nvSpPr>
        <p:spPr>
          <a:xfrm>
            <a:off x="868680" y="4544568"/>
            <a:ext cx="1045433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Resposta a la pregunta guia</a:t>
            </a:r>
            <a:endParaRPr lang="en-US" sz="1400" dirty="0"/>
          </a:p>
        </p:txBody>
      </p:sp>
      <p:sp>
        <p:nvSpPr>
          <p:cNvPr id="16" name="Text 12"/>
          <p:cNvSpPr txBox="1"/>
          <p:nvPr/>
        </p:nvSpPr>
        <p:spPr>
          <a:xfrm>
            <a:off x="868680" y="4892040"/>
            <a:ext cx="10454335" cy="640080"/>
          </a:xfrm>
          <a:prstGeom prst="rect">
            <a:avLst/>
          </a:prstGeom>
          <a:noFill/>
          <a:ln/>
        </p:spPr>
        <p:txBody>
          <a:bodyPr wrap="square" lIns="0" tIns="0" rIns="0" bIns="0" rtlCol="0" anchor="t"/>
          <a:lstStyle/>
          <a:p>
            <a:pPr indent="0" marL="0">
              <a:buNone/>
            </a:pPr>
            <a:r>
              <a:rPr lang="en-US" sz="1900" dirty="0">
                <a:solidFill>
                  <a:srgbClr val="202124"/>
                </a:solidFill>
                <a:latin typeface="Roboto" pitchFamily="34" charset="0"/>
                <a:ea typeface="Roboto" pitchFamily="34" charset="-122"/>
                <a:cs typeface="Roboto" pitchFamily="34" charset="-120"/>
              </a:rPr>
              <a:t>Per això les cases han desaparegut i les tombes i els temples encara són dempeus.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De la mastaba a l'hipogeu</a:t>
            </a:r>
            <a:endParaRPr lang="en-US" sz="2800" dirty="0"/>
          </a:p>
        </p:txBody>
      </p:sp>
      <p:sp>
        <p:nvSpPr>
          <p:cNvPr id="5" name="Fons Les tombes egípcies"/>
          <p:cNvSpPr/>
          <p:nvPr/>
        </p:nvSpPr>
        <p:spPr>
          <a:xfrm>
            <a:off x="548640" y="1371600"/>
            <a:ext cx="11094415" cy="4325112"/>
          </a:xfrm>
          <a:prstGeom prst="roundRect">
            <a:avLst>
              <a:gd name="adj" fmla="val 2326"/>
            </a:avLst>
          </a:prstGeom>
          <a:solidFill>
            <a:srgbClr val="F6F8FB"/>
          </a:solidFill>
          <a:ln/>
        </p:spPr>
      </p:sp>
      <p:pic>
        <p:nvPicPr>
          <p:cNvPr id="6" name="Les tombes egípcies" descr="/home/claude/pc/build/1r-eso-civilitzacions/img/tombes.jpg">    </p:cNvPr>
          <p:cNvPicPr>
            <a:picLocks noChangeAspect="1"/>
          </p:cNvPicPr>
          <p:nvPr/>
        </p:nvPicPr>
        <p:blipFill>
          <a:blip r:embed="rId1"/>
          <a:stretch>
            <a:fillRect/>
          </a:stretch>
        </p:blipFill>
        <p:spPr>
          <a:xfrm>
            <a:off x="574842" y="1371600"/>
            <a:ext cx="11042011" cy="4325112"/>
          </a:xfrm>
          <a:prstGeom prst="rect">
            <a:avLst/>
          </a:prstGeom>
        </p:spPr>
      </p:pic>
      <p:sp>
        <p:nvSpPr>
          <p:cNvPr id="7" name="Text 4"/>
          <p:cNvSpPr txBox="1"/>
          <p:nvPr/>
        </p:nvSpPr>
        <p:spPr>
          <a:xfrm>
            <a:off x="548640" y="5788152"/>
            <a:ext cx="110944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tombes egípcies. Esquema sense escala. Dibuix: professordesocials.cat,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Gizeh i la Vall dels Reis</a:t>
            </a:r>
            <a:endParaRPr lang="en-US" sz="2800" dirty="0"/>
          </a:p>
        </p:txBody>
      </p:sp>
      <p:sp>
        <p:nvSpPr>
          <p:cNvPr id="5" name="Text 3"/>
          <p:cNvSpPr txBox="1"/>
          <p:nvPr/>
        </p:nvSpPr>
        <p:spPr>
          <a:xfrm>
            <a:off x="548640" y="1371600"/>
            <a:ext cx="3383280" cy="868680"/>
          </a:xfrm>
          <a:prstGeom prst="rect">
            <a:avLst/>
          </a:prstGeom>
          <a:noFill/>
          <a:ln/>
        </p:spPr>
        <p:txBody>
          <a:bodyPr wrap="square" lIns="0" tIns="0" rIns="0" bIns="0" rtlCol="0" anchor="t"/>
          <a:lstStyle/>
          <a:p>
            <a:pPr indent="0" marL="0">
              <a:buNone/>
            </a:pPr>
            <a:r>
              <a:rPr lang="en-US" sz="4400" b="1" dirty="0">
                <a:solidFill>
                  <a:srgbClr val="188038"/>
                </a:solidFill>
                <a:latin typeface="Roboto" pitchFamily="34" charset="0"/>
                <a:ea typeface="Roboto" pitchFamily="34" charset="-122"/>
                <a:cs typeface="Roboto" pitchFamily="34" charset="-120"/>
              </a:rPr>
              <a:t>146 m</a:t>
            </a:r>
            <a:endParaRPr lang="en-US" sz="4400" dirty="0"/>
          </a:p>
        </p:txBody>
      </p:sp>
      <p:sp>
        <p:nvSpPr>
          <p:cNvPr id="6" name="Text 4"/>
          <p:cNvSpPr txBox="1"/>
          <p:nvPr/>
        </p:nvSpPr>
        <p:spPr>
          <a:xfrm>
            <a:off x="548640" y="2286000"/>
            <a:ext cx="3383280" cy="82296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d'alçada original tenia la Gran Piràmide de Kheops.</a:t>
            </a:r>
            <a:endParaRPr lang="en-US" sz="1600" dirty="0"/>
          </a:p>
        </p:txBody>
      </p:sp>
      <p:sp>
        <p:nvSpPr>
          <p:cNvPr id="7" name="Text 5"/>
          <p:cNvSpPr txBox="1"/>
          <p:nvPr/>
        </p:nvSpPr>
        <p:spPr>
          <a:xfrm>
            <a:off x="4206240" y="1371600"/>
            <a:ext cx="3657600" cy="868680"/>
          </a:xfrm>
          <a:prstGeom prst="rect">
            <a:avLst/>
          </a:prstGeom>
          <a:noFill/>
          <a:ln/>
        </p:spPr>
        <p:txBody>
          <a:bodyPr wrap="square" lIns="0" tIns="0" rIns="0" bIns="0" rtlCol="0" anchor="t"/>
          <a:lstStyle/>
          <a:p>
            <a:pPr indent="0" marL="0">
              <a:buNone/>
            </a:pPr>
            <a:r>
              <a:rPr lang="en-US" sz="4400" b="1" dirty="0">
                <a:solidFill>
                  <a:srgbClr val="188038"/>
                </a:solidFill>
                <a:latin typeface="Roboto" pitchFamily="34" charset="0"/>
                <a:ea typeface="Roboto" pitchFamily="34" charset="-122"/>
                <a:cs typeface="Roboto" pitchFamily="34" charset="-120"/>
              </a:rPr>
              <a:t>2,3 milions</a:t>
            </a:r>
            <a:endParaRPr lang="en-US" sz="4400" dirty="0"/>
          </a:p>
        </p:txBody>
      </p:sp>
      <p:sp>
        <p:nvSpPr>
          <p:cNvPr id="8" name="Text 6"/>
          <p:cNvSpPr txBox="1"/>
          <p:nvPr/>
        </p:nvSpPr>
        <p:spPr>
          <a:xfrm>
            <a:off x="4206240" y="2286000"/>
            <a:ext cx="3657600" cy="82296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de blocs de pedra, més o menys.</a:t>
            </a:r>
            <a:endParaRPr lang="en-US" sz="1600" dirty="0"/>
          </a:p>
        </p:txBody>
      </p:sp>
      <p:sp>
        <p:nvSpPr>
          <p:cNvPr id="9" name="Text 7"/>
          <p:cNvSpPr txBox="1"/>
          <p:nvPr/>
        </p:nvSpPr>
        <p:spPr>
          <a:xfrm>
            <a:off x="8138160" y="1371600"/>
            <a:ext cx="3504895" cy="868680"/>
          </a:xfrm>
          <a:prstGeom prst="rect">
            <a:avLst/>
          </a:prstGeom>
          <a:noFill/>
          <a:ln/>
        </p:spPr>
        <p:txBody>
          <a:bodyPr wrap="square" lIns="0" tIns="0" rIns="0" bIns="0" rtlCol="0" anchor="t"/>
          <a:lstStyle/>
          <a:p>
            <a:pPr indent="0" marL="0">
              <a:buNone/>
            </a:pPr>
            <a:r>
              <a:rPr lang="en-US" sz="4400" b="1" dirty="0">
                <a:solidFill>
                  <a:srgbClr val="188038"/>
                </a:solidFill>
                <a:latin typeface="Roboto" pitchFamily="34" charset="0"/>
                <a:ea typeface="Roboto" pitchFamily="34" charset="-122"/>
                <a:cs typeface="Roboto" pitchFamily="34" charset="-120"/>
              </a:rPr>
              <a:t>1922</a:t>
            </a:r>
            <a:endParaRPr lang="en-US" sz="4400" dirty="0"/>
          </a:p>
        </p:txBody>
      </p:sp>
      <p:sp>
        <p:nvSpPr>
          <p:cNvPr id="10" name="Text 8"/>
          <p:cNvSpPr txBox="1"/>
          <p:nvPr/>
        </p:nvSpPr>
        <p:spPr>
          <a:xfrm>
            <a:off x="8138160" y="2286000"/>
            <a:ext cx="3504895" cy="82296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Es troba la tomba de Tutankamon gairebé intacta.</a:t>
            </a:r>
            <a:endParaRPr lang="en-US" sz="1600" dirty="0"/>
          </a:p>
        </p:txBody>
      </p:sp>
      <p:sp>
        <p:nvSpPr>
          <p:cNvPr id="11" name="Targeta Les piràmides de Gizeh"/>
          <p:cNvSpPr/>
          <p:nvPr/>
        </p:nvSpPr>
        <p:spPr>
          <a:xfrm>
            <a:off x="548640" y="3291840"/>
            <a:ext cx="3515258" cy="2697480"/>
          </a:xfrm>
          <a:prstGeom prst="roundRect">
            <a:avLst>
              <a:gd name="adj" fmla="val 3729"/>
            </a:avLst>
          </a:prstGeom>
          <a:solidFill>
            <a:srgbClr val="FFFFFF"/>
          </a:solidFill>
          <a:ln w="12700">
            <a:solidFill>
              <a:srgbClr val="DADCE0"/>
            </a:solidFill>
            <a:prstDash val="solid"/>
          </a:ln>
        </p:spPr>
      </p:sp>
      <p:sp>
        <p:nvSpPr>
          <p:cNvPr id="12" name="Cercle icona"/>
          <p:cNvSpPr/>
          <p:nvPr/>
        </p:nvSpPr>
        <p:spPr>
          <a:xfrm>
            <a:off x="777240" y="3520440"/>
            <a:ext cx="594360" cy="594360"/>
          </a:xfrm>
          <a:prstGeom prst="ellipse">
            <a:avLst/>
          </a:prstGeom>
          <a:solidFill>
            <a:srgbClr val="E6F4EA"/>
          </a:solidFill>
          <a:ln/>
        </p:spPr>
      </p:sp>
      <p:pic>
        <p:nvPicPr>
          <p:cNvPr id="13" name="Icona TbPyramid" descr="/home/claude/pc/build/1r-eso-civilitzacions/img/ic/TbPyramid-g.png">    </p:cNvPr>
          <p:cNvPicPr>
            <a:picLocks noChangeAspect="1"/>
          </p:cNvPicPr>
          <p:nvPr/>
        </p:nvPicPr>
        <p:blipFill>
          <a:blip r:embed="rId1"/>
          <a:stretch>
            <a:fillRect/>
          </a:stretch>
        </p:blipFill>
        <p:spPr>
          <a:xfrm>
            <a:off x="907999" y="3651199"/>
            <a:ext cx="332842" cy="332842"/>
          </a:xfrm>
          <a:prstGeom prst="rect">
            <a:avLst/>
          </a:prstGeom>
        </p:spPr>
      </p:pic>
      <p:sp>
        <p:nvSpPr>
          <p:cNvPr id="14" name="Text 11"/>
          <p:cNvSpPr txBox="1"/>
          <p:nvPr/>
        </p:nvSpPr>
        <p:spPr>
          <a:xfrm>
            <a:off x="777240" y="4251960"/>
            <a:ext cx="3058058"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Les piràmides de Gizeh</a:t>
            </a:r>
            <a:endParaRPr lang="en-US" sz="1800" dirty="0"/>
          </a:p>
        </p:txBody>
      </p:sp>
      <p:sp>
        <p:nvSpPr>
          <p:cNvPr id="15" name="Text 12"/>
          <p:cNvSpPr txBox="1"/>
          <p:nvPr/>
        </p:nvSpPr>
        <p:spPr>
          <a:xfrm>
            <a:off x="777240" y="4617720"/>
            <a:ext cx="3058058" cy="12344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Kheops, Kefren i Micerí, custodiades per la Gran Esfinx.</a:t>
            </a:r>
            <a:endParaRPr lang="en-US" sz="1550" dirty="0"/>
          </a:p>
        </p:txBody>
      </p:sp>
      <p:sp>
        <p:nvSpPr>
          <p:cNvPr id="16" name="Targeta Els lladres"/>
          <p:cNvSpPr/>
          <p:nvPr/>
        </p:nvSpPr>
        <p:spPr>
          <a:xfrm>
            <a:off x="4338218" y="3291840"/>
            <a:ext cx="3515258" cy="2697480"/>
          </a:xfrm>
          <a:prstGeom prst="roundRect">
            <a:avLst>
              <a:gd name="adj" fmla="val 3729"/>
            </a:avLst>
          </a:prstGeom>
          <a:solidFill>
            <a:srgbClr val="FFFFFF"/>
          </a:solidFill>
          <a:ln w="12700">
            <a:solidFill>
              <a:srgbClr val="DADCE0"/>
            </a:solidFill>
            <a:prstDash val="solid"/>
          </a:ln>
        </p:spPr>
      </p:sp>
      <p:sp>
        <p:nvSpPr>
          <p:cNvPr id="17" name="Cercle icona"/>
          <p:cNvSpPr/>
          <p:nvPr/>
        </p:nvSpPr>
        <p:spPr>
          <a:xfrm>
            <a:off x="4566818" y="3520440"/>
            <a:ext cx="594360" cy="594360"/>
          </a:xfrm>
          <a:prstGeom prst="ellipse">
            <a:avLst/>
          </a:prstGeom>
          <a:solidFill>
            <a:srgbClr val="E6F4EA"/>
          </a:solidFill>
          <a:ln/>
        </p:spPr>
      </p:sp>
      <p:pic>
        <p:nvPicPr>
          <p:cNvPr id="18" name="Icona TbLock" descr="/home/claude/pc/build/1r-eso-civilitzacions/img/ic/TbLock-g.png">    </p:cNvPr>
          <p:cNvPicPr>
            <a:picLocks noChangeAspect="1"/>
          </p:cNvPicPr>
          <p:nvPr/>
        </p:nvPicPr>
        <p:blipFill>
          <a:blip r:embed="rId2"/>
          <a:stretch>
            <a:fillRect/>
          </a:stretch>
        </p:blipFill>
        <p:spPr>
          <a:xfrm>
            <a:off x="4697578" y="3651199"/>
            <a:ext cx="332842" cy="332842"/>
          </a:xfrm>
          <a:prstGeom prst="rect">
            <a:avLst/>
          </a:prstGeom>
        </p:spPr>
      </p:pic>
      <p:sp>
        <p:nvSpPr>
          <p:cNvPr id="19" name="Text 15"/>
          <p:cNvSpPr txBox="1"/>
          <p:nvPr/>
        </p:nvSpPr>
        <p:spPr>
          <a:xfrm>
            <a:off x="4566818" y="4251960"/>
            <a:ext cx="3058058"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Els lladres</a:t>
            </a:r>
            <a:endParaRPr lang="en-US" sz="1800" dirty="0"/>
          </a:p>
        </p:txBody>
      </p:sp>
      <p:sp>
        <p:nvSpPr>
          <p:cNvPr id="20" name="Text 16"/>
          <p:cNvSpPr txBox="1"/>
          <p:nvPr/>
        </p:nvSpPr>
        <p:spPr>
          <a:xfrm>
            <a:off x="4566818" y="4617720"/>
            <a:ext cx="3058058" cy="12344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Les piràmides eren massa visibles. Els lladres van saquejar gairebé totes les tombes.</a:t>
            </a:r>
            <a:endParaRPr lang="en-US" sz="1550" dirty="0"/>
          </a:p>
        </p:txBody>
      </p:sp>
      <p:sp>
        <p:nvSpPr>
          <p:cNvPr id="21" name="Targeta Una de les poques"/>
          <p:cNvSpPr/>
          <p:nvPr/>
        </p:nvSpPr>
        <p:spPr>
          <a:xfrm>
            <a:off x="8127797" y="3291840"/>
            <a:ext cx="3515258" cy="2697480"/>
          </a:xfrm>
          <a:prstGeom prst="roundRect">
            <a:avLst>
              <a:gd name="adj" fmla="val 3729"/>
            </a:avLst>
          </a:prstGeom>
          <a:solidFill>
            <a:srgbClr val="FFFFFF"/>
          </a:solidFill>
          <a:ln w="12700">
            <a:solidFill>
              <a:srgbClr val="DADCE0"/>
            </a:solidFill>
            <a:prstDash val="solid"/>
          </a:ln>
        </p:spPr>
      </p:sp>
      <p:sp>
        <p:nvSpPr>
          <p:cNvPr id="22" name="Cercle icona"/>
          <p:cNvSpPr/>
          <p:nvPr/>
        </p:nvSpPr>
        <p:spPr>
          <a:xfrm>
            <a:off x="8356397" y="3520440"/>
            <a:ext cx="594360" cy="594360"/>
          </a:xfrm>
          <a:prstGeom prst="ellipse">
            <a:avLst/>
          </a:prstGeom>
          <a:solidFill>
            <a:srgbClr val="E6F4EA"/>
          </a:solidFill>
          <a:ln/>
        </p:spPr>
      </p:sp>
      <p:pic>
        <p:nvPicPr>
          <p:cNvPr id="23" name="Icona TbKey" descr="/home/claude/pc/build/1r-eso-civilitzacions/img/ic/TbKey-g.png">    </p:cNvPr>
          <p:cNvPicPr>
            <a:picLocks noChangeAspect="1"/>
          </p:cNvPicPr>
          <p:nvPr/>
        </p:nvPicPr>
        <p:blipFill>
          <a:blip r:embed="rId3"/>
          <a:stretch>
            <a:fillRect/>
          </a:stretch>
        </p:blipFill>
        <p:spPr>
          <a:xfrm>
            <a:off x="8487156" y="3651199"/>
            <a:ext cx="332842" cy="332842"/>
          </a:xfrm>
          <a:prstGeom prst="rect">
            <a:avLst/>
          </a:prstGeom>
        </p:spPr>
      </p:pic>
      <p:sp>
        <p:nvSpPr>
          <p:cNvPr id="24" name="Text 19"/>
          <p:cNvSpPr txBox="1"/>
          <p:nvPr/>
        </p:nvSpPr>
        <p:spPr>
          <a:xfrm>
            <a:off x="8356397" y="4251960"/>
            <a:ext cx="3058058" cy="274320"/>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Una de les poques</a:t>
            </a:r>
            <a:endParaRPr lang="en-US" sz="1800" dirty="0"/>
          </a:p>
        </p:txBody>
      </p:sp>
      <p:sp>
        <p:nvSpPr>
          <p:cNvPr id="25" name="Text 20"/>
          <p:cNvSpPr txBox="1"/>
          <p:nvPr/>
        </p:nvSpPr>
        <p:spPr>
          <a:xfrm>
            <a:off x="8356397" y="4617720"/>
            <a:ext cx="3058058" cy="123444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La de Tutankamon és una de les poques que es van trobar gairebé intactes.</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temples, cases dels déus</a:t>
            </a:r>
            <a:endParaRPr lang="en-US" sz="2800" dirty="0"/>
          </a:p>
        </p:txBody>
      </p:sp>
      <p:sp>
        <p:nvSpPr>
          <p:cNvPr id="5" name="Cercle icona"/>
          <p:cNvSpPr/>
          <p:nvPr/>
        </p:nvSpPr>
        <p:spPr>
          <a:xfrm>
            <a:off x="548640" y="1476756"/>
            <a:ext cx="548640" cy="548640"/>
          </a:xfrm>
          <a:prstGeom prst="ellipse">
            <a:avLst/>
          </a:prstGeom>
          <a:solidFill>
            <a:srgbClr val="E6F4EA"/>
          </a:solidFill>
          <a:ln/>
        </p:spPr>
      </p:sp>
      <p:pic>
        <p:nvPicPr>
          <p:cNvPr id="6" name="Icona TbBuildingMonument" descr="/home/claude/pc/build/1r-eso-civilitzacions/img/ic/TbBuildingMonument-g.png">    </p:cNvPr>
          <p:cNvPicPr>
            <a:picLocks noChangeAspect="1"/>
          </p:cNvPicPr>
          <p:nvPr/>
        </p:nvPicPr>
        <p:blipFill>
          <a:blip r:embed="rId1"/>
          <a:stretch>
            <a:fillRect/>
          </a:stretch>
        </p:blipFill>
        <p:spPr>
          <a:xfrm>
            <a:off x="669341" y="1597457"/>
            <a:ext cx="307238" cy="307238"/>
          </a:xfrm>
          <a:prstGeom prst="rect">
            <a:avLst/>
          </a:prstGeom>
        </p:spPr>
      </p:pic>
      <p:sp>
        <p:nvSpPr>
          <p:cNvPr id="7" name="Text 4"/>
          <p:cNvSpPr txBox="1"/>
          <p:nvPr/>
        </p:nvSpPr>
        <p:spPr>
          <a:xfrm>
            <a:off x="1298448" y="1371600"/>
            <a:ext cx="5925312" cy="86868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Com eren? </a:t>
            </a:r>
            <a:pPr indent="0" marL="0">
              <a:buNone/>
            </a:pPr>
            <a:r>
              <a:rPr lang="en-US" sz="1600" dirty="0">
                <a:solidFill>
                  <a:srgbClr val="202124"/>
                </a:solidFill>
                <a:latin typeface="Roboto" pitchFamily="34" charset="0"/>
                <a:ea typeface="Roboto" pitchFamily="34" charset="-122"/>
                <a:cs typeface="Roboto" pitchFamily="34" charset="-120"/>
              </a:rPr>
              <a:t>Avingudes d'esfinxs, grans portes (pilons), patis i sales de columnes gegantines.</a:t>
            </a:r>
            <a:endParaRPr lang="en-US" sz="1600" dirty="0"/>
          </a:p>
        </p:txBody>
      </p:sp>
      <p:sp>
        <p:nvSpPr>
          <p:cNvPr id="8" name="Cercle icona"/>
          <p:cNvSpPr/>
          <p:nvPr/>
        </p:nvSpPr>
        <p:spPr>
          <a:xfrm>
            <a:off x="548640" y="2436876"/>
            <a:ext cx="548640" cy="548640"/>
          </a:xfrm>
          <a:prstGeom prst="ellipse">
            <a:avLst/>
          </a:prstGeom>
          <a:solidFill>
            <a:srgbClr val="E6F4EA"/>
          </a:solidFill>
          <a:ln/>
        </p:spPr>
      </p:sp>
      <p:pic>
        <p:nvPicPr>
          <p:cNvPr id="9" name="Icona TbSun" descr="/home/claude/pc/build/1r-eso-civilitzacions/img/ic/TbSun-g.png">    </p:cNvPr>
          <p:cNvPicPr>
            <a:picLocks noChangeAspect="1"/>
          </p:cNvPicPr>
          <p:nvPr/>
        </p:nvPicPr>
        <p:blipFill>
          <a:blip r:embed="rId2"/>
          <a:stretch>
            <a:fillRect/>
          </a:stretch>
        </p:blipFill>
        <p:spPr>
          <a:xfrm>
            <a:off x="669341" y="2557577"/>
            <a:ext cx="307238" cy="307238"/>
          </a:xfrm>
          <a:prstGeom prst="rect">
            <a:avLst/>
          </a:prstGeom>
        </p:spPr>
      </p:pic>
      <p:sp>
        <p:nvSpPr>
          <p:cNvPr id="10" name="Text 6"/>
          <p:cNvSpPr txBox="1"/>
          <p:nvPr/>
        </p:nvSpPr>
        <p:spPr>
          <a:xfrm>
            <a:off x="1298448" y="2331720"/>
            <a:ext cx="5925312" cy="86868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Karnak i Luxor, </a:t>
            </a:r>
            <a:pPr indent="0" marL="0">
              <a:buNone/>
            </a:pPr>
            <a:r>
              <a:rPr lang="en-US" sz="1600" dirty="0">
                <a:solidFill>
                  <a:srgbClr val="202124"/>
                </a:solidFill>
                <a:latin typeface="Roboto" pitchFamily="34" charset="0"/>
                <a:ea typeface="Roboto" pitchFamily="34" charset="-122"/>
                <a:cs typeface="Roboto" pitchFamily="34" charset="-120"/>
              </a:rPr>
              <a:t>dedicats al déu Amon.</a:t>
            </a:r>
            <a:endParaRPr lang="en-US" sz="1600" dirty="0"/>
          </a:p>
        </p:txBody>
      </p:sp>
      <p:sp>
        <p:nvSpPr>
          <p:cNvPr id="11" name="Cercle icona"/>
          <p:cNvSpPr/>
          <p:nvPr/>
        </p:nvSpPr>
        <p:spPr>
          <a:xfrm>
            <a:off x="548640" y="3396996"/>
            <a:ext cx="548640" cy="548640"/>
          </a:xfrm>
          <a:prstGeom prst="ellipse">
            <a:avLst/>
          </a:prstGeom>
          <a:solidFill>
            <a:srgbClr val="E6F4EA"/>
          </a:solidFill>
          <a:ln/>
        </p:spPr>
      </p:sp>
      <p:pic>
        <p:nvPicPr>
          <p:cNvPr id="12" name="Icona TbBuildingFortress" descr="/home/claude/pc/build/1r-eso-civilitzacions/img/ic/TbBuildingFortress-g.png">    </p:cNvPr>
          <p:cNvPicPr>
            <a:picLocks noChangeAspect="1"/>
          </p:cNvPicPr>
          <p:nvPr/>
        </p:nvPicPr>
        <p:blipFill>
          <a:blip r:embed="rId3"/>
          <a:stretch>
            <a:fillRect/>
          </a:stretch>
        </p:blipFill>
        <p:spPr>
          <a:xfrm>
            <a:off x="669341" y="3517697"/>
            <a:ext cx="307238" cy="307238"/>
          </a:xfrm>
          <a:prstGeom prst="rect">
            <a:avLst/>
          </a:prstGeom>
        </p:spPr>
      </p:pic>
      <p:sp>
        <p:nvSpPr>
          <p:cNvPr id="13" name="Text 8"/>
          <p:cNvSpPr txBox="1"/>
          <p:nvPr/>
        </p:nvSpPr>
        <p:spPr>
          <a:xfrm>
            <a:off x="1298448" y="3291840"/>
            <a:ext cx="5925312" cy="86868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Abu Simbel, </a:t>
            </a:r>
            <a:pPr indent="0" marL="0">
              <a:buNone/>
            </a:pPr>
            <a:r>
              <a:rPr lang="en-US" sz="1600" dirty="0">
                <a:solidFill>
                  <a:srgbClr val="202124"/>
                </a:solidFill>
                <a:latin typeface="Roboto" pitchFamily="34" charset="0"/>
                <a:ea typeface="Roboto" pitchFamily="34" charset="-122"/>
                <a:cs typeface="Roboto" pitchFamily="34" charset="-120"/>
              </a:rPr>
              <a:t>excavat a la roca per Ramsès II.</a:t>
            </a:r>
            <a:endParaRPr lang="en-US" sz="1600" dirty="0"/>
          </a:p>
        </p:txBody>
      </p:sp>
      <p:sp>
        <p:nvSpPr>
          <p:cNvPr id="14" name="Cercle icona"/>
          <p:cNvSpPr/>
          <p:nvPr/>
        </p:nvSpPr>
        <p:spPr>
          <a:xfrm>
            <a:off x="548640" y="4357116"/>
            <a:ext cx="548640" cy="548640"/>
          </a:xfrm>
          <a:prstGeom prst="ellipse">
            <a:avLst/>
          </a:prstGeom>
          <a:solidFill>
            <a:srgbClr val="E6F4EA"/>
          </a:solidFill>
          <a:ln/>
        </p:spPr>
      </p:sp>
      <p:pic>
        <p:nvPicPr>
          <p:cNvPr id="15" name="Icona TbLock" descr="/home/claude/pc/build/1r-eso-civilitzacions/img/ic/TbLock-g.png">    </p:cNvPr>
          <p:cNvPicPr>
            <a:picLocks noChangeAspect="1"/>
          </p:cNvPicPr>
          <p:nvPr/>
        </p:nvPicPr>
        <p:blipFill>
          <a:blip r:embed="rId4"/>
          <a:stretch>
            <a:fillRect/>
          </a:stretch>
        </p:blipFill>
        <p:spPr>
          <a:xfrm>
            <a:off x="669341" y="4477817"/>
            <a:ext cx="307238" cy="307238"/>
          </a:xfrm>
          <a:prstGeom prst="rect">
            <a:avLst/>
          </a:prstGeom>
        </p:spPr>
      </p:pic>
      <p:sp>
        <p:nvSpPr>
          <p:cNvPr id="16" name="Text 10"/>
          <p:cNvSpPr txBox="1"/>
          <p:nvPr/>
        </p:nvSpPr>
        <p:spPr>
          <a:xfrm>
            <a:off x="1298448" y="4251960"/>
            <a:ext cx="5925312" cy="86868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Tancats al poble. </a:t>
            </a:r>
            <a:pPr indent="0" marL="0">
              <a:buNone/>
            </a:pPr>
            <a:r>
              <a:rPr lang="en-US" sz="1600" dirty="0">
                <a:solidFill>
                  <a:srgbClr val="202124"/>
                </a:solidFill>
                <a:latin typeface="Roboto" pitchFamily="34" charset="0"/>
                <a:ea typeface="Roboto" pitchFamily="34" charset="-122"/>
                <a:cs typeface="Roboto" pitchFamily="34" charset="-120"/>
              </a:rPr>
              <a:t>Només el faraó i els sacerdots entraven a les sales on hi havia l'estàtua del déu. La gent s'hi acostava quan el déu sortia en processó.</a:t>
            </a:r>
            <a:endParaRPr lang="en-US" sz="1600" dirty="0"/>
          </a:p>
        </p:txBody>
      </p:sp>
      <p:sp>
        <p:nvSpPr>
          <p:cNvPr id="17" name="Saps que…? · Abu Simbel es va moure"/>
          <p:cNvSpPr/>
          <p:nvPr/>
        </p:nvSpPr>
        <p:spPr>
          <a:xfrm>
            <a:off x="7498080" y="1371600"/>
            <a:ext cx="4144975" cy="2468880"/>
          </a:xfrm>
          <a:prstGeom prst="roundRect">
            <a:avLst>
              <a:gd name="adj" fmla="val 4074"/>
            </a:avLst>
          </a:prstGeom>
          <a:solidFill>
            <a:srgbClr val="E6F4EA"/>
          </a:solidFill>
          <a:ln/>
        </p:spPr>
      </p:sp>
      <p:sp>
        <p:nvSpPr>
          <p:cNvPr id="18" name="Text 12"/>
          <p:cNvSpPr txBox="1"/>
          <p:nvPr/>
        </p:nvSpPr>
        <p:spPr>
          <a:xfrm>
            <a:off x="7818120" y="1527048"/>
            <a:ext cx="350489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Saps que…? · Abu Simbel es va moure</a:t>
            </a:r>
            <a:endParaRPr lang="en-US" sz="1400" dirty="0"/>
          </a:p>
        </p:txBody>
      </p:sp>
      <p:sp>
        <p:nvSpPr>
          <p:cNvPr id="19" name="Text 13"/>
          <p:cNvSpPr txBox="1"/>
          <p:nvPr/>
        </p:nvSpPr>
        <p:spPr>
          <a:xfrm>
            <a:off x="7818120" y="1874520"/>
            <a:ext cx="3504895" cy="182880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Als anys 1960, la presa d'Assuan havia d'inundar-lo sota un llac artificial. Amb l'ajuda de la UNESCO, es va tallar en blocs i es va tornar a muntar més amunt. L'obra es va acabar el 1968.</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Un art amb normes</a:t>
            </a:r>
            <a:endParaRPr lang="en-US" sz="2800" dirty="0"/>
          </a:p>
        </p:txBody>
      </p:sp>
      <p:sp>
        <p:nvSpPr>
          <p:cNvPr id="5" name="Fons La paleta de Narmer"/>
          <p:cNvSpPr/>
          <p:nvPr/>
        </p:nvSpPr>
        <p:spPr>
          <a:xfrm>
            <a:off x="548640" y="1371600"/>
            <a:ext cx="3108960" cy="4145280"/>
          </a:xfrm>
          <a:prstGeom prst="roundRect">
            <a:avLst>
              <a:gd name="adj" fmla="val 3235"/>
            </a:avLst>
          </a:prstGeom>
          <a:solidFill>
            <a:srgbClr val="F6F8FB"/>
          </a:solidFill>
          <a:ln/>
        </p:spPr>
      </p:sp>
      <p:pic>
        <p:nvPicPr>
          <p:cNvPr id="6" name="La paleta de Narmer" descr="/home/claude/pc/build/1r-eso-civilitzacions/img/narmer.jpg">    </p:cNvPr>
          <p:cNvPicPr>
            <a:picLocks noChangeAspect="1"/>
          </p:cNvPicPr>
          <p:nvPr/>
        </p:nvPicPr>
        <p:blipFill>
          <a:blip r:embed="rId1"/>
          <a:stretch>
            <a:fillRect/>
          </a:stretch>
        </p:blipFill>
        <p:spPr>
          <a:xfrm>
            <a:off x="548640" y="1371600"/>
            <a:ext cx="3108960" cy="4145280"/>
          </a:xfrm>
          <a:prstGeom prst="rect">
            <a:avLst/>
          </a:prstGeom>
        </p:spPr>
      </p:pic>
      <p:sp>
        <p:nvSpPr>
          <p:cNvPr id="7" name="Text 4"/>
          <p:cNvSpPr txBox="1"/>
          <p:nvPr/>
        </p:nvSpPr>
        <p:spPr>
          <a:xfrm>
            <a:off x="548640" y="5608320"/>
            <a:ext cx="3108960"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paleta de Narmer. Hi pots comprovar les normes de l'art egipci. Foto: Onceinawhile, Wikimedia Commons, CC BY-SA 4.0.</a:t>
            </a:r>
            <a:endParaRPr lang="en-US" sz="1000" dirty="0"/>
          </a:p>
        </p:txBody>
      </p:sp>
      <p:sp>
        <p:nvSpPr>
          <p:cNvPr id="8" name="Text 5"/>
          <p:cNvSpPr txBox="1"/>
          <p:nvPr/>
        </p:nvSpPr>
        <p:spPr>
          <a:xfrm>
            <a:off x="3977640" y="1371600"/>
            <a:ext cx="7665415" cy="109728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L'art egipci pot semblar «sempre igual», i ho és expressament. Les normes gairebé no van canviar en 3.000 anys, perquè l'art complia una funció religiosa.</a:t>
            </a:r>
            <a:endParaRPr lang="en-US" sz="1600" dirty="0"/>
          </a:p>
        </p:txBody>
      </p:sp>
      <p:sp>
        <p:nvSpPr>
          <p:cNvPr id="9" name="Targeta Perspectiva composta"/>
          <p:cNvSpPr/>
          <p:nvPr/>
        </p:nvSpPr>
        <p:spPr>
          <a:xfrm>
            <a:off x="3977640" y="2606040"/>
            <a:ext cx="2421026" cy="3383280"/>
          </a:xfrm>
          <a:prstGeom prst="roundRect">
            <a:avLst>
              <a:gd name="adj" fmla="val 4155"/>
            </a:avLst>
          </a:prstGeom>
          <a:solidFill>
            <a:srgbClr val="FFFFFF"/>
          </a:solidFill>
          <a:ln w="12700">
            <a:solidFill>
              <a:srgbClr val="DADCE0"/>
            </a:solidFill>
            <a:prstDash val="solid"/>
          </a:ln>
        </p:spPr>
      </p:sp>
      <p:sp>
        <p:nvSpPr>
          <p:cNvPr id="10" name="Cercle icona"/>
          <p:cNvSpPr/>
          <p:nvPr/>
        </p:nvSpPr>
        <p:spPr>
          <a:xfrm>
            <a:off x="4206240" y="2834640"/>
            <a:ext cx="548640" cy="548640"/>
          </a:xfrm>
          <a:prstGeom prst="ellipse">
            <a:avLst/>
          </a:prstGeom>
          <a:solidFill>
            <a:srgbClr val="E6F4EA"/>
          </a:solidFill>
          <a:ln/>
        </p:spPr>
      </p:sp>
      <p:pic>
        <p:nvPicPr>
          <p:cNvPr id="11" name="Icona TbUser" descr="/home/claude/pc/build/1r-eso-civilitzacions/img/ic/TbUser-g.png">    </p:cNvPr>
          <p:cNvPicPr>
            <a:picLocks noChangeAspect="1"/>
          </p:cNvPicPr>
          <p:nvPr/>
        </p:nvPicPr>
        <p:blipFill>
          <a:blip r:embed="rId2"/>
          <a:stretch>
            <a:fillRect/>
          </a:stretch>
        </p:blipFill>
        <p:spPr>
          <a:xfrm>
            <a:off x="4326941" y="2955341"/>
            <a:ext cx="307238" cy="307238"/>
          </a:xfrm>
          <a:prstGeom prst="rect">
            <a:avLst/>
          </a:prstGeom>
        </p:spPr>
      </p:pic>
      <p:sp>
        <p:nvSpPr>
          <p:cNvPr id="12" name="Text 8"/>
          <p:cNvSpPr txBox="1"/>
          <p:nvPr/>
        </p:nvSpPr>
        <p:spPr>
          <a:xfrm>
            <a:off x="4206240" y="3520440"/>
            <a:ext cx="1963826" cy="502920"/>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Perspectiva composta</a:t>
            </a:r>
            <a:endParaRPr lang="en-US" sz="1650" dirty="0"/>
          </a:p>
        </p:txBody>
      </p:sp>
      <p:sp>
        <p:nvSpPr>
          <p:cNvPr id="13" name="Text 9"/>
          <p:cNvSpPr txBox="1"/>
          <p:nvPr/>
        </p:nvSpPr>
        <p:spPr>
          <a:xfrm>
            <a:off x="4206240" y="4114800"/>
            <a:ext cx="1963826" cy="17373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Cap i cames de perfil, però l'ull i les espatlles de front.</a:t>
            </a:r>
            <a:endParaRPr lang="en-US" sz="1500" dirty="0"/>
          </a:p>
        </p:txBody>
      </p:sp>
      <p:sp>
        <p:nvSpPr>
          <p:cNvPr id="14" name="Targeta Frontalitat"/>
          <p:cNvSpPr/>
          <p:nvPr/>
        </p:nvSpPr>
        <p:spPr>
          <a:xfrm>
            <a:off x="6599834" y="2606040"/>
            <a:ext cx="2421026" cy="3383280"/>
          </a:xfrm>
          <a:prstGeom prst="roundRect">
            <a:avLst>
              <a:gd name="adj" fmla="val 4155"/>
            </a:avLst>
          </a:prstGeom>
          <a:solidFill>
            <a:srgbClr val="FFFFFF"/>
          </a:solidFill>
          <a:ln w="12700">
            <a:solidFill>
              <a:srgbClr val="DADCE0"/>
            </a:solidFill>
            <a:prstDash val="solid"/>
          </a:ln>
        </p:spPr>
      </p:sp>
      <p:sp>
        <p:nvSpPr>
          <p:cNvPr id="15" name="Cercle icona"/>
          <p:cNvSpPr/>
          <p:nvPr/>
        </p:nvSpPr>
        <p:spPr>
          <a:xfrm>
            <a:off x="6828434" y="2834640"/>
            <a:ext cx="548640" cy="548640"/>
          </a:xfrm>
          <a:prstGeom prst="ellipse">
            <a:avLst/>
          </a:prstGeom>
          <a:solidFill>
            <a:srgbClr val="E6F4EA"/>
          </a:solidFill>
          <a:ln/>
        </p:spPr>
      </p:sp>
      <p:pic>
        <p:nvPicPr>
          <p:cNvPr id="16" name="Icona TbColumns" descr="/home/claude/pc/build/1r-eso-civilitzacions/img/ic/TbColumns-g.png">    </p:cNvPr>
          <p:cNvPicPr>
            <a:picLocks noChangeAspect="1"/>
          </p:cNvPicPr>
          <p:nvPr/>
        </p:nvPicPr>
        <p:blipFill>
          <a:blip r:embed="rId3"/>
          <a:stretch>
            <a:fillRect/>
          </a:stretch>
        </p:blipFill>
        <p:spPr>
          <a:xfrm>
            <a:off x="6949135" y="2955341"/>
            <a:ext cx="307238" cy="307238"/>
          </a:xfrm>
          <a:prstGeom prst="rect">
            <a:avLst/>
          </a:prstGeom>
        </p:spPr>
      </p:pic>
      <p:sp>
        <p:nvSpPr>
          <p:cNvPr id="17" name="Text 12"/>
          <p:cNvSpPr txBox="1"/>
          <p:nvPr/>
        </p:nvSpPr>
        <p:spPr>
          <a:xfrm>
            <a:off x="6828434" y="3520440"/>
            <a:ext cx="1963826" cy="251460"/>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Frontalitat</a:t>
            </a:r>
            <a:endParaRPr lang="en-US" sz="1650" dirty="0"/>
          </a:p>
        </p:txBody>
      </p:sp>
      <p:sp>
        <p:nvSpPr>
          <p:cNvPr id="18" name="Text 13"/>
          <p:cNvSpPr txBox="1"/>
          <p:nvPr/>
        </p:nvSpPr>
        <p:spPr>
          <a:xfrm>
            <a:off x="6828434" y="3863340"/>
            <a:ext cx="1963826" cy="1988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Les estàtues miren al davant, quietes i simètriques.</a:t>
            </a:r>
            <a:endParaRPr lang="en-US" sz="1500" dirty="0"/>
          </a:p>
        </p:txBody>
      </p:sp>
      <p:sp>
        <p:nvSpPr>
          <p:cNvPr id="19" name="Targeta Jerarquia"/>
          <p:cNvSpPr/>
          <p:nvPr/>
        </p:nvSpPr>
        <p:spPr>
          <a:xfrm>
            <a:off x="9222029" y="2606040"/>
            <a:ext cx="2421026" cy="3383280"/>
          </a:xfrm>
          <a:prstGeom prst="roundRect">
            <a:avLst>
              <a:gd name="adj" fmla="val 4155"/>
            </a:avLst>
          </a:prstGeom>
          <a:solidFill>
            <a:srgbClr val="FFFFFF"/>
          </a:solidFill>
          <a:ln w="12700">
            <a:solidFill>
              <a:srgbClr val="DADCE0"/>
            </a:solidFill>
            <a:prstDash val="solid"/>
          </a:ln>
        </p:spPr>
      </p:sp>
      <p:sp>
        <p:nvSpPr>
          <p:cNvPr id="20" name="Cercle icona"/>
          <p:cNvSpPr/>
          <p:nvPr/>
        </p:nvSpPr>
        <p:spPr>
          <a:xfrm>
            <a:off x="9450629" y="2834640"/>
            <a:ext cx="548640" cy="548640"/>
          </a:xfrm>
          <a:prstGeom prst="ellipse">
            <a:avLst/>
          </a:prstGeom>
          <a:solidFill>
            <a:srgbClr val="E6F4EA"/>
          </a:solidFill>
          <a:ln/>
        </p:spPr>
      </p:sp>
      <p:pic>
        <p:nvPicPr>
          <p:cNvPr id="21" name="Icona TbStack2" descr="/home/claude/pc/build/1r-eso-civilitzacions/img/ic/TbStack2-g.png">    </p:cNvPr>
          <p:cNvPicPr>
            <a:picLocks noChangeAspect="1"/>
          </p:cNvPicPr>
          <p:nvPr/>
        </p:nvPicPr>
        <p:blipFill>
          <a:blip r:embed="rId4"/>
          <a:stretch>
            <a:fillRect/>
          </a:stretch>
        </p:blipFill>
        <p:spPr>
          <a:xfrm>
            <a:off x="9571330" y="2955341"/>
            <a:ext cx="307238" cy="307238"/>
          </a:xfrm>
          <a:prstGeom prst="rect">
            <a:avLst/>
          </a:prstGeom>
        </p:spPr>
      </p:pic>
      <p:sp>
        <p:nvSpPr>
          <p:cNvPr id="22" name="Text 16"/>
          <p:cNvSpPr txBox="1"/>
          <p:nvPr/>
        </p:nvSpPr>
        <p:spPr>
          <a:xfrm>
            <a:off x="9450629" y="3520440"/>
            <a:ext cx="1963826" cy="251460"/>
          </a:xfrm>
          <a:prstGeom prst="rect">
            <a:avLst/>
          </a:prstGeom>
          <a:noFill/>
          <a:ln/>
        </p:spPr>
        <p:txBody>
          <a:bodyPr wrap="square" lIns="0" tIns="0" rIns="0" bIns="0" rtlCol="0" anchor="t"/>
          <a:lstStyle/>
          <a:p>
            <a:pPr indent="0" marL="0">
              <a:buNone/>
            </a:pPr>
            <a:r>
              <a:rPr lang="en-US" sz="1650" b="1" dirty="0">
                <a:solidFill>
                  <a:srgbClr val="188038"/>
                </a:solidFill>
                <a:latin typeface="Roboto" pitchFamily="34" charset="0"/>
                <a:ea typeface="Roboto" pitchFamily="34" charset="-122"/>
                <a:cs typeface="Roboto" pitchFamily="34" charset="-120"/>
              </a:rPr>
              <a:t>Jerarquia</a:t>
            </a:r>
            <a:endParaRPr lang="en-US" sz="1650" dirty="0"/>
          </a:p>
        </p:txBody>
      </p:sp>
      <p:sp>
        <p:nvSpPr>
          <p:cNvPr id="23" name="Text 17"/>
          <p:cNvSpPr txBox="1"/>
          <p:nvPr/>
        </p:nvSpPr>
        <p:spPr>
          <a:xfrm>
            <a:off x="9450629" y="3863340"/>
            <a:ext cx="1963826" cy="198882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La mida depèn de la importància. El faraó, sempre molt més gran.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jeroglífics i el misteri desxifrat</a:t>
            </a:r>
            <a:endParaRPr lang="en-US" sz="2800" dirty="0"/>
          </a:p>
        </p:txBody>
      </p:sp>
      <p:sp>
        <p:nvSpPr>
          <p:cNvPr id="5" name="Cercle icona"/>
          <p:cNvSpPr/>
          <p:nvPr/>
        </p:nvSpPr>
        <p:spPr>
          <a:xfrm>
            <a:off x="548640" y="1463040"/>
            <a:ext cx="530352" cy="530352"/>
          </a:xfrm>
          <a:prstGeom prst="ellipse">
            <a:avLst/>
          </a:prstGeom>
          <a:solidFill>
            <a:srgbClr val="E6F4EA"/>
          </a:solidFill>
          <a:ln/>
        </p:spPr>
      </p:sp>
      <p:pic>
        <p:nvPicPr>
          <p:cNvPr id="6" name="Icona TbLanguage" descr="/home/claude/pc/build/1r-eso-civilitzacions/img/ic/TbLanguage-g.png">    </p:cNvPr>
          <p:cNvPicPr>
            <a:picLocks noChangeAspect="1"/>
          </p:cNvPicPr>
          <p:nvPr/>
        </p:nvPicPr>
        <p:blipFill>
          <a:blip r:embed="rId1"/>
          <a:stretch>
            <a:fillRect/>
          </a:stretch>
        </p:blipFill>
        <p:spPr>
          <a:xfrm>
            <a:off x="665317" y="1579717"/>
            <a:ext cx="296997" cy="296997"/>
          </a:xfrm>
          <a:prstGeom prst="rect">
            <a:avLst/>
          </a:prstGeom>
        </p:spPr>
      </p:pic>
      <p:sp>
        <p:nvSpPr>
          <p:cNvPr id="7" name="Text 4"/>
          <p:cNvSpPr txBox="1"/>
          <p:nvPr/>
        </p:nvSpPr>
        <p:spPr>
          <a:xfrm>
            <a:off x="1280160" y="1371600"/>
            <a:ext cx="5852160" cy="82296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Centenars de signes-dibuix </a:t>
            </a:r>
            <a:pPr indent="0" marL="0">
              <a:buNone/>
            </a:pPr>
            <a:r>
              <a:rPr lang="en-US" sz="1600" dirty="0">
                <a:solidFill>
                  <a:srgbClr val="202124"/>
                </a:solidFill>
                <a:latin typeface="Roboto" pitchFamily="34" charset="0"/>
                <a:ea typeface="Roboto" pitchFamily="34" charset="-122"/>
                <a:cs typeface="Roboto" pitchFamily="34" charset="-120"/>
              </a:rPr>
              <a:t>que podien representar idees o sons.</a:t>
            </a:r>
            <a:endParaRPr lang="en-US" sz="1600" dirty="0"/>
          </a:p>
        </p:txBody>
      </p:sp>
      <p:sp>
        <p:nvSpPr>
          <p:cNvPr id="8" name="Cercle icona"/>
          <p:cNvSpPr/>
          <p:nvPr/>
        </p:nvSpPr>
        <p:spPr>
          <a:xfrm>
            <a:off x="548640" y="2377440"/>
            <a:ext cx="530352" cy="530352"/>
          </a:xfrm>
          <a:prstGeom prst="ellipse">
            <a:avLst/>
          </a:prstGeom>
          <a:solidFill>
            <a:srgbClr val="E6F4EA"/>
          </a:solidFill>
          <a:ln/>
        </p:spPr>
      </p:sp>
      <p:pic>
        <p:nvPicPr>
          <p:cNvPr id="9" name="Icona TbBuildingMonument" descr="/home/claude/pc/build/1r-eso-civilitzacions/img/ic/TbBuildingMonument-g.png">    </p:cNvPr>
          <p:cNvPicPr>
            <a:picLocks noChangeAspect="1"/>
          </p:cNvPicPr>
          <p:nvPr/>
        </p:nvPicPr>
        <p:blipFill>
          <a:blip r:embed="rId2"/>
          <a:stretch>
            <a:fillRect/>
          </a:stretch>
        </p:blipFill>
        <p:spPr>
          <a:xfrm>
            <a:off x="665317" y="2494117"/>
            <a:ext cx="296997" cy="296997"/>
          </a:xfrm>
          <a:prstGeom prst="rect">
            <a:avLst/>
          </a:prstGeom>
        </p:spPr>
      </p:pic>
      <p:sp>
        <p:nvSpPr>
          <p:cNvPr id="10" name="Text 6"/>
          <p:cNvSpPr txBox="1"/>
          <p:nvPr/>
        </p:nvSpPr>
        <p:spPr>
          <a:xfrm>
            <a:off x="1280160" y="2286000"/>
            <a:ext cx="5852160" cy="82296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On escrivien? </a:t>
            </a:r>
            <a:pPr indent="0" marL="0">
              <a:buNone/>
            </a:pPr>
            <a:r>
              <a:rPr lang="en-US" sz="1600" dirty="0">
                <a:solidFill>
                  <a:srgbClr val="202124"/>
                </a:solidFill>
                <a:latin typeface="Roboto" pitchFamily="34" charset="0"/>
                <a:ea typeface="Roboto" pitchFamily="34" charset="-122"/>
                <a:cs typeface="Roboto" pitchFamily="34" charset="-120"/>
              </a:rPr>
              <a:t>A les parets de temples i tombes, i sobre papir, fet amb una planta del Nil.</a:t>
            </a:r>
            <a:endParaRPr lang="en-US" sz="1600" dirty="0"/>
          </a:p>
        </p:txBody>
      </p:sp>
      <p:sp>
        <p:nvSpPr>
          <p:cNvPr id="11" name="Cercle icona"/>
          <p:cNvSpPr/>
          <p:nvPr/>
        </p:nvSpPr>
        <p:spPr>
          <a:xfrm>
            <a:off x="548640" y="3291840"/>
            <a:ext cx="530352" cy="530352"/>
          </a:xfrm>
          <a:prstGeom prst="ellipse">
            <a:avLst/>
          </a:prstGeom>
          <a:solidFill>
            <a:srgbClr val="E6F4EA"/>
          </a:solidFill>
          <a:ln/>
        </p:spPr>
      </p:sp>
      <p:pic>
        <p:nvPicPr>
          <p:cNvPr id="12" name="Icona TbLock" descr="/home/claude/pc/build/1r-eso-civilitzacions/img/ic/TbLock-g.png">    </p:cNvPr>
          <p:cNvPicPr>
            <a:picLocks noChangeAspect="1"/>
          </p:cNvPicPr>
          <p:nvPr/>
        </p:nvPicPr>
        <p:blipFill>
          <a:blip r:embed="rId3"/>
          <a:stretch>
            <a:fillRect/>
          </a:stretch>
        </p:blipFill>
        <p:spPr>
          <a:xfrm>
            <a:off x="665317" y="3408517"/>
            <a:ext cx="296997" cy="296997"/>
          </a:xfrm>
          <a:prstGeom prst="rect">
            <a:avLst/>
          </a:prstGeom>
        </p:spPr>
      </p:pic>
      <p:sp>
        <p:nvSpPr>
          <p:cNvPr id="13" name="Text 8"/>
          <p:cNvSpPr txBox="1"/>
          <p:nvPr/>
        </p:nvSpPr>
        <p:spPr>
          <a:xfrm>
            <a:off x="1280160" y="3200400"/>
            <a:ext cx="5852160" cy="822960"/>
          </a:xfrm>
          <a:prstGeom prst="rect">
            <a:avLst/>
          </a:prstGeom>
          <a:noFill/>
          <a:ln/>
        </p:spPr>
        <p:txBody>
          <a:bodyPr wrap="square" lIns="0" tIns="0" rIns="0" bIns="0" rtlCol="0" anchor="ctr"/>
          <a:lstStyle/>
          <a:p>
            <a:pPr indent="0" marL="0">
              <a:buNone/>
            </a:pPr>
            <a:r>
              <a:rPr lang="en-US" sz="1600" b="1" dirty="0">
                <a:solidFill>
                  <a:srgbClr val="202124"/>
                </a:solidFill>
                <a:latin typeface="Roboto" pitchFamily="34" charset="0"/>
                <a:ea typeface="Roboto" pitchFamily="34" charset="-122"/>
                <a:cs typeface="Roboto" pitchFamily="34" charset="-120"/>
              </a:rPr>
              <a:t>Un misteri. </a:t>
            </a:r>
            <a:pPr indent="0" marL="0">
              <a:buNone/>
            </a:pPr>
            <a:r>
              <a:rPr lang="en-US" sz="1600" dirty="0">
                <a:solidFill>
                  <a:srgbClr val="202124"/>
                </a:solidFill>
                <a:latin typeface="Roboto" pitchFamily="34" charset="0"/>
                <a:ea typeface="Roboto" pitchFamily="34" charset="-122"/>
                <a:cs typeface="Roboto" pitchFamily="34" charset="-120"/>
              </a:rPr>
              <a:t>Quan la civilització egípcia va desaparèixer, ningú no els va saber llegir durant segles.</a:t>
            </a:r>
            <a:endParaRPr lang="en-US" sz="1600" dirty="0"/>
          </a:p>
        </p:txBody>
      </p:sp>
      <p:sp>
        <p:nvSpPr>
          <p:cNvPr id="14" name="Línia del temps"/>
          <p:cNvSpPr/>
          <p:nvPr/>
        </p:nvSpPr>
        <p:spPr>
          <a:xfrm>
            <a:off x="649224" y="4480560"/>
            <a:ext cx="0" cy="731520"/>
          </a:xfrm>
          <a:prstGeom prst="line">
            <a:avLst/>
          </a:prstGeom>
          <a:noFill/>
          <a:ln w="31750">
            <a:solidFill>
              <a:srgbClr val="DADCE0"/>
            </a:solidFill>
            <a:prstDash val="solid"/>
          </a:ln>
        </p:spPr>
      </p:sp>
      <p:sp>
        <p:nvSpPr>
          <p:cNvPr id="15" name="Fita 1799"/>
          <p:cNvSpPr/>
          <p:nvPr/>
        </p:nvSpPr>
        <p:spPr>
          <a:xfrm>
            <a:off x="548640" y="4379976"/>
            <a:ext cx="201168" cy="201168"/>
          </a:xfrm>
          <a:prstGeom prst="ellipse">
            <a:avLst/>
          </a:prstGeom>
          <a:solidFill>
            <a:srgbClr val="FFFFFF"/>
          </a:solidFill>
          <a:ln w="28575">
            <a:solidFill>
              <a:srgbClr val="188038"/>
            </a:solidFill>
            <a:prstDash val="solid"/>
          </a:ln>
        </p:spPr>
      </p:sp>
      <p:sp>
        <p:nvSpPr>
          <p:cNvPr id="16" name="Text 11"/>
          <p:cNvSpPr txBox="1"/>
          <p:nvPr/>
        </p:nvSpPr>
        <p:spPr>
          <a:xfrm>
            <a:off x="932688" y="4343400"/>
            <a:ext cx="914400" cy="292608"/>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1799</a:t>
            </a:r>
            <a:endParaRPr lang="en-US" sz="1700" dirty="0"/>
          </a:p>
        </p:txBody>
      </p:sp>
      <p:sp>
        <p:nvSpPr>
          <p:cNvPr id="17" name="Text 12"/>
          <p:cNvSpPr txBox="1"/>
          <p:nvPr/>
        </p:nvSpPr>
        <p:spPr>
          <a:xfrm>
            <a:off x="1847088" y="4343400"/>
            <a:ext cx="5285232" cy="6858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Es troba la pedra de Rosetta.</a:t>
            </a:r>
            <a:endParaRPr lang="en-US" sz="1700" dirty="0"/>
          </a:p>
        </p:txBody>
      </p:sp>
      <p:sp>
        <p:nvSpPr>
          <p:cNvPr id="18" name="Fita 1822"/>
          <p:cNvSpPr/>
          <p:nvPr/>
        </p:nvSpPr>
        <p:spPr>
          <a:xfrm>
            <a:off x="548640" y="5111496"/>
            <a:ext cx="201168" cy="201168"/>
          </a:xfrm>
          <a:prstGeom prst="ellipse">
            <a:avLst/>
          </a:prstGeom>
          <a:solidFill>
            <a:srgbClr val="188038"/>
          </a:solidFill>
          <a:ln w="28575">
            <a:solidFill>
              <a:srgbClr val="188038"/>
            </a:solidFill>
            <a:prstDash val="solid"/>
          </a:ln>
        </p:spPr>
      </p:sp>
      <p:sp>
        <p:nvSpPr>
          <p:cNvPr id="19" name="Text 14"/>
          <p:cNvSpPr txBox="1"/>
          <p:nvPr/>
        </p:nvSpPr>
        <p:spPr>
          <a:xfrm>
            <a:off x="932688" y="5074920"/>
            <a:ext cx="914400" cy="292608"/>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1822</a:t>
            </a:r>
            <a:endParaRPr lang="en-US" sz="1700" dirty="0"/>
          </a:p>
        </p:txBody>
      </p:sp>
      <p:sp>
        <p:nvSpPr>
          <p:cNvPr id="20" name="Text 15"/>
          <p:cNvSpPr txBox="1"/>
          <p:nvPr/>
        </p:nvSpPr>
        <p:spPr>
          <a:xfrm>
            <a:off x="1847088" y="5074920"/>
            <a:ext cx="5285232" cy="6858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Champollion desxifra els jeroglífics.</a:t>
            </a:r>
            <a:endParaRPr lang="en-US" sz="1700" dirty="0"/>
          </a:p>
        </p:txBody>
      </p:sp>
      <p:sp>
        <p:nvSpPr>
          <p:cNvPr id="21" name="Fons La pedra de Rosetta, 196 aC"/>
          <p:cNvSpPr/>
          <p:nvPr/>
        </p:nvSpPr>
        <p:spPr>
          <a:xfrm>
            <a:off x="7589520" y="1371600"/>
            <a:ext cx="4053535" cy="4023360"/>
          </a:xfrm>
          <a:prstGeom prst="roundRect">
            <a:avLst>
              <a:gd name="adj" fmla="val 2500"/>
            </a:avLst>
          </a:prstGeom>
          <a:solidFill>
            <a:srgbClr val="F6F8FB"/>
          </a:solidFill>
          <a:ln/>
        </p:spPr>
      </p:sp>
      <p:pic>
        <p:nvPicPr>
          <p:cNvPr id="22" name="La pedra de Rosetta, 196 aC" descr="/home/claude/pc/build/1r-eso-civilitzacions/img/rosetta.jpg">    </p:cNvPr>
          <p:cNvPicPr>
            <a:picLocks noChangeAspect="1"/>
          </p:cNvPicPr>
          <p:nvPr/>
        </p:nvPicPr>
        <p:blipFill>
          <a:blip r:embed="rId4"/>
          <a:stretch>
            <a:fillRect/>
          </a:stretch>
        </p:blipFill>
        <p:spPr>
          <a:xfrm>
            <a:off x="7898313" y="1371600"/>
            <a:ext cx="3435949" cy="4023360"/>
          </a:xfrm>
          <a:prstGeom prst="rect">
            <a:avLst/>
          </a:prstGeom>
        </p:spPr>
      </p:pic>
      <p:sp>
        <p:nvSpPr>
          <p:cNvPr id="23" name="Text 17"/>
          <p:cNvSpPr txBox="1"/>
          <p:nvPr/>
        </p:nvSpPr>
        <p:spPr>
          <a:xfrm>
            <a:off x="7589520" y="5486400"/>
            <a:ext cx="405353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La pedra de Rosetta, 196 aC. Fa 1,12 m. Museu Britànic. Foto: Hans Hillewaert, Wikimedia Commons, CC BY-SA 4.0.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Tres escriptures, un sol text</a:t>
            </a:r>
            <a:endParaRPr lang="en-US" sz="2800" dirty="0"/>
          </a:p>
        </p:txBody>
      </p:sp>
      <p:sp>
        <p:nvSpPr>
          <p:cNvPr id="5" name="Font directa · La pedra de Rosetta (196 aC)"/>
          <p:cNvSpPr/>
          <p:nvPr/>
        </p:nvSpPr>
        <p:spPr>
          <a:xfrm>
            <a:off x="548640" y="1371600"/>
            <a:ext cx="11094415" cy="2788920"/>
          </a:xfrm>
          <a:prstGeom prst="roundRect">
            <a:avLst>
              <a:gd name="adj" fmla="val 3607"/>
            </a:avLst>
          </a:prstGeom>
          <a:solidFill>
            <a:srgbClr val="F6F8FB"/>
          </a:solidFill>
          <a:ln/>
        </p:spPr>
      </p:sp>
      <p:sp>
        <p:nvSpPr>
          <p:cNvPr id="6" name="Text 4"/>
          <p:cNvSpPr txBox="1"/>
          <p:nvPr/>
        </p:nvSpPr>
        <p:spPr>
          <a:xfrm>
            <a:off x="914400" y="1554480"/>
            <a:ext cx="10362895"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Font directa · La pedra de Rosetta (196 aC)</a:t>
            </a:r>
            <a:endParaRPr lang="en-US" sz="1400" dirty="0"/>
          </a:p>
        </p:txBody>
      </p:sp>
      <p:sp>
        <p:nvSpPr>
          <p:cNvPr id="7" name="Text 5"/>
          <p:cNvSpPr txBox="1"/>
          <p:nvPr/>
        </p:nvSpPr>
        <p:spPr>
          <a:xfrm>
            <a:off x="914400" y="1965960"/>
            <a:ext cx="10362895" cy="1463040"/>
          </a:xfrm>
          <a:prstGeom prst="rect">
            <a:avLst/>
          </a:prstGeom>
          <a:noFill/>
          <a:ln/>
        </p:spPr>
        <p:txBody>
          <a:bodyPr wrap="square" lIns="0" tIns="0" rIns="0" bIns="0" rtlCol="0" anchor="t"/>
          <a:lstStyle/>
          <a:p>
            <a:pPr indent="0" marL="0">
              <a:buNone/>
            </a:pPr>
            <a:r>
              <a:rPr lang="en-US" sz="1850" i="1" dirty="0">
                <a:solidFill>
                  <a:srgbClr val="202124"/>
                </a:solidFill>
                <a:latin typeface="Roboto" pitchFamily="34" charset="0"/>
                <a:ea typeface="Roboto" pitchFamily="34" charset="-122"/>
                <a:cs typeface="Roboto" pitchFamily="34" charset="-120"/>
              </a:rPr>
              <a:t>«Que aquest decret sigui gravat en una estela de pedra dura en l'escriptura de les paraules dels déus, en l'escriptura dels llibres i en l'escriptura dels grecs, i que sigui col·locat als santuaris dels temples [...] al costat de l'estàtua del rei Ptolemeu, que viu per sempre.»</a:t>
            </a:r>
            <a:endParaRPr lang="en-US" sz="1850" dirty="0"/>
          </a:p>
        </p:txBody>
      </p:sp>
      <p:sp>
        <p:nvSpPr>
          <p:cNvPr id="8" name="Text 6"/>
          <p:cNvSpPr txBox="1"/>
          <p:nvPr/>
        </p:nvSpPr>
        <p:spPr>
          <a:xfrm>
            <a:off x="914400" y="3264408"/>
            <a:ext cx="10362895" cy="777240"/>
          </a:xfrm>
          <a:prstGeom prst="rect">
            <a:avLst/>
          </a:prstGeom>
          <a:noFill/>
          <a:ln/>
        </p:spPr>
        <p:txBody>
          <a:bodyPr wrap="square" lIns="0" tIns="0" rIns="0" bIns="0" rtlCol="0" anchor="b"/>
          <a:lstStyle/>
          <a:p>
            <a:pPr indent="0" marL="0">
              <a:buNone/>
            </a:pPr>
            <a:r>
              <a:rPr lang="en-US" sz="1300" dirty="0">
                <a:solidFill>
                  <a:srgbClr val="5F6368"/>
                </a:solidFill>
                <a:latin typeface="Roboto" pitchFamily="34" charset="0"/>
                <a:ea typeface="Roboto" pitchFamily="34" charset="-122"/>
                <a:cs typeface="Roboto" pitchFamily="34" charset="-120"/>
              </a:rPr>
              <a:t>Decret de Memfis, 196 aC. Traducció catalana adaptada a partir de la versió anglesa d'E. A. Wallis Budge.</a:t>
            </a:r>
            <a:endParaRPr lang="en-US" sz="1300" dirty="0"/>
          </a:p>
        </p:txBody>
      </p:sp>
      <p:sp>
        <p:nvSpPr>
          <p:cNvPr id="9" name="Les tres escriptures"/>
          <p:cNvSpPr/>
          <p:nvPr/>
        </p:nvSpPr>
        <p:spPr>
          <a:xfrm>
            <a:off x="548640" y="4389120"/>
            <a:ext cx="5410048" cy="1645920"/>
          </a:xfrm>
          <a:prstGeom prst="roundRect">
            <a:avLst>
              <a:gd name="adj" fmla="val 6111"/>
            </a:avLst>
          </a:prstGeom>
          <a:solidFill>
            <a:srgbClr val="E6F4EA"/>
          </a:solidFill>
          <a:ln/>
        </p:spPr>
      </p:sp>
      <p:sp>
        <p:nvSpPr>
          <p:cNvPr id="10" name="Text 8"/>
          <p:cNvSpPr txBox="1"/>
          <p:nvPr/>
        </p:nvSpPr>
        <p:spPr>
          <a:xfrm>
            <a:off x="868680" y="454456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Les tres escriptures</a:t>
            </a:r>
            <a:endParaRPr lang="en-US" sz="1400" dirty="0"/>
          </a:p>
        </p:txBody>
      </p:sp>
      <p:sp>
        <p:nvSpPr>
          <p:cNvPr id="11" name="Text 9"/>
          <p:cNvSpPr txBox="1"/>
          <p:nvPr/>
        </p:nvSpPr>
        <p:spPr>
          <a:xfrm>
            <a:off x="868680" y="4892040"/>
            <a:ext cx="4769968" cy="1005840"/>
          </a:xfrm>
          <a:prstGeom prst="rect">
            <a:avLst/>
          </a:prstGeom>
          <a:noFill/>
          <a:ln/>
        </p:spPr>
        <p:txBody>
          <a:bodyPr wrap="square" lIns="0" tIns="0" rIns="0" bIns="0" rtlCol="0" anchor="t"/>
          <a:lstStyle/>
          <a:p>
            <a:pPr indent="0" marL="0">
              <a:buNone/>
            </a:pPr>
            <a:r>
              <a:rPr lang="en-US" sz="1600" dirty="0">
                <a:solidFill>
                  <a:srgbClr val="202124"/>
                </a:solidFill>
                <a:latin typeface="Roboto" pitchFamily="34" charset="0"/>
                <a:ea typeface="Roboto" pitchFamily="34" charset="-122"/>
                <a:cs typeface="Roboto" pitchFamily="34" charset="-120"/>
              </a:rPr>
              <a:t>Les «paraules dels déus» són els jeroglífics, l'«escriptura dels llibres» és el demòtic (la popular egípcia) i la tercera, el grec.</a:t>
            </a:r>
            <a:endParaRPr lang="en-US" sz="1600" dirty="0"/>
          </a:p>
        </p:txBody>
      </p:sp>
      <p:sp>
        <p:nvSpPr>
          <p:cNvPr id="12" name="A prop de casa · Museu Egipci de Barcelona"/>
          <p:cNvSpPr/>
          <p:nvPr/>
        </p:nvSpPr>
        <p:spPr>
          <a:xfrm>
            <a:off x="6233008" y="4389120"/>
            <a:ext cx="5410048" cy="1645920"/>
          </a:xfrm>
          <a:prstGeom prst="roundRect">
            <a:avLst>
              <a:gd name="adj" fmla="val 6111"/>
            </a:avLst>
          </a:prstGeom>
          <a:solidFill>
            <a:srgbClr val="F6F8FB"/>
          </a:solidFill>
          <a:ln/>
        </p:spPr>
      </p:sp>
      <p:sp>
        <p:nvSpPr>
          <p:cNvPr id="13" name="Text 11"/>
          <p:cNvSpPr txBox="1"/>
          <p:nvPr/>
        </p:nvSpPr>
        <p:spPr>
          <a:xfrm>
            <a:off x="6553048" y="454456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A prop de casa · Museu Egipci de Barcelona</a:t>
            </a:r>
            <a:endParaRPr lang="en-US" sz="1400" dirty="0"/>
          </a:p>
        </p:txBody>
      </p:sp>
      <p:sp>
        <p:nvSpPr>
          <p:cNvPr id="14" name="Text 12"/>
          <p:cNvSpPr txBox="1"/>
          <p:nvPr/>
        </p:nvSpPr>
        <p:spPr>
          <a:xfrm>
            <a:off x="6553048" y="4892040"/>
            <a:ext cx="4769968" cy="1005840"/>
          </a:xfrm>
          <a:prstGeom prst="rect">
            <a:avLst/>
          </a:prstGeom>
          <a:noFill/>
          <a:ln/>
        </p:spPr>
        <p:txBody>
          <a:bodyPr wrap="square" lIns="0" tIns="0" rIns="0" bIns="0" rtlCol="0" anchor="t"/>
          <a:lstStyle/>
          <a:p>
            <a:pPr indent="0" marL="0">
              <a:buNone/>
            </a:pPr>
            <a:r>
              <a:rPr lang="en-US" sz="1600" dirty="0">
                <a:solidFill>
                  <a:srgbClr val="5F6368"/>
                </a:solidFill>
                <a:latin typeface="Roboto" pitchFamily="34" charset="0"/>
                <a:ea typeface="Roboto" pitchFamily="34" charset="-122"/>
                <a:cs typeface="Roboto" pitchFamily="34" charset="-120"/>
              </a:rPr>
              <a:t>Obert el 1994. Hi ha estàtues, joies, màscares funeràries, sarcòfags i la mòmia coneguda com la Dama de Kemet.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Mastaba"/>
          <p:cNvSpPr/>
          <p:nvPr/>
        </p:nvSpPr>
        <p:spPr>
          <a:xfrm>
            <a:off x="548640" y="1755648"/>
            <a:ext cx="1014984" cy="384048"/>
          </a:xfrm>
          <a:prstGeom prst="roundRect">
            <a:avLst>
              <a:gd name="adj" fmla="val 50000"/>
            </a:avLst>
          </a:prstGeom>
          <a:solidFill>
            <a:srgbClr val="E6F4EA"/>
          </a:solidFill>
          <a:ln/>
        </p:spPr>
      </p:sp>
      <p:sp>
        <p:nvSpPr>
          <p:cNvPr id="7" name="Text 5"/>
          <p:cNvSpPr txBox="1"/>
          <p:nvPr/>
        </p:nvSpPr>
        <p:spPr>
          <a:xfrm>
            <a:off x="548640"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Mastaba</a:t>
            </a:r>
            <a:endParaRPr lang="en-US" sz="1500" dirty="0"/>
          </a:p>
        </p:txBody>
      </p:sp>
      <p:sp>
        <p:nvSpPr>
          <p:cNvPr id="8" name="Etiqueta Piràmide"/>
          <p:cNvSpPr/>
          <p:nvPr/>
        </p:nvSpPr>
        <p:spPr>
          <a:xfrm>
            <a:off x="1673352" y="1755648"/>
            <a:ext cx="1115568" cy="384048"/>
          </a:xfrm>
          <a:prstGeom prst="roundRect">
            <a:avLst>
              <a:gd name="adj" fmla="val 50000"/>
            </a:avLst>
          </a:prstGeom>
          <a:solidFill>
            <a:srgbClr val="E6F4EA"/>
          </a:solidFill>
          <a:ln/>
        </p:spPr>
      </p:sp>
      <p:sp>
        <p:nvSpPr>
          <p:cNvPr id="9" name="Text 7"/>
          <p:cNvSpPr txBox="1"/>
          <p:nvPr/>
        </p:nvSpPr>
        <p:spPr>
          <a:xfrm>
            <a:off x="1673352" y="1755648"/>
            <a:ext cx="1115568"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Piràmide</a:t>
            </a:r>
            <a:endParaRPr lang="en-US" sz="1500" dirty="0"/>
          </a:p>
        </p:txBody>
      </p:sp>
      <p:sp>
        <p:nvSpPr>
          <p:cNvPr id="10" name="Etiqueta Hipogeu"/>
          <p:cNvSpPr/>
          <p:nvPr/>
        </p:nvSpPr>
        <p:spPr>
          <a:xfrm>
            <a:off x="2898648" y="1755648"/>
            <a:ext cx="1014984" cy="384048"/>
          </a:xfrm>
          <a:prstGeom prst="roundRect">
            <a:avLst>
              <a:gd name="adj" fmla="val 50000"/>
            </a:avLst>
          </a:prstGeom>
          <a:solidFill>
            <a:srgbClr val="E6F4EA"/>
          </a:solidFill>
          <a:ln/>
        </p:spPr>
      </p:sp>
      <p:sp>
        <p:nvSpPr>
          <p:cNvPr id="11" name="Text 9"/>
          <p:cNvSpPr txBox="1"/>
          <p:nvPr/>
        </p:nvSpPr>
        <p:spPr>
          <a:xfrm>
            <a:off x="2898648"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Hipogeu</a:t>
            </a:r>
            <a:endParaRPr lang="en-US" sz="1500" dirty="0"/>
          </a:p>
        </p:txBody>
      </p:sp>
      <p:sp>
        <p:nvSpPr>
          <p:cNvPr id="12" name="Etiqueta Perspectiva composta"/>
          <p:cNvSpPr/>
          <p:nvPr/>
        </p:nvSpPr>
        <p:spPr>
          <a:xfrm>
            <a:off x="4023360" y="1755648"/>
            <a:ext cx="2322576" cy="384048"/>
          </a:xfrm>
          <a:prstGeom prst="roundRect">
            <a:avLst>
              <a:gd name="adj" fmla="val 50000"/>
            </a:avLst>
          </a:prstGeom>
          <a:solidFill>
            <a:srgbClr val="E6F4EA"/>
          </a:solidFill>
          <a:ln/>
        </p:spPr>
      </p:sp>
      <p:sp>
        <p:nvSpPr>
          <p:cNvPr id="13" name="Text 11"/>
          <p:cNvSpPr txBox="1"/>
          <p:nvPr/>
        </p:nvSpPr>
        <p:spPr>
          <a:xfrm>
            <a:off x="4023360" y="1755648"/>
            <a:ext cx="232257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Perspectiva composta</a:t>
            </a:r>
            <a:endParaRPr lang="en-US" sz="1500" dirty="0"/>
          </a:p>
        </p:txBody>
      </p:sp>
      <p:sp>
        <p:nvSpPr>
          <p:cNvPr id="14" name="Etiqueta Jeroglífics"/>
          <p:cNvSpPr/>
          <p:nvPr/>
        </p:nvSpPr>
        <p:spPr>
          <a:xfrm>
            <a:off x="6455664" y="1755648"/>
            <a:ext cx="1417320" cy="384048"/>
          </a:xfrm>
          <a:prstGeom prst="roundRect">
            <a:avLst>
              <a:gd name="adj" fmla="val 50000"/>
            </a:avLst>
          </a:prstGeom>
          <a:solidFill>
            <a:srgbClr val="E6F4EA"/>
          </a:solidFill>
          <a:ln/>
        </p:spPr>
      </p:sp>
      <p:sp>
        <p:nvSpPr>
          <p:cNvPr id="15" name="Text 13"/>
          <p:cNvSpPr txBox="1"/>
          <p:nvPr/>
        </p:nvSpPr>
        <p:spPr>
          <a:xfrm>
            <a:off x="6455664" y="1755648"/>
            <a:ext cx="141732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Jeroglífics</a:t>
            </a:r>
            <a:endParaRPr lang="en-US" sz="1500" dirty="0"/>
          </a:p>
        </p:txBody>
      </p:sp>
      <p:sp>
        <p:nvSpPr>
          <p:cNvPr id="16" name="Etiqueta Pedra de Rosetta"/>
          <p:cNvSpPr/>
          <p:nvPr/>
        </p:nvSpPr>
        <p:spPr>
          <a:xfrm>
            <a:off x="7982712" y="1755648"/>
            <a:ext cx="1920240" cy="384048"/>
          </a:xfrm>
          <a:prstGeom prst="roundRect">
            <a:avLst>
              <a:gd name="adj" fmla="val 50000"/>
            </a:avLst>
          </a:prstGeom>
          <a:solidFill>
            <a:srgbClr val="E6F4EA"/>
          </a:solidFill>
          <a:ln/>
        </p:spPr>
      </p:sp>
      <p:sp>
        <p:nvSpPr>
          <p:cNvPr id="17" name="Text 15"/>
          <p:cNvSpPr txBox="1"/>
          <p:nvPr/>
        </p:nvSpPr>
        <p:spPr>
          <a:xfrm>
            <a:off x="7982712" y="1755648"/>
            <a:ext cx="192024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Pedra de Rosetta</a:t>
            </a:r>
            <a:endParaRPr lang="en-US" sz="1500" dirty="0"/>
          </a:p>
        </p:txBody>
      </p:sp>
      <p:sp>
        <p:nvSpPr>
          <p:cNvPr id="18" name="Pregunta 1"/>
          <p:cNvSpPr/>
          <p:nvPr/>
        </p:nvSpPr>
        <p:spPr>
          <a:xfrm>
            <a:off x="548640" y="2514600"/>
            <a:ext cx="11094415" cy="777240"/>
          </a:xfrm>
          <a:prstGeom prst="roundRect">
            <a:avLst>
              <a:gd name="adj" fmla="val 12941"/>
            </a:avLst>
          </a:prstGeom>
          <a:solidFill>
            <a:srgbClr val="FFFFFF"/>
          </a:solidFill>
          <a:ln w="12700">
            <a:solidFill>
              <a:srgbClr val="DADCE0"/>
            </a:solidFill>
            <a:prstDash val="solid"/>
          </a:ln>
        </p:spPr>
      </p:sp>
      <p:sp>
        <p:nvSpPr>
          <p:cNvPr id="19" name="Número 1"/>
          <p:cNvSpPr/>
          <p:nvPr/>
        </p:nvSpPr>
        <p:spPr>
          <a:xfrm>
            <a:off x="822960" y="2674620"/>
            <a:ext cx="457200" cy="457200"/>
          </a:xfrm>
          <a:prstGeom prst="ellipse">
            <a:avLst/>
          </a:prstGeom>
          <a:solidFill>
            <a:srgbClr val="188038"/>
          </a:solidFill>
          <a:ln/>
        </p:spPr>
      </p:sp>
      <p:sp>
        <p:nvSpPr>
          <p:cNvPr id="20" name="Text 18"/>
          <p:cNvSpPr txBox="1"/>
          <p:nvPr/>
        </p:nvSpPr>
        <p:spPr>
          <a:xfrm>
            <a:off x="822960" y="26746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1" name="Text 19"/>
          <p:cNvSpPr txBox="1"/>
          <p:nvPr/>
        </p:nvSpPr>
        <p:spPr>
          <a:xfrm>
            <a:off x="1508760" y="25146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les cases eren de tova i les tombes de pedra?</a:t>
            </a:r>
            <a:endParaRPr lang="en-US" sz="1900" dirty="0"/>
          </a:p>
        </p:txBody>
      </p:sp>
      <p:sp>
        <p:nvSpPr>
          <p:cNvPr id="22" name="Pregunta 2"/>
          <p:cNvSpPr/>
          <p:nvPr/>
        </p:nvSpPr>
        <p:spPr>
          <a:xfrm>
            <a:off x="548640" y="3429000"/>
            <a:ext cx="11094415" cy="777240"/>
          </a:xfrm>
          <a:prstGeom prst="roundRect">
            <a:avLst>
              <a:gd name="adj" fmla="val 12941"/>
            </a:avLst>
          </a:prstGeom>
          <a:solidFill>
            <a:srgbClr val="FFFFFF"/>
          </a:solidFill>
          <a:ln w="12700">
            <a:solidFill>
              <a:srgbClr val="DADCE0"/>
            </a:solidFill>
            <a:prstDash val="solid"/>
          </a:ln>
        </p:spPr>
      </p:sp>
      <p:sp>
        <p:nvSpPr>
          <p:cNvPr id="23" name="Número 2"/>
          <p:cNvSpPr/>
          <p:nvPr/>
        </p:nvSpPr>
        <p:spPr>
          <a:xfrm>
            <a:off x="822960" y="3589020"/>
            <a:ext cx="457200" cy="457200"/>
          </a:xfrm>
          <a:prstGeom prst="ellipse">
            <a:avLst/>
          </a:prstGeom>
          <a:solidFill>
            <a:srgbClr val="188038"/>
          </a:solidFill>
          <a:ln/>
        </p:spPr>
      </p:sp>
      <p:sp>
        <p:nvSpPr>
          <p:cNvPr id="24" name="Text 22"/>
          <p:cNvSpPr txBox="1"/>
          <p:nvPr/>
        </p:nvSpPr>
        <p:spPr>
          <a:xfrm>
            <a:off x="822960" y="35890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5" name="Text 23"/>
          <p:cNvSpPr txBox="1"/>
          <p:nvPr/>
        </p:nvSpPr>
        <p:spPr>
          <a:xfrm>
            <a:off x="1508760" y="34290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Com es pintaven les figures humanes a Egipte?</a:t>
            </a:r>
            <a:endParaRPr lang="en-US" sz="1900" dirty="0"/>
          </a:p>
        </p:txBody>
      </p:sp>
      <p:sp>
        <p:nvSpPr>
          <p:cNvPr id="26" name="Pregunta 3"/>
          <p:cNvSpPr/>
          <p:nvPr/>
        </p:nvSpPr>
        <p:spPr>
          <a:xfrm>
            <a:off x="548640" y="4343400"/>
            <a:ext cx="11094415" cy="777240"/>
          </a:xfrm>
          <a:prstGeom prst="roundRect">
            <a:avLst>
              <a:gd name="adj" fmla="val 12941"/>
            </a:avLst>
          </a:prstGeom>
          <a:solidFill>
            <a:srgbClr val="FFFFFF"/>
          </a:solidFill>
          <a:ln w="12700">
            <a:solidFill>
              <a:srgbClr val="DADCE0"/>
            </a:solidFill>
            <a:prstDash val="solid"/>
          </a:ln>
        </p:spPr>
      </p:sp>
      <p:sp>
        <p:nvSpPr>
          <p:cNvPr id="27" name="Número 3"/>
          <p:cNvSpPr/>
          <p:nvPr/>
        </p:nvSpPr>
        <p:spPr>
          <a:xfrm>
            <a:off x="822960" y="4503420"/>
            <a:ext cx="457200" cy="457200"/>
          </a:xfrm>
          <a:prstGeom prst="ellipse">
            <a:avLst/>
          </a:prstGeom>
          <a:solidFill>
            <a:srgbClr val="188038"/>
          </a:solidFill>
          <a:ln/>
        </p:spPr>
      </p:sp>
      <p:sp>
        <p:nvSpPr>
          <p:cNvPr id="28" name="Text 26"/>
          <p:cNvSpPr txBox="1"/>
          <p:nvPr/>
        </p:nvSpPr>
        <p:spPr>
          <a:xfrm>
            <a:off x="822960" y="45034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29" name="Text 27"/>
          <p:cNvSpPr txBox="1"/>
          <p:nvPr/>
        </p:nvSpPr>
        <p:spPr>
          <a:xfrm>
            <a:off x="1508760" y="43434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Què és una mastaba i què és un hipogeu?</a:t>
            </a:r>
            <a:endParaRPr lang="en-US" sz="1900" dirty="0"/>
          </a:p>
        </p:txBody>
      </p:sp>
      <p:sp>
        <p:nvSpPr>
          <p:cNvPr id="30" name="Pregunta 4"/>
          <p:cNvSpPr/>
          <p:nvPr/>
        </p:nvSpPr>
        <p:spPr>
          <a:xfrm>
            <a:off x="548640" y="5257800"/>
            <a:ext cx="11094415" cy="777240"/>
          </a:xfrm>
          <a:prstGeom prst="roundRect">
            <a:avLst>
              <a:gd name="adj" fmla="val 12941"/>
            </a:avLst>
          </a:prstGeom>
          <a:solidFill>
            <a:srgbClr val="FFFFFF"/>
          </a:solidFill>
          <a:ln w="12700">
            <a:solidFill>
              <a:srgbClr val="DADCE0"/>
            </a:solidFill>
            <a:prstDash val="solid"/>
          </a:ln>
        </p:spPr>
      </p:sp>
      <p:sp>
        <p:nvSpPr>
          <p:cNvPr id="31" name="Número 4"/>
          <p:cNvSpPr/>
          <p:nvPr/>
        </p:nvSpPr>
        <p:spPr>
          <a:xfrm>
            <a:off x="822960" y="5417820"/>
            <a:ext cx="457200" cy="457200"/>
          </a:xfrm>
          <a:prstGeom prst="ellipse">
            <a:avLst/>
          </a:prstGeom>
          <a:solidFill>
            <a:srgbClr val="188038"/>
          </a:solidFill>
          <a:ln/>
        </p:spPr>
      </p:sp>
      <p:sp>
        <p:nvSpPr>
          <p:cNvPr id="32" name="Text 30"/>
          <p:cNvSpPr txBox="1"/>
          <p:nvPr/>
        </p:nvSpPr>
        <p:spPr>
          <a:xfrm>
            <a:off x="822960" y="54178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3" name="Text 31"/>
          <p:cNvSpPr txBox="1"/>
          <p:nvPr/>
        </p:nvSpPr>
        <p:spPr>
          <a:xfrm>
            <a:off x="1508760" y="52578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la pedra de Rosetta va permetre desxifrar els jeroglífics?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Capçalera"/>
          <p:cNvSpPr/>
          <p:nvPr/>
        </p:nvSpPr>
        <p:spPr>
          <a:xfrm>
            <a:off x="548640" y="548640"/>
            <a:ext cx="6720840" cy="3657600"/>
          </a:xfrm>
          <a:prstGeom prst="roundRect">
            <a:avLst>
              <a:gd name="adj" fmla="val 2750"/>
            </a:avLst>
          </a:prstGeom>
          <a:solidFill>
            <a:srgbClr val="188038"/>
          </a:solidFill>
          <a:ln/>
        </p:spPr>
      </p:sp>
      <p:pic>
        <p:nvPicPr>
          <p:cNvPr id="3" name="Il·lustració d'un ziggurat i el sol" descr="/home/claude/pc/build/1r-eso-civilitzacions/hero-crop.png">    </p:cNvPr>
          <p:cNvPicPr>
            <a:picLocks noChangeAspect="1"/>
          </p:cNvPicPr>
          <p:nvPr/>
        </p:nvPicPr>
        <p:blipFill>
          <a:blip r:embed="rId1"/>
          <a:stretch>
            <a:fillRect/>
          </a:stretch>
        </p:blipFill>
        <p:spPr>
          <a:xfrm>
            <a:off x="3520440" y="2294081"/>
            <a:ext cx="3566160" cy="1893871"/>
          </a:xfrm>
          <a:prstGeom prst="rect">
            <a:avLst/>
          </a:prstGeom>
        </p:spPr>
      </p:pic>
      <p:sp>
        <p:nvSpPr>
          <p:cNvPr id="4" name="Etiqueta Apartat 6"/>
          <p:cNvSpPr/>
          <p:nvPr/>
        </p:nvSpPr>
        <p:spPr>
          <a:xfrm>
            <a:off x="960120" y="896112"/>
            <a:ext cx="1035101" cy="310896"/>
          </a:xfrm>
          <a:prstGeom prst="roundRect">
            <a:avLst>
              <a:gd name="adj" fmla="val 50000"/>
            </a:avLst>
          </a:prstGeom>
          <a:solidFill>
            <a:srgbClr val="FFFFFF">
              <a:alpha val="18000"/>
            </a:srgbClr>
          </a:solidFill>
          <a:ln/>
        </p:spPr>
      </p:sp>
      <p:sp>
        <p:nvSpPr>
          <p:cNvPr id="5" name="Text 2"/>
          <p:cNvSpPr txBox="1"/>
          <p:nvPr/>
        </p:nvSpPr>
        <p:spPr>
          <a:xfrm>
            <a:off x="960120" y="896112"/>
            <a:ext cx="1035101" cy="310896"/>
          </a:xfrm>
          <a:prstGeom prst="rect">
            <a:avLst/>
          </a:prstGeom>
          <a:noFill/>
          <a:ln/>
        </p:spPr>
        <p:txBody>
          <a:bodyPr wrap="square" lIns="0" tIns="0" rIns="0" bIns="0" rtlCol="0" anchor="ctr"/>
          <a:lstStyle/>
          <a:p>
            <a:pPr algn="ctr" indent="0" marL="0">
              <a:buNone/>
            </a:pPr>
            <a:r>
              <a:rPr lang="en-US" sz="1250" dirty="0">
                <a:solidFill>
                  <a:srgbClr val="FFFFFF"/>
                </a:solidFill>
                <a:latin typeface="Roboto" pitchFamily="34" charset="0"/>
                <a:ea typeface="Roboto" pitchFamily="34" charset="-122"/>
                <a:cs typeface="Roboto" pitchFamily="34" charset="-120"/>
              </a:rPr>
              <a:t>Apartat 6</a:t>
            </a:r>
            <a:endParaRPr lang="en-US" sz="1250" dirty="0"/>
          </a:p>
        </p:txBody>
      </p:sp>
      <p:sp>
        <p:nvSpPr>
          <p:cNvPr id="6" name="Text 3"/>
          <p:cNvSpPr txBox="1"/>
          <p:nvPr/>
        </p:nvSpPr>
        <p:spPr>
          <a:xfrm>
            <a:off x="960120" y="1371600"/>
            <a:ext cx="5760720" cy="1280160"/>
          </a:xfrm>
          <a:prstGeom prst="rect">
            <a:avLst/>
          </a:prstGeom>
          <a:noFill/>
          <a:ln/>
        </p:spPr>
        <p:txBody>
          <a:bodyPr wrap="square" lIns="0" tIns="0" rIns="0" bIns="0" rtlCol="0" anchor="t"/>
          <a:lstStyle/>
          <a:p>
            <a:pPr indent="0" marL="0">
              <a:lnSpc>
                <a:spcPct val="95000"/>
              </a:lnSpc>
              <a:buNone/>
            </a:pPr>
            <a:r>
              <a:rPr lang="en-US" sz="3400" b="1" dirty="0">
                <a:solidFill>
                  <a:srgbClr val="FFFFFF"/>
                </a:solidFill>
                <a:latin typeface="Roboto" pitchFamily="34" charset="0"/>
                <a:ea typeface="Roboto" pitchFamily="34" charset="-122"/>
                <a:cs typeface="Roboto" pitchFamily="34" charset="-120"/>
              </a:rPr>
              <a:t>Altres civilitzacions urbanes del món antic</a:t>
            </a:r>
            <a:endParaRPr lang="en-US" sz="3400" dirty="0"/>
          </a:p>
        </p:txBody>
      </p:sp>
      <p:sp>
        <p:nvSpPr>
          <p:cNvPr id="7" name="Pregunta guia"/>
          <p:cNvSpPr/>
          <p:nvPr/>
        </p:nvSpPr>
        <p:spPr>
          <a:xfrm>
            <a:off x="548640" y="4389120"/>
            <a:ext cx="6720840" cy="1645920"/>
          </a:xfrm>
          <a:prstGeom prst="roundRect">
            <a:avLst>
              <a:gd name="adj" fmla="val 6111"/>
            </a:avLst>
          </a:prstGeom>
          <a:solidFill>
            <a:srgbClr val="F6F8FB"/>
          </a:solidFill>
          <a:ln/>
        </p:spPr>
      </p:sp>
      <p:sp>
        <p:nvSpPr>
          <p:cNvPr id="8" name="Text 5"/>
          <p:cNvSpPr txBox="1"/>
          <p:nvPr/>
        </p:nvSpPr>
        <p:spPr>
          <a:xfrm>
            <a:off x="914400" y="4590288"/>
            <a:ext cx="4572000" cy="320040"/>
          </a:xfrm>
          <a:prstGeom prst="rect">
            <a:avLst/>
          </a:prstGeom>
          <a:noFill/>
          <a:ln/>
        </p:spPr>
        <p:txBody>
          <a:bodyPr wrap="square" lIns="0" tIns="0" rIns="0" bIns="0" rtlCol="0" anchor="t"/>
          <a:lstStyle/>
          <a:p>
            <a:pPr indent="0" marL="0">
              <a:buNone/>
            </a:pPr>
            <a:r>
              <a:rPr lang="en-US" sz="1300" b="1" dirty="0">
                <a:solidFill>
                  <a:srgbClr val="188038"/>
                </a:solidFill>
                <a:latin typeface="Roboto" pitchFamily="34" charset="0"/>
                <a:ea typeface="Roboto" pitchFamily="34" charset="-122"/>
                <a:cs typeface="Roboto" pitchFamily="34" charset="-120"/>
              </a:rPr>
              <a:t>Pregunta guia</a:t>
            </a:r>
            <a:endParaRPr lang="en-US" sz="1300" dirty="0"/>
          </a:p>
        </p:txBody>
      </p:sp>
      <p:sp>
        <p:nvSpPr>
          <p:cNvPr id="9" name="Text 6"/>
          <p:cNvSpPr txBox="1"/>
          <p:nvPr/>
        </p:nvSpPr>
        <p:spPr>
          <a:xfrm>
            <a:off x="914400" y="4937760"/>
            <a:ext cx="6035040" cy="914400"/>
          </a:xfrm>
          <a:prstGeom prst="rect">
            <a:avLst/>
          </a:prstGeom>
          <a:noFill/>
          <a:ln/>
        </p:spPr>
        <p:txBody>
          <a:bodyPr wrap="square" lIns="0" tIns="0" rIns="0" bIns="0" rtlCol="0" anchor="t"/>
          <a:lstStyle/>
          <a:p>
            <a:pPr indent="0" marL="0">
              <a:buNone/>
            </a:pPr>
            <a:r>
              <a:rPr lang="en-US" sz="1900" dirty="0">
                <a:solidFill>
                  <a:srgbClr val="5F6368"/>
                </a:solidFill>
                <a:latin typeface="Roboto" pitchFamily="34" charset="0"/>
                <a:ea typeface="Roboto" pitchFamily="34" charset="-122"/>
                <a:cs typeface="Roboto" pitchFamily="34" charset="-120"/>
              </a:rPr>
              <a:t>Quines coses que fas cada dia, com mirar l'hora o escriure, les van inventar pobles de fa milers d'anys?</a:t>
            </a:r>
            <a:endParaRPr lang="en-US" sz="1900" dirty="0"/>
          </a:p>
        </p:txBody>
      </p:sp>
      <p:sp>
        <p:nvSpPr>
          <p:cNvPr id="10" name="Fons Altres civilitzacions urbanes del món antic"/>
          <p:cNvSpPr/>
          <p:nvPr/>
        </p:nvSpPr>
        <p:spPr>
          <a:xfrm>
            <a:off x="7635240" y="1390769"/>
            <a:ext cx="4007815" cy="3006613"/>
          </a:xfrm>
          <a:prstGeom prst="roundRect">
            <a:avLst>
              <a:gd name="adj" fmla="val 3345"/>
            </a:avLst>
          </a:prstGeom>
          <a:solidFill>
            <a:srgbClr val="F6F8FB"/>
          </a:solidFill>
          <a:ln/>
        </p:spPr>
      </p:sp>
      <p:pic>
        <p:nvPicPr>
          <p:cNvPr id="11" name="Altres civilitzacions urbanes del món antic" descr="/home/claude/pc/build/1r-eso-civilitzacions/img/bany.jpg">    </p:cNvPr>
          <p:cNvPicPr>
            <a:picLocks noChangeAspect="1"/>
          </p:cNvPicPr>
          <p:nvPr/>
        </p:nvPicPr>
        <p:blipFill>
          <a:blip r:embed="rId2"/>
          <a:stretch>
            <a:fillRect/>
          </a:stretch>
        </p:blipFill>
        <p:spPr>
          <a:xfrm>
            <a:off x="7635240" y="1390769"/>
            <a:ext cx="4007815" cy="3006613"/>
          </a:xfrm>
          <a:prstGeom prst="rect">
            <a:avLst/>
          </a:prstGeom>
        </p:spPr>
      </p:pic>
      <p:sp>
        <p:nvSpPr>
          <p:cNvPr id="12" name="Text 8"/>
          <p:cNvSpPr txBox="1"/>
          <p:nvPr/>
        </p:nvSpPr>
        <p:spPr>
          <a:xfrm>
            <a:off x="7635240" y="4507111"/>
            <a:ext cx="40078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El Gran Bany de Mohenjo-daro (Pakistan), III mil·lenni aC. Fa uns 12 m de llarg, 7 d'ample i 2,4 de fondària. Foto: Saqib Qayyum, Wikimedia Commons, CC BY-SA 3.0.</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civilització de l'Indus</a:t>
            </a:r>
            <a:endParaRPr lang="en-US" sz="2800" dirty="0"/>
          </a:p>
        </p:txBody>
      </p:sp>
      <p:sp>
        <p:nvSpPr>
          <p:cNvPr id="5" name="Text 3"/>
          <p:cNvSpPr txBox="1"/>
          <p:nvPr/>
        </p:nvSpPr>
        <p:spPr>
          <a:xfrm>
            <a:off x="548640" y="1371600"/>
            <a:ext cx="3840480" cy="868680"/>
          </a:xfrm>
          <a:prstGeom prst="rect">
            <a:avLst/>
          </a:prstGeom>
          <a:noFill/>
          <a:ln/>
        </p:spPr>
        <p:txBody>
          <a:bodyPr wrap="square" lIns="0" tIns="0" rIns="0" bIns="0" rtlCol="0" anchor="t"/>
          <a:lstStyle/>
          <a:p>
            <a:pPr indent="0" marL="0">
              <a:buNone/>
            </a:pPr>
            <a:r>
              <a:rPr lang="en-US" sz="3200" b="1" dirty="0">
                <a:solidFill>
                  <a:srgbClr val="188038"/>
                </a:solidFill>
                <a:latin typeface="Roboto" pitchFamily="34" charset="0"/>
                <a:ea typeface="Roboto" pitchFamily="34" charset="-122"/>
                <a:cs typeface="Roboto" pitchFamily="34" charset="-120"/>
              </a:rPr>
              <a:t>3300 – 1300 aC</a:t>
            </a:r>
            <a:endParaRPr lang="en-US" sz="3200" dirty="0"/>
          </a:p>
        </p:txBody>
      </p:sp>
      <p:sp>
        <p:nvSpPr>
          <p:cNvPr id="6" name="Text 4"/>
          <p:cNvSpPr txBox="1"/>
          <p:nvPr/>
        </p:nvSpPr>
        <p:spPr>
          <a:xfrm>
            <a:off x="548640" y="2286000"/>
            <a:ext cx="3840480" cy="137160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A la vall de l'Indus, a l'actual Pakistan i al nord-oest de l'Índia. Plenitud entre el 2600 i el 1900 aC.</a:t>
            </a:r>
            <a:endParaRPr lang="en-US" sz="1550" dirty="0"/>
          </a:p>
        </p:txBody>
      </p:sp>
      <p:sp>
        <p:nvSpPr>
          <p:cNvPr id="7" name="Un misteri"/>
          <p:cNvSpPr/>
          <p:nvPr/>
        </p:nvSpPr>
        <p:spPr>
          <a:xfrm>
            <a:off x="548640" y="3749040"/>
            <a:ext cx="3840480" cy="1371600"/>
          </a:xfrm>
          <a:prstGeom prst="roundRect">
            <a:avLst>
              <a:gd name="adj" fmla="val 7333"/>
            </a:avLst>
          </a:prstGeom>
          <a:solidFill>
            <a:srgbClr val="F6F8FB"/>
          </a:solidFill>
          <a:ln/>
        </p:spPr>
      </p:sp>
      <p:sp>
        <p:nvSpPr>
          <p:cNvPr id="8" name="Text 6"/>
          <p:cNvSpPr txBox="1"/>
          <p:nvPr/>
        </p:nvSpPr>
        <p:spPr>
          <a:xfrm>
            <a:off x="868680" y="3904488"/>
            <a:ext cx="3200400"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Un misteri</a:t>
            </a:r>
            <a:endParaRPr lang="en-US" sz="1400" dirty="0"/>
          </a:p>
        </p:txBody>
      </p:sp>
      <p:sp>
        <p:nvSpPr>
          <p:cNvPr id="9" name="Text 7"/>
          <p:cNvSpPr txBox="1"/>
          <p:nvPr/>
        </p:nvSpPr>
        <p:spPr>
          <a:xfrm>
            <a:off x="868680" y="4251960"/>
            <a:ext cx="3200400" cy="731520"/>
          </a:xfrm>
          <a:prstGeom prst="rect">
            <a:avLst/>
          </a:prstGeom>
          <a:noFill/>
          <a:ln/>
        </p:spPr>
        <p:txBody>
          <a:bodyPr wrap="square" lIns="0" tIns="0" rIns="0" bIns="0" rtlCol="0" anchor="t"/>
          <a:lstStyle/>
          <a:p>
            <a:pPr indent="0" marL="0">
              <a:buNone/>
            </a:pPr>
            <a:r>
              <a:rPr lang="en-US" sz="1600" dirty="0">
                <a:solidFill>
                  <a:srgbClr val="5F6368"/>
                </a:solidFill>
                <a:latin typeface="Roboto" pitchFamily="34" charset="0"/>
                <a:ea typeface="Roboto" pitchFamily="34" charset="-122"/>
                <a:cs typeface="Roboto" pitchFamily="34" charset="-120"/>
              </a:rPr>
              <a:t>Tenien una escriptura que encara no s'ha desxifrat.</a:t>
            </a:r>
            <a:endParaRPr lang="en-US" sz="1600" dirty="0"/>
          </a:p>
        </p:txBody>
      </p:sp>
      <p:sp>
        <p:nvSpPr>
          <p:cNvPr id="10" name="Targeta Mohenjo-daro i Harappa"/>
          <p:cNvSpPr/>
          <p:nvPr/>
        </p:nvSpPr>
        <p:spPr>
          <a:xfrm>
            <a:off x="4663440" y="1371600"/>
            <a:ext cx="3375508" cy="2194560"/>
          </a:xfrm>
          <a:prstGeom prst="roundRect">
            <a:avLst>
              <a:gd name="adj" fmla="val 4583"/>
            </a:avLst>
          </a:prstGeom>
          <a:solidFill>
            <a:srgbClr val="FFFFFF"/>
          </a:solidFill>
          <a:ln w="12700">
            <a:solidFill>
              <a:srgbClr val="DADCE0"/>
            </a:solidFill>
            <a:prstDash val="solid"/>
          </a:ln>
        </p:spPr>
      </p:sp>
      <p:sp>
        <p:nvSpPr>
          <p:cNvPr id="11" name="Cercle icona"/>
          <p:cNvSpPr/>
          <p:nvPr/>
        </p:nvSpPr>
        <p:spPr>
          <a:xfrm>
            <a:off x="4892040" y="1600200"/>
            <a:ext cx="594360" cy="594360"/>
          </a:xfrm>
          <a:prstGeom prst="ellipse">
            <a:avLst/>
          </a:prstGeom>
          <a:solidFill>
            <a:srgbClr val="E6F4EA"/>
          </a:solidFill>
          <a:ln/>
        </p:spPr>
      </p:sp>
      <p:pic>
        <p:nvPicPr>
          <p:cNvPr id="12" name="Icona TbMapPins" descr="/home/claude/pc/build/1r-eso-civilitzacions/img/ic/TbMapPins-g.png">    </p:cNvPr>
          <p:cNvPicPr>
            <a:picLocks noChangeAspect="1"/>
          </p:cNvPicPr>
          <p:nvPr/>
        </p:nvPicPr>
        <p:blipFill>
          <a:blip r:embed="rId1"/>
          <a:stretch>
            <a:fillRect/>
          </a:stretch>
        </p:blipFill>
        <p:spPr>
          <a:xfrm>
            <a:off x="5022799" y="1730959"/>
            <a:ext cx="332842" cy="332842"/>
          </a:xfrm>
          <a:prstGeom prst="rect">
            <a:avLst/>
          </a:prstGeom>
        </p:spPr>
      </p:pic>
      <p:sp>
        <p:nvSpPr>
          <p:cNvPr id="13" name="Text 10"/>
          <p:cNvSpPr txBox="1"/>
          <p:nvPr/>
        </p:nvSpPr>
        <p:spPr>
          <a:xfrm>
            <a:off x="4892040" y="2331720"/>
            <a:ext cx="2918308"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Mohenjo-daro i Harappa</a:t>
            </a:r>
            <a:endParaRPr lang="en-US" sz="1700" dirty="0"/>
          </a:p>
        </p:txBody>
      </p:sp>
      <p:sp>
        <p:nvSpPr>
          <p:cNvPr id="14" name="Text 11"/>
          <p:cNvSpPr txBox="1"/>
          <p:nvPr/>
        </p:nvSpPr>
        <p:spPr>
          <a:xfrm>
            <a:off x="4892040" y="2682240"/>
            <a:ext cx="2918308" cy="7467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Les seves grans ciutats.</a:t>
            </a:r>
            <a:endParaRPr lang="en-US" sz="1550" dirty="0"/>
          </a:p>
        </p:txBody>
      </p:sp>
      <p:sp>
        <p:nvSpPr>
          <p:cNvPr id="15" name="Targeta Ciutats planificades"/>
          <p:cNvSpPr/>
          <p:nvPr/>
        </p:nvSpPr>
        <p:spPr>
          <a:xfrm>
            <a:off x="8267548" y="1371600"/>
            <a:ext cx="3375508" cy="2194560"/>
          </a:xfrm>
          <a:prstGeom prst="roundRect">
            <a:avLst>
              <a:gd name="adj" fmla="val 4583"/>
            </a:avLst>
          </a:prstGeom>
          <a:solidFill>
            <a:srgbClr val="FFFFFF"/>
          </a:solidFill>
          <a:ln w="12700">
            <a:solidFill>
              <a:srgbClr val="DADCE0"/>
            </a:solidFill>
            <a:prstDash val="solid"/>
          </a:ln>
        </p:spPr>
      </p:sp>
      <p:sp>
        <p:nvSpPr>
          <p:cNvPr id="16" name="Cercle icona"/>
          <p:cNvSpPr/>
          <p:nvPr/>
        </p:nvSpPr>
        <p:spPr>
          <a:xfrm>
            <a:off x="8496148" y="1600200"/>
            <a:ext cx="594360" cy="594360"/>
          </a:xfrm>
          <a:prstGeom prst="ellipse">
            <a:avLst/>
          </a:prstGeom>
          <a:solidFill>
            <a:srgbClr val="E6F4EA"/>
          </a:solidFill>
          <a:ln/>
        </p:spPr>
      </p:sp>
      <p:pic>
        <p:nvPicPr>
          <p:cNvPr id="17" name="Icona TbTable" descr="/home/claude/pc/build/1r-eso-civilitzacions/img/ic/TbTable-g.png">    </p:cNvPr>
          <p:cNvPicPr>
            <a:picLocks noChangeAspect="1"/>
          </p:cNvPicPr>
          <p:nvPr/>
        </p:nvPicPr>
        <p:blipFill>
          <a:blip r:embed="rId2"/>
          <a:stretch>
            <a:fillRect/>
          </a:stretch>
        </p:blipFill>
        <p:spPr>
          <a:xfrm>
            <a:off x="8626907" y="1730959"/>
            <a:ext cx="332842" cy="332842"/>
          </a:xfrm>
          <a:prstGeom prst="rect">
            <a:avLst/>
          </a:prstGeom>
        </p:spPr>
      </p:pic>
      <p:sp>
        <p:nvSpPr>
          <p:cNvPr id="18" name="Text 14"/>
          <p:cNvSpPr txBox="1"/>
          <p:nvPr/>
        </p:nvSpPr>
        <p:spPr>
          <a:xfrm>
            <a:off x="8496148" y="2331720"/>
            <a:ext cx="2918308"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Ciutats planificades</a:t>
            </a:r>
            <a:endParaRPr lang="en-US" sz="1700" dirty="0"/>
          </a:p>
        </p:txBody>
      </p:sp>
      <p:sp>
        <p:nvSpPr>
          <p:cNvPr id="19" name="Text 15"/>
          <p:cNvSpPr txBox="1"/>
          <p:nvPr/>
        </p:nvSpPr>
        <p:spPr>
          <a:xfrm>
            <a:off x="8496148" y="2682240"/>
            <a:ext cx="2918308" cy="7467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Amb traçat ortogonal, carrers en angle recte.</a:t>
            </a:r>
            <a:endParaRPr lang="en-US" sz="1550" dirty="0"/>
          </a:p>
        </p:txBody>
      </p:sp>
      <p:sp>
        <p:nvSpPr>
          <p:cNvPr id="20" name="Targeta Aigües residuals"/>
          <p:cNvSpPr/>
          <p:nvPr/>
        </p:nvSpPr>
        <p:spPr>
          <a:xfrm>
            <a:off x="4663440" y="3794760"/>
            <a:ext cx="3375508" cy="2194560"/>
          </a:xfrm>
          <a:prstGeom prst="roundRect">
            <a:avLst>
              <a:gd name="adj" fmla="val 4583"/>
            </a:avLst>
          </a:prstGeom>
          <a:solidFill>
            <a:srgbClr val="FFFFFF"/>
          </a:solidFill>
          <a:ln w="12700">
            <a:solidFill>
              <a:srgbClr val="DADCE0"/>
            </a:solidFill>
            <a:prstDash val="solid"/>
          </a:ln>
        </p:spPr>
      </p:sp>
      <p:sp>
        <p:nvSpPr>
          <p:cNvPr id="21" name="Cercle icona"/>
          <p:cNvSpPr/>
          <p:nvPr/>
        </p:nvSpPr>
        <p:spPr>
          <a:xfrm>
            <a:off x="4892040" y="4023360"/>
            <a:ext cx="594360" cy="594360"/>
          </a:xfrm>
          <a:prstGeom prst="ellipse">
            <a:avLst/>
          </a:prstGeom>
          <a:solidFill>
            <a:srgbClr val="E6F4EA"/>
          </a:solidFill>
          <a:ln/>
        </p:spPr>
      </p:sp>
      <p:pic>
        <p:nvPicPr>
          <p:cNvPr id="22" name="Icona TbDroplets" descr="/home/claude/pc/build/1r-eso-civilitzacions/img/ic/TbDroplets-g.png">    </p:cNvPr>
          <p:cNvPicPr>
            <a:picLocks noChangeAspect="1"/>
          </p:cNvPicPr>
          <p:nvPr/>
        </p:nvPicPr>
        <p:blipFill>
          <a:blip r:embed="rId3"/>
          <a:stretch>
            <a:fillRect/>
          </a:stretch>
        </p:blipFill>
        <p:spPr>
          <a:xfrm>
            <a:off x="5022799" y="4154119"/>
            <a:ext cx="332842" cy="332842"/>
          </a:xfrm>
          <a:prstGeom prst="rect">
            <a:avLst/>
          </a:prstGeom>
        </p:spPr>
      </p:pic>
      <p:sp>
        <p:nvSpPr>
          <p:cNvPr id="23" name="Text 18"/>
          <p:cNvSpPr txBox="1"/>
          <p:nvPr/>
        </p:nvSpPr>
        <p:spPr>
          <a:xfrm>
            <a:off x="4892040" y="4754880"/>
            <a:ext cx="2918308"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Aigües residuals</a:t>
            </a:r>
            <a:endParaRPr lang="en-US" sz="1700" dirty="0"/>
          </a:p>
        </p:txBody>
      </p:sp>
      <p:sp>
        <p:nvSpPr>
          <p:cNvPr id="24" name="Text 19"/>
          <p:cNvSpPr txBox="1"/>
          <p:nvPr/>
        </p:nvSpPr>
        <p:spPr>
          <a:xfrm>
            <a:off x="4892040" y="5105400"/>
            <a:ext cx="2918308" cy="7467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Sistemes de clavegueram i dipòsits públics.</a:t>
            </a:r>
            <a:endParaRPr lang="en-US" sz="1550" dirty="0"/>
          </a:p>
        </p:txBody>
      </p:sp>
      <p:sp>
        <p:nvSpPr>
          <p:cNvPr id="25" name="Targeta Banys rituals"/>
          <p:cNvSpPr/>
          <p:nvPr/>
        </p:nvSpPr>
        <p:spPr>
          <a:xfrm>
            <a:off x="8267548" y="3794760"/>
            <a:ext cx="3375508" cy="2194560"/>
          </a:xfrm>
          <a:prstGeom prst="roundRect">
            <a:avLst>
              <a:gd name="adj" fmla="val 4583"/>
            </a:avLst>
          </a:prstGeom>
          <a:solidFill>
            <a:srgbClr val="FFFFFF"/>
          </a:solidFill>
          <a:ln w="12700">
            <a:solidFill>
              <a:srgbClr val="DADCE0"/>
            </a:solidFill>
            <a:prstDash val="solid"/>
          </a:ln>
        </p:spPr>
      </p:sp>
      <p:sp>
        <p:nvSpPr>
          <p:cNvPr id="26" name="Cercle icona"/>
          <p:cNvSpPr/>
          <p:nvPr/>
        </p:nvSpPr>
        <p:spPr>
          <a:xfrm>
            <a:off x="8496148" y="4023360"/>
            <a:ext cx="594360" cy="594360"/>
          </a:xfrm>
          <a:prstGeom prst="ellipse">
            <a:avLst/>
          </a:prstGeom>
          <a:solidFill>
            <a:srgbClr val="E6F4EA"/>
          </a:solidFill>
          <a:ln/>
        </p:spPr>
      </p:sp>
      <p:pic>
        <p:nvPicPr>
          <p:cNvPr id="27" name="Icona TbBath" descr="/home/claude/pc/build/1r-eso-civilitzacions/img/ic/TbBath-g.png">    </p:cNvPr>
          <p:cNvPicPr>
            <a:picLocks noChangeAspect="1"/>
          </p:cNvPicPr>
          <p:nvPr/>
        </p:nvPicPr>
        <p:blipFill>
          <a:blip r:embed="rId4"/>
          <a:stretch>
            <a:fillRect/>
          </a:stretch>
        </p:blipFill>
        <p:spPr>
          <a:xfrm>
            <a:off x="8626907" y="4154119"/>
            <a:ext cx="332842" cy="332842"/>
          </a:xfrm>
          <a:prstGeom prst="rect">
            <a:avLst/>
          </a:prstGeom>
        </p:spPr>
      </p:pic>
      <p:sp>
        <p:nvSpPr>
          <p:cNvPr id="28" name="Text 22"/>
          <p:cNvSpPr txBox="1"/>
          <p:nvPr/>
        </p:nvSpPr>
        <p:spPr>
          <a:xfrm>
            <a:off x="8496148" y="4754880"/>
            <a:ext cx="2918308" cy="259080"/>
          </a:xfrm>
          <a:prstGeom prst="rect">
            <a:avLst/>
          </a:prstGeom>
          <a:noFill/>
          <a:ln/>
        </p:spPr>
        <p:txBody>
          <a:bodyPr wrap="square" lIns="0" tIns="0" rIns="0" bIns="0" rtlCol="0" anchor="t"/>
          <a:lstStyle/>
          <a:p>
            <a:pPr indent="0" marL="0">
              <a:buNone/>
            </a:pPr>
            <a:r>
              <a:rPr lang="en-US" sz="1700" b="1" dirty="0">
                <a:solidFill>
                  <a:srgbClr val="188038"/>
                </a:solidFill>
                <a:latin typeface="Roboto" pitchFamily="34" charset="0"/>
                <a:ea typeface="Roboto" pitchFamily="34" charset="-122"/>
                <a:cs typeface="Roboto" pitchFamily="34" charset="-120"/>
              </a:rPr>
              <a:t>Banys rituals</a:t>
            </a:r>
            <a:endParaRPr lang="en-US" sz="1700" dirty="0"/>
          </a:p>
        </p:txBody>
      </p:sp>
      <p:sp>
        <p:nvSpPr>
          <p:cNvPr id="29" name="Text 23"/>
          <p:cNvSpPr txBox="1"/>
          <p:nvPr/>
        </p:nvSpPr>
        <p:spPr>
          <a:xfrm>
            <a:off x="8496148" y="5105400"/>
            <a:ext cx="2918308" cy="7467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L'urbanisme més avançat del seu temps.</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 Xina antiga</a:t>
            </a:r>
            <a:endParaRPr lang="en-US" sz="2800" dirty="0"/>
          </a:p>
        </p:txBody>
      </p:sp>
      <p:sp>
        <p:nvSpPr>
          <p:cNvPr id="5" name="Text 3"/>
          <p:cNvSpPr txBox="1"/>
          <p:nvPr/>
        </p:nvSpPr>
        <p:spPr>
          <a:xfrm>
            <a:off x="548640" y="1371600"/>
            <a:ext cx="11094415" cy="77724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A la vall del riu Groc (Huang He) va néixer una de les civilitzacions més continuades de la història.</a:t>
            </a:r>
            <a:endParaRPr lang="en-US" sz="1700" dirty="0"/>
          </a:p>
        </p:txBody>
      </p:sp>
      <p:sp>
        <p:nvSpPr>
          <p:cNvPr id="6" name="Línia del temps"/>
          <p:cNvSpPr/>
          <p:nvPr/>
        </p:nvSpPr>
        <p:spPr>
          <a:xfrm>
            <a:off x="649224" y="2468880"/>
            <a:ext cx="0" cy="731520"/>
          </a:xfrm>
          <a:prstGeom prst="line">
            <a:avLst/>
          </a:prstGeom>
          <a:noFill/>
          <a:ln w="31750">
            <a:solidFill>
              <a:srgbClr val="DADCE0"/>
            </a:solidFill>
            <a:prstDash val="solid"/>
          </a:ln>
        </p:spPr>
      </p:sp>
      <p:sp>
        <p:nvSpPr>
          <p:cNvPr id="7" name="Fita 1600 – 1046 aC"/>
          <p:cNvSpPr/>
          <p:nvPr/>
        </p:nvSpPr>
        <p:spPr>
          <a:xfrm>
            <a:off x="548640" y="2368296"/>
            <a:ext cx="201168" cy="201168"/>
          </a:xfrm>
          <a:prstGeom prst="ellipse">
            <a:avLst/>
          </a:prstGeom>
          <a:solidFill>
            <a:srgbClr val="FFFFFF"/>
          </a:solidFill>
          <a:ln w="28575">
            <a:solidFill>
              <a:srgbClr val="188038"/>
            </a:solidFill>
            <a:prstDash val="solid"/>
          </a:ln>
        </p:spPr>
      </p:sp>
      <p:sp>
        <p:nvSpPr>
          <p:cNvPr id="8" name="Text 6"/>
          <p:cNvSpPr txBox="1"/>
          <p:nvPr/>
        </p:nvSpPr>
        <p:spPr>
          <a:xfrm>
            <a:off x="932688" y="2331720"/>
            <a:ext cx="1920240" cy="292608"/>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1600 – 1046 aC</a:t>
            </a:r>
            <a:endParaRPr lang="en-US" sz="1800" dirty="0"/>
          </a:p>
        </p:txBody>
      </p:sp>
      <p:sp>
        <p:nvSpPr>
          <p:cNvPr id="9" name="Text 7"/>
          <p:cNvSpPr txBox="1"/>
          <p:nvPr/>
        </p:nvSpPr>
        <p:spPr>
          <a:xfrm>
            <a:off x="2852928" y="2331720"/>
            <a:ext cx="4096512" cy="6858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Dinastia Shang</a:t>
            </a:r>
            <a:endParaRPr lang="en-US" sz="1800" dirty="0"/>
          </a:p>
        </p:txBody>
      </p:sp>
      <p:sp>
        <p:nvSpPr>
          <p:cNvPr id="10" name="Fita 1046 – 256 aC"/>
          <p:cNvSpPr/>
          <p:nvPr/>
        </p:nvSpPr>
        <p:spPr>
          <a:xfrm>
            <a:off x="548640" y="3099816"/>
            <a:ext cx="201168" cy="201168"/>
          </a:xfrm>
          <a:prstGeom prst="ellipse">
            <a:avLst/>
          </a:prstGeom>
          <a:solidFill>
            <a:srgbClr val="188038"/>
          </a:solidFill>
          <a:ln w="28575">
            <a:solidFill>
              <a:srgbClr val="188038"/>
            </a:solidFill>
            <a:prstDash val="solid"/>
          </a:ln>
        </p:spPr>
      </p:sp>
      <p:sp>
        <p:nvSpPr>
          <p:cNvPr id="11" name="Text 9"/>
          <p:cNvSpPr txBox="1"/>
          <p:nvPr/>
        </p:nvSpPr>
        <p:spPr>
          <a:xfrm>
            <a:off x="932688" y="3063240"/>
            <a:ext cx="1920240" cy="292608"/>
          </a:xfrm>
          <a:prstGeom prst="rect">
            <a:avLst/>
          </a:prstGeom>
          <a:noFill/>
          <a:ln/>
        </p:spPr>
        <p:txBody>
          <a:bodyPr wrap="square" lIns="0" tIns="0" rIns="0" bIns="0" rtlCol="0" anchor="t"/>
          <a:lstStyle/>
          <a:p>
            <a:pPr indent="0" marL="0">
              <a:buNone/>
            </a:pPr>
            <a:r>
              <a:rPr lang="en-US" sz="1800" b="1" dirty="0">
                <a:solidFill>
                  <a:srgbClr val="188038"/>
                </a:solidFill>
                <a:latin typeface="Roboto" pitchFamily="34" charset="0"/>
                <a:ea typeface="Roboto" pitchFamily="34" charset="-122"/>
                <a:cs typeface="Roboto" pitchFamily="34" charset="-120"/>
              </a:rPr>
              <a:t>1046 – 256 aC</a:t>
            </a:r>
            <a:endParaRPr lang="en-US" sz="1800" dirty="0"/>
          </a:p>
        </p:txBody>
      </p:sp>
      <p:sp>
        <p:nvSpPr>
          <p:cNvPr id="12" name="Text 10"/>
          <p:cNvSpPr txBox="1"/>
          <p:nvPr/>
        </p:nvSpPr>
        <p:spPr>
          <a:xfrm>
            <a:off x="2852928" y="3063240"/>
            <a:ext cx="4096512" cy="685800"/>
          </a:xfrm>
          <a:prstGeom prst="rect">
            <a:avLst/>
          </a:prstGeom>
          <a:noFill/>
          <a:ln/>
        </p:spPr>
        <p:txBody>
          <a:bodyPr wrap="square" lIns="0" tIns="0" rIns="0" bIns="0" rtlCol="0" anchor="t"/>
          <a:lstStyle/>
          <a:p>
            <a:pPr indent="0" marL="0">
              <a:buNone/>
            </a:pPr>
            <a:r>
              <a:rPr lang="en-US" sz="1800" dirty="0">
                <a:solidFill>
                  <a:srgbClr val="202124"/>
                </a:solidFill>
                <a:latin typeface="Roboto" pitchFamily="34" charset="0"/>
                <a:ea typeface="Roboto" pitchFamily="34" charset="-122"/>
                <a:cs typeface="Roboto" pitchFamily="34" charset="-120"/>
              </a:rPr>
              <a:t>Dinastia Zhou</a:t>
            </a:r>
            <a:endParaRPr lang="en-US" sz="1800" dirty="0"/>
          </a:p>
        </p:txBody>
      </p:sp>
      <p:sp>
        <p:nvSpPr>
          <p:cNvPr id="13" name="Targeta El bronze"/>
          <p:cNvSpPr/>
          <p:nvPr/>
        </p:nvSpPr>
        <p:spPr>
          <a:xfrm>
            <a:off x="548640" y="3886200"/>
            <a:ext cx="3515258" cy="2103120"/>
          </a:xfrm>
          <a:prstGeom prst="roundRect">
            <a:avLst>
              <a:gd name="adj" fmla="val 4783"/>
            </a:avLst>
          </a:prstGeom>
          <a:solidFill>
            <a:srgbClr val="FFFFFF"/>
          </a:solidFill>
          <a:ln w="12700">
            <a:solidFill>
              <a:srgbClr val="DADCE0"/>
            </a:solidFill>
            <a:prstDash val="solid"/>
          </a:ln>
        </p:spPr>
      </p:sp>
      <p:sp>
        <p:nvSpPr>
          <p:cNvPr id="14" name="Cercle icona"/>
          <p:cNvSpPr/>
          <p:nvPr/>
        </p:nvSpPr>
        <p:spPr>
          <a:xfrm>
            <a:off x="777240" y="4114800"/>
            <a:ext cx="548640" cy="548640"/>
          </a:xfrm>
          <a:prstGeom prst="ellipse">
            <a:avLst/>
          </a:prstGeom>
          <a:solidFill>
            <a:srgbClr val="E6F4EA"/>
          </a:solidFill>
          <a:ln/>
        </p:spPr>
      </p:sp>
      <p:pic>
        <p:nvPicPr>
          <p:cNvPr id="15" name="Icona TbHammer" descr="/home/claude/pc/build/1r-eso-civilitzacions/img/ic/TbHammer-g.png">    </p:cNvPr>
          <p:cNvPicPr>
            <a:picLocks noChangeAspect="1"/>
          </p:cNvPicPr>
          <p:nvPr/>
        </p:nvPicPr>
        <p:blipFill>
          <a:blip r:embed="rId1"/>
          <a:stretch>
            <a:fillRect/>
          </a:stretch>
        </p:blipFill>
        <p:spPr>
          <a:xfrm>
            <a:off x="897941" y="4235501"/>
            <a:ext cx="307238" cy="307238"/>
          </a:xfrm>
          <a:prstGeom prst="rect">
            <a:avLst/>
          </a:prstGeom>
        </p:spPr>
      </p:pic>
      <p:sp>
        <p:nvSpPr>
          <p:cNvPr id="16" name="Text 13"/>
          <p:cNvSpPr txBox="1"/>
          <p:nvPr/>
        </p:nvSpPr>
        <p:spPr>
          <a:xfrm>
            <a:off x="1463040" y="4114800"/>
            <a:ext cx="237225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El bronze</a:t>
            </a:r>
            <a:endParaRPr lang="en-US" sz="1800" dirty="0"/>
          </a:p>
        </p:txBody>
      </p:sp>
      <p:sp>
        <p:nvSpPr>
          <p:cNvPr id="17" name="Text 14"/>
          <p:cNvSpPr txBox="1"/>
          <p:nvPr/>
        </p:nvSpPr>
        <p:spPr>
          <a:xfrm>
            <a:off x="777240" y="4800600"/>
            <a:ext cx="3058058" cy="10515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Van desenvolupar la metal·lúrgia del bronze.</a:t>
            </a:r>
            <a:endParaRPr lang="en-US" sz="1550" dirty="0"/>
          </a:p>
        </p:txBody>
      </p:sp>
      <p:sp>
        <p:nvSpPr>
          <p:cNvPr id="18" name="Targeta La seda"/>
          <p:cNvSpPr/>
          <p:nvPr/>
        </p:nvSpPr>
        <p:spPr>
          <a:xfrm>
            <a:off x="4338218" y="3886200"/>
            <a:ext cx="3515258" cy="2103120"/>
          </a:xfrm>
          <a:prstGeom prst="roundRect">
            <a:avLst>
              <a:gd name="adj" fmla="val 4783"/>
            </a:avLst>
          </a:prstGeom>
          <a:solidFill>
            <a:srgbClr val="FFFFFF"/>
          </a:solidFill>
          <a:ln w="12700">
            <a:solidFill>
              <a:srgbClr val="DADCE0"/>
            </a:solidFill>
            <a:prstDash val="solid"/>
          </a:ln>
        </p:spPr>
      </p:sp>
      <p:sp>
        <p:nvSpPr>
          <p:cNvPr id="19" name="Cercle icona"/>
          <p:cNvSpPr/>
          <p:nvPr/>
        </p:nvSpPr>
        <p:spPr>
          <a:xfrm>
            <a:off x="4566818" y="4114800"/>
            <a:ext cx="548640" cy="548640"/>
          </a:xfrm>
          <a:prstGeom prst="ellipse">
            <a:avLst/>
          </a:prstGeom>
          <a:solidFill>
            <a:srgbClr val="E6F4EA"/>
          </a:solidFill>
          <a:ln/>
        </p:spPr>
      </p:sp>
      <p:pic>
        <p:nvPicPr>
          <p:cNvPr id="20" name="Icona TbNeedleThread" descr="/home/claude/pc/build/1r-eso-civilitzacions/img/ic/TbNeedleThread-g.png">    </p:cNvPr>
          <p:cNvPicPr>
            <a:picLocks noChangeAspect="1"/>
          </p:cNvPicPr>
          <p:nvPr/>
        </p:nvPicPr>
        <p:blipFill>
          <a:blip r:embed="rId2"/>
          <a:stretch>
            <a:fillRect/>
          </a:stretch>
        </p:blipFill>
        <p:spPr>
          <a:xfrm>
            <a:off x="4687519" y="4235501"/>
            <a:ext cx="307238" cy="307238"/>
          </a:xfrm>
          <a:prstGeom prst="rect">
            <a:avLst/>
          </a:prstGeom>
        </p:spPr>
      </p:pic>
      <p:sp>
        <p:nvSpPr>
          <p:cNvPr id="21" name="Text 17"/>
          <p:cNvSpPr txBox="1"/>
          <p:nvPr/>
        </p:nvSpPr>
        <p:spPr>
          <a:xfrm>
            <a:off x="5252618" y="4114800"/>
            <a:ext cx="237225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La seda</a:t>
            </a:r>
            <a:endParaRPr lang="en-US" sz="1800" dirty="0"/>
          </a:p>
        </p:txBody>
      </p:sp>
      <p:sp>
        <p:nvSpPr>
          <p:cNvPr id="22" name="Text 18"/>
          <p:cNvSpPr txBox="1"/>
          <p:nvPr/>
        </p:nvSpPr>
        <p:spPr>
          <a:xfrm>
            <a:off x="4566818" y="4800600"/>
            <a:ext cx="3058058" cy="10515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Van desenvolupar la fabricació de la seda.</a:t>
            </a:r>
            <a:endParaRPr lang="en-US" sz="1550" dirty="0"/>
          </a:p>
        </p:txBody>
      </p:sp>
      <p:sp>
        <p:nvSpPr>
          <p:cNvPr id="23" name="Targeta Els caràcters"/>
          <p:cNvSpPr/>
          <p:nvPr/>
        </p:nvSpPr>
        <p:spPr>
          <a:xfrm>
            <a:off x="8127797" y="3886200"/>
            <a:ext cx="3515258" cy="2103120"/>
          </a:xfrm>
          <a:prstGeom prst="roundRect">
            <a:avLst>
              <a:gd name="adj" fmla="val 4783"/>
            </a:avLst>
          </a:prstGeom>
          <a:solidFill>
            <a:srgbClr val="FFFFFF"/>
          </a:solidFill>
          <a:ln w="12700">
            <a:solidFill>
              <a:srgbClr val="DADCE0"/>
            </a:solidFill>
            <a:prstDash val="solid"/>
          </a:ln>
        </p:spPr>
      </p:sp>
      <p:sp>
        <p:nvSpPr>
          <p:cNvPr id="24" name="Cercle icona"/>
          <p:cNvSpPr/>
          <p:nvPr/>
        </p:nvSpPr>
        <p:spPr>
          <a:xfrm>
            <a:off x="8356397" y="4114800"/>
            <a:ext cx="548640" cy="548640"/>
          </a:xfrm>
          <a:prstGeom prst="ellipse">
            <a:avLst/>
          </a:prstGeom>
          <a:solidFill>
            <a:srgbClr val="E6F4EA"/>
          </a:solidFill>
          <a:ln/>
        </p:spPr>
      </p:sp>
      <p:pic>
        <p:nvPicPr>
          <p:cNvPr id="25" name="Icona TbLanguage" descr="/home/claude/pc/build/1r-eso-civilitzacions/img/ic/TbLanguage-g.png">    </p:cNvPr>
          <p:cNvPicPr>
            <a:picLocks noChangeAspect="1"/>
          </p:cNvPicPr>
          <p:nvPr/>
        </p:nvPicPr>
        <p:blipFill>
          <a:blip r:embed="rId3"/>
          <a:stretch>
            <a:fillRect/>
          </a:stretch>
        </p:blipFill>
        <p:spPr>
          <a:xfrm>
            <a:off x="8477098" y="4235501"/>
            <a:ext cx="307238" cy="307238"/>
          </a:xfrm>
          <a:prstGeom prst="rect">
            <a:avLst/>
          </a:prstGeom>
        </p:spPr>
      </p:pic>
      <p:sp>
        <p:nvSpPr>
          <p:cNvPr id="26" name="Text 21"/>
          <p:cNvSpPr txBox="1"/>
          <p:nvPr/>
        </p:nvSpPr>
        <p:spPr>
          <a:xfrm>
            <a:off x="9042197" y="4114800"/>
            <a:ext cx="237225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Els caràcters</a:t>
            </a:r>
            <a:endParaRPr lang="en-US" sz="1800" dirty="0"/>
          </a:p>
        </p:txBody>
      </p:sp>
      <p:sp>
        <p:nvSpPr>
          <p:cNvPr id="27" name="Text 22"/>
          <p:cNvSpPr txBox="1"/>
          <p:nvPr/>
        </p:nvSpPr>
        <p:spPr>
          <a:xfrm>
            <a:off x="8356397" y="4800600"/>
            <a:ext cx="3058058" cy="105156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Una escriptura amb caràcters.</a:t>
            </a:r>
            <a:endParaRPr lang="en-US" sz="1550" dirty="0"/>
          </a:p>
        </p:txBody>
      </p:sp>
      <p:sp>
        <p:nvSpPr>
          <p:cNvPr id="28" name="El «mandat del cel»"/>
          <p:cNvSpPr/>
          <p:nvPr/>
        </p:nvSpPr>
        <p:spPr>
          <a:xfrm>
            <a:off x="7223760" y="2240280"/>
            <a:ext cx="4419295" cy="1463040"/>
          </a:xfrm>
          <a:prstGeom prst="roundRect">
            <a:avLst>
              <a:gd name="adj" fmla="val 6875"/>
            </a:avLst>
          </a:prstGeom>
          <a:solidFill>
            <a:srgbClr val="E6F4EA"/>
          </a:solidFill>
          <a:ln/>
        </p:spPr>
      </p:sp>
      <p:sp>
        <p:nvSpPr>
          <p:cNvPr id="29" name="Text 24"/>
          <p:cNvSpPr txBox="1"/>
          <p:nvPr/>
        </p:nvSpPr>
        <p:spPr>
          <a:xfrm>
            <a:off x="7543800" y="2395728"/>
            <a:ext cx="3779215"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El «mandat del cel»</a:t>
            </a:r>
            <a:endParaRPr lang="en-US" sz="1400" dirty="0"/>
          </a:p>
        </p:txBody>
      </p:sp>
      <p:sp>
        <p:nvSpPr>
          <p:cNvPr id="30" name="Text 25"/>
          <p:cNvSpPr txBox="1"/>
          <p:nvPr/>
        </p:nvSpPr>
        <p:spPr>
          <a:xfrm>
            <a:off x="7543800" y="2743200"/>
            <a:ext cx="3779215" cy="822960"/>
          </a:xfrm>
          <a:prstGeom prst="rect">
            <a:avLst/>
          </a:prstGeom>
          <a:noFill/>
          <a:ln/>
        </p:spPr>
        <p:txBody>
          <a:bodyPr wrap="square" lIns="0" tIns="0" rIns="0" bIns="0" rtlCol="0" anchor="t"/>
          <a:lstStyle/>
          <a:p>
            <a:pPr indent="0" marL="0">
              <a:buNone/>
            </a:pPr>
            <a:r>
              <a:rPr lang="en-US" sz="1500" dirty="0">
                <a:solidFill>
                  <a:srgbClr val="202124"/>
                </a:solidFill>
                <a:latin typeface="Roboto" pitchFamily="34" charset="0"/>
                <a:ea typeface="Roboto" pitchFamily="34" charset="-122"/>
                <a:cs typeface="Roboto" pitchFamily="34" charset="-120"/>
              </a:rPr>
              <a:t>Els Zhou van justificar el seu poder amb la idea que el cel dona el dret a governar a qui ho fa bé.</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Els fenicis, navegants i comerciants</a:t>
            </a:r>
            <a:endParaRPr lang="en-US" sz="2800" dirty="0"/>
          </a:p>
        </p:txBody>
      </p:sp>
      <p:sp>
        <p:nvSpPr>
          <p:cNvPr id="5" name="Fons Les colònies fenícies a la Mediterrània"/>
          <p:cNvSpPr/>
          <p:nvPr/>
        </p:nvSpPr>
        <p:spPr>
          <a:xfrm>
            <a:off x="548640" y="1371600"/>
            <a:ext cx="11094415" cy="2606040"/>
          </a:xfrm>
          <a:prstGeom prst="roundRect">
            <a:avLst>
              <a:gd name="adj" fmla="val 3860"/>
            </a:avLst>
          </a:prstGeom>
          <a:solidFill>
            <a:srgbClr val="F6F8FB"/>
          </a:solidFill>
          <a:ln/>
        </p:spPr>
      </p:sp>
      <p:pic>
        <p:nvPicPr>
          <p:cNvPr id="6" name="Les colònies fenícies a la Mediterrània" descr="/home/claude/pc/build/1r-eso-civilitzacions/img/mapa-fenicis.jpg">    </p:cNvPr>
          <p:cNvPicPr>
            <a:picLocks noChangeAspect="1"/>
          </p:cNvPicPr>
          <p:nvPr/>
        </p:nvPicPr>
        <p:blipFill>
          <a:blip r:embed="rId1"/>
          <a:stretch>
            <a:fillRect/>
          </a:stretch>
        </p:blipFill>
        <p:spPr>
          <a:xfrm>
            <a:off x="3104114" y="1371600"/>
            <a:ext cx="5983468" cy="2606040"/>
          </a:xfrm>
          <a:prstGeom prst="rect">
            <a:avLst/>
          </a:prstGeom>
        </p:spPr>
      </p:pic>
      <p:sp>
        <p:nvSpPr>
          <p:cNvPr id="7" name="Text 4"/>
          <p:cNvSpPr txBox="1"/>
          <p:nvPr/>
        </p:nvSpPr>
        <p:spPr>
          <a:xfrm>
            <a:off x="548640" y="4069080"/>
            <a:ext cx="11094415" cy="685800"/>
          </a:xfrm>
          <a:prstGeom prst="rect">
            <a:avLst/>
          </a:prstGeom>
          <a:noFill/>
          <a:ln/>
        </p:spPr>
        <p:txBody>
          <a:bodyPr wrap="square" lIns="0" tIns="0" rIns="0" bIns="0" rtlCol="0" anchor="t"/>
          <a:lstStyle/>
          <a:p>
            <a:pPr indent="0" marL="0">
              <a:buNone/>
            </a:pPr>
            <a:r>
              <a:rPr lang="en-US" sz="1000" dirty="0">
                <a:solidFill>
                  <a:srgbClr val="5F6368"/>
                </a:solidFill>
                <a:latin typeface="Roboto" pitchFamily="34" charset="0"/>
                <a:ea typeface="Roboto" pitchFamily="34" charset="-122"/>
                <a:cs typeface="Roboto" pitchFamily="34" charset="-120"/>
              </a:rPr>
              <a:t>Les colònies fenícies a la Mediterrània. Rutes aproximades. Mapa: professordesocials.cat, CC BY-SA 4.0. Base cartogràfica: Natural Earth (domini públic).</a:t>
            </a:r>
            <a:endParaRPr lang="en-US" sz="1000" dirty="0"/>
          </a:p>
        </p:txBody>
      </p:sp>
      <p:sp>
        <p:nvSpPr>
          <p:cNvPr id="8" name="Targeta Ciutats-estat"/>
          <p:cNvSpPr/>
          <p:nvPr/>
        </p:nvSpPr>
        <p:spPr>
          <a:xfrm>
            <a:off x="548640" y="4343400"/>
            <a:ext cx="3545738" cy="1645920"/>
          </a:xfrm>
          <a:prstGeom prst="roundRect">
            <a:avLst>
              <a:gd name="adj" fmla="val 6111"/>
            </a:avLst>
          </a:prstGeom>
          <a:solidFill>
            <a:srgbClr val="FFFFFF"/>
          </a:solidFill>
          <a:ln w="12700">
            <a:solidFill>
              <a:srgbClr val="DADCE0"/>
            </a:solidFill>
            <a:prstDash val="solid"/>
          </a:ln>
        </p:spPr>
      </p:sp>
      <p:sp>
        <p:nvSpPr>
          <p:cNvPr id="9" name="Cercle icona"/>
          <p:cNvSpPr/>
          <p:nvPr/>
        </p:nvSpPr>
        <p:spPr>
          <a:xfrm>
            <a:off x="777240" y="4572000"/>
            <a:ext cx="457200" cy="457200"/>
          </a:xfrm>
          <a:prstGeom prst="ellipse">
            <a:avLst/>
          </a:prstGeom>
          <a:solidFill>
            <a:srgbClr val="E6F4EA"/>
          </a:solidFill>
          <a:ln/>
        </p:spPr>
      </p:sp>
      <p:pic>
        <p:nvPicPr>
          <p:cNvPr id="10" name="Icona TbBuildingCommunity" descr="/home/claude/pc/build/1r-eso-civilitzacions/img/ic/TbBuildingCommunity-g.png">    </p:cNvPr>
          <p:cNvPicPr>
            <a:picLocks noChangeAspect="1"/>
          </p:cNvPicPr>
          <p:nvPr/>
        </p:nvPicPr>
        <p:blipFill>
          <a:blip r:embed="rId2"/>
          <a:stretch>
            <a:fillRect/>
          </a:stretch>
        </p:blipFill>
        <p:spPr>
          <a:xfrm>
            <a:off x="877824" y="4672584"/>
            <a:ext cx="256032" cy="256032"/>
          </a:xfrm>
          <a:prstGeom prst="rect">
            <a:avLst/>
          </a:prstGeom>
        </p:spPr>
      </p:pic>
      <p:sp>
        <p:nvSpPr>
          <p:cNvPr id="11" name="Text 7"/>
          <p:cNvSpPr txBox="1"/>
          <p:nvPr/>
        </p:nvSpPr>
        <p:spPr>
          <a:xfrm>
            <a:off x="1371600" y="4572000"/>
            <a:ext cx="2494178" cy="457200"/>
          </a:xfrm>
          <a:prstGeom prst="rect">
            <a:avLst/>
          </a:prstGeom>
          <a:noFill/>
          <a:ln/>
        </p:spPr>
        <p:txBody>
          <a:bodyPr wrap="square" lIns="0" tIns="0" rIns="0" bIns="0" rtlCol="0" anchor="ctr"/>
          <a:lstStyle/>
          <a:p>
            <a:pPr indent="0" marL="0">
              <a:buNone/>
            </a:pPr>
            <a:r>
              <a:rPr lang="en-US" sz="1650" b="1" dirty="0">
                <a:solidFill>
                  <a:srgbClr val="188038"/>
                </a:solidFill>
                <a:latin typeface="Roboto" pitchFamily="34" charset="0"/>
                <a:ea typeface="Roboto" pitchFamily="34" charset="-122"/>
                <a:cs typeface="Roboto" pitchFamily="34" charset="-120"/>
              </a:rPr>
              <a:t>Ciutats-estat</a:t>
            </a:r>
            <a:endParaRPr lang="en-US" sz="1650" dirty="0"/>
          </a:p>
        </p:txBody>
      </p:sp>
      <p:sp>
        <p:nvSpPr>
          <p:cNvPr id="12" name="Text 8"/>
          <p:cNvSpPr txBox="1"/>
          <p:nvPr/>
        </p:nvSpPr>
        <p:spPr>
          <a:xfrm>
            <a:off x="777240" y="5166360"/>
            <a:ext cx="3088538" cy="6858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Biblos, Sidó i Tir, a la costa de l'actual Líban.</a:t>
            </a:r>
            <a:endParaRPr lang="en-US" sz="1350" dirty="0"/>
          </a:p>
        </p:txBody>
      </p:sp>
      <p:sp>
        <p:nvSpPr>
          <p:cNvPr id="13" name="Targeta Porpra"/>
          <p:cNvSpPr/>
          <p:nvPr/>
        </p:nvSpPr>
        <p:spPr>
          <a:xfrm>
            <a:off x="4322978" y="4343400"/>
            <a:ext cx="3545738" cy="1645920"/>
          </a:xfrm>
          <a:prstGeom prst="roundRect">
            <a:avLst>
              <a:gd name="adj" fmla="val 6111"/>
            </a:avLst>
          </a:prstGeom>
          <a:solidFill>
            <a:srgbClr val="FFFFFF"/>
          </a:solidFill>
          <a:ln w="12700">
            <a:solidFill>
              <a:srgbClr val="DADCE0"/>
            </a:solidFill>
            <a:prstDash val="solid"/>
          </a:ln>
        </p:spPr>
      </p:sp>
      <p:sp>
        <p:nvSpPr>
          <p:cNvPr id="14" name="Cercle icona"/>
          <p:cNvSpPr/>
          <p:nvPr/>
        </p:nvSpPr>
        <p:spPr>
          <a:xfrm>
            <a:off x="4551578" y="4572000"/>
            <a:ext cx="457200" cy="457200"/>
          </a:xfrm>
          <a:prstGeom prst="ellipse">
            <a:avLst/>
          </a:prstGeom>
          <a:solidFill>
            <a:srgbClr val="E6F4EA"/>
          </a:solidFill>
          <a:ln/>
        </p:spPr>
      </p:sp>
      <p:pic>
        <p:nvPicPr>
          <p:cNvPr id="15" name="Icona TbPalette" descr="/home/claude/pc/build/1r-eso-civilitzacions/img/ic/TbPalette-g.png">    </p:cNvPr>
          <p:cNvPicPr>
            <a:picLocks noChangeAspect="1"/>
          </p:cNvPicPr>
          <p:nvPr/>
        </p:nvPicPr>
        <p:blipFill>
          <a:blip r:embed="rId3"/>
          <a:stretch>
            <a:fillRect/>
          </a:stretch>
        </p:blipFill>
        <p:spPr>
          <a:xfrm>
            <a:off x="4652162" y="4672584"/>
            <a:ext cx="256032" cy="256032"/>
          </a:xfrm>
          <a:prstGeom prst="rect">
            <a:avLst/>
          </a:prstGeom>
        </p:spPr>
      </p:pic>
      <p:sp>
        <p:nvSpPr>
          <p:cNvPr id="16" name="Text 11"/>
          <p:cNvSpPr txBox="1"/>
          <p:nvPr/>
        </p:nvSpPr>
        <p:spPr>
          <a:xfrm>
            <a:off x="5145938" y="4572000"/>
            <a:ext cx="2494178" cy="457200"/>
          </a:xfrm>
          <a:prstGeom prst="rect">
            <a:avLst/>
          </a:prstGeom>
          <a:noFill/>
          <a:ln/>
        </p:spPr>
        <p:txBody>
          <a:bodyPr wrap="square" lIns="0" tIns="0" rIns="0" bIns="0" rtlCol="0" anchor="ctr"/>
          <a:lstStyle/>
          <a:p>
            <a:pPr indent="0" marL="0">
              <a:buNone/>
            </a:pPr>
            <a:r>
              <a:rPr lang="en-US" sz="1650" b="1" dirty="0">
                <a:solidFill>
                  <a:srgbClr val="188038"/>
                </a:solidFill>
                <a:latin typeface="Roboto" pitchFamily="34" charset="0"/>
                <a:ea typeface="Roboto" pitchFamily="34" charset="-122"/>
                <a:cs typeface="Roboto" pitchFamily="34" charset="-120"/>
              </a:rPr>
              <a:t>Porpra</a:t>
            </a:r>
            <a:endParaRPr lang="en-US" sz="1650" dirty="0"/>
          </a:p>
        </p:txBody>
      </p:sp>
      <p:sp>
        <p:nvSpPr>
          <p:cNvPr id="17" name="Text 12"/>
          <p:cNvSpPr txBox="1"/>
          <p:nvPr/>
        </p:nvSpPr>
        <p:spPr>
          <a:xfrm>
            <a:off x="4551578" y="5166360"/>
            <a:ext cx="3088538" cy="6858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Un tint caríssim que treien d'un cargol de mar, el múrex. També venien fusta de cedre.</a:t>
            </a:r>
            <a:endParaRPr lang="en-US" sz="1350" dirty="0"/>
          </a:p>
        </p:txBody>
      </p:sp>
      <p:sp>
        <p:nvSpPr>
          <p:cNvPr id="18" name="Targeta Colònies"/>
          <p:cNvSpPr/>
          <p:nvPr/>
        </p:nvSpPr>
        <p:spPr>
          <a:xfrm>
            <a:off x="8097317" y="4343400"/>
            <a:ext cx="3545738" cy="1645920"/>
          </a:xfrm>
          <a:prstGeom prst="roundRect">
            <a:avLst>
              <a:gd name="adj" fmla="val 6111"/>
            </a:avLst>
          </a:prstGeom>
          <a:solidFill>
            <a:srgbClr val="FFFFFF"/>
          </a:solidFill>
          <a:ln w="12700">
            <a:solidFill>
              <a:srgbClr val="DADCE0"/>
            </a:solidFill>
            <a:prstDash val="solid"/>
          </a:ln>
        </p:spPr>
      </p:sp>
      <p:sp>
        <p:nvSpPr>
          <p:cNvPr id="19" name="Cercle icona"/>
          <p:cNvSpPr/>
          <p:nvPr/>
        </p:nvSpPr>
        <p:spPr>
          <a:xfrm>
            <a:off x="8325917" y="4572000"/>
            <a:ext cx="457200" cy="457200"/>
          </a:xfrm>
          <a:prstGeom prst="ellipse">
            <a:avLst/>
          </a:prstGeom>
          <a:solidFill>
            <a:srgbClr val="E6F4EA"/>
          </a:solidFill>
          <a:ln/>
        </p:spPr>
      </p:sp>
      <p:pic>
        <p:nvPicPr>
          <p:cNvPr id="20" name="Icona TbAnchor" descr="/home/claude/pc/build/1r-eso-civilitzacions/img/ic/TbAnchor-g.png">    </p:cNvPr>
          <p:cNvPicPr>
            <a:picLocks noChangeAspect="1"/>
          </p:cNvPicPr>
          <p:nvPr/>
        </p:nvPicPr>
        <p:blipFill>
          <a:blip r:embed="rId4"/>
          <a:stretch>
            <a:fillRect/>
          </a:stretch>
        </p:blipFill>
        <p:spPr>
          <a:xfrm>
            <a:off x="8426501" y="4672584"/>
            <a:ext cx="256032" cy="256032"/>
          </a:xfrm>
          <a:prstGeom prst="rect">
            <a:avLst/>
          </a:prstGeom>
        </p:spPr>
      </p:pic>
      <p:sp>
        <p:nvSpPr>
          <p:cNvPr id="21" name="Text 15"/>
          <p:cNvSpPr txBox="1"/>
          <p:nvPr/>
        </p:nvSpPr>
        <p:spPr>
          <a:xfrm>
            <a:off x="8920277" y="4572000"/>
            <a:ext cx="2494178" cy="457200"/>
          </a:xfrm>
          <a:prstGeom prst="rect">
            <a:avLst/>
          </a:prstGeom>
          <a:noFill/>
          <a:ln/>
        </p:spPr>
        <p:txBody>
          <a:bodyPr wrap="square" lIns="0" tIns="0" rIns="0" bIns="0" rtlCol="0" anchor="ctr"/>
          <a:lstStyle/>
          <a:p>
            <a:pPr indent="0" marL="0">
              <a:buNone/>
            </a:pPr>
            <a:r>
              <a:rPr lang="en-US" sz="1650" b="1" dirty="0">
                <a:solidFill>
                  <a:srgbClr val="188038"/>
                </a:solidFill>
                <a:latin typeface="Roboto" pitchFamily="34" charset="0"/>
                <a:ea typeface="Roboto" pitchFamily="34" charset="-122"/>
                <a:cs typeface="Roboto" pitchFamily="34" charset="-120"/>
              </a:rPr>
              <a:t>Colònies</a:t>
            </a:r>
            <a:endParaRPr lang="en-US" sz="1650" dirty="0"/>
          </a:p>
        </p:txBody>
      </p:sp>
      <p:sp>
        <p:nvSpPr>
          <p:cNvPr id="22" name="Text 16"/>
          <p:cNvSpPr txBox="1"/>
          <p:nvPr/>
        </p:nvSpPr>
        <p:spPr>
          <a:xfrm>
            <a:off x="8325917" y="5166360"/>
            <a:ext cx="3088538" cy="685800"/>
          </a:xfrm>
          <a:prstGeom prst="rect">
            <a:avLst/>
          </a:prstGeom>
          <a:noFill/>
          <a:ln/>
        </p:spPr>
        <p:txBody>
          <a:bodyPr wrap="square" lIns="0" tIns="0" rIns="0" bIns="0" rtlCol="0" anchor="t"/>
          <a:lstStyle/>
          <a:p>
            <a:pPr indent="0" marL="0">
              <a:buNone/>
            </a:pPr>
            <a:r>
              <a:rPr lang="en-US" sz="1350" dirty="0">
                <a:solidFill>
                  <a:srgbClr val="202124"/>
                </a:solidFill>
                <a:latin typeface="Roboto" pitchFamily="34" charset="0"/>
                <a:ea typeface="Roboto" pitchFamily="34" charset="-122"/>
                <a:cs typeface="Roboto" pitchFamily="34" charset="-120"/>
              </a:rPr>
              <a:t>Kition, Cartago, Útica, Eivissa, Malaka (Màlaga) i Gadir (Cadis). Hi buscaven metalls, com la plata.</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L'alfabet, els hebreus i Eivissa</a:t>
            </a:r>
            <a:endParaRPr lang="en-US" sz="2800" dirty="0"/>
          </a:p>
        </p:txBody>
      </p:sp>
      <p:sp>
        <p:nvSpPr>
          <p:cNvPr id="5" name="Alfabet"/>
          <p:cNvSpPr/>
          <p:nvPr/>
        </p:nvSpPr>
        <p:spPr>
          <a:xfrm>
            <a:off x="548640" y="1371600"/>
            <a:ext cx="5410048" cy="2377440"/>
          </a:xfrm>
          <a:prstGeom prst="roundRect">
            <a:avLst>
              <a:gd name="adj" fmla="val 4231"/>
            </a:avLst>
          </a:prstGeom>
          <a:solidFill>
            <a:srgbClr val="FFFFFF"/>
          </a:solidFill>
          <a:ln w="12700">
            <a:solidFill>
              <a:srgbClr val="DADCE0"/>
            </a:solidFill>
            <a:prstDash val="solid"/>
          </a:ln>
        </p:spPr>
      </p:sp>
      <p:sp>
        <p:nvSpPr>
          <p:cNvPr id="6" name="Text 4"/>
          <p:cNvSpPr txBox="1"/>
          <p:nvPr/>
        </p:nvSpPr>
        <p:spPr>
          <a:xfrm>
            <a:off x="822960" y="1508760"/>
            <a:ext cx="1371600" cy="914400"/>
          </a:xfrm>
          <a:prstGeom prst="rect">
            <a:avLst/>
          </a:prstGeom>
          <a:noFill/>
          <a:ln/>
        </p:spPr>
        <p:txBody>
          <a:bodyPr wrap="square" lIns="0" tIns="0" rIns="0" bIns="0" rtlCol="0" anchor="t"/>
          <a:lstStyle/>
          <a:p>
            <a:pPr indent="0" marL="0">
              <a:buNone/>
            </a:pPr>
            <a:r>
              <a:rPr lang="en-US" sz="5400" b="1" dirty="0">
                <a:solidFill>
                  <a:srgbClr val="188038"/>
                </a:solidFill>
                <a:latin typeface="Roboto" pitchFamily="34" charset="0"/>
                <a:ea typeface="Roboto" pitchFamily="34" charset="-122"/>
                <a:cs typeface="Roboto" pitchFamily="34" charset="-120"/>
              </a:rPr>
              <a:t>22</a:t>
            </a:r>
            <a:endParaRPr lang="en-US" sz="5400" dirty="0"/>
          </a:p>
        </p:txBody>
      </p:sp>
      <p:sp>
        <p:nvSpPr>
          <p:cNvPr id="7" name="Text 5"/>
          <p:cNvSpPr txBox="1"/>
          <p:nvPr/>
        </p:nvSpPr>
        <p:spPr>
          <a:xfrm>
            <a:off x="2194560" y="1554480"/>
            <a:ext cx="3535528" cy="2103120"/>
          </a:xfrm>
          <a:prstGeom prst="rect">
            <a:avLst/>
          </a:prstGeom>
          <a:noFill/>
          <a:ln/>
        </p:spPr>
        <p:txBody>
          <a:bodyPr wrap="square" lIns="0" tIns="0" rIns="0" bIns="0" rtlCol="0" anchor="t"/>
          <a:lstStyle/>
          <a:p>
            <a:pPr indent="0" marL="0">
              <a:buNone/>
            </a:pPr>
            <a:r>
              <a:rPr lang="en-US" sz="1450" b="1" dirty="0">
                <a:solidFill>
                  <a:srgbClr val="202124"/>
                </a:solidFill>
                <a:latin typeface="Roboto" pitchFamily="34" charset="0"/>
                <a:ea typeface="Roboto" pitchFamily="34" charset="-122"/>
                <a:cs typeface="Roboto" pitchFamily="34" charset="-120"/>
              </a:rPr>
              <a:t>lletres tenia l'alfabet fenici</a:t>
            </a:r>
            <a:endParaRPr lang="en-US" sz="1450" dirty="0"/>
          </a:p>
          <a:p>
            <a:pPr indent="0" marL="0">
              <a:buNone/>
            </a:pPr>
            <a:r>
              <a:rPr lang="en-US" sz="1450" dirty="0">
                <a:solidFill>
                  <a:srgbClr val="202124"/>
                </a:solidFill>
                <a:latin typeface="Roboto" pitchFamily="34" charset="0"/>
                <a:ea typeface="Roboto" pitchFamily="34" charset="-122"/>
                <a:cs typeface="Roboto" pitchFamily="34" charset="-120"/>
              </a:rPr>
              <a:t>Molt més fàcil que els centenars de signes del cuneïforme o dels jeroglífics. Els fenicis el van fer servir i escampar. D'ell deriven el grec, el llatí i, indirectament, el nostre.</a:t>
            </a:r>
            <a:endParaRPr lang="en-US" sz="1450" dirty="0"/>
          </a:p>
        </p:txBody>
      </p:sp>
      <p:sp>
        <p:nvSpPr>
          <p:cNvPr id="8" name="Targeta Els hebreus"/>
          <p:cNvSpPr/>
          <p:nvPr/>
        </p:nvSpPr>
        <p:spPr>
          <a:xfrm>
            <a:off x="6233008" y="1371600"/>
            <a:ext cx="5410048" cy="2377440"/>
          </a:xfrm>
          <a:prstGeom prst="roundRect">
            <a:avLst>
              <a:gd name="adj" fmla="val 4231"/>
            </a:avLst>
          </a:prstGeom>
          <a:solidFill>
            <a:srgbClr val="FFFFFF"/>
          </a:solidFill>
          <a:ln w="12700">
            <a:solidFill>
              <a:srgbClr val="DADCE0"/>
            </a:solidFill>
            <a:prstDash val="solid"/>
          </a:ln>
        </p:spPr>
      </p:sp>
      <p:sp>
        <p:nvSpPr>
          <p:cNvPr id="9" name="Cercle icona"/>
          <p:cNvSpPr/>
          <p:nvPr/>
        </p:nvSpPr>
        <p:spPr>
          <a:xfrm>
            <a:off x="6461608" y="1600200"/>
            <a:ext cx="548640" cy="548640"/>
          </a:xfrm>
          <a:prstGeom prst="ellipse">
            <a:avLst/>
          </a:prstGeom>
          <a:solidFill>
            <a:srgbClr val="E6F4EA"/>
          </a:solidFill>
          <a:ln/>
        </p:spPr>
      </p:sp>
      <p:pic>
        <p:nvPicPr>
          <p:cNvPr id="10" name="Icona TbBook2" descr="/home/claude/pc/build/1r-eso-civilitzacions/img/ic/TbBook2-g.png">    </p:cNvPr>
          <p:cNvPicPr>
            <a:picLocks noChangeAspect="1"/>
          </p:cNvPicPr>
          <p:nvPr/>
        </p:nvPicPr>
        <p:blipFill>
          <a:blip r:embed="rId1"/>
          <a:stretch>
            <a:fillRect/>
          </a:stretch>
        </p:blipFill>
        <p:spPr>
          <a:xfrm>
            <a:off x="6582308" y="1720901"/>
            <a:ext cx="307238" cy="307238"/>
          </a:xfrm>
          <a:prstGeom prst="rect">
            <a:avLst/>
          </a:prstGeom>
        </p:spPr>
      </p:pic>
      <p:sp>
        <p:nvSpPr>
          <p:cNvPr id="11" name="Text 8"/>
          <p:cNvSpPr txBox="1"/>
          <p:nvPr/>
        </p:nvSpPr>
        <p:spPr>
          <a:xfrm>
            <a:off x="7147408" y="1600200"/>
            <a:ext cx="4267048" cy="548640"/>
          </a:xfrm>
          <a:prstGeom prst="rect">
            <a:avLst/>
          </a:prstGeom>
          <a:noFill/>
          <a:ln/>
        </p:spPr>
        <p:txBody>
          <a:bodyPr wrap="square" lIns="0" tIns="0" rIns="0" bIns="0" rtlCol="0" anchor="ctr"/>
          <a:lstStyle/>
          <a:p>
            <a:pPr indent="0" marL="0">
              <a:buNone/>
            </a:pPr>
            <a:r>
              <a:rPr lang="en-US" sz="1800" b="1" dirty="0">
                <a:solidFill>
                  <a:srgbClr val="188038"/>
                </a:solidFill>
                <a:latin typeface="Roboto" pitchFamily="34" charset="0"/>
                <a:ea typeface="Roboto" pitchFamily="34" charset="-122"/>
                <a:cs typeface="Roboto" pitchFamily="34" charset="-120"/>
              </a:rPr>
              <a:t>Els hebreus</a:t>
            </a:r>
            <a:endParaRPr lang="en-US" sz="1800" dirty="0"/>
          </a:p>
        </p:txBody>
      </p:sp>
      <p:sp>
        <p:nvSpPr>
          <p:cNvPr id="12" name="Text 9"/>
          <p:cNvSpPr txBox="1"/>
          <p:nvPr/>
        </p:nvSpPr>
        <p:spPr>
          <a:xfrm>
            <a:off x="6461608" y="2286000"/>
            <a:ext cx="4952848" cy="132588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Un poble monoteista. La seva creença en un sol déu (Jahvè) és l'origen del judaisme, el cristianisme i l'islam.</a:t>
            </a:r>
            <a:endParaRPr lang="en-US" sz="1550" dirty="0"/>
          </a:p>
        </p:txBody>
      </p:sp>
      <p:sp>
        <p:nvSpPr>
          <p:cNvPr id="13" name="Paraula clau · Alfabet"/>
          <p:cNvSpPr/>
          <p:nvPr/>
        </p:nvSpPr>
        <p:spPr>
          <a:xfrm>
            <a:off x="548640" y="3977640"/>
            <a:ext cx="5410048" cy="2011680"/>
          </a:xfrm>
          <a:prstGeom prst="roundRect">
            <a:avLst>
              <a:gd name="adj" fmla="val 5000"/>
            </a:avLst>
          </a:prstGeom>
          <a:solidFill>
            <a:srgbClr val="E6F4EA"/>
          </a:solidFill>
          <a:ln/>
        </p:spPr>
      </p:sp>
      <p:sp>
        <p:nvSpPr>
          <p:cNvPr id="14" name="Text 11"/>
          <p:cNvSpPr txBox="1"/>
          <p:nvPr/>
        </p:nvSpPr>
        <p:spPr>
          <a:xfrm>
            <a:off x="868680" y="4133088"/>
            <a:ext cx="4769968" cy="320040"/>
          </a:xfrm>
          <a:prstGeom prst="rect">
            <a:avLst/>
          </a:prstGeom>
          <a:noFill/>
          <a:ln/>
        </p:spPr>
        <p:txBody>
          <a:bodyPr wrap="square" lIns="0" tIns="0" rIns="0" bIns="0" rtlCol="0" anchor="t"/>
          <a:lstStyle/>
          <a:p>
            <a:pPr indent="0" marL="0">
              <a:buNone/>
            </a:pPr>
            <a:r>
              <a:rPr lang="en-US" sz="1400" b="1" dirty="0">
                <a:solidFill>
                  <a:srgbClr val="188038"/>
                </a:solidFill>
                <a:latin typeface="Roboto" pitchFamily="34" charset="0"/>
                <a:ea typeface="Roboto" pitchFamily="34" charset="-122"/>
                <a:cs typeface="Roboto" pitchFamily="34" charset="-120"/>
              </a:rPr>
              <a:t>Paraula clau · Alfabet</a:t>
            </a:r>
            <a:endParaRPr lang="en-US" sz="1400" dirty="0"/>
          </a:p>
        </p:txBody>
      </p:sp>
      <p:sp>
        <p:nvSpPr>
          <p:cNvPr id="15" name="Text 12"/>
          <p:cNvSpPr txBox="1"/>
          <p:nvPr/>
        </p:nvSpPr>
        <p:spPr>
          <a:xfrm>
            <a:off x="868680" y="4480560"/>
            <a:ext cx="4769968" cy="1371600"/>
          </a:xfrm>
          <a:prstGeom prst="rect">
            <a:avLst/>
          </a:prstGeom>
          <a:noFill/>
          <a:ln/>
        </p:spPr>
        <p:txBody>
          <a:bodyPr wrap="square" lIns="0" tIns="0" rIns="0" bIns="0" rtlCol="0" anchor="t"/>
          <a:lstStyle/>
          <a:p>
            <a:pPr indent="0" marL="0">
              <a:buNone/>
            </a:pPr>
            <a:r>
              <a:rPr lang="en-US" sz="1550" dirty="0">
                <a:solidFill>
                  <a:srgbClr val="202124"/>
                </a:solidFill>
                <a:latin typeface="Roboto" pitchFamily="34" charset="0"/>
                <a:ea typeface="Roboto" pitchFamily="34" charset="-122"/>
                <a:cs typeface="Roboto" pitchFamily="34" charset="-120"/>
              </a:rPr>
              <a:t>Sistema d'escriptura amb pocs signes, en què cada signe representa un so. L'alfabet fenici en tenia 22.</a:t>
            </a:r>
            <a:endParaRPr lang="en-US" sz="1550" dirty="0"/>
          </a:p>
        </p:txBody>
      </p:sp>
      <p:sp>
        <p:nvSpPr>
          <p:cNvPr id="16" name="A prop de casa · Eivissa"/>
          <p:cNvSpPr/>
          <p:nvPr/>
        </p:nvSpPr>
        <p:spPr>
          <a:xfrm>
            <a:off x="6233008" y="3977640"/>
            <a:ext cx="5410048" cy="2011680"/>
          </a:xfrm>
          <a:prstGeom prst="roundRect">
            <a:avLst>
              <a:gd name="adj" fmla="val 5000"/>
            </a:avLst>
          </a:prstGeom>
          <a:solidFill>
            <a:srgbClr val="F6F8FB"/>
          </a:solidFill>
          <a:ln/>
        </p:spPr>
      </p:sp>
      <p:sp>
        <p:nvSpPr>
          <p:cNvPr id="17" name="Text 14"/>
          <p:cNvSpPr txBox="1"/>
          <p:nvPr/>
        </p:nvSpPr>
        <p:spPr>
          <a:xfrm>
            <a:off x="6553048" y="4133088"/>
            <a:ext cx="4769968" cy="320040"/>
          </a:xfrm>
          <a:prstGeom prst="rect">
            <a:avLst/>
          </a:prstGeom>
          <a:noFill/>
          <a:ln/>
        </p:spPr>
        <p:txBody>
          <a:bodyPr wrap="square" lIns="0" tIns="0" rIns="0" bIns="0" rtlCol="0" anchor="t"/>
          <a:lstStyle/>
          <a:p>
            <a:pPr indent="0" marL="0">
              <a:buNone/>
            </a:pPr>
            <a:r>
              <a:rPr lang="en-US" sz="1400" b="1" dirty="0">
                <a:solidFill>
                  <a:srgbClr val="202124"/>
                </a:solidFill>
                <a:latin typeface="Roboto" pitchFamily="34" charset="0"/>
                <a:ea typeface="Roboto" pitchFamily="34" charset="-122"/>
                <a:cs typeface="Roboto" pitchFamily="34" charset="-120"/>
              </a:rPr>
              <a:t>A prop de casa · Eivissa</a:t>
            </a:r>
            <a:endParaRPr lang="en-US" sz="1400" dirty="0"/>
          </a:p>
        </p:txBody>
      </p:sp>
      <p:sp>
        <p:nvSpPr>
          <p:cNvPr id="18" name="Text 15"/>
          <p:cNvSpPr txBox="1"/>
          <p:nvPr/>
        </p:nvSpPr>
        <p:spPr>
          <a:xfrm>
            <a:off x="6553048" y="4480560"/>
            <a:ext cx="4769968" cy="1371600"/>
          </a:xfrm>
          <a:prstGeom prst="rect">
            <a:avLst/>
          </a:prstGeom>
          <a:noFill/>
          <a:ln/>
        </p:spPr>
        <p:txBody>
          <a:bodyPr wrap="square" lIns="0" tIns="0" rIns="0" bIns="0" rtlCol="0" anchor="t"/>
          <a:lstStyle/>
          <a:p>
            <a:pPr indent="0" marL="0">
              <a:buNone/>
            </a:pPr>
            <a:r>
              <a:rPr lang="en-US" sz="1500" dirty="0">
                <a:solidFill>
                  <a:srgbClr val="5F6368"/>
                </a:solidFill>
                <a:latin typeface="Roboto" pitchFamily="34" charset="0"/>
                <a:ea typeface="Roboto" pitchFamily="34" charset="-122"/>
                <a:cs typeface="Roboto" pitchFamily="34" charset="-120"/>
              </a:rPr>
              <a:t>Al segle VII aC, els fenicis s'hi van establir. Més endavant va passar a Cartago. A Eivissa es pot visitar la necròpolis púnica del Puig des Molins, amb un museu obert el 1966.</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El llegat de les primeres civilitzacions</a:t>
            </a:r>
            <a:endParaRPr lang="en-US" sz="2800" dirty="0"/>
          </a:p>
        </p:txBody>
      </p:sp>
      <p:sp>
        <p:nvSpPr>
          <p:cNvPr id="5" name="Text 3"/>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700" dirty="0">
                <a:solidFill>
                  <a:srgbClr val="202124"/>
                </a:solidFill>
                <a:latin typeface="Roboto" pitchFamily="34" charset="0"/>
                <a:ea typeface="Roboto" pitchFamily="34" charset="-122"/>
                <a:cs typeface="Roboto" pitchFamily="34" charset="-120"/>
              </a:rPr>
              <a:t>Mesopotàmia i Egipte van desaparèixer fa molts segles, però vivim envoltats de les seves invencions.</a:t>
            </a:r>
            <a:endParaRPr lang="en-US" sz="1700" dirty="0"/>
          </a:p>
        </p:txBody>
      </p:sp>
      <p:sp>
        <p:nvSpPr>
          <p:cNvPr id="6" name="Targeta L'escriptura"/>
          <p:cNvSpPr/>
          <p:nvPr/>
        </p:nvSpPr>
        <p:spPr>
          <a:xfrm>
            <a:off x="548640" y="1965960"/>
            <a:ext cx="3545738" cy="1897380"/>
          </a:xfrm>
          <a:prstGeom prst="roundRect">
            <a:avLst>
              <a:gd name="adj" fmla="val 5301"/>
            </a:avLst>
          </a:prstGeom>
          <a:solidFill>
            <a:srgbClr val="FFFFFF"/>
          </a:solidFill>
          <a:ln w="12700">
            <a:solidFill>
              <a:srgbClr val="DADCE0"/>
            </a:solidFill>
            <a:prstDash val="solid"/>
          </a:ln>
        </p:spPr>
      </p:sp>
      <p:sp>
        <p:nvSpPr>
          <p:cNvPr id="7" name="Cercle icona"/>
          <p:cNvSpPr/>
          <p:nvPr/>
        </p:nvSpPr>
        <p:spPr>
          <a:xfrm>
            <a:off x="777240" y="2194560"/>
            <a:ext cx="502920" cy="502920"/>
          </a:xfrm>
          <a:prstGeom prst="ellipse">
            <a:avLst/>
          </a:prstGeom>
          <a:solidFill>
            <a:srgbClr val="E6F4EA"/>
          </a:solidFill>
          <a:ln/>
        </p:spPr>
      </p:sp>
      <p:pic>
        <p:nvPicPr>
          <p:cNvPr id="8" name="Icona TbWriting" descr="/home/claude/pc/build/1r-eso-civilitzacions/img/ic/TbWriting-g.png">    </p:cNvPr>
          <p:cNvPicPr>
            <a:picLocks noChangeAspect="1"/>
          </p:cNvPicPr>
          <p:nvPr/>
        </p:nvPicPr>
        <p:blipFill>
          <a:blip r:embed="rId1"/>
          <a:stretch>
            <a:fillRect/>
          </a:stretch>
        </p:blipFill>
        <p:spPr>
          <a:xfrm>
            <a:off x="887882" y="2305202"/>
            <a:ext cx="281635" cy="281635"/>
          </a:xfrm>
          <a:prstGeom prst="rect">
            <a:avLst/>
          </a:prstGeom>
        </p:spPr>
      </p:pic>
      <p:sp>
        <p:nvSpPr>
          <p:cNvPr id="9" name="Text 6"/>
          <p:cNvSpPr txBox="1"/>
          <p:nvPr/>
        </p:nvSpPr>
        <p:spPr>
          <a:xfrm>
            <a:off x="1417320" y="219456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L'escriptura</a:t>
            </a:r>
            <a:endParaRPr lang="en-US" sz="1700" dirty="0"/>
          </a:p>
        </p:txBody>
      </p:sp>
      <p:sp>
        <p:nvSpPr>
          <p:cNvPr id="10" name="Text 7"/>
          <p:cNvSpPr txBox="1"/>
          <p:nvPr/>
        </p:nvSpPr>
        <p:spPr>
          <a:xfrm>
            <a:off x="777240" y="2834640"/>
            <a:ext cx="3088538" cy="8915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La base de tota la cultura. Sense ella no hi hauria llibres, ni lleis escrites, ni internet.</a:t>
            </a:r>
            <a:endParaRPr lang="en-US" sz="1450" dirty="0"/>
          </a:p>
        </p:txBody>
      </p:sp>
      <p:sp>
        <p:nvSpPr>
          <p:cNvPr id="11" name="Targeta Les lleis escrites"/>
          <p:cNvSpPr/>
          <p:nvPr/>
        </p:nvSpPr>
        <p:spPr>
          <a:xfrm>
            <a:off x="4322978" y="1965960"/>
            <a:ext cx="3545738" cy="1897380"/>
          </a:xfrm>
          <a:prstGeom prst="roundRect">
            <a:avLst>
              <a:gd name="adj" fmla="val 5301"/>
            </a:avLst>
          </a:prstGeom>
          <a:solidFill>
            <a:srgbClr val="FFFFFF"/>
          </a:solidFill>
          <a:ln w="12700">
            <a:solidFill>
              <a:srgbClr val="DADCE0"/>
            </a:solidFill>
            <a:prstDash val="solid"/>
          </a:ln>
        </p:spPr>
      </p:sp>
      <p:sp>
        <p:nvSpPr>
          <p:cNvPr id="12" name="Cercle icona"/>
          <p:cNvSpPr/>
          <p:nvPr/>
        </p:nvSpPr>
        <p:spPr>
          <a:xfrm>
            <a:off x="4551578" y="2194560"/>
            <a:ext cx="502920" cy="502920"/>
          </a:xfrm>
          <a:prstGeom prst="ellipse">
            <a:avLst/>
          </a:prstGeom>
          <a:solidFill>
            <a:srgbClr val="E6F4EA"/>
          </a:solidFill>
          <a:ln/>
        </p:spPr>
      </p:sp>
      <p:pic>
        <p:nvPicPr>
          <p:cNvPr id="13" name="Icona TbScale" descr="/home/claude/pc/build/1r-eso-civilitzacions/img/ic/TbScale-g.png">    </p:cNvPr>
          <p:cNvPicPr>
            <a:picLocks noChangeAspect="1"/>
          </p:cNvPicPr>
          <p:nvPr/>
        </p:nvPicPr>
        <p:blipFill>
          <a:blip r:embed="rId2"/>
          <a:stretch>
            <a:fillRect/>
          </a:stretch>
        </p:blipFill>
        <p:spPr>
          <a:xfrm>
            <a:off x="4662221" y="2305202"/>
            <a:ext cx="281635" cy="281635"/>
          </a:xfrm>
          <a:prstGeom prst="rect">
            <a:avLst/>
          </a:prstGeom>
        </p:spPr>
      </p:pic>
      <p:sp>
        <p:nvSpPr>
          <p:cNvPr id="14" name="Text 10"/>
          <p:cNvSpPr txBox="1"/>
          <p:nvPr/>
        </p:nvSpPr>
        <p:spPr>
          <a:xfrm>
            <a:off x="5191658" y="219456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Les lleis escrites</a:t>
            </a:r>
            <a:endParaRPr lang="en-US" sz="1700" dirty="0"/>
          </a:p>
        </p:txBody>
      </p:sp>
      <p:sp>
        <p:nvSpPr>
          <p:cNvPr id="15" name="Text 11"/>
          <p:cNvSpPr txBox="1"/>
          <p:nvPr/>
        </p:nvSpPr>
        <p:spPr>
          <a:xfrm>
            <a:off x="4551578" y="2834640"/>
            <a:ext cx="3088538" cy="8915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El codi d'Hammurabi. La justícia no pot dependre del caprici de qui mana.</a:t>
            </a:r>
            <a:endParaRPr lang="en-US" sz="1450" dirty="0"/>
          </a:p>
        </p:txBody>
      </p:sp>
      <p:sp>
        <p:nvSpPr>
          <p:cNvPr id="16" name="Targeta La roda"/>
          <p:cNvSpPr/>
          <p:nvPr/>
        </p:nvSpPr>
        <p:spPr>
          <a:xfrm>
            <a:off x="8097317" y="1965960"/>
            <a:ext cx="3545738" cy="1897380"/>
          </a:xfrm>
          <a:prstGeom prst="roundRect">
            <a:avLst>
              <a:gd name="adj" fmla="val 5301"/>
            </a:avLst>
          </a:prstGeom>
          <a:solidFill>
            <a:srgbClr val="FFFFFF"/>
          </a:solidFill>
          <a:ln w="12700">
            <a:solidFill>
              <a:srgbClr val="DADCE0"/>
            </a:solidFill>
            <a:prstDash val="solid"/>
          </a:ln>
        </p:spPr>
      </p:sp>
      <p:sp>
        <p:nvSpPr>
          <p:cNvPr id="17" name="Cercle icona"/>
          <p:cNvSpPr/>
          <p:nvPr/>
        </p:nvSpPr>
        <p:spPr>
          <a:xfrm>
            <a:off x="8325917" y="2194560"/>
            <a:ext cx="502920" cy="502920"/>
          </a:xfrm>
          <a:prstGeom prst="ellipse">
            <a:avLst/>
          </a:prstGeom>
          <a:solidFill>
            <a:srgbClr val="E6F4EA"/>
          </a:solidFill>
          <a:ln/>
        </p:spPr>
      </p:sp>
      <p:pic>
        <p:nvPicPr>
          <p:cNvPr id="18" name="Icona TbWheel" descr="/home/claude/pc/build/1r-eso-civilitzacions/img/ic/TbWheel-g.png">    </p:cNvPr>
          <p:cNvPicPr>
            <a:picLocks noChangeAspect="1"/>
          </p:cNvPicPr>
          <p:nvPr/>
        </p:nvPicPr>
        <p:blipFill>
          <a:blip r:embed="rId3"/>
          <a:stretch>
            <a:fillRect/>
          </a:stretch>
        </p:blipFill>
        <p:spPr>
          <a:xfrm>
            <a:off x="8436559" y="2305202"/>
            <a:ext cx="281635" cy="281635"/>
          </a:xfrm>
          <a:prstGeom prst="rect">
            <a:avLst/>
          </a:prstGeom>
        </p:spPr>
      </p:pic>
      <p:sp>
        <p:nvSpPr>
          <p:cNvPr id="19" name="Text 14"/>
          <p:cNvSpPr txBox="1"/>
          <p:nvPr/>
        </p:nvSpPr>
        <p:spPr>
          <a:xfrm>
            <a:off x="8965997" y="219456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La roda</a:t>
            </a:r>
            <a:endParaRPr lang="en-US" sz="1700" dirty="0"/>
          </a:p>
        </p:txBody>
      </p:sp>
      <p:sp>
        <p:nvSpPr>
          <p:cNvPr id="20" name="Text 15"/>
          <p:cNvSpPr txBox="1"/>
          <p:nvPr/>
        </p:nvSpPr>
        <p:spPr>
          <a:xfrm>
            <a:off x="8325917" y="2834640"/>
            <a:ext cx="3088538" cy="8915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Present en tot el que es mou.</a:t>
            </a:r>
            <a:endParaRPr lang="en-US" sz="1450" dirty="0"/>
          </a:p>
        </p:txBody>
      </p:sp>
      <p:sp>
        <p:nvSpPr>
          <p:cNvPr id="21" name="Targeta La mesura del temps"/>
          <p:cNvSpPr/>
          <p:nvPr/>
        </p:nvSpPr>
        <p:spPr>
          <a:xfrm>
            <a:off x="548640" y="4091940"/>
            <a:ext cx="3545738" cy="1897380"/>
          </a:xfrm>
          <a:prstGeom prst="roundRect">
            <a:avLst>
              <a:gd name="adj" fmla="val 5301"/>
            </a:avLst>
          </a:prstGeom>
          <a:solidFill>
            <a:srgbClr val="FFFFFF"/>
          </a:solidFill>
          <a:ln w="12700">
            <a:solidFill>
              <a:srgbClr val="DADCE0"/>
            </a:solidFill>
            <a:prstDash val="solid"/>
          </a:ln>
        </p:spPr>
      </p:sp>
      <p:sp>
        <p:nvSpPr>
          <p:cNvPr id="22" name="Cercle icona"/>
          <p:cNvSpPr/>
          <p:nvPr/>
        </p:nvSpPr>
        <p:spPr>
          <a:xfrm>
            <a:off x="777240" y="4320540"/>
            <a:ext cx="502920" cy="502920"/>
          </a:xfrm>
          <a:prstGeom prst="ellipse">
            <a:avLst/>
          </a:prstGeom>
          <a:solidFill>
            <a:srgbClr val="E6F4EA"/>
          </a:solidFill>
          <a:ln/>
        </p:spPr>
      </p:sp>
      <p:pic>
        <p:nvPicPr>
          <p:cNvPr id="23" name="Icona TbClock" descr="/home/claude/pc/build/1r-eso-civilitzacions/img/ic/TbClock-g.png">    </p:cNvPr>
          <p:cNvPicPr>
            <a:picLocks noChangeAspect="1"/>
          </p:cNvPicPr>
          <p:nvPr/>
        </p:nvPicPr>
        <p:blipFill>
          <a:blip r:embed="rId4"/>
          <a:stretch>
            <a:fillRect/>
          </a:stretch>
        </p:blipFill>
        <p:spPr>
          <a:xfrm>
            <a:off x="887882" y="4431182"/>
            <a:ext cx="281635" cy="281635"/>
          </a:xfrm>
          <a:prstGeom prst="rect">
            <a:avLst/>
          </a:prstGeom>
        </p:spPr>
      </p:pic>
      <p:sp>
        <p:nvSpPr>
          <p:cNvPr id="24" name="Text 18"/>
          <p:cNvSpPr txBox="1"/>
          <p:nvPr/>
        </p:nvSpPr>
        <p:spPr>
          <a:xfrm>
            <a:off x="1417320" y="432054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La mesura del temps</a:t>
            </a:r>
            <a:endParaRPr lang="en-US" sz="1700" dirty="0"/>
          </a:p>
        </p:txBody>
      </p:sp>
      <p:sp>
        <p:nvSpPr>
          <p:cNvPr id="25" name="Text 19"/>
          <p:cNvSpPr txBox="1"/>
          <p:nvPr/>
        </p:nvSpPr>
        <p:spPr>
          <a:xfrm>
            <a:off x="777240" y="4960620"/>
            <a:ext cx="3088538" cy="8915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Hores de 60 minuts, minuts de 60 segons, el calendari egipci de 365 dies i el cercle de 360 graus.</a:t>
            </a:r>
            <a:endParaRPr lang="en-US" sz="1450" dirty="0"/>
          </a:p>
        </p:txBody>
      </p:sp>
      <p:sp>
        <p:nvSpPr>
          <p:cNvPr id="26" name="Targeta Matemàtiques i astronomia"/>
          <p:cNvSpPr/>
          <p:nvPr/>
        </p:nvSpPr>
        <p:spPr>
          <a:xfrm>
            <a:off x="4322978" y="4091940"/>
            <a:ext cx="3545738" cy="1897380"/>
          </a:xfrm>
          <a:prstGeom prst="roundRect">
            <a:avLst>
              <a:gd name="adj" fmla="val 5301"/>
            </a:avLst>
          </a:prstGeom>
          <a:solidFill>
            <a:srgbClr val="FFFFFF"/>
          </a:solidFill>
          <a:ln w="12700">
            <a:solidFill>
              <a:srgbClr val="DADCE0"/>
            </a:solidFill>
            <a:prstDash val="solid"/>
          </a:ln>
        </p:spPr>
      </p:sp>
      <p:sp>
        <p:nvSpPr>
          <p:cNvPr id="27" name="Cercle icona"/>
          <p:cNvSpPr/>
          <p:nvPr/>
        </p:nvSpPr>
        <p:spPr>
          <a:xfrm>
            <a:off x="4551578" y="4320540"/>
            <a:ext cx="502920" cy="502920"/>
          </a:xfrm>
          <a:prstGeom prst="ellipse">
            <a:avLst/>
          </a:prstGeom>
          <a:solidFill>
            <a:srgbClr val="E6F4EA"/>
          </a:solidFill>
          <a:ln/>
        </p:spPr>
      </p:sp>
      <p:pic>
        <p:nvPicPr>
          <p:cNvPr id="28" name="Icona TbMathSymbols" descr="/home/claude/pc/build/1r-eso-civilitzacions/img/ic/TbMathSymbols-g.png">    </p:cNvPr>
          <p:cNvPicPr>
            <a:picLocks noChangeAspect="1"/>
          </p:cNvPicPr>
          <p:nvPr/>
        </p:nvPicPr>
        <p:blipFill>
          <a:blip r:embed="rId5"/>
          <a:stretch>
            <a:fillRect/>
          </a:stretch>
        </p:blipFill>
        <p:spPr>
          <a:xfrm>
            <a:off x="4662221" y="4431182"/>
            <a:ext cx="281635" cy="281635"/>
          </a:xfrm>
          <a:prstGeom prst="rect">
            <a:avLst/>
          </a:prstGeom>
        </p:spPr>
      </p:pic>
      <p:sp>
        <p:nvSpPr>
          <p:cNvPr id="29" name="Text 22"/>
          <p:cNvSpPr txBox="1"/>
          <p:nvPr/>
        </p:nvSpPr>
        <p:spPr>
          <a:xfrm>
            <a:off x="5191658" y="432054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Matemàtiques i astronomia</a:t>
            </a:r>
            <a:endParaRPr lang="en-US" sz="1700" dirty="0"/>
          </a:p>
        </p:txBody>
      </p:sp>
      <p:sp>
        <p:nvSpPr>
          <p:cNvPr id="30" name="Text 23"/>
          <p:cNvSpPr txBox="1"/>
          <p:nvPr/>
        </p:nvSpPr>
        <p:spPr>
          <a:xfrm>
            <a:off x="4551578" y="4960620"/>
            <a:ext cx="3088538" cy="8915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Geometria per mesurar camps i càlcul per al comerç.</a:t>
            </a:r>
            <a:endParaRPr lang="en-US" sz="1450" dirty="0"/>
          </a:p>
        </p:txBody>
      </p:sp>
      <p:sp>
        <p:nvSpPr>
          <p:cNvPr id="31" name="Targeta L'estat i l'administració"/>
          <p:cNvSpPr/>
          <p:nvPr/>
        </p:nvSpPr>
        <p:spPr>
          <a:xfrm>
            <a:off x="8097317" y="4091940"/>
            <a:ext cx="3545738" cy="1897380"/>
          </a:xfrm>
          <a:prstGeom prst="roundRect">
            <a:avLst>
              <a:gd name="adj" fmla="val 5301"/>
            </a:avLst>
          </a:prstGeom>
          <a:solidFill>
            <a:srgbClr val="FFFFFF"/>
          </a:solidFill>
          <a:ln w="12700">
            <a:solidFill>
              <a:srgbClr val="DADCE0"/>
            </a:solidFill>
            <a:prstDash val="solid"/>
          </a:ln>
        </p:spPr>
      </p:sp>
      <p:sp>
        <p:nvSpPr>
          <p:cNvPr id="32" name="Cercle icona"/>
          <p:cNvSpPr/>
          <p:nvPr/>
        </p:nvSpPr>
        <p:spPr>
          <a:xfrm>
            <a:off x="8325917" y="4320540"/>
            <a:ext cx="502920" cy="502920"/>
          </a:xfrm>
          <a:prstGeom prst="ellipse">
            <a:avLst/>
          </a:prstGeom>
          <a:solidFill>
            <a:srgbClr val="E6F4EA"/>
          </a:solidFill>
          <a:ln/>
        </p:spPr>
      </p:sp>
      <p:pic>
        <p:nvPicPr>
          <p:cNvPr id="33" name="Icona TbBuildingBank" descr="/home/claude/pc/build/1r-eso-civilitzacions/img/ic/TbBuildingBank-g.png">    </p:cNvPr>
          <p:cNvPicPr>
            <a:picLocks noChangeAspect="1"/>
          </p:cNvPicPr>
          <p:nvPr/>
        </p:nvPicPr>
        <p:blipFill>
          <a:blip r:embed="rId6"/>
          <a:stretch>
            <a:fillRect/>
          </a:stretch>
        </p:blipFill>
        <p:spPr>
          <a:xfrm>
            <a:off x="8436559" y="4431182"/>
            <a:ext cx="281635" cy="281635"/>
          </a:xfrm>
          <a:prstGeom prst="rect">
            <a:avLst/>
          </a:prstGeom>
        </p:spPr>
      </p:pic>
      <p:sp>
        <p:nvSpPr>
          <p:cNvPr id="34" name="Text 26"/>
          <p:cNvSpPr txBox="1"/>
          <p:nvPr/>
        </p:nvSpPr>
        <p:spPr>
          <a:xfrm>
            <a:off x="8965997" y="4320540"/>
            <a:ext cx="2448458" cy="502920"/>
          </a:xfrm>
          <a:prstGeom prst="rect">
            <a:avLst/>
          </a:prstGeom>
          <a:noFill/>
          <a:ln/>
        </p:spPr>
        <p:txBody>
          <a:bodyPr wrap="square" lIns="0" tIns="0" rIns="0" bIns="0" rtlCol="0" anchor="ctr"/>
          <a:lstStyle/>
          <a:p>
            <a:pPr indent="0" marL="0">
              <a:buNone/>
            </a:pPr>
            <a:r>
              <a:rPr lang="en-US" sz="1700" b="1" dirty="0">
                <a:solidFill>
                  <a:srgbClr val="188038"/>
                </a:solidFill>
                <a:latin typeface="Roboto" pitchFamily="34" charset="0"/>
                <a:ea typeface="Roboto" pitchFamily="34" charset="-122"/>
                <a:cs typeface="Roboto" pitchFamily="34" charset="-120"/>
              </a:rPr>
              <a:t>L'estat i l'administració</a:t>
            </a:r>
            <a:endParaRPr lang="en-US" sz="1700" dirty="0"/>
          </a:p>
        </p:txBody>
      </p:sp>
      <p:sp>
        <p:nvSpPr>
          <p:cNvPr id="35" name="Text 27"/>
          <p:cNvSpPr txBox="1"/>
          <p:nvPr/>
        </p:nvSpPr>
        <p:spPr>
          <a:xfrm>
            <a:off x="8325917" y="4960620"/>
            <a:ext cx="3088538" cy="891540"/>
          </a:xfrm>
          <a:prstGeom prst="rect">
            <a:avLst/>
          </a:prstGeom>
          <a:noFill/>
          <a:ln/>
        </p:spPr>
        <p:txBody>
          <a:bodyPr wrap="square" lIns="0" tIns="0" rIns="0" bIns="0" rtlCol="0" anchor="t"/>
          <a:lstStyle/>
          <a:p>
            <a:pPr indent="0" marL="0">
              <a:buNone/>
            </a:pPr>
            <a:r>
              <a:rPr lang="en-US" sz="1450" dirty="0">
                <a:solidFill>
                  <a:srgbClr val="202124"/>
                </a:solidFill>
                <a:latin typeface="Roboto" pitchFamily="34" charset="0"/>
                <a:ea typeface="Roboto" pitchFamily="34" charset="-122"/>
                <a:cs typeface="Roboto" pitchFamily="34" charset="-120"/>
              </a:rPr>
              <a:t>Funcionaris, impostos, censos i arxius, l'esquelet de qualsevol país modern.</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Cercle de secció"/>
          <p:cNvSpPr/>
          <p:nvPr/>
        </p:nvSpPr>
        <p:spPr>
          <a:xfrm>
            <a:off x="548640" y="566928"/>
            <a:ext cx="566928" cy="566928"/>
          </a:xfrm>
          <a:prstGeom prst="ellipse">
            <a:avLst/>
          </a:prstGeom>
          <a:solidFill>
            <a:srgbClr val="188038"/>
          </a:solidFill>
          <a:ln/>
        </p:spPr>
      </p:sp>
      <p:sp>
        <p:nvSpPr>
          <p:cNvPr id="3" name="Text 1"/>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6</a:t>
            </a:r>
            <a:endParaRPr lang="en-US" sz="1800" dirty="0"/>
          </a:p>
        </p:txBody>
      </p:sp>
      <p:sp>
        <p:nvSpPr>
          <p:cNvPr id="4" name="Text 1"/>
          <p:cNvSpPr/>
          <p:nvPr>
            <p:ph idx="101" type="title" hasCustomPrompt="1"/>
          </p:nvPr>
        </p:nvSpPr>
        <p:spPr>
          <a:xfrm>
            <a:off x="1298448" y="566928"/>
            <a:ext cx="10344607" cy="566928"/>
          </a:xfrm>
          <a:prstGeom prst="rect">
            <a:avLst/>
          </a:prstGeom>
          <a:noFill/>
          <a:ln/>
        </p:spPr>
        <p:txBody>
          <a:bodyPr wrap="square" lIns="0" tIns="0" rIns="0" bIns="0" rtlCol="0" anchor="ctr"/>
          <a:lstStyle/>
          <a:p>
            <a:pPr algn="l" indent="0" marL="0">
              <a:buNone/>
            </a:pPr>
            <a:r>
              <a:rPr lang="en-US" sz="2800" b="1" dirty="0">
                <a:solidFill>
                  <a:srgbClr val="202124"/>
                </a:solidFill>
                <a:latin typeface="Roboto" pitchFamily="34" charset="0"/>
                <a:ea typeface="Roboto" pitchFamily="34" charset="-122"/>
                <a:cs typeface="Roboto" pitchFamily="34" charset="-120"/>
              </a:rPr>
              <a:t>Comprova-ho</a:t>
            </a:r>
            <a:endParaRPr lang="en-US" sz="2800" dirty="0"/>
          </a:p>
        </p:txBody>
      </p:sp>
      <p:sp>
        <p:nvSpPr>
          <p:cNvPr id="5" name="Text 3"/>
          <p:cNvSpPr txBox="1"/>
          <p:nvPr/>
        </p:nvSpPr>
        <p:spPr>
          <a:xfrm>
            <a:off x="548640" y="1371600"/>
            <a:ext cx="3657600" cy="320040"/>
          </a:xfrm>
          <a:prstGeom prst="rect">
            <a:avLst/>
          </a:prstGeom>
          <a:noFill/>
          <a:ln/>
        </p:spPr>
        <p:txBody>
          <a:bodyPr wrap="square" lIns="0" tIns="0" rIns="0" bIns="0" rtlCol="0" anchor="t"/>
          <a:lstStyle/>
          <a:p>
            <a:pPr indent="0" marL="0">
              <a:buNone/>
            </a:pPr>
            <a:r>
              <a:rPr lang="en-US" sz="1400" b="1" dirty="0">
                <a:solidFill>
                  <a:srgbClr val="5F6368"/>
                </a:solidFill>
                <a:latin typeface="Roboto" pitchFamily="34" charset="0"/>
                <a:ea typeface="Roboto" pitchFamily="34" charset="-122"/>
                <a:cs typeface="Roboto" pitchFamily="34" charset="-120"/>
              </a:rPr>
              <a:t>Paraules clau</a:t>
            </a:r>
            <a:endParaRPr lang="en-US" sz="1400" dirty="0"/>
          </a:p>
        </p:txBody>
      </p:sp>
      <p:sp>
        <p:nvSpPr>
          <p:cNvPr id="6" name="Etiqueta Indus"/>
          <p:cNvSpPr/>
          <p:nvPr/>
        </p:nvSpPr>
        <p:spPr>
          <a:xfrm>
            <a:off x="548640" y="1755648"/>
            <a:ext cx="813816" cy="384048"/>
          </a:xfrm>
          <a:prstGeom prst="roundRect">
            <a:avLst>
              <a:gd name="adj" fmla="val 50000"/>
            </a:avLst>
          </a:prstGeom>
          <a:solidFill>
            <a:srgbClr val="E6F4EA"/>
          </a:solidFill>
          <a:ln/>
        </p:spPr>
      </p:sp>
      <p:sp>
        <p:nvSpPr>
          <p:cNvPr id="7" name="Text 5"/>
          <p:cNvSpPr txBox="1"/>
          <p:nvPr/>
        </p:nvSpPr>
        <p:spPr>
          <a:xfrm>
            <a:off x="548640" y="1755648"/>
            <a:ext cx="813816"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Indus</a:t>
            </a:r>
            <a:endParaRPr lang="en-US" sz="1500" dirty="0"/>
          </a:p>
        </p:txBody>
      </p:sp>
      <p:sp>
        <p:nvSpPr>
          <p:cNvPr id="8" name="Etiqueta Xina"/>
          <p:cNvSpPr/>
          <p:nvPr/>
        </p:nvSpPr>
        <p:spPr>
          <a:xfrm>
            <a:off x="1472184" y="1755648"/>
            <a:ext cx="713232" cy="384048"/>
          </a:xfrm>
          <a:prstGeom prst="roundRect">
            <a:avLst>
              <a:gd name="adj" fmla="val 50000"/>
            </a:avLst>
          </a:prstGeom>
          <a:solidFill>
            <a:srgbClr val="E6F4EA"/>
          </a:solidFill>
          <a:ln/>
        </p:spPr>
      </p:sp>
      <p:sp>
        <p:nvSpPr>
          <p:cNvPr id="9" name="Text 7"/>
          <p:cNvSpPr txBox="1"/>
          <p:nvPr/>
        </p:nvSpPr>
        <p:spPr>
          <a:xfrm>
            <a:off x="1472184" y="1755648"/>
            <a:ext cx="713232"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Xina</a:t>
            </a:r>
            <a:endParaRPr lang="en-US" sz="1500" dirty="0"/>
          </a:p>
        </p:txBody>
      </p:sp>
      <p:sp>
        <p:nvSpPr>
          <p:cNvPr id="10" name="Etiqueta Fenicis"/>
          <p:cNvSpPr/>
          <p:nvPr/>
        </p:nvSpPr>
        <p:spPr>
          <a:xfrm>
            <a:off x="2295144" y="1755648"/>
            <a:ext cx="1014984" cy="384048"/>
          </a:xfrm>
          <a:prstGeom prst="roundRect">
            <a:avLst>
              <a:gd name="adj" fmla="val 50000"/>
            </a:avLst>
          </a:prstGeom>
          <a:solidFill>
            <a:srgbClr val="E6F4EA"/>
          </a:solidFill>
          <a:ln/>
        </p:spPr>
      </p:sp>
      <p:sp>
        <p:nvSpPr>
          <p:cNvPr id="11" name="Text 9"/>
          <p:cNvSpPr txBox="1"/>
          <p:nvPr/>
        </p:nvSpPr>
        <p:spPr>
          <a:xfrm>
            <a:off x="2295144"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Fenicis</a:t>
            </a:r>
            <a:endParaRPr lang="en-US" sz="1500" dirty="0"/>
          </a:p>
        </p:txBody>
      </p:sp>
      <p:sp>
        <p:nvSpPr>
          <p:cNvPr id="12" name="Etiqueta Porpra"/>
          <p:cNvSpPr/>
          <p:nvPr/>
        </p:nvSpPr>
        <p:spPr>
          <a:xfrm>
            <a:off x="3419856" y="1755648"/>
            <a:ext cx="914400" cy="384048"/>
          </a:xfrm>
          <a:prstGeom prst="roundRect">
            <a:avLst>
              <a:gd name="adj" fmla="val 50000"/>
            </a:avLst>
          </a:prstGeom>
          <a:solidFill>
            <a:srgbClr val="E6F4EA"/>
          </a:solidFill>
          <a:ln/>
        </p:spPr>
      </p:sp>
      <p:sp>
        <p:nvSpPr>
          <p:cNvPr id="13" name="Text 11"/>
          <p:cNvSpPr txBox="1"/>
          <p:nvPr/>
        </p:nvSpPr>
        <p:spPr>
          <a:xfrm>
            <a:off x="3419856"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Porpra</a:t>
            </a:r>
            <a:endParaRPr lang="en-US" sz="1500" dirty="0"/>
          </a:p>
        </p:txBody>
      </p:sp>
      <p:sp>
        <p:nvSpPr>
          <p:cNvPr id="14" name="Etiqueta Colònia"/>
          <p:cNvSpPr/>
          <p:nvPr/>
        </p:nvSpPr>
        <p:spPr>
          <a:xfrm>
            <a:off x="4443984" y="1755648"/>
            <a:ext cx="1014984" cy="384048"/>
          </a:xfrm>
          <a:prstGeom prst="roundRect">
            <a:avLst>
              <a:gd name="adj" fmla="val 50000"/>
            </a:avLst>
          </a:prstGeom>
          <a:solidFill>
            <a:srgbClr val="E6F4EA"/>
          </a:solidFill>
          <a:ln/>
        </p:spPr>
      </p:sp>
      <p:sp>
        <p:nvSpPr>
          <p:cNvPr id="15" name="Text 13"/>
          <p:cNvSpPr txBox="1"/>
          <p:nvPr/>
        </p:nvSpPr>
        <p:spPr>
          <a:xfrm>
            <a:off x="4443984"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Colònia</a:t>
            </a:r>
            <a:endParaRPr lang="en-US" sz="1500" dirty="0"/>
          </a:p>
        </p:txBody>
      </p:sp>
      <p:sp>
        <p:nvSpPr>
          <p:cNvPr id="16" name="Etiqueta Alfabet"/>
          <p:cNvSpPr/>
          <p:nvPr/>
        </p:nvSpPr>
        <p:spPr>
          <a:xfrm>
            <a:off x="5568696" y="1755648"/>
            <a:ext cx="1014984" cy="384048"/>
          </a:xfrm>
          <a:prstGeom prst="roundRect">
            <a:avLst>
              <a:gd name="adj" fmla="val 50000"/>
            </a:avLst>
          </a:prstGeom>
          <a:solidFill>
            <a:srgbClr val="E6F4EA"/>
          </a:solidFill>
          <a:ln/>
        </p:spPr>
      </p:sp>
      <p:sp>
        <p:nvSpPr>
          <p:cNvPr id="17" name="Text 15"/>
          <p:cNvSpPr txBox="1"/>
          <p:nvPr/>
        </p:nvSpPr>
        <p:spPr>
          <a:xfrm>
            <a:off x="5568696" y="1755648"/>
            <a:ext cx="1014984"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Alfabet</a:t>
            </a:r>
            <a:endParaRPr lang="en-US" sz="1500" dirty="0"/>
          </a:p>
        </p:txBody>
      </p:sp>
      <p:sp>
        <p:nvSpPr>
          <p:cNvPr id="18" name="Etiqueta Llegat"/>
          <p:cNvSpPr/>
          <p:nvPr/>
        </p:nvSpPr>
        <p:spPr>
          <a:xfrm>
            <a:off x="6693408" y="1755648"/>
            <a:ext cx="914400" cy="384048"/>
          </a:xfrm>
          <a:prstGeom prst="roundRect">
            <a:avLst>
              <a:gd name="adj" fmla="val 50000"/>
            </a:avLst>
          </a:prstGeom>
          <a:solidFill>
            <a:srgbClr val="E6F4EA"/>
          </a:solidFill>
          <a:ln/>
        </p:spPr>
      </p:sp>
      <p:sp>
        <p:nvSpPr>
          <p:cNvPr id="19" name="Text 17"/>
          <p:cNvSpPr txBox="1"/>
          <p:nvPr/>
        </p:nvSpPr>
        <p:spPr>
          <a:xfrm>
            <a:off x="6693408" y="1755648"/>
            <a:ext cx="914400" cy="384048"/>
          </a:xfrm>
          <a:prstGeom prst="rect">
            <a:avLst/>
          </a:prstGeom>
          <a:noFill/>
          <a:ln/>
        </p:spPr>
        <p:txBody>
          <a:bodyPr wrap="square" lIns="0" tIns="0" rIns="0" bIns="0" rtlCol="0" anchor="ctr"/>
          <a:lstStyle/>
          <a:p>
            <a:pPr algn="ctr" indent="0" marL="0">
              <a:buNone/>
            </a:pPr>
            <a:r>
              <a:rPr lang="en-US" sz="1500" dirty="0">
                <a:solidFill>
                  <a:srgbClr val="202124"/>
                </a:solidFill>
                <a:latin typeface="Roboto" pitchFamily="34" charset="0"/>
                <a:ea typeface="Roboto" pitchFamily="34" charset="-122"/>
                <a:cs typeface="Roboto" pitchFamily="34" charset="-120"/>
              </a:rPr>
              <a:t>Llegat</a:t>
            </a:r>
            <a:endParaRPr lang="en-US" sz="1500" dirty="0"/>
          </a:p>
        </p:txBody>
      </p:sp>
      <p:sp>
        <p:nvSpPr>
          <p:cNvPr id="20" name="Pregunta 1"/>
          <p:cNvSpPr/>
          <p:nvPr/>
        </p:nvSpPr>
        <p:spPr>
          <a:xfrm>
            <a:off x="548640" y="2514600"/>
            <a:ext cx="11094415" cy="777240"/>
          </a:xfrm>
          <a:prstGeom prst="roundRect">
            <a:avLst>
              <a:gd name="adj" fmla="val 12941"/>
            </a:avLst>
          </a:prstGeom>
          <a:solidFill>
            <a:srgbClr val="FFFFFF"/>
          </a:solidFill>
          <a:ln w="12700">
            <a:solidFill>
              <a:srgbClr val="DADCE0"/>
            </a:solidFill>
            <a:prstDash val="solid"/>
          </a:ln>
        </p:spPr>
      </p:sp>
      <p:sp>
        <p:nvSpPr>
          <p:cNvPr id="21" name="Número 1"/>
          <p:cNvSpPr/>
          <p:nvPr/>
        </p:nvSpPr>
        <p:spPr>
          <a:xfrm>
            <a:off x="822960" y="2674620"/>
            <a:ext cx="457200" cy="457200"/>
          </a:xfrm>
          <a:prstGeom prst="ellipse">
            <a:avLst/>
          </a:prstGeom>
          <a:solidFill>
            <a:srgbClr val="188038"/>
          </a:solidFill>
          <a:ln/>
        </p:spPr>
      </p:sp>
      <p:sp>
        <p:nvSpPr>
          <p:cNvPr id="22" name="Text 20"/>
          <p:cNvSpPr txBox="1"/>
          <p:nvPr/>
        </p:nvSpPr>
        <p:spPr>
          <a:xfrm>
            <a:off x="822960" y="26746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1</a:t>
            </a:r>
            <a:endParaRPr lang="en-US" sz="1700" dirty="0"/>
          </a:p>
        </p:txBody>
      </p:sp>
      <p:sp>
        <p:nvSpPr>
          <p:cNvPr id="23" name="Text 21"/>
          <p:cNvSpPr txBox="1"/>
          <p:nvPr/>
        </p:nvSpPr>
        <p:spPr>
          <a:xfrm>
            <a:off x="1508760" y="25146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Què tenien d'especial les ciutats de l'Indus?</a:t>
            </a:r>
            <a:endParaRPr lang="en-US" sz="1900" dirty="0"/>
          </a:p>
        </p:txBody>
      </p:sp>
      <p:sp>
        <p:nvSpPr>
          <p:cNvPr id="24" name="Pregunta 2"/>
          <p:cNvSpPr/>
          <p:nvPr/>
        </p:nvSpPr>
        <p:spPr>
          <a:xfrm>
            <a:off x="548640" y="3429000"/>
            <a:ext cx="11094415" cy="777240"/>
          </a:xfrm>
          <a:prstGeom prst="roundRect">
            <a:avLst>
              <a:gd name="adj" fmla="val 12941"/>
            </a:avLst>
          </a:prstGeom>
          <a:solidFill>
            <a:srgbClr val="FFFFFF"/>
          </a:solidFill>
          <a:ln w="12700">
            <a:solidFill>
              <a:srgbClr val="DADCE0"/>
            </a:solidFill>
            <a:prstDash val="solid"/>
          </a:ln>
        </p:spPr>
      </p:sp>
      <p:sp>
        <p:nvSpPr>
          <p:cNvPr id="25" name="Número 2"/>
          <p:cNvSpPr/>
          <p:nvPr/>
        </p:nvSpPr>
        <p:spPr>
          <a:xfrm>
            <a:off x="822960" y="3589020"/>
            <a:ext cx="457200" cy="457200"/>
          </a:xfrm>
          <a:prstGeom prst="ellipse">
            <a:avLst/>
          </a:prstGeom>
          <a:solidFill>
            <a:srgbClr val="188038"/>
          </a:solidFill>
          <a:ln/>
        </p:spPr>
      </p:sp>
      <p:sp>
        <p:nvSpPr>
          <p:cNvPr id="26" name="Text 24"/>
          <p:cNvSpPr txBox="1"/>
          <p:nvPr/>
        </p:nvSpPr>
        <p:spPr>
          <a:xfrm>
            <a:off x="822960" y="35890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2</a:t>
            </a:r>
            <a:endParaRPr lang="en-US" sz="1700" dirty="0"/>
          </a:p>
        </p:txBody>
      </p:sp>
      <p:sp>
        <p:nvSpPr>
          <p:cNvPr id="27" name="Text 25"/>
          <p:cNvSpPr txBox="1"/>
          <p:nvPr/>
        </p:nvSpPr>
        <p:spPr>
          <a:xfrm>
            <a:off x="1508760" y="34290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els fenicis van fundar colònies?</a:t>
            </a:r>
            <a:endParaRPr lang="en-US" sz="1900" dirty="0"/>
          </a:p>
        </p:txBody>
      </p:sp>
      <p:sp>
        <p:nvSpPr>
          <p:cNvPr id="28" name="Pregunta 3"/>
          <p:cNvSpPr/>
          <p:nvPr/>
        </p:nvSpPr>
        <p:spPr>
          <a:xfrm>
            <a:off x="548640" y="4343400"/>
            <a:ext cx="11094415" cy="777240"/>
          </a:xfrm>
          <a:prstGeom prst="roundRect">
            <a:avLst>
              <a:gd name="adj" fmla="val 12941"/>
            </a:avLst>
          </a:prstGeom>
          <a:solidFill>
            <a:srgbClr val="FFFFFF"/>
          </a:solidFill>
          <a:ln w="12700">
            <a:solidFill>
              <a:srgbClr val="DADCE0"/>
            </a:solidFill>
            <a:prstDash val="solid"/>
          </a:ln>
        </p:spPr>
      </p:sp>
      <p:sp>
        <p:nvSpPr>
          <p:cNvPr id="29" name="Número 3"/>
          <p:cNvSpPr/>
          <p:nvPr/>
        </p:nvSpPr>
        <p:spPr>
          <a:xfrm>
            <a:off x="822960" y="4503420"/>
            <a:ext cx="457200" cy="457200"/>
          </a:xfrm>
          <a:prstGeom prst="ellipse">
            <a:avLst/>
          </a:prstGeom>
          <a:solidFill>
            <a:srgbClr val="188038"/>
          </a:solidFill>
          <a:ln/>
        </p:spPr>
      </p:sp>
      <p:sp>
        <p:nvSpPr>
          <p:cNvPr id="30" name="Text 28"/>
          <p:cNvSpPr txBox="1"/>
          <p:nvPr/>
        </p:nvSpPr>
        <p:spPr>
          <a:xfrm>
            <a:off x="822960" y="45034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3</a:t>
            </a:r>
            <a:endParaRPr lang="en-US" sz="1700" dirty="0"/>
          </a:p>
        </p:txBody>
      </p:sp>
      <p:sp>
        <p:nvSpPr>
          <p:cNvPr id="31" name="Text 29"/>
          <p:cNvSpPr txBox="1"/>
          <p:nvPr/>
        </p:nvSpPr>
        <p:spPr>
          <a:xfrm>
            <a:off x="1508760" y="43434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Per què l'alfabet fenici va ser tan important?</a:t>
            </a:r>
            <a:endParaRPr lang="en-US" sz="1900" dirty="0"/>
          </a:p>
        </p:txBody>
      </p:sp>
      <p:sp>
        <p:nvSpPr>
          <p:cNvPr id="32" name="Pregunta 4"/>
          <p:cNvSpPr/>
          <p:nvPr/>
        </p:nvSpPr>
        <p:spPr>
          <a:xfrm>
            <a:off x="548640" y="5257800"/>
            <a:ext cx="11094415" cy="777240"/>
          </a:xfrm>
          <a:prstGeom prst="roundRect">
            <a:avLst>
              <a:gd name="adj" fmla="val 12941"/>
            </a:avLst>
          </a:prstGeom>
          <a:solidFill>
            <a:srgbClr val="FFFFFF"/>
          </a:solidFill>
          <a:ln w="12700">
            <a:solidFill>
              <a:srgbClr val="DADCE0"/>
            </a:solidFill>
            <a:prstDash val="solid"/>
          </a:ln>
        </p:spPr>
      </p:sp>
      <p:sp>
        <p:nvSpPr>
          <p:cNvPr id="33" name="Número 4"/>
          <p:cNvSpPr/>
          <p:nvPr/>
        </p:nvSpPr>
        <p:spPr>
          <a:xfrm>
            <a:off x="822960" y="5417820"/>
            <a:ext cx="457200" cy="457200"/>
          </a:xfrm>
          <a:prstGeom prst="ellipse">
            <a:avLst/>
          </a:prstGeom>
          <a:solidFill>
            <a:srgbClr val="188038"/>
          </a:solidFill>
          <a:ln/>
        </p:spPr>
      </p:sp>
      <p:sp>
        <p:nvSpPr>
          <p:cNvPr id="34" name="Text 32"/>
          <p:cNvSpPr txBox="1"/>
          <p:nvPr/>
        </p:nvSpPr>
        <p:spPr>
          <a:xfrm>
            <a:off x="822960" y="54178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Roboto" pitchFamily="34" charset="0"/>
                <a:ea typeface="Roboto" pitchFamily="34" charset="-122"/>
                <a:cs typeface="Roboto" pitchFamily="34" charset="-120"/>
              </a:rPr>
              <a:t>4</a:t>
            </a:r>
            <a:endParaRPr lang="en-US" sz="1700" dirty="0"/>
          </a:p>
        </p:txBody>
      </p:sp>
      <p:sp>
        <p:nvSpPr>
          <p:cNvPr id="35" name="Text 33"/>
          <p:cNvSpPr txBox="1"/>
          <p:nvPr/>
        </p:nvSpPr>
        <p:spPr>
          <a:xfrm>
            <a:off x="1508760" y="5257800"/>
            <a:ext cx="9905695" cy="777240"/>
          </a:xfrm>
          <a:prstGeom prst="rect">
            <a:avLst/>
          </a:prstGeom>
          <a:noFill/>
          <a:ln/>
        </p:spPr>
        <p:txBody>
          <a:bodyPr wrap="square" lIns="0" tIns="0" rIns="0" bIns="0" rtlCol="0" anchor="ctr"/>
          <a:lstStyle/>
          <a:p>
            <a:pPr indent="0" marL="0">
              <a:buNone/>
            </a:pPr>
            <a:r>
              <a:rPr lang="en-US" sz="1900" dirty="0">
                <a:solidFill>
                  <a:srgbClr val="202124"/>
                </a:solidFill>
                <a:latin typeface="Roboto" pitchFamily="34" charset="0"/>
                <a:ea typeface="Roboto" pitchFamily="34" charset="-122"/>
                <a:cs typeface="Roboto" pitchFamily="34" charset="-120"/>
              </a:rPr>
              <a:t>Digues dos llegats d'aquestes civilitzacions que facis servir avui.</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868B"/>
                </a:solidFill>
                <a:latin typeface="Roboto"/>
                <a:ea typeface="Roboto"/>
                <a:cs typeface="Roboto"/>
              </a:defRPr>
            </a:lvl1pPr>
          </a:lstStyle>
          <a:p>
            <a:pPr algn="r"/>
            <a:fld id="{F7021451-1387-4CA6-816F-3879F97B5CBC}" type="slidenum">
              <a:rPr b="0" lang="en-US"/>
              <a:t>66</a:t>
            </a:fld>
            <a:endParaRPr lang="en-US"/>
          </a:p>
        </p:txBody>
      </p:sp>
    </p:spTree>
  </p:cSld>
  <p:clrMapOvr>
    <a:masterClrMapping/>
  </p:clrMapOvr>
</p:sld>
</file>

<file path=ppt/theme/theme1.xml><?xml version="1.0" encoding="utf-8"?>
<a:theme xmlns:a="http://schemas.openxmlformats.org/drawingml/2006/main" name="Professor de socials · 1r ESO">
  <a:themeElements>
    <a:clrScheme name="Professor de socials · 1r ESO">
      <a:dk1>
        <a:srgbClr val="202124"/>
      </a:dk1>
      <a:lt1>
        <a:srgbClr val="FFFFFF"/>
      </a:lt1>
      <a:dk2>
        <a:srgbClr val="5F6368"/>
      </a:dk2>
      <a:lt2>
        <a:srgbClr val="E6F4EA"/>
      </a:lt2>
      <a:accent1>
        <a:srgbClr val="188038"/>
      </a:accent1>
      <a:accent2>
        <a:srgbClr val="12632B"/>
      </a:accent2>
      <a:accent3>
        <a:srgbClr val="DADCE0"/>
      </a:accent3>
      <a:accent4>
        <a:srgbClr val="80868B"/>
      </a:accent4>
      <a:accent5>
        <a:srgbClr val="F6F8FB"/>
      </a:accent5>
      <a:accent6>
        <a:srgbClr val="188038"/>
      </a:accent6>
      <a:hlink>
        <a:srgbClr val="188038"/>
      </a:hlink>
      <a:folHlink>
        <a:srgbClr val="12632B"/>
      </a:folHlink>
    </a:clrScheme>
    <a:fontScheme name="Professor de socials · 1r ESO">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professordesocials.cat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primeres civilitzacions</dc:title>
  <dc:subject>PptxGenJS Presentation</dc:subject>
  <dc:creator>Professor de socials</dc:creator>
  <cp:lastModifiedBy>Professor de socials</cp:lastModifiedBy>
  <cp:revision>1</cp:revision>
  <dcterms:created xsi:type="dcterms:W3CDTF">2026-10-13T04:40:14Z</dcterms:created>
  <dcterms:modified xsi:type="dcterms:W3CDTF">2026-10-13T04:40:14Z</dcterms:modified>
</cp:coreProperties>
</file>