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" id="{7f90de91-100a-99c0-cfd4-3b25f7be0c67}">
          <p14:sldIdLst>
            <p14:sldId id="256"/>
            <p14:sldId id="257"/>
            <p14:sldId id="258"/>
          </p14:sldIdLst>
        </p14:section>
        <p14:section name="Apartat 1. Què és la prehistòria?" id="{4128f441-4964-fce9-5bf3-96f747b3a33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Apartat 2. L'evolució humana" id="{9bbc9c29-814a-567a-22fa-d97fadd0acbb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Apartat 3. El Paleolític" id="{c21fe54e-0396-1c42-7b3d-6277242dfe8b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Apartat 4. El Neolític" id="{6dc4e806-f7b6-8ade-8c30-10256b58931b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Apartat 5. L'Edat dels metalls" id="{c27500a1-9944-6d1e-711c-c25ed4705f8b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Apartat 6. La prehistòria a casa nostra" id="{d0072546-2c65-09ec-7a40-03097e240402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professordesocials.cat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i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1r ESO  ›  Ciències socials  ›  Unitat 2. La prehistòria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professordesocials.cat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ing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1r ESO  ›  Ciències socials  ›  Unitat 2. La prehistòria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professordesocials.cat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çalera"/>
          <p:cNvSpPr/>
          <p:nvPr/>
        </p:nvSpPr>
        <p:spPr>
          <a:xfrm>
            <a:off x="548640" y="548640"/>
            <a:ext cx="7086600" cy="5760720"/>
          </a:xfrm>
          <a:prstGeom prst="roundRect">
            <a:avLst>
              <a:gd name="adj" fmla="val 1746"/>
            </a:avLst>
          </a:prstGeom>
          <a:solidFill>
            <a:srgbClr val="188038"/>
          </a:solidFill>
          <a:ln/>
        </p:spPr>
      </p:sp>
      <p:pic>
        <p:nvPicPr>
          <p:cNvPr id="3" name="Il·lustració d'un menhir, un dolmen i el sol" descr="/home/claude/pre/build/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4688565"/>
            <a:ext cx="3017520" cy="16025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9144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EE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professordesocials.cat  ›  1r ESO  ›  Ciències socials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132588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prehistòria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2286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Història  ·  Unitat 2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7432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Durant més del 99 % del temps que portem a la Terra no hem escrit res. Com podem saber, doncs, com vivien els primers humans, i què els va fer canviar tant?</a:t>
            </a:r>
            <a:endParaRPr lang="en-US" sz="1700" dirty="0"/>
          </a:p>
        </p:txBody>
      </p:sp>
      <p:sp>
        <p:nvSpPr>
          <p:cNvPr id="8" name="Etiqueta 6 apartats"/>
          <p:cNvSpPr/>
          <p:nvPr/>
        </p:nvSpPr>
        <p:spPr>
          <a:xfrm>
            <a:off x="1005840" y="3977640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397764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apartats</a:t>
            </a:r>
            <a:endParaRPr lang="en-US" sz="1200" dirty="0"/>
          </a:p>
        </p:txBody>
      </p:sp>
      <p:sp>
        <p:nvSpPr>
          <p:cNvPr id="10" name="Etiqueta Mapes i imatges"/>
          <p:cNvSpPr/>
          <p:nvPr/>
        </p:nvSpPr>
        <p:spPr>
          <a:xfrm>
            <a:off x="2231136" y="397764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231136" y="39776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Mapes i imatges</a:t>
            </a:r>
            <a:endParaRPr lang="en-US" sz="1200" dirty="0"/>
          </a:p>
        </p:txBody>
      </p:sp>
      <p:sp>
        <p:nvSpPr>
          <p:cNvPr id="12" name="Etiqueta Comprova-ho"/>
          <p:cNvSpPr/>
          <p:nvPr/>
        </p:nvSpPr>
        <p:spPr>
          <a:xfrm>
            <a:off x="3858768" y="3977640"/>
            <a:ext cx="1196035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858768" y="3977640"/>
            <a:ext cx="1196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Comprova-ho</a:t>
            </a:r>
            <a:endParaRPr lang="en-US" sz="1200" dirty="0"/>
          </a:p>
        </p:txBody>
      </p:sp>
      <p:sp>
        <p:nvSpPr>
          <p:cNvPr id="14" name="Fons Art rupestre"/>
          <p:cNvSpPr/>
          <p:nvPr/>
        </p:nvSpPr>
        <p:spPr>
          <a:xfrm>
            <a:off x="8001000" y="1777684"/>
            <a:ext cx="3642055" cy="2388233"/>
          </a:xfrm>
          <a:prstGeom prst="roundRect">
            <a:avLst>
              <a:gd name="adj" fmla="val 4212"/>
            </a:avLst>
          </a:prstGeom>
          <a:solidFill>
            <a:srgbClr val="F6F8FB"/>
          </a:solidFill>
          <a:ln/>
        </p:spPr>
      </p:sp>
      <p:pic>
        <p:nvPicPr>
          <p:cNvPr id="15" name="Art rupestre" descr="/home/claude/pre/build/img/lascau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777684"/>
            <a:ext cx="3642055" cy="238823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001000" y="4257356"/>
            <a:ext cx="3642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 rupestre. Cova de Lascaux (França), fa entre 17.000 i 22.000 anys. Un dels grans tresors de l'art paleolític. Foto: Prof saxx, Wikimedia Commons, domini públic.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pic>
        <p:nvPicPr>
          <p:cNvPr id="3" name="Icona" descr="/home/claude/pre/build/lli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7132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aprendràs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final de la unitat seràs capaç de…</a:t>
            </a:r>
            <a:endParaRPr lang="en-US" sz="1700" dirty="0"/>
          </a:p>
        </p:txBody>
      </p:sp>
      <p:sp>
        <p:nvSpPr>
          <p:cNvPr id="6" name="Objectiu 1"/>
          <p:cNvSpPr/>
          <p:nvPr/>
        </p:nvSpPr>
        <p:spPr>
          <a:xfrm>
            <a:off x="548640" y="1938528"/>
            <a:ext cx="438912" cy="438912"/>
          </a:xfrm>
          <a:prstGeom prst="ellipse">
            <a:avLst/>
          </a:prstGeom>
          <a:solidFill>
            <a:srgbClr val="E6F4E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920240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Explicar què és la prehistòria i com la coneixem a través de les fonts arqueològiques.</a:t>
            </a:r>
            <a:endParaRPr lang="en-US" sz="1800" dirty="0"/>
          </a:p>
        </p:txBody>
      </p:sp>
      <p:pic>
        <p:nvPicPr>
          <p:cNvPr id="9" name="Icona TbSearch" descr="/home/claude/pre/build/img/ic/TbSearch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965960"/>
            <a:ext cx="384048" cy="384048"/>
          </a:xfrm>
          <a:prstGeom prst="rect">
            <a:avLst/>
          </a:prstGeom>
        </p:spPr>
      </p:pic>
      <p:sp>
        <p:nvSpPr>
          <p:cNvPr id="10" name="Objectiu 2"/>
          <p:cNvSpPr/>
          <p:nvPr/>
        </p:nvSpPr>
        <p:spPr>
          <a:xfrm>
            <a:off x="548640" y="2724912"/>
            <a:ext cx="438912" cy="438912"/>
          </a:xfrm>
          <a:prstGeom prst="ellipse">
            <a:avLst/>
          </a:prstGeom>
          <a:solidFill>
            <a:srgbClr val="E6F4E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48640" y="2724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2706624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Descriure el procés d'hominització i les formes de vida del Paleolític.</a:t>
            </a:r>
            <a:endParaRPr lang="en-US" sz="1800" dirty="0"/>
          </a:p>
        </p:txBody>
      </p:sp>
      <p:pic>
        <p:nvPicPr>
          <p:cNvPr id="13" name="Icona TbWalk" descr="/home/claude/pre/build/img/ic/TbWalk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52344"/>
            <a:ext cx="384048" cy="384048"/>
          </a:xfrm>
          <a:prstGeom prst="rect">
            <a:avLst/>
          </a:prstGeom>
        </p:spPr>
      </p:pic>
      <p:sp>
        <p:nvSpPr>
          <p:cNvPr id="14" name="Objectiu 3"/>
          <p:cNvSpPr/>
          <p:nvPr/>
        </p:nvSpPr>
        <p:spPr>
          <a:xfrm>
            <a:off x="548640" y="3511296"/>
            <a:ext cx="438912" cy="438912"/>
          </a:xfrm>
          <a:prstGeom prst="ellipse">
            <a:avLst/>
          </a:prstGeom>
          <a:solidFill>
            <a:srgbClr val="E6F4EA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4864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349300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Explicar la revolució neolítica i els canvis socials que va comportar.</a:t>
            </a:r>
            <a:endParaRPr lang="en-US" sz="1800" dirty="0"/>
          </a:p>
        </p:txBody>
      </p:sp>
      <p:pic>
        <p:nvPicPr>
          <p:cNvPr id="17" name="Icona TbWheat" descr="/home/claude/pre/build/img/ic/TbWheat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9007" y="3538728"/>
            <a:ext cx="384048" cy="384048"/>
          </a:xfrm>
          <a:prstGeom prst="rect">
            <a:avLst/>
          </a:prstGeom>
        </p:spPr>
      </p:pic>
      <p:sp>
        <p:nvSpPr>
          <p:cNvPr id="18" name="Objectiu 4"/>
          <p:cNvSpPr/>
          <p:nvPr/>
        </p:nvSpPr>
        <p:spPr>
          <a:xfrm>
            <a:off x="548640" y="4297680"/>
            <a:ext cx="438912" cy="438912"/>
          </a:xfrm>
          <a:prstGeom prst="ellipse">
            <a:avLst/>
          </a:prstGeom>
          <a:solidFill>
            <a:srgbClr val="E6F4E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4864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188720" y="4279392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Valorar amb arguments els efectes positius i negatius del pas al Neolític.</a:t>
            </a:r>
            <a:endParaRPr lang="en-US" sz="1800" dirty="0"/>
          </a:p>
        </p:txBody>
      </p:sp>
      <p:pic>
        <p:nvPicPr>
          <p:cNvPr id="21" name="Icona TbScale" descr="/home/claude/pre/build/img/ic/TbScale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007" y="4325112"/>
            <a:ext cx="384048" cy="384048"/>
          </a:xfrm>
          <a:prstGeom prst="rect">
            <a:avLst/>
          </a:prstGeom>
        </p:spPr>
      </p:pic>
      <p:sp>
        <p:nvSpPr>
          <p:cNvPr id="22" name="Objectiu 5"/>
          <p:cNvSpPr/>
          <p:nvPr/>
        </p:nvSpPr>
        <p:spPr>
          <a:xfrm>
            <a:off x="548640" y="5084064"/>
            <a:ext cx="438912" cy="438912"/>
          </a:xfrm>
          <a:prstGeom prst="ellipse">
            <a:avLst/>
          </a:prstGeom>
          <a:solidFill>
            <a:srgbClr val="E6F4EA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548640" y="5084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188720" y="5065776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Situar les etapes en una línia del temps i reconèixer-ne empremtes a Catalunya.</a:t>
            </a:r>
            <a:endParaRPr lang="en-US" sz="1800" dirty="0"/>
          </a:p>
        </p:txBody>
      </p:sp>
      <p:pic>
        <p:nvPicPr>
          <p:cNvPr id="25" name="Icona TbCalendarTime" descr="/home/claude/pre/build/img/ic/TbCalendarTime-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9007" y="5111496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pic>
        <p:nvPicPr>
          <p:cNvPr id="3" name="Icona" descr="/home/claude/pre/build/lli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7132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en saps?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mini-prova abans de començar. No compta per a nota.</a:t>
            </a:r>
            <a:endParaRPr lang="en-US" sz="1700" dirty="0"/>
          </a:p>
        </p:txBody>
      </p:sp>
      <p:sp>
        <p:nvSpPr>
          <p:cNvPr id="6" name="Targeta Què és la prehistòria?"/>
          <p:cNvSpPr/>
          <p:nvPr/>
        </p:nvSpPr>
        <p:spPr>
          <a:xfrm>
            <a:off x="548640" y="1920240"/>
            <a:ext cx="5410048" cy="189738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495284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és la prehistòria?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02408"/>
            <a:ext cx="4952848" cy="119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L'època anterior a l'aparició dels humans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L'època anterior a la invenció de l'escriptura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L'època anterior als grecs i els romans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L'època en què van viure els dinosaures</a:t>
            </a:r>
            <a:endParaRPr lang="en-US" sz="1600" dirty="0"/>
          </a:p>
        </p:txBody>
      </p:sp>
      <p:sp>
        <p:nvSpPr>
          <p:cNvPr id="9" name="Targeta Quin període és el més llarg de la prehistòria?"/>
          <p:cNvSpPr/>
          <p:nvPr/>
        </p:nvSpPr>
        <p:spPr>
          <a:xfrm>
            <a:off x="6233008" y="1920240"/>
            <a:ext cx="5410048" cy="189738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1608" y="2103120"/>
            <a:ext cx="495284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Quin període és el més llarg de la prehistòria?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2502408"/>
            <a:ext cx="4952848" cy="119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Neolític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Paleolític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L'Edat dels metalls</a:t>
            </a:r>
            <a:endParaRPr lang="en-US" sz="1600" dirty="0"/>
          </a:p>
        </p:txBody>
      </p:sp>
      <p:sp>
        <p:nvSpPr>
          <p:cNvPr id="12" name="Targeta Els humans del Paleolític vivien en pobles fixos."/>
          <p:cNvSpPr/>
          <p:nvPr/>
        </p:nvSpPr>
        <p:spPr>
          <a:xfrm>
            <a:off x="548640" y="4091940"/>
            <a:ext cx="5410048" cy="189738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274820"/>
            <a:ext cx="495284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humans del Paleolític vivien en pobles fixos.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963668"/>
            <a:ext cx="4952848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Vertader o fals?</a:t>
            </a:r>
            <a:endParaRPr lang="en-US" sz="1600" dirty="0"/>
          </a:p>
        </p:txBody>
      </p:sp>
      <p:sp>
        <p:nvSpPr>
          <p:cNvPr id="15" name="Targeta Quina d'aquestes invencions va arribar més tard?"/>
          <p:cNvSpPr/>
          <p:nvPr/>
        </p:nvSpPr>
        <p:spPr>
          <a:xfrm>
            <a:off x="6233008" y="4091940"/>
            <a:ext cx="5410048" cy="189738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1608" y="4274820"/>
            <a:ext cx="495284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Quina d'aquestes invencions va arribar més tard?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461608" y="4963668"/>
            <a:ext cx="4952848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foc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L'agricultura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L'escriptura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eines de pedra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çalera"/>
          <p:cNvSpPr/>
          <p:nvPr/>
        </p:nvSpPr>
        <p:spPr>
          <a:xfrm>
            <a:off x="548640" y="548640"/>
            <a:ext cx="6720840" cy="3657600"/>
          </a:xfrm>
          <a:prstGeom prst="roundRect">
            <a:avLst>
              <a:gd name="adj" fmla="val 2750"/>
            </a:avLst>
          </a:prstGeom>
          <a:solidFill>
            <a:srgbClr val="188038"/>
          </a:solidFill>
          <a:ln/>
        </p:spPr>
      </p:sp>
      <p:pic>
        <p:nvPicPr>
          <p:cNvPr id="3" name="Il·lustració d'un menhir, un dolmen i el sol" descr="/home/claude/pre/build/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294081"/>
            <a:ext cx="3566160" cy="1893871"/>
          </a:xfrm>
          <a:prstGeom prst="rect">
            <a:avLst/>
          </a:prstGeom>
        </p:spPr>
      </p:pic>
      <p:sp>
        <p:nvSpPr>
          <p:cNvPr id="4" name="Etiqueta Apartat 1"/>
          <p:cNvSpPr/>
          <p:nvPr/>
        </p:nvSpPr>
        <p:spPr>
          <a:xfrm>
            <a:off x="960120" y="896112"/>
            <a:ext cx="1035101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896112"/>
            <a:ext cx="10351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Apartat 1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3716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és la prehistòria?</a:t>
            </a:r>
            <a:endParaRPr lang="en-US" sz="3800" dirty="0"/>
          </a:p>
        </p:txBody>
      </p:sp>
      <p:sp>
        <p:nvSpPr>
          <p:cNvPr id="7" name="Pregunta guia"/>
          <p:cNvSpPr/>
          <p:nvPr/>
        </p:nvSpPr>
        <p:spPr>
          <a:xfrm>
            <a:off x="548640" y="4389120"/>
            <a:ext cx="6720840" cy="1645920"/>
          </a:xfrm>
          <a:prstGeom prst="roundRect">
            <a:avLst>
              <a:gd name="adj" fmla="val 6111"/>
            </a:avLst>
          </a:prstGeom>
          <a:solidFill>
            <a:srgbClr val="F6F8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 guia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937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ningú no ho va escriure, com podem saber què feien els humans fa 100.000 anys?</a:t>
            </a:r>
            <a:endParaRPr lang="en-US" sz="1900" dirty="0"/>
          </a:p>
        </p:txBody>
      </p:sp>
      <p:sp>
        <p:nvSpPr>
          <p:cNvPr id="10" name="Fons Què és la prehistòria?"/>
          <p:cNvSpPr/>
          <p:nvPr/>
        </p:nvSpPr>
        <p:spPr>
          <a:xfrm>
            <a:off x="7635240" y="1591145"/>
            <a:ext cx="4007815" cy="2605862"/>
          </a:xfrm>
          <a:prstGeom prst="roundRect">
            <a:avLst>
              <a:gd name="adj" fmla="val 3860"/>
            </a:avLst>
          </a:prstGeom>
          <a:solidFill>
            <a:srgbClr val="F6F8FB"/>
          </a:solidFill>
          <a:ln/>
        </p:spPr>
      </p:sp>
      <p:pic>
        <p:nvPicPr>
          <p:cNvPr id="11" name="Què és la prehistòria?" descr="/home/claude/pre/build/img/abri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91145"/>
            <a:ext cx="4007815" cy="26058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4306735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Excavació a l'Abric Romaní (Capellades). Un jaciment neandertal de referència internacional. Foto: V. Mourre, Wikimedia Commons, CC BY-SA 3.0.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etapa sense escriptura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prehistòria és l'etapa més llarga de la humanitat.</a:t>
            </a:r>
            <a:endParaRPr lang="en-US" sz="1800" dirty="0"/>
          </a:p>
        </p:txBody>
      </p:sp>
      <p:sp>
        <p:nvSpPr>
          <p:cNvPr id="6" name="Targeta Comença fa uns"/>
          <p:cNvSpPr/>
          <p:nvPr/>
        </p:nvSpPr>
        <p:spPr>
          <a:xfrm>
            <a:off x="548640" y="1920240"/>
            <a:ext cx="3515258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Cercle icona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8" name="Icona TbWalk" descr="/home/claude/pre/build/img/ic/TbWalk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2695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14884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Comença fa uns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346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2,5 milions d'anys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404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 l'aparició dels primers éssers humans.</a:t>
            </a:r>
            <a:endParaRPr lang="en-US" sz="1550" dirty="0"/>
          </a:p>
        </p:txBody>
      </p:sp>
      <p:sp>
        <p:nvSpPr>
          <p:cNvPr id="12" name="Targeta Acaba fa uns"/>
          <p:cNvSpPr/>
          <p:nvPr/>
        </p:nvSpPr>
        <p:spPr>
          <a:xfrm>
            <a:off x="4338218" y="1920240"/>
            <a:ext cx="3515258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Cercle icona"/>
          <p:cNvSpPr/>
          <p:nvPr/>
        </p:nvSpPr>
        <p:spPr>
          <a:xfrm>
            <a:off x="4566818" y="214884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4" name="Icona TbWriting" descr="/home/claude/pre/build/img/ic/TbWriting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22695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52618" y="214884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Acaba fa uns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66818" y="28346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5.500 anys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4566818" y="38404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 la invenció de l'escriptura, cap al 3500 aC, a Mesopotàmia.</a:t>
            </a:r>
            <a:endParaRPr lang="en-US" sz="1550" dirty="0"/>
          </a:p>
        </p:txBody>
      </p:sp>
      <p:sp>
        <p:nvSpPr>
          <p:cNvPr id="18" name="Targeta La prehistòria és"/>
          <p:cNvSpPr/>
          <p:nvPr/>
        </p:nvSpPr>
        <p:spPr>
          <a:xfrm>
            <a:off x="8127797" y="1920240"/>
            <a:ext cx="3515258" cy="2743200"/>
          </a:xfrm>
          <a:prstGeom prst="roundRect">
            <a:avLst>
              <a:gd name="adj" fmla="val 3667"/>
            </a:avLst>
          </a:prstGeom>
          <a:solidFill>
            <a:srgbClr val="188038"/>
          </a:solidFill>
          <a:ln/>
        </p:spPr>
      </p:sp>
      <p:sp>
        <p:nvSpPr>
          <p:cNvPr id="19" name="Cercle icona"/>
          <p:cNvSpPr/>
          <p:nvPr/>
        </p:nvSpPr>
        <p:spPr>
          <a:xfrm>
            <a:off x="8356397" y="2148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cona TbHourglass" descr="/home/claude/pre/build/img/ic/TbHourglass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226954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42197" y="214884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prehistòria és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356397" y="28346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Més del 99 %</a:t>
            </a:r>
            <a:endParaRPr lang="en-US" sz="2800" dirty="0"/>
          </a:p>
        </p:txBody>
      </p:sp>
      <p:sp>
        <p:nvSpPr>
          <p:cNvPr id="23" name="Text 18"/>
          <p:cNvSpPr txBox="1"/>
          <p:nvPr/>
        </p:nvSpPr>
        <p:spPr>
          <a:xfrm>
            <a:off x="8356397" y="38404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 temps que els humans hem viscut a la Terra.</a:t>
            </a:r>
            <a:endParaRPr lang="en-US" sz="1550" dirty="0"/>
          </a:p>
        </p:txBody>
      </p:sp>
      <p:sp>
        <p:nvSpPr>
          <p:cNvPr id="24" name="Paraula clau · Prehistòria"/>
          <p:cNvSpPr/>
          <p:nvPr/>
        </p:nvSpPr>
        <p:spPr>
          <a:xfrm>
            <a:off x="548640" y="4846320"/>
            <a:ext cx="11094415" cy="1143000"/>
          </a:xfrm>
          <a:prstGeom prst="roundRect">
            <a:avLst>
              <a:gd name="adj" fmla="val 8800"/>
            </a:avLst>
          </a:prstGeom>
          <a:solidFill>
            <a:srgbClr val="E6F4E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68680" y="500176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Prehistòria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68680" y="53492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Etapa de la humanitat anterior a l'escriptura, que va des de l'aparició dels primers humans fins a fa uns 5.500 anys.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prehistòria en un dia</a:t>
            </a:r>
            <a:endParaRPr lang="en-US" sz="2800" dirty="0"/>
          </a:p>
        </p:txBody>
      </p:sp>
      <p:sp>
        <p:nvSpPr>
          <p:cNvPr id="5" name="Fons La prehistòria en un dia"/>
          <p:cNvSpPr/>
          <p:nvPr/>
        </p:nvSpPr>
        <p:spPr>
          <a:xfrm>
            <a:off x="548640" y="1371600"/>
            <a:ext cx="7315200" cy="2857500"/>
          </a:xfrm>
          <a:prstGeom prst="roundRect">
            <a:avLst>
              <a:gd name="adj" fmla="val 3520"/>
            </a:avLst>
          </a:prstGeom>
          <a:solidFill>
            <a:srgbClr val="F6F8FB"/>
          </a:solidFill>
          <a:ln/>
        </p:spPr>
      </p:sp>
      <p:pic>
        <p:nvPicPr>
          <p:cNvPr id="6" name="La prehistòria en un dia" descr="/home/claude/pre/build/img/d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2857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3205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prehistòria en un dia. Gràfic: professordesocials.cat, CC BY-SA 4.0.</a:t>
            </a:r>
            <a:endParaRPr lang="en-US" sz="1000" dirty="0"/>
          </a:p>
        </p:txBody>
      </p:sp>
      <p:sp>
        <p:nvSpPr>
          <p:cNvPr id="8" name="A aquesta escala"/>
          <p:cNvSpPr/>
          <p:nvPr/>
        </p:nvSpPr>
        <p:spPr>
          <a:xfrm>
            <a:off x="8183880" y="1371600"/>
            <a:ext cx="3459175" cy="1325880"/>
          </a:xfrm>
          <a:prstGeom prst="roundRect">
            <a:avLst>
              <a:gd name="adj" fmla="val 7586"/>
            </a:avLst>
          </a:prstGeom>
          <a:solidFill>
            <a:srgbClr val="E6F4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0" y="1527048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aquesta escala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1874520"/>
            <a:ext cx="2819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minut del dia equival a uns 1.700 anys.</a:t>
            </a:r>
            <a:endParaRPr lang="en-US" sz="1600" dirty="0"/>
          </a:p>
        </p:txBody>
      </p:sp>
      <p:sp>
        <p:nvSpPr>
          <p:cNvPr id="11" name="Cercle icona"/>
          <p:cNvSpPr/>
          <p:nvPr/>
        </p:nvSpPr>
        <p:spPr>
          <a:xfrm>
            <a:off x="8183880" y="3076956"/>
            <a:ext cx="457200" cy="4572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Wheat" descr="/home/claude/pre/build/img/ic/TbWhea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31775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842248" y="2880360"/>
            <a:ext cx="280080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L'agricultura </a:t>
            </a:r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apareix fa uns 12.000 anys, a gairebé 7 minuts de mitjanit.</a:t>
            </a:r>
            <a:endParaRPr lang="en-US" sz="1500" dirty="0"/>
          </a:p>
        </p:txBody>
      </p:sp>
      <p:sp>
        <p:nvSpPr>
          <p:cNvPr id="14" name="Cercle icona"/>
          <p:cNvSpPr/>
          <p:nvPr/>
        </p:nvSpPr>
        <p:spPr>
          <a:xfrm>
            <a:off x="8183880" y="4128516"/>
            <a:ext cx="457200" cy="4572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5" name="Icona TbWriting" descr="/home/claude/pre/build/img/ic/TbWriting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22910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42248" y="3931920"/>
            <a:ext cx="280080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L'escriptura, </a:t>
            </a:r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5.500 anys, només 3 minuts abans de mitjanit.</a:t>
            </a:r>
            <a:endParaRPr lang="en-US" sz="1500" dirty="0"/>
          </a:p>
        </p:txBody>
      </p:sp>
      <p:sp>
        <p:nvSpPr>
          <p:cNvPr id="17" name="Fes-ho tu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10476"/>
            </a:avLst>
          </a:prstGeom>
          <a:solidFill>
            <a:srgbClr val="F6F8FB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68680" y="518464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Fes-ho tu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553212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cada minut són uns 1.700 anys, a quina hora del dia va néixer la teva àvia?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l'escriptura marca el final?</a:t>
            </a:r>
            <a:endParaRPr lang="en-US" sz="2800" dirty="0"/>
          </a:p>
        </p:txBody>
      </p:sp>
      <p:sp>
        <p:nvSpPr>
          <p:cNvPr id="5" name="Sense escriptura"/>
          <p:cNvSpPr/>
          <p:nvPr/>
        </p:nvSpPr>
        <p:spPr>
          <a:xfrm>
            <a:off x="548640" y="1371600"/>
            <a:ext cx="5090008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E8EAED"/>
          </a:solidFill>
          <a:ln/>
        </p:spPr>
      </p:sp>
      <p:pic>
        <p:nvPicPr>
          <p:cNvPr id="7" name="Icona TbBone" descr="/home/claude/pre/build/img/ic/TbBone-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816913"/>
            <a:ext cx="435254" cy="435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645920"/>
            <a:ext cx="3626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Sense escriptura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Prehistòria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4541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les societats prehistòriques no en tenim cap text. Només ens han deixat les seves restes materials.</a:t>
            </a:r>
            <a:endParaRPr lang="en-US" sz="2000" dirty="0"/>
          </a:p>
        </p:txBody>
      </p:sp>
      <p:sp>
        <p:nvSpPr>
          <p:cNvPr id="10" name="Fletxa"/>
          <p:cNvSpPr/>
          <p:nvPr/>
        </p:nvSpPr>
        <p:spPr>
          <a:xfrm>
            <a:off x="6004408" y="260604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1" name="Amb escriptura"/>
          <p:cNvSpPr/>
          <p:nvPr/>
        </p:nvSpPr>
        <p:spPr>
          <a:xfrm>
            <a:off x="6553048" y="1371600"/>
            <a:ext cx="5090008" cy="2743200"/>
          </a:xfrm>
          <a:prstGeom prst="roundRect">
            <a:avLst>
              <a:gd name="adj" fmla="val 3667"/>
            </a:avLst>
          </a:prstGeom>
          <a:solidFill>
            <a:srgbClr val="188038"/>
          </a:solidFill>
          <a:ln/>
        </p:spPr>
      </p:sp>
      <p:sp>
        <p:nvSpPr>
          <p:cNvPr id="12" name="Cercle icona"/>
          <p:cNvSpPr/>
          <p:nvPr/>
        </p:nvSpPr>
        <p:spPr>
          <a:xfrm>
            <a:off x="6827368" y="1645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cona TbScript" descr="/home/claude/pre/build/img/ic/TbScrip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360" y="181691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33208" y="1645920"/>
            <a:ext cx="3626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 escriptura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Història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6827368" y="2651760"/>
            <a:ext cx="4541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les societats que escrivien en conservem documents que ens expliquen com vivien.</a:t>
            </a:r>
            <a:endParaRPr lang="en-US" sz="2000" dirty="0"/>
          </a:p>
        </p:txBody>
      </p:sp>
      <p:sp>
        <p:nvSpPr>
          <p:cNvPr id="16" name="L'escriptura és la frontera"/>
          <p:cNvSpPr/>
          <p:nvPr/>
        </p:nvSpPr>
        <p:spPr>
          <a:xfrm>
            <a:off x="548640" y="4389120"/>
            <a:ext cx="11094415" cy="1280160"/>
          </a:xfrm>
          <a:prstGeom prst="roundRect">
            <a:avLst>
              <a:gd name="adj" fmla="val 7857"/>
            </a:avLst>
          </a:prstGeom>
          <a:solidFill>
            <a:srgbClr val="E6F4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8680" y="454456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L'escriptura és la frontera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489204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 dues maneres de conèixer el passat. Per això marca el final de la prehistòria.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fonts arqueològiques. Les pistes del passat</a:t>
            </a:r>
            <a:endParaRPr lang="en-US" sz="2800" dirty="0"/>
          </a:p>
        </p:txBody>
      </p:sp>
      <p:sp>
        <p:nvSpPr>
          <p:cNvPr id="5" name="Targeta Restes humanes"/>
          <p:cNvSpPr/>
          <p:nvPr/>
        </p:nvSpPr>
        <p:spPr>
          <a:xfrm>
            <a:off x="548640" y="137160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Bone" descr="/home/claude/pre/build/img/ic/TbBon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60020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Restes humanes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Ossos i dents. Com eren, què menjaven, quines malalties patien i quants anys vivien.</a:t>
            </a:r>
            <a:endParaRPr lang="en-US" sz="1500" dirty="0"/>
          </a:p>
        </p:txBody>
      </p:sp>
      <p:sp>
        <p:nvSpPr>
          <p:cNvPr id="10" name="Targeta Eines i objectes"/>
          <p:cNvSpPr/>
          <p:nvPr/>
        </p:nvSpPr>
        <p:spPr>
          <a:xfrm>
            <a:off x="4322978" y="137160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4551578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Hammer" descr="/home/claude/pre/build/img/ic/TbHammer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279" y="17209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37378" y="160020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Eines i objectes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51578" y="22860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Pedres tallades, instruments d'os, ceràmiques, armes, joies… Què sabien fer i com ho feien.</a:t>
            </a:r>
            <a:endParaRPr lang="en-US" sz="1500" dirty="0"/>
          </a:p>
        </p:txBody>
      </p:sp>
      <p:sp>
        <p:nvSpPr>
          <p:cNvPr id="15" name="Targeta Restes d'aliments"/>
          <p:cNvSpPr/>
          <p:nvPr/>
        </p:nvSpPr>
        <p:spPr>
          <a:xfrm>
            <a:off x="8097317" y="137160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Cercle icona"/>
          <p:cNvSpPr/>
          <p:nvPr/>
        </p:nvSpPr>
        <p:spPr>
          <a:xfrm>
            <a:off x="8325917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Fish" descr="/home/claude/pre/build/img/ic/TbFish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618" y="17209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11717" y="160020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Restes d'aliments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5917" y="22860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Ossos d'animals, llavors, closques… Què menjaven i com ho aconseguien.</a:t>
            </a:r>
            <a:endParaRPr lang="en-US" sz="1500" dirty="0"/>
          </a:p>
        </p:txBody>
      </p:sp>
      <p:sp>
        <p:nvSpPr>
          <p:cNvPr id="20" name="Targeta Habitatges i construccions"/>
          <p:cNvSpPr/>
          <p:nvPr/>
        </p:nvSpPr>
        <p:spPr>
          <a:xfrm>
            <a:off x="548640" y="379476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Cercle icona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2" name="Icona TbHome" descr="/home/claude/pre/build/img/ic/TbHome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402336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Habitatges i construccions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70916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Coves ocupades, cabanes, poblats i monuments de pedra.</a:t>
            </a:r>
            <a:endParaRPr lang="en-US" sz="1500" dirty="0"/>
          </a:p>
        </p:txBody>
      </p:sp>
      <p:sp>
        <p:nvSpPr>
          <p:cNvPr id="25" name="Targeta Art i enterraments"/>
          <p:cNvSpPr/>
          <p:nvPr/>
        </p:nvSpPr>
        <p:spPr>
          <a:xfrm>
            <a:off x="4322978" y="379476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Cercle icona"/>
          <p:cNvSpPr/>
          <p:nvPr/>
        </p:nvSpPr>
        <p:spPr>
          <a:xfrm>
            <a:off x="4551578" y="402336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7" name="Icona TbPalette" descr="/home/claude/pre/build/img/ic/TbPalette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279" y="414406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37378" y="402336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 i enterraments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4551578" y="470916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Pintures, gravats i tombes. Ens parlen del seu món simbòlic i de les seves creences.</a:t>
            </a:r>
            <a:endParaRPr lang="en-US" sz="1500" dirty="0"/>
          </a:p>
        </p:txBody>
      </p:sp>
      <p:sp>
        <p:nvSpPr>
          <p:cNvPr id="30" name="Targeta Com en un cas de detectius"/>
          <p:cNvSpPr/>
          <p:nvPr/>
        </p:nvSpPr>
        <p:spPr>
          <a:xfrm>
            <a:off x="8097317" y="379476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188038"/>
          </a:solidFill>
          <a:ln/>
        </p:spPr>
      </p:sp>
      <p:sp>
        <p:nvSpPr>
          <p:cNvPr id="31" name="Cercle icona"/>
          <p:cNvSpPr/>
          <p:nvPr/>
        </p:nvSpPr>
        <p:spPr>
          <a:xfrm>
            <a:off x="8325917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cona TbSearch" descr="/home/claude/pre/build/img/ic/TbSearch-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618" y="4144061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11717" y="402336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en un cas de detectius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8325917" y="470916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fonts arqueològiques són totes les restes materials que les societats del passat van deixar enrere.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Llegim tres pistes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ens explica cada resta sobre els humans de la prehistòria?</a:t>
            </a:r>
            <a:endParaRPr lang="en-US" sz="1700" dirty="0"/>
          </a:p>
        </p:txBody>
      </p:sp>
      <p:sp>
        <p:nvSpPr>
          <p:cNvPr id="6" name="Etiqueta Restes humanes"/>
          <p:cNvSpPr/>
          <p:nvPr/>
        </p:nvSpPr>
        <p:spPr>
          <a:xfrm>
            <a:off x="548640" y="184708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4708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Restes humanes</a:t>
            </a:r>
            <a:endParaRPr lang="en-US" sz="1300" dirty="0"/>
          </a:p>
        </p:txBody>
      </p:sp>
      <p:sp>
        <p:nvSpPr>
          <p:cNvPr id="8" name="Fons Restes humanes"/>
          <p:cNvSpPr/>
          <p:nvPr/>
        </p:nvSpPr>
        <p:spPr>
          <a:xfrm>
            <a:off x="548640" y="2286000"/>
            <a:ext cx="3515258" cy="2697480"/>
          </a:xfrm>
          <a:prstGeom prst="roundRect">
            <a:avLst>
              <a:gd name="adj" fmla="val 3729"/>
            </a:avLst>
          </a:prstGeom>
          <a:solidFill>
            <a:srgbClr val="F6F8FB"/>
          </a:solidFill>
          <a:ln/>
        </p:spPr>
      </p:sp>
      <p:pic>
        <p:nvPicPr>
          <p:cNvPr id="9" name="Restes humanes" descr="/home/claude/pre/build/img/cran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3015"/>
            <a:ext cx="3515258" cy="21434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074920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Cranis d'Homo sapiens (esquerra) i de neandertal (dreta). Foto: hairymuseummatt, Wikimedia Commons, CC BY-SA.</a:t>
            </a:r>
            <a:endParaRPr lang="en-US" sz="1000" dirty="0"/>
          </a:p>
        </p:txBody>
      </p:sp>
      <p:sp>
        <p:nvSpPr>
          <p:cNvPr id="11" name="Etiqueta Eines i objectes"/>
          <p:cNvSpPr/>
          <p:nvPr/>
        </p:nvSpPr>
        <p:spPr>
          <a:xfrm>
            <a:off x="4338218" y="1847088"/>
            <a:ext cx="1700784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38218" y="184708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Eines i objectes</a:t>
            </a:r>
            <a:endParaRPr lang="en-US" sz="1300" dirty="0"/>
          </a:p>
        </p:txBody>
      </p:sp>
      <p:sp>
        <p:nvSpPr>
          <p:cNvPr id="13" name="Fons Eines i objectes"/>
          <p:cNvSpPr/>
          <p:nvPr/>
        </p:nvSpPr>
        <p:spPr>
          <a:xfrm>
            <a:off x="4338218" y="2286000"/>
            <a:ext cx="3515258" cy="2697480"/>
          </a:xfrm>
          <a:prstGeom prst="roundRect">
            <a:avLst>
              <a:gd name="adj" fmla="val 3729"/>
            </a:avLst>
          </a:prstGeom>
          <a:solidFill>
            <a:srgbClr val="F6F8FB"/>
          </a:solidFill>
          <a:ln/>
        </p:spPr>
      </p:sp>
      <p:pic>
        <p:nvPicPr>
          <p:cNvPr id="14" name="Eines i objectes" descr="/home/claude/pre/build/img/bifa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108" y="2286000"/>
            <a:ext cx="2697480" cy="2697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38218" y="5074920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Bifaç de Saint-Acheul (França). Pedra de sílex tallada per les dues cares. Foto: Didier Descouens, Wikimedia Commons, CC BY-SA 4.0.</a:t>
            </a:r>
            <a:endParaRPr lang="en-US" sz="1000" dirty="0"/>
          </a:p>
        </p:txBody>
      </p:sp>
      <p:sp>
        <p:nvSpPr>
          <p:cNvPr id="16" name="Etiqueta Art"/>
          <p:cNvSpPr/>
          <p:nvPr/>
        </p:nvSpPr>
        <p:spPr>
          <a:xfrm>
            <a:off x="8127797" y="1847088"/>
            <a:ext cx="57150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127797" y="1847088"/>
            <a:ext cx="571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</a:t>
            </a:r>
            <a:endParaRPr lang="en-US" sz="1300" dirty="0"/>
          </a:p>
        </p:txBody>
      </p:sp>
      <p:sp>
        <p:nvSpPr>
          <p:cNvPr id="18" name="Fons Art"/>
          <p:cNvSpPr/>
          <p:nvPr/>
        </p:nvSpPr>
        <p:spPr>
          <a:xfrm>
            <a:off x="8127797" y="2286000"/>
            <a:ext cx="3515258" cy="2697480"/>
          </a:xfrm>
          <a:prstGeom prst="roundRect">
            <a:avLst>
              <a:gd name="adj" fmla="val 3729"/>
            </a:avLst>
          </a:prstGeom>
          <a:solidFill>
            <a:srgbClr val="F6F8FB"/>
          </a:solidFill>
          <a:ln/>
        </p:spPr>
      </p:sp>
      <p:pic>
        <p:nvPicPr>
          <p:cNvPr id="19" name="Art" descr="/home/claude/pre/build/img/venu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468" y="2286000"/>
            <a:ext cx="1801917" cy="2697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27797" y="5074920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Venus de Willendorf (Àustria), fa uns 30.000 anys. Fa només 11 cm. Foto: Jakub Hałun, Wikimedia Commons, CC BY-SA 4.0.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L'arqueologia, pas a pas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ciència que estudia aquestes restes és l'arqueologia. Els arqueòlegs treballen en els jaciments.</a:t>
            </a:r>
            <a:endParaRPr lang="en-US" sz="1700" dirty="0"/>
          </a:p>
        </p:txBody>
      </p:sp>
      <p:sp>
        <p:nvSpPr>
          <p:cNvPr id="6" name="Pas 1"/>
          <p:cNvSpPr/>
          <p:nvPr/>
        </p:nvSpPr>
        <p:spPr>
          <a:xfrm>
            <a:off x="548640" y="2240280"/>
            <a:ext cx="3362858" cy="2423160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Cercle icona"/>
          <p:cNvSpPr/>
          <p:nvPr/>
        </p:nvSpPr>
        <p:spPr>
          <a:xfrm>
            <a:off x="804672" y="249631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8" name="Icona TbShovel" descr="/home/claude/pre/build/img/ic/TbShovel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647188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22569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319272"/>
            <a:ext cx="2850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Excavar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749040"/>
            <a:ext cx="2850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per capa i amb molta cura.</a:t>
            </a:r>
            <a:endParaRPr lang="en-US" sz="1600" dirty="0"/>
          </a:p>
        </p:txBody>
      </p:sp>
      <p:sp>
        <p:nvSpPr>
          <p:cNvPr id="12" name="Fletxa"/>
          <p:cNvSpPr/>
          <p:nvPr/>
        </p:nvSpPr>
        <p:spPr>
          <a:xfrm>
            <a:off x="4066946" y="331470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3" name="Pas 2"/>
          <p:cNvSpPr/>
          <p:nvPr/>
        </p:nvSpPr>
        <p:spPr>
          <a:xfrm>
            <a:off x="4414418" y="2240280"/>
            <a:ext cx="3362858" cy="2423160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4" name="Cercle icona"/>
          <p:cNvSpPr/>
          <p:nvPr/>
        </p:nvSpPr>
        <p:spPr>
          <a:xfrm>
            <a:off x="4670450" y="249631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5" name="Icona TbMapPin" descr="/home/claude/pre/build/img/ic/TbMapPin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26" y="264718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91477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670450" y="3319272"/>
            <a:ext cx="2850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Anotar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670450" y="3749040"/>
            <a:ext cx="2850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posició exacta de cada troballa.</a:t>
            </a:r>
            <a:endParaRPr lang="en-US" sz="1600" dirty="0"/>
          </a:p>
        </p:txBody>
      </p:sp>
      <p:sp>
        <p:nvSpPr>
          <p:cNvPr id="19" name="Fletxa"/>
          <p:cNvSpPr/>
          <p:nvPr/>
        </p:nvSpPr>
        <p:spPr>
          <a:xfrm>
            <a:off x="7932725" y="331470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0" name="Pas 3"/>
          <p:cNvSpPr/>
          <p:nvPr/>
        </p:nvSpPr>
        <p:spPr>
          <a:xfrm>
            <a:off x="8280197" y="2240280"/>
            <a:ext cx="3362858" cy="2423160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Cercle icona"/>
          <p:cNvSpPr/>
          <p:nvPr/>
        </p:nvSpPr>
        <p:spPr>
          <a:xfrm>
            <a:off x="8536229" y="249631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2" name="Icona TbMicroscope" descr="/home/claude/pre/build/img/ic/TbMicroscop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105" y="264718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57255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536229" y="3319272"/>
            <a:ext cx="2850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Datar al laboratori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8536229" y="3749040"/>
            <a:ext cx="2850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Calcular quants anys tenen els materials, amb tècniques com el carboni-14.</a:t>
            </a:r>
            <a:endParaRPr lang="en-US" sz="1600" dirty="0"/>
          </a:p>
        </p:txBody>
      </p:sp>
      <p:sp>
        <p:nvSpPr>
          <p:cNvPr id="26" name="Paraula clau · Jaciment arqueològic"/>
          <p:cNvSpPr/>
          <p:nvPr/>
        </p:nvSpPr>
        <p:spPr>
          <a:xfrm>
            <a:off x="548640" y="4846320"/>
            <a:ext cx="11094415" cy="1143000"/>
          </a:xfrm>
          <a:prstGeom prst="roundRect">
            <a:avLst>
              <a:gd name="adj" fmla="val 8800"/>
            </a:avLst>
          </a:prstGeom>
          <a:solidFill>
            <a:srgbClr val="E6F4EA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68680" y="500176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Jaciment arqueològic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68680" y="53492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Lloc on s'han conservat restes del passat, com eines, ossos o pintures, que els arqueòlegs estudien per entendre com vivia la gent.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 Els estrats</a:t>
            </a:r>
            <a:endParaRPr lang="en-US" sz="2800" dirty="0"/>
          </a:p>
        </p:txBody>
      </p:sp>
      <p:sp>
        <p:nvSpPr>
          <p:cNvPr id="5" name="Superfície"/>
          <p:cNvSpPr/>
          <p:nvPr/>
        </p:nvSpPr>
        <p:spPr>
          <a:xfrm>
            <a:off x="548640" y="1371600"/>
            <a:ext cx="4480560" cy="0"/>
          </a:xfrm>
          <a:prstGeom prst="line">
            <a:avLst/>
          </a:prstGeom>
          <a:noFill/>
          <a:ln w="25400">
            <a:solidFill>
              <a:srgbClr val="80868B"/>
            </a:solidFill>
            <a:prstDash val="solid"/>
          </a:ln>
        </p:spPr>
      </p:sp>
      <p:sp>
        <p:nvSpPr>
          <p:cNvPr id="6" name="Estrat 1"/>
          <p:cNvSpPr/>
          <p:nvPr/>
        </p:nvSpPr>
        <p:spPr>
          <a:xfrm>
            <a:off x="548640" y="1417320"/>
            <a:ext cx="4480560" cy="841248"/>
          </a:xfrm>
          <a:prstGeom prst="rect">
            <a:avLst/>
          </a:prstGeom>
          <a:solidFill>
            <a:srgbClr val="D6EFD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7" name="Icona TbBottle" descr="/home/claude/pre/build/img/ic/TbBottl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9344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41732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Ceràmica</a:t>
            </a:r>
            <a:endParaRPr lang="en-US" sz="1600" dirty="0"/>
          </a:p>
        </p:txBody>
      </p:sp>
      <p:sp>
        <p:nvSpPr>
          <p:cNvPr id="9" name="Estrat 2"/>
          <p:cNvSpPr/>
          <p:nvPr/>
        </p:nvSpPr>
        <p:spPr>
          <a:xfrm>
            <a:off x="548640" y="2258568"/>
            <a:ext cx="4480560" cy="841248"/>
          </a:xfrm>
          <a:prstGeom prst="rect">
            <a:avLst/>
          </a:prstGeom>
          <a:solidFill>
            <a:srgbClr val="A9DAB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0" name="Icona TbFlame" descr="/home/claude/pre/build/img/ic/TbFlame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505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25856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llar de foc</a:t>
            </a:r>
            <a:endParaRPr lang="en-US" sz="1600" dirty="0"/>
          </a:p>
        </p:txBody>
      </p:sp>
      <p:sp>
        <p:nvSpPr>
          <p:cNvPr id="12" name="Estrat 3"/>
          <p:cNvSpPr/>
          <p:nvPr/>
        </p:nvSpPr>
        <p:spPr>
          <a:xfrm>
            <a:off x="548640" y="3099816"/>
            <a:ext cx="4480560" cy="841248"/>
          </a:xfrm>
          <a:prstGeom prst="rect">
            <a:avLst/>
          </a:prstGeom>
          <a:solidFill>
            <a:srgbClr val="5FB37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3" name="Icona TbBone" descr="/home/claude/pre/build/img/ic/TbBon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09981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Ossos d'animals</a:t>
            </a:r>
            <a:endParaRPr lang="en-US" sz="1600" dirty="0"/>
          </a:p>
        </p:txBody>
      </p:sp>
      <p:sp>
        <p:nvSpPr>
          <p:cNvPr id="15" name="Estrat 4"/>
          <p:cNvSpPr/>
          <p:nvPr/>
        </p:nvSpPr>
        <p:spPr>
          <a:xfrm>
            <a:off x="548640" y="3941064"/>
            <a:ext cx="4480560" cy="841248"/>
          </a:xfrm>
          <a:prstGeom prst="rect">
            <a:avLst/>
          </a:prstGeom>
          <a:solidFill>
            <a:srgbClr val="188038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cona TbAxe" descr="/home/claude/pre/build/img/ic/TbAx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3308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94106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4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Eines de pedra</a:t>
            </a:r>
            <a:endParaRPr lang="en-US" sz="1600" dirty="0"/>
          </a:p>
        </p:txBody>
      </p:sp>
      <p:sp>
        <p:nvSpPr>
          <p:cNvPr id="18" name="Fletxa del temps"/>
          <p:cNvSpPr/>
          <p:nvPr/>
        </p:nvSpPr>
        <p:spPr>
          <a:xfrm>
            <a:off x="5440680" y="1828800"/>
            <a:ext cx="0" cy="2450592"/>
          </a:xfrm>
          <a:prstGeom prst="line">
            <a:avLst/>
          </a:prstGeom>
          <a:noFill/>
          <a:ln w="38100">
            <a:solidFill>
              <a:srgbClr val="188038"/>
            </a:solidFill>
            <a:prstDash val="solid"/>
            <a:tailEnd type="triangle"/>
          </a:ln>
        </p:spPr>
      </p:sp>
      <p:sp>
        <p:nvSpPr>
          <p:cNvPr id="19" name="Text 13"/>
          <p:cNvSpPr txBox="1"/>
          <p:nvPr/>
        </p:nvSpPr>
        <p:spPr>
          <a:xfrm>
            <a:off x="5029200" y="13990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Més recent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029200" y="43982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Més antiga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4892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Exemple d'estrats d'un jaciment. Esquema sense escala. Dibuix: professordesocials.cat, CC BY-SA 4.0.</a:t>
            </a:r>
            <a:endParaRPr lang="en-US" sz="1000" dirty="0"/>
          </a:p>
        </p:txBody>
      </p:sp>
      <p:sp>
        <p:nvSpPr>
          <p:cNvPr id="22" name="Saps que…?"/>
          <p:cNvSpPr/>
          <p:nvPr/>
        </p:nvSpPr>
        <p:spPr>
          <a:xfrm>
            <a:off x="6492240" y="1371600"/>
            <a:ext cx="5150815" cy="2103120"/>
          </a:xfrm>
          <a:prstGeom prst="roundRect">
            <a:avLst>
              <a:gd name="adj" fmla="val 4783"/>
            </a:avLst>
          </a:prstGeom>
          <a:solidFill>
            <a:srgbClr val="E6F4EA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812280" y="1527048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812280" y="1874520"/>
            <a:ext cx="4510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mateixa cova pot haver estat ocupada durant desenes de milers d'anys per grups diferents. Per això els jaciments tenen estrats, capes de terra superposades com les pàgines d'un llibre.</a:t>
            </a:r>
            <a:endParaRPr lang="en-US" sz="1600" dirty="0"/>
          </a:p>
        </p:txBody>
      </p:sp>
      <p:sp>
        <p:nvSpPr>
          <p:cNvPr id="25" name="Cercle icona"/>
          <p:cNvSpPr/>
          <p:nvPr/>
        </p:nvSpPr>
        <p:spPr>
          <a:xfrm>
            <a:off x="6492240" y="369417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6" name="Icona TbArrowDown" descr="/home/claude/pre/build/img/ic/TbArrowDown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882" y="3804818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96328" y="3657600"/>
            <a:ext cx="44467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capes més profundes </a:t>
            </a:r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són les més antigues.</a:t>
            </a:r>
            <a:endParaRPr lang="en-US" sz="1700" dirty="0"/>
          </a:p>
        </p:txBody>
      </p:sp>
      <p:sp>
        <p:nvSpPr>
          <p:cNvPr id="28" name="Compte!"/>
          <p:cNvSpPr/>
          <p:nvPr/>
        </p:nvSpPr>
        <p:spPr>
          <a:xfrm>
            <a:off x="6492240" y="4572000"/>
            <a:ext cx="5150815" cy="1417320"/>
          </a:xfrm>
          <a:prstGeom prst="roundRect">
            <a:avLst>
              <a:gd name="adj" fmla="val 7097"/>
            </a:avLst>
          </a:prstGeom>
          <a:solidFill>
            <a:srgbClr val="F6F8FB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812280" y="4727448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Compte!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812280" y="5074920"/>
            <a:ext cx="4510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l'arqueòleg barreja les capes, el «llibre» queda desordenat per sempre. Per això excavar és una feina tan lenta i delicada.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etapes de la prehistòria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prehistòria es divideix en tres grans períodes, segons el material amb què es fabricaven les eines i la manera de viure.</a:t>
            </a:r>
            <a:endParaRPr lang="en-US" sz="1700" dirty="0"/>
          </a:p>
        </p:txBody>
      </p:sp>
      <p:sp>
        <p:nvSpPr>
          <p:cNvPr id="6" name="Targeta Paleolític"/>
          <p:cNvSpPr/>
          <p:nvPr/>
        </p:nvSpPr>
        <p:spPr>
          <a:xfrm>
            <a:off x="548640" y="2240280"/>
            <a:ext cx="3423818" cy="2697480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Cercle icona"/>
          <p:cNvSpPr/>
          <p:nvPr/>
        </p:nvSpPr>
        <p:spPr>
          <a:xfrm>
            <a:off x="777240" y="246888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8" name="Icona TbWalk" descr="/home/claude/pre/build/img/ic/TbWalk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5996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46888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0040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Pedra antiga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2,5 milions d'anys – 10.000 aC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Caça i recol·lecció. Vida nòmada. Eines de pedra tallada.</a:t>
            </a:r>
            <a:endParaRPr lang="en-US" sz="1600" dirty="0"/>
          </a:p>
        </p:txBody>
      </p:sp>
      <p:sp>
        <p:nvSpPr>
          <p:cNvPr id="11" name="Targeta Neolític"/>
          <p:cNvSpPr/>
          <p:nvPr/>
        </p:nvSpPr>
        <p:spPr>
          <a:xfrm>
            <a:off x="4383938" y="2240280"/>
            <a:ext cx="3423818" cy="2697480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Cercle icona"/>
          <p:cNvSpPr/>
          <p:nvPr/>
        </p:nvSpPr>
        <p:spPr>
          <a:xfrm>
            <a:off x="4612538" y="246888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Wheat" descr="/home/claude/pre/build/img/ic/TbWhea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298" y="25996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246888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Neolític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320040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Pedra nova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 del 10.000 aC al Pròxim Orient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Agricultura i ramaderia. Vida sedentària en poblats. Pedra polida, ceràmica i teixits.</a:t>
            </a:r>
            <a:endParaRPr lang="en-US" sz="1600" dirty="0"/>
          </a:p>
        </p:txBody>
      </p:sp>
      <p:sp>
        <p:nvSpPr>
          <p:cNvPr id="16" name="Targeta Edat dels metalls"/>
          <p:cNvSpPr/>
          <p:nvPr/>
        </p:nvSpPr>
        <p:spPr>
          <a:xfrm>
            <a:off x="8219237" y="2240280"/>
            <a:ext cx="3423818" cy="2697480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Cercle icona"/>
          <p:cNvSpPr/>
          <p:nvPr/>
        </p:nvSpPr>
        <p:spPr>
          <a:xfrm>
            <a:off x="8447837" y="246888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8" name="Icona TbHammer" descr="/home/claude/pre/build/img/ic/TbHammer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596" y="259963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79357" y="246888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Edat dels metalls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447837" y="320040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 del 5000 aC als Balcans i al Pròxim Orient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Eines i armes de coure, bronze i ferro. Artesans, comerç i primeres ciutats.</a:t>
            </a:r>
            <a:endParaRPr lang="en-US" sz="1600" dirty="0"/>
          </a:p>
        </p:txBody>
      </p:sp>
      <p:sp>
        <p:nvSpPr>
          <p:cNvPr id="21" name="Fletxa"/>
          <p:cNvSpPr/>
          <p:nvPr/>
        </p:nvSpPr>
        <p:spPr>
          <a:xfrm>
            <a:off x="4082186" y="342900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2" name="Fletxa"/>
          <p:cNvSpPr/>
          <p:nvPr/>
        </p:nvSpPr>
        <p:spPr>
          <a:xfrm>
            <a:off x="7917485" y="342900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3" name="D'on venen els noms?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1579"/>
            </a:avLst>
          </a:prstGeom>
          <a:solidFill>
            <a:srgbClr val="F6F8F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68680" y="527608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D'on venen els noms?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8680" y="5623560"/>
            <a:ext cx="10454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 ve del grec palaiós, antic, i líthos, pedra. Neolític vol dir «pedra nova».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Paleolític molt llarg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Paleolític és tan llarg que es divideix en tres parts.</a:t>
            </a:r>
            <a:endParaRPr lang="en-US" sz="1800" dirty="0"/>
          </a:p>
        </p:txBody>
      </p:sp>
      <p:sp>
        <p:nvSpPr>
          <p:cNvPr id="6" name="Targeta Paleolític inferior"/>
          <p:cNvSpPr/>
          <p:nvPr/>
        </p:nvSpPr>
        <p:spPr>
          <a:xfrm>
            <a:off x="548640" y="1965960"/>
            <a:ext cx="3423818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Cercle icona"/>
          <p:cNvSpPr/>
          <p:nvPr/>
        </p:nvSpPr>
        <p:spPr>
          <a:xfrm>
            <a:off x="777240" y="2194560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8" name="Icona TbHourglass" descr="/home/claude/pre/build/img/ic/TbHourglass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34543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194560"/>
            <a:ext cx="2143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 inferior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175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més antic, el dels primers humans.</a:t>
            </a:r>
            <a:endParaRPr lang="en-US" sz="1900" dirty="0"/>
          </a:p>
        </p:txBody>
      </p:sp>
      <p:sp>
        <p:nvSpPr>
          <p:cNvPr id="11" name="Targeta Paleolític mitjà"/>
          <p:cNvSpPr/>
          <p:nvPr/>
        </p:nvSpPr>
        <p:spPr>
          <a:xfrm>
            <a:off x="4383938" y="1965960"/>
            <a:ext cx="3423818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Cercle icona"/>
          <p:cNvSpPr/>
          <p:nvPr/>
        </p:nvSpPr>
        <p:spPr>
          <a:xfrm>
            <a:off x="4612538" y="2194560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UsersGroup" descr="/home/claude/pre/build/img/ic/TbUsersGroup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414" y="23454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35498" y="2194560"/>
            <a:ext cx="2143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 mitjà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30175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L'època dels neandertals.</a:t>
            </a:r>
            <a:endParaRPr lang="en-US" sz="1900" dirty="0"/>
          </a:p>
        </p:txBody>
      </p:sp>
      <p:sp>
        <p:nvSpPr>
          <p:cNvPr id="16" name="Targeta Paleolític superior"/>
          <p:cNvSpPr/>
          <p:nvPr/>
        </p:nvSpPr>
        <p:spPr>
          <a:xfrm>
            <a:off x="8219237" y="1965960"/>
            <a:ext cx="3423818" cy="2377440"/>
          </a:xfrm>
          <a:prstGeom prst="roundRect">
            <a:avLst>
              <a:gd name="adj" fmla="val 4231"/>
            </a:avLst>
          </a:prstGeom>
          <a:solidFill>
            <a:srgbClr val="188038"/>
          </a:solidFill>
          <a:ln/>
        </p:spPr>
      </p:sp>
      <p:sp>
        <p:nvSpPr>
          <p:cNvPr id="17" name="Cercle icona"/>
          <p:cNvSpPr/>
          <p:nvPr/>
        </p:nvSpPr>
        <p:spPr>
          <a:xfrm>
            <a:off x="8447837" y="21945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cona TbWalk" descr="/home/claude/pre/build/img/ic/TbWalk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713" y="234543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70797" y="2194560"/>
            <a:ext cx="2143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 superior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447837" y="30175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Comença fa uns 45.000-40.000 anys, quan l'Homo sapiens arriba a Europa.</a:t>
            </a:r>
            <a:endParaRPr lang="en-US" sz="1900" dirty="0"/>
          </a:p>
        </p:txBody>
      </p:sp>
      <p:sp>
        <p:nvSpPr>
          <p:cNvPr id="21" name="Fletxa"/>
          <p:cNvSpPr/>
          <p:nvPr/>
        </p:nvSpPr>
        <p:spPr>
          <a:xfrm>
            <a:off x="4082186" y="301752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2" name="Fletxa"/>
          <p:cNvSpPr/>
          <p:nvPr/>
        </p:nvSpPr>
        <p:spPr>
          <a:xfrm>
            <a:off x="7917485" y="301752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3" name="Recorda"/>
          <p:cNvSpPr/>
          <p:nvPr/>
        </p:nvSpPr>
        <p:spPr>
          <a:xfrm>
            <a:off x="548640" y="4572000"/>
            <a:ext cx="11094415" cy="1188720"/>
          </a:xfrm>
          <a:prstGeom prst="roundRect">
            <a:avLst>
              <a:gd name="adj" fmla="val 8462"/>
            </a:avLst>
          </a:prstGeom>
          <a:solidFill>
            <a:srgbClr val="F6F8F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68680" y="472744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Recorda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8680" y="507492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neandertals i l'Homo sapiens els coneixeràs a l'apartat 2, amb l'evolució humana.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va passar a tot arreu alhora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38448"/>
                <a:gridCol w="403844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Pròxim Orient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Catalunya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0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8803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Neolític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58800" marR="1016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Des del 10.000 aC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Des del 5500 aC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8803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Edat dels metalls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58800" marR="1016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Des del 5000 aC (també als Balcans)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Des del 2500 aC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8803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Final de la prehistòria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58800" marR="1016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Cap al 3500 aC, a Mesopotàmia, amb l'escriptura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 segle V aC, amb els ibers</a:t>
                      </a:r>
                      <a:endParaRPr lang="en-US" sz="17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cona TbWheat" descr="/home/claude/pre/build/img/ic/TbWheat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75688"/>
            <a:ext cx="329184" cy="329184"/>
          </a:xfrm>
          <a:prstGeom prst="rect">
            <a:avLst/>
          </a:prstGeom>
        </p:spPr>
      </p:pic>
      <p:pic>
        <p:nvPicPr>
          <p:cNvPr id="7" name="Icona TbHammer" descr="/home/claude/pre/build/img/ic/TbHammer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07208"/>
            <a:ext cx="329184" cy="329184"/>
          </a:xfrm>
          <a:prstGeom prst="rect">
            <a:avLst/>
          </a:prstGeom>
        </p:spPr>
      </p:pic>
      <p:pic>
        <p:nvPicPr>
          <p:cNvPr id="8" name="Icona TbWriting" descr="/home/claude/pre/build/img/ic/TbWriting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38728"/>
            <a:ext cx="329184" cy="329184"/>
          </a:xfrm>
          <a:prstGeom prst="rect">
            <a:avLst/>
          </a:prstGeom>
        </p:spPr>
      </p:pic>
      <p:sp>
        <p:nvSpPr>
          <p:cNvPr id="9" name="Diferència"/>
          <p:cNvSpPr/>
          <p:nvPr/>
        </p:nvSpPr>
        <p:spPr>
          <a:xfrm>
            <a:off x="548640" y="4343400"/>
            <a:ext cx="4297680" cy="1645920"/>
          </a:xfrm>
          <a:prstGeom prst="roundRect">
            <a:avLst>
              <a:gd name="adj" fmla="val 6111"/>
            </a:avLst>
          </a:prstGeom>
          <a:solidFill>
            <a:srgbClr val="188038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822960" y="43434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 3.000 anys</a:t>
            </a:r>
            <a:endParaRPr lang="en-US" sz="2600" dirty="0"/>
          </a:p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més tard que a Mesopotàmia es va acabar la prehistòria a Catalunya.</a:t>
            </a:r>
            <a:endParaRPr lang="en-US" sz="2600" dirty="0"/>
          </a:p>
        </p:txBody>
      </p:sp>
      <p:sp>
        <p:nvSpPr>
          <p:cNvPr id="11" name="Atenció"/>
          <p:cNvSpPr/>
          <p:nvPr/>
        </p:nvSpPr>
        <p:spPr>
          <a:xfrm>
            <a:off x="5120640" y="4343400"/>
            <a:ext cx="6522415" cy="1645920"/>
          </a:xfrm>
          <a:prstGeom prst="roundRect">
            <a:avLst>
              <a:gd name="adj" fmla="val 6111"/>
            </a:avLst>
          </a:prstGeom>
          <a:solidFill>
            <a:srgbClr val="F6F8FB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5440680" y="4498848"/>
            <a:ext cx="5882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Atenció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5440680" y="4846320"/>
            <a:ext cx="5882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dates són orientatives i varien segons el lloc del món. Quan al Pròxim Orient ja hi havia agricultura, a Europa encara es vivia de la caça.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Comprova-ho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Paraules clau</a:t>
            </a:r>
            <a:endParaRPr lang="en-US" sz="1400" dirty="0"/>
          </a:p>
        </p:txBody>
      </p:sp>
      <p:sp>
        <p:nvSpPr>
          <p:cNvPr id="6" name="Etiqueta Prehistòria"/>
          <p:cNvSpPr/>
          <p:nvPr/>
        </p:nvSpPr>
        <p:spPr>
          <a:xfrm>
            <a:off x="548640" y="17556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Prehistòria</a:t>
            </a:r>
            <a:endParaRPr lang="en-US" sz="1500" dirty="0"/>
          </a:p>
        </p:txBody>
      </p:sp>
      <p:sp>
        <p:nvSpPr>
          <p:cNvPr id="8" name="Etiqueta Fonts arqueològiques"/>
          <p:cNvSpPr/>
          <p:nvPr/>
        </p:nvSpPr>
        <p:spPr>
          <a:xfrm>
            <a:off x="2075688" y="1755648"/>
            <a:ext cx="2322576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75688" y="175564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Fonts arqueològiques</a:t>
            </a:r>
            <a:endParaRPr lang="en-US" sz="1500" dirty="0"/>
          </a:p>
        </p:txBody>
      </p:sp>
      <p:sp>
        <p:nvSpPr>
          <p:cNvPr id="10" name="Etiqueta Arqueologia"/>
          <p:cNvSpPr/>
          <p:nvPr/>
        </p:nvSpPr>
        <p:spPr>
          <a:xfrm>
            <a:off x="4507992" y="17556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755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Arqueologia</a:t>
            </a:r>
            <a:endParaRPr lang="en-US" sz="1500" dirty="0"/>
          </a:p>
        </p:txBody>
      </p:sp>
      <p:sp>
        <p:nvSpPr>
          <p:cNvPr id="12" name="Etiqueta Jaciment"/>
          <p:cNvSpPr/>
          <p:nvPr/>
        </p:nvSpPr>
        <p:spPr>
          <a:xfrm>
            <a:off x="6035040" y="1755648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75564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Jaciment</a:t>
            </a:r>
            <a:endParaRPr lang="en-US" sz="1500" dirty="0"/>
          </a:p>
        </p:txBody>
      </p:sp>
      <p:sp>
        <p:nvSpPr>
          <p:cNvPr id="14" name="Etiqueta Estrats"/>
          <p:cNvSpPr/>
          <p:nvPr/>
        </p:nvSpPr>
        <p:spPr>
          <a:xfrm>
            <a:off x="7260336" y="1755648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60336" y="175564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Estrats</a:t>
            </a:r>
            <a:endParaRPr lang="en-US" sz="1500" dirty="0"/>
          </a:p>
        </p:txBody>
      </p:sp>
      <p:sp>
        <p:nvSpPr>
          <p:cNvPr id="16" name="Etiqueta Carboni-14"/>
          <p:cNvSpPr/>
          <p:nvPr/>
        </p:nvSpPr>
        <p:spPr>
          <a:xfrm>
            <a:off x="8385048" y="1755648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5048" y="175564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Carboni-14</a:t>
            </a:r>
            <a:endParaRPr lang="en-US" sz="1500" dirty="0"/>
          </a:p>
        </p:txBody>
      </p:sp>
      <p:sp>
        <p:nvSpPr>
          <p:cNvPr id="18" name="Pregunta 1"/>
          <p:cNvSpPr/>
          <p:nvPr/>
        </p:nvSpPr>
        <p:spPr>
          <a:xfrm>
            <a:off x="548640" y="2514600"/>
            <a:ext cx="11094415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Número 1"/>
          <p:cNvSpPr/>
          <p:nvPr/>
        </p:nvSpPr>
        <p:spPr>
          <a:xfrm>
            <a:off x="822960" y="276606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2766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25146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l'escriptura marca el final de la prehistòria?</a:t>
            </a:r>
            <a:endParaRPr lang="en-US" sz="2000" dirty="0"/>
          </a:p>
        </p:txBody>
      </p:sp>
      <p:sp>
        <p:nvSpPr>
          <p:cNvPr id="22" name="Pregunta 2"/>
          <p:cNvSpPr/>
          <p:nvPr/>
        </p:nvSpPr>
        <p:spPr>
          <a:xfrm>
            <a:off x="548640" y="3657600"/>
            <a:ext cx="11094415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Número 2"/>
          <p:cNvSpPr/>
          <p:nvPr/>
        </p:nvSpPr>
        <p:spPr>
          <a:xfrm>
            <a:off x="822960" y="390906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6576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una cova hi ha dues capes amb restes. Quina és la més antiga?</a:t>
            </a:r>
            <a:endParaRPr lang="en-US" sz="2000" dirty="0"/>
          </a:p>
        </p:txBody>
      </p:sp>
      <p:sp>
        <p:nvSpPr>
          <p:cNvPr id="26" name="Pregunta 3"/>
          <p:cNvSpPr/>
          <p:nvPr/>
        </p:nvSpPr>
        <p:spPr>
          <a:xfrm>
            <a:off x="548640" y="4800600"/>
            <a:ext cx="11094415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Número 3"/>
          <p:cNvSpPr/>
          <p:nvPr/>
        </p:nvSpPr>
        <p:spPr>
          <a:xfrm>
            <a:off x="822960" y="505206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052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8006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Ordena les tres etapes de la prehistòria i digues un tret de cadascuna.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çalera"/>
          <p:cNvSpPr/>
          <p:nvPr/>
        </p:nvSpPr>
        <p:spPr>
          <a:xfrm>
            <a:off x="548640" y="548640"/>
            <a:ext cx="6720840" cy="3657600"/>
          </a:xfrm>
          <a:prstGeom prst="roundRect">
            <a:avLst>
              <a:gd name="adj" fmla="val 2750"/>
            </a:avLst>
          </a:prstGeom>
          <a:solidFill>
            <a:srgbClr val="188038"/>
          </a:solidFill>
          <a:ln/>
        </p:spPr>
      </p:sp>
      <p:pic>
        <p:nvPicPr>
          <p:cNvPr id="3" name="Il·lustració d'un menhir, un dolmen i el sol" descr="/home/claude/pre/build/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294081"/>
            <a:ext cx="3566160" cy="1893871"/>
          </a:xfrm>
          <a:prstGeom prst="rect">
            <a:avLst/>
          </a:prstGeom>
        </p:spPr>
      </p:pic>
      <p:sp>
        <p:nvSpPr>
          <p:cNvPr id="4" name="Etiqueta Apartat 2"/>
          <p:cNvSpPr/>
          <p:nvPr/>
        </p:nvSpPr>
        <p:spPr>
          <a:xfrm>
            <a:off x="960120" y="896112"/>
            <a:ext cx="1035101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896112"/>
            <a:ext cx="10351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Apartat 2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3716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L'evolució humana</a:t>
            </a:r>
            <a:endParaRPr lang="en-US" sz="3800" dirty="0"/>
          </a:p>
        </p:txBody>
      </p:sp>
      <p:sp>
        <p:nvSpPr>
          <p:cNvPr id="7" name="Pregunta guia"/>
          <p:cNvSpPr/>
          <p:nvPr/>
        </p:nvSpPr>
        <p:spPr>
          <a:xfrm>
            <a:off x="548640" y="4389120"/>
            <a:ext cx="6720840" cy="1645920"/>
          </a:xfrm>
          <a:prstGeom prst="roundRect">
            <a:avLst>
              <a:gd name="adj" fmla="val 6111"/>
            </a:avLst>
          </a:prstGeom>
          <a:solidFill>
            <a:srgbClr val="F6F8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 guia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937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humans hem estat sempre tal com som ara?</a:t>
            </a:r>
            <a:endParaRPr lang="en-US" sz="1900" dirty="0"/>
          </a:p>
        </p:txBody>
      </p:sp>
      <p:sp>
        <p:nvSpPr>
          <p:cNvPr id="10" name="Fons L'evolució humana"/>
          <p:cNvSpPr/>
          <p:nvPr/>
        </p:nvSpPr>
        <p:spPr>
          <a:xfrm>
            <a:off x="7635240" y="1672181"/>
            <a:ext cx="4007815" cy="2443790"/>
          </a:xfrm>
          <a:prstGeom prst="roundRect">
            <a:avLst>
              <a:gd name="adj" fmla="val 4116"/>
            </a:avLst>
          </a:prstGeom>
          <a:solidFill>
            <a:srgbClr val="F6F8FB"/>
          </a:solidFill>
          <a:ln/>
        </p:spPr>
      </p:sp>
      <p:pic>
        <p:nvPicPr>
          <p:cNvPr id="11" name="L'evolució humana" descr="/home/claude/pre/build/img/cra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72181"/>
            <a:ext cx="4007815" cy="24437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4225699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Cranis d'Homo sapiens (esquerra) i de neandertal (dreta). L'estudi de les restes òssies permet reconstruir l'evolució humana. Foto: hairymuseummatt, Wikimedia Commons, CC BY-SA.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D'on venim?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éssers humans no hem existit sempre tal com som ara.</a:t>
            </a:r>
            <a:endParaRPr lang="en-US" sz="1800" dirty="0"/>
          </a:p>
        </p:txBody>
      </p:sp>
      <p:sp>
        <p:nvSpPr>
          <p:cNvPr id="6" name="Cercle icona"/>
          <p:cNvSpPr/>
          <p:nvPr/>
        </p:nvSpPr>
        <p:spPr>
          <a:xfrm>
            <a:off x="548640" y="2048256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Hourglass" descr="/home/claude/pre/build/img/ic/TbHourglass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168957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98448" y="2011680"/>
            <a:ext cx="10344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 el resultat </a:t>
            </a:r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d'un procés d'evolució de milions d'anys.</a:t>
            </a:r>
            <a:endParaRPr lang="en-US" sz="1900" dirty="0"/>
          </a:p>
        </p:txBody>
      </p:sp>
      <p:sp>
        <p:nvSpPr>
          <p:cNvPr id="9" name="Cercle icona"/>
          <p:cNvSpPr/>
          <p:nvPr/>
        </p:nvSpPr>
        <p:spPr>
          <a:xfrm>
            <a:off x="548640" y="2871216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0" name="Icona TbDna" descr="/home/claude/pre/build/img/ic/TbDna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991917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98448" y="2834640"/>
            <a:ext cx="10344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 primats africans </a:t>
            </a:r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van anar transformant fins a arribar als humans actuals.</a:t>
            </a:r>
            <a:endParaRPr lang="en-US" sz="1900" dirty="0"/>
          </a:p>
        </p:txBody>
      </p:sp>
      <p:sp>
        <p:nvSpPr>
          <p:cNvPr id="12" name="Cercle icona"/>
          <p:cNvSpPr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MapPin" descr="/home/claude/pre/build/img/ic/TbMapPin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814877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657600"/>
            <a:ext cx="10344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 començar a l'Àfrica, </a:t>
            </a:r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continent que és considerat el bressol de la humanitat.</a:t>
            </a:r>
            <a:endParaRPr lang="en-US" sz="1900" dirty="0"/>
          </a:p>
        </p:txBody>
      </p:sp>
      <p:sp>
        <p:nvSpPr>
          <p:cNvPr id="15" name="Paraula clau · Hominització"/>
          <p:cNvSpPr/>
          <p:nvPr/>
        </p:nvSpPr>
        <p:spPr>
          <a:xfrm>
            <a:off x="548640" y="4663440"/>
            <a:ext cx="11094415" cy="1325880"/>
          </a:xfrm>
          <a:prstGeom prst="roundRect">
            <a:avLst>
              <a:gd name="adj" fmla="val 7586"/>
            </a:avLst>
          </a:prstGeom>
          <a:solidFill>
            <a:srgbClr val="E6F4E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68680" y="481888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Hominització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51663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Conjunt de canvis físics i culturals que van transformar uns primats africans en els humans actuals.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grans canvis de l'hominització</a:t>
            </a:r>
            <a:endParaRPr lang="en-US" sz="2800" dirty="0"/>
          </a:p>
        </p:txBody>
      </p:sp>
      <p:sp>
        <p:nvSpPr>
          <p:cNvPr id="5" name="Targeta El bipedisme"/>
          <p:cNvSpPr/>
          <p:nvPr/>
        </p:nvSpPr>
        <p:spPr>
          <a:xfrm>
            <a:off x="548640" y="137160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Walk" descr="/home/claude/pre/build/img/ic/TbWalk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60020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bipedisme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Caminar drets sobre dues cames.</a:t>
            </a:r>
            <a:endParaRPr lang="en-US" sz="1550" dirty="0"/>
          </a:p>
        </p:txBody>
      </p:sp>
      <p:sp>
        <p:nvSpPr>
          <p:cNvPr id="10" name="Targeta Un cervell més gran"/>
          <p:cNvSpPr/>
          <p:nvPr/>
        </p:nvSpPr>
        <p:spPr>
          <a:xfrm>
            <a:off x="4322978" y="137160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4551578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Brain" descr="/home/claude/pre/build/img/ic/TbBrain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279" y="17209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37378" y="160020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cervell més gran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51578" y="22860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capacitat cranial augmenta. Permet pensar, planificar i imaginar.</a:t>
            </a:r>
            <a:endParaRPr lang="en-US" sz="1550" dirty="0"/>
          </a:p>
        </p:txBody>
      </p:sp>
      <p:sp>
        <p:nvSpPr>
          <p:cNvPr id="15" name="Targeta Fabricar eines"/>
          <p:cNvSpPr/>
          <p:nvPr/>
        </p:nvSpPr>
        <p:spPr>
          <a:xfrm>
            <a:off x="8097317" y="137160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Cercle icona"/>
          <p:cNvSpPr/>
          <p:nvPr/>
        </p:nvSpPr>
        <p:spPr>
          <a:xfrm>
            <a:off x="8325917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Hammer" descr="/home/claude/pre/build/img/ic/TbHammer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618" y="17209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11717" y="160020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Fabricar eines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25917" y="22860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 l'única espècie capaç de fabricar instruments per fabricar altres instruments.</a:t>
            </a:r>
            <a:endParaRPr lang="en-US" sz="1550" dirty="0"/>
          </a:p>
        </p:txBody>
      </p:sp>
      <p:sp>
        <p:nvSpPr>
          <p:cNvPr id="20" name="Targeta El domini del foc"/>
          <p:cNvSpPr/>
          <p:nvPr/>
        </p:nvSpPr>
        <p:spPr>
          <a:xfrm>
            <a:off x="548640" y="379476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Cercle icona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2" name="Icona TbFlame" descr="/home/claude/pre/build/img/ic/TbFlame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402336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domini del foc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70916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escalfar-se, il·luminar, cuinar els aliments i protegir-se dels depredadors.</a:t>
            </a:r>
            <a:endParaRPr lang="en-US" sz="1550" dirty="0"/>
          </a:p>
        </p:txBody>
      </p:sp>
      <p:sp>
        <p:nvSpPr>
          <p:cNvPr id="25" name="Targeta El llenguatge"/>
          <p:cNvSpPr/>
          <p:nvPr/>
        </p:nvSpPr>
        <p:spPr>
          <a:xfrm>
            <a:off x="4322978" y="379476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Cercle icona"/>
          <p:cNvSpPr/>
          <p:nvPr/>
        </p:nvSpPr>
        <p:spPr>
          <a:xfrm>
            <a:off x="4551578" y="402336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7" name="Icona TbMessages" descr="/home/claude/pre/build/img/ic/TbMessages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279" y="414406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37378" y="402336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llenguatge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4551578" y="470916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Parlar va fer possible cooperar i transmetre coneixements. Més endavant, crear art i creences.</a:t>
            </a:r>
            <a:endParaRPr lang="en-US" sz="1550" dirty="0"/>
          </a:p>
        </p:txBody>
      </p:sp>
      <p:sp>
        <p:nvSpPr>
          <p:cNvPr id="30" name="Targeta Les mans lliures"/>
          <p:cNvSpPr/>
          <p:nvPr/>
        </p:nvSpPr>
        <p:spPr>
          <a:xfrm>
            <a:off x="8097317" y="3794760"/>
            <a:ext cx="3545738" cy="2194560"/>
          </a:xfrm>
          <a:prstGeom prst="roundRect">
            <a:avLst>
              <a:gd name="adj" fmla="val 4583"/>
            </a:avLst>
          </a:prstGeom>
          <a:solidFill>
            <a:srgbClr val="188038"/>
          </a:solidFill>
          <a:ln/>
        </p:spPr>
      </p:sp>
      <p:sp>
        <p:nvSpPr>
          <p:cNvPr id="31" name="Cercle icona"/>
          <p:cNvSpPr/>
          <p:nvPr/>
        </p:nvSpPr>
        <p:spPr>
          <a:xfrm>
            <a:off x="8325917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cona TbHandStop" descr="/home/claude/pre/build/img/ic/TbHandStop-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618" y="4144061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11717" y="402336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mans lliures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8325917" y="470916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Gràcies al bipedisme, podien transportar coses, fabricar eines i tenir cura de les cries.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Lucy caminava dreta</a:t>
            </a:r>
            <a:endParaRPr lang="en-US" sz="2800" dirty="0"/>
          </a:p>
        </p:txBody>
      </p:sp>
      <p:sp>
        <p:nvSpPr>
          <p:cNvPr id="5" name="Fons La Lucy"/>
          <p:cNvSpPr/>
          <p:nvPr/>
        </p:nvSpPr>
        <p:spPr>
          <a:xfrm>
            <a:off x="548640" y="1371600"/>
            <a:ext cx="2834640" cy="3886200"/>
          </a:xfrm>
          <a:prstGeom prst="roundRect">
            <a:avLst>
              <a:gd name="adj" fmla="val 3548"/>
            </a:avLst>
          </a:prstGeom>
          <a:solidFill>
            <a:srgbClr val="F6F8FB"/>
          </a:solidFill>
          <a:ln/>
        </p:spPr>
      </p:sp>
      <p:pic>
        <p:nvPicPr>
          <p:cNvPr id="6" name="La Lucy" descr="/home/claude/pre/build/img/luc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517" y="1371600"/>
            <a:ext cx="1608887" cy="3886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Lucy. Rèplica del Museu Nacional d'Història Natural de París. Foto: 120, Wikimedia Commons, CC BY 2.5.</a:t>
            </a:r>
            <a:endParaRPr lang="en-US" sz="1000" dirty="0"/>
          </a:p>
        </p:txBody>
      </p:sp>
      <p:sp>
        <p:nvSpPr>
          <p:cNvPr id="8" name="Paraula clau · Bipedisme"/>
          <p:cNvSpPr/>
          <p:nvPr/>
        </p:nvSpPr>
        <p:spPr>
          <a:xfrm>
            <a:off x="3703320" y="1371600"/>
            <a:ext cx="7939735" cy="1371600"/>
          </a:xfrm>
          <a:prstGeom prst="roundRect">
            <a:avLst>
              <a:gd name="adj" fmla="val 7333"/>
            </a:avLst>
          </a:prstGeom>
          <a:solidFill>
            <a:srgbClr val="E6F4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023360" y="1527048"/>
            <a:ext cx="7299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Bipedisme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874520"/>
            <a:ext cx="7299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Capacitat de caminar dret sobre dues cames, que va alliberar les mans i va permetre fabricar i fer servir eines.</a:t>
            </a:r>
            <a:endParaRPr lang="en-US" sz="1650" dirty="0"/>
          </a:p>
        </p:txBody>
      </p:sp>
      <p:sp>
        <p:nvSpPr>
          <p:cNvPr id="11" name="Targeta Va viure fa uns"/>
          <p:cNvSpPr/>
          <p:nvPr/>
        </p:nvSpPr>
        <p:spPr>
          <a:xfrm>
            <a:off x="3703320" y="2971800"/>
            <a:ext cx="2494178" cy="3017520"/>
          </a:xfrm>
          <a:prstGeom prst="roundRect">
            <a:avLst>
              <a:gd name="adj" fmla="val 403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Cercle icona"/>
          <p:cNvSpPr/>
          <p:nvPr/>
        </p:nvSpPr>
        <p:spPr>
          <a:xfrm>
            <a:off x="3931920" y="32004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CalendarTime" descr="/home/claude/pre/build/img/ic/TbCalendarTime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621" y="33211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3200400"/>
            <a:ext cx="1396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 viure fa uns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3886200"/>
            <a:ext cx="2036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3,2 milions d'anys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4892040"/>
            <a:ext cx="2036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Era una australopitec.</a:t>
            </a:r>
            <a:endParaRPr lang="en-US" sz="1550" dirty="0"/>
          </a:p>
        </p:txBody>
      </p:sp>
      <p:sp>
        <p:nvSpPr>
          <p:cNvPr id="17" name="Targeta Es va trobar el"/>
          <p:cNvSpPr/>
          <p:nvPr/>
        </p:nvSpPr>
        <p:spPr>
          <a:xfrm>
            <a:off x="6426098" y="2971800"/>
            <a:ext cx="2494178" cy="3017520"/>
          </a:xfrm>
          <a:prstGeom prst="roundRect">
            <a:avLst>
              <a:gd name="adj" fmla="val 403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Cercle icona"/>
          <p:cNvSpPr/>
          <p:nvPr/>
        </p:nvSpPr>
        <p:spPr>
          <a:xfrm>
            <a:off x="6654698" y="32004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9" name="Icona TbMapPin" descr="/home/claude/pre/build/img/ic/TbMapPin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399" y="332110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40498" y="3200400"/>
            <a:ext cx="1396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va trobar el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654698" y="3886200"/>
            <a:ext cx="2036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1974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6654698" y="4892040"/>
            <a:ext cx="2036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Hadar (Etiòpia).</a:t>
            </a:r>
            <a:endParaRPr lang="en-US" sz="1550" dirty="0"/>
          </a:p>
        </p:txBody>
      </p:sp>
      <p:sp>
        <p:nvSpPr>
          <p:cNvPr id="23" name="Targeta Se’n conserva"/>
          <p:cNvSpPr/>
          <p:nvPr/>
        </p:nvSpPr>
        <p:spPr>
          <a:xfrm>
            <a:off x="9148877" y="2971800"/>
            <a:ext cx="2494178" cy="3017520"/>
          </a:xfrm>
          <a:prstGeom prst="roundRect">
            <a:avLst>
              <a:gd name="adj" fmla="val 4033"/>
            </a:avLst>
          </a:prstGeom>
          <a:solidFill>
            <a:srgbClr val="188038"/>
          </a:solidFill>
          <a:ln/>
        </p:spPr>
      </p:sp>
      <p:sp>
        <p:nvSpPr>
          <p:cNvPr id="24" name="Cercle icona"/>
          <p:cNvSpPr/>
          <p:nvPr/>
        </p:nvSpPr>
        <p:spPr>
          <a:xfrm>
            <a:off x="9377477" y="3200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cona TbBone" descr="/home/claude/pre/build/img/ic/TbBone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178" y="332110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063277" y="3200400"/>
            <a:ext cx="1396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Se’n conserva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377477" y="3886200"/>
            <a:ext cx="2036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 del 40 %</a:t>
            </a:r>
            <a:endParaRPr lang="en-US" sz="2600" dirty="0"/>
          </a:p>
        </p:txBody>
      </p:sp>
      <p:sp>
        <p:nvSpPr>
          <p:cNvPr id="28" name="Text 22"/>
          <p:cNvSpPr txBox="1"/>
          <p:nvPr/>
        </p:nvSpPr>
        <p:spPr>
          <a:xfrm>
            <a:off x="9377477" y="4892040"/>
            <a:ext cx="2036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l'esquelet, prou per saber que ja caminava dreta.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principals espècies humanes</a:t>
            </a:r>
            <a:endParaRPr lang="en-US" sz="2800" dirty="0"/>
          </a:p>
        </p:txBody>
      </p:sp>
      <p:sp>
        <p:nvSpPr>
          <p:cNvPr id="5" name="Guia 4 milions d'anys"/>
          <p:cNvSpPr/>
          <p:nvPr/>
        </p:nvSpPr>
        <p:spPr>
          <a:xfrm>
            <a:off x="2880360" y="1463040"/>
            <a:ext cx="0" cy="3566160"/>
          </a:xfrm>
          <a:prstGeom prst="line">
            <a:avLst/>
          </a:prstGeom>
          <a:noFill/>
          <a:ln w="12700">
            <a:solidFill>
              <a:srgbClr val="DADCE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880360" y="5102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milions d'anys</a:t>
            </a:r>
            <a:endParaRPr lang="en-US" sz="1300" dirty="0"/>
          </a:p>
        </p:txBody>
      </p:sp>
      <p:sp>
        <p:nvSpPr>
          <p:cNvPr id="7" name="Guia 3 milions"/>
          <p:cNvSpPr/>
          <p:nvPr/>
        </p:nvSpPr>
        <p:spPr>
          <a:xfrm>
            <a:off x="5036744" y="1463040"/>
            <a:ext cx="0" cy="3566160"/>
          </a:xfrm>
          <a:prstGeom prst="line">
            <a:avLst/>
          </a:prstGeom>
          <a:noFill/>
          <a:ln w="12700">
            <a:solidFill>
              <a:srgbClr val="DADCE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122344" y="5102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milions</a:t>
            </a:r>
            <a:endParaRPr lang="en-US" sz="1300" dirty="0"/>
          </a:p>
        </p:txBody>
      </p:sp>
      <p:sp>
        <p:nvSpPr>
          <p:cNvPr id="9" name="Guia 2 milions"/>
          <p:cNvSpPr/>
          <p:nvPr/>
        </p:nvSpPr>
        <p:spPr>
          <a:xfrm>
            <a:off x="7193128" y="1463040"/>
            <a:ext cx="0" cy="3566160"/>
          </a:xfrm>
          <a:prstGeom prst="line">
            <a:avLst/>
          </a:prstGeom>
          <a:noFill/>
          <a:ln w="12700">
            <a:solidFill>
              <a:srgbClr val="DADCE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78728" y="5102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milions</a:t>
            </a:r>
            <a:endParaRPr lang="en-US" sz="1300" dirty="0"/>
          </a:p>
        </p:txBody>
      </p:sp>
      <p:sp>
        <p:nvSpPr>
          <p:cNvPr id="11" name="Guia 1 milió"/>
          <p:cNvSpPr/>
          <p:nvPr/>
        </p:nvSpPr>
        <p:spPr>
          <a:xfrm>
            <a:off x="9349511" y="1463040"/>
            <a:ext cx="0" cy="3566160"/>
          </a:xfrm>
          <a:prstGeom prst="line">
            <a:avLst/>
          </a:prstGeom>
          <a:noFill/>
          <a:ln w="12700">
            <a:solidFill>
              <a:srgbClr val="DADCE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435111" y="5102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milió</a:t>
            </a:r>
            <a:endParaRPr lang="en-US" sz="1300" dirty="0"/>
          </a:p>
        </p:txBody>
      </p:sp>
      <p:sp>
        <p:nvSpPr>
          <p:cNvPr id="13" name="Guia Avui"/>
          <p:cNvSpPr/>
          <p:nvPr/>
        </p:nvSpPr>
        <p:spPr>
          <a:xfrm>
            <a:off x="11505895" y="1463040"/>
            <a:ext cx="0" cy="3566160"/>
          </a:xfrm>
          <a:prstGeom prst="line">
            <a:avLst/>
          </a:prstGeom>
          <a:noFill/>
          <a:ln w="12700">
            <a:solidFill>
              <a:srgbClr val="DADCE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9677095" y="5102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Avui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463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Australopitec</a:t>
            </a:r>
            <a:endParaRPr lang="en-US" sz="1700" dirty="0"/>
          </a:p>
        </p:txBody>
      </p:sp>
      <p:sp>
        <p:nvSpPr>
          <p:cNvPr id="16" name="Barra Australopitec"/>
          <p:cNvSpPr/>
          <p:nvPr/>
        </p:nvSpPr>
        <p:spPr>
          <a:xfrm>
            <a:off x="2880360" y="1570025"/>
            <a:ext cx="4312768" cy="380390"/>
          </a:xfrm>
          <a:prstGeom prst="roundRect">
            <a:avLst>
              <a:gd name="adj" fmla="val 14423"/>
            </a:avLst>
          </a:prstGeom>
          <a:solidFill>
            <a:srgbClr val="7FC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0288" y="1524305"/>
            <a:ext cx="29260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4–2 milions d'anys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habilis</a:t>
            </a:r>
            <a:endParaRPr lang="en-US" sz="1700" dirty="0"/>
          </a:p>
        </p:txBody>
      </p:sp>
      <p:sp>
        <p:nvSpPr>
          <p:cNvPr id="19" name="Barra Homo habilis"/>
          <p:cNvSpPr/>
          <p:nvPr/>
        </p:nvSpPr>
        <p:spPr>
          <a:xfrm>
            <a:off x="6330574" y="2164385"/>
            <a:ext cx="2156384" cy="380390"/>
          </a:xfrm>
          <a:prstGeom prst="roundRect">
            <a:avLst>
              <a:gd name="adj" fmla="val 14423"/>
            </a:avLst>
          </a:prstGeom>
          <a:solidFill>
            <a:srgbClr val="7FC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67334" y="2118665"/>
            <a:ext cx="29260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2,4–1,4 milions d'anys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651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erectus</a:t>
            </a:r>
            <a:endParaRPr lang="en-US" sz="1700" dirty="0"/>
          </a:p>
        </p:txBody>
      </p:sp>
      <p:sp>
        <p:nvSpPr>
          <p:cNvPr id="22" name="Barra Homo erectus"/>
          <p:cNvSpPr/>
          <p:nvPr/>
        </p:nvSpPr>
        <p:spPr>
          <a:xfrm>
            <a:off x="7408766" y="2758745"/>
            <a:ext cx="3859927" cy="380390"/>
          </a:xfrm>
          <a:prstGeom prst="roundRect">
            <a:avLst>
              <a:gd name="adj" fmla="val 14423"/>
            </a:avLst>
          </a:prstGeom>
          <a:solidFill>
            <a:srgbClr val="7FC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45526" y="2713025"/>
            <a:ext cx="29260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1,9 milions–110.000 anys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46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antecessor</a:t>
            </a:r>
            <a:endParaRPr lang="en-US" sz="1700" dirty="0"/>
          </a:p>
        </p:txBody>
      </p:sp>
      <p:sp>
        <p:nvSpPr>
          <p:cNvPr id="25" name="Fita Homo antecessor"/>
          <p:cNvSpPr/>
          <p:nvPr/>
        </p:nvSpPr>
        <p:spPr>
          <a:xfrm>
            <a:off x="9554097" y="3424428"/>
            <a:ext cx="237744" cy="237744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09729" y="3307385"/>
            <a:ext cx="29260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850.000 anys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40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Neandertal</a:t>
            </a:r>
            <a:endParaRPr lang="en-US" sz="1700" dirty="0"/>
          </a:p>
        </p:txBody>
      </p:sp>
      <p:sp>
        <p:nvSpPr>
          <p:cNvPr id="28" name="Barra Neandertal"/>
          <p:cNvSpPr/>
          <p:nvPr/>
        </p:nvSpPr>
        <p:spPr>
          <a:xfrm>
            <a:off x="10643342" y="3947465"/>
            <a:ext cx="776298" cy="380390"/>
          </a:xfrm>
          <a:prstGeom prst="roundRect">
            <a:avLst>
              <a:gd name="adj" fmla="val 14423"/>
            </a:avLst>
          </a:prstGeom>
          <a:solidFill>
            <a:srgbClr val="7FC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80102" y="3901745"/>
            <a:ext cx="29260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400.000–40.000 anys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434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sapiens</a:t>
            </a:r>
            <a:endParaRPr lang="en-US" sz="1700" dirty="0"/>
          </a:p>
        </p:txBody>
      </p:sp>
      <p:sp>
        <p:nvSpPr>
          <p:cNvPr id="31" name="Barra Homo sapiens"/>
          <p:cNvSpPr/>
          <p:nvPr/>
        </p:nvSpPr>
        <p:spPr>
          <a:xfrm>
            <a:off x="10858980" y="4541825"/>
            <a:ext cx="646915" cy="380390"/>
          </a:xfrm>
          <a:prstGeom prst="roundRect">
            <a:avLst>
              <a:gd name="adj" fmla="val 14423"/>
            </a:avLst>
          </a:prstGeom>
          <a:solidFill>
            <a:srgbClr val="18803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95740" y="4496105"/>
            <a:ext cx="29260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300.000 anys – avui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espècies humanes al llarg del temps. Dates aproximades. Esquema: professordesocials.cat, CC BY-SA 4.0.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primers humans</a:t>
            </a:r>
            <a:endParaRPr lang="en-US" sz="2800" dirty="0"/>
          </a:p>
        </p:txBody>
      </p:sp>
      <p:sp>
        <p:nvSpPr>
          <p:cNvPr id="5" name="Targeta Australopitec"/>
          <p:cNvSpPr/>
          <p:nvPr/>
        </p:nvSpPr>
        <p:spPr>
          <a:xfrm>
            <a:off x="548640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Walk" descr="/home/claude/pre/build/img/ic/TbWalk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60020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Australopitec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2316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4–2 milions d'anys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Encara no és del gènere humà, però ja camina dret. El fòssil més famós és la Lucy, trobada a Etiòpia.</a:t>
            </a:r>
            <a:endParaRPr lang="en-US" sz="2000" dirty="0"/>
          </a:p>
        </p:txBody>
      </p:sp>
      <p:sp>
        <p:nvSpPr>
          <p:cNvPr id="10" name="Targeta Homo habilis"/>
          <p:cNvSpPr/>
          <p:nvPr/>
        </p:nvSpPr>
        <p:spPr>
          <a:xfrm>
            <a:off x="4338218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4566818" y="1600200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Hammer" descr="/home/claude/pre/build/img/ic/TbHammer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694" y="17510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89778" y="160020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habilis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42316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2,4–1,4 milions d'anys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dels primers del gènere Homo. Fabrica eines de pedra senzilles. Per això s’anomena «hàbil».</a:t>
            </a:r>
            <a:endParaRPr lang="en-US" sz="2000" dirty="0"/>
          </a:p>
        </p:txBody>
      </p:sp>
      <p:sp>
        <p:nvSpPr>
          <p:cNvPr id="15" name="Targeta Homo erectus"/>
          <p:cNvSpPr/>
          <p:nvPr/>
        </p:nvSpPr>
        <p:spPr>
          <a:xfrm>
            <a:off x="8127797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Cercle icona"/>
          <p:cNvSpPr/>
          <p:nvPr/>
        </p:nvSpPr>
        <p:spPr>
          <a:xfrm>
            <a:off x="8356397" y="1600200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Flame" descr="/home/claude/pre/build/img/ic/TbFlam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273" y="17510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79357" y="160020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erectus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242316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1,9 milions–110.000 anys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 el foc. És el primer humà del qual s'han trobat fòssils fora de l'Àfrica, a Geòrgia.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Fins a nosaltres</a:t>
            </a:r>
            <a:endParaRPr lang="en-US" sz="2800" dirty="0"/>
          </a:p>
        </p:txBody>
      </p:sp>
      <p:sp>
        <p:nvSpPr>
          <p:cNvPr id="5" name="Targeta Homo antecessor"/>
          <p:cNvSpPr/>
          <p:nvPr/>
        </p:nvSpPr>
        <p:spPr>
          <a:xfrm>
            <a:off x="548640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MapPin" descr="/home/claude/pre/build/img/ic/TbMapPin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60020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antecessor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2316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850.000 anys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Descobert a Atapuerca (Burgos) el 1994. Els seus fòssils són dels més antics d'Europa occidental.</a:t>
            </a:r>
            <a:endParaRPr lang="en-US" sz="2000" dirty="0"/>
          </a:p>
        </p:txBody>
      </p:sp>
      <p:sp>
        <p:nvSpPr>
          <p:cNvPr id="10" name="Targeta Neandertal"/>
          <p:cNvSpPr/>
          <p:nvPr/>
        </p:nvSpPr>
        <p:spPr>
          <a:xfrm>
            <a:off x="4338218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4566818" y="1600200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Snowflake" descr="/home/claude/pre/build/img/ic/TbSnowflake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694" y="17510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89778" y="160020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Neandertal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42316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400.000–40.000 anys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Viu a Europa durant les glaciacions. Fort i adaptat al fred, caça grans animals, té cura dels malalts i enterra els morts.</a:t>
            </a:r>
            <a:endParaRPr lang="en-US" sz="2000" dirty="0"/>
          </a:p>
        </p:txBody>
      </p:sp>
      <p:sp>
        <p:nvSpPr>
          <p:cNvPr id="15" name="Targeta Homo sapiens"/>
          <p:cNvSpPr/>
          <p:nvPr/>
        </p:nvSpPr>
        <p:spPr>
          <a:xfrm>
            <a:off x="8127797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188038"/>
          </a:solidFill>
          <a:ln/>
        </p:spPr>
      </p:sp>
      <p:sp>
        <p:nvSpPr>
          <p:cNvPr id="16" name="Cercle icona"/>
          <p:cNvSpPr/>
          <p:nvPr/>
        </p:nvSpPr>
        <p:spPr>
          <a:xfrm>
            <a:off x="8356397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a TbUser" descr="/home/claude/pre/build/img/ic/TbUser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273" y="17510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79357" y="160020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sapiens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242316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300.000 anys – avui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nostra espècie. Apareix a l'Àfrica i s'estén per tot el planeta. Crea art, llenguatge complex i tecnologia.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Sapiens i neandertals</a:t>
            </a:r>
            <a:endParaRPr lang="en-US" sz="2800" dirty="0"/>
          </a:p>
        </p:txBody>
      </p:sp>
      <p:sp>
        <p:nvSpPr>
          <p:cNvPr id="5" name="Dues espècies"/>
          <p:cNvSpPr/>
          <p:nvPr/>
        </p:nvSpPr>
        <p:spPr>
          <a:xfrm>
            <a:off x="548640" y="1371600"/>
            <a:ext cx="4206240" cy="3291840"/>
          </a:xfrm>
          <a:prstGeom prst="roundRect">
            <a:avLst>
              <a:gd name="adj" fmla="val 3056"/>
            </a:avLst>
          </a:prstGeom>
          <a:solidFill>
            <a:srgbClr val="F6F8FB"/>
          </a:solidFill>
          <a:ln/>
        </p:spPr>
      </p:sp>
      <p:sp>
        <p:nvSpPr>
          <p:cNvPr id="6" name="Persona"/>
          <p:cNvSpPr/>
          <p:nvPr/>
        </p:nvSpPr>
        <p:spPr>
          <a:xfrm>
            <a:off x="1604772" y="1783080"/>
            <a:ext cx="493776" cy="493776"/>
          </a:xfrm>
          <a:prstGeom prst="ellipse">
            <a:avLst/>
          </a:prstGeom>
          <a:solidFill>
            <a:srgbClr val="9AA0A6"/>
          </a:solidFill>
          <a:ln/>
        </p:spPr>
      </p:sp>
      <p:sp>
        <p:nvSpPr>
          <p:cNvPr id="7" name="Persona"/>
          <p:cNvSpPr/>
          <p:nvPr/>
        </p:nvSpPr>
        <p:spPr>
          <a:xfrm>
            <a:off x="1419606" y="2350922"/>
            <a:ext cx="864108" cy="864108"/>
          </a:xfrm>
          <a:prstGeom prst="roundRect">
            <a:avLst>
              <a:gd name="adj" fmla="val 35714"/>
            </a:avLst>
          </a:prstGeom>
          <a:solidFill>
            <a:srgbClr val="9AA0A6"/>
          </a:solidFill>
          <a:ln/>
        </p:spPr>
      </p:sp>
      <p:sp>
        <p:nvSpPr>
          <p:cNvPr id="8" name="Persona"/>
          <p:cNvSpPr/>
          <p:nvPr/>
        </p:nvSpPr>
        <p:spPr>
          <a:xfrm>
            <a:off x="3232404" y="1691640"/>
            <a:ext cx="530352" cy="530352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9" name="Persona"/>
          <p:cNvSpPr/>
          <p:nvPr/>
        </p:nvSpPr>
        <p:spPr>
          <a:xfrm>
            <a:off x="3033522" y="2301545"/>
            <a:ext cx="928116" cy="928116"/>
          </a:xfrm>
          <a:prstGeom prst="roundRect">
            <a:avLst>
              <a:gd name="adj" fmla="val 35714"/>
            </a:avLst>
          </a:prstGeom>
          <a:solidFill>
            <a:srgbClr val="1880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Neandertal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sapiens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 conviure a Europa durant milers d’anys.</a:t>
            </a:r>
            <a:endParaRPr lang="en-US" sz="1500" dirty="0"/>
          </a:p>
        </p:txBody>
      </p:sp>
      <p:sp>
        <p:nvSpPr>
          <p:cNvPr id="13" name="Cercle icona"/>
          <p:cNvSpPr/>
          <p:nvPr/>
        </p:nvSpPr>
        <p:spPr>
          <a:xfrm>
            <a:off x="5120640" y="1819656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4" name="Icona TbHourglass" descr="/home/claude/pre/build/img/ic/TbHourglass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341" y="1940357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870448" y="1371600"/>
            <a:ext cx="577260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40.000 anys </a:t>
            </a:r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neandertals es van extingir. Els científics encara debaten per què.</a:t>
            </a:r>
            <a:endParaRPr lang="en-US" sz="1800" dirty="0"/>
          </a:p>
        </p:txBody>
      </p:sp>
      <p:sp>
        <p:nvSpPr>
          <p:cNvPr id="16" name="Cercle icona"/>
          <p:cNvSpPr/>
          <p:nvPr/>
        </p:nvSpPr>
        <p:spPr>
          <a:xfrm>
            <a:off x="5120640" y="3465576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Dna" descr="/home/claude/pre/build/img/ic/TbDna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341" y="3586277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870448" y="3017520"/>
            <a:ext cx="577260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Gràcies a l'ADN </a:t>
            </a:r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sabem que es van arribar a barrejar. Molts humans actuals conservem un petit percentatge de gens neandertals.</a:t>
            </a:r>
            <a:endParaRPr lang="en-US" sz="1800" dirty="0"/>
          </a:p>
        </p:txBody>
      </p:sp>
      <p:sp>
        <p:nvSpPr>
          <p:cNvPr id="19" name="Una sola espècie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9167"/>
            </a:avLst>
          </a:prstGeom>
          <a:solidFill>
            <a:srgbClr val="F6F8F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68680" y="504748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sola espècie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68680" y="539496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Avui l'Homo sapiens és l'única espècie humana del planeta.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 Atapuerca i Talteüll</a:t>
            </a:r>
            <a:endParaRPr lang="en-US" sz="2800" dirty="0"/>
          </a:p>
        </p:txBody>
      </p:sp>
      <p:sp>
        <p:nvSpPr>
          <p:cNvPr id="5" name="Saps que…?"/>
          <p:cNvSpPr/>
          <p:nvPr/>
        </p:nvSpPr>
        <p:spPr>
          <a:xfrm>
            <a:off x="548640" y="1371600"/>
            <a:ext cx="11094415" cy="1463040"/>
          </a:xfrm>
          <a:prstGeom prst="roundRect">
            <a:avLst>
              <a:gd name="adj" fmla="val 6875"/>
            </a:avLst>
          </a:prstGeom>
          <a:solidFill>
            <a:srgbClr val="E6F4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52704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7452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Atapuerca (Burgos) hi ha un dels jaciments més importants del món per estudiar l'evolució humana. I a Talteüll, a la Catalunya del Nord, es van descobrir les restes d'un caçador molt antic.</a:t>
            </a:r>
            <a:endParaRPr lang="en-US" sz="1700" dirty="0"/>
          </a:p>
        </p:txBody>
      </p:sp>
      <p:sp>
        <p:nvSpPr>
          <p:cNvPr id="8" name="Targeta Atapuerca, 2025"/>
          <p:cNvSpPr/>
          <p:nvPr/>
        </p:nvSpPr>
        <p:spPr>
          <a:xfrm>
            <a:off x="548640" y="3063240"/>
            <a:ext cx="5410048" cy="2926080"/>
          </a:xfrm>
          <a:prstGeom prst="roundRect">
            <a:avLst>
              <a:gd name="adj" fmla="val 3438"/>
            </a:avLst>
          </a:prstGeom>
          <a:solidFill>
            <a:srgbClr val="188038"/>
          </a:solidFill>
          <a:ln/>
        </p:spPr>
      </p:sp>
      <p:sp>
        <p:nvSpPr>
          <p:cNvPr id="9" name="Cercle icona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cona TbBone" descr="/home/claude/pre/build/img/ic/TbBon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341254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329184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Atapuerca, 2025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977640"/>
            <a:ext cx="495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 1,1 i 1,4 milions d'anys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98348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de la cara d'un homínid, el fòssil humà més antic d'Europa occidental.</a:t>
            </a:r>
            <a:endParaRPr lang="en-US" sz="1550" dirty="0"/>
          </a:p>
        </p:txBody>
      </p:sp>
      <p:sp>
        <p:nvSpPr>
          <p:cNvPr id="14" name="Targeta Talteüll, Catalunya del Nord"/>
          <p:cNvSpPr/>
          <p:nvPr/>
        </p:nvSpPr>
        <p:spPr>
          <a:xfrm>
            <a:off x="6233008" y="3063240"/>
            <a:ext cx="5410048" cy="292608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Cercle icona"/>
          <p:cNvSpPr/>
          <p:nvPr/>
        </p:nvSpPr>
        <p:spPr>
          <a:xfrm>
            <a:off x="6461608" y="329184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6" name="Icona TbMapPin" descr="/home/claude/pre/build/img/ic/TbMapPin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308" y="341254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47408" y="329184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Talteüll, Catalunya del Nord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461608" y="3977640"/>
            <a:ext cx="495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450.000 anys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6461608" y="498348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restes d'un caçador, conegut com l'home de Talteüll.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Comprova-ho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Paraules clau</a:t>
            </a:r>
            <a:endParaRPr lang="en-US" sz="1400" dirty="0"/>
          </a:p>
        </p:txBody>
      </p:sp>
      <p:sp>
        <p:nvSpPr>
          <p:cNvPr id="6" name="Etiqueta Hominització"/>
          <p:cNvSpPr/>
          <p:nvPr/>
        </p:nvSpPr>
        <p:spPr>
          <a:xfrm>
            <a:off x="548640" y="1755648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Hominització</a:t>
            </a:r>
            <a:endParaRPr lang="en-US" sz="1500" dirty="0"/>
          </a:p>
        </p:txBody>
      </p:sp>
      <p:sp>
        <p:nvSpPr>
          <p:cNvPr id="8" name="Etiqueta Bipedisme"/>
          <p:cNvSpPr/>
          <p:nvPr/>
        </p:nvSpPr>
        <p:spPr>
          <a:xfrm>
            <a:off x="2176272" y="1755648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76272" y="1755648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Bipedisme</a:t>
            </a:r>
            <a:endParaRPr lang="en-US" sz="1500" dirty="0"/>
          </a:p>
        </p:txBody>
      </p:sp>
      <p:sp>
        <p:nvSpPr>
          <p:cNvPr id="10" name="Etiqueta Homo sapiens"/>
          <p:cNvSpPr/>
          <p:nvPr/>
        </p:nvSpPr>
        <p:spPr>
          <a:xfrm>
            <a:off x="3502152" y="1755648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17556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 sapiens</a:t>
            </a:r>
            <a:endParaRPr lang="en-US" sz="1500" dirty="0"/>
          </a:p>
        </p:txBody>
      </p:sp>
      <p:sp>
        <p:nvSpPr>
          <p:cNvPr id="12" name="Etiqueta Neandertal"/>
          <p:cNvSpPr/>
          <p:nvPr/>
        </p:nvSpPr>
        <p:spPr>
          <a:xfrm>
            <a:off x="5129784" y="1755648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29784" y="175564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Neandertal</a:t>
            </a:r>
            <a:endParaRPr lang="en-US" sz="1500" dirty="0"/>
          </a:p>
        </p:txBody>
      </p:sp>
      <p:sp>
        <p:nvSpPr>
          <p:cNvPr id="14" name="Pregunta 1"/>
          <p:cNvSpPr/>
          <p:nvPr/>
        </p:nvSpPr>
        <p:spPr>
          <a:xfrm>
            <a:off x="548640" y="2514600"/>
            <a:ext cx="11094415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Número 1"/>
          <p:cNvSpPr/>
          <p:nvPr/>
        </p:nvSpPr>
        <p:spPr>
          <a:xfrm>
            <a:off x="822960" y="276606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2766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25146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és l'hominització?</a:t>
            </a:r>
            <a:endParaRPr lang="en-US" sz="2000" dirty="0"/>
          </a:p>
        </p:txBody>
      </p:sp>
      <p:sp>
        <p:nvSpPr>
          <p:cNvPr id="18" name="Pregunta 2"/>
          <p:cNvSpPr/>
          <p:nvPr/>
        </p:nvSpPr>
        <p:spPr>
          <a:xfrm>
            <a:off x="548640" y="3657600"/>
            <a:ext cx="11094415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Número 2"/>
          <p:cNvSpPr/>
          <p:nvPr/>
        </p:nvSpPr>
        <p:spPr>
          <a:xfrm>
            <a:off x="822960" y="390906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6576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Quin avantatge va donar el bipedisme?</a:t>
            </a:r>
            <a:endParaRPr lang="en-US" sz="2000" dirty="0"/>
          </a:p>
        </p:txBody>
      </p:sp>
      <p:sp>
        <p:nvSpPr>
          <p:cNvPr id="22" name="Pregunta 3"/>
          <p:cNvSpPr/>
          <p:nvPr/>
        </p:nvSpPr>
        <p:spPr>
          <a:xfrm>
            <a:off x="548640" y="4800600"/>
            <a:ext cx="11094415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Número 3"/>
          <p:cNvSpPr/>
          <p:nvPr/>
        </p:nvSpPr>
        <p:spPr>
          <a:xfrm>
            <a:off x="822960" y="505206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052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8006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quina espècie són els fòssils humans més antics trobats fora de l'Àfrica?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çalera"/>
          <p:cNvSpPr/>
          <p:nvPr/>
        </p:nvSpPr>
        <p:spPr>
          <a:xfrm>
            <a:off x="548640" y="548640"/>
            <a:ext cx="6720840" cy="3657600"/>
          </a:xfrm>
          <a:prstGeom prst="roundRect">
            <a:avLst>
              <a:gd name="adj" fmla="val 2750"/>
            </a:avLst>
          </a:prstGeom>
          <a:solidFill>
            <a:srgbClr val="188038"/>
          </a:solidFill>
          <a:ln/>
        </p:spPr>
      </p:sp>
      <p:pic>
        <p:nvPicPr>
          <p:cNvPr id="3" name="Il·lustració d'un menhir, un dolmen i el sol" descr="/home/claude/pre/build/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294081"/>
            <a:ext cx="3566160" cy="1893871"/>
          </a:xfrm>
          <a:prstGeom prst="rect">
            <a:avLst/>
          </a:prstGeom>
        </p:spPr>
      </p:pic>
      <p:sp>
        <p:nvSpPr>
          <p:cNvPr id="4" name="Etiqueta Apartat 3  ·  Fins al 10.000 aC"/>
          <p:cNvSpPr/>
          <p:nvPr/>
        </p:nvSpPr>
        <p:spPr>
          <a:xfrm>
            <a:off x="960120" y="896112"/>
            <a:ext cx="2805379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896112"/>
            <a:ext cx="28053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Apartat 3  ·  Fins al 10.000 aC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3716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Paleolític</a:t>
            </a:r>
            <a:endParaRPr lang="en-US" sz="3800" dirty="0"/>
          </a:p>
        </p:txBody>
      </p:sp>
      <p:sp>
        <p:nvSpPr>
          <p:cNvPr id="7" name="Pregunta guia"/>
          <p:cNvSpPr/>
          <p:nvPr/>
        </p:nvSpPr>
        <p:spPr>
          <a:xfrm>
            <a:off x="548640" y="4389120"/>
            <a:ext cx="6720840" cy="1645920"/>
          </a:xfrm>
          <a:prstGeom prst="roundRect">
            <a:avLst>
              <a:gd name="adj" fmla="val 6111"/>
            </a:avLst>
          </a:prstGeom>
          <a:solidFill>
            <a:srgbClr val="F6F8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 guia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937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haguessis de viure una setmana com un caçador nòmada, què et caldria saber fer?</a:t>
            </a:r>
            <a:endParaRPr lang="en-US" sz="1900" dirty="0"/>
          </a:p>
        </p:txBody>
      </p:sp>
      <p:sp>
        <p:nvSpPr>
          <p:cNvPr id="10" name="Fons El Paleolític"/>
          <p:cNvSpPr/>
          <p:nvPr/>
        </p:nvSpPr>
        <p:spPr>
          <a:xfrm>
            <a:off x="7635240" y="890168"/>
            <a:ext cx="4007815" cy="4007815"/>
          </a:xfrm>
          <a:prstGeom prst="roundRect">
            <a:avLst>
              <a:gd name="adj" fmla="val 2510"/>
            </a:avLst>
          </a:prstGeom>
          <a:solidFill>
            <a:srgbClr val="F6F8FB"/>
          </a:solidFill>
          <a:ln/>
        </p:spPr>
      </p:sp>
      <p:pic>
        <p:nvPicPr>
          <p:cNvPr id="11" name="El Paleolític" descr="/home/claude/pre/build/img/bifa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90168"/>
            <a:ext cx="4007815" cy="40078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5007712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Bifaç de Saint-Acheul (França). Pedra de sílex tallada per les dues cares. Foto: Didier Descouens, Wikimedia Commons, CC BY-SA 4.0.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Caçar, pescar, recol·lectar</a:t>
            </a:r>
            <a:endParaRPr lang="en-US" sz="2800" dirty="0"/>
          </a:p>
        </p:txBody>
      </p:sp>
      <p:sp>
        <p:nvSpPr>
          <p:cNvPr id="5" name="Eren depredadors"/>
          <p:cNvSpPr/>
          <p:nvPr/>
        </p:nvSpPr>
        <p:spPr>
          <a:xfrm>
            <a:off x="548640" y="1371600"/>
            <a:ext cx="4846320" cy="3017520"/>
          </a:xfrm>
          <a:prstGeom prst="roundRect">
            <a:avLst>
              <a:gd name="adj" fmla="val 3333"/>
            </a:avLst>
          </a:prstGeom>
          <a:solidFill>
            <a:srgbClr val="E6F4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5270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Eren depredadors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745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produïen els seus aliments. Prenien de la natura allò que necessitaven.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Vivien de…</a:t>
            </a:r>
            <a:endParaRPr lang="en-US" sz="1700" dirty="0"/>
          </a:p>
        </p:txBody>
      </p:sp>
      <p:sp>
        <p:nvSpPr>
          <p:cNvPr id="9" name="Cercle icona"/>
          <p:cNvSpPr/>
          <p:nvPr/>
        </p:nvSpPr>
        <p:spPr>
          <a:xfrm>
            <a:off x="5760720" y="1888236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0" name="Icona TbBow" descr="/home/claude/pre/build/img/ic/TbBow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1421" y="2008937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10528" y="1828800"/>
            <a:ext cx="51325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caça</a:t>
            </a:r>
            <a:endParaRPr lang="en-US" sz="1900" dirty="0"/>
          </a:p>
        </p:txBody>
      </p:sp>
      <p:sp>
        <p:nvSpPr>
          <p:cNvPr id="12" name="Cercle icona"/>
          <p:cNvSpPr/>
          <p:nvPr/>
        </p:nvSpPr>
        <p:spPr>
          <a:xfrm>
            <a:off x="5760720" y="2756916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Fish" descr="/home/claude/pre/build/img/ic/TbFish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421" y="2877617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10528" y="2697480"/>
            <a:ext cx="51325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pesca</a:t>
            </a:r>
            <a:endParaRPr lang="en-US" sz="1900" dirty="0"/>
          </a:p>
        </p:txBody>
      </p:sp>
      <p:sp>
        <p:nvSpPr>
          <p:cNvPr id="15" name="Cercle icona"/>
          <p:cNvSpPr/>
          <p:nvPr/>
        </p:nvSpPr>
        <p:spPr>
          <a:xfrm>
            <a:off x="5760720" y="3625596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6" name="Icona TbLeaf" descr="/home/claude/pre/build/img/ic/TbLeaf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1" y="374629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10528" y="3566160"/>
            <a:ext cx="51325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recol·lecció </a:t>
            </a:r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fruits silvestres, arrels, ous i mol·luscs.</a:t>
            </a:r>
            <a:endParaRPr lang="en-US" sz="1900" dirty="0"/>
          </a:p>
        </p:txBody>
      </p:sp>
      <p:sp>
        <p:nvSpPr>
          <p:cNvPr id="18" name="D'on ve el nom?"/>
          <p:cNvSpPr/>
          <p:nvPr/>
        </p:nvSpPr>
        <p:spPr>
          <a:xfrm>
            <a:off x="548640" y="4663440"/>
            <a:ext cx="11094415" cy="1325880"/>
          </a:xfrm>
          <a:prstGeom prst="roundRect">
            <a:avLst>
              <a:gd name="adj" fmla="val 7586"/>
            </a:avLst>
          </a:prstGeom>
          <a:solidFill>
            <a:srgbClr val="F6F8FB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481888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D'on ve el nom?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68680" y="51663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 ve del grec i significa «pedra antiga». És l’etapa més llarga de la prehistòria.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Sempre en moviment</a:t>
            </a:r>
            <a:endParaRPr lang="en-US" sz="2800" dirty="0"/>
          </a:p>
        </p:txBody>
      </p:sp>
      <p:sp>
        <p:nvSpPr>
          <p:cNvPr id="5" name="Pas 1"/>
          <p:cNvSpPr/>
          <p:nvPr/>
        </p:nvSpPr>
        <p:spPr>
          <a:xfrm>
            <a:off x="548640" y="1371600"/>
            <a:ext cx="33628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804672" y="16276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Leaf" descr="/home/claude/pre/build/img/ic/TbLeaf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7785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25698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4688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S'acaben els recursos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834513"/>
            <a:ext cx="2850794" cy="1463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bé migren els ramats d'animals que caçaven.</a:t>
            </a:r>
            <a:endParaRPr lang="en-US" sz="1600" dirty="0"/>
          </a:p>
        </p:txBody>
      </p:sp>
      <p:sp>
        <p:nvSpPr>
          <p:cNvPr id="11" name="Fletxa"/>
          <p:cNvSpPr/>
          <p:nvPr/>
        </p:nvSpPr>
        <p:spPr>
          <a:xfrm>
            <a:off x="4071518" y="274320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2" name="Pas 2"/>
          <p:cNvSpPr/>
          <p:nvPr/>
        </p:nvSpPr>
        <p:spPr>
          <a:xfrm>
            <a:off x="4414418" y="1371600"/>
            <a:ext cx="33628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Cercle icona"/>
          <p:cNvSpPr/>
          <p:nvPr/>
        </p:nvSpPr>
        <p:spPr>
          <a:xfrm>
            <a:off x="4670450" y="16276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4" name="Icona TbWalk" descr="/home/claude/pre/build/img/ic/TbWalk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26" y="17785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91477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670450" y="24688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grup es trasllada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4670450" y="2834513"/>
            <a:ext cx="2850794" cy="1463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 un altre lloc amb menjar, aigua i refugi.</a:t>
            </a:r>
            <a:endParaRPr lang="en-US" sz="1600" dirty="0"/>
          </a:p>
        </p:txBody>
      </p:sp>
      <p:sp>
        <p:nvSpPr>
          <p:cNvPr id="18" name="Fletxa"/>
          <p:cNvSpPr/>
          <p:nvPr/>
        </p:nvSpPr>
        <p:spPr>
          <a:xfrm>
            <a:off x="7937297" y="274320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9" name="Pas 3"/>
          <p:cNvSpPr/>
          <p:nvPr/>
        </p:nvSpPr>
        <p:spPr>
          <a:xfrm>
            <a:off x="8280197" y="1371600"/>
            <a:ext cx="33628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Cercle icona"/>
          <p:cNvSpPr/>
          <p:nvPr/>
        </p:nvSpPr>
        <p:spPr>
          <a:xfrm>
            <a:off x="8536229" y="16276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1" name="Icona TbHome" descr="/home/claude/pre/build/img/ic/TbHom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105" y="177850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957255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536229" y="24688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Busquen aixopluc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536229" y="2834513"/>
            <a:ext cx="2850794" cy="1463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l'entrada de coves i abrics rocosos, o en cabanes de branques, ossos i pells.</a:t>
            </a:r>
            <a:endParaRPr lang="en-US" sz="1600" dirty="0"/>
          </a:p>
        </p:txBody>
      </p:sp>
      <p:sp>
        <p:nvSpPr>
          <p:cNvPr id="25" name="Paraula clau · Nòmada"/>
          <p:cNvSpPr/>
          <p:nvPr/>
        </p:nvSpPr>
        <p:spPr>
          <a:xfrm>
            <a:off x="548640" y="4663440"/>
            <a:ext cx="11094415" cy="1325880"/>
          </a:xfrm>
          <a:prstGeom prst="roundRect">
            <a:avLst>
              <a:gd name="adj" fmla="val 7586"/>
            </a:avLst>
          </a:prstGeom>
          <a:solidFill>
            <a:srgbClr val="E6F4E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68680" y="481888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Nòmada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868680" y="51663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 o grup que es desplaça constantment d'un lloc a un altre buscant menjar, aigua o refugi.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món glaçat</a:t>
            </a:r>
            <a:endParaRPr lang="en-US" sz="2800" dirty="0"/>
          </a:p>
        </p:txBody>
      </p:sp>
      <p:sp>
        <p:nvSpPr>
          <p:cNvPr id="5" name="Targeta El moment més fred"/>
          <p:cNvSpPr/>
          <p:nvPr/>
        </p:nvSpPr>
        <p:spPr>
          <a:xfrm>
            <a:off x="548640" y="1371600"/>
            <a:ext cx="3515258" cy="3063240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Snowflake" descr="/home/claude/pre/build/img/ic/TbSnowflak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6002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moment més fred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20.000 anys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9184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Grans capes de gel cobrien el nord d'Europa.</a:t>
            </a:r>
            <a:endParaRPr lang="en-US" sz="1550" dirty="0"/>
          </a:p>
        </p:txBody>
      </p:sp>
      <p:sp>
        <p:nvSpPr>
          <p:cNvPr id="11" name="Targeta El mar era uns"/>
          <p:cNvSpPr/>
          <p:nvPr/>
        </p:nvSpPr>
        <p:spPr>
          <a:xfrm>
            <a:off x="4338218" y="1371600"/>
            <a:ext cx="3515258" cy="3063240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Cercle icona"/>
          <p:cNvSpPr/>
          <p:nvPr/>
        </p:nvSpPr>
        <p:spPr>
          <a:xfrm>
            <a:off x="4566818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Ripple" descr="/home/claude/pre/build/img/ic/TbRipple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7209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2618" y="16002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mar era uns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28600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120 metres més baix</a:t>
            </a:r>
            <a:endParaRPr lang="en-US" sz="2700" dirty="0"/>
          </a:p>
        </p:txBody>
      </p:sp>
      <p:sp>
        <p:nvSpPr>
          <p:cNvPr id="16" name="Text 12"/>
          <p:cNvSpPr txBox="1"/>
          <p:nvPr/>
        </p:nvSpPr>
        <p:spPr>
          <a:xfrm>
            <a:off x="4566818" y="329184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ara.</a:t>
            </a:r>
            <a:endParaRPr lang="en-US" sz="1550" dirty="0"/>
          </a:p>
        </p:txBody>
      </p:sp>
      <p:sp>
        <p:nvSpPr>
          <p:cNvPr id="17" name="Targeta Animals del fred"/>
          <p:cNvSpPr/>
          <p:nvPr/>
        </p:nvSpPr>
        <p:spPr>
          <a:xfrm>
            <a:off x="8127797" y="1371600"/>
            <a:ext cx="3515258" cy="3063240"/>
          </a:xfrm>
          <a:prstGeom prst="roundRect">
            <a:avLst>
              <a:gd name="adj" fmla="val 3284"/>
            </a:avLst>
          </a:prstGeom>
          <a:solidFill>
            <a:srgbClr val="188038"/>
          </a:solidFill>
          <a:ln/>
        </p:spPr>
      </p:sp>
      <p:sp>
        <p:nvSpPr>
          <p:cNvPr id="18" name="Cercle icona"/>
          <p:cNvSpPr/>
          <p:nvPr/>
        </p:nvSpPr>
        <p:spPr>
          <a:xfrm>
            <a:off x="8356397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cona TbPaw" descr="/home/claude/pre/build/img/ic/TbPaw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72090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42197" y="16002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Animals del fred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356397" y="228600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Mamuts</a:t>
            </a:r>
            <a:endParaRPr lang="en-US" sz="2700" dirty="0"/>
          </a:p>
        </p:txBody>
      </p:sp>
      <p:sp>
        <p:nvSpPr>
          <p:cNvPr id="22" name="Text 17"/>
          <p:cNvSpPr txBox="1"/>
          <p:nvPr/>
        </p:nvSpPr>
        <p:spPr>
          <a:xfrm>
            <a:off x="8356397" y="329184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Rinoceronts llanuts i óssos de les cavernes, com els de les Coves del Toll (Moià).</a:t>
            </a:r>
            <a:endParaRPr lang="en-US" sz="1550" dirty="0"/>
          </a:p>
        </p:txBody>
      </p:sp>
      <p:sp>
        <p:nvSpPr>
          <p:cNvPr id="23" name="Paraula clau · Glaciació"/>
          <p:cNvSpPr/>
          <p:nvPr/>
        </p:nvSpPr>
        <p:spPr>
          <a:xfrm>
            <a:off x="548640" y="4663440"/>
            <a:ext cx="11094415" cy="1325880"/>
          </a:xfrm>
          <a:prstGeom prst="roundRect">
            <a:avLst>
              <a:gd name="adj" fmla="val 7586"/>
            </a:avLst>
          </a:prstGeom>
          <a:solidFill>
            <a:srgbClr val="E6F4E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68680" y="481888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Glaciació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8680" y="51663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Època molt llarga de clima fred, en què el gel cobreix grans zones de la Terra.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Sobreviure al fred</a:t>
            </a:r>
            <a:endParaRPr lang="en-US" sz="2800" dirty="0"/>
          </a:p>
        </p:txBody>
      </p:sp>
      <p:sp>
        <p:nvSpPr>
          <p:cNvPr id="5" name="Targeta El foc"/>
          <p:cNvSpPr/>
          <p:nvPr/>
        </p:nvSpPr>
        <p:spPr>
          <a:xfrm>
            <a:off x="548640" y="1371600"/>
            <a:ext cx="3515258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Flame" descr="/home/claude/pre/build/img/ic/TbFlam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309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00200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foc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escalfar-se i fer llum.</a:t>
            </a:r>
            <a:endParaRPr lang="en-US" sz="1700" dirty="0"/>
          </a:p>
        </p:txBody>
      </p:sp>
      <p:sp>
        <p:nvSpPr>
          <p:cNvPr id="10" name="Targeta La roba de pell"/>
          <p:cNvSpPr/>
          <p:nvPr/>
        </p:nvSpPr>
        <p:spPr>
          <a:xfrm>
            <a:off x="4338218" y="1371600"/>
            <a:ext cx="3515258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4566818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Shirt" descr="/home/claude/pre/build/img/ic/TbShir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578" y="17309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98338" y="1600200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roba de pell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33172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protegir-se del fred.</a:t>
            </a:r>
            <a:endParaRPr lang="en-US" sz="1700" dirty="0"/>
          </a:p>
        </p:txBody>
      </p:sp>
      <p:sp>
        <p:nvSpPr>
          <p:cNvPr id="15" name="Targeta Les coves"/>
          <p:cNvSpPr/>
          <p:nvPr/>
        </p:nvSpPr>
        <p:spPr>
          <a:xfrm>
            <a:off x="8127797" y="1371600"/>
            <a:ext cx="3515258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Cercle icona"/>
          <p:cNvSpPr/>
          <p:nvPr/>
        </p:nvSpPr>
        <p:spPr>
          <a:xfrm>
            <a:off x="8356397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Mountain" descr="/home/claude/pre/build/img/ic/TbMountain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156" y="17309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87917" y="1600200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coves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233172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aixoplugar-se.</a:t>
            </a:r>
            <a:endParaRPr lang="en-US" sz="1700" dirty="0"/>
          </a:p>
        </p:txBody>
      </p:sp>
      <p:sp>
        <p:nvSpPr>
          <p:cNvPr id="20" name="Fa uns 11.700 anys s'acaba el gel"/>
          <p:cNvSpPr/>
          <p:nvPr/>
        </p:nvSpPr>
        <p:spPr>
          <a:xfrm>
            <a:off x="548640" y="3429000"/>
            <a:ext cx="5410048" cy="2560320"/>
          </a:xfrm>
          <a:prstGeom prst="roundRect">
            <a:avLst>
              <a:gd name="adj" fmla="val 3929"/>
            </a:avLst>
          </a:prstGeom>
          <a:solidFill>
            <a:srgbClr val="E6F4E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68680" y="358444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11.700 anys s'acaba el gel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68680" y="3931920"/>
            <a:ext cx="476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S'acaba l'última glaciació. El clima es fa més càlid i molts d'aquests animals desapareixen o es desplacen cap al nord.</a:t>
            </a:r>
            <a:endParaRPr lang="en-US" sz="1900" dirty="0"/>
          </a:p>
        </p:txBody>
      </p:sp>
      <p:sp>
        <p:nvSpPr>
          <p:cNvPr id="23" name="Epipaleolític o Mesolític"/>
          <p:cNvSpPr/>
          <p:nvPr/>
        </p:nvSpPr>
        <p:spPr>
          <a:xfrm>
            <a:off x="6233008" y="3429000"/>
            <a:ext cx="5410048" cy="2560320"/>
          </a:xfrm>
          <a:prstGeom prst="roundRect">
            <a:avLst>
              <a:gd name="adj" fmla="val 3929"/>
            </a:avLst>
          </a:prstGeom>
          <a:solidFill>
            <a:srgbClr val="F6F8F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553048" y="358444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Epipaleolític o Mesolític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553048" y="3931920"/>
            <a:ext cx="476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És l'etapa de transició cap al Neolític. Els caçadors s'adapten al nou paisatge amb eines de pedra més petites.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Viure en grup per sobreviure</a:t>
            </a:r>
            <a:endParaRPr lang="en-US" sz="2800" dirty="0"/>
          </a:p>
        </p:txBody>
      </p:sp>
      <p:sp>
        <p:nvSpPr>
          <p:cNvPr id="5" name="Una banda"/>
          <p:cNvSpPr/>
          <p:nvPr/>
        </p:nvSpPr>
        <p:spPr>
          <a:xfrm>
            <a:off x="548640" y="1371600"/>
            <a:ext cx="4846320" cy="3200400"/>
          </a:xfrm>
          <a:prstGeom prst="roundRect">
            <a:avLst>
              <a:gd name="adj" fmla="val 3143"/>
            </a:avLst>
          </a:prstGeom>
          <a:solidFill>
            <a:srgbClr val="F6F8FB"/>
          </a:solidFill>
          <a:ln/>
        </p:spPr>
      </p:sp>
      <p:sp>
        <p:nvSpPr>
          <p:cNvPr id="6" name="Persona"/>
          <p:cNvSpPr/>
          <p:nvPr/>
        </p:nvSpPr>
        <p:spPr>
          <a:xfrm>
            <a:off x="1193292" y="1600200"/>
            <a:ext cx="310896" cy="310896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7" name="Persona"/>
          <p:cNvSpPr/>
          <p:nvPr/>
        </p:nvSpPr>
        <p:spPr>
          <a:xfrm>
            <a:off x="1076706" y="1957730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188038"/>
          </a:solidFill>
          <a:ln/>
        </p:spPr>
      </p:sp>
      <p:sp>
        <p:nvSpPr>
          <p:cNvPr id="8" name="Persona"/>
          <p:cNvSpPr/>
          <p:nvPr/>
        </p:nvSpPr>
        <p:spPr>
          <a:xfrm>
            <a:off x="1931670" y="1600200"/>
            <a:ext cx="310896" cy="310896"/>
          </a:xfrm>
          <a:prstGeom prst="ellipse">
            <a:avLst/>
          </a:prstGeom>
          <a:solidFill>
            <a:srgbClr val="7FC293"/>
          </a:solidFill>
          <a:ln/>
        </p:spPr>
      </p:sp>
      <p:sp>
        <p:nvSpPr>
          <p:cNvPr id="9" name="Persona"/>
          <p:cNvSpPr/>
          <p:nvPr/>
        </p:nvSpPr>
        <p:spPr>
          <a:xfrm>
            <a:off x="1815084" y="1957730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7FC293"/>
          </a:solidFill>
          <a:ln/>
        </p:spPr>
      </p:sp>
      <p:sp>
        <p:nvSpPr>
          <p:cNvPr id="10" name="Persona"/>
          <p:cNvSpPr/>
          <p:nvPr/>
        </p:nvSpPr>
        <p:spPr>
          <a:xfrm>
            <a:off x="2670048" y="1600200"/>
            <a:ext cx="310896" cy="310896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1" name="Persona"/>
          <p:cNvSpPr/>
          <p:nvPr/>
        </p:nvSpPr>
        <p:spPr>
          <a:xfrm>
            <a:off x="2553462" y="1957730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188038"/>
          </a:solidFill>
          <a:ln/>
        </p:spPr>
      </p:sp>
      <p:sp>
        <p:nvSpPr>
          <p:cNvPr id="12" name="Persona"/>
          <p:cNvSpPr/>
          <p:nvPr/>
        </p:nvSpPr>
        <p:spPr>
          <a:xfrm>
            <a:off x="3408426" y="1600200"/>
            <a:ext cx="310896" cy="310896"/>
          </a:xfrm>
          <a:prstGeom prst="ellipse">
            <a:avLst/>
          </a:prstGeom>
          <a:solidFill>
            <a:srgbClr val="7FC293"/>
          </a:solidFill>
          <a:ln/>
        </p:spPr>
      </p:sp>
      <p:sp>
        <p:nvSpPr>
          <p:cNvPr id="13" name="Persona"/>
          <p:cNvSpPr/>
          <p:nvPr/>
        </p:nvSpPr>
        <p:spPr>
          <a:xfrm>
            <a:off x="3291840" y="1957730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7FC293"/>
          </a:solidFill>
          <a:ln/>
        </p:spPr>
      </p:sp>
      <p:sp>
        <p:nvSpPr>
          <p:cNvPr id="14" name="Persona"/>
          <p:cNvSpPr/>
          <p:nvPr/>
        </p:nvSpPr>
        <p:spPr>
          <a:xfrm>
            <a:off x="4146804" y="1600200"/>
            <a:ext cx="310896" cy="310896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5" name="Persona"/>
          <p:cNvSpPr/>
          <p:nvPr/>
        </p:nvSpPr>
        <p:spPr>
          <a:xfrm>
            <a:off x="4030218" y="1957730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188038"/>
          </a:solidFill>
          <a:ln/>
        </p:spPr>
      </p:sp>
      <p:sp>
        <p:nvSpPr>
          <p:cNvPr id="16" name="Persona"/>
          <p:cNvSpPr/>
          <p:nvPr/>
        </p:nvSpPr>
        <p:spPr>
          <a:xfrm>
            <a:off x="1193292" y="2610612"/>
            <a:ext cx="310896" cy="310896"/>
          </a:xfrm>
          <a:prstGeom prst="ellipse">
            <a:avLst/>
          </a:prstGeom>
          <a:solidFill>
            <a:srgbClr val="7FC293"/>
          </a:solidFill>
          <a:ln/>
        </p:spPr>
      </p:sp>
      <p:sp>
        <p:nvSpPr>
          <p:cNvPr id="17" name="Persona"/>
          <p:cNvSpPr/>
          <p:nvPr/>
        </p:nvSpPr>
        <p:spPr>
          <a:xfrm>
            <a:off x="1076706" y="2968142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7FC293"/>
          </a:solidFill>
          <a:ln/>
        </p:spPr>
      </p:sp>
      <p:sp>
        <p:nvSpPr>
          <p:cNvPr id="18" name="Persona"/>
          <p:cNvSpPr/>
          <p:nvPr/>
        </p:nvSpPr>
        <p:spPr>
          <a:xfrm>
            <a:off x="1931670" y="2610612"/>
            <a:ext cx="310896" cy="310896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9" name="Persona"/>
          <p:cNvSpPr/>
          <p:nvPr/>
        </p:nvSpPr>
        <p:spPr>
          <a:xfrm>
            <a:off x="1815084" y="2968142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188038"/>
          </a:solidFill>
          <a:ln/>
        </p:spPr>
      </p:sp>
      <p:sp>
        <p:nvSpPr>
          <p:cNvPr id="20" name="Persona"/>
          <p:cNvSpPr/>
          <p:nvPr/>
        </p:nvSpPr>
        <p:spPr>
          <a:xfrm>
            <a:off x="2670048" y="2610612"/>
            <a:ext cx="310896" cy="310896"/>
          </a:xfrm>
          <a:prstGeom prst="ellipse">
            <a:avLst/>
          </a:prstGeom>
          <a:solidFill>
            <a:srgbClr val="7FC293"/>
          </a:solidFill>
          <a:ln/>
        </p:spPr>
      </p:sp>
      <p:sp>
        <p:nvSpPr>
          <p:cNvPr id="21" name="Persona"/>
          <p:cNvSpPr/>
          <p:nvPr/>
        </p:nvSpPr>
        <p:spPr>
          <a:xfrm>
            <a:off x="2553462" y="2968142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7FC293"/>
          </a:solidFill>
          <a:ln/>
        </p:spPr>
      </p:sp>
      <p:sp>
        <p:nvSpPr>
          <p:cNvPr id="22" name="Persona"/>
          <p:cNvSpPr/>
          <p:nvPr/>
        </p:nvSpPr>
        <p:spPr>
          <a:xfrm>
            <a:off x="3408426" y="2610612"/>
            <a:ext cx="310896" cy="310896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3" name="Persona"/>
          <p:cNvSpPr/>
          <p:nvPr/>
        </p:nvSpPr>
        <p:spPr>
          <a:xfrm>
            <a:off x="3291840" y="2968142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188038"/>
          </a:solidFill>
          <a:ln/>
        </p:spPr>
      </p:sp>
      <p:sp>
        <p:nvSpPr>
          <p:cNvPr id="24" name="Persona"/>
          <p:cNvSpPr/>
          <p:nvPr/>
        </p:nvSpPr>
        <p:spPr>
          <a:xfrm>
            <a:off x="4146804" y="2610612"/>
            <a:ext cx="310896" cy="310896"/>
          </a:xfrm>
          <a:prstGeom prst="ellipse">
            <a:avLst/>
          </a:prstGeom>
          <a:solidFill>
            <a:srgbClr val="7FC293"/>
          </a:solidFill>
          <a:ln/>
        </p:spPr>
      </p:sp>
      <p:sp>
        <p:nvSpPr>
          <p:cNvPr id="25" name="Persona"/>
          <p:cNvSpPr/>
          <p:nvPr/>
        </p:nvSpPr>
        <p:spPr>
          <a:xfrm>
            <a:off x="4030218" y="2968142"/>
            <a:ext cx="544068" cy="544068"/>
          </a:xfrm>
          <a:prstGeom prst="roundRect">
            <a:avLst>
              <a:gd name="adj" fmla="val 35714"/>
            </a:avLst>
          </a:prstGeom>
          <a:solidFill>
            <a:srgbClr val="7FC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3657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Bandes o clans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D'unes 20 a 40 persones, units per llaços familiars.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1371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Tots col·laboraven en les feines</a:t>
            </a:r>
            <a:endParaRPr lang="en-US" sz="1700" dirty="0"/>
          </a:p>
        </p:txBody>
      </p:sp>
      <p:sp>
        <p:nvSpPr>
          <p:cNvPr id="28" name="Cercle icona"/>
          <p:cNvSpPr/>
          <p:nvPr/>
        </p:nvSpPr>
        <p:spPr>
          <a:xfrm>
            <a:off x="5760720" y="1810512"/>
            <a:ext cx="420624" cy="420624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9" name="Icona TbBow" descr="/home/claude/pre/build/img/ic/TbBow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257" y="1903049"/>
            <a:ext cx="235549" cy="235549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6382512" y="1810512"/>
            <a:ext cx="5260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Caçar</a:t>
            </a:r>
            <a:endParaRPr lang="en-US" sz="1700" dirty="0"/>
          </a:p>
        </p:txBody>
      </p:sp>
      <p:sp>
        <p:nvSpPr>
          <p:cNvPr id="31" name="Cercle icona"/>
          <p:cNvSpPr/>
          <p:nvPr/>
        </p:nvSpPr>
        <p:spPr>
          <a:xfrm>
            <a:off x="5760720" y="2359152"/>
            <a:ext cx="420624" cy="420624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32" name="Icona TbLeaf" descr="/home/claude/pre/build/img/ic/TbLeaf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257" y="2451689"/>
            <a:ext cx="235549" cy="235549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382512" y="2359152"/>
            <a:ext cx="5260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Recollir aliments</a:t>
            </a:r>
            <a:endParaRPr lang="en-US" sz="1700" dirty="0"/>
          </a:p>
        </p:txBody>
      </p:sp>
      <p:sp>
        <p:nvSpPr>
          <p:cNvPr id="34" name="Cercle icona"/>
          <p:cNvSpPr/>
          <p:nvPr/>
        </p:nvSpPr>
        <p:spPr>
          <a:xfrm>
            <a:off x="5760720" y="2907792"/>
            <a:ext cx="420624" cy="420624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35" name="Icona TbFlame" descr="/home/claude/pre/build/img/ic/TbFlam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257" y="3000329"/>
            <a:ext cx="235549" cy="235549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382512" y="2907792"/>
            <a:ext cx="5260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Mantenir el foc</a:t>
            </a:r>
            <a:endParaRPr lang="en-US" sz="1700" dirty="0"/>
          </a:p>
        </p:txBody>
      </p:sp>
      <p:sp>
        <p:nvSpPr>
          <p:cNvPr id="37" name="Cercle icona"/>
          <p:cNvSpPr/>
          <p:nvPr/>
        </p:nvSpPr>
        <p:spPr>
          <a:xfrm>
            <a:off x="5760720" y="3456432"/>
            <a:ext cx="420624" cy="420624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38" name="Icona TbHammer" descr="/home/claude/pre/build/img/ic/TbHammer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257" y="3548969"/>
            <a:ext cx="235549" cy="235549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6382512" y="3456432"/>
            <a:ext cx="5260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Fabricar eines</a:t>
            </a:r>
            <a:endParaRPr lang="en-US" sz="1700" dirty="0"/>
          </a:p>
        </p:txBody>
      </p:sp>
      <p:sp>
        <p:nvSpPr>
          <p:cNvPr id="40" name="Cercle icona"/>
          <p:cNvSpPr/>
          <p:nvPr/>
        </p:nvSpPr>
        <p:spPr>
          <a:xfrm>
            <a:off x="5760720" y="4005072"/>
            <a:ext cx="420624" cy="420624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41" name="Icona TbBabyCarriage" descr="/home/claude/pre/build/img/ic/TbBabyCarriage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257" y="4097609"/>
            <a:ext cx="235549" cy="235549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382512" y="4005072"/>
            <a:ext cx="5260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Tenir cura dels infants</a:t>
            </a:r>
            <a:endParaRPr lang="en-US" sz="1700" dirty="0"/>
          </a:p>
        </p:txBody>
      </p:sp>
      <p:sp>
        <p:nvSpPr>
          <p:cNvPr id="43" name="Societats igualitàries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8148"/>
            </a:avLst>
          </a:prstGeom>
          <a:solidFill>
            <a:srgbClr val="E6F4EA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868680" y="491032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Societats igualitàries</a:t>
            </a:r>
            <a:endParaRPr lang="en-US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868680" y="525780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hi havia rics ni pobres, perquè no s’acumulaven béns. Tot el que tenien s’ho havien d’endur a coll quan es traslladaven.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eines de pedra tallada</a:t>
            </a:r>
            <a:endParaRPr lang="en-US" sz="2800" dirty="0"/>
          </a:p>
        </p:txBody>
      </p:sp>
      <p:sp>
        <p:nvSpPr>
          <p:cNvPr id="5" name="Pas 1"/>
          <p:cNvSpPr/>
          <p:nvPr/>
        </p:nvSpPr>
        <p:spPr>
          <a:xfrm>
            <a:off x="548640" y="1371600"/>
            <a:ext cx="3362858" cy="20574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804672" y="1627632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Hammer" descr="/home/claude/pre/build/img/ic/TbHammer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314" y="1738274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25698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286000"/>
            <a:ext cx="28507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Colpejar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635758"/>
            <a:ext cx="2850794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pedra, sovint sílex, amb una altra.</a:t>
            </a:r>
            <a:endParaRPr lang="en-US" sz="1550" dirty="0"/>
          </a:p>
        </p:txBody>
      </p:sp>
      <p:sp>
        <p:nvSpPr>
          <p:cNvPr id="11" name="Fletxa"/>
          <p:cNvSpPr/>
          <p:nvPr/>
        </p:nvSpPr>
        <p:spPr>
          <a:xfrm>
            <a:off x="4071518" y="226314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2" name="Pas 2"/>
          <p:cNvSpPr/>
          <p:nvPr/>
        </p:nvSpPr>
        <p:spPr>
          <a:xfrm>
            <a:off x="4414418" y="1371600"/>
            <a:ext cx="3362858" cy="20574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Cercle icona"/>
          <p:cNvSpPr/>
          <p:nvPr/>
        </p:nvSpPr>
        <p:spPr>
          <a:xfrm>
            <a:off x="4670450" y="1627632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4" name="Icona TbCut" descr="/home/claude/pre/build/img/ic/TbCu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093" y="1738274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91477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670450" y="2286000"/>
            <a:ext cx="28507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Arrencar fragments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670450" y="2635758"/>
            <a:ext cx="2850794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treuen trossos de la pedra.</a:t>
            </a:r>
            <a:endParaRPr lang="en-US" sz="1550" dirty="0"/>
          </a:p>
        </p:txBody>
      </p:sp>
      <p:sp>
        <p:nvSpPr>
          <p:cNvPr id="18" name="Fletxa"/>
          <p:cNvSpPr/>
          <p:nvPr/>
        </p:nvSpPr>
        <p:spPr>
          <a:xfrm>
            <a:off x="7937297" y="226314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9" name="Pas 3"/>
          <p:cNvSpPr/>
          <p:nvPr/>
        </p:nvSpPr>
        <p:spPr>
          <a:xfrm>
            <a:off x="8280197" y="1371600"/>
            <a:ext cx="3362858" cy="20574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Cercle icona"/>
          <p:cNvSpPr/>
          <p:nvPr/>
        </p:nvSpPr>
        <p:spPr>
          <a:xfrm>
            <a:off x="8536229" y="1627632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1" name="Icona TbAxe" descr="/home/claude/pre/build/img/ic/TbAx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871" y="1738274"/>
            <a:ext cx="281635" cy="28163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957255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536229" y="2286000"/>
            <a:ext cx="28507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Vores tallants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536229" y="2635758"/>
            <a:ext cx="2850794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S'obté una eina que talla.</a:t>
            </a:r>
            <a:endParaRPr lang="en-US" sz="1550" dirty="0"/>
          </a:p>
        </p:txBody>
      </p:sp>
      <p:sp>
        <p:nvSpPr>
          <p:cNvPr id="25" name="Targeta Còdols tallats"/>
          <p:cNvSpPr/>
          <p:nvPr/>
        </p:nvSpPr>
        <p:spPr>
          <a:xfrm>
            <a:off x="548640" y="3657600"/>
            <a:ext cx="2602154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Cercle icona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7" name="Icona TbCircle" descr="/home/claude/pre/build/img/ic/TbCircle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3996842"/>
            <a:ext cx="281635" cy="28163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17320" y="3886200"/>
            <a:ext cx="1504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Còdols tallats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77240" y="4526280"/>
            <a:ext cx="21449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primeres eines. Eren senzilles.</a:t>
            </a:r>
            <a:endParaRPr lang="en-US" sz="1500" dirty="0"/>
          </a:p>
        </p:txBody>
      </p:sp>
      <p:sp>
        <p:nvSpPr>
          <p:cNvPr id="30" name="Targeta Bifaços"/>
          <p:cNvSpPr/>
          <p:nvPr/>
        </p:nvSpPr>
        <p:spPr>
          <a:xfrm>
            <a:off x="3379394" y="3657600"/>
            <a:ext cx="2602154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1" name="Cercle icona"/>
          <p:cNvSpPr/>
          <p:nvPr/>
        </p:nvSpPr>
        <p:spPr>
          <a:xfrm>
            <a:off x="3607994" y="3886200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32" name="Icona TbTriangleInverted" descr="/home/claude/pre/build/img/ic/TbTriangleInverted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636" y="3996842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248074" y="3886200"/>
            <a:ext cx="1504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Bifaços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3607994" y="4526280"/>
            <a:ext cx="21449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Tallats per les dues cares, com una navalla multiusos de l’època.</a:t>
            </a:r>
            <a:endParaRPr lang="en-US" sz="1500" dirty="0"/>
          </a:p>
        </p:txBody>
      </p:sp>
      <p:sp>
        <p:nvSpPr>
          <p:cNvPr id="35" name="Targeta Puntes i rascadors"/>
          <p:cNvSpPr/>
          <p:nvPr/>
        </p:nvSpPr>
        <p:spPr>
          <a:xfrm>
            <a:off x="6210148" y="3657600"/>
            <a:ext cx="2602154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6" name="Cercle icona"/>
          <p:cNvSpPr/>
          <p:nvPr/>
        </p:nvSpPr>
        <p:spPr>
          <a:xfrm>
            <a:off x="6438748" y="3886200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37" name="Icona TbArrowNarrowUp" descr="/home/claude/pre/build/img/ic/TbArrowNarrowUp-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3996842"/>
            <a:ext cx="281635" cy="28163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078828" y="3886200"/>
            <a:ext cx="1504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Puntes i rascadors</a:t>
            </a:r>
            <a:endParaRPr lang="en-US" sz="1700" dirty="0"/>
          </a:p>
        </p:txBody>
      </p:sp>
      <p:sp>
        <p:nvSpPr>
          <p:cNvPr id="39" name="Text 31"/>
          <p:cNvSpPr txBox="1"/>
          <p:nvPr/>
        </p:nvSpPr>
        <p:spPr>
          <a:xfrm>
            <a:off x="6438748" y="4526280"/>
            <a:ext cx="21449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Puntes de llança, i rascadors per treballar les pells.</a:t>
            </a:r>
            <a:endParaRPr lang="en-US" sz="1500" dirty="0"/>
          </a:p>
        </p:txBody>
      </p:sp>
      <p:sp>
        <p:nvSpPr>
          <p:cNvPr id="40" name="Targeta Agulles i arpons"/>
          <p:cNvSpPr/>
          <p:nvPr/>
        </p:nvSpPr>
        <p:spPr>
          <a:xfrm>
            <a:off x="9040901" y="3657600"/>
            <a:ext cx="2602154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1" name="Cercle icona"/>
          <p:cNvSpPr/>
          <p:nvPr/>
        </p:nvSpPr>
        <p:spPr>
          <a:xfrm>
            <a:off x="9269501" y="3886200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42" name="Icona TbNeedle" descr="/home/claude/pre/build/img/ic/TbNeedle-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0144" y="3996842"/>
            <a:ext cx="281635" cy="28163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909581" y="3886200"/>
            <a:ext cx="1504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Agulles i arpons</a:t>
            </a:r>
            <a:endParaRPr lang="en-US" sz="1700" dirty="0"/>
          </a:p>
        </p:txBody>
      </p:sp>
      <p:sp>
        <p:nvSpPr>
          <p:cNvPr id="44" name="Text 35"/>
          <p:cNvSpPr txBox="1"/>
          <p:nvPr/>
        </p:nvSpPr>
        <p:spPr>
          <a:xfrm>
            <a:off x="9269501" y="4526280"/>
            <a:ext cx="21449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Fets d'os i banya.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domini del foc</a:t>
            </a:r>
            <a:endParaRPr lang="en-US" sz="2800" dirty="0"/>
          </a:p>
        </p:txBody>
      </p:sp>
      <p:sp>
        <p:nvSpPr>
          <p:cNvPr id="5" name="El gran salt"/>
          <p:cNvSpPr/>
          <p:nvPr/>
        </p:nvSpPr>
        <p:spPr>
          <a:xfrm>
            <a:off x="548640" y="1371600"/>
            <a:ext cx="3657600" cy="4617720"/>
          </a:xfrm>
          <a:prstGeom prst="roundRect">
            <a:avLst>
              <a:gd name="adj" fmla="val 2750"/>
            </a:avLst>
          </a:prstGeom>
          <a:solidFill>
            <a:srgbClr val="188038"/>
          </a:solidFill>
          <a:ln/>
        </p:spPr>
      </p:sp>
      <p:sp>
        <p:nvSpPr>
          <p:cNvPr id="6" name="Cercle icona"/>
          <p:cNvSpPr/>
          <p:nvPr/>
        </p:nvSpPr>
        <p:spPr>
          <a:xfrm>
            <a:off x="868680" y="16916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a TbFlame" descr="/home/claude/pre/build/img/ic/TbFlam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1862633"/>
            <a:ext cx="435254" cy="435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gran salt tecnològic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800.000 anys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Alguns estudis el fan encara més antic.</a:t>
            </a:r>
            <a:endParaRPr lang="en-US" sz="1700" dirty="0"/>
          </a:p>
        </p:txBody>
      </p:sp>
      <p:sp>
        <p:nvSpPr>
          <p:cNvPr id="9" name="Targeta Llum i calor"/>
          <p:cNvSpPr/>
          <p:nvPr/>
        </p:nvSpPr>
        <p:spPr>
          <a:xfrm>
            <a:off x="4480560" y="1371600"/>
            <a:ext cx="346694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Cercle icona"/>
          <p:cNvSpPr/>
          <p:nvPr/>
        </p:nvSpPr>
        <p:spPr>
          <a:xfrm>
            <a:off x="4709160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1" name="Icona TbSun" descr="/home/claude/pre/build/img/ic/TbSun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61" y="17209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600200"/>
            <a:ext cx="2323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Llum i calor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2286000"/>
            <a:ext cx="30097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veure-hi i escalfar-se.</a:t>
            </a:r>
            <a:endParaRPr lang="en-US" sz="1650" dirty="0"/>
          </a:p>
        </p:txBody>
      </p:sp>
      <p:sp>
        <p:nvSpPr>
          <p:cNvPr id="14" name="Targeta Protecció"/>
          <p:cNvSpPr/>
          <p:nvPr/>
        </p:nvSpPr>
        <p:spPr>
          <a:xfrm>
            <a:off x="8176108" y="1371600"/>
            <a:ext cx="346694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Cercle icona"/>
          <p:cNvSpPr/>
          <p:nvPr/>
        </p:nvSpPr>
        <p:spPr>
          <a:xfrm>
            <a:off x="8404708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6" name="Icona TbShield" descr="/home/claude/pre/build/img/ic/TbShield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408" y="17209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0508" y="1600200"/>
            <a:ext cx="2323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Protecció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04708" y="2286000"/>
            <a:ext cx="30097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Espantava els depredadors.</a:t>
            </a:r>
            <a:endParaRPr lang="en-US" sz="1650" dirty="0"/>
          </a:p>
        </p:txBody>
      </p:sp>
      <p:sp>
        <p:nvSpPr>
          <p:cNvPr id="19" name="Targeta Cuinar"/>
          <p:cNvSpPr/>
          <p:nvPr/>
        </p:nvSpPr>
        <p:spPr>
          <a:xfrm>
            <a:off x="4480560" y="3794760"/>
            <a:ext cx="346694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Cercle icona"/>
          <p:cNvSpPr/>
          <p:nvPr/>
        </p:nvSpPr>
        <p:spPr>
          <a:xfrm>
            <a:off x="4709160" y="402336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1" name="Icona TbToolsKitchen2" descr="/home/claude/pre/build/img/ic/TbToolsKitchen2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861" y="41440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4960" y="4023360"/>
            <a:ext cx="2323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Cuinar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4709160" y="4709160"/>
            <a:ext cx="30097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aliments eren més fàcils de digerir i més segurs.</a:t>
            </a:r>
            <a:endParaRPr lang="en-US" sz="1650" dirty="0"/>
          </a:p>
        </p:txBody>
      </p:sp>
      <p:sp>
        <p:nvSpPr>
          <p:cNvPr id="24" name="Targeta Punt de trobada"/>
          <p:cNvSpPr/>
          <p:nvPr/>
        </p:nvSpPr>
        <p:spPr>
          <a:xfrm>
            <a:off x="8176108" y="3794760"/>
            <a:ext cx="346694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Cercle icona"/>
          <p:cNvSpPr/>
          <p:nvPr/>
        </p:nvSpPr>
        <p:spPr>
          <a:xfrm>
            <a:off x="8404708" y="402336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6" name="Icona TbUsersGroup" descr="/home/claude/pre/build/img/ic/TbUsersGroup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5408" y="414406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090508" y="4023360"/>
            <a:ext cx="2323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Punt de trobada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8404708" y="4709160"/>
            <a:ext cx="30097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voltant del foc es parlava, s'ensenyava i s'explicaven històries.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 La cuina i el cervell</a:t>
            </a:r>
            <a:endParaRPr lang="en-US" sz="2800" dirty="0"/>
          </a:p>
        </p:txBody>
      </p:sp>
      <p:sp>
        <p:nvSpPr>
          <p:cNvPr id="5" name="Pas 1"/>
          <p:cNvSpPr/>
          <p:nvPr/>
        </p:nvSpPr>
        <p:spPr>
          <a:xfrm>
            <a:off x="548640" y="1371600"/>
            <a:ext cx="3362858" cy="292608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804672" y="16276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ToolsKitchen2" descr="/home/claude/pre/build/img/ic/TbToolsKitchen2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7785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25698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4688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Cuinar amb foc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834513"/>
            <a:ext cx="2850794" cy="1371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aliments es digereixen més fàcilment.</a:t>
            </a:r>
            <a:endParaRPr lang="en-US" sz="1600" dirty="0"/>
          </a:p>
        </p:txBody>
      </p:sp>
      <p:sp>
        <p:nvSpPr>
          <p:cNvPr id="11" name="Fletxa"/>
          <p:cNvSpPr/>
          <p:nvPr/>
        </p:nvSpPr>
        <p:spPr>
          <a:xfrm>
            <a:off x="4071518" y="269748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2" name="Pas 2"/>
          <p:cNvSpPr/>
          <p:nvPr/>
        </p:nvSpPr>
        <p:spPr>
          <a:xfrm>
            <a:off x="4414418" y="1371600"/>
            <a:ext cx="3362858" cy="292608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Cercle icona"/>
          <p:cNvSpPr/>
          <p:nvPr/>
        </p:nvSpPr>
        <p:spPr>
          <a:xfrm>
            <a:off x="4670450" y="16276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4" name="Icona TbBolt" descr="/home/claude/pre/build/img/ic/TbBol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26" y="17785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91477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670450" y="24688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Estalviar energia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4670450" y="2834513"/>
            <a:ext cx="2850794" cy="1371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cos pot dedicar més energia al cervell.</a:t>
            </a:r>
            <a:endParaRPr lang="en-US" sz="1600" dirty="0"/>
          </a:p>
        </p:txBody>
      </p:sp>
      <p:sp>
        <p:nvSpPr>
          <p:cNvPr id="18" name="Fletxa"/>
          <p:cNvSpPr/>
          <p:nvPr/>
        </p:nvSpPr>
        <p:spPr>
          <a:xfrm>
            <a:off x="7937297" y="269748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9" name="Pas 3"/>
          <p:cNvSpPr/>
          <p:nvPr/>
        </p:nvSpPr>
        <p:spPr>
          <a:xfrm>
            <a:off x="8280197" y="1371600"/>
            <a:ext cx="3362858" cy="292608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Cercle icona"/>
          <p:cNvSpPr/>
          <p:nvPr/>
        </p:nvSpPr>
        <p:spPr>
          <a:xfrm>
            <a:off x="8536229" y="16276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1" name="Icona TbBrain" descr="/home/claude/pre/build/img/ic/TbBrain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105" y="177850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957255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536229" y="24688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cervell més gran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536229" y="2834513"/>
            <a:ext cx="2850794" cy="1371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Alguns científics pensen que, sense la cuina, no hauria crescut tant.</a:t>
            </a:r>
            <a:endParaRPr lang="en-US" sz="1600" dirty="0"/>
          </a:p>
        </p:txBody>
      </p:sp>
      <p:sp>
        <p:nvSpPr>
          <p:cNvPr id="25" name="Saps que…?"/>
          <p:cNvSpPr/>
          <p:nvPr/>
        </p:nvSpPr>
        <p:spPr>
          <a:xfrm>
            <a:off x="548640" y="4572000"/>
            <a:ext cx="11094415" cy="1280160"/>
          </a:xfrm>
          <a:prstGeom prst="roundRect">
            <a:avLst>
              <a:gd name="adj" fmla="val 7857"/>
            </a:avLst>
          </a:prstGeom>
          <a:solidFill>
            <a:srgbClr val="E6F4E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68680" y="472744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868680" y="507492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podria dir que som humans, en part, gràcies a l'estofat.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 i creences. El món simbòlic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més de 40.000 anys, els humans van començar a pintar les parets de les coves.</a:t>
            </a:r>
            <a:endParaRPr lang="en-US" sz="1700" dirty="0"/>
          </a:p>
        </p:txBody>
      </p:sp>
      <p:sp>
        <p:nvSpPr>
          <p:cNvPr id="6" name="Etiqueta Art rupestre"/>
          <p:cNvSpPr/>
          <p:nvPr/>
        </p:nvSpPr>
        <p:spPr>
          <a:xfrm>
            <a:off x="548640" y="1847088"/>
            <a:ext cx="1408176" cy="34747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4708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 rupestre</a:t>
            </a:r>
            <a:endParaRPr lang="en-US" sz="1400" dirty="0"/>
          </a:p>
        </p:txBody>
      </p:sp>
      <p:sp>
        <p:nvSpPr>
          <p:cNvPr id="8" name="Fons Art rupestre"/>
          <p:cNvSpPr/>
          <p:nvPr/>
        </p:nvSpPr>
        <p:spPr>
          <a:xfrm>
            <a:off x="548640" y="2286000"/>
            <a:ext cx="5364328" cy="2240280"/>
          </a:xfrm>
          <a:prstGeom prst="roundRect">
            <a:avLst>
              <a:gd name="adj" fmla="val 4490"/>
            </a:avLst>
          </a:prstGeom>
          <a:solidFill>
            <a:srgbClr val="F6F8FB"/>
          </a:solidFill>
          <a:ln/>
        </p:spPr>
      </p:sp>
      <p:pic>
        <p:nvPicPr>
          <p:cNvPr id="9" name="Art rupestre" descr="/home/claude/pre/build/img/lascau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590" y="2286000"/>
            <a:ext cx="3416427" cy="22402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4636008"/>
            <a:ext cx="536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Pintures i gravats a les parets de coves i abrics. Sobretot animals i mans.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2578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Cova de Lascaux (França), fa entre 17.000 i 22.000 anys. Foto: Prof saxx, Wikimedia Commons, domini públic.</a:t>
            </a:r>
            <a:endParaRPr lang="en-US" sz="1000" dirty="0"/>
          </a:p>
        </p:txBody>
      </p:sp>
      <p:sp>
        <p:nvSpPr>
          <p:cNvPr id="12" name="Etiqueta Art moble"/>
          <p:cNvSpPr/>
          <p:nvPr/>
        </p:nvSpPr>
        <p:spPr>
          <a:xfrm>
            <a:off x="6278728" y="1847088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78728" y="184708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 moble</a:t>
            </a:r>
            <a:endParaRPr lang="en-US" sz="1400" dirty="0"/>
          </a:p>
        </p:txBody>
      </p:sp>
      <p:sp>
        <p:nvSpPr>
          <p:cNvPr id="14" name="Fons Art moble"/>
          <p:cNvSpPr/>
          <p:nvPr/>
        </p:nvSpPr>
        <p:spPr>
          <a:xfrm>
            <a:off x="6278728" y="2286000"/>
            <a:ext cx="5364328" cy="2240280"/>
          </a:xfrm>
          <a:prstGeom prst="roundRect">
            <a:avLst>
              <a:gd name="adj" fmla="val 4490"/>
            </a:avLst>
          </a:prstGeom>
          <a:solidFill>
            <a:srgbClr val="F6F8FB"/>
          </a:solidFill>
          <a:ln/>
        </p:spPr>
      </p:sp>
      <p:pic>
        <p:nvPicPr>
          <p:cNvPr id="15" name="Art moble" descr="/home/claude/pre/build/img/ven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638" y="2286000"/>
            <a:ext cx="1496507" cy="22402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278728" y="4636008"/>
            <a:ext cx="536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Objectes petits que es podien transportar, com les venus paleolítiques.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278728" y="52578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Venus de Willendorf (Àustria), fa uns 30.000 anys. Fa només 11 cm. Foto: Jakub Hałun, Wikimedia Commons, CC BY-SA 4.0.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pintaven?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ho sabem del cert. Els investigadors en proposen diverses explicacions.</a:t>
            </a:r>
            <a:endParaRPr lang="en-US" sz="1700" dirty="0"/>
          </a:p>
        </p:txBody>
      </p:sp>
      <p:sp>
        <p:nvSpPr>
          <p:cNvPr id="6" name="Targeta Rituals per a la caça"/>
          <p:cNvSpPr/>
          <p:nvPr/>
        </p:nvSpPr>
        <p:spPr>
          <a:xfrm>
            <a:off x="548640" y="1920240"/>
            <a:ext cx="3515258" cy="224028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Cercle icona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8" name="Icona TbBow" descr="/home/claude/pre/build/img/ic/TbBow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2695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14884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Rituals per a la caça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3464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Potser volien afavorir la caça.</a:t>
            </a:r>
            <a:endParaRPr lang="en-US" sz="1650" dirty="0"/>
          </a:p>
        </p:txBody>
      </p:sp>
      <p:sp>
        <p:nvSpPr>
          <p:cNvPr id="11" name="Targeta Cerimònies religioses"/>
          <p:cNvSpPr/>
          <p:nvPr/>
        </p:nvSpPr>
        <p:spPr>
          <a:xfrm>
            <a:off x="4338218" y="1920240"/>
            <a:ext cx="3515258" cy="224028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Cercle icona"/>
          <p:cNvSpPr/>
          <p:nvPr/>
        </p:nvSpPr>
        <p:spPr>
          <a:xfrm>
            <a:off x="4566818" y="214884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Sparkles" descr="/home/claude/pre/build/img/ic/TbSparkles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22695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2618" y="214884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Cerimònies religioses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83464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Potser formaven part de les seves creences.</a:t>
            </a:r>
            <a:endParaRPr lang="en-US" sz="1650" dirty="0"/>
          </a:p>
        </p:txBody>
      </p:sp>
      <p:sp>
        <p:nvSpPr>
          <p:cNvPr id="16" name="Targeta Explicar històries"/>
          <p:cNvSpPr/>
          <p:nvPr/>
        </p:nvSpPr>
        <p:spPr>
          <a:xfrm>
            <a:off x="8127797" y="1920240"/>
            <a:ext cx="3515258" cy="224028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Cercle icona"/>
          <p:cNvSpPr/>
          <p:nvPr/>
        </p:nvSpPr>
        <p:spPr>
          <a:xfrm>
            <a:off x="8356397" y="214884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8" name="Icona TbBook" descr="/home/claude/pre/build/img/ic/TbBook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22695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42197" y="214884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Explicar històries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83464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Potser era una manera de contar i recordar.</a:t>
            </a:r>
            <a:endParaRPr lang="en-US" sz="1650" dirty="0"/>
          </a:p>
        </p:txBody>
      </p:sp>
      <p:sp>
        <p:nvSpPr>
          <p:cNvPr id="21" name="El que sí que sabem"/>
          <p:cNvSpPr/>
          <p:nvPr/>
        </p:nvSpPr>
        <p:spPr>
          <a:xfrm>
            <a:off x="548640" y="4389120"/>
            <a:ext cx="11094415" cy="1600200"/>
          </a:xfrm>
          <a:prstGeom prst="roundRect">
            <a:avLst>
              <a:gd name="adj" fmla="val 6286"/>
            </a:avLst>
          </a:prstGeom>
          <a:solidFill>
            <a:srgbClr val="E6F4EA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68680" y="454456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que sí que sabem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68680" y="489204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Aquells humans ja tenien pensament simbòlic. Eren capaços d'imaginar i representar idees.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Enterraments i decoracions</a:t>
            </a:r>
            <a:endParaRPr lang="en-US" sz="2800" dirty="0"/>
          </a:p>
        </p:txBody>
      </p:sp>
      <p:sp>
        <p:nvSpPr>
          <p:cNvPr id="5" name="Targeta Enterraments"/>
          <p:cNvSpPr/>
          <p:nvPr/>
        </p:nvSpPr>
        <p:spPr>
          <a:xfrm>
            <a:off x="548640" y="1371600"/>
            <a:ext cx="5394960" cy="329184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HeartHandshake" descr="/home/claude/pre/build/img/ic/TbHeartHandshak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600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Enterraments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231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neandertals i els sapiens enterraven els seus morts, de vegades amb objectes. Fa pensar que es preguntaven què hi ha després de la mort.</a:t>
            </a:r>
            <a:endParaRPr lang="en-US" sz="1900" dirty="0"/>
          </a:p>
        </p:txBody>
      </p:sp>
      <p:sp>
        <p:nvSpPr>
          <p:cNvPr id="10" name="Targeta Cova Foradada (Calafell)"/>
          <p:cNvSpPr/>
          <p:nvPr/>
        </p:nvSpPr>
        <p:spPr>
          <a:xfrm>
            <a:off x="6217920" y="1371600"/>
            <a:ext cx="5425135" cy="3291840"/>
          </a:xfrm>
          <a:prstGeom prst="roundRect">
            <a:avLst>
              <a:gd name="adj" fmla="val 3056"/>
            </a:avLst>
          </a:prstGeom>
          <a:solidFill>
            <a:srgbClr val="188038"/>
          </a:solidFill>
          <a:ln/>
        </p:spPr>
      </p:sp>
      <p:sp>
        <p:nvSpPr>
          <p:cNvPr id="11" name="Cercle icona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a TbFeather" descr="/home/claude/pre/build/img/ic/TbFeather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7209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160020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Cova Foradada (Calafell)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286000"/>
            <a:ext cx="49679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Més de 39.000 anys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3291840"/>
            <a:ext cx="4967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urpa d'àliga que un neandertal feia servir com a penjoll. Els neandertals també es feien adorns.</a:t>
            </a:r>
            <a:endParaRPr lang="en-US" sz="1550" dirty="0"/>
          </a:p>
        </p:txBody>
      </p:sp>
      <p:sp>
        <p:nvSpPr>
          <p:cNvPr id="16" name="Recorda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9167"/>
            </a:avLst>
          </a:prstGeom>
          <a:solidFill>
            <a:srgbClr val="F6F8F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8680" y="504748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Recorda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539496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enterraments i les decoracions també demostren que tenien pensament simbòlic.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Comprova-ho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Paraules clau</a:t>
            </a:r>
            <a:endParaRPr lang="en-US" sz="1400" dirty="0"/>
          </a:p>
        </p:txBody>
      </p:sp>
      <p:sp>
        <p:nvSpPr>
          <p:cNvPr id="6" name="Etiqueta Paleolític"/>
          <p:cNvSpPr/>
          <p:nvPr/>
        </p:nvSpPr>
        <p:spPr>
          <a:xfrm>
            <a:off x="548640" y="1755648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</a:t>
            </a:r>
            <a:endParaRPr lang="en-US" sz="1500" dirty="0"/>
          </a:p>
        </p:txBody>
      </p:sp>
      <p:sp>
        <p:nvSpPr>
          <p:cNvPr id="8" name="Etiqueta Nòmada"/>
          <p:cNvSpPr/>
          <p:nvPr/>
        </p:nvSpPr>
        <p:spPr>
          <a:xfrm>
            <a:off x="1975104" y="175564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75104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Nòmada</a:t>
            </a:r>
            <a:endParaRPr lang="en-US" sz="1500" dirty="0"/>
          </a:p>
        </p:txBody>
      </p:sp>
      <p:sp>
        <p:nvSpPr>
          <p:cNvPr id="10" name="Etiqueta Glaciació"/>
          <p:cNvSpPr/>
          <p:nvPr/>
        </p:nvSpPr>
        <p:spPr>
          <a:xfrm>
            <a:off x="2999232" y="1755648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99232" y="1755648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Glaciació</a:t>
            </a:r>
            <a:endParaRPr lang="en-US" sz="1500" dirty="0"/>
          </a:p>
        </p:txBody>
      </p:sp>
      <p:sp>
        <p:nvSpPr>
          <p:cNvPr id="12" name="Etiqueta Societat igualitària"/>
          <p:cNvSpPr/>
          <p:nvPr/>
        </p:nvSpPr>
        <p:spPr>
          <a:xfrm>
            <a:off x="4325112" y="1755648"/>
            <a:ext cx="2322576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25112" y="175564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Societat igualitària</a:t>
            </a:r>
            <a:endParaRPr lang="en-US" sz="1500" dirty="0"/>
          </a:p>
        </p:txBody>
      </p:sp>
      <p:sp>
        <p:nvSpPr>
          <p:cNvPr id="14" name="Etiqueta Art rupestre"/>
          <p:cNvSpPr/>
          <p:nvPr/>
        </p:nvSpPr>
        <p:spPr>
          <a:xfrm>
            <a:off x="6757416" y="1755648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57416" y="17556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 rupestre</a:t>
            </a:r>
            <a:endParaRPr lang="en-US" sz="1500" dirty="0"/>
          </a:p>
        </p:txBody>
      </p:sp>
      <p:sp>
        <p:nvSpPr>
          <p:cNvPr id="16" name="Etiqueta Art moble"/>
          <p:cNvSpPr/>
          <p:nvPr/>
        </p:nvSpPr>
        <p:spPr>
          <a:xfrm>
            <a:off x="8385048" y="1755648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5048" y="1755648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 moble</a:t>
            </a:r>
            <a:endParaRPr lang="en-US" sz="1500" dirty="0"/>
          </a:p>
        </p:txBody>
      </p:sp>
      <p:sp>
        <p:nvSpPr>
          <p:cNvPr id="18" name="Pregunta 1"/>
          <p:cNvSpPr/>
          <p:nvPr/>
        </p:nvSpPr>
        <p:spPr>
          <a:xfrm>
            <a:off x="548640" y="25146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Número 1"/>
          <p:cNvSpPr/>
          <p:nvPr/>
        </p:nvSpPr>
        <p:spPr>
          <a:xfrm>
            <a:off x="822960" y="26746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25146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els humans del Paleolític eren nòmades?</a:t>
            </a:r>
            <a:endParaRPr lang="en-US" sz="1900" dirty="0"/>
          </a:p>
        </p:txBody>
      </p:sp>
      <p:sp>
        <p:nvSpPr>
          <p:cNvPr id="22" name="Pregunta 2"/>
          <p:cNvSpPr/>
          <p:nvPr/>
        </p:nvSpPr>
        <p:spPr>
          <a:xfrm>
            <a:off x="548640" y="34290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Número 2"/>
          <p:cNvSpPr/>
          <p:nvPr/>
        </p:nvSpPr>
        <p:spPr>
          <a:xfrm>
            <a:off x="822960" y="35890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589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4290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diem que eren societats igualitàries?</a:t>
            </a:r>
            <a:endParaRPr lang="en-US" sz="1900" dirty="0"/>
          </a:p>
        </p:txBody>
      </p:sp>
      <p:sp>
        <p:nvSpPr>
          <p:cNvPr id="26" name="Pregunta 3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Número 3"/>
          <p:cNvSpPr/>
          <p:nvPr/>
        </p:nvSpPr>
        <p:spPr>
          <a:xfrm>
            <a:off x="822960" y="45034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503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3434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el foc, la roba de pell i les coves eren tan importants al Paleolític?</a:t>
            </a:r>
            <a:endParaRPr lang="en-US" sz="1900" dirty="0"/>
          </a:p>
        </p:txBody>
      </p:sp>
      <p:sp>
        <p:nvSpPr>
          <p:cNvPr id="30" name="Pregunta 4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1" name="Número 4"/>
          <p:cNvSpPr/>
          <p:nvPr/>
        </p:nvSpPr>
        <p:spPr>
          <a:xfrm>
            <a:off x="822960" y="54178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2578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Quina diferència hi ha entre l'art rupestre i l'art moble?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çalera"/>
          <p:cNvSpPr/>
          <p:nvPr/>
        </p:nvSpPr>
        <p:spPr>
          <a:xfrm>
            <a:off x="548640" y="548640"/>
            <a:ext cx="6720840" cy="3657600"/>
          </a:xfrm>
          <a:prstGeom prst="roundRect">
            <a:avLst>
              <a:gd name="adj" fmla="val 2750"/>
            </a:avLst>
          </a:prstGeom>
          <a:solidFill>
            <a:srgbClr val="188038"/>
          </a:solidFill>
          <a:ln/>
        </p:spPr>
      </p:sp>
      <p:pic>
        <p:nvPicPr>
          <p:cNvPr id="3" name="Il·lustració d'un menhir, un dolmen i el sol" descr="/home/claude/pre/build/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294081"/>
            <a:ext cx="3566160" cy="1893871"/>
          </a:xfrm>
          <a:prstGeom prst="rect">
            <a:avLst/>
          </a:prstGeom>
        </p:spPr>
      </p:pic>
      <p:sp>
        <p:nvSpPr>
          <p:cNvPr id="4" name="Etiqueta Apartat 4  ·  Des del 10.000 aC"/>
          <p:cNvSpPr/>
          <p:nvPr/>
        </p:nvSpPr>
        <p:spPr>
          <a:xfrm>
            <a:off x="960120" y="896112"/>
            <a:ext cx="2805379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896112"/>
            <a:ext cx="28053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Apartat 4  ·  Des del 10.000 aC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3716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Neolític</a:t>
            </a:r>
            <a:endParaRPr lang="en-US" sz="3800" dirty="0"/>
          </a:p>
        </p:txBody>
      </p:sp>
      <p:sp>
        <p:nvSpPr>
          <p:cNvPr id="7" name="Pregunta guia"/>
          <p:cNvSpPr/>
          <p:nvPr/>
        </p:nvSpPr>
        <p:spPr>
          <a:xfrm>
            <a:off x="548640" y="4389120"/>
            <a:ext cx="6720840" cy="1645920"/>
          </a:xfrm>
          <a:prstGeom prst="roundRect">
            <a:avLst>
              <a:gd name="adj" fmla="val 6111"/>
            </a:avLst>
          </a:prstGeom>
          <a:solidFill>
            <a:srgbClr val="F6F8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 guia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937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 fa que els humans conreem el blat, i què va canviar quan ho vam aprendre?</a:t>
            </a:r>
            <a:endParaRPr lang="en-US" sz="1900" dirty="0"/>
          </a:p>
        </p:txBody>
      </p:sp>
      <p:sp>
        <p:nvSpPr>
          <p:cNvPr id="10" name="Fons El Neolític"/>
          <p:cNvSpPr/>
          <p:nvPr/>
        </p:nvSpPr>
        <p:spPr>
          <a:xfrm>
            <a:off x="7635240" y="1558138"/>
            <a:ext cx="4007815" cy="2671877"/>
          </a:xfrm>
          <a:prstGeom prst="roundRect">
            <a:avLst>
              <a:gd name="adj" fmla="val 3765"/>
            </a:avLst>
          </a:prstGeom>
          <a:solidFill>
            <a:srgbClr val="F6F8FB"/>
          </a:solidFill>
          <a:ln/>
        </p:spPr>
      </p:sp>
      <p:pic>
        <p:nvPicPr>
          <p:cNvPr id="11" name="El Neolític" descr="/home/claude/pre/build/img/cas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58138"/>
            <a:ext cx="4007815" cy="267187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4339742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Interior d’una casa neolítica reconstruïda. Museu dels Túmuls de Bougon (França). Foto: Ismoon, Wikimedia Commons, CC BY-SA 4.0.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depredadors a productors</a:t>
            </a:r>
            <a:endParaRPr lang="en-US" sz="2800" dirty="0"/>
          </a:p>
        </p:txBody>
      </p:sp>
      <p:sp>
        <p:nvSpPr>
          <p:cNvPr id="5" name="Depredadors"/>
          <p:cNvSpPr/>
          <p:nvPr/>
        </p:nvSpPr>
        <p:spPr>
          <a:xfrm>
            <a:off x="548640" y="1371600"/>
            <a:ext cx="5090008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E8EAED"/>
          </a:solidFill>
          <a:ln/>
        </p:spPr>
      </p:sp>
      <p:pic>
        <p:nvPicPr>
          <p:cNvPr id="7" name="Icona TbBow" descr="/home/claude/pre/build/img/ic/TbBow-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816913"/>
            <a:ext cx="435254" cy="435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645920"/>
            <a:ext cx="3626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Depredadors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4541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Prenien de la natura el que necessitaven, però no produïen aliments.</a:t>
            </a:r>
            <a:endParaRPr lang="en-US" sz="2000" dirty="0"/>
          </a:p>
        </p:txBody>
      </p:sp>
      <p:sp>
        <p:nvSpPr>
          <p:cNvPr id="10" name="Fletxa"/>
          <p:cNvSpPr/>
          <p:nvPr/>
        </p:nvSpPr>
        <p:spPr>
          <a:xfrm>
            <a:off x="6004408" y="260604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1" name="Productors"/>
          <p:cNvSpPr/>
          <p:nvPr/>
        </p:nvSpPr>
        <p:spPr>
          <a:xfrm>
            <a:off x="6553048" y="1371600"/>
            <a:ext cx="5090008" cy="2743200"/>
          </a:xfrm>
          <a:prstGeom prst="roundRect">
            <a:avLst>
              <a:gd name="adj" fmla="val 3667"/>
            </a:avLst>
          </a:prstGeom>
          <a:solidFill>
            <a:srgbClr val="188038"/>
          </a:solidFill>
          <a:ln/>
        </p:spPr>
      </p:sp>
      <p:sp>
        <p:nvSpPr>
          <p:cNvPr id="12" name="Cercle icona"/>
          <p:cNvSpPr/>
          <p:nvPr/>
        </p:nvSpPr>
        <p:spPr>
          <a:xfrm>
            <a:off x="6827368" y="1645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cona TbWheat" descr="/home/claude/pre/build/img/ic/TbWhea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360" y="181691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33208" y="1645920"/>
            <a:ext cx="3626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Productors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Neolític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6827368" y="2651760"/>
            <a:ext cx="4541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 aprendre a produir els seus propis aliments.</a:t>
            </a:r>
            <a:endParaRPr lang="en-US" sz="2000" dirty="0"/>
          </a:p>
        </p:txBody>
      </p:sp>
      <p:sp>
        <p:nvSpPr>
          <p:cNvPr id="16" name="La revolució neolítica"/>
          <p:cNvSpPr/>
          <p:nvPr/>
        </p:nvSpPr>
        <p:spPr>
          <a:xfrm>
            <a:off x="548640" y="4389120"/>
            <a:ext cx="11094415" cy="1463040"/>
          </a:xfrm>
          <a:prstGeom prst="roundRect">
            <a:avLst>
              <a:gd name="adj" fmla="val 6875"/>
            </a:avLst>
          </a:prstGeom>
          <a:solidFill>
            <a:srgbClr val="E6F4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8680" y="454456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revolució neolítica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 començar fa uns 12.000 anys, al final de l'última glaciació. És un dels canvis més importants de tota la història de la humanitat.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Agricultura i ramaderia</a:t>
            </a:r>
            <a:endParaRPr lang="en-US" sz="2800" dirty="0"/>
          </a:p>
        </p:txBody>
      </p:sp>
      <p:sp>
        <p:nvSpPr>
          <p:cNvPr id="5" name="Targeta L'agricultura"/>
          <p:cNvSpPr/>
          <p:nvPr/>
        </p:nvSpPr>
        <p:spPr>
          <a:xfrm>
            <a:off x="548640" y="1371600"/>
            <a:ext cx="5410048" cy="278892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7276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L'agricultura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8614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Cereals.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Blat i ordi.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Llegums.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Llenties, pèsols i cigrons.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lli.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planta per fer fil i teixir.</a:t>
            </a:r>
            <a:endParaRPr lang="en-US" sz="1900" dirty="0"/>
          </a:p>
        </p:txBody>
      </p:sp>
      <p:sp>
        <p:nvSpPr>
          <p:cNvPr id="8" name="Targeta La ramaderia"/>
          <p:cNvSpPr/>
          <p:nvPr/>
        </p:nvSpPr>
        <p:spPr>
          <a:xfrm>
            <a:off x="6233008" y="1371600"/>
            <a:ext cx="5410048" cy="278892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157276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ramaderia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057400"/>
            <a:ext cx="48614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Cabra, ovella, porc i bou.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Domesticats fa entre 11.000 i 10.000 anys.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a què?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Carn i pells. Més tard, també llet i força per llaurar.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gos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 era domèstic des del Paleolític.</a:t>
            </a:r>
            <a:endParaRPr lang="en-US" sz="1900" dirty="0"/>
          </a:p>
        </p:txBody>
      </p:sp>
      <p:sp>
        <p:nvSpPr>
          <p:cNvPr id="11" name="Paraula clau · Domesticar"/>
          <p:cNvSpPr/>
          <p:nvPr/>
        </p:nvSpPr>
        <p:spPr>
          <a:xfrm>
            <a:off x="548640" y="4389120"/>
            <a:ext cx="11094415" cy="1600200"/>
          </a:xfrm>
          <a:prstGeom prst="roundRect">
            <a:avLst>
              <a:gd name="adj" fmla="val 6286"/>
            </a:avLst>
          </a:prstGeom>
          <a:solidFill>
            <a:srgbClr val="E6F4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54456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Domesticar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9204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Conrear plantes o criar animals salvatges sota el control de les persones durant moltes generacions, fins que canvien i passen a dependre dels humans.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va passar?</a:t>
            </a:r>
            <a:endParaRPr lang="en-US" sz="2800" dirty="0"/>
          </a:p>
        </p:txBody>
      </p:sp>
      <p:sp>
        <p:nvSpPr>
          <p:cNvPr id="5" name="Pas 1"/>
          <p:cNvSpPr/>
          <p:nvPr/>
        </p:nvSpPr>
        <p:spPr>
          <a:xfrm>
            <a:off x="548640" y="1371600"/>
            <a:ext cx="2464994" cy="3108960"/>
          </a:xfrm>
          <a:prstGeom prst="roundRect">
            <a:avLst>
              <a:gd name="adj" fmla="val 408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804672" y="1627632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Sun" descr="/home/claude/pre/build/img/ic/TbSun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1758391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27834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377440"/>
            <a:ext cx="19529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clima més càlid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727198"/>
            <a:ext cx="1952930" cy="166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final de l’última glaciació, més càlid i més humit.</a:t>
            </a:r>
            <a:endParaRPr lang="en-US" sz="1550" dirty="0"/>
          </a:p>
        </p:txBody>
      </p:sp>
      <p:sp>
        <p:nvSpPr>
          <p:cNvPr id="11" name="Fletxa"/>
          <p:cNvSpPr/>
          <p:nvPr/>
        </p:nvSpPr>
        <p:spPr>
          <a:xfrm>
            <a:off x="3127934" y="278892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2" name="Pas 2"/>
          <p:cNvSpPr/>
          <p:nvPr/>
        </p:nvSpPr>
        <p:spPr>
          <a:xfrm>
            <a:off x="3425114" y="1371600"/>
            <a:ext cx="2464994" cy="3108960"/>
          </a:xfrm>
          <a:prstGeom prst="roundRect">
            <a:avLst>
              <a:gd name="adj" fmla="val 408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Cercle icona"/>
          <p:cNvSpPr/>
          <p:nvPr/>
        </p:nvSpPr>
        <p:spPr>
          <a:xfrm>
            <a:off x="3681146" y="1627632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4" name="Icona TbPlant" descr="/home/claude/pre/build/img/ic/TbPlan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905" y="1758391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04308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3681146" y="2377440"/>
            <a:ext cx="19529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Cereals salvatges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3681146" y="2727198"/>
            <a:ext cx="1952930" cy="166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Pròxim Orient creixien blat i ordi salvatges. Ja en collien les espigues.</a:t>
            </a:r>
            <a:endParaRPr lang="en-US" sz="1550" dirty="0"/>
          </a:p>
        </p:txBody>
      </p:sp>
      <p:sp>
        <p:nvSpPr>
          <p:cNvPr id="18" name="Fletxa"/>
          <p:cNvSpPr/>
          <p:nvPr/>
        </p:nvSpPr>
        <p:spPr>
          <a:xfrm>
            <a:off x="6004408" y="278892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9" name="Pas 3"/>
          <p:cNvSpPr/>
          <p:nvPr/>
        </p:nvSpPr>
        <p:spPr>
          <a:xfrm>
            <a:off x="6301588" y="1371600"/>
            <a:ext cx="2464994" cy="3108960"/>
          </a:xfrm>
          <a:prstGeom prst="roundRect">
            <a:avLst>
              <a:gd name="adj" fmla="val 408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Cercle icona"/>
          <p:cNvSpPr/>
          <p:nvPr/>
        </p:nvSpPr>
        <p:spPr>
          <a:xfrm>
            <a:off x="6557620" y="1627632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1" name="Icona TbPlant2" descr="/home/claude/pre/build/img/ic/TbPlant2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379" y="1758391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080781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6557620" y="2377440"/>
            <a:ext cx="195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Sembrar a prop de casa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557620" y="3012948"/>
            <a:ext cx="1952930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Guardaven una part de les llavors per a l'any següent.</a:t>
            </a:r>
            <a:endParaRPr lang="en-US" sz="1550" dirty="0"/>
          </a:p>
        </p:txBody>
      </p:sp>
      <p:sp>
        <p:nvSpPr>
          <p:cNvPr id="25" name="Fletxa"/>
          <p:cNvSpPr/>
          <p:nvPr/>
        </p:nvSpPr>
        <p:spPr>
          <a:xfrm>
            <a:off x="8880881" y="278892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6" name="Pas 4"/>
          <p:cNvSpPr/>
          <p:nvPr/>
        </p:nvSpPr>
        <p:spPr>
          <a:xfrm>
            <a:off x="9178061" y="1371600"/>
            <a:ext cx="2464994" cy="3108960"/>
          </a:xfrm>
          <a:prstGeom prst="roundRect">
            <a:avLst>
              <a:gd name="adj" fmla="val 408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Cercle icona"/>
          <p:cNvSpPr/>
          <p:nvPr/>
        </p:nvSpPr>
        <p:spPr>
          <a:xfrm>
            <a:off x="9434093" y="1627632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8" name="Icona TbWheat" descr="/home/claude/pre/build/img/ic/TbWheat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853" y="1758391"/>
            <a:ext cx="332842" cy="33284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957255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4"/>
          <p:cNvSpPr txBox="1"/>
          <p:nvPr/>
        </p:nvSpPr>
        <p:spPr>
          <a:xfrm>
            <a:off x="9434093" y="2377440"/>
            <a:ext cx="195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primers cereals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9434093" y="3012948"/>
            <a:ext cx="1952930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cap de molts segles, aquelles plantes van canviar.</a:t>
            </a:r>
            <a:endParaRPr lang="en-US" sz="1550" dirty="0"/>
          </a:p>
        </p:txBody>
      </p:sp>
      <p:sp>
        <p:nvSpPr>
          <p:cNvPr id="32" name="Ningú no ho va inventar d'un dia per l'altre"/>
          <p:cNvSpPr/>
          <p:nvPr/>
        </p:nvSpPr>
        <p:spPr>
          <a:xfrm>
            <a:off x="548640" y="4709160"/>
            <a:ext cx="11094415" cy="1280160"/>
          </a:xfrm>
          <a:prstGeom prst="roundRect">
            <a:avLst>
              <a:gd name="adj" fmla="val 7857"/>
            </a:avLst>
          </a:prstGeom>
          <a:solidFill>
            <a:srgbClr val="F6F8FB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68680" y="486460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Ningú no ho va inventar d'un dia per l'altre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868680" y="521208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investigadors encara discuteixen per què van fer aquest pas, però sense el canvi de clima no hauria estat possible.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va començar?</a:t>
            </a:r>
            <a:endParaRPr lang="en-US" sz="2800" dirty="0"/>
          </a:p>
        </p:txBody>
      </p:sp>
      <p:sp>
        <p:nvSpPr>
          <p:cNvPr id="5" name="Fons On va néixer l'agricultura"/>
          <p:cNvSpPr/>
          <p:nvPr/>
        </p:nvSpPr>
        <p:spPr>
          <a:xfrm>
            <a:off x="548640" y="1371600"/>
            <a:ext cx="7315200" cy="3440828"/>
          </a:xfrm>
          <a:prstGeom prst="roundRect">
            <a:avLst>
              <a:gd name="adj" fmla="val 2923"/>
            </a:avLst>
          </a:prstGeom>
          <a:solidFill>
            <a:srgbClr val="F6F8FB"/>
          </a:solidFill>
          <a:ln/>
        </p:spPr>
      </p:sp>
      <p:pic>
        <p:nvPicPr>
          <p:cNvPr id="6" name="On va néixer l'agricultura" descr="/home/claude/pre/build/img/foc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34408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90386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va néixer l'agricultura. Els punts grans són els grans focus. Les dates canvien una mica segons els estudis. Mapa: professordesocials.cat, CC BY-SA 4.0. Base cartogràfica: Natural Earth (domini públic).</a:t>
            </a:r>
            <a:endParaRPr lang="en-US" sz="1000" dirty="0"/>
          </a:p>
        </p:txBody>
      </p:sp>
      <p:sp>
        <p:nvSpPr>
          <p:cNvPr id="8" name="Creixent Fèrtil"/>
          <p:cNvSpPr/>
          <p:nvPr/>
        </p:nvSpPr>
        <p:spPr>
          <a:xfrm>
            <a:off x="8183880" y="1371600"/>
            <a:ext cx="3459175" cy="2286000"/>
          </a:xfrm>
          <a:prstGeom prst="roundRect">
            <a:avLst>
              <a:gd name="adj" fmla="val 4400"/>
            </a:avLst>
          </a:prstGeom>
          <a:solidFill>
            <a:srgbClr val="E6F4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0" y="1527048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Creixent Fèrtil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1874520"/>
            <a:ext cx="28190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Franja de terres fèrtils en forma de mitja lluna, al Pròxim Orient. Hi van viure els primers pagesos del món.</a:t>
            </a:r>
            <a:endParaRPr lang="en-US" sz="1600" dirty="0"/>
          </a:p>
        </p:txBody>
      </p:sp>
      <p:sp>
        <p:nvSpPr>
          <p:cNvPr id="11" name="Més de deu focus"/>
          <p:cNvSpPr/>
          <p:nvPr/>
        </p:nvSpPr>
        <p:spPr>
          <a:xfrm>
            <a:off x="8183880" y="3840480"/>
            <a:ext cx="3459175" cy="2148840"/>
          </a:xfrm>
          <a:prstGeom prst="roundRect">
            <a:avLst>
              <a:gd name="adj" fmla="val 4681"/>
            </a:avLst>
          </a:prstGeom>
          <a:solidFill>
            <a:srgbClr val="F6F8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3995928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Més de deu focus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4343400"/>
            <a:ext cx="28190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L'agricultura va néixer en molts llocs sense contacte entre ells. No va ser l'invent d'un sol poble.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Quatre grans focus</a:t>
            </a:r>
            <a:endParaRPr lang="en-US" sz="2800" dirty="0"/>
          </a:p>
        </p:txBody>
      </p:sp>
      <p:sp>
        <p:nvSpPr>
          <p:cNvPr id="5" name="Targeta Pròxim Orient"/>
          <p:cNvSpPr/>
          <p:nvPr/>
        </p:nvSpPr>
        <p:spPr>
          <a:xfrm>
            <a:off x="548640" y="1371600"/>
            <a:ext cx="2602154" cy="3429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Wheat" descr="/home/claude/pre/build/img/ic/TbWheat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309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331720"/>
            <a:ext cx="214495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Pròxim Orient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12720"/>
            <a:ext cx="2144954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12.000 anys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Blat, ordi i llenties. Cabres, ovelles, porcs i bous.</a:t>
            </a:r>
            <a:endParaRPr lang="en-US" sz="1750" dirty="0"/>
          </a:p>
        </p:txBody>
      </p:sp>
      <p:sp>
        <p:nvSpPr>
          <p:cNvPr id="10" name="Targeta Xina"/>
          <p:cNvSpPr/>
          <p:nvPr/>
        </p:nvSpPr>
        <p:spPr>
          <a:xfrm>
            <a:off x="3379394" y="1371600"/>
            <a:ext cx="2602154" cy="3429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3607994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Bowl" descr="/home/claude/pre/build/img/ic/TbBowl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53" y="17309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07994" y="2331720"/>
            <a:ext cx="214495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Xina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607994" y="2712720"/>
            <a:ext cx="2144954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9.000 anys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mill, al nord, i l'arròs, a la vall del riu Iang-Tsé.</a:t>
            </a:r>
            <a:endParaRPr lang="en-US" sz="1750" dirty="0"/>
          </a:p>
        </p:txBody>
      </p:sp>
      <p:sp>
        <p:nvSpPr>
          <p:cNvPr id="15" name="Targeta Mesoamèrica"/>
          <p:cNvSpPr/>
          <p:nvPr/>
        </p:nvSpPr>
        <p:spPr>
          <a:xfrm>
            <a:off x="6210148" y="1371600"/>
            <a:ext cx="2602154" cy="3429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Cercle icona"/>
          <p:cNvSpPr/>
          <p:nvPr/>
        </p:nvSpPr>
        <p:spPr>
          <a:xfrm>
            <a:off x="6438748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Plant2" descr="/home/claude/pre/build/img/ic/TbPlant2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507" y="17309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8748" y="2331720"/>
            <a:ext cx="214495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Mesoamèrica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38748" y="2712720"/>
            <a:ext cx="2144954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9.000 anys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blat de moro i la carbassa.</a:t>
            </a:r>
            <a:endParaRPr lang="en-US" sz="1750" dirty="0"/>
          </a:p>
        </p:txBody>
      </p:sp>
      <p:sp>
        <p:nvSpPr>
          <p:cNvPr id="20" name="Targeta Andes"/>
          <p:cNvSpPr/>
          <p:nvPr/>
        </p:nvSpPr>
        <p:spPr>
          <a:xfrm>
            <a:off x="9040901" y="1371600"/>
            <a:ext cx="2602154" cy="3429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Cercle icona"/>
          <p:cNvSpPr/>
          <p:nvPr/>
        </p:nvSpPr>
        <p:spPr>
          <a:xfrm>
            <a:off x="9269501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2" name="Icona TbMountain" descr="/home/claude/pre/build/img/ic/TbMountain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261" y="173095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69501" y="2331720"/>
            <a:ext cx="214495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Andes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9269501" y="2712720"/>
            <a:ext cx="2144954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8.000 anys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patata i, més tard, la llama i l’alpaca.</a:t>
            </a:r>
            <a:endParaRPr lang="en-US" sz="1750" dirty="0"/>
          </a:p>
        </p:txBody>
      </p:sp>
      <p:sp>
        <p:nvSpPr>
          <p:cNvPr id="25" name="Altres focus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10476"/>
            </a:avLst>
          </a:prstGeom>
          <a:solidFill>
            <a:srgbClr val="F6F8FB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68680" y="518464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Altres focus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68680" y="553212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Nova Guinea, l'Àfrica al sud del Sàhara i l'est d'Amèrica del Nord.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va arribar a Europa?</a:t>
            </a:r>
            <a:endParaRPr lang="en-US" sz="2800" dirty="0"/>
          </a:p>
        </p:txBody>
      </p:sp>
      <p:sp>
        <p:nvSpPr>
          <p:cNvPr id="5" name="Fons Com es va estendre l'agricultura (9600-4000 aC)"/>
          <p:cNvSpPr/>
          <p:nvPr/>
        </p:nvSpPr>
        <p:spPr>
          <a:xfrm>
            <a:off x="548640" y="1371600"/>
            <a:ext cx="6400800" cy="4069080"/>
          </a:xfrm>
          <a:prstGeom prst="roundRect">
            <a:avLst>
              <a:gd name="adj" fmla="val 2472"/>
            </a:avLst>
          </a:prstGeom>
          <a:solidFill>
            <a:srgbClr val="F6F8FB"/>
          </a:solidFill>
          <a:ln/>
        </p:spPr>
      </p:sp>
      <p:pic>
        <p:nvPicPr>
          <p:cNvPr id="6" name="Com es va estendre l'agricultura (9600-4000 aC)" descr="/home/claude/pre/build/img/expans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709" y="1371600"/>
            <a:ext cx="6400663" cy="4069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32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es va estendre l'agricultura (9600-4000 aC). Dates aproximades aC. Mapa: D. Gronenborn, B. Horejs, M. Börner i M. Ober (LEIZA/ÖAI), Wikimedia Commons, CC BY 4.0.</a:t>
            </a:r>
            <a:endParaRPr lang="en-US" sz="1000" dirty="0"/>
          </a:p>
        </p:txBody>
      </p:sp>
      <p:sp>
        <p:nvSpPr>
          <p:cNvPr id="8" name="Línia del temps"/>
          <p:cNvSpPr/>
          <p:nvPr/>
        </p:nvSpPr>
        <p:spPr>
          <a:xfrm>
            <a:off x="7370064" y="1554480"/>
            <a:ext cx="0" cy="1828800"/>
          </a:xfrm>
          <a:prstGeom prst="line">
            <a:avLst/>
          </a:prstGeom>
          <a:noFill/>
          <a:ln w="31750">
            <a:solidFill>
              <a:srgbClr val="DADCE0"/>
            </a:solidFill>
            <a:prstDash val="solid"/>
          </a:ln>
        </p:spPr>
      </p:sp>
      <p:sp>
        <p:nvSpPr>
          <p:cNvPr id="9" name="Fita 9600 aC"/>
          <p:cNvSpPr/>
          <p:nvPr/>
        </p:nvSpPr>
        <p:spPr>
          <a:xfrm>
            <a:off x="7269480" y="1453896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53528" y="1417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9600 aC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8796528" y="1417320"/>
            <a:ext cx="2846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Comença al Creixent Fèrtil.</a:t>
            </a:r>
            <a:endParaRPr lang="en-US" sz="1550" dirty="0"/>
          </a:p>
        </p:txBody>
      </p:sp>
      <p:sp>
        <p:nvSpPr>
          <p:cNvPr id="12" name="Fita Grècia"/>
          <p:cNvSpPr/>
          <p:nvPr/>
        </p:nvSpPr>
        <p:spPr>
          <a:xfrm>
            <a:off x="7269480" y="2368296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53528" y="23317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Grècia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8796528" y="2331720"/>
            <a:ext cx="2846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 a Europa. Després, pel Danubi i pel Mediterrani.</a:t>
            </a:r>
            <a:endParaRPr lang="en-US" sz="1550" dirty="0"/>
          </a:p>
        </p:txBody>
      </p:sp>
      <p:sp>
        <p:nvSpPr>
          <p:cNvPr id="15" name="Fita 5500 aC"/>
          <p:cNvSpPr/>
          <p:nvPr/>
        </p:nvSpPr>
        <p:spPr>
          <a:xfrm>
            <a:off x="7269480" y="3282696"/>
            <a:ext cx="201168" cy="201168"/>
          </a:xfrm>
          <a:prstGeom prst="ellipse">
            <a:avLst/>
          </a:prstGeom>
          <a:solidFill>
            <a:srgbClr val="188038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53528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5500 aC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8796528" y="3246120"/>
            <a:ext cx="2846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Arriba per mar a la península Ibèrica.</a:t>
            </a:r>
            <a:endParaRPr lang="en-US" sz="1550" dirty="0"/>
          </a:p>
        </p:txBody>
      </p:sp>
      <p:sp>
        <p:nvSpPr>
          <p:cNvPr id="18" name="Per mar"/>
          <p:cNvSpPr/>
          <p:nvPr/>
        </p:nvSpPr>
        <p:spPr>
          <a:xfrm>
            <a:off x="7269480" y="4297680"/>
            <a:ext cx="4373575" cy="1691640"/>
          </a:xfrm>
          <a:prstGeom prst="roundRect">
            <a:avLst>
              <a:gd name="adj" fmla="val 5946"/>
            </a:avLst>
          </a:prstGeom>
          <a:solidFill>
            <a:srgbClr val="E6F4E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89520" y="4453128"/>
            <a:ext cx="3733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mar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589520" y="4800600"/>
            <a:ext cx="37334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primers pagesos van arribar a la costa amb barques. Van portar llavors, animals domèstics i ceràmica.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Neixen els poblats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 té un camp sembrat no pot marxar. Ha d’esperar la collita.</a:t>
            </a:r>
            <a:endParaRPr lang="en-US" sz="2000" dirty="0"/>
          </a:p>
        </p:txBody>
      </p:sp>
      <p:sp>
        <p:nvSpPr>
          <p:cNvPr id="6" name="Paraula clau · Sedentari"/>
          <p:cNvSpPr/>
          <p:nvPr/>
        </p:nvSpPr>
        <p:spPr>
          <a:xfrm>
            <a:off x="548640" y="1965960"/>
            <a:ext cx="11094415" cy="1234440"/>
          </a:xfrm>
          <a:prstGeom prst="roundRect">
            <a:avLst>
              <a:gd name="adj" fmla="val 8148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2140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Sedentari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6888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 o grup que viu fixat en un mateix lloc, generalment en un poblat, gràcies a l'agricultura i la ramaderia.</a:t>
            </a:r>
            <a:endParaRPr lang="en-US" sz="1650" dirty="0"/>
          </a:p>
        </p:txBody>
      </p:sp>
      <p:sp>
        <p:nvSpPr>
          <p:cNvPr id="9" name="Targeta Jericó"/>
          <p:cNvSpPr/>
          <p:nvPr/>
        </p:nvSpPr>
        <p:spPr>
          <a:xfrm>
            <a:off x="548640" y="3429000"/>
            <a:ext cx="5410048" cy="25603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Cercle icona"/>
          <p:cNvSpPr/>
          <p:nvPr/>
        </p:nvSpPr>
        <p:spPr>
          <a:xfrm>
            <a:off x="777240" y="36576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1" name="Icona TbBuildingCastle" descr="/home/claude/pre/build/img/ic/TbBuildingCastl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378835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08760" y="3657600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Jericó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389120"/>
            <a:ext cx="495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Cisjordània (Palestina). Fa uns 11.000 anys ja tenia una muralla i una torre de pedra.</a:t>
            </a:r>
            <a:endParaRPr lang="en-US" sz="1700" dirty="0"/>
          </a:p>
        </p:txBody>
      </p:sp>
      <p:sp>
        <p:nvSpPr>
          <p:cNvPr id="14" name="Targeta Çatalhöyük"/>
          <p:cNvSpPr/>
          <p:nvPr/>
        </p:nvSpPr>
        <p:spPr>
          <a:xfrm>
            <a:off x="6233008" y="3429000"/>
            <a:ext cx="5410048" cy="25603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Cercle icona"/>
          <p:cNvSpPr/>
          <p:nvPr/>
        </p:nvSpPr>
        <p:spPr>
          <a:xfrm>
            <a:off x="6461608" y="36576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6" name="Icona TbHome" descr="/home/claude/pre/build/img/ic/TbHome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367" y="378835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93128" y="3657600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Çatalhöyük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6461608" y="4389120"/>
            <a:ext cx="495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l'actual Turquia. Les cases estaven enganxades, sense carrers, i s'hi entrava pel sostre.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prop de casa · La Draga</a:t>
            </a:r>
            <a:endParaRPr lang="en-US" sz="2800" dirty="0"/>
          </a:p>
        </p:txBody>
      </p:sp>
      <p:sp>
        <p:nvSpPr>
          <p:cNvPr id="5" name="Targeta La Draga (Banyoles)"/>
          <p:cNvSpPr/>
          <p:nvPr/>
        </p:nvSpPr>
        <p:spPr>
          <a:xfrm>
            <a:off x="548640" y="1371600"/>
            <a:ext cx="3931920" cy="4617720"/>
          </a:xfrm>
          <a:prstGeom prst="roundRect">
            <a:avLst>
              <a:gd name="adj" fmla="val 2558"/>
            </a:avLst>
          </a:prstGeom>
          <a:solidFill>
            <a:srgbClr val="188038"/>
          </a:solidFill>
          <a:ln/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a TbMapPin" descr="/home/claude/pre/build/img/ic/TbMapPin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Draga (Banyoles)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7.300 anys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918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dels poblats de pagesos més antics de la península.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371600"/>
            <a:ext cx="6888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que el terreny va quedar sota l'aigua de l'estany, s'hi han conservat objectes de fusta que gairebé mai arriben fins a nosaltres.</a:t>
            </a:r>
            <a:endParaRPr lang="en-US" sz="1800" dirty="0"/>
          </a:p>
        </p:txBody>
      </p:sp>
      <p:sp>
        <p:nvSpPr>
          <p:cNvPr id="12" name="Cercle icona"/>
          <p:cNvSpPr/>
          <p:nvPr/>
        </p:nvSpPr>
        <p:spPr>
          <a:xfrm>
            <a:off x="4754880" y="269748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Bow" descr="/home/claude/pre/build/img/ic/TbBow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1" y="28181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04688" y="2697480"/>
            <a:ext cx="61383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Arcs</a:t>
            </a:r>
            <a:endParaRPr lang="en-US" sz="1900" dirty="0"/>
          </a:p>
        </p:txBody>
      </p:sp>
      <p:sp>
        <p:nvSpPr>
          <p:cNvPr id="15" name="Cercle icona"/>
          <p:cNvSpPr/>
          <p:nvPr/>
        </p:nvSpPr>
        <p:spPr>
          <a:xfrm>
            <a:off x="4754880" y="3410712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6" name="Icona TbWheat" descr="/home/claude/pre/build/img/ic/TbWheat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81" y="353141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04688" y="3410712"/>
            <a:ext cx="61383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Falçs </a:t>
            </a:r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fusta de boix i altres eines</a:t>
            </a:r>
            <a:endParaRPr lang="en-US" sz="1900" dirty="0"/>
          </a:p>
        </p:txBody>
      </p:sp>
      <p:sp>
        <p:nvSpPr>
          <p:cNvPr id="18" name="Cercle icona"/>
          <p:cNvSpPr/>
          <p:nvPr/>
        </p:nvSpPr>
        <p:spPr>
          <a:xfrm>
            <a:off x="4754880" y="4123944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9" name="Icona TbHome" descr="/home/claude/pre/build/img/ic/TbHome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581" y="4244645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04688" y="4123944"/>
            <a:ext cx="61383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Centenars de pals </a:t>
            </a:r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les cabanes</a:t>
            </a:r>
            <a:endParaRPr lang="en-US" sz="1900" dirty="0"/>
          </a:p>
        </p:txBody>
      </p:sp>
      <p:sp>
        <p:nvSpPr>
          <p:cNvPr id="21" name="Pensa-hi"/>
          <p:cNvSpPr/>
          <p:nvPr/>
        </p:nvSpPr>
        <p:spPr>
          <a:xfrm>
            <a:off x="4754880" y="4937760"/>
            <a:ext cx="6888175" cy="1051560"/>
          </a:xfrm>
          <a:prstGeom prst="roundRect">
            <a:avLst>
              <a:gd name="adj" fmla="val 9565"/>
            </a:avLst>
          </a:prstGeom>
          <a:solidFill>
            <a:srgbClr val="F6F8FB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5074920" y="5093208"/>
            <a:ext cx="6248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Pensa-hi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074920" y="5440680"/>
            <a:ext cx="6248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la fusta gairebé mai es conserva en un jaciment?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Nous invents, noves feines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van aparèixer tots alhora, sinó al llarg de milers d'anys.</a:t>
            </a:r>
            <a:endParaRPr lang="en-US" sz="1700" dirty="0"/>
          </a:p>
        </p:txBody>
      </p:sp>
      <p:sp>
        <p:nvSpPr>
          <p:cNvPr id="6" name="Targeta La ceràmica"/>
          <p:cNvSpPr/>
          <p:nvPr/>
        </p:nvSpPr>
        <p:spPr>
          <a:xfrm>
            <a:off x="548640" y="1920240"/>
            <a:ext cx="5410048" cy="189738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Cercle icona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8" name="Icona TbBottle" descr="/home/claude/pre/build/img/ic/TbBottl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2795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148840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ceràmica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80360"/>
            <a:ext cx="495284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Recipients de fang cuit per guardar el gra, transportar aigua i cuinar.</a:t>
            </a:r>
            <a:endParaRPr lang="en-US" sz="1700" dirty="0"/>
          </a:p>
        </p:txBody>
      </p:sp>
      <p:sp>
        <p:nvSpPr>
          <p:cNvPr id="11" name="Targeta El teixit"/>
          <p:cNvSpPr/>
          <p:nvPr/>
        </p:nvSpPr>
        <p:spPr>
          <a:xfrm>
            <a:off x="6233008" y="1920240"/>
            <a:ext cx="5410048" cy="189738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Cercle icona"/>
          <p:cNvSpPr/>
          <p:nvPr/>
        </p:nvSpPr>
        <p:spPr>
          <a:xfrm>
            <a:off x="6461608" y="214884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3" name="Icona TbNeedleThread" descr="/home/claude/pre/build/img/ic/TbNeedleThread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367" y="227959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93128" y="2148840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teixit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880360"/>
            <a:ext cx="495284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Teles de lli per a la roba, més lleugeres que les pells.</a:t>
            </a:r>
            <a:endParaRPr lang="en-US" sz="1700" dirty="0"/>
          </a:p>
        </p:txBody>
      </p:sp>
      <p:sp>
        <p:nvSpPr>
          <p:cNvPr id="16" name="Targeta La pedra polida"/>
          <p:cNvSpPr/>
          <p:nvPr/>
        </p:nvSpPr>
        <p:spPr>
          <a:xfrm>
            <a:off x="548640" y="4091940"/>
            <a:ext cx="5410048" cy="189738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Cercle icona"/>
          <p:cNvSpPr/>
          <p:nvPr/>
        </p:nvSpPr>
        <p:spPr>
          <a:xfrm>
            <a:off x="777240" y="432054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8" name="Icona TbAxe" descr="/home/claude/pre/build/img/ic/TbAx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45129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4320540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pedra polida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052060"/>
            <a:ext cx="495284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Eines polides fregant-les, més resistents. Destrals per tallar arbres i obrir camps.</a:t>
            </a:r>
            <a:endParaRPr lang="en-US" sz="1700" dirty="0"/>
          </a:p>
        </p:txBody>
      </p:sp>
      <p:sp>
        <p:nvSpPr>
          <p:cNvPr id="21" name="Targeta Eines per al camp"/>
          <p:cNvSpPr/>
          <p:nvPr/>
        </p:nvSpPr>
        <p:spPr>
          <a:xfrm>
            <a:off x="6233008" y="4091940"/>
            <a:ext cx="5410048" cy="189738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2" name="Cercle icona"/>
          <p:cNvSpPr/>
          <p:nvPr/>
        </p:nvSpPr>
        <p:spPr>
          <a:xfrm>
            <a:off x="6461608" y="432054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3" name="Icona TbWheat" descr="/home/claude/pre/build/img/ic/TbWheat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367" y="445129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93128" y="4320540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Eines per al camp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461608" y="5052060"/>
            <a:ext cx="495284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Falçs amb fulles de sílex per segar, i molins de mà per fer farina.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ceràmica cardial</a:t>
            </a:r>
            <a:endParaRPr lang="en-US" sz="2800" dirty="0"/>
          </a:p>
        </p:txBody>
      </p:sp>
      <p:sp>
        <p:nvSpPr>
          <p:cNvPr id="5" name="Fons Vas doble de ceràmica cardial"/>
          <p:cNvSpPr/>
          <p:nvPr/>
        </p:nvSpPr>
        <p:spPr>
          <a:xfrm>
            <a:off x="548640" y="1371600"/>
            <a:ext cx="6583680" cy="3627372"/>
          </a:xfrm>
          <a:prstGeom prst="roundRect">
            <a:avLst>
              <a:gd name="adj" fmla="val 2773"/>
            </a:avLst>
          </a:prstGeom>
          <a:solidFill>
            <a:srgbClr val="F6F8FB"/>
          </a:solidFill>
          <a:ln/>
        </p:spPr>
      </p:sp>
      <p:pic>
        <p:nvPicPr>
          <p:cNvPr id="6" name="Vas doble de ceràmica cardial" descr="/home/claude/pre/build/img/card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36273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09041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Vas doble de ceràmica cardial. Cova de la Sarsa (Bocairent, País Valencià). Museu de Prehistòria de València. Foto: Dorieo, Wikimedia Commons, CC BY-SA 4.0.</a:t>
            </a:r>
            <a:endParaRPr lang="en-US" sz="1000" dirty="0"/>
          </a:p>
        </p:txBody>
      </p:sp>
      <p:sp>
        <p:nvSpPr>
          <p:cNvPr id="8" name="Paraula clau · Ceràmica cardial"/>
          <p:cNvSpPr/>
          <p:nvPr/>
        </p:nvSpPr>
        <p:spPr>
          <a:xfrm>
            <a:off x="7452360" y="1371600"/>
            <a:ext cx="4190695" cy="2103120"/>
          </a:xfrm>
          <a:prstGeom prst="roundRect">
            <a:avLst>
              <a:gd name="adj" fmla="val 4783"/>
            </a:avLst>
          </a:prstGeom>
          <a:solidFill>
            <a:srgbClr val="E6F4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0" y="1527048"/>
            <a:ext cx="3550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Ceràmica cardial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874520"/>
            <a:ext cx="35506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Ceràmica dels primers pagesos de la Mediterrània occidental. És una de les ceràmiques més antigues d'aquesta zona.</a:t>
            </a:r>
            <a:endParaRPr lang="en-US" sz="1600" dirty="0"/>
          </a:p>
        </p:txBody>
      </p:sp>
      <p:sp>
        <p:nvSpPr>
          <p:cNvPr id="11" name="Per què es diu així?"/>
          <p:cNvSpPr/>
          <p:nvPr/>
        </p:nvSpPr>
        <p:spPr>
          <a:xfrm>
            <a:off x="7452360" y="3657600"/>
            <a:ext cx="4190695" cy="1828800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3813048"/>
            <a:ext cx="3550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es diu així?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4160520"/>
            <a:ext cx="35506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decorava imprimint al fang tendre la vora d'una petxina d'escopinya (Cardium).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societat que canvia</a:t>
            </a:r>
            <a:endParaRPr lang="en-US" sz="2800" dirty="0"/>
          </a:p>
        </p:txBody>
      </p:sp>
      <p:sp>
        <p:nvSpPr>
          <p:cNvPr id="5" name="Excedent"/>
          <p:cNvSpPr/>
          <p:nvPr/>
        </p:nvSpPr>
        <p:spPr>
          <a:xfrm>
            <a:off x="548640" y="1371600"/>
            <a:ext cx="3657600" cy="4617720"/>
          </a:xfrm>
          <a:prstGeom prst="roundRect">
            <a:avLst>
              <a:gd name="adj" fmla="val 2750"/>
            </a:avLst>
          </a:prstGeom>
          <a:solidFill>
            <a:srgbClr val="188038"/>
          </a:solidFill>
          <a:ln/>
        </p:spPr>
      </p:sp>
      <p:sp>
        <p:nvSpPr>
          <p:cNvPr id="6" name="Cercle icona"/>
          <p:cNvSpPr/>
          <p:nvPr/>
        </p:nvSpPr>
        <p:spPr>
          <a:xfrm>
            <a:off x="868680" y="16916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a TbBuildingWarehouse" descr="/home/claude/pre/build/img/ic/TbBuildingWarehous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1862633"/>
            <a:ext cx="435254" cy="435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Excedent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Quantitat d'aliment o producte que sobra un cop coberta la necessitat del grup i que es pot guardar o intercanviar.</a:t>
            </a:r>
            <a:endParaRPr lang="en-US" sz="1500" dirty="0"/>
          </a:p>
        </p:txBody>
      </p:sp>
      <p:sp>
        <p:nvSpPr>
          <p:cNvPr id="9" name="Fletxa"/>
          <p:cNvSpPr/>
          <p:nvPr/>
        </p:nvSpPr>
        <p:spPr>
          <a:xfrm>
            <a:off x="4270248" y="356616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0" name="Targeta Més població"/>
          <p:cNvSpPr/>
          <p:nvPr/>
        </p:nvSpPr>
        <p:spPr>
          <a:xfrm>
            <a:off x="4572000" y="1371600"/>
            <a:ext cx="342122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4800600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Users" descr="/home/claude/pre/build/img/ic/TbUsers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01" y="17209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600200"/>
            <a:ext cx="22782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Més població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2286000"/>
            <a:ext cx="2964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 havia més aliment disponible i més estable.</a:t>
            </a:r>
            <a:endParaRPr lang="en-US" sz="1600" dirty="0"/>
          </a:p>
        </p:txBody>
      </p:sp>
      <p:sp>
        <p:nvSpPr>
          <p:cNvPr id="15" name="Targeta Divisió del treball"/>
          <p:cNvSpPr/>
          <p:nvPr/>
        </p:nvSpPr>
        <p:spPr>
          <a:xfrm>
            <a:off x="8221828" y="1371600"/>
            <a:ext cx="342122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Cercle icona"/>
          <p:cNvSpPr/>
          <p:nvPr/>
        </p:nvSpPr>
        <p:spPr>
          <a:xfrm>
            <a:off x="8450428" y="160020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Tools" descr="/home/claude/pre/build/img/ic/TbTools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128" y="17209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36228" y="1600200"/>
            <a:ext cx="22782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Divisió del treball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450428" y="2286000"/>
            <a:ext cx="2964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Alguns es podien especialitzar, com els terrissers o els teixidors.</a:t>
            </a:r>
            <a:endParaRPr lang="en-US" sz="1600" dirty="0"/>
          </a:p>
        </p:txBody>
      </p:sp>
      <p:sp>
        <p:nvSpPr>
          <p:cNvPr id="20" name="Targeta Intercanvis"/>
          <p:cNvSpPr/>
          <p:nvPr/>
        </p:nvSpPr>
        <p:spPr>
          <a:xfrm>
            <a:off x="4572000" y="3794760"/>
            <a:ext cx="342122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Cercle icona"/>
          <p:cNvSpPr/>
          <p:nvPr/>
        </p:nvSpPr>
        <p:spPr>
          <a:xfrm>
            <a:off x="4800600" y="402336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2" name="Icona TbArrowsExchange" descr="/home/claude/pre/build/img/ic/TbArrowsExchange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01" y="41440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4023360"/>
            <a:ext cx="22782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Intercanvis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4800600" y="4709160"/>
            <a:ext cx="2964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excedents i els productes artesans es bescanviaven entre poblats.</a:t>
            </a:r>
            <a:endParaRPr lang="en-US" sz="1600" dirty="0"/>
          </a:p>
        </p:txBody>
      </p:sp>
      <p:sp>
        <p:nvSpPr>
          <p:cNvPr id="25" name="Targeta Desigualtats"/>
          <p:cNvSpPr/>
          <p:nvPr/>
        </p:nvSpPr>
        <p:spPr>
          <a:xfrm>
            <a:off x="8221828" y="3794760"/>
            <a:ext cx="3421228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Cercle icona"/>
          <p:cNvSpPr/>
          <p:nvPr/>
        </p:nvSpPr>
        <p:spPr>
          <a:xfrm>
            <a:off x="8450428" y="4023360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7" name="Icona TbScale" descr="/home/claude/pre/build/img/ic/TbScale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1128" y="414406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136228" y="4023360"/>
            <a:ext cx="22782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Desigualtats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8450428" y="4709160"/>
            <a:ext cx="2964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 acumulava més terres, ramats o excedents tenia més riquesa i poder.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 Va ser un progrés?</a:t>
            </a:r>
            <a:endParaRPr lang="en-US" sz="2800" dirty="0"/>
          </a:p>
        </p:txBody>
      </p:sp>
      <p:sp>
        <p:nvSpPr>
          <p:cNvPr id="5" name="Targeta Què van perdre"/>
          <p:cNvSpPr/>
          <p:nvPr/>
        </p:nvSpPr>
        <p:spPr>
          <a:xfrm>
            <a:off x="548640" y="1371600"/>
            <a:ext cx="5410048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7276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van perdre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8614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Sovint treballaven més hores que els caçadors-recol·lectors.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Tenien una dieta menys variada.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 més malalties infeccioses.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molts llocs eren més baixos que els seus avantpassats.</a:t>
            </a:r>
            <a:endParaRPr lang="en-US" sz="1900" dirty="0"/>
          </a:p>
        </p:txBody>
      </p:sp>
      <p:sp>
        <p:nvSpPr>
          <p:cNvPr id="8" name="Targeta Què van guanyar"/>
          <p:cNvSpPr/>
          <p:nvPr/>
        </p:nvSpPr>
        <p:spPr>
          <a:xfrm>
            <a:off x="6233008" y="1371600"/>
            <a:ext cx="5410048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157276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van guanyar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057400"/>
            <a:ext cx="48614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Seguretat alimentària, perquè tenien menjar assegurat.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població va poder créixer com mai.</a:t>
            </a:r>
            <a:endParaRPr lang="en-US" sz="1900" dirty="0"/>
          </a:p>
        </p:txBody>
      </p:sp>
      <p:sp>
        <p:nvSpPr>
          <p:cNvPr id="11" name="Tu què en penses?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8462"/>
            </a:avLst>
          </a:prstGeom>
          <a:solidFill>
            <a:srgbClr val="F6F8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95604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 què en penses?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0352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historiadors encara en debaten el balanç. Ho investigaràs tu mateix a la situació d'aprenentatge.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Comprova-ho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Paraules clau</a:t>
            </a:r>
            <a:endParaRPr lang="en-US" sz="1400" dirty="0"/>
          </a:p>
        </p:txBody>
      </p:sp>
      <p:sp>
        <p:nvSpPr>
          <p:cNvPr id="6" name="Etiqueta Revolució neolítica"/>
          <p:cNvSpPr/>
          <p:nvPr/>
        </p:nvSpPr>
        <p:spPr>
          <a:xfrm>
            <a:off x="548640" y="1755648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Revolució neolítica</a:t>
            </a:r>
            <a:endParaRPr lang="en-US" sz="1500" dirty="0"/>
          </a:p>
        </p:txBody>
      </p:sp>
      <p:sp>
        <p:nvSpPr>
          <p:cNvPr id="8" name="Etiqueta Domesticar"/>
          <p:cNvSpPr/>
          <p:nvPr/>
        </p:nvSpPr>
        <p:spPr>
          <a:xfrm>
            <a:off x="2880360" y="1755648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175564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Domesticar</a:t>
            </a:r>
            <a:endParaRPr lang="en-US" sz="1500" dirty="0"/>
          </a:p>
        </p:txBody>
      </p:sp>
      <p:sp>
        <p:nvSpPr>
          <p:cNvPr id="10" name="Etiqueta Creixent Fèrtil"/>
          <p:cNvSpPr/>
          <p:nvPr/>
        </p:nvSpPr>
        <p:spPr>
          <a:xfrm>
            <a:off x="4306824" y="1755648"/>
            <a:ext cx="1819656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06824" y="175564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Creixent Fèrtil</a:t>
            </a:r>
            <a:endParaRPr lang="en-US" sz="1500" dirty="0"/>
          </a:p>
        </p:txBody>
      </p:sp>
      <p:sp>
        <p:nvSpPr>
          <p:cNvPr id="12" name="Etiqueta Sedentari"/>
          <p:cNvSpPr/>
          <p:nvPr/>
        </p:nvSpPr>
        <p:spPr>
          <a:xfrm>
            <a:off x="6236208" y="1755648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36208" y="1755648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Sedentari</a:t>
            </a:r>
            <a:endParaRPr lang="en-US" sz="1500" dirty="0"/>
          </a:p>
        </p:txBody>
      </p:sp>
      <p:sp>
        <p:nvSpPr>
          <p:cNvPr id="14" name="Etiqueta Excedent"/>
          <p:cNvSpPr/>
          <p:nvPr/>
        </p:nvSpPr>
        <p:spPr>
          <a:xfrm>
            <a:off x="7562088" y="1755648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62088" y="175564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Excedent</a:t>
            </a:r>
            <a:endParaRPr lang="en-US" sz="1500" dirty="0"/>
          </a:p>
        </p:txBody>
      </p:sp>
      <p:sp>
        <p:nvSpPr>
          <p:cNvPr id="16" name="Pregunta 1"/>
          <p:cNvSpPr/>
          <p:nvPr/>
        </p:nvSpPr>
        <p:spPr>
          <a:xfrm>
            <a:off x="548640" y="2514600"/>
            <a:ext cx="5410048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Número 1"/>
          <p:cNvSpPr/>
          <p:nvPr/>
        </p:nvSpPr>
        <p:spPr>
          <a:xfrm>
            <a:off x="822960" y="276606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2766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251460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vol dir passar de depredadors a productors?</a:t>
            </a:r>
            <a:endParaRPr lang="en-US" sz="1700" dirty="0"/>
          </a:p>
        </p:txBody>
      </p:sp>
      <p:sp>
        <p:nvSpPr>
          <p:cNvPr id="20" name="Pregunta 2"/>
          <p:cNvSpPr/>
          <p:nvPr/>
        </p:nvSpPr>
        <p:spPr>
          <a:xfrm>
            <a:off x="6233008" y="2514600"/>
            <a:ext cx="5410048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Número 2"/>
          <p:cNvSpPr/>
          <p:nvPr/>
        </p:nvSpPr>
        <p:spPr>
          <a:xfrm>
            <a:off x="6507328" y="276606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07328" y="2766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251460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va ajudar el final de la glaciació a començar l’agricultura?</a:t>
            </a:r>
            <a:endParaRPr lang="en-US" sz="1700" dirty="0"/>
          </a:p>
        </p:txBody>
      </p:sp>
      <p:sp>
        <p:nvSpPr>
          <p:cNvPr id="24" name="Pregunta 3"/>
          <p:cNvSpPr/>
          <p:nvPr/>
        </p:nvSpPr>
        <p:spPr>
          <a:xfrm>
            <a:off x="548640" y="3675888"/>
            <a:ext cx="5410048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Número 3"/>
          <p:cNvSpPr/>
          <p:nvPr/>
        </p:nvSpPr>
        <p:spPr>
          <a:xfrm>
            <a:off x="822960" y="3927348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3675888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diem que l'agricultura no va ser l'invent d'un sol poble?</a:t>
            </a:r>
            <a:endParaRPr lang="en-US" sz="1700" dirty="0"/>
          </a:p>
        </p:txBody>
      </p:sp>
      <p:sp>
        <p:nvSpPr>
          <p:cNvPr id="28" name="Pregunta 4"/>
          <p:cNvSpPr/>
          <p:nvPr/>
        </p:nvSpPr>
        <p:spPr>
          <a:xfrm>
            <a:off x="6233008" y="3675888"/>
            <a:ext cx="5410048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Número 4"/>
          <p:cNvSpPr/>
          <p:nvPr/>
        </p:nvSpPr>
        <p:spPr>
          <a:xfrm>
            <a:off x="6507328" y="3927348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07328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193128" y="3675888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Relaciona cada lloc amb una planta. Pròxim Orient, Xina, Mesoamèrica i Andes.</a:t>
            </a:r>
            <a:endParaRPr lang="en-US" sz="1700" dirty="0"/>
          </a:p>
        </p:txBody>
      </p:sp>
      <p:sp>
        <p:nvSpPr>
          <p:cNvPr id="32" name="Pregunta 5"/>
          <p:cNvSpPr/>
          <p:nvPr/>
        </p:nvSpPr>
        <p:spPr>
          <a:xfrm>
            <a:off x="548640" y="4837176"/>
            <a:ext cx="5410048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Número 5"/>
          <p:cNvSpPr/>
          <p:nvPr/>
        </p:nvSpPr>
        <p:spPr>
          <a:xfrm>
            <a:off x="822960" y="5088636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0886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1508760" y="4837176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l'agricultura va fer que els humans fossin sedentaris?</a:t>
            </a:r>
            <a:endParaRPr lang="en-US" sz="1700" dirty="0"/>
          </a:p>
        </p:txBody>
      </p:sp>
      <p:sp>
        <p:nvSpPr>
          <p:cNvPr id="36" name="Pregunta 6"/>
          <p:cNvSpPr/>
          <p:nvPr/>
        </p:nvSpPr>
        <p:spPr>
          <a:xfrm>
            <a:off x="6233008" y="4837176"/>
            <a:ext cx="5410048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7" name="Número 6"/>
          <p:cNvSpPr/>
          <p:nvPr/>
        </p:nvSpPr>
        <p:spPr>
          <a:xfrm>
            <a:off x="6507328" y="5088636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07328" y="50886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7193128" y="4837176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Digues dues conseqüències dels excedents.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çalera"/>
          <p:cNvSpPr/>
          <p:nvPr/>
        </p:nvSpPr>
        <p:spPr>
          <a:xfrm>
            <a:off x="548640" y="548640"/>
            <a:ext cx="6720840" cy="3657600"/>
          </a:xfrm>
          <a:prstGeom prst="roundRect">
            <a:avLst>
              <a:gd name="adj" fmla="val 2750"/>
            </a:avLst>
          </a:prstGeom>
          <a:solidFill>
            <a:srgbClr val="188038"/>
          </a:solidFill>
          <a:ln/>
        </p:spPr>
      </p:sp>
      <p:pic>
        <p:nvPicPr>
          <p:cNvPr id="3" name="Il·lustració d'un menhir, un dolmen i el sol" descr="/home/claude/pre/build/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294081"/>
            <a:ext cx="3566160" cy="1893871"/>
          </a:xfrm>
          <a:prstGeom prst="rect">
            <a:avLst/>
          </a:prstGeom>
        </p:spPr>
      </p:pic>
      <p:sp>
        <p:nvSpPr>
          <p:cNvPr id="4" name="Etiqueta Apartat 5  ·  Des del 5000 aC"/>
          <p:cNvSpPr/>
          <p:nvPr/>
        </p:nvSpPr>
        <p:spPr>
          <a:xfrm>
            <a:off x="960120" y="896112"/>
            <a:ext cx="2644445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896112"/>
            <a:ext cx="26444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Apartat 5  ·  Des del 5000 aC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3716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L'Edat dels metalls</a:t>
            </a:r>
            <a:endParaRPr lang="en-US" sz="3800" dirty="0"/>
          </a:p>
        </p:txBody>
      </p:sp>
      <p:sp>
        <p:nvSpPr>
          <p:cNvPr id="7" name="Pregunta guia"/>
          <p:cNvSpPr/>
          <p:nvPr/>
        </p:nvSpPr>
        <p:spPr>
          <a:xfrm>
            <a:off x="548640" y="4389120"/>
            <a:ext cx="6720840" cy="1645920"/>
          </a:xfrm>
          <a:prstGeom prst="roundRect">
            <a:avLst>
              <a:gd name="adj" fmla="val 6111"/>
            </a:avLst>
          </a:prstGeom>
          <a:solidFill>
            <a:srgbClr val="F6F8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 guia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937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un metall va canviar tant la vida de la gent, si ja tenien eines de pedra?</a:t>
            </a:r>
            <a:endParaRPr lang="en-US" sz="1900" dirty="0"/>
          </a:p>
        </p:txBody>
      </p:sp>
      <p:sp>
        <p:nvSpPr>
          <p:cNvPr id="10" name="Fons L'Edat dels metalls"/>
          <p:cNvSpPr/>
          <p:nvPr/>
        </p:nvSpPr>
        <p:spPr>
          <a:xfrm>
            <a:off x="7635240" y="1390769"/>
            <a:ext cx="4007815" cy="3006613"/>
          </a:xfrm>
          <a:prstGeom prst="roundRect">
            <a:avLst>
              <a:gd name="adj" fmla="val 3345"/>
            </a:avLst>
          </a:prstGeom>
          <a:solidFill>
            <a:srgbClr val="F6F8FB"/>
          </a:solidFill>
          <a:ln/>
        </p:spPr>
      </p:sp>
      <p:pic>
        <p:nvPicPr>
          <p:cNvPr id="11" name="L'Edat dels metalls" descr="/home/claude/pre/build/img/stonehen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90769"/>
            <a:ext cx="4007815" cy="30066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4507111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Stonehenge (Anglaterra, cap al 3000-1500 aC). El cromlec més famós. Foto: Frédéric Vincent, Wikimedia Commons, CC BY-SA.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material revolucionari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uns 7.000 anys, als Balcans (al sud-est d'Europa) i al Pròxim Orient, els humans van fer un altre gran descobriment.</a:t>
            </a:r>
            <a:endParaRPr lang="en-US" sz="1800" dirty="0"/>
          </a:p>
        </p:txBody>
      </p:sp>
      <p:sp>
        <p:nvSpPr>
          <p:cNvPr id="6" name="Pas 1"/>
          <p:cNvSpPr/>
          <p:nvPr/>
        </p:nvSpPr>
        <p:spPr>
          <a:xfrm>
            <a:off x="548640" y="2286000"/>
            <a:ext cx="3362858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Cercle icona"/>
          <p:cNvSpPr/>
          <p:nvPr/>
        </p:nvSpPr>
        <p:spPr>
          <a:xfrm>
            <a:off x="804672" y="25420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8" name="Icona TbFlame" descr="/home/claude/pre/build/img/ic/TbFlam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6929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225698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3832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Escalfar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748913"/>
            <a:ext cx="2850794" cy="823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Certs minerals, a temperatures molt altes.</a:t>
            </a:r>
            <a:endParaRPr lang="en-US" sz="1600" dirty="0"/>
          </a:p>
        </p:txBody>
      </p:sp>
      <p:sp>
        <p:nvSpPr>
          <p:cNvPr id="12" name="Fletxa"/>
          <p:cNvSpPr/>
          <p:nvPr/>
        </p:nvSpPr>
        <p:spPr>
          <a:xfrm>
            <a:off x="4071518" y="333756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3" name="Pas 2"/>
          <p:cNvSpPr/>
          <p:nvPr/>
        </p:nvSpPr>
        <p:spPr>
          <a:xfrm>
            <a:off x="4414418" y="2286000"/>
            <a:ext cx="3362858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4" name="Cercle icona"/>
          <p:cNvSpPr/>
          <p:nvPr/>
        </p:nvSpPr>
        <p:spPr>
          <a:xfrm>
            <a:off x="4670450" y="25420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5" name="Icona TbDroplet" descr="/home/claude/pre/build/img/ic/TbDroplet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26" y="269290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91477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670450" y="33832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Fondre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670450" y="3748913"/>
            <a:ext cx="2850794" cy="823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S'obtenia metall, que es podia fondre.</a:t>
            </a:r>
            <a:endParaRPr lang="en-US" sz="1600" dirty="0"/>
          </a:p>
        </p:txBody>
      </p:sp>
      <p:sp>
        <p:nvSpPr>
          <p:cNvPr id="19" name="Fletxa"/>
          <p:cNvSpPr/>
          <p:nvPr/>
        </p:nvSpPr>
        <p:spPr>
          <a:xfrm>
            <a:off x="7937297" y="333756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0" name="Pas 3"/>
          <p:cNvSpPr/>
          <p:nvPr/>
        </p:nvSpPr>
        <p:spPr>
          <a:xfrm>
            <a:off x="8280197" y="2286000"/>
            <a:ext cx="3362858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Cercle icona"/>
          <p:cNvSpPr/>
          <p:nvPr/>
        </p:nvSpPr>
        <p:spPr>
          <a:xfrm>
            <a:off x="8536229" y="2542032"/>
            <a:ext cx="685800" cy="6858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2" name="Icona TbHammer" descr="/home/claude/pre/build/img/ic/TbHammer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105" y="269290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57255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536229" y="338328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Modelar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8536229" y="3748913"/>
            <a:ext cx="2850794" cy="823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 la forma desitjada. Era més resistent i durador que la pedra.</a:t>
            </a:r>
            <a:endParaRPr lang="en-US" sz="1600" dirty="0"/>
          </a:p>
        </p:txBody>
      </p:sp>
      <p:sp>
        <p:nvSpPr>
          <p:cNvPr id="26" name="Paraula clau · Metal·lúrgia"/>
          <p:cNvSpPr/>
          <p:nvPr/>
        </p:nvSpPr>
        <p:spPr>
          <a:xfrm>
            <a:off x="548640" y="4846320"/>
            <a:ext cx="11094415" cy="1143000"/>
          </a:xfrm>
          <a:prstGeom prst="roundRect">
            <a:avLst>
              <a:gd name="adj" fmla="val 8800"/>
            </a:avLst>
          </a:prstGeom>
          <a:solidFill>
            <a:srgbClr val="E6F4EA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68680" y="500176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Metal·lúrgia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68680" y="53492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Tècnica d'obtenir els metalls dels minerals amb el foc i de treballar-los per fer eines, armes i joies.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Coure, bronze i ferro</a:t>
            </a:r>
            <a:endParaRPr lang="en-US" sz="2800" dirty="0"/>
          </a:p>
        </p:txBody>
      </p:sp>
      <p:sp>
        <p:nvSpPr>
          <p:cNvPr id="5" name="Targeta Edat del coure"/>
          <p:cNvSpPr/>
          <p:nvPr/>
        </p:nvSpPr>
        <p:spPr>
          <a:xfrm>
            <a:off x="548640" y="1371600"/>
            <a:ext cx="3423818" cy="2971800"/>
          </a:xfrm>
          <a:prstGeom prst="roundRect">
            <a:avLst>
              <a:gd name="adj" fmla="val 338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Circle" descr="/home/claude/pre/build/img/ic/TbCircle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309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0020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Edat del coure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29666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primer metall treballat. És tou. Servia sobretot per a objectes petits i de prestigi.</a:t>
            </a:r>
            <a:endParaRPr lang="en-US" sz="1650" dirty="0"/>
          </a:p>
        </p:txBody>
      </p:sp>
      <p:sp>
        <p:nvSpPr>
          <p:cNvPr id="10" name="Targeta Edat del bronze"/>
          <p:cNvSpPr/>
          <p:nvPr/>
        </p:nvSpPr>
        <p:spPr>
          <a:xfrm>
            <a:off x="4383938" y="1371600"/>
            <a:ext cx="3423818" cy="2971800"/>
          </a:xfrm>
          <a:prstGeom prst="roundRect">
            <a:avLst>
              <a:gd name="adj" fmla="val 338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4612538" y="1600200"/>
            <a:ext cx="594360" cy="5943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Sword" descr="/home/claude/pre/build/img/ic/TbSword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298" y="17309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4058" y="160020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Edat del bronze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2331720"/>
            <a:ext cx="29666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Molt més dur. Armes, eines i objectes de luxe. Les societats es jerarquitzen.</a:t>
            </a:r>
            <a:endParaRPr lang="en-US" sz="1650" dirty="0"/>
          </a:p>
        </p:txBody>
      </p:sp>
      <p:sp>
        <p:nvSpPr>
          <p:cNvPr id="15" name="Targeta Edat del ferro"/>
          <p:cNvSpPr/>
          <p:nvPr/>
        </p:nvSpPr>
        <p:spPr>
          <a:xfrm>
            <a:off x="8219237" y="1371600"/>
            <a:ext cx="3423818" cy="2971800"/>
          </a:xfrm>
          <a:prstGeom prst="roundRect">
            <a:avLst>
              <a:gd name="adj" fmla="val 3385"/>
            </a:avLst>
          </a:prstGeom>
          <a:solidFill>
            <a:srgbClr val="188038"/>
          </a:solidFill>
          <a:ln/>
        </p:spPr>
      </p:sp>
      <p:sp>
        <p:nvSpPr>
          <p:cNvPr id="16" name="Cercle icona"/>
          <p:cNvSpPr/>
          <p:nvPr/>
        </p:nvSpPr>
        <p:spPr>
          <a:xfrm>
            <a:off x="8447837" y="16002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a TbAxe" descr="/home/claude/pre/build/img/ic/TbAx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596" y="17309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79357" y="160020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Edat del ferro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447837" y="2331720"/>
            <a:ext cx="29666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més dur i abundant. Eines i armes a l'abast de molta més gent.</a:t>
            </a:r>
            <a:endParaRPr lang="en-US" sz="1650" dirty="0"/>
          </a:p>
        </p:txBody>
      </p:sp>
      <p:sp>
        <p:nvSpPr>
          <p:cNvPr id="20" name="Fletxa"/>
          <p:cNvSpPr/>
          <p:nvPr/>
        </p:nvSpPr>
        <p:spPr>
          <a:xfrm>
            <a:off x="4082186" y="269748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1" name="Fletxa"/>
          <p:cNvSpPr/>
          <p:nvPr/>
        </p:nvSpPr>
        <p:spPr>
          <a:xfrm>
            <a:off x="7917485" y="269748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2" name="Aliatge"/>
          <p:cNvSpPr/>
          <p:nvPr/>
        </p:nvSpPr>
        <p:spPr>
          <a:xfrm>
            <a:off x="548640" y="4572000"/>
            <a:ext cx="11094415" cy="1417320"/>
          </a:xfrm>
          <a:prstGeom prst="roundRect">
            <a:avLst>
              <a:gd name="adj" fmla="val 7097"/>
            </a:avLst>
          </a:prstGeom>
          <a:solidFill>
            <a:srgbClr val="E6F4E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68680" y="4727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Aliatge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68680" y="5074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Barreja de dos o més metalls fosos.</a:t>
            </a:r>
            <a:endParaRPr lang="en-US" sz="1700" dirty="0"/>
          </a:p>
        </p:txBody>
      </p:sp>
      <p:sp>
        <p:nvSpPr>
          <p:cNvPr id="25" name="Coure"/>
          <p:cNvSpPr/>
          <p:nvPr/>
        </p:nvSpPr>
        <p:spPr>
          <a:xfrm>
            <a:off x="5989320" y="4919472"/>
            <a:ext cx="1371600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98932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Coure</a:t>
            </a:r>
            <a:endParaRPr lang="en-US" sz="1900" dirty="0"/>
          </a:p>
        </p:txBody>
      </p:sp>
      <p:sp>
        <p:nvSpPr>
          <p:cNvPr id="27" name="Text 22"/>
          <p:cNvSpPr txBox="1"/>
          <p:nvPr/>
        </p:nvSpPr>
        <p:spPr>
          <a:xfrm>
            <a:off x="7470648" y="4919472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</a:t>
            </a:r>
            <a:endParaRPr lang="en-US" sz="2600" dirty="0"/>
          </a:p>
        </p:txBody>
      </p:sp>
      <p:sp>
        <p:nvSpPr>
          <p:cNvPr id="28" name="Estany"/>
          <p:cNvSpPr/>
          <p:nvPr/>
        </p:nvSpPr>
        <p:spPr>
          <a:xfrm>
            <a:off x="7991856" y="4919472"/>
            <a:ext cx="1463040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991856" y="491947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Estany</a:t>
            </a:r>
            <a:endParaRPr lang="en-US" sz="1900" dirty="0"/>
          </a:p>
        </p:txBody>
      </p:sp>
      <p:sp>
        <p:nvSpPr>
          <p:cNvPr id="30" name="Text 25"/>
          <p:cNvSpPr txBox="1"/>
          <p:nvPr/>
        </p:nvSpPr>
        <p:spPr>
          <a:xfrm>
            <a:off x="9564624" y="4919472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</a:t>
            </a:r>
            <a:endParaRPr lang="en-US" sz="2600" dirty="0"/>
          </a:p>
        </p:txBody>
      </p:sp>
      <p:sp>
        <p:nvSpPr>
          <p:cNvPr id="31" name="Bronze"/>
          <p:cNvSpPr/>
          <p:nvPr/>
        </p:nvSpPr>
        <p:spPr>
          <a:xfrm>
            <a:off x="10085832" y="4919472"/>
            <a:ext cx="1600200" cy="731520"/>
          </a:xfrm>
          <a:prstGeom prst="roundRect">
            <a:avLst>
              <a:gd name="adj" fmla="val 13750"/>
            </a:avLst>
          </a:prstGeom>
          <a:solidFill>
            <a:srgbClr val="188038"/>
          </a:solidFill>
          <a:ln w="12700">
            <a:solidFill>
              <a:srgbClr val="188038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085832" y="491947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Bronze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Artesans i comerciants</a:t>
            </a:r>
            <a:endParaRPr lang="en-US" sz="2800" dirty="0"/>
          </a:p>
        </p:txBody>
      </p:sp>
      <p:sp>
        <p:nvSpPr>
          <p:cNvPr id="5" name="Targeta Artesans especialitzats"/>
          <p:cNvSpPr/>
          <p:nvPr/>
        </p:nvSpPr>
        <p:spPr>
          <a:xfrm>
            <a:off x="548640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Cercle icona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cona TbTools" descr="/home/claude/pre/build/img/ic/TbTools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76113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00200"/>
            <a:ext cx="2189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Artesans especialitzats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305805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Treballaven a temps complet. Calia conèixer els minerals, dominar els forns i tenir molta traça.</a:t>
            </a:r>
            <a:endParaRPr lang="en-US" sz="2100" dirty="0"/>
          </a:p>
        </p:txBody>
      </p:sp>
      <p:sp>
        <p:nvSpPr>
          <p:cNvPr id="10" name="Targeta Comerç de llarga distància"/>
          <p:cNvSpPr/>
          <p:nvPr/>
        </p:nvSpPr>
        <p:spPr>
          <a:xfrm>
            <a:off x="4338218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Cercle icona"/>
          <p:cNvSpPr/>
          <p:nvPr/>
        </p:nvSpPr>
        <p:spPr>
          <a:xfrm>
            <a:off x="4566818" y="1600200"/>
            <a:ext cx="731520" cy="7315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Route" descr="/home/claude/pre/build/img/ic/TbRoute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753" y="176113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5498" y="1600200"/>
            <a:ext cx="2189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Comerç de llarga distància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468880"/>
            <a:ext cx="305805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L'estany només es troba en llocs concrets. Calia anar-lo a buscar lluny.</a:t>
            </a:r>
            <a:endParaRPr lang="en-US" sz="2100" dirty="0"/>
          </a:p>
        </p:txBody>
      </p:sp>
      <p:sp>
        <p:nvSpPr>
          <p:cNvPr id="15" name="Targeta Contactes entre pobles"/>
          <p:cNvSpPr/>
          <p:nvPr/>
        </p:nvSpPr>
        <p:spPr>
          <a:xfrm>
            <a:off x="8127797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Cercle icona"/>
          <p:cNvSpPr/>
          <p:nvPr/>
        </p:nvSpPr>
        <p:spPr>
          <a:xfrm>
            <a:off x="8356397" y="1600200"/>
            <a:ext cx="731520" cy="7315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Users" descr="/home/claude/pre/build/img/ic/TbUsers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331" y="176113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25077" y="1600200"/>
            <a:ext cx="2189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Contactes entre pobles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2468880"/>
            <a:ext cx="305805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 el comerç de llarga distància, també es van intensificar els contactes entre pobles.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societat jerarquitzada</a:t>
            </a:r>
            <a:endParaRPr lang="en-US" sz="2800" dirty="0"/>
          </a:p>
        </p:txBody>
      </p:sp>
      <p:sp>
        <p:nvSpPr>
          <p:cNvPr id="5" name="Caps i guerrers"/>
          <p:cNvSpPr/>
          <p:nvPr/>
        </p:nvSpPr>
        <p:spPr>
          <a:xfrm>
            <a:off x="1417320" y="1371600"/>
            <a:ext cx="4023360" cy="1965960"/>
          </a:xfrm>
          <a:prstGeom prst="roundRect">
            <a:avLst>
              <a:gd name="adj" fmla="val 5116"/>
            </a:avLst>
          </a:prstGeom>
          <a:solidFill>
            <a:srgbClr val="188038"/>
          </a:solidFill>
          <a:ln/>
        </p:spPr>
      </p:sp>
      <p:sp>
        <p:nvSpPr>
          <p:cNvPr id="6" name="Cercle icona"/>
          <p:cNvSpPr/>
          <p:nvPr/>
        </p:nvSpPr>
        <p:spPr>
          <a:xfrm>
            <a:off x="1645920" y="157276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a TbCrown" descr="/home/claude/pre/build/img/ic/TbCrown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679" y="1703527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77440" y="1572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Caps i guerrers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2860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Controlaven els recursos i acumulaven armes i objectes de prestigi.</a:t>
            </a:r>
            <a:endParaRPr lang="en-US" sz="1600" dirty="0"/>
          </a:p>
        </p:txBody>
      </p:sp>
      <p:sp>
        <p:nvSpPr>
          <p:cNvPr id="10" name="La resta"/>
          <p:cNvSpPr/>
          <p:nvPr/>
        </p:nvSpPr>
        <p:spPr>
          <a:xfrm>
            <a:off x="548640" y="3520440"/>
            <a:ext cx="5760720" cy="1234440"/>
          </a:xfrm>
          <a:prstGeom prst="roundRect">
            <a:avLst>
              <a:gd name="adj" fmla="val 8148"/>
            </a:avLst>
          </a:prstGeom>
          <a:solidFill>
            <a:srgbClr val="E8EAED"/>
          </a:solidFill>
          <a:ln/>
        </p:spPr>
      </p:sp>
      <p:sp>
        <p:nvSpPr>
          <p:cNvPr id="11" name="Cercle icona"/>
          <p:cNvSpPr/>
          <p:nvPr/>
        </p:nvSpPr>
        <p:spPr>
          <a:xfrm>
            <a:off x="822960" y="3840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a TbUsers" descr="/home/claude/pre/build/img/ic/TbUsers-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397123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5204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Sacerdots, artesans, pagesos…</a:t>
            </a:r>
            <a:endParaRPr lang="en-US" sz="2000" dirty="0"/>
          </a:p>
        </p:txBody>
      </p:sp>
      <p:sp>
        <p:nvSpPr>
          <p:cNvPr id="14" name="Cercle icona"/>
          <p:cNvSpPr/>
          <p:nvPr/>
        </p:nvSpPr>
        <p:spPr>
          <a:xfrm>
            <a:off x="6583680" y="159105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5" name="Icona TbBuildingCastle" descr="/home/claude/pre/build/img/ic/TbBuildingCastl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322" y="1701698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87768" y="1371600"/>
            <a:ext cx="43552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Muralles. </a:t>
            </a:r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poblats més rics es van emmurallar per protegir-se.</a:t>
            </a:r>
            <a:endParaRPr lang="en-US" sz="1650" dirty="0"/>
          </a:p>
        </p:txBody>
      </p:sp>
      <p:sp>
        <p:nvSpPr>
          <p:cNvPr id="17" name="Cercle icona"/>
          <p:cNvSpPr/>
          <p:nvPr/>
        </p:nvSpPr>
        <p:spPr>
          <a:xfrm>
            <a:off x="6583680" y="273405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8" name="Icona TbBuildingCommunity" descr="/home/claude/pre/build/img/ic/TbBuildingCommunity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2844698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87768" y="2514600"/>
            <a:ext cx="43552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Primeres ciutats. </a:t>
            </a:r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Alguns poblats van créixer fins a convertir-se en ciutats.</a:t>
            </a:r>
            <a:endParaRPr lang="en-US" sz="1650" dirty="0"/>
          </a:p>
        </p:txBody>
      </p:sp>
      <p:sp>
        <p:nvSpPr>
          <p:cNvPr id="20" name="Cercle icona"/>
          <p:cNvSpPr/>
          <p:nvPr/>
        </p:nvSpPr>
        <p:spPr>
          <a:xfrm>
            <a:off x="6583680" y="387705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1" name="Icona TbWriting" descr="/home/claude/pre/build/img/ic/TbWriting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322" y="3987698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87768" y="3657600"/>
            <a:ext cx="43552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L'escriptura. </a:t>
            </a:r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Calia comptar, registrar i administrar. Va néixer cap al 3500 aC a Mesopotàmia.</a:t>
            </a:r>
            <a:endParaRPr lang="en-US" sz="1650" dirty="0"/>
          </a:p>
        </p:txBody>
      </p:sp>
      <p:sp>
        <p:nvSpPr>
          <p:cNvPr id="23" name="La prehistòria s’acabava"/>
          <p:cNvSpPr/>
          <p:nvPr/>
        </p:nvSpPr>
        <p:spPr>
          <a:xfrm>
            <a:off x="548640" y="4983480"/>
            <a:ext cx="11094415" cy="10058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868680" y="513892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prehistòria s’acabava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868680" y="548640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 l’escriptura començava la història.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megalitisme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 el Neolític final i l'Edat dels metalls, moltes comunitats d'Europa van aixecar megàlits. Megàlit ve de mega, gran, i lithos, pedra.</a:t>
            </a:r>
            <a:endParaRPr lang="en-US" sz="1700" dirty="0"/>
          </a:p>
        </p:txBody>
      </p:sp>
      <p:sp>
        <p:nvSpPr>
          <p:cNvPr id="6" name="El menhir"/>
          <p:cNvSpPr/>
          <p:nvPr/>
        </p:nvSpPr>
        <p:spPr>
          <a:xfrm>
            <a:off x="548640" y="2286000"/>
            <a:ext cx="3515258" cy="329184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Dibuix El menhir"/>
          <p:cNvSpPr/>
          <p:nvPr/>
        </p:nvSpPr>
        <p:spPr>
          <a:xfrm>
            <a:off x="731520" y="2468880"/>
            <a:ext cx="3149498" cy="1325880"/>
          </a:xfrm>
          <a:prstGeom prst="roundRect">
            <a:avLst>
              <a:gd name="adj" fmla="val 7586"/>
            </a:avLst>
          </a:prstGeom>
          <a:solidFill>
            <a:srgbClr val="F6F8FB"/>
          </a:solidFill>
          <a:ln/>
        </p:spPr>
      </p:sp>
      <p:sp>
        <p:nvSpPr>
          <p:cNvPr id="8" name="Terra"/>
          <p:cNvSpPr/>
          <p:nvPr/>
        </p:nvSpPr>
        <p:spPr>
          <a:xfrm>
            <a:off x="914400" y="3685032"/>
            <a:ext cx="2783738" cy="0"/>
          </a:xfrm>
          <a:prstGeom prst="line">
            <a:avLst/>
          </a:prstGeom>
          <a:noFill/>
          <a:ln w="19050">
            <a:solidFill>
              <a:srgbClr val="80868B"/>
            </a:solidFill>
            <a:prstDash val="solid"/>
          </a:ln>
        </p:spPr>
      </p:sp>
      <p:sp>
        <p:nvSpPr>
          <p:cNvPr id="9" name="Menhir"/>
          <p:cNvSpPr/>
          <p:nvPr/>
        </p:nvSpPr>
        <p:spPr>
          <a:xfrm>
            <a:off x="2086813" y="2542032"/>
            <a:ext cx="438912" cy="1143000"/>
          </a:xfrm>
          <a:prstGeom prst="roundRect">
            <a:avLst>
              <a:gd name="adj" fmla="val 41667"/>
            </a:avLst>
          </a:prstGeom>
          <a:solidFill>
            <a:srgbClr val="1880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3931920"/>
            <a:ext cx="3003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menhir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343400"/>
            <a:ext cx="30031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gran pedra clavada verticalment a terra. Potser marcava un territori o un lloc sagrat.</a:t>
            </a:r>
            <a:endParaRPr lang="en-US" sz="1550" dirty="0"/>
          </a:p>
        </p:txBody>
      </p:sp>
      <p:sp>
        <p:nvSpPr>
          <p:cNvPr id="12" name="El dolmen"/>
          <p:cNvSpPr/>
          <p:nvPr/>
        </p:nvSpPr>
        <p:spPr>
          <a:xfrm>
            <a:off x="4338218" y="2286000"/>
            <a:ext cx="3515258" cy="329184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Dibuix El dolmen"/>
          <p:cNvSpPr/>
          <p:nvPr/>
        </p:nvSpPr>
        <p:spPr>
          <a:xfrm>
            <a:off x="4521098" y="2468880"/>
            <a:ext cx="3149498" cy="1325880"/>
          </a:xfrm>
          <a:prstGeom prst="roundRect">
            <a:avLst>
              <a:gd name="adj" fmla="val 7586"/>
            </a:avLst>
          </a:prstGeom>
          <a:solidFill>
            <a:srgbClr val="F6F8FB"/>
          </a:solidFill>
          <a:ln/>
        </p:spPr>
      </p:sp>
      <p:sp>
        <p:nvSpPr>
          <p:cNvPr id="14" name="Terra"/>
          <p:cNvSpPr/>
          <p:nvPr/>
        </p:nvSpPr>
        <p:spPr>
          <a:xfrm>
            <a:off x="4703978" y="3685032"/>
            <a:ext cx="2783738" cy="0"/>
          </a:xfrm>
          <a:prstGeom prst="line">
            <a:avLst/>
          </a:prstGeom>
          <a:noFill/>
          <a:ln w="19050">
            <a:solidFill>
              <a:srgbClr val="80868B"/>
            </a:solidFill>
            <a:prstDash val="solid"/>
          </a:ln>
        </p:spPr>
      </p:sp>
      <p:sp>
        <p:nvSpPr>
          <p:cNvPr id="15" name="Pedra vertical"/>
          <p:cNvSpPr/>
          <p:nvPr/>
        </p:nvSpPr>
        <p:spPr>
          <a:xfrm>
            <a:off x="5455768" y="2935224"/>
            <a:ext cx="237744" cy="749808"/>
          </a:xfrm>
          <a:prstGeom prst="roundRect">
            <a:avLst>
              <a:gd name="adj" fmla="val 19231"/>
            </a:avLst>
          </a:prstGeom>
          <a:solidFill>
            <a:srgbClr val="188038"/>
          </a:solidFill>
          <a:ln/>
        </p:spPr>
      </p:sp>
      <p:sp>
        <p:nvSpPr>
          <p:cNvPr id="16" name="Pedra vertical"/>
          <p:cNvSpPr/>
          <p:nvPr/>
        </p:nvSpPr>
        <p:spPr>
          <a:xfrm>
            <a:off x="6498184" y="2935224"/>
            <a:ext cx="237744" cy="749808"/>
          </a:xfrm>
          <a:prstGeom prst="roundRect">
            <a:avLst>
              <a:gd name="adj" fmla="val 19231"/>
            </a:avLst>
          </a:prstGeom>
          <a:solidFill>
            <a:srgbClr val="188038"/>
          </a:solidFill>
          <a:ln/>
        </p:spPr>
      </p:sp>
      <p:sp>
        <p:nvSpPr>
          <p:cNvPr id="17" name="Llosa"/>
          <p:cNvSpPr/>
          <p:nvPr/>
        </p:nvSpPr>
        <p:spPr>
          <a:xfrm>
            <a:off x="5227168" y="2697480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1880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4250" y="3931920"/>
            <a:ext cx="3003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dolmen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94250" y="4343400"/>
            <a:ext cx="30031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Pedres verticals cobertes per una llosa. Era una tomba col·lectiva, sovint coberta per un túmul de terra.</a:t>
            </a:r>
            <a:endParaRPr lang="en-US" sz="1550" dirty="0"/>
          </a:p>
        </p:txBody>
      </p:sp>
      <p:sp>
        <p:nvSpPr>
          <p:cNvPr id="20" name="El cromlec"/>
          <p:cNvSpPr/>
          <p:nvPr/>
        </p:nvSpPr>
        <p:spPr>
          <a:xfrm>
            <a:off x="8127797" y="2286000"/>
            <a:ext cx="3515258" cy="329184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Dibuix El cromlec"/>
          <p:cNvSpPr/>
          <p:nvPr/>
        </p:nvSpPr>
        <p:spPr>
          <a:xfrm>
            <a:off x="8310677" y="2468880"/>
            <a:ext cx="3149498" cy="1325880"/>
          </a:xfrm>
          <a:prstGeom prst="roundRect">
            <a:avLst>
              <a:gd name="adj" fmla="val 7586"/>
            </a:avLst>
          </a:prstGeom>
          <a:solidFill>
            <a:srgbClr val="F6F8FB"/>
          </a:solidFill>
          <a:ln/>
        </p:spPr>
      </p:sp>
      <p:sp>
        <p:nvSpPr>
          <p:cNvPr id="22" name="Terra"/>
          <p:cNvSpPr/>
          <p:nvPr/>
        </p:nvSpPr>
        <p:spPr>
          <a:xfrm>
            <a:off x="8493557" y="3685032"/>
            <a:ext cx="2783738" cy="0"/>
          </a:xfrm>
          <a:prstGeom prst="line">
            <a:avLst/>
          </a:prstGeom>
          <a:noFill/>
          <a:ln w="19050">
            <a:solidFill>
              <a:srgbClr val="80868B"/>
            </a:solidFill>
            <a:prstDash val="solid"/>
          </a:ln>
        </p:spPr>
      </p:sp>
      <p:sp>
        <p:nvSpPr>
          <p:cNvPr id="23" name="Cercle"/>
          <p:cNvSpPr/>
          <p:nvPr/>
        </p:nvSpPr>
        <p:spPr>
          <a:xfrm>
            <a:off x="8925306" y="3136392"/>
            <a:ext cx="1920240" cy="438912"/>
          </a:xfrm>
          <a:prstGeom prst="ellipse">
            <a:avLst/>
          </a:prstGeom>
          <a:ln w="12700">
            <a:solidFill>
              <a:srgbClr val="A9DAB7"/>
            </a:solidFill>
            <a:prstDash val="dash"/>
          </a:ln>
        </p:spPr>
      </p:sp>
      <p:sp>
        <p:nvSpPr>
          <p:cNvPr id="24" name="Pedra del cercle"/>
          <p:cNvSpPr/>
          <p:nvPr/>
        </p:nvSpPr>
        <p:spPr>
          <a:xfrm>
            <a:off x="9497413" y="2714659"/>
            <a:ext cx="119265" cy="434968"/>
          </a:xfrm>
          <a:prstGeom prst="roundRect">
            <a:avLst>
              <a:gd name="adj" fmla="val 30668"/>
            </a:avLst>
          </a:prstGeom>
          <a:solidFill>
            <a:srgbClr val="7FC293"/>
          </a:solidFill>
          <a:ln/>
        </p:spPr>
      </p:sp>
      <p:sp>
        <p:nvSpPr>
          <p:cNvPr id="25" name="Pedra del cercle"/>
          <p:cNvSpPr/>
          <p:nvPr/>
        </p:nvSpPr>
        <p:spPr>
          <a:xfrm>
            <a:off x="10154174" y="2714659"/>
            <a:ext cx="119265" cy="434968"/>
          </a:xfrm>
          <a:prstGeom prst="roundRect">
            <a:avLst>
              <a:gd name="adj" fmla="val 30668"/>
            </a:avLst>
          </a:prstGeom>
          <a:solidFill>
            <a:srgbClr val="7FC293"/>
          </a:solidFill>
          <a:ln/>
        </p:spPr>
      </p:sp>
      <p:sp>
        <p:nvSpPr>
          <p:cNvPr id="26" name="Pedra del cercle"/>
          <p:cNvSpPr/>
          <p:nvPr/>
        </p:nvSpPr>
        <p:spPr>
          <a:xfrm>
            <a:off x="8990204" y="2781239"/>
            <a:ext cx="127467" cy="464881"/>
          </a:xfrm>
          <a:prstGeom prst="roundRect">
            <a:avLst>
              <a:gd name="adj" fmla="val 28694"/>
            </a:avLst>
          </a:prstGeom>
          <a:solidFill>
            <a:srgbClr val="7FC293"/>
          </a:solidFill>
          <a:ln/>
        </p:spPr>
      </p:sp>
      <p:sp>
        <p:nvSpPr>
          <p:cNvPr id="27" name="Pedra del cercle"/>
          <p:cNvSpPr/>
          <p:nvPr/>
        </p:nvSpPr>
        <p:spPr>
          <a:xfrm>
            <a:off x="10653181" y="2781239"/>
            <a:ext cx="127467" cy="464881"/>
          </a:xfrm>
          <a:prstGeom prst="roundRect">
            <a:avLst>
              <a:gd name="adj" fmla="val 28694"/>
            </a:avLst>
          </a:prstGeom>
          <a:solidFill>
            <a:srgbClr val="7FC293"/>
          </a:solidFill>
          <a:ln/>
        </p:spPr>
      </p:sp>
      <p:sp>
        <p:nvSpPr>
          <p:cNvPr id="28" name="Pedra del cercle"/>
          <p:cNvSpPr/>
          <p:nvPr/>
        </p:nvSpPr>
        <p:spPr>
          <a:xfrm>
            <a:off x="8869876" y="2883246"/>
            <a:ext cx="140033" cy="510710"/>
          </a:xfrm>
          <a:prstGeom prst="roundRect">
            <a:avLst>
              <a:gd name="adj" fmla="val 26120"/>
            </a:avLst>
          </a:prstGeom>
          <a:solidFill>
            <a:srgbClr val="188038"/>
          </a:solidFill>
          <a:ln/>
        </p:spPr>
      </p:sp>
      <p:sp>
        <p:nvSpPr>
          <p:cNvPr id="29" name="Pedra del cercle"/>
          <p:cNvSpPr/>
          <p:nvPr/>
        </p:nvSpPr>
        <p:spPr>
          <a:xfrm>
            <a:off x="10760943" y="2883246"/>
            <a:ext cx="140033" cy="510710"/>
          </a:xfrm>
          <a:prstGeom prst="roundRect">
            <a:avLst>
              <a:gd name="adj" fmla="val 26120"/>
            </a:avLst>
          </a:prstGeom>
          <a:solidFill>
            <a:srgbClr val="188038"/>
          </a:solidFill>
          <a:ln/>
        </p:spPr>
      </p:sp>
      <p:sp>
        <p:nvSpPr>
          <p:cNvPr id="30" name="Pedra del cercle"/>
          <p:cNvSpPr/>
          <p:nvPr/>
        </p:nvSpPr>
        <p:spPr>
          <a:xfrm>
            <a:off x="10427037" y="2972949"/>
            <a:ext cx="151084" cy="551012"/>
          </a:xfrm>
          <a:prstGeom prst="roundRect">
            <a:avLst>
              <a:gd name="adj" fmla="val 24209"/>
            </a:avLst>
          </a:prstGeom>
          <a:solidFill>
            <a:srgbClr val="188038"/>
          </a:solidFill>
          <a:ln/>
        </p:spPr>
      </p:sp>
      <p:sp>
        <p:nvSpPr>
          <p:cNvPr id="31" name="Pedra del cercle"/>
          <p:cNvSpPr/>
          <p:nvPr/>
        </p:nvSpPr>
        <p:spPr>
          <a:xfrm>
            <a:off x="9192731" y="2972949"/>
            <a:ext cx="151084" cy="551012"/>
          </a:xfrm>
          <a:prstGeom prst="roundRect">
            <a:avLst>
              <a:gd name="adj" fmla="val 24209"/>
            </a:avLst>
          </a:prstGeom>
          <a:solidFill>
            <a:srgbClr val="188038"/>
          </a:solidFill>
          <a:ln/>
        </p:spPr>
      </p:sp>
      <p:sp>
        <p:nvSpPr>
          <p:cNvPr id="32" name="Pedra del cercle"/>
          <p:cNvSpPr/>
          <p:nvPr/>
        </p:nvSpPr>
        <p:spPr>
          <a:xfrm>
            <a:off x="9807702" y="3008376"/>
            <a:ext cx="155448" cy="566928"/>
          </a:xfrm>
          <a:prstGeom prst="roundRect">
            <a:avLst>
              <a:gd name="adj" fmla="val 23529"/>
            </a:avLst>
          </a:prstGeom>
          <a:solidFill>
            <a:srgbClr val="18803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83829" y="3931920"/>
            <a:ext cx="3003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cromlec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8383829" y="4343400"/>
            <a:ext cx="30031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cercle de menhirs. El més famós és Stonehenge (Anglaterra).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6692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Esquemes sense escala. Dibuixos: professordesocials.cat, CC BY-SA 4.0.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Grans obres col·lectives</a:t>
            </a:r>
            <a:endParaRPr lang="en-US" sz="2800" dirty="0"/>
          </a:p>
        </p:txBody>
      </p:sp>
      <p:sp>
        <p:nvSpPr>
          <p:cNvPr id="5" name="Fons Dolmen del Puig d'Esquers (Alt Empordà)"/>
          <p:cNvSpPr/>
          <p:nvPr/>
        </p:nvSpPr>
        <p:spPr>
          <a:xfrm>
            <a:off x="548640" y="1371600"/>
            <a:ext cx="5303520" cy="3977640"/>
          </a:xfrm>
          <a:prstGeom prst="roundRect">
            <a:avLst>
              <a:gd name="adj" fmla="val 2529"/>
            </a:avLst>
          </a:prstGeom>
          <a:solidFill>
            <a:srgbClr val="F6F8FB"/>
          </a:solidFill>
          <a:ln/>
        </p:spPr>
      </p:sp>
      <p:pic>
        <p:nvPicPr>
          <p:cNvPr id="6" name="Dolmen del Puig d'Esquers (Alt Empordà)" descr="/home/claude/pre/build/img/dolm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303" y="1371600"/>
            <a:ext cx="5302194" cy="3977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406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Dolmen del Puig d'Esquers (Alt Empordà). Una tomba megalítica col·lectiva del Neolític. Foto: Alan Mattingly, Wikimedia Commons, CC0.</a:t>
            </a:r>
            <a:endParaRPr lang="en-US" sz="1000" dirty="0"/>
          </a:p>
        </p:txBody>
      </p:sp>
      <p:sp>
        <p:nvSpPr>
          <p:cNvPr id="8" name="Paraula clau · Megàlit"/>
          <p:cNvSpPr/>
          <p:nvPr/>
        </p:nvSpPr>
        <p:spPr>
          <a:xfrm>
            <a:off x="6217920" y="1371600"/>
            <a:ext cx="5425135" cy="1737360"/>
          </a:xfrm>
          <a:prstGeom prst="roundRect">
            <a:avLst>
              <a:gd name="adj" fmla="val 5789"/>
            </a:avLst>
          </a:prstGeom>
          <a:solidFill>
            <a:srgbClr val="E6F4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1527048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Megàlit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874520"/>
            <a:ext cx="4785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Monument prehistòric fet amb grans pedres, com els dòlmens o els menhirs, normalment lligat a enterraments o rituals.</a:t>
            </a:r>
            <a:endParaRPr lang="en-US" sz="1600" dirty="0"/>
          </a:p>
        </p:txBody>
      </p:sp>
      <p:sp>
        <p:nvSpPr>
          <p:cNvPr id="11" name="Cercle icona"/>
          <p:cNvSpPr/>
          <p:nvPr/>
        </p:nvSpPr>
        <p:spPr>
          <a:xfrm>
            <a:off x="6217920" y="337413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cona TbUsersGroup" descr="/home/claude/pre/build/img/ic/TbUsersGroup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62" y="3484778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22008" y="3291840"/>
            <a:ext cx="4721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Molta gent </a:t>
            </a:r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havia de col·laborar durant molt de temps per aixecar-los.</a:t>
            </a:r>
            <a:endParaRPr lang="en-US" sz="1700" dirty="0"/>
          </a:p>
        </p:txBody>
      </p:sp>
      <p:sp>
        <p:nvSpPr>
          <p:cNvPr id="14" name="Cercle icona"/>
          <p:cNvSpPr/>
          <p:nvPr/>
        </p:nvSpPr>
        <p:spPr>
          <a:xfrm>
            <a:off x="6217920" y="424281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5" name="Icona TbCrown" descr="/home/claude/pre/build/img/ic/TbCrown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562" y="4353458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22008" y="4160520"/>
            <a:ext cx="4721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 havia líders </a:t>
            </a:r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capaços de coordinar grans projectes col·lectius.</a:t>
            </a:r>
            <a:endParaRPr lang="en-US" sz="1700" dirty="0"/>
          </a:p>
        </p:txBody>
      </p:sp>
      <p:sp>
        <p:nvSpPr>
          <p:cNvPr id="17" name="Pensa-hi"/>
          <p:cNvSpPr/>
          <p:nvPr/>
        </p:nvSpPr>
        <p:spPr>
          <a:xfrm>
            <a:off x="6217920" y="5074920"/>
            <a:ext cx="5425135" cy="914400"/>
          </a:xfrm>
          <a:prstGeom prst="roundRect">
            <a:avLst>
              <a:gd name="adj" fmla="val 11000"/>
            </a:avLst>
          </a:prstGeom>
          <a:solidFill>
            <a:srgbClr val="F6F8FB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537960" y="5230368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Pensa-hi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557784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movien pedres tan grans sense màquines?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metalls a la península i a Catalunya</a:t>
            </a:r>
            <a:endParaRPr lang="en-US" sz="2800" dirty="0"/>
          </a:p>
        </p:txBody>
      </p:sp>
      <p:sp>
        <p:nvSpPr>
          <p:cNvPr id="5" name="Línia del temps"/>
          <p:cNvSpPr/>
          <p:nvPr/>
        </p:nvSpPr>
        <p:spPr>
          <a:xfrm>
            <a:off x="649224" y="1554480"/>
            <a:ext cx="0" cy="3895344"/>
          </a:xfrm>
          <a:prstGeom prst="line">
            <a:avLst/>
          </a:prstGeom>
          <a:noFill/>
          <a:ln w="31750">
            <a:solidFill>
              <a:srgbClr val="DADCE0"/>
            </a:solidFill>
            <a:prstDash val="solid"/>
          </a:ln>
        </p:spPr>
      </p:sp>
      <p:sp>
        <p:nvSpPr>
          <p:cNvPr id="6" name="Fita 3200 aC"/>
          <p:cNvSpPr/>
          <p:nvPr/>
        </p:nvSpPr>
        <p:spPr>
          <a:xfrm>
            <a:off x="548640" y="1453896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3200 aC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852928" y="1417320"/>
            <a:ext cx="87901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Primeres comunitats del coure, al sud-est de la península. Los Millares (Almeria), amb muralles.</a:t>
            </a:r>
            <a:endParaRPr lang="en-US" sz="1600" dirty="0"/>
          </a:p>
        </p:txBody>
      </p:sp>
      <p:sp>
        <p:nvSpPr>
          <p:cNvPr id="9" name="Fita 2500 aC"/>
          <p:cNvSpPr/>
          <p:nvPr/>
        </p:nvSpPr>
        <p:spPr>
          <a:xfrm>
            <a:off x="548640" y="2103120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20665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2500 aC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52928" y="2066544"/>
            <a:ext cx="87901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Catalunya es comença a fondre el coure.</a:t>
            </a:r>
            <a:endParaRPr lang="en-US" sz="1600" dirty="0"/>
          </a:p>
        </p:txBody>
      </p:sp>
      <p:sp>
        <p:nvSpPr>
          <p:cNvPr id="12" name="Fita 2200 aC"/>
          <p:cNvSpPr/>
          <p:nvPr/>
        </p:nvSpPr>
        <p:spPr>
          <a:xfrm>
            <a:off x="548640" y="2752344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715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2200 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52928" y="2715768"/>
            <a:ext cx="87901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Cultura d'El Argar, al sud-est, ja de l'Edat del bronze. Tombes amb armes i joies.</a:t>
            </a:r>
            <a:endParaRPr lang="en-US" sz="1600" dirty="0"/>
          </a:p>
        </p:txBody>
      </p:sp>
      <p:sp>
        <p:nvSpPr>
          <p:cNvPr id="15" name="Fita 1100 aC"/>
          <p:cNvSpPr/>
          <p:nvPr/>
        </p:nvSpPr>
        <p:spPr>
          <a:xfrm>
            <a:off x="548640" y="3401568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3364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1100 aC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52928" y="3364992"/>
            <a:ext cx="87901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Catalunya s'estenen els camps d'urnes, necròpolis amb les cendres dels morts.</a:t>
            </a:r>
            <a:endParaRPr lang="en-US" sz="1600" dirty="0"/>
          </a:p>
        </p:txBody>
      </p:sp>
      <p:sp>
        <p:nvSpPr>
          <p:cNvPr id="18" name="Fita Segle VIII aC"/>
          <p:cNvSpPr/>
          <p:nvPr/>
        </p:nvSpPr>
        <p:spPr>
          <a:xfrm>
            <a:off x="548640" y="4050792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" y="4014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Segle VIII aC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852928" y="4014216"/>
            <a:ext cx="87901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Comença l'Edat del ferro a Catalunya.</a:t>
            </a:r>
            <a:endParaRPr lang="en-US" sz="1600" dirty="0"/>
          </a:p>
        </p:txBody>
      </p:sp>
      <p:sp>
        <p:nvSpPr>
          <p:cNvPr id="21" name="Fita Segle VI aC"/>
          <p:cNvSpPr/>
          <p:nvPr/>
        </p:nvSpPr>
        <p:spPr>
          <a:xfrm>
            <a:off x="548640" y="4700016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Segle VI aC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852928" y="4663440"/>
            <a:ext cx="87901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començaments del segle, els grecs funden Empúries.</a:t>
            </a:r>
            <a:endParaRPr lang="en-US" sz="1600" dirty="0"/>
          </a:p>
        </p:txBody>
      </p:sp>
      <p:sp>
        <p:nvSpPr>
          <p:cNvPr id="24" name="Fita Segle V aC"/>
          <p:cNvSpPr/>
          <p:nvPr/>
        </p:nvSpPr>
        <p:spPr>
          <a:xfrm>
            <a:off x="548640" y="5349240"/>
            <a:ext cx="201168" cy="201168"/>
          </a:xfrm>
          <a:prstGeom prst="ellipse">
            <a:avLst/>
          </a:prstGeom>
          <a:solidFill>
            <a:srgbClr val="188038"/>
          </a:solidFill>
          <a:ln w="28575">
            <a:solidFill>
              <a:srgbClr val="1880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5312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Segle V aC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852928" y="5312664"/>
            <a:ext cx="87901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ibers ja escriuen. La prehistòria s’acaba a Catalunya.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Comprova-ho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Paraules clau</a:t>
            </a:r>
            <a:endParaRPr lang="en-US" sz="1400" dirty="0"/>
          </a:p>
        </p:txBody>
      </p:sp>
      <p:sp>
        <p:nvSpPr>
          <p:cNvPr id="6" name="Etiqueta Metal·lúrgia"/>
          <p:cNvSpPr/>
          <p:nvPr/>
        </p:nvSpPr>
        <p:spPr>
          <a:xfrm>
            <a:off x="548640" y="1755648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Metal·lúrgia</a:t>
            </a:r>
            <a:endParaRPr lang="en-US" sz="1500" dirty="0"/>
          </a:p>
        </p:txBody>
      </p:sp>
      <p:sp>
        <p:nvSpPr>
          <p:cNvPr id="8" name="Etiqueta Bronze"/>
          <p:cNvSpPr/>
          <p:nvPr/>
        </p:nvSpPr>
        <p:spPr>
          <a:xfrm>
            <a:off x="2176272" y="175564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76272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Bronze</a:t>
            </a:r>
            <a:endParaRPr lang="en-US" sz="1500" dirty="0"/>
          </a:p>
        </p:txBody>
      </p:sp>
      <p:sp>
        <p:nvSpPr>
          <p:cNvPr id="10" name="Etiqueta Aliatge"/>
          <p:cNvSpPr/>
          <p:nvPr/>
        </p:nvSpPr>
        <p:spPr>
          <a:xfrm>
            <a:off x="3200400" y="1755648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175564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Aliatge</a:t>
            </a:r>
            <a:endParaRPr lang="en-US" sz="1500" dirty="0"/>
          </a:p>
        </p:txBody>
      </p:sp>
      <p:sp>
        <p:nvSpPr>
          <p:cNvPr id="12" name="Etiqueta Megàlit"/>
          <p:cNvSpPr/>
          <p:nvPr/>
        </p:nvSpPr>
        <p:spPr>
          <a:xfrm>
            <a:off x="4325112" y="1755648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25112" y="175564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Megàlit</a:t>
            </a:r>
            <a:endParaRPr lang="en-US" sz="1500" dirty="0"/>
          </a:p>
        </p:txBody>
      </p:sp>
      <p:sp>
        <p:nvSpPr>
          <p:cNvPr id="14" name="Etiqueta Dolmen"/>
          <p:cNvSpPr/>
          <p:nvPr/>
        </p:nvSpPr>
        <p:spPr>
          <a:xfrm>
            <a:off x="5449824" y="175564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49824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Dolmen</a:t>
            </a:r>
            <a:endParaRPr lang="en-US" sz="1500" dirty="0"/>
          </a:p>
        </p:txBody>
      </p:sp>
      <p:sp>
        <p:nvSpPr>
          <p:cNvPr id="16" name="Etiqueta Camps d'urnes"/>
          <p:cNvSpPr/>
          <p:nvPr/>
        </p:nvSpPr>
        <p:spPr>
          <a:xfrm>
            <a:off x="6473952" y="1755648"/>
            <a:ext cx="1618488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952" y="175564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Camps d'urnes</a:t>
            </a:r>
            <a:endParaRPr lang="en-US" sz="1500" dirty="0"/>
          </a:p>
        </p:txBody>
      </p:sp>
      <p:sp>
        <p:nvSpPr>
          <p:cNvPr id="18" name="Pregunta 1"/>
          <p:cNvSpPr/>
          <p:nvPr/>
        </p:nvSpPr>
        <p:spPr>
          <a:xfrm>
            <a:off x="548640" y="25146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Número 1"/>
          <p:cNvSpPr/>
          <p:nvPr/>
        </p:nvSpPr>
        <p:spPr>
          <a:xfrm>
            <a:off x="822960" y="26746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25146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el bronze era millor que el coure?</a:t>
            </a:r>
            <a:endParaRPr lang="en-US" sz="1900" dirty="0"/>
          </a:p>
        </p:txBody>
      </p:sp>
      <p:sp>
        <p:nvSpPr>
          <p:cNvPr id="22" name="Pregunta 2"/>
          <p:cNvSpPr/>
          <p:nvPr/>
        </p:nvSpPr>
        <p:spPr>
          <a:xfrm>
            <a:off x="548640" y="34290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Número 2"/>
          <p:cNvSpPr/>
          <p:nvPr/>
        </p:nvSpPr>
        <p:spPr>
          <a:xfrm>
            <a:off x="822960" y="35890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589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4290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el bronze va fer créixer el comerç de llarga distància?</a:t>
            </a:r>
            <a:endParaRPr lang="en-US" sz="1900" dirty="0"/>
          </a:p>
        </p:txBody>
      </p:sp>
      <p:sp>
        <p:nvSpPr>
          <p:cNvPr id="26" name="Pregunta 3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Número 3"/>
          <p:cNvSpPr/>
          <p:nvPr/>
        </p:nvSpPr>
        <p:spPr>
          <a:xfrm>
            <a:off x="822960" y="45034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503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3434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Quina diferència hi ha entre un menhir, un dolmen i un cromlec?</a:t>
            </a:r>
            <a:endParaRPr lang="en-US" sz="1900" dirty="0"/>
          </a:p>
        </p:txBody>
      </p:sp>
      <p:sp>
        <p:nvSpPr>
          <p:cNvPr id="30" name="Pregunta 4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1" name="Número 4"/>
          <p:cNvSpPr/>
          <p:nvPr/>
        </p:nvSpPr>
        <p:spPr>
          <a:xfrm>
            <a:off x="822960" y="54178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2578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què la prehistòria es va acabar més tard a Catalunya que a Mesopotàmia?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çalera"/>
          <p:cNvSpPr/>
          <p:nvPr/>
        </p:nvSpPr>
        <p:spPr>
          <a:xfrm>
            <a:off x="548640" y="548640"/>
            <a:ext cx="6720840" cy="3657600"/>
          </a:xfrm>
          <a:prstGeom prst="roundRect">
            <a:avLst>
              <a:gd name="adj" fmla="val 2750"/>
            </a:avLst>
          </a:prstGeom>
          <a:solidFill>
            <a:srgbClr val="188038"/>
          </a:solidFill>
          <a:ln/>
        </p:spPr>
      </p:sp>
      <p:pic>
        <p:nvPicPr>
          <p:cNvPr id="3" name="Il·lustració d'un menhir, un dolmen i el sol" descr="/home/claude/pre/build/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294081"/>
            <a:ext cx="3566160" cy="1893871"/>
          </a:xfrm>
          <a:prstGeom prst="rect">
            <a:avLst/>
          </a:prstGeom>
        </p:spPr>
      </p:pic>
      <p:sp>
        <p:nvSpPr>
          <p:cNvPr id="4" name="Etiqueta Apartat 6"/>
          <p:cNvSpPr/>
          <p:nvPr/>
        </p:nvSpPr>
        <p:spPr>
          <a:xfrm>
            <a:off x="960120" y="896112"/>
            <a:ext cx="1035101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896112"/>
            <a:ext cx="10351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Apartat 6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3716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prehistòria a casa nostra</a:t>
            </a:r>
            <a:endParaRPr lang="en-US" sz="3800" dirty="0"/>
          </a:p>
        </p:txBody>
      </p:sp>
      <p:sp>
        <p:nvSpPr>
          <p:cNvPr id="7" name="Pregunta guia"/>
          <p:cNvSpPr/>
          <p:nvPr/>
        </p:nvSpPr>
        <p:spPr>
          <a:xfrm>
            <a:off x="548640" y="4389120"/>
            <a:ext cx="6720840" cy="1645920"/>
          </a:xfrm>
          <a:prstGeom prst="roundRect">
            <a:avLst>
              <a:gd name="adj" fmla="val 6111"/>
            </a:avLst>
          </a:prstGeom>
          <a:solidFill>
            <a:srgbClr val="F6F8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 guia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937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Quin és el jaciment prehistòric més proper a casa teva?</a:t>
            </a:r>
            <a:endParaRPr lang="en-US" sz="1900" dirty="0"/>
          </a:p>
        </p:txBody>
      </p:sp>
      <p:sp>
        <p:nvSpPr>
          <p:cNvPr id="10" name="Fons La prehistòria a casa nostra"/>
          <p:cNvSpPr/>
          <p:nvPr/>
        </p:nvSpPr>
        <p:spPr>
          <a:xfrm>
            <a:off x="7635240" y="1591145"/>
            <a:ext cx="4007815" cy="2605862"/>
          </a:xfrm>
          <a:prstGeom prst="roundRect">
            <a:avLst>
              <a:gd name="adj" fmla="val 3860"/>
            </a:avLst>
          </a:prstGeom>
          <a:solidFill>
            <a:srgbClr val="F6F8FB"/>
          </a:solidFill>
          <a:ln/>
        </p:spPr>
      </p:sp>
      <p:pic>
        <p:nvPicPr>
          <p:cNvPr id="11" name="La prehistòria a casa nostra" descr="/home/claude/pre/build/img/abri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91145"/>
            <a:ext cx="4007815" cy="26058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4306735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Excavació a l'Abric Romaní (Capellades). Un jaciment neandertal de referència internacional. Foto: V. Mourre, Wikimedia Commons, CC BY-SA 3.0.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Jaciments de totes les etapes</a:t>
            </a:r>
            <a:endParaRPr lang="en-US" sz="2800" dirty="0"/>
          </a:p>
        </p:txBody>
      </p:sp>
      <p:sp>
        <p:nvSpPr>
          <p:cNvPr id="5" name="Fons Els jaciments de la unitat"/>
          <p:cNvSpPr/>
          <p:nvPr/>
        </p:nvSpPr>
        <p:spPr>
          <a:xfrm>
            <a:off x="548640" y="1371600"/>
            <a:ext cx="5257800" cy="4206240"/>
          </a:xfrm>
          <a:prstGeom prst="roundRect">
            <a:avLst>
              <a:gd name="adj" fmla="val 2391"/>
            </a:avLst>
          </a:prstGeom>
          <a:solidFill>
            <a:srgbClr val="F6F8FB"/>
          </a:solidFill>
          <a:ln/>
        </p:spPr>
      </p:sp>
      <p:pic>
        <p:nvPicPr>
          <p:cNvPr id="6" name="Els jaciments de la unitat" descr="/home/claude/pre/build/img/jacim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57800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6928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jaciments de la unitat. El color indica l'etapa. Mapa: professordesocials.cat, CC BY-SA 4.0. Base cartogràfica: IGN (CC BY 4.0) i Natural Earth (domini públic).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371600"/>
            <a:ext cx="5470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cal anar gaire lluny per trepitjar escenaris de la prehistòria. Catalunya conserva jaciments de totes les etapes.</a:t>
            </a:r>
            <a:endParaRPr lang="en-US" sz="1900" dirty="0"/>
          </a:p>
        </p:txBody>
      </p:sp>
      <p:sp>
        <p:nvSpPr>
          <p:cNvPr id="9" name="Llegenda Paleolític"/>
          <p:cNvSpPr/>
          <p:nvPr/>
        </p:nvSpPr>
        <p:spPr>
          <a:xfrm>
            <a:off x="6217920" y="2953512"/>
            <a:ext cx="237744" cy="237744"/>
          </a:xfrm>
          <a:prstGeom prst="ellipse">
            <a:avLst/>
          </a:prstGeom>
          <a:solidFill>
            <a:srgbClr val="1F5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2880360"/>
            <a:ext cx="5013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</a:t>
            </a:r>
            <a:endParaRPr lang="en-US" sz="1700" dirty="0"/>
          </a:p>
        </p:txBody>
      </p:sp>
      <p:sp>
        <p:nvSpPr>
          <p:cNvPr id="11" name="Llegenda Neolític i art llevantí"/>
          <p:cNvSpPr/>
          <p:nvPr/>
        </p:nvSpPr>
        <p:spPr>
          <a:xfrm>
            <a:off x="6217920" y="3410712"/>
            <a:ext cx="237744" cy="237744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29400" y="3337560"/>
            <a:ext cx="5013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Neolític i art llevantí</a:t>
            </a:r>
            <a:endParaRPr lang="en-US" sz="1700" dirty="0"/>
          </a:p>
        </p:txBody>
      </p:sp>
      <p:sp>
        <p:nvSpPr>
          <p:cNvPr id="13" name="Llegenda Megalitisme"/>
          <p:cNvSpPr/>
          <p:nvPr/>
        </p:nvSpPr>
        <p:spPr>
          <a:xfrm>
            <a:off x="6217920" y="3867912"/>
            <a:ext cx="237744" cy="237744"/>
          </a:xfrm>
          <a:prstGeom prst="ellipse">
            <a:avLst/>
          </a:prstGeom>
          <a:solidFill>
            <a:srgbClr val="E374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29400" y="3794760"/>
            <a:ext cx="5013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Megalitisme</a:t>
            </a:r>
            <a:endParaRPr lang="en-US" sz="1700" dirty="0"/>
          </a:p>
        </p:txBody>
      </p:sp>
      <p:sp>
        <p:nvSpPr>
          <p:cNvPr id="15" name="Llegenda Edat del ferro"/>
          <p:cNvSpPr/>
          <p:nvPr/>
        </p:nvSpPr>
        <p:spPr>
          <a:xfrm>
            <a:off x="6217920" y="4325112"/>
            <a:ext cx="237744" cy="237744"/>
          </a:xfrm>
          <a:prstGeom prst="ellipse">
            <a:avLst/>
          </a:prstGeom>
          <a:solidFill>
            <a:srgbClr val="8430C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29400" y="4251960"/>
            <a:ext cx="5013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Edat del ferro</a:t>
            </a:r>
            <a:endParaRPr lang="en-US" sz="1700" dirty="0"/>
          </a:p>
        </p:txBody>
      </p:sp>
      <p:sp>
        <p:nvSpPr>
          <p:cNvPr id="17" name="Fes-ho tu"/>
          <p:cNvSpPr/>
          <p:nvPr/>
        </p:nvSpPr>
        <p:spPr>
          <a:xfrm>
            <a:off x="6172200" y="4846320"/>
            <a:ext cx="5470855" cy="1143000"/>
          </a:xfrm>
          <a:prstGeom prst="roundRect">
            <a:avLst>
              <a:gd name="adj" fmla="val 8800"/>
            </a:avLst>
          </a:prstGeom>
          <a:solidFill>
            <a:srgbClr val="F6F8F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92240" y="5001768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Fes-ho tu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5349240"/>
            <a:ext cx="4830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 al mapa quin jaciment et queda més a prop. De quina etapa és?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Paleolític. Caçadors i neandertals</a:t>
            </a:r>
            <a:endParaRPr lang="en-US" sz="2800" dirty="0"/>
          </a:p>
        </p:txBody>
      </p:sp>
      <p:sp>
        <p:nvSpPr>
          <p:cNvPr id="5" name="Jaciment Barranc de la Boella"/>
          <p:cNvSpPr/>
          <p:nvPr/>
        </p:nvSpPr>
        <p:spPr>
          <a:xfrm>
            <a:off x="548640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Punt Barranc de la Boella"/>
          <p:cNvSpPr/>
          <p:nvPr/>
        </p:nvSpPr>
        <p:spPr>
          <a:xfrm>
            <a:off x="804672" y="1673352"/>
            <a:ext cx="219456" cy="219456"/>
          </a:xfrm>
          <a:prstGeom prst="ellipse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572768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Barranc de la Boella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1168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Canonja, Tarragonès · Paleolític inferior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51760"/>
            <a:ext cx="300319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 prop d'un milió d'anys, uns humans hi van esquarterar un mamut. Ossos amb marques de tall i grans eines de pedra, de les més antigues d'aquest tipus a Europa.</a:t>
            </a:r>
            <a:endParaRPr lang="en-US" sz="1950" dirty="0"/>
          </a:p>
        </p:txBody>
      </p:sp>
      <p:sp>
        <p:nvSpPr>
          <p:cNvPr id="10" name="Jaciment Abric Romaní"/>
          <p:cNvSpPr/>
          <p:nvPr/>
        </p:nvSpPr>
        <p:spPr>
          <a:xfrm>
            <a:off x="4338218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Punt Abric Romaní"/>
          <p:cNvSpPr/>
          <p:nvPr/>
        </p:nvSpPr>
        <p:spPr>
          <a:xfrm>
            <a:off x="4594250" y="1673352"/>
            <a:ext cx="219456" cy="219456"/>
          </a:xfrm>
          <a:prstGeom prst="ellipse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2578" y="1572768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Abric Romaní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32578" y="201168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Capellades, Anoia · Paleolític, neandertals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94250" y="2651760"/>
            <a:ext cx="300319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Grups de neandertals hi van acampar entre fa uns 70.000 i 40.000 anys. Fogars, restes d’animals, eines de sílex i fins i tot empremtes de fusta.</a:t>
            </a:r>
            <a:endParaRPr lang="en-US" sz="1950" dirty="0"/>
          </a:p>
        </p:txBody>
      </p:sp>
      <p:sp>
        <p:nvSpPr>
          <p:cNvPr id="15" name="Jaciment Coves del Toll"/>
          <p:cNvSpPr/>
          <p:nvPr/>
        </p:nvSpPr>
        <p:spPr>
          <a:xfrm>
            <a:off x="8127797" y="1371600"/>
            <a:ext cx="3515258" cy="46177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Punt Coves del Toll"/>
          <p:cNvSpPr/>
          <p:nvPr/>
        </p:nvSpPr>
        <p:spPr>
          <a:xfrm>
            <a:off x="8383829" y="1673352"/>
            <a:ext cx="219456" cy="219456"/>
          </a:xfrm>
          <a:prstGeom prst="ellipse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22157" y="1572768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Coves del Toll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722157" y="201168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Moià, Moianès · Paleolític i Neolític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83829" y="2651760"/>
            <a:ext cx="300319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de les «coves d'ossos» més riques d'Europa. Óssos de les cavernes, hienes i rinoceronts, i proves d'ocupació humana.</a:t>
            </a:r>
            <a:endParaRPr lang="en-US" sz="1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Roca dels Moros</a:t>
            </a:r>
            <a:endParaRPr lang="en-US" sz="2800" dirty="0"/>
          </a:p>
        </p:txBody>
      </p:sp>
      <p:sp>
        <p:nvSpPr>
          <p:cNvPr id="5" name="Fons Pintures de la Roca dels Moros (el Cogul, les Garrigues)"/>
          <p:cNvSpPr/>
          <p:nvPr/>
        </p:nvSpPr>
        <p:spPr>
          <a:xfrm>
            <a:off x="548640" y="1371600"/>
            <a:ext cx="5486400" cy="3958442"/>
          </a:xfrm>
          <a:prstGeom prst="roundRect">
            <a:avLst>
              <a:gd name="adj" fmla="val 2541"/>
            </a:avLst>
          </a:prstGeom>
          <a:solidFill>
            <a:srgbClr val="F6F8FB"/>
          </a:solidFill>
          <a:ln/>
        </p:spPr>
      </p:sp>
      <p:pic>
        <p:nvPicPr>
          <p:cNvPr id="6" name="Pintures de la Roca dels Moros (el Cogul, les Garrigues)" descr="/home/claude/pre/build/img/rocamor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9584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2148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Pintures de la Roca dels Moros (el Cogul, les Garrigues). Reproducció exposada al Museu de Gavà. Foto: Enric, Wikimedia Commons, CC BY-SA 3.0.</a:t>
            </a:r>
            <a:endParaRPr lang="en-US" sz="1000" dirty="0"/>
          </a:p>
        </p:txBody>
      </p:sp>
      <p:sp>
        <p:nvSpPr>
          <p:cNvPr id="8" name="Etiqueta el Cogul, les Garrigues · Art rupestre llevantí"/>
          <p:cNvSpPr/>
          <p:nvPr/>
        </p:nvSpPr>
        <p:spPr>
          <a:xfrm>
            <a:off x="6400800" y="1371600"/>
            <a:ext cx="3963924" cy="34747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0" y="1371600"/>
            <a:ext cx="3963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Cogul, les Garrigues · Art rupestre llevantí</a:t>
            </a:r>
            <a:endParaRPr lang="en-US" sz="1250" dirty="0"/>
          </a:p>
        </p:txBody>
      </p:sp>
      <p:sp>
        <p:nvSpPr>
          <p:cNvPr id="10" name="Cercle icona"/>
          <p:cNvSpPr/>
          <p:nvPr/>
        </p:nvSpPr>
        <p:spPr>
          <a:xfrm>
            <a:off x="6400800" y="202539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1" name="Icona TbWorld" descr="/home/claude/pre/build/img/ic/TbWorld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2136038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04888" y="1920240"/>
            <a:ext cx="45381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Patrimoni de la Humanitat </a:t>
            </a:r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la UNESCO.</a:t>
            </a:r>
            <a:endParaRPr lang="en-US" sz="1650" dirty="0"/>
          </a:p>
        </p:txBody>
      </p:sp>
      <p:sp>
        <p:nvSpPr>
          <p:cNvPr id="13" name="Cercle icona"/>
          <p:cNvSpPr/>
          <p:nvPr/>
        </p:nvSpPr>
        <p:spPr>
          <a:xfrm>
            <a:off x="6400800" y="293979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4" name="Icona TbSun" descr="/home/claude/pre/build/img/ic/TbSun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3050438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04888" y="2834640"/>
            <a:ext cx="45381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l'aire lliure, </a:t>
            </a:r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dins de les coves, com l’art del nord.</a:t>
            </a:r>
            <a:endParaRPr lang="en-US" sz="1650" dirty="0"/>
          </a:p>
        </p:txBody>
      </p:sp>
      <p:sp>
        <p:nvSpPr>
          <p:cNvPr id="16" name="Cercle icona"/>
          <p:cNvSpPr/>
          <p:nvPr/>
        </p:nvSpPr>
        <p:spPr>
          <a:xfrm>
            <a:off x="6400800" y="3854196"/>
            <a:ext cx="502920" cy="50292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cona TbRun" descr="/home/claude/pre/build/img/ic/TbRun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3964838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04888" y="3749040"/>
            <a:ext cx="45381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Figures humanes en moviment, </a:t>
            </a:r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l'escena coneguda com «la dansa», caçadors i animals.</a:t>
            </a:r>
            <a:endParaRPr lang="en-US" sz="1650" dirty="0"/>
          </a:p>
        </p:txBody>
      </p:sp>
      <p:sp>
        <p:nvSpPr>
          <p:cNvPr id="19" name="Encara es discuteix"/>
          <p:cNvSpPr/>
          <p:nvPr/>
        </p:nvSpPr>
        <p:spPr>
          <a:xfrm>
            <a:off x="6400800" y="4800600"/>
            <a:ext cx="5242255" cy="1188720"/>
          </a:xfrm>
          <a:prstGeom prst="roundRect">
            <a:avLst>
              <a:gd name="adj" fmla="val 8462"/>
            </a:avLst>
          </a:prstGeom>
          <a:solidFill>
            <a:srgbClr val="F6F8FB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720840" y="4956048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Encara es discuteix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720840" y="530352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 es van pintar? Podrien ser obra dels últims caçadors o dels primers pagesos.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Neolític. Miners i pagesos</a:t>
            </a:r>
            <a:endParaRPr lang="en-US" sz="2800" dirty="0"/>
          </a:p>
        </p:txBody>
      </p:sp>
      <p:sp>
        <p:nvSpPr>
          <p:cNvPr id="5" name="Jaciment Mines Prehistòriques de Gavà"/>
          <p:cNvSpPr/>
          <p:nvPr/>
        </p:nvSpPr>
        <p:spPr>
          <a:xfrm>
            <a:off x="548640" y="1371600"/>
            <a:ext cx="5410048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Punt Mines Prehistòriques de Gavà"/>
          <p:cNvSpPr/>
          <p:nvPr/>
        </p:nvSpPr>
        <p:spPr>
          <a:xfrm>
            <a:off x="804672" y="1673352"/>
            <a:ext cx="219456" cy="219456"/>
          </a:xfrm>
          <a:prstGeom prst="ellipse">
            <a:avLst/>
          </a:prstGeom>
          <a:solidFill>
            <a:srgbClr val="1880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572768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Mines Prehistòriques de Gavà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1168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Gavà, Baix Llobregat · Neolític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51760"/>
            <a:ext cx="489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Unes de les mines subterrànies més antigues d'Europa. Entre el 4200 i el 3600 aC s'hi extreia variscita per fer collarets, que s'intercanviaven a centenars de quilòmetres.</a:t>
            </a:r>
            <a:endParaRPr lang="en-US" sz="1900" dirty="0"/>
          </a:p>
        </p:txBody>
      </p:sp>
      <p:sp>
        <p:nvSpPr>
          <p:cNvPr id="10" name="Jaciment Els sepulcres de fossa"/>
          <p:cNvSpPr/>
          <p:nvPr/>
        </p:nvSpPr>
        <p:spPr>
          <a:xfrm>
            <a:off x="6233008" y="1371600"/>
            <a:ext cx="5410048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Punt Els sepulcres de fossa"/>
          <p:cNvSpPr/>
          <p:nvPr/>
        </p:nvSpPr>
        <p:spPr>
          <a:xfrm>
            <a:off x="6489040" y="1673352"/>
            <a:ext cx="219456" cy="219456"/>
          </a:xfrm>
          <a:prstGeom prst="ellipse">
            <a:avLst/>
          </a:prstGeom>
          <a:solidFill>
            <a:srgbClr val="1880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27368" y="1572768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sepulcres de fossa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827368" y="201168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Diversos llocs de Catalunya · Neolític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89040" y="2651760"/>
            <a:ext cx="489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 el 4200 i el 3500 aC, molts morts s’enterraven en fosses a prop dels poblats, amb vasos de ceràmica, eines o collarets. Una necròpolis coneguda és la de Can Gambús (Sabadell).</a:t>
            </a:r>
            <a:endParaRPr lang="en-US" sz="1900" dirty="0"/>
          </a:p>
        </p:txBody>
      </p:sp>
      <p:sp>
        <p:nvSpPr>
          <p:cNvPr id="15" name="Paraula clau · Variscita"/>
          <p:cNvSpPr/>
          <p:nvPr/>
        </p:nvSpPr>
        <p:spPr>
          <a:xfrm>
            <a:off x="548640" y="4846320"/>
            <a:ext cx="11094415" cy="1143000"/>
          </a:xfrm>
          <a:prstGeom prst="roundRect">
            <a:avLst>
              <a:gd name="adj" fmla="val 8800"/>
            </a:avLst>
          </a:prstGeom>
          <a:solidFill>
            <a:srgbClr val="E6F4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00176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Paraula clau · Variscita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3492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Mineral verd que s’extreia a les mines neolítiques de Gavà i que es feia servir per fabricar joies molt valorades.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Dòlmens i fortaleses</a:t>
            </a:r>
            <a:endParaRPr lang="en-US" sz="2800" dirty="0"/>
          </a:p>
        </p:txBody>
      </p:sp>
      <p:sp>
        <p:nvSpPr>
          <p:cNvPr id="5" name="Jaciment Dòlmens i menhirs"/>
          <p:cNvSpPr/>
          <p:nvPr/>
        </p:nvSpPr>
        <p:spPr>
          <a:xfrm>
            <a:off x="548640" y="1371600"/>
            <a:ext cx="5410048" cy="3337560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Punt Dòlmens i menhirs"/>
          <p:cNvSpPr/>
          <p:nvPr/>
        </p:nvSpPr>
        <p:spPr>
          <a:xfrm>
            <a:off x="804672" y="1673352"/>
            <a:ext cx="219456" cy="219456"/>
          </a:xfrm>
          <a:prstGeom prst="ellipse">
            <a:avLst/>
          </a:prstGeom>
          <a:solidFill>
            <a:srgbClr val="E37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572768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Dòlmens i menhirs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1168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Arreu del territori · Neolític final i Edat dels metalls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51760"/>
            <a:ext cx="489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Centenars de monuments, sobretot a l'Empordà, la Catalunya Central i el Solsonès. Un dels més coneguts és el dolmen de la Cova d'en Daina (Romanyà de la Selva), de fa uns 4.500 anys.</a:t>
            </a:r>
            <a:endParaRPr lang="en-US" sz="2000" dirty="0"/>
          </a:p>
        </p:txBody>
      </p:sp>
      <p:sp>
        <p:nvSpPr>
          <p:cNvPr id="10" name="Jaciment Els Vilars"/>
          <p:cNvSpPr/>
          <p:nvPr/>
        </p:nvSpPr>
        <p:spPr>
          <a:xfrm>
            <a:off x="6233008" y="1371600"/>
            <a:ext cx="5410048" cy="3337560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Punt Els Vilars"/>
          <p:cNvSpPr/>
          <p:nvPr/>
        </p:nvSpPr>
        <p:spPr>
          <a:xfrm>
            <a:off x="6489040" y="1673352"/>
            <a:ext cx="219456" cy="219456"/>
          </a:xfrm>
          <a:prstGeom prst="ellipse">
            <a:avLst/>
          </a:prstGeom>
          <a:solidFill>
            <a:srgbClr val="8430C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27368" y="1572768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 Vilars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827368" y="201168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Arbeca, les Garrigues · Edat del ferro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89040" y="2651760"/>
            <a:ext cx="489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fortalesa de mitjan segle VIII aC. Davant de la muralla hi havia un camp de pedres clavades a terra per frenar els atacants, el camp frisó. Més tard la van habitar els ibers.</a:t>
            </a:r>
            <a:endParaRPr lang="en-US" sz="2000" dirty="0"/>
          </a:p>
        </p:txBody>
      </p:sp>
      <p:sp>
        <p:nvSpPr>
          <p:cNvPr id="15" name="Fes-ho tu"/>
          <p:cNvSpPr/>
          <p:nvPr/>
        </p:nvSpPr>
        <p:spPr>
          <a:xfrm>
            <a:off x="548640" y="4937760"/>
            <a:ext cx="11094415" cy="1051560"/>
          </a:xfrm>
          <a:prstGeom prst="roundRect">
            <a:avLst>
              <a:gd name="adj" fmla="val 9565"/>
            </a:avLst>
          </a:prstGeom>
          <a:solidFill>
            <a:srgbClr val="F6F8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09320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Fes-ho tu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440680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 al mapa de Catalunya la Cova d'en Daina i els Vilars. De quin color són els punts?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 El patrimoni és fràgil</a:t>
            </a:r>
            <a:endParaRPr lang="en-US" sz="2800" dirty="0"/>
          </a:p>
        </p:txBody>
      </p:sp>
      <p:sp>
        <p:nvSpPr>
          <p:cNvPr id="5" name="Saps que…?"/>
          <p:cNvSpPr/>
          <p:nvPr/>
        </p:nvSpPr>
        <p:spPr>
          <a:xfrm>
            <a:off x="548640" y="1371600"/>
            <a:ext cx="11094415" cy="1417320"/>
          </a:xfrm>
          <a:prstGeom prst="roundRect">
            <a:avLst>
              <a:gd name="adj" fmla="val 7097"/>
            </a:avLst>
          </a:prstGeom>
          <a:solidFill>
            <a:srgbClr val="E6F4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52704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Saps que…?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74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patrimoni arqueològic és fràgil i únic. Un jaciment destruït no es pot tornar a excavar mai més. Per això la llei protegeix els jaciments.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mai trobes una resta arqueològica…</a:t>
            </a:r>
            <a:endParaRPr lang="en-US" sz="1700" dirty="0"/>
          </a:p>
        </p:txBody>
      </p:sp>
      <p:sp>
        <p:nvSpPr>
          <p:cNvPr id="9" name="Pas 1"/>
          <p:cNvSpPr/>
          <p:nvPr/>
        </p:nvSpPr>
        <p:spPr>
          <a:xfrm>
            <a:off x="548640" y="3429000"/>
            <a:ext cx="3362858" cy="25603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Cercle icona"/>
          <p:cNvSpPr/>
          <p:nvPr/>
        </p:nvSpPr>
        <p:spPr>
          <a:xfrm>
            <a:off x="804672" y="3685032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1" name="Icona TbHandOff" descr="/home/claude/pre/build/img/ic/TbHandOff-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3805733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225698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438912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la toquis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4754753"/>
            <a:ext cx="2850794" cy="1143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 te l’enduguis a casa.</a:t>
            </a:r>
            <a:endParaRPr lang="en-US" sz="1600" dirty="0"/>
          </a:p>
        </p:txBody>
      </p:sp>
      <p:sp>
        <p:nvSpPr>
          <p:cNvPr id="15" name="Fletxa"/>
          <p:cNvSpPr/>
          <p:nvPr/>
        </p:nvSpPr>
        <p:spPr>
          <a:xfrm>
            <a:off x="4071518" y="457200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16" name="Pas 2"/>
          <p:cNvSpPr/>
          <p:nvPr/>
        </p:nvSpPr>
        <p:spPr>
          <a:xfrm>
            <a:off x="4414418" y="3429000"/>
            <a:ext cx="3362858" cy="25603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Cercle icona"/>
          <p:cNvSpPr/>
          <p:nvPr/>
        </p:nvSpPr>
        <p:spPr>
          <a:xfrm>
            <a:off x="4670450" y="3685032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8" name="Icona TbPhone" descr="/home/claude/pre/build/img/ic/TbPhone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151" y="3805733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091477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4670450" y="438912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Avisa les autoritats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4670450" y="4754753"/>
            <a:ext cx="2850794" cy="1143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Perquè els arqueòlegs la puguin estudiar.</a:t>
            </a:r>
            <a:endParaRPr lang="en-US" sz="1600" dirty="0"/>
          </a:p>
        </p:txBody>
      </p:sp>
      <p:sp>
        <p:nvSpPr>
          <p:cNvPr id="22" name="Fletxa"/>
          <p:cNvSpPr/>
          <p:nvPr/>
        </p:nvSpPr>
        <p:spPr>
          <a:xfrm>
            <a:off x="7937297" y="4572000"/>
            <a:ext cx="182880" cy="274320"/>
          </a:xfrm>
          <a:prstGeom prst="chevron">
            <a:avLst/>
          </a:prstGeom>
          <a:solidFill>
            <a:srgbClr val="188038"/>
          </a:solidFill>
          <a:ln/>
        </p:spPr>
      </p:sp>
      <p:sp>
        <p:nvSpPr>
          <p:cNvPr id="23" name="Pas 3"/>
          <p:cNvSpPr/>
          <p:nvPr/>
        </p:nvSpPr>
        <p:spPr>
          <a:xfrm>
            <a:off x="8280197" y="3429000"/>
            <a:ext cx="3362858" cy="25603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4" name="Cercle icona"/>
          <p:cNvSpPr/>
          <p:nvPr/>
        </p:nvSpPr>
        <p:spPr>
          <a:xfrm>
            <a:off x="8536229" y="3685032"/>
            <a:ext cx="548640" cy="54864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25" name="Icona TbSearch" descr="/home/claude/pre/build/img/ic/TbSearch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930" y="3805733"/>
            <a:ext cx="307238" cy="30723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957255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8536229" y="4389120"/>
            <a:ext cx="28507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80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el seu context</a:t>
            </a:r>
            <a:endParaRPr lang="en-US" sz="1900" dirty="0"/>
          </a:p>
        </p:txBody>
      </p:sp>
      <p:sp>
        <p:nvSpPr>
          <p:cNvPr id="28" name="Text 23"/>
          <p:cNvSpPr txBox="1"/>
          <p:nvPr/>
        </p:nvSpPr>
        <p:spPr>
          <a:xfrm>
            <a:off x="8536229" y="4754753"/>
            <a:ext cx="2850794" cy="1143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Fora de context, un objecte perd gairebé tota la informació.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de secció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298448" y="56692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Comprova-ho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Paraules clau</a:t>
            </a:r>
            <a:endParaRPr lang="en-US" sz="1400" dirty="0"/>
          </a:p>
        </p:txBody>
      </p:sp>
      <p:sp>
        <p:nvSpPr>
          <p:cNvPr id="6" name="Etiqueta Jaciment"/>
          <p:cNvSpPr/>
          <p:nvPr/>
        </p:nvSpPr>
        <p:spPr>
          <a:xfrm>
            <a:off x="548640" y="1755648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Jaciment</a:t>
            </a:r>
            <a:endParaRPr lang="en-US" sz="1500" dirty="0"/>
          </a:p>
        </p:txBody>
      </p:sp>
      <p:sp>
        <p:nvSpPr>
          <p:cNvPr id="8" name="Etiqueta Patrimoni"/>
          <p:cNvSpPr/>
          <p:nvPr/>
        </p:nvSpPr>
        <p:spPr>
          <a:xfrm>
            <a:off x="1773936" y="1755648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73936" y="1755648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Patrimoni</a:t>
            </a:r>
            <a:endParaRPr lang="en-US" sz="1500" dirty="0"/>
          </a:p>
        </p:txBody>
      </p:sp>
      <p:sp>
        <p:nvSpPr>
          <p:cNvPr id="10" name="Etiqueta Neandertals"/>
          <p:cNvSpPr/>
          <p:nvPr/>
        </p:nvSpPr>
        <p:spPr>
          <a:xfrm>
            <a:off x="3099816" y="17556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99816" y="1755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Neandertals</a:t>
            </a:r>
            <a:endParaRPr lang="en-US" sz="1500" dirty="0"/>
          </a:p>
        </p:txBody>
      </p:sp>
      <p:sp>
        <p:nvSpPr>
          <p:cNvPr id="12" name="Etiqueta Art llevantí"/>
          <p:cNvSpPr/>
          <p:nvPr/>
        </p:nvSpPr>
        <p:spPr>
          <a:xfrm>
            <a:off x="4626864" y="1755648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26864" y="17556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 llevantí</a:t>
            </a:r>
            <a:endParaRPr lang="en-US" sz="1500" dirty="0"/>
          </a:p>
        </p:txBody>
      </p:sp>
      <p:sp>
        <p:nvSpPr>
          <p:cNvPr id="14" name="Etiqueta Variscita"/>
          <p:cNvSpPr/>
          <p:nvPr/>
        </p:nvSpPr>
        <p:spPr>
          <a:xfrm>
            <a:off x="6254496" y="1755648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54496" y="1755648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Variscita</a:t>
            </a:r>
            <a:endParaRPr lang="en-US" sz="1500" dirty="0"/>
          </a:p>
        </p:txBody>
      </p:sp>
      <p:sp>
        <p:nvSpPr>
          <p:cNvPr id="16" name="Pregunta 1"/>
          <p:cNvSpPr/>
          <p:nvPr/>
        </p:nvSpPr>
        <p:spPr>
          <a:xfrm>
            <a:off x="548640" y="25146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Número 1"/>
          <p:cNvSpPr/>
          <p:nvPr/>
        </p:nvSpPr>
        <p:spPr>
          <a:xfrm>
            <a:off x="822960" y="26746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25146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Quin és el jaciment més antic de l'apartat i què s'hi va trobar?</a:t>
            </a:r>
            <a:endParaRPr lang="en-US" sz="1900" dirty="0"/>
          </a:p>
        </p:txBody>
      </p:sp>
      <p:sp>
        <p:nvSpPr>
          <p:cNvPr id="20" name="Pregunta 2"/>
          <p:cNvSpPr/>
          <p:nvPr/>
        </p:nvSpPr>
        <p:spPr>
          <a:xfrm>
            <a:off x="548640" y="34290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Número 2"/>
          <p:cNvSpPr/>
          <p:nvPr/>
        </p:nvSpPr>
        <p:spPr>
          <a:xfrm>
            <a:off x="822960" y="35890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589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290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Quin d'aquests jaciments és de neandertals?</a:t>
            </a:r>
            <a:endParaRPr lang="en-US" sz="1900" dirty="0"/>
          </a:p>
        </p:txBody>
      </p:sp>
      <p:sp>
        <p:nvSpPr>
          <p:cNvPr id="24" name="Pregunta 3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Número 3"/>
          <p:cNvSpPr/>
          <p:nvPr/>
        </p:nvSpPr>
        <p:spPr>
          <a:xfrm>
            <a:off x="822960" y="45034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503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3434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ens demostren les mines de Gavà?</a:t>
            </a:r>
            <a:endParaRPr lang="en-US" sz="1900" dirty="0"/>
          </a:p>
        </p:txBody>
      </p:sp>
      <p:sp>
        <p:nvSpPr>
          <p:cNvPr id="28" name="Pregunta 4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Número 4"/>
          <p:cNvSpPr/>
          <p:nvPr/>
        </p:nvSpPr>
        <p:spPr>
          <a:xfrm>
            <a:off x="822960" y="541782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2578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Què has de fer si trobes una resta arqueològica?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essor de socials · 1r ESO">
  <a:themeElements>
    <a:clrScheme name="Professor de socials · 1r ESO">
      <a:dk1>
        <a:srgbClr val="202124"/>
      </a:dk1>
      <a:lt1>
        <a:srgbClr val="FFFFFF"/>
      </a:lt1>
      <a:dk2>
        <a:srgbClr val="5F6368"/>
      </a:dk2>
      <a:lt2>
        <a:srgbClr val="E6F4EA"/>
      </a:lt2>
      <a:accent1>
        <a:srgbClr val="188038"/>
      </a:accent1>
      <a:accent2>
        <a:srgbClr val="12632B"/>
      </a:accent2>
      <a:accent3>
        <a:srgbClr val="DADCE0"/>
      </a:accent3>
      <a:accent4>
        <a:srgbClr val="80868B"/>
      </a:accent4>
      <a:accent5>
        <a:srgbClr val="F6F8FB"/>
      </a:accent5>
      <a:accent6>
        <a:srgbClr val="188038"/>
      </a:accent6>
      <a:hlink>
        <a:srgbClr val="188038"/>
      </a:hlink>
      <a:folHlink>
        <a:srgbClr val="12632B"/>
      </a:folHlink>
    </a:clrScheme>
    <a:fontScheme name="Professor de socials · 1r ESO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professordesocials.cat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prehistòria</dc:title>
  <dc:subject>PptxGenJS Presentation</dc:subject>
  <dc:creator>Professor de socials</dc:creator>
  <cp:lastModifiedBy>Professor de socials</cp:lastModifiedBy>
  <cp:revision>1</cp:revision>
  <dcterms:created xsi:type="dcterms:W3CDTF">2026-10-13T10:18:16Z</dcterms:created>
  <dcterms:modified xsi:type="dcterms:W3CDTF">2026-10-13T10:18:16Z</dcterms:modified>
</cp:coreProperties>
</file>