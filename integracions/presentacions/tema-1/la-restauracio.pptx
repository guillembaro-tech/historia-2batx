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 id="{c912122c-d18f-965c-e351-25110ea7846a}">
          <p14:sldIdLst>
            <p14:sldId id="256"/>
            <p14:sldId id="257"/>
            <p14:sldId id="258"/>
          </p14:sldIdLst>
        </p14:section>
        <p14:section name="Apartat 1. El sistema de la Restauració" id="{2f53a474-53b3-8a6a-5fa5-5bdc8b66e9e5}">
          <p14:sldIdLst>
            <p14:sldId id="259"/>
            <p14:sldId id="260"/>
            <p14:sldId id="261"/>
            <p14:sldId id="262"/>
            <p14:sldId id="263"/>
            <p14:sldId id="264"/>
            <p14:sldId id="265"/>
          </p14:sldIdLst>
        </p14:section>
        <p14:section name="Apartat 2. Els exclosos del sistema" id="{bdbdee2e-e5c4-9583-641e-7f90f758b1d2}">
          <p14:sldIdLst>
            <p14:sldId id="266"/>
            <p14:sldId id="267"/>
            <p14:sldId id="268"/>
            <p14:sldId id="269"/>
            <p14:sldId id="270"/>
            <p14:sldId id="271"/>
            <p14:sldId id="272"/>
          </p14:sldIdLst>
        </p14:section>
        <p14:section name="Apartat 3. El Desastre del 98" id="{35eb4953-be25-6604-65e6-b55f932ee41b}">
          <p14:sldIdLst>
            <p14:sldId id="273"/>
            <p14:sldId id="274"/>
            <p14:sldId id="275"/>
            <p14:sldId id="276"/>
            <p14:sldId id="277"/>
            <p14:sldId id="278"/>
          </p14:sldIdLst>
        </p14:section>
        <p14:section name="Apartat 4. La crisi del sistema" id="{1e1055c7-3e0f-1676-ef5f-9592bbf916ff}">
          <p14:sldIdLst>
            <p14:sldId id="279"/>
            <p14:sldId id="280"/>
            <p14:sldId id="281"/>
            <p14:sldId id="282"/>
            <p14:sldId id="283"/>
            <p14:sldId id="284"/>
            <p14:sldId id="285"/>
            <p14:sldId id="286"/>
            <p14:sldId id="287"/>
          </p14:sldIdLst>
        </p14:section>
        <p14:section name="Apartat 5. La dictadura i la caiguda de la monarquia" id="{06839637-f08b-3012-b14f-f1eccd37685c}">
          <p14:sldIdLst>
            <p14:sldId id="288"/>
            <p14:sldId id="289"/>
            <p14:sldId id="290"/>
            <p14:sldId id="291"/>
            <p14:sldId id="292"/>
            <p14:sldId id="293"/>
          </p14:sldIdLst>
        </p14:section>
        <p14:section name="Apartat 6. Economia, societat i demografia" id="{47b2449e-3ab1-6b51-cc29-788ccbcf9ea3}">
          <p14:sldIdLst>
            <p14:sldId id="294"/>
            <p14:sldId id="295"/>
            <p14:sldId id="296"/>
            <p14:sldId id="297"/>
            <p14:sldId id="298"/>
            <p14:sldId id="299"/>
            <p14:sldId id="300"/>
          </p14:sldIdLst>
        </p14:section>
        <p14:section name="Cloenda" id="{4ed6bf61-8e85-0cb4-d817-ade20c278994}">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 del tema 1 de la PAU d'Història. La caricatura de la portada resumeix el torn pacífic, que veurem a l'apartat 1. A dalt, el Nadal de 1880, Sagasta serveix la taula del govern conservador de Cánovas. A baix, el Nadal de 1881, és Cánovas qui serveix el govern liberal de Sagasta.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Aquesta frase és el fil de tot el tema. Estabilitat (Cánovas, Constitució de 1876, torn pacífic) a canvi d'exclusió (caciquisme, carlins, republicans, nacionalistes, moviment obrer). Quan l'exclusió es fa insostenible (1898, 1909, 1917, Annual), el sistema entra en crisi i acaba en la dictadura i la caiguda de la monarquia.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idea per apartat, i l'última per a l'economia i la societat. Les podeu fer servir per començar i per acabar el tema. Què recordeu de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com es construeix el règim (retorn dels Borbons, idees de Cánovas, Constitució de 1876) i com funcionava en la pràctica (torn pacífic i caciquisme). Al final, la distinció clau per a la PAU entre liberalisme i democràcia.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Cánovas volia que el retorn arribés sense intervenció militar, però Martínez Campos es va avançar amb el pronunciament de Sagunt. Al Manifest de Sandhurst, Alfons es presentava com un rei «buen español», «buen católico» i «verdaderamente liberal» (Font 1 del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 2 del tema (fragments de la Constitució). L'estat confessional era un compromís entre els conservadors, que volien la unitat catòlica, i els liberals, que defensaven la llibertat religiosa.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Obra dels liberals durant el llarg govern de Sagasta (1885-1890). Llei d'associacions (1887), que va permetre legalitzar els sindicats, judici per jurat (1888), Codi Civil (1889) i sufragi universal masculí (1890), per als homes de més de vint-i-cinc anys (Font 3 del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eren els electors els qui decidien el govern, sinó a l'inrevés. Exemple, un telegrama del Ministeri de la Governació al governador civil de Girona, del 1880, li ordenava fer fracassar al districte d'Olot qualsevol candidatura que no fos la del ministre. Font 4 del tema, Joaquín Costa, Oligarquía y caciquismo.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règim va donar estabilitat durant un quart de segle, però va deixar fora del poder la majoria de la societat. És la gran feblesa que explica la crisi posterior.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Pista per a l'exercici. La resposta ha de concloure que no, perquè el sufragi universal masculí va ampliar el vot, però el caciquisme i la corrupció electoral van impedir que els resultats reflectissin la voluntat dels electors. L'àmbit 8 (Església i poder) hi és per l'estat confessional de la Constitució de 1876.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torn pacífic deixava fora del poder tots els qui no acceptaven la monarquia de la Restauració, el seu ordre social o el seu model d'Estat centralista. L'apartat repassa els carlins, els republicans, els regionalismes i, sobretot, el moviment obrer, i acaba amb l'espiral d'atemptats i repressió dels anys noranta.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Carlins. Eren partidaris de la branca de Carles Maria Isidre, el germà de Ferran VII. Tenien molta força a Navarra, al País Basc i a la Catalunya interior. La seva derrota va portar la supressió dels furs bascos (1876) i, a canvi, els concerts econòmics (1878). A Catalunya, una part del carlisme va evolucionar cap al catalanisme conservador. Republicans. Tenien suport entre les classes mitjanes i populars de les ciutats (botiguers, artesans, professionals i obrers), però el caciquisme els impedia arribar al govern.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 arrelar sobretot a les regions més industrialitzades, on una part de la burgesia i de les classes mitjanes no se sentia representada pels partits dinàstics. La Lliga Regionalista va guanyar el 1901 quatre escons a Barcelona. Al País Basc, Arana defensava una identitat basada en la llengua, la religió i fins i tot la «raça», davant la industrialització de Biscaia i la immigració obrera. A Galícia, l'Associació Regionalista Gallega, creada el 1890, va durar poc més d'un 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hi havia lleis que protegissin els treballadors. Per això el moviment obrer és el gran exclòs del sistema. Les seves reivindicacions no hi tenien cap via d'entrada, i això explica la força de les opcions que rebutjaven la política.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Tots dos corrents compartien l'objectiu d'una societat sense classes. El socialisme hi volia arribar conquerint l'Estat i l'anarquisme, destruint-lo. Les idees anarquistes van arribar a Espanya el 1868 amb Fanelli, abans que les marxistes. El PSOE es va fundar clandestinament a Madrid el 1879. El caciquisme va impedir que tingués cap diputat fins al 1910.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Liceu era el teatre de la burgesia barcelonina. L'atemptat de Santiago Salvador volia venjar l'execució de Pallàs. Al Procés de Montjuïc, les tortures als presos del castell van provocar protestes a tot Europa. L'Estat va respondre també amb lleis especials contra l'anarquisme.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condicions de vida obrera són a l'àmbit 3. La propaganda pel fet i la repressió, a l'àmbit 7. Els regionalismes i nacionalismes, a l'àmbit 10, que comparteix amb el Tema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per què Cuba era tan important, com va esclatar la guerra d'independència, per què va ser impopular, com la va decidir la intervenció dels Estats Units i per què la derrota es va viure com un «Desastre».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mercat protegit és un mercat reservat als productes d'un país gràcies als aranzels, els impostos que paguen els productes estrangers en entrar. Per al tèxtil català, Cuba era un mercat segur, i per això la seva pèrdua el 1898 va ser un cop dur, com veurem a l'apartat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independentistes ja no acceptaven l'autonomia de 1897. La redempció en metàl·lic explica per què la guerra era tan impopular entre les classes populars. El moviment obrer i els republicans denunciaven aquesta injustícia. Entre les malalties, la febre groga, la malària i la disenteria.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part de la premsa nord-americana, la «premsa groga», va fer una gran campanya contra Espanya. La guerra va durar pocs mesos, perquè Espanya tenia una flota antiquada.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Regenerar Espanya volia dir acabar amb l'oligarquia i el caciquisme (Font 4, Oligarquía y caciquismo). «Escola i rebost» vol dir educació i una economia que donés de menjar a tothom. La idea del «cirurgià de ferro», un governant enèrgic que imposés les reformes, l'aprofitaria després Primo de Rivera. Els capitals repatriats de les colònies van ajudar a crear bancs com el Hispano Americano (1900). La decisió de l'exèrcit de buscar compensació al Marroc tindria conseqüències greus.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L'exercici 1 del Taller PAU fa servir la Constitució de 1876 i un fragment d'Oligarquía y caciquismo (1901), l'obra de Costa que obre el regeneracionisme. Relaciona aquest apartat amb l'apartat 1. L'àmbit 5 (militarisme) hi és per la reacció de l'exèrcit després del 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Després del 98, el sistema de la Restauració va entrar en una crisi que va durar vint-i-cinc anys. L'apartat segueix els intents de reforma, el retorn de l'exèrcit a la política, el Marroc i la Setmana Tràgica, la triple crisi de 1917, la qüestió catalana, el pistolerisme i el desastre d'Annual.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diferència del seu pare, Alfons XIII va intervenir sovint en la política. Les forces noves de les ciutats escapaven del control dels cacics, i això trencava la base del torn pacífic.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L'article 29 de la llei Maura (Font 5) establia que, als districtes amb un sol candidat per escó, aquest quedava elegit sense votació. La Llei del Cadenat prohibia durant dos anys noves ordres religioses sense autorització. L'impost de consums era molt impopular perquè encaria els aliments bàsics. Els soldats de quota pagaven per reduir el temps de servei. Canalejas va ser assassinat per un anarquista a Madrid.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Després de l'assalt al Cu-cut!, el govern, en lloc de castigar els oficials, va aprovar la Llei de Jurisdiccions. El civilisme de Cánovas va fer un pas enrere, i a Catalunya la reacció va ser la Solidaritat Catalana (Tema 2). Al Rif hi havia mines de ferro explotades amb capital espanyol. Els reservistes eren homes que ja havien fet el servei militar, mentre que els joves rics se n'havien lliurat pagant. Hi va haver disset condemnes a mort, cinc de les quals es van executar. Francesc Ferrer i Guàrdia, fundador de l'Escola Moderna, va ser acusat sense proves de dirigir la revolta. Les protestes internacionals van fer caure Maura.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Juntes de Defensa eren una mena de sindicats militars. Que el govern les acceptés vol dir que, una vegada més, l'exèrcit s'imposava al poder civil. L'Assemblea de Parlamentaris reclamava unes Corts constituents i una reforma de l'Estat. Poc després la Lliga va entrar en un govern de concentració.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la primera vegada que l'Estat liberal, centralista des de 1833, acceptava compartir una part de l'administració amb una institució regional. La Mancomunitat era una institució administrativa, sense poder legislatiu i amb pocs recursos, però va demostrar que una administració descentralitzada podia funcionar. Alcalá-Zamora va retreure a Cambó que no podia ser alhora el «Bolívar de Cataluña» i el «Bismarck de España». El 1923, la lluita contra el «separatisme» seria un dels arguments del cop d'estat. Ho estudiem a fons al Tema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acabar-se la guerra mundial, les exportacions van caure i van arribar la crisi i l'atur. Els sindicats únics agrupaven tots els treballadors d'una mateixa indústria. La Canadenca subministrava electricitat a Barcelona, i la vaga va deixar bona part de la ciutat sense llum. La llei de fugues permetia disparar contra els detinguts amb l'excusa que intentaven escapar.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 conductor amb l'apartat 5. Les causes del cop d'estat de 1923 inclouen el desastre d'Annual i el debat sobre les responsabilitats, que amenaçava els comandaments militars i el mateix rei.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l'exercici 2, la resposta s'escriu des del personatge de l'enunciat, en primera persona, i explica causes, fets i conseqüències fins a la data de l'enunciat. No cal imitar el format d'un article. Han de sortir els cinc termes, i convé afegir-hi altres termes de l'època.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les causes del cop d'estat, les dues etapes de la dictadura (Directori militar i Directori civil), l'oposició i la caiguda del dictador, i com la monarquia, associada a la dictadura, va acabar caient el 1931.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Molta gent va rebre el cop amb indiferència o alleujament. El dictador deia que acabaria amb els «professionals de la política», amb el caciquisme i amb el desordre social, i que la dictadura duraria poc (Font 6, Manifest de Primo de Rivera). Va suspendre la Constitució de 1876, va dissoldre les Corts i va imposar la censura. A diferència del feixisme italià, no tenia una ideologia elaborada ni un partit de masses fort. Era una dictadura militar i paternalista.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França també patia els atacs d'Abd el-Krim, i per això hi va col·laborar. La supressió de la Mancomunitat es treballa al Tema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UGT va col·laborar amb els comitès paritaris perquè així guanyava presència i millores. El 1927, els anarquistes més radicals van fundar clandestinament la FAI (Federació Anarquista Ibèrica). Les obres públiques (carreteres, ferrocarrils i embassaments) es van fer gràcies a la bona conjuntura dels anys vint.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L'oposició va créixer a partir de 1926. Hi va haver conspiracions militars i conflictes amb el cos d'artilleria. Unamuno va ser desterrat, i Ortega y Gasset o Blasco Ibáñez el van criticar. El 1929, el PSOE i la UGT es van negar a participar en l'Assemblea Nacional Consultiva. Primo de Rivera va morir a París poques setmanes després de dimitir. Al Pacte de Sant Sebastià hi havia republicans i catalanistes d'esquerra, i després s'hi van afegir els socialistes. Les candidatures republicanes i socialistes van guanyar a la gran majoria de capitals de província. Les eleccions municipals de 1931 les va convocar el govern de l'almirall Juan Bautista Aznar.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Relaciona aquest apartat amb l'apartat 3 (el «cirurgià de ferro» dels regeneracionistes) i amb l'apartat 4 (les causes del cop).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la transició demogràfica, el problema de la terra, la industrialització desigual, els primers drets socials i la situació de les dones.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finals del segle XIX, la mortalitat encara superava el 30 per mil per les epidèmies (com el còlera de 1885), les guerres i les crisis de subsistència. Entre 1900 i 1930 la població va augmentar gairebé un terç. La immigració a Catalunya venia sobretot de l'Aragó, el País Valencià, Múrcia i Andalusia, atreta per la feina a la indústria i a les obres públiques.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propietaris absentistes no vivien a les finques i hi invertien poc. Els jornalers només trobaven feina unes quantes setmanes l'any, per un jornal de misèria. A Catalunya predominava la propietat mitjana, conreada per famílies pageses i per parcers. Les noves vinyes, empeltades sobre peus americans resistents a la plaga, vivien menys anys, i els propietaris van voler contractes més curts.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productes espanyols eren cars i poc competitius a l'exterior, perquè les empreses eren petites i la tecnologia endarrerida. Per això els industrials catalans i bascos reclamaven proteccionisme, i el govern conservador els el va concedir amb l'aranzel de 1891. La pujada de preus de la Primera Guerra Mundial, amb salaris que quedaven enrere, va alimentar la conflictivitat social de 1917 a 1923 (apartat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Eren els primers passos, encara molt tímids, cap a l'Estat del benestar. La CNT es va fundar el 1911 a partir de Solidaritat Obrera. La UGT socialista era més forta a Madrid, Biscaia i Astúries.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Sense el permís del marit, la dona casada no podia, per exemple, comprar o vendre propietats. Les dones eren una part molt important de la mà d'obra tèxtil i van protagonitzar protestes contra la carestia dels aliments. El feminisme de Dolors Monserdà se centrava en l'educació i en el treball de les dones.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L'exercici 3 demana relacionar etapes. Per a la Restauració, les primeres lleis socials (1900-1919) i l'Institut de Reformes Socials. Després, la dictadura (corporativisme), la Segona República, el franquisme i la democràcia. Cada etapa ha de començar dient si els drets avancen, retrocedeixen o es mantenen, i per què.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Tanqueu el tema tornant a la pregunta inicial. Els alumnes poden respondre-la oralment fent servir les set idees clau de la diapositiva 3. Per practicar l'examen, el Taller PAU del tema té els exercicis 1, 2 i 3 pas a pas, amb respostes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parado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291072"/>
            <a:ext cx="11094415" cy="0"/>
          </a:xfrm>
          <a:prstGeom prst="line">
            <a:avLst/>
          </a:prstGeom>
          <a:noFill/>
          <a:ln w="9525">
            <a:solidFill>
              <a:srgbClr val="DADCE0"/>
            </a:solidFill>
            <a:prstDash val="solid"/>
          </a:ln>
        </p:spPr>
      </p:sp>
      <p:sp>
        <p:nvSpPr>
          <p:cNvPr id="3" name="Text 1"/>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uida">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050" dirty="0">
                <a:solidFill>
                  <a:srgbClr val="5F6368"/>
                </a:solidFill>
                <a:latin typeface="Roboto" pitchFamily="34" charset="0"/>
                <a:ea typeface="Roboto" pitchFamily="34" charset="-122"/>
                <a:cs typeface="Roboto" pitchFamily="34" charset="-120"/>
              </a:rPr>
              <a:t>2n de Batxillerat  ›  Història  ›  Tema 1. La Restauració</a:t>
            </a:r>
            <a:endParaRPr lang="en-US" sz="1050" dirty="0"/>
          </a:p>
        </p:txBody>
      </p:sp>
      <p:sp>
        <p:nvSpPr>
          <p:cNvPr id="3" name="Shape 1"/>
          <p:cNvSpPr/>
          <p:nvPr/>
        </p:nvSpPr>
        <p:spPr>
          <a:xfrm>
            <a:off x="548640" y="6291072"/>
            <a:ext cx="11094415" cy="0"/>
          </a:xfrm>
          <a:prstGeom prst="line">
            <a:avLst/>
          </a:prstGeom>
          <a:noFill/>
          <a:ln w="9525">
            <a:solidFill>
              <a:srgbClr val="DADCE0"/>
            </a:solidFill>
            <a:prstDash val="solid"/>
          </a:ln>
        </p:spPr>
      </p:sp>
      <p:sp>
        <p:nvSpPr>
          <p:cNvPr id="4" name="Text 2"/>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ingu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050" dirty="0">
                <a:solidFill>
                  <a:srgbClr val="5F6368"/>
                </a:solidFill>
                <a:latin typeface="Roboto" pitchFamily="34" charset="0"/>
                <a:ea typeface="Roboto" pitchFamily="34" charset="-122"/>
                <a:cs typeface="Roboto" pitchFamily="34" charset="-120"/>
              </a:rPr>
              <a:t>2n de Batxillerat  ›  Història  ›  Tema 1. La Restauració</a:t>
            </a:r>
            <a:endParaRPr lang="en-US" sz="1050" dirty="0"/>
          </a:p>
        </p:txBody>
      </p:sp>
      <p:sp>
        <p:nvSpPr>
          <p:cNvPr id="3" name="Text 1"/>
          <p:cNvSpPr/>
          <p:nvPr>
            <p:ph idx="101" type="title" hasCustomPrompt="1"/>
          </p:nvPr>
        </p:nvSpPr>
        <p:spPr>
          <a:xfrm>
            <a:off x="1298448" y="566928"/>
            <a:ext cx="10344607" cy="566928"/>
          </a:xfrm>
          <a:prstGeom prst="rect">
            <a:avLst/>
          </a:prstGeom>
          <a:noFill/>
          <a:ln/>
        </p:spPr>
        <p:txBody>
          <a:bodyPr wrap="square" rtlCol="0"/>
          <a:lstStyle>
            <a:lvl1pPr algn="l" indent="0" marL="0">
              <a:buNone/>
              <a:defRPr lang="en-US" sz="2800" b="1" dirty="0">
                <a:solidFill>
                  <a:srgbClr val="202124"/>
                </a:solidFill>
                <a:latin typeface="Roboto" pitchFamily="34" charset="0"/>
                <a:ea typeface="Roboto" pitchFamily="34" charset="-122"/>
                <a:cs typeface="Roboto" pitchFamily="34" charset="-120"/>
              </a:defRPr>
            </a:lvl1pPr>
          </a:lstStyle>
          <a:p>
            <a:pPr algn="l" indent="0" marL="0">
              <a:buNone/>
            </a:pPr>
            <a:endParaRPr lang="en-US" sz="2800" dirty="0"/>
          </a:p>
        </p:txBody>
      </p:sp>
      <p:sp>
        <p:nvSpPr>
          <p:cNvPr id="4" name="Shape 1"/>
          <p:cNvSpPr/>
          <p:nvPr/>
        </p:nvSpPr>
        <p:spPr>
          <a:xfrm>
            <a:off x="548640" y="6291072"/>
            <a:ext cx="11094415" cy="0"/>
          </a:xfrm>
          <a:prstGeom prst="line">
            <a:avLst/>
          </a:prstGeom>
          <a:noFill/>
          <a:ln w="9525">
            <a:solidFill>
              <a:srgbClr val="DADCE0"/>
            </a:solidFill>
            <a:prstDash val="solid"/>
          </a:ln>
        </p:spPr>
      </p:sp>
      <p:sp>
        <p:nvSpPr>
          <p:cNvPr id="5" name="Text 2"/>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5.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5.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professordesocials.cat/2n-batxillerat/la-restauracio/taller/" TargetMode="External"/><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jp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5.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professordesocials.cat/2n-batxillerat/la-restauracio/taller/" TargetMode="External"/><Relationship Id="rId2" Type="http://schemas.openxmlformats.org/officeDocument/2006/relationships/slideLayout" Target="../slideLayouts/slideLayou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jpg"/><Relationship Id="rId3" Type="http://schemas.openxmlformats.org/officeDocument/2006/relationships/slideLayout" Target="../slideLayouts/slideLayout3.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5.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jpg"/><Relationship Id="rId3" Type="http://schemas.openxmlformats.org/officeDocument/2006/relationships/slideLayout" Target="../slideLayouts/slideLayout3.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5.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professordesocials.cat/2n-batxillerat/la-restauracio/taller/" TargetMode="External"/><Relationship Id="rId2" Type="http://schemas.openxmlformats.org/officeDocument/2006/relationships/slideLayout" Target="../slideLayouts/slideLayout5.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2" Type="http://schemas.openxmlformats.org/officeDocument/2006/relationships/hyperlink" Target="https://professordesocials.cat/2n-batxillerat/la-restauracio/taller/" TargetMode="External"/><Relationship Id="rId1" Type="http://schemas.openxmlformats.org/officeDocument/2006/relationships/image" Target="../media/image-46-1.png"/><Relationship Id="rId3" Type="http://schemas.openxmlformats.org/officeDocument/2006/relationships/slideLayout" Target="../slideLayouts/slideLayout2.xml"/><Relationship Id="rId4"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apçalera"/>
          <p:cNvSpPr/>
          <p:nvPr/>
        </p:nvSpPr>
        <p:spPr>
          <a:xfrm>
            <a:off x="548640" y="548640"/>
            <a:ext cx="7086600" cy="5760720"/>
          </a:xfrm>
          <a:prstGeom prst="roundRect">
            <a:avLst>
              <a:gd name="adj" fmla="val 1746"/>
            </a:avLst>
          </a:prstGeom>
          <a:solidFill>
            <a:srgbClr val="B80672"/>
          </a:solidFill>
          <a:ln/>
        </p:spPr>
      </p:sp>
      <p:pic>
        <p:nvPicPr>
          <p:cNvPr id="3" name="Il·lustració del Congrés i una urna" descr="/tmp/claude-0/-home-claude-historia-2batx/57a75df9-64d0-585a-8d62-369d37bdd596/scratchpad/deck/hero-crop.png">    </p:cNvPr>
          <p:cNvPicPr>
            <a:picLocks noChangeAspect="1"/>
          </p:cNvPicPr>
          <p:nvPr/>
        </p:nvPicPr>
        <p:blipFill>
          <a:blip r:embed="rId1"/>
          <a:stretch>
            <a:fillRect/>
          </a:stretch>
        </p:blipFill>
        <p:spPr>
          <a:xfrm>
            <a:off x="2331720" y="4291603"/>
            <a:ext cx="5120640" cy="1999469"/>
          </a:xfrm>
          <a:prstGeom prst="rect">
            <a:avLst/>
          </a:prstGeom>
        </p:spPr>
      </p:pic>
      <p:sp>
        <p:nvSpPr>
          <p:cNvPr id="4" name="Text 1"/>
          <p:cNvSpPr txBox="1"/>
          <p:nvPr/>
        </p:nvSpPr>
        <p:spPr>
          <a:xfrm>
            <a:off x="1005840" y="914400"/>
            <a:ext cx="6217920" cy="274320"/>
          </a:xfrm>
          <a:prstGeom prst="rect">
            <a:avLst/>
          </a:prstGeom>
          <a:noFill/>
          <a:ln/>
        </p:spPr>
        <p:txBody>
          <a:bodyPr wrap="square" lIns="0" tIns="0" rIns="0" bIns="0" rtlCol="0" anchor="t"/>
          <a:lstStyle/>
          <a:p>
            <a:pPr indent="0" marL="0">
              <a:buNone/>
            </a:pPr>
            <a:r>
              <a:rPr lang="en-US" sz="1200" dirty="0">
                <a:solidFill>
                  <a:srgbClr val="F9D9EB"/>
                </a:solidFill>
                <a:latin typeface="Roboto" pitchFamily="34" charset="0"/>
                <a:ea typeface="Roboto" pitchFamily="34" charset="-122"/>
                <a:cs typeface="Roboto" pitchFamily="34" charset="-120"/>
              </a:rPr>
              <a:t>professordesocials.cat  ›  2n de Batxillerat  ›  Història</a:t>
            </a:r>
            <a:endParaRPr lang="en-US" sz="1200" dirty="0"/>
          </a:p>
        </p:txBody>
      </p:sp>
      <p:sp>
        <p:nvSpPr>
          <p:cNvPr id="5" name="Text 2"/>
          <p:cNvSpPr txBox="1"/>
          <p:nvPr/>
        </p:nvSpPr>
        <p:spPr>
          <a:xfrm>
            <a:off x="1005840" y="1600200"/>
            <a:ext cx="6217920" cy="868680"/>
          </a:xfrm>
          <a:prstGeom prst="rect">
            <a:avLst/>
          </a:prstGeom>
          <a:noFill/>
          <a:ln/>
        </p:spPr>
        <p:txBody>
          <a:bodyPr wrap="square" lIns="0" tIns="0" rIns="0" bIns="0" rtlCol="0" anchor="t"/>
          <a:lstStyle/>
          <a:p>
            <a:pPr indent="0" marL="0">
              <a:buNone/>
            </a:pPr>
            <a:r>
              <a:rPr lang="en-US" sz="4600" b="1" dirty="0">
                <a:solidFill>
                  <a:srgbClr val="FFFFFF"/>
                </a:solidFill>
                <a:latin typeface="Roboto" pitchFamily="34" charset="0"/>
                <a:ea typeface="Roboto" pitchFamily="34" charset="-122"/>
                <a:cs typeface="Roboto" pitchFamily="34" charset="-120"/>
              </a:rPr>
              <a:t>La Restauració</a:t>
            </a:r>
            <a:endParaRPr lang="en-US" sz="4600" dirty="0"/>
          </a:p>
        </p:txBody>
      </p:sp>
      <p:sp>
        <p:nvSpPr>
          <p:cNvPr id="6" name="Text 3"/>
          <p:cNvSpPr txBox="1"/>
          <p:nvPr/>
        </p:nvSpPr>
        <p:spPr>
          <a:xfrm>
            <a:off x="1005840" y="2514600"/>
            <a:ext cx="6217920" cy="320040"/>
          </a:xfrm>
          <a:prstGeom prst="rect">
            <a:avLst/>
          </a:prstGeom>
          <a:noFill/>
          <a:ln/>
        </p:spPr>
        <p:txBody>
          <a:bodyPr wrap="square" lIns="0" tIns="0" rIns="0" bIns="0" rtlCol="0" anchor="t"/>
          <a:lstStyle/>
          <a:p>
            <a:pPr indent="0" marL="0">
              <a:buNone/>
            </a:pPr>
            <a:r>
              <a:rPr lang="en-US" sz="1500" dirty="0">
                <a:solidFill>
                  <a:srgbClr val="FFFFFF"/>
                </a:solidFill>
                <a:latin typeface="Roboto" pitchFamily="34" charset="0"/>
                <a:ea typeface="Roboto" pitchFamily="34" charset="-122"/>
                <a:cs typeface="Roboto" pitchFamily="34" charset="-120"/>
              </a:rPr>
              <a:t>Tema 1 de la PAU  ·  1875–1931</a:t>
            </a:r>
            <a:endParaRPr lang="en-US" sz="1500" dirty="0"/>
          </a:p>
        </p:txBody>
      </p:sp>
      <p:sp>
        <p:nvSpPr>
          <p:cNvPr id="7" name="Text 4"/>
          <p:cNvSpPr txBox="1"/>
          <p:nvPr/>
        </p:nvSpPr>
        <p:spPr>
          <a:xfrm>
            <a:off x="1005840" y="2971800"/>
            <a:ext cx="5852160" cy="731520"/>
          </a:xfrm>
          <a:prstGeom prst="rect">
            <a:avLst/>
          </a:prstGeom>
          <a:noFill/>
          <a:ln/>
        </p:spPr>
        <p:txBody>
          <a:bodyPr wrap="square" lIns="0" tIns="0" rIns="0" bIns="0" rtlCol="0" anchor="t"/>
          <a:lstStyle/>
          <a:p>
            <a:pPr indent="0" marL="0">
              <a:buNone/>
            </a:pPr>
            <a:r>
              <a:rPr lang="en-US" sz="1900" dirty="0">
                <a:solidFill>
                  <a:srgbClr val="FFFFFF"/>
                </a:solidFill>
                <a:latin typeface="Roboto" pitchFamily="34" charset="0"/>
                <a:ea typeface="Roboto" pitchFamily="34" charset="-122"/>
                <a:cs typeface="Roboto" pitchFamily="34" charset="-120"/>
              </a:rPr>
              <a:t>Evolució política, social, econòmica i demogràfica</a:t>
            </a:r>
            <a:endParaRPr lang="en-US" sz="1900" dirty="0"/>
          </a:p>
        </p:txBody>
      </p:sp>
      <p:sp>
        <p:nvSpPr>
          <p:cNvPr id="8" name="Etiqueta 6 apartats"/>
          <p:cNvSpPr/>
          <p:nvPr/>
        </p:nvSpPr>
        <p:spPr>
          <a:xfrm>
            <a:off x="1005840" y="3794760"/>
            <a:ext cx="1115568" cy="310896"/>
          </a:xfrm>
          <a:prstGeom prst="roundRect">
            <a:avLst>
              <a:gd name="adj" fmla="val 50000"/>
            </a:avLst>
          </a:prstGeom>
          <a:solidFill>
            <a:srgbClr val="FFFFFF">
              <a:alpha val="18000"/>
            </a:srgbClr>
          </a:solidFill>
          <a:ln/>
        </p:spPr>
      </p:sp>
      <p:sp>
        <p:nvSpPr>
          <p:cNvPr id="9" name="Text 6"/>
          <p:cNvSpPr txBox="1"/>
          <p:nvPr/>
        </p:nvSpPr>
        <p:spPr>
          <a:xfrm>
            <a:off x="1005840" y="3794760"/>
            <a:ext cx="1115568"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6 apartats</a:t>
            </a:r>
            <a:endParaRPr lang="en-US" sz="1200" dirty="0"/>
          </a:p>
        </p:txBody>
      </p:sp>
      <p:sp>
        <p:nvSpPr>
          <p:cNvPr id="10" name="Etiqueta Fonts i imatges"/>
          <p:cNvSpPr/>
          <p:nvPr/>
        </p:nvSpPr>
        <p:spPr>
          <a:xfrm>
            <a:off x="2231136" y="3794760"/>
            <a:ext cx="1517904" cy="310896"/>
          </a:xfrm>
          <a:prstGeom prst="roundRect">
            <a:avLst>
              <a:gd name="adj" fmla="val 50000"/>
            </a:avLst>
          </a:prstGeom>
          <a:solidFill>
            <a:srgbClr val="FFFFFF">
              <a:alpha val="18000"/>
            </a:srgbClr>
          </a:solidFill>
          <a:ln/>
        </p:spPr>
      </p:sp>
      <p:sp>
        <p:nvSpPr>
          <p:cNvPr id="11" name="Text 8"/>
          <p:cNvSpPr txBox="1"/>
          <p:nvPr/>
        </p:nvSpPr>
        <p:spPr>
          <a:xfrm>
            <a:off x="2231136" y="3794760"/>
            <a:ext cx="1517904"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Fonts i imatges</a:t>
            </a:r>
            <a:endParaRPr lang="en-US" sz="1200" dirty="0"/>
          </a:p>
        </p:txBody>
      </p:sp>
      <p:sp>
        <p:nvSpPr>
          <p:cNvPr id="12" name="Etiqueta Preparació PAU"/>
          <p:cNvSpPr/>
          <p:nvPr/>
        </p:nvSpPr>
        <p:spPr>
          <a:xfrm>
            <a:off x="3858768" y="3794760"/>
            <a:ext cx="1437437" cy="310896"/>
          </a:xfrm>
          <a:prstGeom prst="roundRect">
            <a:avLst>
              <a:gd name="adj" fmla="val 50000"/>
            </a:avLst>
          </a:prstGeom>
          <a:solidFill>
            <a:srgbClr val="FFFFFF">
              <a:alpha val="18000"/>
            </a:srgbClr>
          </a:solidFill>
          <a:ln/>
        </p:spPr>
      </p:sp>
      <p:sp>
        <p:nvSpPr>
          <p:cNvPr id="13" name="Text 10"/>
          <p:cNvSpPr txBox="1"/>
          <p:nvPr/>
        </p:nvSpPr>
        <p:spPr>
          <a:xfrm>
            <a:off x="3858768" y="3794760"/>
            <a:ext cx="1437437"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Preparació PAU</a:t>
            </a:r>
            <a:endParaRPr lang="en-US" sz="1200" dirty="0"/>
          </a:p>
        </p:txBody>
      </p:sp>
      <p:sp>
        <p:nvSpPr>
          <p:cNvPr id="14" name="Fons Caricatura del torn pacífic"/>
          <p:cNvSpPr/>
          <p:nvPr/>
        </p:nvSpPr>
        <p:spPr>
          <a:xfrm>
            <a:off x="8001000" y="548640"/>
            <a:ext cx="3642055" cy="4983480"/>
          </a:xfrm>
          <a:prstGeom prst="roundRect">
            <a:avLst>
              <a:gd name="adj" fmla="val 2762"/>
            </a:avLst>
          </a:prstGeom>
          <a:solidFill>
            <a:srgbClr val="F6F8FB"/>
          </a:solidFill>
          <a:ln/>
        </p:spPr>
      </p:sp>
      <p:pic>
        <p:nvPicPr>
          <p:cNvPr id="15" name="Caricatura del torn pacífic" descr="/home/claude/historia-2batx/media/tema-1/torn.jpg">    </p:cNvPr>
          <p:cNvPicPr>
            <a:picLocks noChangeAspect="1"/>
          </p:cNvPicPr>
          <p:nvPr/>
        </p:nvPicPr>
        <p:blipFill>
          <a:blip r:embed="rId2"/>
          <a:stretch>
            <a:fillRect/>
          </a:stretch>
        </p:blipFill>
        <p:spPr>
          <a:xfrm>
            <a:off x="8001000" y="659952"/>
            <a:ext cx="3642055" cy="4760856"/>
          </a:xfrm>
          <a:prstGeom prst="rect">
            <a:avLst/>
          </a:prstGeom>
        </p:spPr>
      </p:pic>
      <p:sp>
        <p:nvSpPr>
          <p:cNvPr id="16" name="Text 12"/>
          <p:cNvSpPr txBox="1"/>
          <p:nvPr/>
        </p:nvSpPr>
        <p:spPr>
          <a:xfrm>
            <a:off x="8001000" y="5650992"/>
            <a:ext cx="3642055" cy="54864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Caricatura sobre el torn pacífic, «El Loro», 24-12-1881. Domini públic.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Idea principal"/>
          <p:cNvSpPr/>
          <p:nvPr/>
        </p:nvSpPr>
        <p:spPr>
          <a:xfrm>
            <a:off x="548640" y="914400"/>
            <a:ext cx="11094415" cy="4572000"/>
          </a:xfrm>
          <a:prstGeom prst="roundRect">
            <a:avLst>
              <a:gd name="adj" fmla="val 2200"/>
            </a:avLst>
          </a:prstGeom>
          <a:solidFill>
            <a:srgbClr val="FDE7F3"/>
          </a:solidFill>
          <a:ln/>
        </p:spPr>
      </p:sp>
      <p:sp>
        <p:nvSpPr>
          <p:cNvPr id="3" name="Text 1"/>
          <p:cNvSpPr txBox="1"/>
          <p:nvPr/>
        </p:nvSpPr>
        <p:spPr>
          <a:xfrm>
            <a:off x="1051560" y="1371600"/>
            <a:ext cx="8229600" cy="365760"/>
          </a:xfrm>
          <a:prstGeom prst="rect">
            <a:avLst/>
          </a:prstGeom>
          <a:noFill/>
          <a:ln/>
        </p:spPr>
        <p:txBody>
          <a:bodyPr wrap="square" lIns="0" tIns="0" rIns="0" bIns="0" rtlCol="0" anchor="t"/>
          <a:lstStyle/>
          <a:p>
            <a:pPr indent="0" marL="0">
              <a:buNone/>
            </a:pPr>
            <a:r>
              <a:rPr lang="en-US" sz="1600" b="1" dirty="0">
                <a:solidFill>
                  <a:srgbClr val="B80672"/>
                </a:solidFill>
                <a:latin typeface="Roboto" pitchFamily="34" charset="0"/>
                <a:ea typeface="Roboto" pitchFamily="34" charset="-122"/>
                <a:cs typeface="Roboto" pitchFamily="34" charset="-120"/>
              </a:rPr>
              <a:t>Si només en recordes una idea</a:t>
            </a:r>
            <a:endParaRPr lang="en-US" sz="1600" dirty="0"/>
          </a:p>
        </p:txBody>
      </p:sp>
      <p:sp>
        <p:nvSpPr>
          <p:cNvPr id="4" name="Text 2"/>
          <p:cNvSpPr txBox="1"/>
          <p:nvPr/>
        </p:nvSpPr>
        <p:spPr>
          <a:xfrm>
            <a:off x="1051560" y="1828800"/>
            <a:ext cx="9966960" cy="3291840"/>
          </a:xfrm>
          <a:prstGeom prst="rect">
            <a:avLst/>
          </a:prstGeom>
          <a:noFill/>
          <a:ln/>
        </p:spPr>
        <p:txBody>
          <a:bodyPr wrap="square" lIns="0" tIns="0" rIns="0" bIns="0" rtlCol="0" anchor="ctr"/>
          <a:lstStyle/>
          <a:p>
            <a:pPr indent="0" marL="0">
              <a:lnSpc>
                <a:spcPct val="112000"/>
              </a:lnSpc>
              <a:buNone/>
            </a:pPr>
            <a:r>
              <a:rPr lang="en-US" sz="3200" dirty="0">
                <a:solidFill>
                  <a:srgbClr val="202124"/>
                </a:solidFill>
                <a:latin typeface="Roboto" pitchFamily="34" charset="0"/>
                <a:ea typeface="Roboto" pitchFamily="34" charset="-122"/>
                <a:cs typeface="Roboto" pitchFamily="34" charset="-120"/>
              </a:rPr>
              <a:t>La Restauració va donar estabilitat a Espanya, però a canvi de deixar fora del poder la major part de la societat, i aquesta exclusió explica la seva crisi i la seva caiguda.</a:t>
            </a: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pic>
        <p:nvPicPr>
          <p:cNvPr id="3" name="Icona" descr="/tmp/claude-0/-home-claude-historia-2batx/57a75df9-64d0-585a-8d62-369d37bdd596/scratchpad/deck/llibre.png">    </p:cNvPr>
          <p:cNvPicPr>
            <a:picLocks noChangeAspect="1"/>
          </p:cNvPicPr>
          <p:nvPr/>
        </p:nvPicPr>
        <p:blipFill>
          <a:blip r:embed="rId1"/>
          <a:stretch>
            <a:fillRect/>
          </a:stretch>
        </p:blipFill>
        <p:spPr>
          <a:xfrm>
            <a:off x="694944" y="713232"/>
            <a:ext cx="274320" cy="274320"/>
          </a:xfrm>
          <a:prstGeom prst="rect">
            <a:avLst/>
          </a:prstGeom>
        </p:spPr>
      </p:pic>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Set idees per entendre el tema</a:t>
            </a:r>
            <a:endParaRPr lang="en-US" sz="2800" dirty="0"/>
          </a:p>
        </p:txBody>
      </p:sp>
      <p:sp>
        <p:nvSpPr>
          <p:cNvPr id="5" name="Text 2"/>
          <p:cNvSpPr txBox="1"/>
          <p:nvPr/>
        </p:nvSpPr>
        <p:spPr>
          <a:xfrm>
            <a:off x="548640" y="1463040"/>
            <a:ext cx="457200"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1.</a:t>
            </a:r>
            <a:endParaRPr lang="en-US" sz="1700" dirty="0"/>
          </a:p>
        </p:txBody>
      </p:sp>
      <p:sp>
        <p:nvSpPr>
          <p:cNvPr id="6" name="Text 3"/>
          <p:cNvSpPr txBox="1"/>
          <p:nvPr/>
        </p:nvSpPr>
        <p:spPr>
          <a:xfrm>
            <a:off x="1005840" y="1463040"/>
            <a:ext cx="4861408" cy="365760"/>
          </a:xfrm>
          <a:prstGeom prst="rect">
            <a:avLst/>
          </a:prstGeom>
          <a:noFill/>
          <a:ln/>
        </p:spPr>
        <p:txBody>
          <a:bodyPr wrap="square" lIns="0" tIns="0" rIns="0" bIns="0" rtlCol="0" anchor="t"/>
          <a:lstStyle/>
          <a:p>
            <a:pPr indent="0" marL="0">
              <a:buNone/>
            </a:pPr>
            <a:r>
              <a:rPr lang="en-US" sz="1700" b="1" dirty="0">
                <a:solidFill>
                  <a:srgbClr val="202124"/>
                </a:solidFill>
                <a:latin typeface="Roboto" pitchFamily="34" charset="0"/>
                <a:ea typeface="Roboto" pitchFamily="34" charset="-122"/>
                <a:cs typeface="Roboto" pitchFamily="34" charset="-120"/>
              </a:rPr>
              <a:t>Un règim per tenir ordre</a:t>
            </a:r>
            <a:endParaRPr lang="en-US" sz="1700" dirty="0"/>
          </a:p>
        </p:txBody>
      </p:sp>
      <p:sp>
        <p:nvSpPr>
          <p:cNvPr id="7" name="Text 4"/>
          <p:cNvSpPr txBox="1"/>
          <p:nvPr/>
        </p:nvSpPr>
        <p:spPr>
          <a:xfrm>
            <a:off x="1005840" y="1847088"/>
            <a:ext cx="4861408" cy="6858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Cánovas va preparar el retorn dels Borbons i un règim basat en la Constitució de 1876.</a:t>
            </a:r>
            <a:endParaRPr lang="en-US" sz="1450" dirty="0"/>
          </a:p>
        </p:txBody>
      </p:sp>
      <p:sp>
        <p:nvSpPr>
          <p:cNvPr id="8" name="Text 5"/>
          <p:cNvSpPr txBox="1"/>
          <p:nvPr/>
        </p:nvSpPr>
        <p:spPr>
          <a:xfrm>
            <a:off x="548640" y="2606040"/>
            <a:ext cx="457200"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2.</a:t>
            </a:r>
            <a:endParaRPr lang="en-US" sz="1700" dirty="0"/>
          </a:p>
        </p:txBody>
      </p:sp>
      <p:sp>
        <p:nvSpPr>
          <p:cNvPr id="9" name="Text 6"/>
          <p:cNvSpPr txBox="1"/>
          <p:nvPr/>
        </p:nvSpPr>
        <p:spPr>
          <a:xfrm>
            <a:off x="1005840" y="2606040"/>
            <a:ext cx="4861408" cy="365760"/>
          </a:xfrm>
          <a:prstGeom prst="rect">
            <a:avLst/>
          </a:prstGeom>
          <a:noFill/>
          <a:ln/>
        </p:spPr>
        <p:txBody>
          <a:bodyPr wrap="square" lIns="0" tIns="0" rIns="0" bIns="0" rtlCol="0" anchor="t"/>
          <a:lstStyle/>
          <a:p>
            <a:pPr indent="0" marL="0">
              <a:buNone/>
            </a:pPr>
            <a:r>
              <a:rPr lang="en-US" sz="1700" b="1" dirty="0">
                <a:solidFill>
                  <a:srgbClr val="202124"/>
                </a:solidFill>
                <a:latin typeface="Roboto" pitchFamily="34" charset="0"/>
                <a:ea typeface="Roboto" pitchFamily="34" charset="-122"/>
                <a:cs typeface="Roboto" pitchFamily="34" charset="-120"/>
              </a:rPr>
              <a:t>Liberal, però no democràtic</a:t>
            </a:r>
            <a:endParaRPr lang="en-US" sz="1700" dirty="0"/>
          </a:p>
        </p:txBody>
      </p:sp>
      <p:sp>
        <p:nvSpPr>
          <p:cNvPr id="10" name="Text 7"/>
          <p:cNvSpPr txBox="1"/>
          <p:nvPr/>
        </p:nvSpPr>
        <p:spPr>
          <a:xfrm>
            <a:off x="1005840" y="2990088"/>
            <a:ext cx="4861408" cy="6858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Conservadors i liberals s'alternaven gràcies al caciquisme. El govern decidia les eleccions.</a:t>
            </a:r>
            <a:endParaRPr lang="en-US" sz="1450" dirty="0"/>
          </a:p>
        </p:txBody>
      </p:sp>
      <p:sp>
        <p:nvSpPr>
          <p:cNvPr id="11" name="Text 8"/>
          <p:cNvSpPr txBox="1"/>
          <p:nvPr/>
        </p:nvSpPr>
        <p:spPr>
          <a:xfrm>
            <a:off x="548640" y="3749040"/>
            <a:ext cx="457200"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3.</a:t>
            </a:r>
            <a:endParaRPr lang="en-US" sz="1700" dirty="0"/>
          </a:p>
        </p:txBody>
      </p:sp>
      <p:sp>
        <p:nvSpPr>
          <p:cNvPr id="12" name="Text 9"/>
          <p:cNvSpPr txBox="1"/>
          <p:nvPr/>
        </p:nvSpPr>
        <p:spPr>
          <a:xfrm>
            <a:off x="1005840" y="3749040"/>
            <a:ext cx="4861408" cy="365760"/>
          </a:xfrm>
          <a:prstGeom prst="rect">
            <a:avLst/>
          </a:prstGeom>
          <a:noFill/>
          <a:ln/>
        </p:spPr>
        <p:txBody>
          <a:bodyPr wrap="square" lIns="0" tIns="0" rIns="0" bIns="0" rtlCol="0" anchor="t"/>
          <a:lstStyle/>
          <a:p>
            <a:pPr indent="0" marL="0">
              <a:buNone/>
            </a:pPr>
            <a:r>
              <a:rPr lang="en-US" sz="1700" b="1" dirty="0">
                <a:solidFill>
                  <a:srgbClr val="202124"/>
                </a:solidFill>
                <a:latin typeface="Roboto" pitchFamily="34" charset="0"/>
                <a:ea typeface="Roboto" pitchFamily="34" charset="-122"/>
                <a:cs typeface="Roboto" pitchFamily="34" charset="-120"/>
              </a:rPr>
              <a:t>Molts quedaven fora</a:t>
            </a:r>
            <a:endParaRPr lang="en-US" sz="1700" dirty="0"/>
          </a:p>
        </p:txBody>
      </p:sp>
      <p:sp>
        <p:nvSpPr>
          <p:cNvPr id="13" name="Text 10"/>
          <p:cNvSpPr txBox="1"/>
          <p:nvPr/>
        </p:nvSpPr>
        <p:spPr>
          <a:xfrm>
            <a:off x="1005840" y="4133088"/>
            <a:ext cx="4861408" cy="6858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Carlins, republicans, nacionalistes i el moviment obrer s'hi van oposar.</a:t>
            </a:r>
            <a:endParaRPr lang="en-US" sz="1450" dirty="0"/>
          </a:p>
        </p:txBody>
      </p:sp>
      <p:sp>
        <p:nvSpPr>
          <p:cNvPr id="14" name="Text 11"/>
          <p:cNvSpPr txBox="1"/>
          <p:nvPr/>
        </p:nvSpPr>
        <p:spPr>
          <a:xfrm>
            <a:off x="548640" y="4892040"/>
            <a:ext cx="457200"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4.</a:t>
            </a:r>
            <a:endParaRPr lang="en-US" sz="1700" dirty="0"/>
          </a:p>
        </p:txBody>
      </p:sp>
      <p:sp>
        <p:nvSpPr>
          <p:cNvPr id="15" name="Text 12"/>
          <p:cNvSpPr txBox="1"/>
          <p:nvPr/>
        </p:nvSpPr>
        <p:spPr>
          <a:xfrm>
            <a:off x="1005840" y="4892040"/>
            <a:ext cx="4861408" cy="365760"/>
          </a:xfrm>
          <a:prstGeom prst="rect">
            <a:avLst/>
          </a:prstGeom>
          <a:noFill/>
          <a:ln/>
        </p:spPr>
        <p:txBody>
          <a:bodyPr wrap="square" lIns="0" tIns="0" rIns="0" bIns="0" rtlCol="0" anchor="t"/>
          <a:lstStyle/>
          <a:p>
            <a:pPr indent="0" marL="0">
              <a:buNone/>
            </a:pPr>
            <a:r>
              <a:rPr lang="en-US" sz="1700" b="1" dirty="0">
                <a:solidFill>
                  <a:srgbClr val="202124"/>
                </a:solidFill>
                <a:latin typeface="Roboto" pitchFamily="34" charset="0"/>
                <a:ea typeface="Roboto" pitchFamily="34" charset="-122"/>
                <a:cs typeface="Roboto" pitchFamily="34" charset="-120"/>
              </a:rPr>
              <a:t>El 98, la gran sacsejada</a:t>
            </a:r>
            <a:endParaRPr lang="en-US" sz="1700" dirty="0"/>
          </a:p>
        </p:txBody>
      </p:sp>
      <p:sp>
        <p:nvSpPr>
          <p:cNvPr id="16" name="Text 13"/>
          <p:cNvSpPr txBox="1"/>
          <p:nvPr/>
        </p:nvSpPr>
        <p:spPr>
          <a:xfrm>
            <a:off x="1005840" y="5276088"/>
            <a:ext cx="4861408" cy="6858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La pèrdua de Cuba, Puerto Rico i les Filipines va obrir una crisi de confiança.</a:t>
            </a:r>
            <a:endParaRPr lang="en-US" sz="1450" dirty="0"/>
          </a:p>
        </p:txBody>
      </p:sp>
      <p:sp>
        <p:nvSpPr>
          <p:cNvPr id="17" name="Text 14"/>
          <p:cNvSpPr txBox="1"/>
          <p:nvPr/>
        </p:nvSpPr>
        <p:spPr>
          <a:xfrm>
            <a:off x="6324448" y="1463040"/>
            <a:ext cx="457200"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5.</a:t>
            </a:r>
            <a:endParaRPr lang="en-US" sz="1700" dirty="0"/>
          </a:p>
        </p:txBody>
      </p:sp>
      <p:sp>
        <p:nvSpPr>
          <p:cNvPr id="18" name="Text 15"/>
          <p:cNvSpPr txBox="1"/>
          <p:nvPr/>
        </p:nvSpPr>
        <p:spPr>
          <a:xfrm>
            <a:off x="6781648" y="1463040"/>
            <a:ext cx="4861408" cy="365760"/>
          </a:xfrm>
          <a:prstGeom prst="rect">
            <a:avLst/>
          </a:prstGeom>
          <a:noFill/>
          <a:ln/>
        </p:spPr>
        <p:txBody>
          <a:bodyPr wrap="square" lIns="0" tIns="0" rIns="0" bIns="0" rtlCol="0" anchor="t"/>
          <a:lstStyle/>
          <a:p>
            <a:pPr indent="0" marL="0">
              <a:buNone/>
            </a:pPr>
            <a:r>
              <a:rPr lang="en-US" sz="1700" b="1" dirty="0">
                <a:solidFill>
                  <a:srgbClr val="202124"/>
                </a:solidFill>
                <a:latin typeface="Roboto" pitchFamily="34" charset="0"/>
                <a:ea typeface="Roboto" pitchFamily="34" charset="-122"/>
                <a:cs typeface="Roboto" pitchFamily="34" charset="-120"/>
              </a:rPr>
              <a:t>Un sistema que no es reforma</a:t>
            </a:r>
            <a:endParaRPr lang="en-US" sz="1700" dirty="0"/>
          </a:p>
        </p:txBody>
      </p:sp>
      <p:sp>
        <p:nvSpPr>
          <p:cNvPr id="19" name="Text 16"/>
          <p:cNvSpPr txBox="1"/>
          <p:nvPr/>
        </p:nvSpPr>
        <p:spPr>
          <a:xfrm>
            <a:off x="6781648" y="1847088"/>
            <a:ext cx="4861408" cy="6858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Entre el 1898 i el 1923, el Marroc, la crisi de 1917 i els conflictes obrers el van debilitar.</a:t>
            </a:r>
            <a:endParaRPr lang="en-US" sz="1450" dirty="0"/>
          </a:p>
        </p:txBody>
      </p:sp>
      <p:sp>
        <p:nvSpPr>
          <p:cNvPr id="20" name="Text 17"/>
          <p:cNvSpPr txBox="1"/>
          <p:nvPr/>
        </p:nvSpPr>
        <p:spPr>
          <a:xfrm>
            <a:off x="6324448" y="2606040"/>
            <a:ext cx="457200"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6.</a:t>
            </a:r>
            <a:endParaRPr lang="en-US" sz="1700" dirty="0"/>
          </a:p>
        </p:txBody>
      </p:sp>
      <p:sp>
        <p:nvSpPr>
          <p:cNvPr id="21" name="Text 18"/>
          <p:cNvSpPr txBox="1"/>
          <p:nvPr/>
        </p:nvSpPr>
        <p:spPr>
          <a:xfrm>
            <a:off x="6781648" y="2606040"/>
            <a:ext cx="4861408" cy="365760"/>
          </a:xfrm>
          <a:prstGeom prst="rect">
            <a:avLst/>
          </a:prstGeom>
          <a:noFill/>
          <a:ln/>
        </p:spPr>
        <p:txBody>
          <a:bodyPr wrap="square" lIns="0" tIns="0" rIns="0" bIns="0" rtlCol="0" anchor="t"/>
          <a:lstStyle/>
          <a:p>
            <a:pPr indent="0" marL="0">
              <a:buNone/>
            </a:pPr>
            <a:r>
              <a:rPr lang="en-US" sz="1700" b="1" dirty="0">
                <a:solidFill>
                  <a:srgbClr val="202124"/>
                </a:solidFill>
                <a:latin typeface="Roboto" pitchFamily="34" charset="0"/>
                <a:ea typeface="Roboto" pitchFamily="34" charset="-122"/>
                <a:cs typeface="Roboto" pitchFamily="34" charset="-120"/>
              </a:rPr>
              <a:t>De la dictadura a la República</a:t>
            </a:r>
            <a:endParaRPr lang="en-US" sz="1700" dirty="0"/>
          </a:p>
        </p:txBody>
      </p:sp>
      <p:sp>
        <p:nvSpPr>
          <p:cNvPr id="22" name="Text 19"/>
          <p:cNvSpPr txBox="1"/>
          <p:nvPr/>
        </p:nvSpPr>
        <p:spPr>
          <a:xfrm>
            <a:off x="6781648" y="2990088"/>
            <a:ext cx="4861408" cy="6858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El fracàs de Primo de Rivera (1923-1930) va arrossegar la monarquia (14 d'abril de 1931).</a:t>
            </a:r>
            <a:endParaRPr lang="en-US" sz="1450" dirty="0"/>
          </a:p>
        </p:txBody>
      </p:sp>
      <p:sp>
        <p:nvSpPr>
          <p:cNvPr id="23" name="Text 20"/>
          <p:cNvSpPr txBox="1"/>
          <p:nvPr/>
        </p:nvSpPr>
        <p:spPr>
          <a:xfrm>
            <a:off x="6324448" y="3749040"/>
            <a:ext cx="457200"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7.</a:t>
            </a:r>
            <a:endParaRPr lang="en-US" sz="1700" dirty="0"/>
          </a:p>
        </p:txBody>
      </p:sp>
      <p:sp>
        <p:nvSpPr>
          <p:cNvPr id="24" name="Text 21"/>
          <p:cNvSpPr txBox="1"/>
          <p:nvPr/>
        </p:nvSpPr>
        <p:spPr>
          <a:xfrm>
            <a:off x="6781648" y="3749040"/>
            <a:ext cx="4861408" cy="365760"/>
          </a:xfrm>
          <a:prstGeom prst="rect">
            <a:avLst/>
          </a:prstGeom>
          <a:noFill/>
          <a:ln/>
        </p:spPr>
        <p:txBody>
          <a:bodyPr wrap="square" lIns="0" tIns="0" rIns="0" bIns="0" rtlCol="0" anchor="t"/>
          <a:lstStyle/>
          <a:p>
            <a:pPr indent="0" marL="0">
              <a:buNone/>
            </a:pPr>
            <a:r>
              <a:rPr lang="en-US" sz="1700" b="1" dirty="0">
                <a:solidFill>
                  <a:srgbClr val="202124"/>
                </a:solidFill>
                <a:latin typeface="Roboto" pitchFamily="34" charset="0"/>
                <a:ea typeface="Roboto" pitchFamily="34" charset="-122"/>
                <a:cs typeface="Roboto" pitchFamily="34" charset="-120"/>
              </a:rPr>
              <a:t>Un país que canvia a poc a poc</a:t>
            </a:r>
            <a:endParaRPr lang="en-US" sz="1700" dirty="0"/>
          </a:p>
        </p:txBody>
      </p:sp>
      <p:sp>
        <p:nvSpPr>
          <p:cNvPr id="25" name="Text 22"/>
          <p:cNvSpPr txBox="1"/>
          <p:nvPr/>
        </p:nvSpPr>
        <p:spPr>
          <a:xfrm>
            <a:off x="6781648" y="4133088"/>
            <a:ext cx="4861408" cy="6858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Transició demogràfica, problemes agraris i indústria a Catalunya i al País Basc.</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B80672"/>
          </a:solidFill>
          <a:ln/>
        </p:spPr>
      </p:sp>
      <p:pic>
        <p:nvPicPr>
          <p:cNvPr id="3" name="Il·lustració del Congrés i una urna" descr="/tmp/claude-0/-home-claude-historia-2batx/57a75df9-64d0-585a-8d62-369d37bdd596/scratchpad/deck/hero-crop.png">    </p:cNvPr>
          <p:cNvPicPr>
            <a:picLocks noChangeAspect="1"/>
          </p:cNvPicPr>
          <p:nvPr/>
        </p:nvPicPr>
        <p:blipFill>
          <a:blip r:embed="rId1"/>
          <a:stretch>
            <a:fillRect/>
          </a:stretch>
        </p:blipFill>
        <p:spPr>
          <a:xfrm>
            <a:off x="3520440" y="2795465"/>
            <a:ext cx="3566160" cy="1392487"/>
          </a:xfrm>
          <a:prstGeom prst="rect">
            <a:avLst/>
          </a:prstGeom>
        </p:spPr>
      </p:pic>
      <p:sp>
        <p:nvSpPr>
          <p:cNvPr id="4" name="Etiqueta Apartat 1  ·  1875–1898"/>
          <p:cNvSpPr/>
          <p:nvPr/>
        </p:nvSpPr>
        <p:spPr>
          <a:xfrm>
            <a:off x="960120" y="896112"/>
            <a:ext cx="2161642" cy="310896"/>
          </a:xfrm>
          <a:prstGeom prst="roundRect">
            <a:avLst>
              <a:gd name="adj" fmla="val 50000"/>
            </a:avLst>
          </a:prstGeom>
          <a:solidFill>
            <a:srgbClr val="FFFFFF">
              <a:alpha val="18000"/>
            </a:srgbClr>
          </a:solidFill>
          <a:ln/>
        </p:spPr>
      </p:sp>
      <p:sp>
        <p:nvSpPr>
          <p:cNvPr id="5" name="Text 2"/>
          <p:cNvSpPr txBox="1"/>
          <p:nvPr/>
        </p:nvSpPr>
        <p:spPr>
          <a:xfrm>
            <a:off x="960120" y="896112"/>
            <a:ext cx="2161642"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1  ·  1875–1898</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El sistema de la Restauració</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B80672"/>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Com es va construir un règim estable després del Sexenni, i com funcionava de veritat?</a:t>
            </a:r>
            <a:endParaRPr lang="en-US" sz="1900" dirty="0"/>
          </a:p>
        </p:txBody>
      </p:sp>
      <p:sp>
        <p:nvSpPr>
          <p:cNvPr id="10" name="Fons El sistema de la Restauració"/>
          <p:cNvSpPr/>
          <p:nvPr/>
        </p:nvSpPr>
        <p:spPr>
          <a:xfrm>
            <a:off x="7635240" y="1156082"/>
            <a:ext cx="4007815" cy="3475989"/>
          </a:xfrm>
          <a:prstGeom prst="roundRect">
            <a:avLst>
              <a:gd name="adj" fmla="val 2894"/>
            </a:avLst>
          </a:prstGeom>
          <a:solidFill>
            <a:srgbClr val="F6F8FB"/>
          </a:solidFill>
          <a:ln/>
        </p:spPr>
      </p:sp>
      <p:pic>
        <p:nvPicPr>
          <p:cNvPr id="11" name="El sistema de la Restauració" descr="/home/claude/historia-2batx/media/tema-1/sagunt.jpg">    </p:cNvPr>
          <p:cNvPicPr>
            <a:picLocks noChangeAspect="1"/>
          </p:cNvPicPr>
          <p:nvPr/>
        </p:nvPicPr>
        <p:blipFill>
          <a:blip r:embed="rId2"/>
          <a:stretch>
            <a:fillRect/>
          </a:stretch>
        </p:blipFill>
        <p:spPr>
          <a:xfrm>
            <a:off x="7635240" y="1156082"/>
            <a:ext cx="4007815" cy="3475989"/>
          </a:xfrm>
          <a:prstGeom prst="rect">
            <a:avLst/>
          </a:prstGeom>
        </p:spPr>
      </p:pic>
      <p:sp>
        <p:nvSpPr>
          <p:cNvPr id="12" name="Text 8"/>
          <p:cNvSpPr txBox="1"/>
          <p:nvPr/>
        </p:nvSpPr>
        <p:spPr>
          <a:xfrm>
            <a:off x="7635240" y="4741798"/>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Proclamació d'Alfons XII a Sagunt (29-12-1874). «La Ilustración Española y Americana», 8-1-1875. Domini públic.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Del Sexenni al retorn dels Borbons</a:t>
            </a:r>
            <a:endParaRPr lang="en-US" sz="2800" dirty="0"/>
          </a:p>
        </p:txBody>
      </p:sp>
      <p:sp>
        <p:nvSpPr>
          <p:cNvPr id="5" name="Línia del temps"/>
          <p:cNvSpPr/>
          <p:nvPr/>
        </p:nvSpPr>
        <p:spPr>
          <a:xfrm>
            <a:off x="1554480" y="2606040"/>
            <a:ext cx="9082735" cy="0"/>
          </a:xfrm>
          <a:prstGeom prst="line">
            <a:avLst/>
          </a:prstGeom>
          <a:noFill/>
          <a:ln w="31750">
            <a:solidFill>
              <a:srgbClr val="DADCE0"/>
            </a:solidFill>
            <a:prstDash val="solid"/>
          </a:ln>
        </p:spPr>
      </p:sp>
      <p:sp>
        <p:nvSpPr>
          <p:cNvPr id="6" name="Fita 1868"/>
          <p:cNvSpPr/>
          <p:nvPr/>
        </p:nvSpPr>
        <p:spPr>
          <a:xfrm>
            <a:off x="1408176" y="2459736"/>
            <a:ext cx="292608" cy="292608"/>
          </a:xfrm>
          <a:prstGeom prst="ellipse">
            <a:avLst/>
          </a:prstGeom>
          <a:solidFill>
            <a:srgbClr val="FFFFFF"/>
          </a:solidFill>
          <a:ln w="31750">
            <a:solidFill>
              <a:srgbClr val="B80672"/>
            </a:solidFill>
            <a:prstDash val="solid"/>
          </a:ln>
        </p:spPr>
      </p:sp>
      <p:sp>
        <p:nvSpPr>
          <p:cNvPr id="7" name="Text 5"/>
          <p:cNvSpPr txBox="1"/>
          <p:nvPr/>
        </p:nvSpPr>
        <p:spPr>
          <a:xfrm>
            <a:off x="548640" y="1508760"/>
            <a:ext cx="2011680" cy="822960"/>
          </a:xfrm>
          <a:prstGeom prst="rect">
            <a:avLst/>
          </a:prstGeom>
          <a:noFill/>
          <a:ln/>
        </p:spPr>
        <p:txBody>
          <a:bodyPr wrap="square" lIns="0" tIns="0" rIns="0" bIns="0" rtlCol="0" anchor="b"/>
          <a:lstStyle/>
          <a:p>
            <a:pPr algn="ctr" indent="0" marL="0">
              <a:buNone/>
            </a:pPr>
            <a:r>
              <a:rPr lang="en-US" sz="1700" b="1" dirty="0">
                <a:solidFill>
                  <a:srgbClr val="B80672"/>
                </a:solidFill>
                <a:latin typeface="Roboto" pitchFamily="34" charset="0"/>
                <a:ea typeface="Roboto" pitchFamily="34" charset="-122"/>
                <a:cs typeface="Roboto" pitchFamily="34" charset="-120"/>
              </a:rPr>
              <a:t>1868</a:t>
            </a:r>
            <a:endParaRPr lang="en-US" sz="1700" dirty="0"/>
          </a:p>
        </p:txBody>
      </p:sp>
      <p:sp>
        <p:nvSpPr>
          <p:cNvPr id="8" name="Text 6"/>
          <p:cNvSpPr txBox="1"/>
          <p:nvPr/>
        </p:nvSpPr>
        <p:spPr>
          <a:xfrm>
            <a:off x="548640" y="2926080"/>
            <a:ext cx="2011680" cy="1371600"/>
          </a:xfrm>
          <a:prstGeom prst="rect">
            <a:avLst/>
          </a:prstGeom>
          <a:noFill/>
          <a:ln/>
        </p:spPr>
        <p:txBody>
          <a:bodyPr wrap="square" lIns="0" tIns="0" rIns="0" bIns="0" rtlCol="0" anchor="t"/>
          <a:lstStyle/>
          <a:p>
            <a:pPr algn="ctr" indent="0" marL="0">
              <a:buNone/>
            </a:pPr>
            <a:r>
              <a:rPr lang="en-US" sz="1450" dirty="0">
                <a:solidFill>
                  <a:srgbClr val="202124"/>
                </a:solidFill>
                <a:latin typeface="Roboto" pitchFamily="34" charset="0"/>
                <a:ea typeface="Roboto" pitchFamily="34" charset="-122"/>
                <a:cs typeface="Roboto" pitchFamily="34" charset="-120"/>
              </a:rPr>
              <a:t>La Gloriosa destrona Isabel II i comença el Sexenni Democràtic.</a:t>
            </a:r>
            <a:endParaRPr lang="en-US" sz="1450" dirty="0"/>
          </a:p>
        </p:txBody>
      </p:sp>
      <p:sp>
        <p:nvSpPr>
          <p:cNvPr id="9" name="Fita 1873"/>
          <p:cNvSpPr/>
          <p:nvPr/>
        </p:nvSpPr>
        <p:spPr>
          <a:xfrm>
            <a:off x="3678860" y="2459736"/>
            <a:ext cx="292608" cy="292608"/>
          </a:xfrm>
          <a:prstGeom prst="ellipse">
            <a:avLst/>
          </a:prstGeom>
          <a:solidFill>
            <a:srgbClr val="FFFFFF"/>
          </a:solidFill>
          <a:ln w="31750">
            <a:solidFill>
              <a:srgbClr val="B80672"/>
            </a:solidFill>
            <a:prstDash val="solid"/>
          </a:ln>
        </p:spPr>
      </p:sp>
      <p:sp>
        <p:nvSpPr>
          <p:cNvPr id="10" name="Text 8"/>
          <p:cNvSpPr txBox="1"/>
          <p:nvPr/>
        </p:nvSpPr>
        <p:spPr>
          <a:xfrm>
            <a:off x="2819324" y="1508760"/>
            <a:ext cx="2011680" cy="822960"/>
          </a:xfrm>
          <a:prstGeom prst="rect">
            <a:avLst/>
          </a:prstGeom>
          <a:noFill/>
          <a:ln/>
        </p:spPr>
        <p:txBody>
          <a:bodyPr wrap="square" lIns="0" tIns="0" rIns="0" bIns="0" rtlCol="0" anchor="b"/>
          <a:lstStyle/>
          <a:p>
            <a:pPr algn="ctr" indent="0" marL="0">
              <a:buNone/>
            </a:pPr>
            <a:r>
              <a:rPr lang="en-US" sz="1700" b="1" dirty="0">
                <a:solidFill>
                  <a:srgbClr val="B80672"/>
                </a:solidFill>
                <a:latin typeface="Roboto" pitchFamily="34" charset="0"/>
                <a:ea typeface="Roboto" pitchFamily="34" charset="-122"/>
                <a:cs typeface="Roboto" pitchFamily="34" charset="-120"/>
              </a:rPr>
              <a:t>1873</a:t>
            </a:r>
            <a:endParaRPr lang="en-US" sz="1700" dirty="0"/>
          </a:p>
        </p:txBody>
      </p:sp>
      <p:sp>
        <p:nvSpPr>
          <p:cNvPr id="11" name="Text 9"/>
          <p:cNvSpPr txBox="1"/>
          <p:nvPr/>
        </p:nvSpPr>
        <p:spPr>
          <a:xfrm>
            <a:off x="2819324" y="2926080"/>
            <a:ext cx="2011680" cy="1371600"/>
          </a:xfrm>
          <a:prstGeom prst="rect">
            <a:avLst/>
          </a:prstGeom>
          <a:noFill/>
          <a:ln/>
        </p:spPr>
        <p:txBody>
          <a:bodyPr wrap="square" lIns="0" tIns="0" rIns="0" bIns="0" rtlCol="0" anchor="t"/>
          <a:lstStyle/>
          <a:p>
            <a:pPr algn="ctr" indent="0" marL="0">
              <a:buNone/>
            </a:pPr>
            <a:r>
              <a:rPr lang="en-US" sz="1450" dirty="0">
                <a:solidFill>
                  <a:srgbClr val="202124"/>
                </a:solidFill>
                <a:latin typeface="Roboto" pitchFamily="34" charset="0"/>
                <a:ea typeface="Roboto" pitchFamily="34" charset="-122"/>
                <a:cs typeface="Roboto" pitchFamily="34" charset="-120"/>
              </a:rPr>
              <a:t>Primera República, amb quatre presidents en menys d'un any.</a:t>
            </a:r>
            <a:endParaRPr lang="en-US" sz="1450" dirty="0"/>
          </a:p>
        </p:txBody>
      </p:sp>
      <p:sp>
        <p:nvSpPr>
          <p:cNvPr id="12" name="Fita Gener de 1874"/>
          <p:cNvSpPr/>
          <p:nvPr/>
        </p:nvSpPr>
        <p:spPr>
          <a:xfrm>
            <a:off x="5949544" y="2459736"/>
            <a:ext cx="292608" cy="292608"/>
          </a:xfrm>
          <a:prstGeom prst="ellipse">
            <a:avLst/>
          </a:prstGeom>
          <a:solidFill>
            <a:srgbClr val="FFFFFF"/>
          </a:solidFill>
          <a:ln w="31750">
            <a:solidFill>
              <a:srgbClr val="B80672"/>
            </a:solidFill>
            <a:prstDash val="solid"/>
          </a:ln>
        </p:spPr>
      </p:sp>
      <p:sp>
        <p:nvSpPr>
          <p:cNvPr id="13" name="Text 11"/>
          <p:cNvSpPr txBox="1"/>
          <p:nvPr/>
        </p:nvSpPr>
        <p:spPr>
          <a:xfrm>
            <a:off x="5090008" y="1508760"/>
            <a:ext cx="2011680" cy="822960"/>
          </a:xfrm>
          <a:prstGeom prst="rect">
            <a:avLst/>
          </a:prstGeom>
          <a:noFill/>
          <a:ln/>
        </p:spPr>
        <p:txBody>
          <a:bodyPr wrap="square" lIns="0" tIns="0" rIns="0" bIns="0" rtlCol="0" anchor="b"/>
          <a:lstStyle/>
          <a:p>
            <a:pPr algn="ctr" indent="0" marL="0">
              <a:buNone/>
            </a:pPr>
            <a:r>
              <a:rPr lang="en-US" sz="1700" b="1" dirty="0">
                <a:solidFill>
                  <a:srgbClr val="B80672"/>
                </a:solidFill>
                <a:latin typeface="Roboto" pitchFamily="34" charset="0"/>
                <a:ea typeface="Roboto" pitchFamily="34" charset="-122"/>
                <a:cs typeface="Roboto" pitchFamily="34" charset="-120"/>
              </a:rPr>
              <a:t>Gener de 1874</a:t>
            </a:r>
            <a:endParaRPr lang="en-US" sz="1700" dirty="0"/>
          </a:p>
        </p:txBody>
      </p:sp>
      <p:sp>
        <p:nvSpPr>
          <p:cNvPr id="14" name="Text 12"/>
          <p:cNvSpPr txBox="1"/>
          <p:nvPr/>
        </p:nvSpPr>
        <p:spPr>
          <a:xfrm>
            <a:off x="5090008" y="2926080"/>
            <a:ext cx="2011680" cy="1371600"/>
          </a:xfrm>
          <a:prstGeom prst="rect">
            <a:avLst/>
          </a:prstGeom>
          <a:noFill/>
          <a:ln/>
        </p:spPr>
        <p:txBody>
          <a:bodyPr wrap="square" lIns="0" tIns="0" rIns="0" bIns="0" rtlCol="0" anchor="t"/>
          <a:lstStyle/>
          <a:p>
            <a:pPr algn="ctr" indent="0" marL="0">
              <a:buNone/>
            </a:pPr>
            <a:r>
              <a:rPr lang="en-US" sz="1450" dirty="0">
                <a:solidFill>
                  <a:srgbClr val="202124"/>
                </a:solidFill>
                <a:latin typeface="Roboto" pitchFamily="34" charset="0"/>
                <a:ea typeface="Roboto" pitchFamily="34" charset="-122"/>
                <a:cs typeface="Roboto" pitchFamily="34" charset="-120"/>
              </a:rPr>
              <a:t>El general Pavía dissol les Corts per la força.</a:t>
            </a:r>
            <a:endParaRPr lang="en-US" sz="1450" dirty="0"/>
          </a:p>
        </p:txBody>
      </p:sp>
      <p:sp>
        <p:nvSpPr>
          <p:cNvPr id="15" name="Fita 1-12-1874"/>
          <p:cNvSpPr/>
          <p:nvPr/>
        </p:nvSpPr>
        <p:spPr>
          <a:xfrm>
            <a:off x="8220227" y="2459736"/>
            <a:ext cx="292608" cy="292608"/>
          </a:xfrm>
          <a:prstGeom prst="ellipse">
            <a:avLst/>
          </a:prstGeom>
          <a:solidFill>
            <a:srgbClr val="FFFFFF"/>
          </a:solidFill>
          <a:ln w="31750">
            <a:solidFill>
              <a:srgbClr val="B80672"/>
            </a:solidFill>
            <a:prstDash val="solid"/>
          </a:ln>
        </p:spPr>
      </p:sp>
      <p:sp>
        <p:nvSpPr>
          <p:cNvPr id="16" name="Text 14"/>
          <p:cNvSpPr txBox="1"/>
          <p:nvPr/>
        </p:nvSpPr>
        <p:spPr>
          <a:xfrm>
            <a:off x="7360691" y="1508760"/>
            <a:ext cx="2011680" cy="822960"/>
          </a:xfrm>
          <a:prstGeom prst="rect">
            <a:avLst/>
          </a:prstGeom>
          <a:noFill/>
          <a:ln/>
        </p:spPr>
        <p:txBody>
          <a:bodyPr wrap="square" lIns="0" tIns="0" rIns="0" bIns="0" rtlCol="0" anchor="b"/>
          <a:lstStyle/>
          <a:p>
            <a:pPr algn="ctr" indent="0" marL="0">
              <a:buNone/>
            </a:pPr>
            <a:r>
              <a:rPr lang="en-US" sz="1700" b="1" dirty="0">
                <a:solidFill>
                  <a:srgbClr val="B80672"/>
                </a:solidFill>
                <a:latin typeface="Roboto" pitchFamily="34" charset="0"/>
                <a:ea typeface="Roboto" pitchFamily="34" charset="-122"/>
                <a:cs typeface="Roboto" pitchFamily="34" charset="-120"/>
              </a:rPr>
              <a:t>1-12-1874</a:t>
            </a:r>
            <a:endParaRPr lang="en-US" sz="1700" dirty="0"/>
          </a:p>
        </p:txBody>
      </p:sp>
      <p:sp>
        <p:nvSpPr>
          <p:cNvPr id="17" name="Text 15"/>
          <p:cNvSpPr txBox="1"/>
          <p:nvPr/>
        </p:nvSpPr>
        <p:spPr>
          <a:xfrm>
            <a:off x="7360691" y="2926080"/>
            <a:ext cx="2011680" cy="1371600"/>
          </a:xfrm>
          <a:prstGeom prst="rect">
            <a:avLst/>
          </a:prstGeom>
          <a:noFill/>
          <a:ln/>
        </p:spPr>
        <p:txBody>
          <a:bodyPr wrap="square" lIns="0" tIns="0" rIns="0" bIns="0" rtlCol="0" anchor="t"/>
          <a:lstStyle/>
          <a:p>
            <a:pPr algn="ctr" indent="0" marL="0">
              <a:buNone/>
            </a:pPr>
            <a:r>
              <a:rPr lang="en-US" sz="1450" dirty="0">
                <a:solidFill>
                  <a:srgbClr val="202124"/>
                </a:solidFill>
                <a:latin typeface="Roboto" pitchFamily="34" charset="0"/>
                <a:ea typeface="Roboto" pitchFamily="34" charset="-122"/>
                <a:cs typeface="Roboto" pitchFamily="34" charset="-120"/>
              </a:rPr>
              <a:t>Manifest de Sandhurst, redactat per Cánovas.</a:t>
            </a:r>
            <a:endParaRPr lang="en-US" sz="1450" dirty="0"/>
          </a:p>
        </p:txBody>
      </p:sp>
      <p:sp>
        <p:nvSpPr>
          <p:cNvPr id="18" name="Fita 29-12-1874"/>
          <p:cNvSpPr/>
          <p:nvPr/>
        </p:nvSpPr>
        <p:spPr>
          <a:xfrm>
            <a:off x="10490911" y="2459736"/>
            <a:ext cx="292608" cy="292608"/>
          </a:xfrm>
          <a:prstGeom prst="ellipse">
            <a:avLst/>
          </a:prstGeom>
          <a:solidFill>
            <a:srgbClr val="B80672"/>
          </a:solidFill>
          <a:ln w="31750">
            <a:solidFill>
              <a:srgbClr val="B80672"/>
            </a:solidFill>
            <a:prstDash val="solid"/>
          </a:ln>
        </p:spPr>
      </p:sp>
      <p:sp>
        <p:nvSpPr>
          <p:cNvPr id="19" name="Text 17"/>
          <p:cNvSpPr txBox="1"/>
          <p:nvPr/>
        </p:nvSpPr>
        <p:spPr>
          <a:xfrm>
            <a:off x="9631375" y="1508760"/>
            <a:ext cx="2011680" cy="822960"/>
          </a:xfrm>
          <a:prstGeom prst="rect">
            <a:avLst/>
          </a:prstGeom>
          <a:noFill/>
          <a:ln/>
        </p:spPr>
        <p:txBody>
          <a:bodyPr wrap="square" lIns="0" tIns="0" rIns="0" bIns="0" rtlCol="0" anchor="b"/>
          <a:lstStyle/>
          <a:p>
            <a:pPr algn="ctr" indent="0" marL="0">
              <a:buNone/>
            </a:pPr>
            <a:r>
              <a:rPr lang="en-US" sz="1700" b="1" dirty="0">
                <a:solidFill>
                  <a:srgbClr val="B80672"/>
                </a:solidFill>
                <a:latin typeface="Roboto" pitchFamily="34" charset="0"/>
                <a:ea typeface="Roboto" pitchFamily="34" charset="-122"/>
                <a:cs typeface="Roboto" pitchFamily="34" charset="-120"/>
              </a:rPr>
              <a:t>29-12-1874</a:t>
            </a:r>
            <a:endParaRPr lang="en-US" sz="1700" dirty="0"/>
          </a:p>
        </p:txBody>
      </p:sp>
      <p:sp>
        <p:nvSpPr>
          <p:cNvPr id="20" name="Text 18"/>
          <p:cNvSpPr txBox="1"/>
          <p:nvPr/>
        </p:nvSpPr>
        <p:spPr>
          <a:xfrm>
            <a:off x="9631375" y="2926080"/>
            <a:ext cx="2011680" cy="1371600"/>
          </a:xfrm>
          <a:prstGeom prst="rect">
            <a:avLst/>
          </a:prstGeom>
          <a:noFill/>
          <a:ln/>
        </p:spPr>
        <p:txBody>
          <a:bodyPr wrap="square" lIns="0" tIns="0" rIns="0" bIns="0" rtlCol="0" anchor="t"/>
          <a:lstStyle/>
          <a:p>
            <a:pPr algn="ctr" indent="0" marL="0">
              <a:buNone/>
            </a:pPr>
            <a:r>
              <a:rPr lang="en-US" sz="1450" dirty="0">
                <a:solidFill>
                  <a:srgbClr val="202124"/>
                </a:solidFill>
                <a:latin typeface="Roboto" pitchFamily="34" charset="0"/>
                <a:ea typeface="Roboto" pitchFamily="34" charset="-122"/>
                <a:cs typeface="Roboto" pitchFamily="34" charset="-120"/>
              </a:rPr>
              <a:t>Martínez Campos proclama rei Alfons XII a Sagunt.</a:t>
            </a:r>
            <a:endParaRPr lang="en-US" sz="1450" dirty="0"/>
          </a:p>
        </p:txBody>
      </p:sp>
      <p:sp>
        <p:nvSpPr>
          <p:cNvPr id="21" name="Per què"/>
          <p:cNvSpPr/>
          <p:nvPr/>
        </p:nvSpPr>
        <p:spPr>
          <a:xfrm>
            <a:off x="548640" y="4526280"/>
            <a:ext cx="11094415" cy="1463040"/>
          </a:xfrm>
          <a:prstGeom prst="roundRect">
            <a:avLst>
              <a:gd name="adj" fmla="val 6875"/>
            </a:avLst>
          </a:prstGeom>
          <a:solidFill>
            <a:srgbClr val="FDE7F3"/>
          </a:solidFill>
          <a:ln/>
        </p:spPr>
      </p:sp>
      <p:sp>
        <p:nvSpPr>
          <p:cNvPr id="22" name="Text 20"/>
          <p:cNvSpPr txBox="1"/>
          <p:nvPr/>
        </p:nvSpPr>
        <p:spPr>
          <a:xfrm>
            <a:off x="868680" y="4681728"/>
            <a:ext cx="365760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Per què?</a:t>
            </a:r>
            <a:endParaRPr lang="en-US" sz="1400" dirty="0"/>
          </a:p>
        </p:txBody>
      </p:sp>
      <p:sp>
        <p:nvSpPr>
          <p:cNvPr id="23" name="Text 21"/>
          <p:cNvSpPr txBox="1"/>
          <p:nvPr/>
        </p:nvSpPr>
        <p:spPr>
          <a:xfrm>
            <a:off x="868680" y="5029200"/>
            <a:ext cx="10454335" cy="8229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Les classes benestants, bona part de l'exèrcit i l'Església associaven el Sexenni al desordre. Volien estabilitat, ordre i protecció de la propietat, i Cánovas va aprofitar aquest clima.</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Constitució de 1876</a:t>
            </a:r>
            <a:endParaRPr lang="en-US" sz="2800" dirty="0"/>
          </a:p>
        </p:txBody>
      </p:sp>
      <p:sp>
        <p:nvSpPr>
          <p:cNvPr id="5" name="Text 3"/>
          <p:cNvSpPr txBox="1"/>
          <p:nvPr/>
        </p:nvSpPr>
        <p:spPr>
          <a:xfrm>
            <a:off x="548640" y="1508760"/>
            <a:ext cx="3200400" cy="731520"/>
          </a:xfrm>
          <a:prstGeom prst="rect">
            <a:avLst/>
          </a:prstGeom>
          <a:noFill/>
          <a:ln/>
        </p:spPr>
        <p:txBody>
          <a:bodyPr wrap="square" lIns="0" tIns="0" rIns="0" bIns="0" rtlCol="0" anchor="t"/>
          <a:lstStyle/>
          <a:p>
            <a:pPr indent="0" marL="0">
              <a:buNone/>
            </a:pPr>
            <a:r>
              <a:rPr lang="en-US" sz="4000" b="1" dirty="0">
                <a:solidFill>
                  <a:srgbClr val="B80672"/>
                </a:solidFill>
                <a:latin typeface="Roboto" pitchFamily="34" charset="0"/>
                <a:ea typeface="Roboto" pitchFamily="34" charset="-122"/>
                <a:cs typeface="Roboto" pitchFamily="34" charset="-120"/>
              </a:rPr>
              <a:t>1876–1923</a:t>
            </a:r>
            <a:endParaRPr lang="en-US" sz="4000" dirty="0"/>
          </a:p>
        </p:txBody>
      </p:sp>
      <p:sp>
        <p:nvSpPr>
          <p:cNvPr id="6" name="Text 4"/>
          <p:cNvSpPr txBox="1"/>
          <p:nvPr/>
        </p:nvSpPr>
        <p:spPr>
          <a:xfrm>
            <a:off x="548640" y="2331720"/>
            <a:ext cx="3017520" cy="91440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Va ser vigent gairebé mig segle, fins al cop d'estat de 1923.</a:t>
            </a:r>
            <a:endParaRPr lang="en-US" sz="1550" dirty="0"/>
          </a:p>
        </p:txBody>
      </p:sp>
      <p:sp>
        <p:nvSpPr>
          <p:cNvPr id="7" name="La clau"/>
          <p:cNvSpPr/>
          <p:nvPr/>
        </p:nvSpPr>
        <p:spPr>
          <a:xfrm>
            <a:off x="548640" y="3520440"/>
            <a:ext cx="3108960" cy="2423160"/>
          </a:xfrm>
          <a:prstGeom prst="roundRect">
            <a:avLst>
              <a:gd name="adj" fmla="val 4151"/>
            </a:avLst>
          </a:prstGeom>
          <a:solidFill>
            <a:srgbClr val="F6F8FB"/>
          </a:solidFill>
          <a:ln/>
        </p:spPr>
      </p:sp>
      <p:sp>
        <p:nvSpPr>
          <p:cNvPr id="8" name="Text 6"/>
          <p:cNvSpPr txBox="1"/>
          <p:nvPr/>
        </p:nvSpPr>
        <p:spPr>
          <a:xfrm>
            <a:off x="822960" y="3703320"/>
            <a:ext cx="256032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La clau</a:t>
            </a:r>
            <a:endParaRPr lang="en-US" sz="1400" dirty="0"/>
          </a:p>
        </p:txBody>
      </p:sp>
      <p:sp>
        <p:nvSpPr>
          <p:cNvPr id="9" name="Text 7"/>
          <p:cNvSpPr txBox="1"/>
          <p:nvPr/>
        </p:nvSpPr>
        <p:spPr>
          <a:xfrm>
            <a:off x="822960" y="4069080"/>
            <a:ext cx="2606040" cy="1737360"/>
          </a:xfrm>
          <a:prstGeom prst="rect">
            <a:avLst/>
          </a:prstGeom>
          <a:noFill/>
          <a:ln/>
        </p:spPr>
        <p:txBody>
          <a:bodyPr wrap="square" lIns="0" tIns="0" rIns="0" bIns="0" rtlCol="0" anchor="t"/>
          <a:lstStyle/>
          <a:p>
            <a:pPr indent="0" marL="0">
              <a:buNone/>
            </a:pPr>
            <a:r>
              <a:rPr lang="en-US" sz="1500" dirty="0">
                <a:solidFill>
                  <a:srgbClr val="5F6368"/>
                </a:solidFill>
                <a:latin typeface="Roboto" pitchFamily="34" charset="0"/>
                <a:ea typeface="Roboto" pitchFamily="34" charset="-122"/>
                <a:cs typeface="Roboto" pitchFamily="34" charset="-120"/>
              </a:rPr>
              <a:t>La flexibilitat. Cada partit governava amb les seves lleis sense canviar la Constitució.</a:t>
            </a:r>
            <a:endParaRPr lang="en-US" sz="1500" dirty="0"/>
          </a:p>
        </p:txBody>
      </p:sp>
      <p:sp>
        <p:nvSpPr>
          <p:cNvPr id="10" name="Tret 1"/>
          <p:cNvSpPr/>
          <p:nvPr/>
        </p:nvSpPr>
        <p:spPr>
          <a:xfrm>
            <a:off x="4023360" y="1508760"/>
            <a:ext cx="3672688" cy="2103120"/>
          </a:xfrm>
          <a:prstGeom prst="roundRect">
            <a:avLst>
              <a:gd name="adj" fmla="val 4783"/>
            </a:avLst>
          </a:prstGeom>
          <a:solidFill>
            <a:srgbClr val="FFFFFF"/>
          </a:solidFill>
          <a:ln w="12700">
            <a:solidFill>
              <a:srgbClr val="DADCE0"/>
            </a:solidFill>
            <a:prstDash val="solid"/>
          </a:ln>
        </p:spPr>
      </p:sp>
      <p:sp>
        <p:nvSpPr>
          <p:cNvPr id="11" name="Text 9"/>
          <p:cNvSpPr txBox="1"/>
          <p:nvPr/>
        </p:nvSpPr>
        <p:spPr>
          <a:xfrm>
            <a:off x="4297680" y="1737360"/>
            <a:ext cx="3124048" cy="365760"/>
          </a:xfrm>
          <a:prstGeom prst="rect">
            <a:avLst/>
          </a:prstGeom>
          <a:noFill/>
          <a:ln/>
        </p:spPr>
        <p:txBody>
          <a:bodyPr wrap="square" lIns="0" tIns="0" rIns="0" bIns="0" rtlCol="0" anchor="t"/>
          <a:lstStyle/>
          <a:p>
            <a:pPr indent="0" marL="0">
              <a:buNone/>
            </a:pPr>
            <a:r>
              <a:rPr lang="en-US" sz="1800" b="1" dirty="0">
                <a:solidFill>
                  <a:srgbClr val="B80672"/>
                </a:solidFill>
                <a:latin typeface="Roboto" pitchFamily="34" charset="0"/>
                <a:ea typeface="Roboto" pitchFamily="34" charset="-122"/>
                <a:cs typeface="Roboto" pitchFamily="34" charset="-120"/>
              </a:rPr>
              <a:t>Sobirania compartida</a:t>
            </a:r>
            <a:endParaRPr lang="en-US" sz="1800" dirty="0"/>
          </a:p>
        </p:txBody>
      </p:sp>
      <p:sp>
        <p:nvSpPr>
          <p:cNvPr id="12" name="Text 10"/>
          <p:cNvSpPr txBox="1"/>
          <p:nvPr/>
        </p:nvSpPr>
        <p:spPr>
          <a:xfrm>
            <a:off x="4297680" y="2194560"/>
            <a:ext cx="3124048" cy="12344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 rei i les Corts. El rei nomenava els ministres i podia dissoldre les Corts, la peça clau del torn.</a:t>
            </a:r>
            <a:endParaRPr lang="en-US" sz="1500" dirty="0"/>
          </a:p>
        </p:txBody>
      </p:sp>
      <p:sp>
        <p:nvSpPr>
          <p:cNvPr id="13" name="Tret 2"/>
          <p:cNvSpPr/>
          <p:nvPr/>
        </p:nvSpPr>
        <p:spPr>
          <a:xfrm>
            <a:off x="7970368" y="1508760"/>
            <a:ext cx="3672688" cy="2103120"/>
          </a:xfrm>
          <a:prstGeom prst="roundRect">
            <a:avLst>
              <a:gd name="adj" fmla="val 4783"/>
            </a:avLst>
          </a:prstGeom>
          <a:solidFill>
            <a:srgbClr val="FFFFFF"/>
          </a:solidFill>
          <a:ln w="12700">
            <a:solidFill>
              <a:srgbClr val="DADCE0"/>
            </a:solidFill>
            <a:prstDash val="solid"/>
          </a:ln>
        </p:spPr>
      </p:sp>
      <p:sp>
        <p:nvSpPr>
          <p:cNvPr id="14" name="Text 12"/>
          <p:cNvSpPr txBox="1"/>
          <p:nvPr/>
        </p:nvSpPr>
        <p:spPr>
          <a:xfrm>
            <a:off x="8244688" y="1737360"/>
            <a:ext cx="3124048" cy="365760"/>
          </a:xfrm>
          <a:prstGeom prst="rect">
            <a:avLst/>
          </a:prstGeom>
          <a:noFill/>
          <a:ln/>
        </p:spPr>
        <p:txBody>
          <a:bodyPr wrap="square" lIns="0" tIns="0" rIns="0" bIns="0" rtlCol="0" anchor="t"/>
          <a:lstStyle/>
          <a:p>
            <a:pPr indent="0" marL="0">
              <a:buNone/>
            </a:pPr>
            <a:r>
              <a:rPr lang="en-US" sz="1800" b="1" dirty="0">
                <a:solidFill>
                  <a:srgbClr val="B80672"/>
                </a:solidFill>
                <a:latin typeface="Roboto" pitchFamily="34" charset="0"/>
                <a:ea typeface="Roboto" pitchFamily="34" charset="-122"/>
                <a:cs typeface="Roboto" pitchFamily="34" charset="-120"/>
              </a:rPr>
              <a:t>Corts bicamerals</a:t>
            </a:r>
            <a:endParaRPr lang="en-US" sz="1800" dirty="0"/>
          </a:p>
        </p:txBody>
      </p:sp>
      <p:sp>
        <p:nvSpPr>
          <p:cNvPr id="15" name="Text 13"/>
          <p:cNvSpPr txBox="1"/>
          <p:nvPr/>
        </p:nvSpPr>
        <p:spPr>
          <a:xfrm>
            <a:off x="8244688" y="2194560"/>
            <a:ext cx="3124048" cy="12344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Un Congrés elegit i un Senat amb senadors per dret propi, vitalicis i elegits. Garantia el pes dels rics.</a:t>
            </a:r>
            <a:endParaRPr lang="en-US" sz="1500" dirty="0"/>
          </a:p>
        </p:txBody>
      </p:sp>
      <p:sp>
        <p:nvSpPr>
          <p:cNvPr id="16" name="Tret 3"/>
          <p:cNvSpPr/>
          <p:nvPr/>
        </p:nvSpPr>
        <p:spPr>
          <a:xfrm>
            <a:off x="4023360" y="3840480"/>
            <a:ext cx="3672688" cy="2103120"/>
          </a:xfrm>
          <a:prstGeom prst="roundRect">
            <a:avLst>
              <a:gd name="adj" fmla="val 4783"/>
            </a:avLst>
          </a:prstGeom>
          <a:solidFill>
            <a:srgbClr val="FFFFFF"/>
          </a:solidFill>
          <a:ln w="12700">
            <a:solidFill>
              <a:srgbClr val="DADCE0"/>
            </a:solidFill>
            <a:prstDash val="solid"/>
          </a:ln>
        </p:spPr>
      </p:sp>
      <p:sp>
        <p:nvSpPr>
          <p:cNvPr id="17" name="Text 15"/>
          <p:cNvSpPr txBox="1"/>
          <p:nvPr/>
        </p:nvSpPr>
        <p:spPr>
          <a:xfrm>
            <a:off x="4297680" y="4069080"/>
            <a:ext cx="3124048" cy="365760"/>
          </a:xfrm>
          <a:prstGeom prst="rect">
            <a:avLst/>
          </a:prstGeom>
          <a:noFill/>
          <a:ln/>
        </p:spPr>
        <p:txBody>
          <a:bodyPr wrap="square" lIns="0" tIns="0" rIns="0" bIns="0" rtlCol="0" anchor="t"/>
          <a:lstStyle/>
          <a:p>
            <a:pPr indent="0" marL="0">
              <a:buNone/>
            </a:pPr>
            <a:r>
              <a:rPr lang="en-US" sz="1800" b="1" dirty="0">
                <a:solidFill>
                  <a:srgbClr val="B80672"/>
                </a:solidFill>
                <a:latin typeface="Roboto" pitchFamily="34" charset="0"/>
                <a:ea typeface="Roboto" pitchFamily="34" charset="-122"/>
                <a:cs typeface="Roboto" pitchFamily="34" charset="-120"/>
              </a:rPr>
              <a:t>Estat confessional</a:t>
            </a:r>
            <a:endParaRPr lang="en-US" sz="1800" dirty="0"/>
          </a:p>
        </p:txBody>
      </p:sp>
      <p:sp>
        <p:nvSpPr>
          <p:cNvPr id="18" name="Text 16"/>
          <p:cNvSpPr txBox="1"/>
          <p:nvPr/>
        </p:nvSpPr>
        <p:spPr>
          <a:xfrm>
            <a:off x="4297680" y="4526280"/>
            <a:ext cx="3124048" cy="12344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La religió catòlica era la de l'Estat. Altres creences, només en privat.</a:t>
            </a:r>
            <a:endParaRPr lang="en-US" sz="1500" dirty="0"/>
          </a:p>
        </p:txBody>
      </p:sp>
      <p:sp>
        <p:nvSpPr>
          <p:cNvPr id="19" name="Tret 4"/>
          <p:cNvSpPr/>
          <p:nvPr/>
        </p:nvSpPr>
        <p:spPr>
          <a:xfrm>
            <a:off x="7970368" y="3840480"/>
            <a:ext cx="3672688" cy="2103120"/>
          </a:xfrm>
          <a:prstGeom prst="roundRect">
            <a:avLst>
              <a:gd name="adj" fmla="val 4783"/>
            </a:avLst>
          </a:prstGeom>
          <a:solidFill>
            <a:srgbClr val="FFFFFF"/>
          </a:solidFill>
          <a:ln w="12700">
            <a:solidFill>
              <a:srgbClr val="DADCE0"/>
            </a:solidFill>
            <a:prstDash val="solid"/>
          </a:ln>
        </p:spPr>
      </p:sp>
      <p:sp>
        <p:nvSpPr>
          <p:cNvPr id="20" name="Text 18"/>
          <p:cNvSpPr txBox="1"/>
          <p:nvPr/>
        </p:nvSpPr>
        <p:spPr>
          <a:xfrm>
            <a:off x="8244688" y="4069080"/>
            <a:ext cx="3124048" cy="365760"/>
          </a:xfrm>
          <a:prstGeom prst="rect">
            <a:avLst/>
          </a:prstGeom>
          <a:noFill/>
          <a:ln/>
        </p:spPr>
        <p:txBody>
          <a:bodyPr wrap="square" lIns="0" tIns="0" rIns="0" bIns="0" rtlCol="0" anchor="t"/>
          <a:lstStyle/>
          <a:p>
            <a:pPr indent="0" marL="0">
              <a:buNone/>
            </a:pPr>
            <a:r>
              <a:rPr lang="en-US" sz="1800" b="1" dirty="0">
                <a:solidFill>
                  <a:srgbClr val="B80672"/>
                </a:solidFill>
                <a:latin typeface="Roboto" pitchFamily="34" charset="0"/>
                <a:ea typeface="Roboto" pitchFamily="34" charset="-122"/>
                <a:cs typeface="Roboto" pitchFamily="34" charset="-120"/>
              </a:rPr>
              <a:t>Drets limitats</a:t>
            </a:r>
            <a:endParaRPr lang="en-US" sz="1800" dirty="0"/>
          </a:p>
        </p:txBody>
      </p:sp>
      <p:sp>
        <p:nvSpPr>
          <p:cNvPr id="21" name="Text 19"/>
          <p:cNvSpPr txBox="1"/>
          <p:nvPr/>
        </p:nvSpPr>
        <p:spPr>
          <a:xfrm>
            <a:off x="8244688" y="4526280"/>
            <a:ext cx="3124048" cy="12344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Llibertat d'expressió, de reunió i d'associació, amb els límits que fixaven les lleis.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torn pacífic</a:t>
            </a:r>
            <a:endParaRPr lang="en-US" sz="2800" dirty="0"/>
          </a:p>
        </p:txBody>
      </p:sp>
      <p:sp>
        <p:nvSpPr>
          <p:cNvPr id="5" name="Fitxa Partit Conservador"/>
          <p:cNvSpPr/>
          <p:nvPr/>
        </p:nvSpPr>
        <p:spPr>
          <a:xfrm>
            <a:off x="548640" y="1417320"/>
            <a:ext cx="5410048" cy="2606040"/>
          </a:xfrm>
          <a:prstGeom prst="roundRect">
            <a:avLst>
              <a:gd name="adj" fmla="val 3860"/>
            </a:avLst>
          </a:prstGeom>
          <a:solidFill>
            <a:srgbClr val="FFFFFF"/>
          </a:solidFill>
          <a:ln w="12700">
            <a:solidFill>
              <a:srgbClr val="DADCE0"/>
            </a:solidFill>
            <a:prstDash val="solid"/>
          </a:ln>
        </p:spPr>
      </p:sp>
      <p:sp>
        <p:nvSpPr>
          <p:cNvPr id="6" name="Fons Antonio Cánovas del Castillo"/>
          <p:cNvSpPr/>
          <p:nvPr/>
        </p:nvSpPr>
        <p:spPr>
          <a:xfrm>
            <a:off x="731520" y="1600200"/>
            <a:ext cx="1783080" cy="2240280"/>
          </a:xfrm>
          <a:prstGeom prst="roundRect">
            <a:avLst>
              <a:gd name="adj" fmla="val 5641"/>
            </a:avLst>
          </a:prstGeom>
          <a:solidFill>
            <a:srgbClr val="F6F8FB"/>
          </a:solidFill>
          <a:ln/>
        </p:spPr>
      </p:sp>
      <p:pic>
        <p:nvPicPr>
          <p:cNvPr id="7" name="Antonio Cánovas del Castillo" descr="/home/claude/historia-2batx/media/tema-1/canovas.jpg">    </p:cNvPr>
          <p:cNvPicPr>
            <a:picLocks noChangeAspect="1"/>
          </p:cNvPicPr>
          <p:nvPr/>
        </p:nvPicPr>
        <p:blipFill>
          <a:blip r:embed="rId1"/>
          <a:stretch>
            <a:fillRect/>
          </a:stretch>
        </p:blipFill>
        <p:spPr>
          <a:xfrm>
            <a:off x="731520" y="1638374"/>
            <a:ext cx="1783080" cy="2163932"/>
          </a:xfrm>
          <a:prstGeom prst="rect">
            <a:avLst/>
          </a:prstGeom>
        </p:spPr>
      </p:pic>
      <p:sp>
        <p:nvSpPr>
          <p:cNvPr id="8" name="Text 5"/>
          <p:cNvSpPr txBox="1"/>
          <p:nvPr/>
        </p:nvSpPr>
        <p:spPr>
          <a:xfrm>
            <a:off x="2743200" y="1645920"/>
            <a:ext cx="3032608" cy="365760"/>
          </a:xfrm>
          <a:prstGeom prst="rect">
            <a:avLst/>
          </a:prstGeom>
          <a:noFill/>
          <a:ln/>
        </p:spPr>
        <p:txBody>
          <a:bodyPr wrap="square" lIns="0" tIns="0" rIns="0" bIns="0" rtlCol="0" anchor="t"/>
          <a:lstStyle/>
          <a:p>
            <a:pPr indent="0" marL="0">
              <a:buNone/>
            </a:pPr>
            <a:r>
              <a:rPr lang="en-US" sz="1900" b="1" dirty="0">
                <a:solidFill>
                  <a:srgbClr val="B80672"/>
                </a:solidFill>
                <a:latin typeface="Roboto" pitchFamily="34" charset="0"/>
                <a:ea typeface="Roboto" pitchFamily="34" charset="-122"/>
                <a:cs typeface="Roboto" pitchFamily="34" charset="-120"/>
              </a:rPr>
              <a:t>Partit Conservador</a:t>
            </a:r>
            <a:endParaRPr lang="en-US" sz="1900" dirty="0"/>
          </a:p>
        </p:txBody>
      </p:sp>
      <p:sp>
        <p:nvSpPr>
          <p:cNvPr id="9" name="Text 6"/>
          <p:cNvSpPr txBox="1"/>
          <p:nvPr/>
        </p:nvSpPr>
        <p:spPr>
          <a:xfrm>
            <a:off x="2743200" y="2029968"/>
            <a:ext cx="3032608" cy="32004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Antonio Cánovas del Castillo</a:t>
            </a:r>
            <a:endParaRPr lang="en-US" sz="1500" dirty="0"/>
          </a:p>
        </p:txBody>
      </p:sp>
      <p:sp>
        <p:nvSpPr>
          <p:cNvPr id="10" name="Text 7"/>
          <p:cNvSpPr txBox="1"/>
          <p:nvPr/>
        </p:nvSpPr>
        <p:spPr>
          <a:xfrm>
            <a:off x="2743200" y="2450592"/>
            <a:ext cx="3032608" cy="141732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Grans propietaris, aristocràcia i Església. Va establir el sufragi censatari (1878), només per a prop del 5% de la població.</a:t>
            </a:r>
            <a:endParaRPr lang="en-US" sz="1450" dirty="0"/>
          </a:p>
        </p:txBody>
      </p:sp>
      <p:sp>
        <p:nvSpPr>
          <p:cNvPr id="11" name="Fitxa Partit Liberal"/>
          <p:cNvSpPr/>
          <p:nvPr/>
        </p:nvSpPr>
        <p:spPr>
          <a:xfrm>
            <a:off x="6233008" y="1417320"/>
            <a:ext cx="5410048" cy="2606040"/>
          </a:xfrm>
          <a:prstGeom prst="roundRect">
            <a:avLst>
              <a:gd name="adj" fmla="val 3860"/>
            </a:avLst>
          </a:prstGeom>
          <a:solidFill>
            <a:srgbClr val="FFFFFF"/>
          </a:solidFill>
          <a:ln w="12700">
            <a:solidFill>
              <a:srgbClr val="DADCE0"/>
            </a:solidFill>
            <a:prstDash val="solid"/>
          </a:ln>
        </p:spPr>
      </p:sp>
      <p:sp>
        <p:nvSpPr>
          <p:cNvPr id="12" name="Fons Práxedes Mateo Sagasta"/>
          <p:cNvSpPr/>
          <p:nvPr/>
        </p:nvSpPr>
        <p:spPr>
          <a:xfrm>
            <a:off x="6415888" y="1600200"/>
            <a:ext cx="1783080" cy="2240280"/>
          </a:xfrm>
          <a:prstGeom prst="roundRect">
            <a:avLst>
              <a:gd name="adj" fmla="val 5641"/>
            </a:avLst>
          </a:prstGeom>
          <a:solidFill>
            <a:srgbClr val="F6F8FB"/>
          </a:solidFill>
          <a:ln/>
        </p:spPr>
      </p:sp>
      <p:pic>
        <p:nvPicPr>
          <p:cNvPr id="13" name="Práxedes Mateo Sagasta" descr="/home/claude/historia-2batx/media/tema-1/sagasta.jpg">    </p:cNvPr>
          <p:cNvPicPr>
            <a:picLocks noChangeAspect="1"/>
          </p:cNvPicPr>
          <p:nvPr/>
        </p:nvPicPr>
        <p:blipFill>
          <a:blip r:embed="rId2"/>
          <a:stretch>
            <a:fillRect/>
          </a:stretch>
        </p:blipFill>
        <p:spPr>
          <a:xfrm>
            <a:off x="6467323" y="1600200"/>
            <a:ext cx="1680210" cy="2240280"/>
          </a:xfrm>
          <a:prstGeom prst="rect">
            <a:avLst/>
          </a:prstGeom>
        </p:spPr>
      </p:pic>
      <p:sp>
        <p:nvSpPr>
          <p:cNvPr id="14" name="Text 10"/>
          <p:cNvSpPr txBox="1"/>
          <p:nvPr/>
        </p:nvSpPr>
        <p:spPr>
          <a:xfrm>
            <a:off x="8427568" y="1645920"/>
            <a:ext cx="3032608" cy="365760"/>
          </a:xfrm>
          <a:prstGeom prst="rect">
            <a:avLst/>
          </a:prstGeom>
          <a:noFill/>
          <a:ln/>
        </p:spPr>
        <p:txBody>
          <a:bodyPr wrap="square" lIns="0" tIns="0" rIns="0" bIns="0" rtlCol="0" anchor="t"/>
          <a:lstStyle/>
          <a:p>
            <a:pPr indent="0" marL="0">
              <a:buNone/>
            </a:pPr>
            <a:r>
              <a:rPr lang="en-US" sz="1900" b="1" dirty="0">
                <a:solidFill>
                  <a:srgbClr val="B80672"/>
                </a:solidFill>
                <a:latin typeface="Roboto" pitchFamily="34" charset="0"/>
                <a:ea typeface="Roboto" pitchFamily="34" charset="-122"/>
                <a:cs typeface="Roboto" pitchFamily="34" charset="-120"/>
              </a:rPr>
              <a:t>Partit Liberal</a:t>
            </a:r>
            <a:endParaRPr lang="en-US" sz="1900" dirty="0"/>
          </a:p>
        </p:txBody>
      </p:sp>
      <p:sp>
        <p:nvSpPr>
          <p:cNvPr id="15" name="Text 11"/>
          <p:cNvSpPr txBox="1"/>
          <p:nvPr/>
        </p:nvSpPr>
        <p:spPr>
          <a:xfrm>
            <a:off x="8427568" y="2029968"/>
            <a:ext cx="3032608" cy="32004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Práxedes Mateo Sagasta</a:t>
            </a:r>
            <a:endParaRPr lang="en-US" sz="1500" dirty="0"/>
          </a:p>
        </p:txBody>
      </p:sp>
      <p:sp>
        <p:nvSpPr>
          <p:cNvPr id="16" name="Text 12"/>
          <p:cNvSpPr txBox="1"/>
          <p:nvPr/>
        </p:nvSpPr>
        <p:spPr>
          <a:xfrm>
            <a:off x="8427568" y="2450592"/>
            <a:ext cx="3032608" cy="141732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Més obert a reformes, amb suport de les classes mitjanes urbanes. Sufragi universal masculí (1890).</a:t>
            </a:r>
            <a:endParaRPr lang="en-US" sz="1450" dirty="0"/>
          </a:p>
        </p:txBody>
      </p:sp>
      <p:sp>
        <p:nvSpPr>
          <p:cNvPr id="17" name="Text 13"/>
          <p:cNvSpPr txBox="1"/>
          <p:nvPr/>
        </p:nvSpPr>
        <p:spPr>
          <a:xfrm>
            <a:off x="548640" y="4114800"/>
            <a:ext cx="11094415" cy="27432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Cánovas, retrat del segle XIX, Biblioteca Nacional de España, CC BY 4.0. Sagasta, foto de Christian Franzen, cap al 1903, domini públic.</a:t>
            </a:r>
            <a:endParaRPr lang="en-US" sz="1000" dirty="0"/>
          </a:p>
        </p:txBody>
      </p:sp>
      <p:sp>
        <p:nvSpPr>
          <p:cNvPr id="18" name="Partits de notables"/>
          <p:cNvSpPr/>
          <p:nvPr/>
        </p:nvSpPr>
        <p:spPr>
          <a:xfrm>
            <a:off x="548640" y="4526280"/>
            <a:ext cx="11094415" cy="1463040"/>
          </a:xfrm>
          <a:prstGeom prst="roundRect">
            <a:avLst>
              <a:gd name="adj" fmla="val 6875"/>
            </a:avLst>
          </a:prstGeom>
          <a:solidFill>
            <a:srgbClr val="FDE7F3"/>
          </a:solidFill>
          <a:ln/>
        </p:spPr>
      </p:sp>
      <p:sp>
        <p:nvSpPr>
          <p:cNvPr id="19" name="Text 15"/>
          <p:cNvSpPr txBox="1"/>
          <p:nvPr/>
        </p:nvSpPr>
        <p:spPr>
          <a:xfrm>
            <a:off x="868680" y="4681728"/>
            <a:ext cx="457200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Partits de notables</a:t>
            </a:r>
            <a:endParaRPr lang="en-US" sz="1400" dirty="0"/>
          </a:p>
        </p:txBody>
      </p:sp>
      <p:sp>
        <p:nvSpPr>
          <p:cNvPr id="20" name="Text 16"/>
          <p:cNvSpPr txBox="1"/>
          <p:nvPr/>
        </p:nvSpPr>
        <p:spPr>
          <a:xfrm>
            <a:off x="868680" y="5029200"/>
            <a:ext cx="10454335" cy="8686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No eren partits de masses, sinó grups de polítics influents amb xarxes d'amics i clients. S'alternaven en el govern de manera pactada. El 1885, quan va morir Alfons XII, el pacte del Pardo va garantir el suport a la regent Maria Cristina.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 es fabricaven les eleccions</a:t>
            </a:r>
            <a:endParaRPr lang="en-US" sz="2800" dirty="0"/>
          </a:p>
        </p:txBody>
      </p:sp>
      <p:sp>
        <p:nvSpPr>
          <p:cNvPr id="5" name="Pas 1"/>
          <p:cNvSpPr/>
          <p:nvPr/>
        </p:nvSpPr>
        <p:spPr>
          <a:xfrm>
            <a:off x="548640" y="1417320"/>
            <a:ext cx="2464994" cy="2148840"/>
          </a:xfrm>
          <a:prstGeom prst="roundRect">
            <a:avLst>
              <a:gd name="adj" fmla="val 4681"/>
            </a:avLst>
          </a:prstGeom>
          <a:solidFill>
            <a:srgbClr val="FFFFFF"/>
          </a:solidFill>
          <a:ln w="12700">
            <a:solidFill>
              <a:srgbClr val="DADCE0"/>
            </a:solidFill>
            <a:prstDash val="solid"/>
          </a:ln>
        </p:spPr>
      </p:sp>
      <p:sp>
        <p:nvSpPr>
          <p:cNvPr id="6" name="Número del pas 1"/>
          <p:cNvSpPr/>
          <p:nvPr/>
        </p:nvSpPr>
        <p:spPr>
          <a:xfrm>
            <a:off x="804672" y="1645920"/>
            <a:ext cx="420624" cy="420624"/>
          </a:xfrm>
          <a:prstGeom prst="ellipse">
            <a:avLst/>
          </a:prstGeom>
          <a:solidFill>
            <a:srgbClr val="FDE7F3"/>
          </a:solidFill>
          <a:ln/>
        </p:spPr>
      </p:sp>
      <p:sp>
        <p:nvSpPr>
          <p:cNvPr id="7" name="Text 5"/>
          <p:cNvSpPr txBox="1"/>
          <p:nvPr/>
        </p:nvSpPr>
        <p:spPr>
          <a:xfrm>
            <a:off x="804672" y="1645920"/>
            <a:ext cx="420624" cy="420624"/>
          </a:xfrm>
          <a:prstGeom prst="rect">
            <a:avLst/>
          </a:prstGeom>
          <a:noFill/>
          <a:ln/>
        </p:spPr>
        <p:txBody>
          <a:bodyPr wrap="square" lIns="0" tIns="0" rIns="0" bIns="0" rtlCol="0" anchor="ctr"/>
          <a:lstStyle/>
          <a:p>
            <a:pPr algn="ctr" indent="0" marL="0">
              <a:buNone/>
            </a:pPr>
            <a:r>
              <a:rPr lang="en-US" sz="1500" b="1" dirty="0">
                <a:solidFill>
                  <a:srgbClr val="B80672"/>
                </a:solidFill>
                <a:latin typeface="Roboto" pitchFamily="34" charset="0"/>
                <a:ea typeface="Roboto" pitchFamily="34" charset="-122"/>
                <a:cs typeface="Roboto" pitchFamily="34" charset="-120"/>
              </a:rPr>
              <a:t>1</a:t>
            </a:r>
            <a:endParaRPr lang="en-US" sz="1500" dirty="0"/>
          </a:p>
        </p:txBody>
      </p:sp>
      <p:sp>
        <p:nvSpPr>
          <p:cNvPr id="8" name="Text 6"/>
          <p:cNvSpPr txBox="1"/>
          <p:nvPr/>
        </p:nvSpPr>
        <p:spPr>
          <a:xfrm>
            <a:off x="804672" y="2194560"/>
            <a:ext cx="2007794" cy="50292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El govern es desgasta</a:t>
            </a:r>
            <a:endParaRPr lang="en-US" sz="1600" dirty="0"/>
          </a:p>
        </p:txBody>
      </p:sp>
      <p:sp>
        <p:nvSpPr>
          <p:cNvPr id="9" name="Text 7"/>
          <p:cNvSpPr txBox="1"/>
          <p:nvPr/>
        </p:nvSpPr>
        <p:spPr>
          <a:xfrm>
            <a:off x="804672" y="2788920"/>
            <a:ext cx="2007794" cy="68580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Per una crisi o un escàndol.</a:t>
            </a:r>
            <a:endParaRPr lang="en-US" sz="1400" dirty="0"/>
          </a:p>
        </p:txBody>
      </p:sp>
      <p:sp>
        <p:nvSpPr>
          <p:cNvPr id="10" name="Fletxa 1"/>
          <p:cNvSpPr/>
          <p:nvPr/>
        </p:nvSpPr>
        <p:spPr>
          <a:xfrm>
            <a:off x="3132506" y="2286000"/>
            <a:ext cx="182880" cy="274320"/>
          </a:xfrm>
          <a:prstGeom prst="chevron">
            <a:avLst/>
          </a:prstGeom>
          <a:solidFill>
            <a:srgbClr val="B80672"/>
          </a:solidFill>
          <a:ln/>
        </p:spPr>
      </p:sp>
      <p:sp>
        <p:nvSpPr>
          <p:cNvPr id="11" name="Pas 2"/>
          <p:cNvSpPr/>
          <p:nvPr/>
        </p:nvSpPr>
        <p:spPr>
          <a:xfrm>
            <a:off x="3425114" y="1417320"/>
            <a:ext cx="2464994" cy="2148840"/>
          </a:xfrm>
          <a:prstGeom prst="roundRect">
            <a:avLst>
              <a:gd name="adj" fmla="val 4681"/>
            </a:avLst>
          </a:prstGeom>
          <a:solidFill>
            <a:srgbClr val="FFFFFF"/>
          </a:solidFill>
          <a:ln w="12700">
            <a:solidFill>
              <a:srgbClr val="DADCE0"/>
            </a:solidFill>
            <a:prstDash val="solid"/>
          </a:ln>
        </p:spPr>
      </p:sp>
      <p:sp>
        <p:nvSpPr>
          <p:cNvPr id="12" name="Número del pas 2"/>
          <p:cNvSpPr/>
          <p:nvPr/>
        </p:nvSpPr>
        <p:spPr>
          <a:xfrm>
            <a:off x="3681146" y="1645920"/>
            <a:ext cx="420624" cy="420624"/>
          </a:xfrm>
          <a:prstGeom prst="ellipse">
            <a:avLst/>
          </a:prstGeom>
          <a:solidFill>
            <a:srgbClr val="FDE7F3"/>
          </a:solidFill>
          <a:ln/>
        </p:spPr>
      </p:sp>
      <p:sp>
        <p:nvSpPr>
          <p:cNvPr id="13" name="Text 11"/>
          <p:cNvSpPr txBox="1"/>
          <p:nvPr/>
        </p:nvSpPr>
        <p:spPr>
          <a:xfrm>
            <a:off x="3681146" y="1645920"/>
            <a:ext cx="420624" cy="420624"/>
          </a:xfrm>
          <a:prstGeom prst="rect">
            <a:avLst/>
          </a:prstGeom>
          <a:noFill/>
          <a:ln/>
        </p:spPr>
        <p:txBody>
          <a:bodyPr wrap="square" lIns="0" tIns="0" rIns="0" bIns="0" rtlCol="0" anchor="ctr"/>
          <a:lstStyle/>
          <a:p>
            <a:pPr algn="ctr" indent="0" marL="0">
              <a:buNone/>
            </a:pPr>
            <a:r>
              <a:rPr lang="en-US" sz="1500" b="1" dirty="0">
                <a:solidFill>
                  <a:srgbClr val="B80672"/>
                </a:solidFill>
                <a:latin typeface="Roboto" pitchFamily="34" charset="0"/>
                <a:ea typeface="Roboto" pitchFamily="34" charset="-122"/>
                <a:cs typeface="Roboto" pitchFamily="34" charset="-120"/>
              </a:rPr>
              <a:t>2</a:t>
            </a:r>
            <a:endParaRPr lang="en-US" sz="1500" dirty="0"/>
          </a:p>
        </p:txBody>
      </p:sp>
      <p:sp>
        <p:nvSpPr>
          <p:cNvPr id="14" name="Text 12"/>
          <p:cNvSpPr txBox="1"/>
          <p:nvPr/>
        </p:nvSpPr>
        <p:spPr>
          <a:xfrm>
            <a:off x="3681146" y="2194560"/>
            <a:ext cx="2007794" cy="50292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El rei canvia de partit</a:t>
            </a:r>
            <a:endParaRPr lang="en-US" sz="1600" dirty="0"/>
          </a:p>
        </p:txBody>
      </p:sp>
      <p:sp>
        <p:nvSpPr>
          <p:cNvPr id="15" name="Text 13"/>
          <p:cNvSpPr txBox="1"/>
          <p:nvPr/>
        </p:nvSpPr>
        <p:spPr>
          <a:xfrm>
            <a:off x="3681146" y="2788920"/>
            <a:ext cx="2007794" cy="68580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Encarrega el govern al cap de l'altre partit.</a:t>
            </a:r>
            <a:endParaRPr lang="en-US" sz="1400" dirty="0"/>
          </a:p>
        </p:txBody>
      </p:sp>
      <p:sp>
        <p:nvSpPr>
          <p:cNvPr id="16" name="Fletxa 2"/>
          <p:cNvSpPr/>
          <p:nvPr/>
        </p:nvSpPr>
        <p:spPr>
          <a:xfrm>
            <a:off x="6008980" y="2286000"/>
            <a:ext cx="182880" cy="274320"/>
          </a:xfrm>
          <a:prstGeom prst="chevron">
            <a:avLst/>
          </a:prstGeom>
          <a:solidFill>
            <a:srgbClr val="B80672"/>
          </a:solidFill>
          <a:ln/>
        </p:spPr>
      </p:sp>
      <p:sp>
        <p:nvSpPr>
          <p:cNvPr id="17" name="Pas 3"/>
          <p:cNvSpPr/>
          <p:nvPr/>
        </p:nvSpPr>
        <p:spPr>
          <a:xfrm>
            <a:off x="6301588" y="1417320"/>
            <a:ext cx="2464994" cy="2148840"/>
          </a:xfrm>
          <a:prstGeom prst="roundRect">
            <a:avLst>
              <a:gd name="adj" fmla="val 4681"/>
            </a:avLst>
          </a:prstGeom>
          <a:solidFill>
            <a:srgbClr val="FFFFFF"/>
          </a:solidFill>
          <a:ln w="12700">
            <a:solidFill>
              <a:srgbClr val="DADCE0"/>
            </a:solidFill>
            <a:prstDash val="solid"/>
          </a:ln>
        </p:spPr>
      </p:sp>
      <p:sp>
        <p:nvSpPr>
          <p:cNvPr id="18" name="Número del pas 3"/>
          <p:cNvSpPr/>
          <p:nvPr/>
        </p:nvSpPr>
        <p:spPr>
          <a:xfrm>
            <a:off x="6557620" y="1645920"/>
            <a:ext cx="420624" cy="420624"/>
          </a:xfrm>
          <a:prstGeom prst="ellipse">
            <a:avLst/>
          </a:prstGeom>
          <a:solidFill>
            <a:srgbClr val="FDE7F3"/>
          </a:solidFill>
          <a:ln/>
        </p:spPr>
      </p:sp>
      <p:sp>
        <p:nvSpPr>
          <p:cNvPr id="19" name="Text 17"/>
          <p:cNvSpPr txBox="1"/>
          <p:nvPr/>
        </p:nvSpPr>
        <p:spPr>
          <a:xfrm>
            <a:off x="6557620" y="1645920"/>
            <a:ext cx="420624" cy="420624"/>
          </a:xfrm>
          <a:prstGeom prst="rect">
            <a:avLst/>
          </a:prstGeom>
          <a:noFill/>
          <a:ln/>
        </p:spPr>
        <p:txBody>
          <a:bodyPr wrap="square" lIns="0" tIns="0" rIns="0" bIns="0" rtlCol="0" anchor="ctr"/>
          <a:lstStyle/>
          <a:p>
            <a:pPr algn="ctr" indent="0" marL="0">
              <a:buNone/>
            </a:pPr>
            <a:r>
              <a:rPr lang="en-US" sz="1500" b="1" dirty="0">
                <a:solidFill>
                  <a:srgbClr val="B80672"/>
                </a:solidFill>
                <a:latin typeface="Roboto" pitchFamily="34" charset="0"/>
                <a:ea typeface="Roboto" pitchFamily="34" charset="-122"/>
                <a:cs typeface="Roboto" pitchFamily="34" charset="-120"/>
              </a:rPr>
              <a:t>3</a:t>
            </a:r>
            <a:endParaRPr lang="en-US" sz="1500" dirty="0"/>
          </a:p>
        </p:txBody>
      </p:sp>
      <p:sp>
        <p:nvSpPr>
          <p:cNvPr id="20" name="Text 18"/>
          <p:cNvSpPr txBox="1"/>
          <p:nvPr/>
        </p:nvSpPr>
        <p:spPr>
          <a:xfrm>
            <a:off x="6557620" y="2194560"/>
            <a:ext cx="2007794" cy="50292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L'encasellat</a:t>
            </a:r>
            <a:endParaRPr lang="en-US" sz="1600" dirty="0"/>
          </a:p>
        </p:txBody>
      </p:sp>
      <p:sp>
        <p:nvSpPr>
          <p:cNvPr id="21" name="Text 19"/>
          <p:cNvSpPr txBox="1"/>
          <p:nvPr/>
        </p:nvSpPr>
        <p:spPr>
          <a:xfrm>
            <a:off x="6557620" y="2788920"/>
            <a:ext cx="2007794" cy="68580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Governació decideix qui ha de sortir elegit a cada districte.</a:t>
            </a:r>
            <a:endParaRPr lang="en-US" sz="1400" dirty="0"/>
          </a:p>
        </p:txBody>
      </p:sp>
      <p:sp>
        <p:nvSpPr>
          <p:cNvPr id="22" name="Fletxa 3"/>
          <p:cNvSpPr/>
          <p:nvPr/>
        </p:nvSpPr>
        <p:spPr>
          <a:xfrm>
            <a:off x="8885453" y="2286000"/>
            <a:ext cx="182880" cy="274320"/>
          </a:xfrm>
          <a:prstGeom prst="chevron">
            <a:avLst/>
          </a:prstGeom>
          <a:solidFill>
            <a:srgbClr val="B80672"/>
          </a:solidFill>
          <a:ln/>
        </p:spPr>
      </p:sp>
      <p:sp>
        <p:nvSpPr>
          <p:cNvPr id="23" name="Pas 4"/>
          <p:cNvSpPr/>
          <p:nvPr/>
        </p:nvSpPr>
        <p:spPr>
          <a:xfrm>
            <a:off x="9178061" y="1417320"/>
            <a:ext cx="2464994" cy="2148840"/>
          </a:xfrm>
          <a:prstGeom prst="roundRect">
            <a:avLst>
              <a:gd name="adj" fmla="val 4681"/>
            </a:avLst>
          </a:prstGeom>
          <a:solidFill>
            <a:srgbClr val="FFFFFF"/>
          </a:solidFill>
          <a:ln w="12700">
            <a:solidFill>
              <a:srgbClr val="DADCE0"/>
            </a:solidFill>
            <a:prstDash val="solid"/>
          </a:ln>
        </p:spPr>
      </p:sp>
      <p:sp>
        <p:nvSpPr>
          <p:cNvPr id="24" name="Número del pas 4"/>
          <p:cNvSpPr/>
          <p:nvPr/>
        </p:nvSpPr>
        <p:spPr>
          <a:xfrm>
            <a:off x="9434093" y="1645920"/>
            <a:ext cx="420624" cy="420624"/>
          </a:xfrm>
          <a:prstGeom prst="ellipse">
            <a:avLst/>
          </a:prstGeom>
          <a:solidFill>
            <a:srgbClr val="FDE7F3"/>
          </a:solidFill>
          <a:ln/>
        </p:spPr>
      </p:sp>
      <p:sp>
        <p:nvSpPr>
          <p:cNvPr id="25" name="Text 23"/>
          <p:cNvSpPr txBox="1"/>
          <p:nvPr/>
        </p:nvSpPr>
        <p:spPr>
          <a:xfrm>
            <a:off x="9434093" y="1645920"/>
            <a:ext cx="420624" cy="420624"/>
          </a:xfrm>
          <a:prstGeom prst="rect">
            <a:avLst/>
          </a:prstGeom>
          <a:noFill/>
          <a:ln/>
        </p:spPr>
        <p:txBody>
          <a:bodyPr wrap="square" lIns="0" tIns="0" rIns="0" bIns="0" rtlCol="0" anchor="ctr"/>
          <a:lstStyle/>
          <a:p>
            <a:pPr algn="ctr" indent="0" marL="0">
              <a:buNone/>
            </a:pPr>
            <a:r>
              <a:rPr lang="en-US" sz="1500" b="1" dirty="0">
                <a:solidFill>
                  <a:srgbClr val="B80672"/>
                </a:solidFill>
                <a:latin typeface="Roboto" pitchFamily="34" charset="0"/>
                <a:ea typeface="Roboto" pitchFamily="34" charset="-122"/>
                <a:cs typeface="Roboto" pitchFamily="34" charset="-120"/>
              </a:rPr>
              <a:t>4</a:t>
            </a:r>
            <a:endParaRPr lang="en-US" sz="1500" dirty="0"/>
          </a:p>
        </p:txBody>
      </p:sp>
      <p:sp>
        <p:nvSpPr>
          <p:cNvPr id="26" name="Text 24"/>
          <p:cNvSpPr txBox="1"/>
          <p:nvPr/>
        </p:nvSpPr>
        <p:spPr>
          <a:xfrm>
            <a:off x="9434093" y="2194560"/>
            <a:ext cx="2007794" cy="50292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Els cacics ho fan possible</a:t>
            </a:r>
            <a:endParaRPr lang="en-US" sz="1600" dirty="0"/>
          </a:p>
        </p:txBody>
      </p:sp>
      <p:sp>
        <p:nvSpPr>
          <p:cNvPr id="27" name="Text 25"/>
          <p:cNvSpPr txBox="1"/>
          <p:nvPr/>
        </p:nvSpPr>
        <p:spPr>
          <a:xfrm>
            <a:off x="9434093" y="2788920"/>
            <a:ext cx="2007794" cy="68580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Amb favors, pressions i, si cal, corrupció electoral.</a:t>
            </a:r>
            <a:endParaRPr lang="en-US" sz="1400" dirty="0"/>
          </a:p>
        </p:txBody>
      </p:sp>
      <p:sp>
        <p:nvSpPr>
          <p:cNvPr id="28" name="Etiqueta Cacic"/>
          <p:cNvSpPr/>
          <p:nvPr/>
        </p:nvSpPr>
        <p:spPr>
          <a:xfrm>
            <a:off x="548640" y="3794760"/>
            <a:ext cx="790956" cy="347472"/>
          </a:xfrm>
          <a:prstGeom prst="roundRect">
            <a:avLst>
              <a:gd name="adj" fmla="val 50000"/>
            </a:avLst>
          </a:prstGeom>
          <a:solidFill>
            <a:srgbClr val="FDE7F3"/>
          </a:solidFill>
          <a:ln/>
        </p:spPr>
      </p:sp>
      <p:sp>
        <p:nvSpPr>
          <p:cNvPr id="29" name="Text 27"/>
          <p:cNvSpPr txBox="1"/>
          <p:nvPr/>
        </p:nvSpPr>
        <p:spPr>
          <a:xfrm>
            <a:off x="548640" y="3794760"/>
            <a:ext cx="790956" cy="347472"/>
          </a:xfrm>
          <a:prstGeom prst="rect">
            <a:avLst/>
          </a:prstGeom>
          <a:noFill/>
          <a:ln/>
        </p:spPr>
        <p:txBody>
          <a:bodyPr wrap="square" lIns="0" tIns="0" rIns="0" bIns="0" rtlCol="0" anchor="ctr"/>
          <a:lstStyle/>
          <a:p>
            <a:pPr algn="ctr" indent="0" marL="0">
              <a:buNone/>
            </a:pPr>
            <a:r>
              <a:rPr lang="en-US" sz="1400" b="1" dirty="0">
                <a:solidFill>
                  <a:srgbClr val="202124"/>
                </a:solidFill>
                <a:latin typeface="Roboto" pitchFamily="34" charset="0"/>
                <a:ea typeface="Roboto" pitchFamily="34" charset="-122"/>
                <a:cs typeface="Roboto" pitchFamily="34" charset="-120"/>
              </a:rPr>
              <a:t>Cacic</a:t>
            </a:r>
            <a:endParaRPr lang="en-US" sz="1400" dirty="0"/>
          </a:p>
        </p:txBody>
      </p:sp>
      <p:sp>
        <p:nvSpPr>
          <p:cNvPr id="30" name="Text 28"/>
          <p:cNvSpPr txBox="1"/>
          <p:nvPr/>
        </p:nvSpPr>
        <p:spPr>
          <a:xfrm>
            <a:off x="548640" y="4251960"/>
            <a:ext cx="3423818" cy="8229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Persona influent d'una comarca o un poble que controlava feina, préstecs i favors.</a:t>
            </a:r>
            <a:endParaRPr lang="en-US" sz="1500" dirty="0"/>
          </a:p>
        </p:txBody>
      </p:sp>
      <p:sp>
        <p:nvSpPr>
          <p:cNvPr id="31" name="Etiqueta Clientelisme"/>
          <p:cNvSpPr/>
          <p:nvPr/>
        </p:nvSpPr>
        <p:spPr>
          <a:xfrm>
            <a:off x="4246778" y="3794760"/>
            <a:ext cx="1463040" cy="347472"/>
          </a:xfrm>
          <a:prstGeom prst="roundRect">
            <a:avLst>
              <a:gd name="adj" fmla="val 50000"/>
            </a:avLst>
          </a:prstGeom>
          <a:solidFill>
            <a:srgbClr val="FDE7F3"/>
          </a:solidFill>
          <a:ln/>
        </p:spPr>
      </p:sp>
      <p:sp>
        <p:nvSpPr>
          <p:cNvPr id="32" name="Text 30"/>
          <p:cNvSpPr txBox="1"/>
          <p:nvPr/>
        </p:nvSpPr>
        <p:spPr>
          <a:xfrm>
            <a:off x="4246778" y="3794760"/>
            <a:ext cx="1463040" cy="347472"/>
          </a:xfrm>
          <a:prstGeom prst="rect">
            <a:avLst/>
          </a:prstGeom>
          <a:noFill/>
          <a:ln/>
        </p:spPr>
        <p:txBody>
          <a:bodyPr wrap="square" lIns="0" tIns="0" rIns="0" bIns="0" rtlCol="0" anchor="ctr"/>
          <a:lstStyle/>
          <a:p>
            <a:pPr algn="ctr" indent="0" marL="0">
              <a:buNone/>
            </a:pPr>
            <a:r>
              <a:rPr lang="en-US" sz="1400" b="1" dirty="0">
                <a:solidFill>
                  <a:srgbClr val="202124"/>
                </a:solidFill>
                <a:latin typeface="Roboto" pitchFamily="34" charset="0"/>
                <a:ea typeface="Roboto" pitchFamily="34" charset="-122"/>
                <a:cs typeface="Roboto" pitchFamily="34" charset="-120"/>
              </a:rPr>
              <a:t>Clientelisme</a:t>
            </a:r>
            <a:endParaRPr lang="en-US" sz="1400" dirty="0"/>
          </a:p>
        </p:txBody>
      </p:sp>
      <p:sp>
        <p:nvSpPr>
          <p:cNvPr id="33" name="Text 31"/>
          <p:cNvSpPr txBox="1"/>
          <p:nvPr/>
        </p:nvSpPr>
        <p:spPr>
          <a:xfrm>
            <a:off x="4246778" y="4251960"/>
            <a:ext cx="3423818" cy="8229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Intercanvi de favors per vots.</a:t>
            </a:r>
            <a:endParaRPr lang="en-US" sz="1500" dirty="0"/>
          </a:p>
        </p:txBody>
      </p:sp>
      <p:sp>
        <p:nvSpPr>
          <p:cNvPr id="34" name="Etiqueta Corrupció electoral"/>
          <p:cNvSpPr/>
          <p:nvPr/>
        </p:nvSpPr>
        <p:spPr>
          <a:xfrm>
            <a:off x="7944917" y="3794760"/>
            <a:ext cx="2135124" cy="347472"/>
          </a:xfrm>
          <a:prstGeom prst="roundRect">
            <a:avLst>
              <a:gd name="adj" fmla="val 50000"/>
            </a:avLst>
          </a:prstGeom>
          <a:solidFill>
            <a:srgbClr val="FDE7F3"/>
          </a:solidFill>
          <a:ln/>
        </p:spPr>
      </p:sp>
      <p:sp>
        <p:nvSpPr>
          <p:cNvPr id="35" name="Text 33"/>
          <p:cNvSpPr txBox="1"/>
          <p:nvPr/>
        </p:nvSpPr>
        <p:spPr>
          <a:xfrm>
            <a:off x="7944917" y="3794760"/>
            <a:ext cx="2135124" cy="347472"/>
          </a:xfrm>
          <a:prstGeom prst="rect">
            <a:avLst/>
          </a:prstGeom>
          <a:noFill/>
          <a:ln/>
        </p:spPr>
        <p:txBody>
          <a:bodyPr wrap="square" lIns="0" tIns="0" rIns="0" bIns="0" rtlCol="0" anchor="ctr"/>
          <a:lstStyle/>
          <a:p>
            <a:pPr algn="ctr" indent="0" marL="0">
              <a:buNone/>
            </a:pPr>
            <a:r>
              <a:rPr lang="en-US" sz="1400" b="1" dirty="0">
                <a:solidFill>
                  <a:srgbClr val="202124"/>
                </a:solidFill>
                <a:latin typeface="Roboto" pitchFamily="34" charset="0"/>
                <a:ea typeface="Roboto" pitchFamily="34" charset="-122"/>
                <a:cs typeface="Roboto" pitchFamily="34" charset="-120"/>
              </a:rPr>
              <a:t>Corrupció electoral</a:t>
            </a:r>
            <a:endParaRPr lang="en-US" sz="1400" dirty="0"/>
          </a:p>
        </p:txBody>
      </p:sp>
      <p:sp>
        <p:nvSpPr>
          <p:cNvPr id="36" name="Text 34"/>
          <p:cNvSpPr txBox="1"/>
          <p:nvPr/>
        </p:nvSpPr>
        <p:spPr>
          <a:xfrm>
            <a:off x="7944917" y="4251960"/>
            <a:ext cx="3423818" cy="8229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La tupinada. Comprar vots, amenaçar, fer votar morts, canviar les actes.</a:t>
            </a:r>
            <a:endParaRPr lang="en-US" sz="1500" dirty="0"/>
          </a:p>
        </p:txBody>
      </p:sp>
      <p:sp>
        <p:nvSpPr>
          <p:cNvPr id="37" name="Context"/>
          <p:cNvSpPr/>
          <p:nvPr/>
        </p:nvSpPr>
        <p:spPr>
          <a:xfrm>
            <a:off x="548640" y="5257800"/>
            <a:ext cx="11094415" cy="731520"/>
          </a:xfrm>
          <a:prstGeom prst="roundRect">
            <a:avLst>
              <a:gd name="adj" fmla="val 13750"/>
            </a:avLst>
          </a:prstGeom>
          <a:solidFill>
            <a:srgbClr val="F6F8FB"/>
          </a:solidFill>
          <a:ln/>
        </p:spPr>
      </p:sp>
      <p:sp>
        <p:nvSpPr>
          <p:cNvPr id="38" name="Text 36"/>
          <p:cNvSpPr txBox="1"/>
          <p:nvPr/>
        </p:nvSpPr>
        <p:spPr>
          <a:xfrm>
            <a:off x="868680" y="5257800"/>
            <a:ext cx="10454335" cy="731520"/>
          </a:xfrm>
          <a:prstGeom prst="rect">
            <a:avLst/>
          </a:prstGeom>
          <a:noFill/>
          <a:ln/>
        </p:spPr>
        <p:txBody>
          <a:bodyPr wrap="square" lIns="0" tIns="0" rIns="0" bIns="0" rtlCol="0" anchor="ctr"/>
          <a:lstStyle/>
          <a:p>
            <a:pPr indent="0" marL="0">
              <a:buNone/>
            </a:pPr>
            <a:r>
              <a:rPr lang="en-US" sz="1500" dirty="0">
                <a:solidFill>
                  <a:srgbClr val="5F6368"/>
                </a:solidFill>
                <a:latin typeface="Roboto" pitchFamily="34" charset="0"/>
                <a:ea typeface="Roboto" pitchFamily="34" charset="-122"/>
                <a:cs typeface="Roboto" pitchFamily="34" charset="-120"/>
              </a:rPr>
              <a:t>Funcionava perquè Espanya era un país rural, amb molt analfabetisme. El 1877, més del 70% de la població no sabia llegir ni escriure.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 sistema liberal, però no democràtic</a:t>
            </a:r>
            <a:endParaRPr lang="en-US" sz="2800" dirty="0"/>
          </a:p>
        </p:txBody>
      </p:sp>
      <p:sp>
        <p:nvSpPr>
          <p:cNvPr id="5" name="Columna Liberal"/>
          <p:cNvSpPr/>
          <p:nvPr/>
        </p:nvSpPr>
        <p:spPr>
          <a:xfrm>
            <a:off x="548640" y="1417320"/>
            <a:ext cx="3566160" cy="3657600"/>
          </a:xfrm>
          <a:prstGeom prst="roundRect">
            <a:avLst>
              <a:gd name="adj" fmla="val 2821"/>
            </a:avLst>
          </a:prstGeom>
          <a:solidFill>
            <a:srgbClr val="FFFFFF"/>
          </a:solidFill>
          <a:ln w="12700">
            <a:solidFill>
              <a:srgbClr val="DADCE0"/>
            </a:solidFill>
            <a:prstDash val="solid"/>
          </a:ln>
        </p:spPr>
      </p:sp>
      <p:sp>
        <p:nvSpPr>
          <p:cNvPr id="6" name="Text 4"/>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400" b="1" dirty="0">
                <a:solidFill>
                  <a:srgbClr val="B80672"/>
                </a:solidFill>
                <a:latin typeface="Roboto" pitchFamily="34" charset="0"/>
                <a:ea typeface="Roboto" pitchFamily="34" charset="-122"/>
                <a:cs typeface="Roboto" pitchFamily="34" charset="-120"/>
              </a:rPr>
              <a:t>Liberal</a:t>
            </a:r>
            <a:endParaRPr lang="en-US" sz="2400" dirty="0"/>
          </a:p>
        </p:txBody>
      </p:sp>
      <p:sp>
        <p:nvSpPr>
          <p:cNvPr id="7" name="Text 5"/>
          <p:cNvSpPr txBox="1"/>
          <p:nvPr/>
        </p:nvSpPr>
        <p:spPr>
          <a:xfrm>
            <a:off x="822960" y="2286000"/>
            <a:ext cx="3017520" cy="14630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02124"/>
                </a:solidFill>
                <a:latin typeface="Roboto" pitchFamily="34" charset="0"/>
                <a:ea typeface="Roboto" pitchFamily="34" charset="-122"/>
                <a:cs typeface="Roboto" pitchFamily="34" charset="-120"/>
              </a:rPr>
              <a:t>Drets reconeguts</a:t>
            </a:r>
            <a:endParaRPr lang="en-US" sz="1600" dirty="0"/>
          </a:p>
          <a:p>
            <a:pPr marL="203200" indent="-203200">
              <a:spcAft>
                <a:spcPts val="600"/>
              </a:spcAft>
              <a:buSzPct val="100000"/>
              <a:buChar char="•"/>
            </a:pPr>
            <a:r>
              <a:rPr lang="en-US" sz="1600" dirty="0">
                <a:solidFill>
                  <a:srgbClr val="202124"/>
                </a:solidFill>
                <a:latin typeface="Roboto" pitchFamily="34" charset="0"/>
                <a:ea typeface="Roboto" pitchFamily="34" charset="-122"/>
                <a:cs typeface="Roboto" pitchFamily="34" charset="-120"/>
              </a:rPr>
              <a:t>Divisió de poders</a:t>
            </a:r>
            <a:endParaRPr lang="en-US" sz="1600" dirty="0"/>
          </a:p>
          <a:p>
            <a:pPr marL="203200" indent="-203200">
              <a:spcAft>
                <a:spcPts val="600"/>
              </a:spcAft>
              <a:buSzPct val="100000"/>
              <a:buChar char="•"/>
            </a:pPr>
            <a:r>
              <a:rPr lang="en-US" sz="1600" dirty="0">
                <a:solidFill>
                  <a:srgbClr val="202124"/>
                </a:solidFill>
                <a:latin typeface="Roboto" pitchFamily="34" charset="0"/>
                <a:ea typeface="Roboto" pitchFamily="34" charset="-122"/>
                <a:cs typeface="Roboto" pitchFamily="34" charset="-120"/>
              </a:rPr>
              <a:t>Parlament</a:t>
            </a:r>
            <a:endParaRPr lang="en-US" sz="1600" dirty="0"/>
          </a:p>
        </p:txBody>
      </p:sp>
      <p:sp>
        <p:nvSpPr>
          <p:cNvPr id="8" name="Text 6"/>
          <p:cNvSpPr txBox="1"/>
          <p:nvPr/>
        </p:nvSpPr>
        <p:spPr>
          <a:xfrm>
            <a:off x="822960" y="3977640"/>
            <a:ext cx="3017520" cy="9144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Però la participació pot quedar en mans d'una minoria.</a:t>
            </a:r>
            <a:endParaRPr lang="en-US" sz="1450" dirty="0"/>
          </a:p>
        </p:txBody>
      </p:sp>
      <p:sp>
        <p:nvSpPr>
          <p:cNvPr id="9" name="Columna Democràtic"/>
          <p:cNvSpPr/>
          <p:nvPr/>
        </p:nvSpPr>
        <p:spPr>
          <a:xfrm>
            <a:off x="4389120" y="1417320"/>
            <a:ext cx="3566160" cy="3657600"/>
          </a:xfrm>
          <a:prstGeom prst="roundRect">
            <a:avLst>
              <a:gd name="adj" fmla="val 2821"/>
            </a:avLst>
          </a:prstGeom>
          <a:solidFill>
            <a:srgbClr val="FFFFFF"/>
          </a:solidFill>
          <a:ln w="12700">
            <a:solidFill>
              <a:srgbClr val="DADCE0"/>
            </a:solidFill>
            <a:prstDash val="solid"/>
          </a:ln>
        </p:spPr>
      </p:sp>
      <p:sp>
        <p:nvSpPr>
          <p:cNvPr id="10" name="Text 8"/>
          <p:cNvSpPr txBox="1"/>
          <p:nvPr/>
        </p:nvSpPr>
        <p:spPr>
          <a:xfrm>
            <a:off x="4663440" y="1645920"/>
            <a:ext cx="3017520" cy="457200"/>
          </a:xfrm>
          <a:prstGeom prst="rect">
            <a:avLst/>
          </a:prstGeom>
          <a:noFill/>
          <a:ln/>
        </p:spPr>
        <p:txBody>
          <a:bodyPr wrap="square" lIns="0" tIns="0" rIns="0" bIns="0" rtlCol="0" anchor="t"/>
          <a:lstStyle/>
          <a:p>
            <a:pPr indent="0" marL="0">
              <a:buNone/>
            </a:pPr>
            <a:r>
              <a:rPr lang="en-US" sz="2400" b="1" dirty="0">
                <a:solidFill>
                  <a:srgbClr val="B80672"/>
                </a:solidFill>
                <a:latin typeface="Roboto" pitchFamily="34" charset="0"/>
                <a:ea typeface="Roboto" pitchFamily="34" charset="-122"/>
                <a:cs typeface="Roboto" pitchFamily="34" charset="-120"/>
              </a:rPr>
              <a:t>Democràtic</a:t>
            </a:r>
            <a:endParaRPr lang="en-US" sz="2400" dirty="0"/>
          </a:p>
        </p:txBody>
      </p:sp>
      <p:sp>
        <p:nvSpPr>
          <p:cNvPr id="11" name="Text 9"/>
          <p:cNvSpPr txBox="1"/>
          <p:nvPr/>
        </p:nvSpPr>
        <p:spPr>
          <a:xfrm>
            <a:off x="4663440" y="2286000"/>
            <a:ext cx="3017520" cy="14630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02124"/>
                </a:solidFill>
                <a:latin typeface="Roboto" pitchFamily="34" charset="0"/>
                <a:ea typeface="Roboto" pitchFamily="34" charset="-122"/>
                <a:cs typeface="Roboto" pitchFamily="34" charset="-120"/>
              </a:rPr>
              <a:t>Tot el que té un sistema liberal</a:t>
            </a:r>
            <a:endParaRPr lang="en-US" sz="1600" dirty="0"/>
          </a:p>
          <a:p>
            <a:pPr marL="203200" indent="-203200">
              <a:spcAft>
                <a:spcPts val="600"/>
              </a:spcAft>
              <a:buSzPct val="100000"/>
              <a:buChar char="•"/>
            </a:pPr>
            <a:r>
              <a:rPr lang="en-US" sz="1600" dirty="0">
                <a:solidFill>
                  <a:srgbClr val="202124"/>
                </a:solidFill>
                <a:latin typeface="Roboto" pitchFamily="34" charset="0"/>
                <a:ea typeface="Roboto" pitchFamily="34" charset="-122"/>
                <a:cs typeface="Roboto" pitchFamily="34" charset="-120"/>
              </a:rPr>
              <a:t>Sobirania del poble</a:t>
            </a:r>
            <a:endParaRPr lang="en-US" sz="1600" dirty="0"/>
          </a:p>
          <a:p>
            <a:pPr marL="203200" indent="-203200">
              <a:spcAft>
                <a:spcPts val="600"/>
              </a:spcAft>
              <a:buSzPct val="100000"/>
              <a:buChar char="•"/>
            </a:pPr>
            <a:r>
              <a:rPr lang="en-US" sz="1600" dirty="0">
                <a:solidFill>
                  <a:srgbClr val="202124"/>
                </a:solidFill>
                <a:latin typeface="Roboto" pitchFamily="34" charset="0"/>
                <a:ea typeface="Roboto" pitchFamily="34" charset="-122"/>
                <a:cs typeface="Roboto" pitchFamily="34" charset="-120"/>
              </a:rPr>
              <a:t>Eleccions lliures i netes</a:t>
            </a:r>
            <a:endParaRPr lang="en-US" sz="1600" dirty="0"/>
          </a:p>
        </p:txBody>
      </p:sp>
      <p:sp>
        <p:nvSpPr>
          <p:cNvPr id="12" name="Text 10"/>
          <p:cNvSpPr txBox="1"/>
          <p:nvPr/>
        </p:nvSpPr>
        <p:spPr>
          <a:xfrm>
            <a:off x="4663440" y="3977640"/>
            <a:ext cx="3017520" cy="9144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Els governs surten del vot dels ciutadans.</a:t>
            </a:r>
            <a:endParaRPr lang="en-US" sz="1450" dirty="0"/>
          </a:p>
        </p:txBody>
      </p:sp>
      <p:sp>
        <p:nvSpPr>
          <p:cNvPr id="13" name="La Restauració"/>
          <p:cNvSpPr/>
          <p:nvPr/>
        </p:nvSpPr>
        <p:spPr>
          <a:xfrm>
            <a:off x="8229600" y="1417320"/>
            <a:ext cx="3413455" cy="3657600"/>
          </a:xfrm>
          <a:prstGeom prst="roundRect">
            <a:avLst>
              <a:gd name="adj" fmla="val 2947"/>
            </a:avLst>
          </a:prstGeom>
          <a:solidFill>
            <a:srgbClr val="FDE7F3"/>
          </a:solidFill>
          <a:ln/>
        </p:spPr>
      </p:sp>
      <p:sp>
        <p:nvSpPr>
          <p:cNvPr id="14" name="Text 12"/>
          <p:cNvSpPr txBox="1"/>
          <p:nvPr/>
        </p:nvSpPr>
        <p:spPr>
          <a:xfrm>
            <a:off x="8503920" y="1645920"/>
            <a:ext cx="2926080" cy="365760"/>
          </a:xfrm>
          <a:prstGeom prst="rect">
            <a:avLst/>
          </a:prstGeom>
          <a:noFill/>
          <a:ln/>
        </p:spPr>
        <p:txBody>
          <a:bodyPr wrap="square" lIns="0" tIns="0" rIns="0" bIns="0" rtlCol="0" anchor="t"/>
          <a:lstStyle/>
          <a:p>
            <a:pPr indent="0" marL="0">
              <a:buNone/>
            </a:pPr>
            <a:r>
              <a:rPr lang="en-US" sz="1500" b="1" dirty="0">
                <a:solidFill>
                  <a:srgbClr val="B80672"/>
                </a:solidFill>
                <a:latin typeface="Roboto" pitchFamily="34" charset="0"/>
                <a:ea typeface="Roboto" pitchFamily="34" charset="-122"/>
                <a:cs typeface="Roboto" pitchFamily="34" charset="-120"/>
              </a:rPr>
              <a:t>La Restauració</a:t>
            </a:r>
            <a:endParaRPr lang="en-US" sz="1500" dirty="0"/>
          </a:p>
        </p:txBody>
      </p:sp>
      <p:sp>
        <p:nvSpPr>
          <p:cNvPr id="15" name="Text 13"/>
          <p:cNvSpPr txBox="1"/>
          <p:nvPr/>
        </p:nvSpPr>
        <p:spPr>
          <a:xfrm>
            <a:off x="8503920" y="2057400"/>
            <a:ext cx="2926080" cy="1188720"/>
          </a:xfrm>
          <a:prstGeom prst="rect">
            <a:avLst/>
          </a:prstGeom>
          <a:noFill/>
          <a:ln/>
        </p:spPr>
        <p:txBody>
          <a:bodyPr wrap="square" lIns="0" tIns="0" rIns="0" bIns="0" rtlCol="0" anchor="t"/>
          <a:lstStyle/>
          <a:p>
            <a:pPr indent="0" marL="0">
              <a:buNone/>
            </a:pPr>
            <a:r>
              <a:rPr lang="en-US" sz="2600" b="1" dirty="0">
                <a:solidFill>
                  <a:srgbClr val="202124"/>
                </a:solidFill>
                <a:latin typeface="Roboto" pitchFamily="34" charset="0"/>
                <a:ea typeface="Roboto" pitchFamily="34" charset="-122"/>
                <a:cs typeface="Roboto" pitchFamily="34" charset="-120"/>
              </a:rPr>
              <a:t>Liberal, sí. Democràtica, no.</a:t>
            </a:r>
            <a:endParaRPr lang="en-US" sz="2600" dirty="0"/>
          </a:p>
        </p:txBody>
      </p:sp>
      <p:sp>
        <p:nvSpPr>
          <p:cNvPr id="16" name="Text 14"/>
          <p:cNvSpPr txBox="1"/>
          <p:nvPr/>
        </p:nvSpPr>
        <p:spPr>
          <a:xfrm>
            <a:off x="8503920" y="3291840"/>
            <a:ext cx="2926080" cy="16459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Ni el sufragi universal masculí de 1890 ho va canviar. Va votar més gent, però els resultats els continuaven decidint el govern i els cacics.</a:t>
            </a:r>
            <a:endParaRPr lang="en-US" sz="1450" dirty="0"/>
          </a:p>
        </p:txBody>
      </p:sp>
      <p:sp>
        <p:nvSpPr>
          <p:cNvPr id="17" name="Text 15"/>
          <p:cNvSpPr txBox="1"/>
          <p:nvPr/>
        </p:nvSpPr>
        <p:spPr>
          <a:xfrm>
            <a:off x="548640" y="5349240"/>
            <a:ext cx="7315200" cy="411480"/>
          </a:xfrm>
          <a:prstGeom prst="rect">
            <a:avLst/>
          </a:prstGeom>
          <a:noFill/>
          <a:ln/>
        </p:spPr>
        <p:txBody>
          <a:bodyPr wrap="square" lIns="0" tIns="0" rIns="0" bIns="0" rtlCol="0" anchor="t"/>
          <a:lstStyle/>
          <a:p>
            <a:pPr indent="0" marL="0">
              <a:buNone/>
            </a:pPr>
            <a:r>
              <a:rPr lang="en-US" sz="1600" b="1" dirty="0">
                <a:solidFill>
                  <a:srgbClr val="B80672"/>
                </a:solidFill>
                <a:latin typeface="Roboto" pitchFamily="34" charset="0"/>
                <a:ea typeface="Roboto" pitchFamily="34" charset="-122"/>
                <a:cs typeface="Roboto" pitchFamily="34" charset="-120"/>
              </a:rPr>
              <a:t>Aquesta distinció és clau per a la PAU.</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Apartat 1 a la PAU</a:t>
            </a:r>
            <a:endParaRPr lang="en-US" sz="2800" dirty="0"/>
          </a:p>
        </p:txBody>
      </p:sp>
      <p:sp>
        <p:nvSpPr>
          <p:cNvPr id="5" name="Text 3"/>
          <p:cNvSpPr txBox="1"/>
          <p:nvPr/>
        </p:nvSpPr>
        <p:spPr>
          <a:xfrm>
            <a:off x="548640" y="1371600"/>
            <a:ext cx="2011680" cy="1005840"/>
          </a:xfrm>
          <a:prstGeom prst="rect">
            <a:avLst/>
          </a:prstGeom>
          <a:noFill/>
          <a:ln/>
        </p:spPr>
        <p:txBody>
          <a:bodyPr wrap="square" lIns="0" tIns="0" rIns="0" bIns="0" rtlCol="0" anchor="t"/>
          <a:lstStyle/>
          <a:p>
            <a:pPr indent="0" marL="0">
              <a:buNone/>
            </a:pPr>
            <a:r>
              <a:rPr lang="en-US" sz="6400" b="1" dirty="0">
                <a:solidFill>
                  <a:srgbClr val="B80672"/>
                </a:solidFill>
                <a:latin typeface="Roboto" pitchFamily="34" charset="0"/>
                <a:ea typeface="Roboto" pitchFamily="34" charset="-122"/>
                <a:cs typeface="Roboto" pitchFamily="34" charset="-120"/>
              </a:rPr>
              <a:t>22</a:t>
            </a:r>
            <a:endParaRPr lang="en-US" sz="6400" dirty="0"/>
          </a:p>
        </p:txBody>
      </p:sp>
      <p:sp>
        <p:nvSpPr>
          <p:cNvPr id="6" name="Text 4"/>
          <p:cNvSpPr txBox="1"/>
          <p:nvPr/>
        </p:nvSpPr>
        <p:spPr>
          <a:xfrm>
            <a:off x="548640" y="2395728"/>
            <a:ext cx="3840480" cy="91440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preguntes sobre el sistema canovista a les PAU del 2010 al 2024 (model anterior). És l'aspecte del tema que més ha sortit.</a:t>
            </a:r>
            <a:endParaRPr lang="en-US" sz="1500" dirty="0"/>
          </a:p>
        </p:txBody>
      </p:sp>
      <p:sp>
        <p:nvSpPr>
          <p:cNvPr id="7" name="Àmbits del glossari"/>
          <p:cNvSpPr/>
          <p:nvPr/>
        </p:nvSpPr>
        <p:spPr>
          <a:xfrm>
            <a:off x="548640" y="3429000"/>
            <a:ext cx="3840480" cy="1627632"/>
          </a:xfrm>
          <a:prstGeom prst="roundRect">
            <a:avLst>
              <a:gd name="adj" fmla="val 6180"/>
            </a:avLst>
          </a:prstGeom>
          <a:solidFill>
            <a:srgbClr val="F6F8FB"/>
          </a:solidFill>
          <a:ln/>
        </p:spPr>
      </p:sp>
      <p:sp>
        <p:nvSpPr>
          <p:cNvPr id="8" name="Text 6"/>
          <p:cNvSpPr txBox="1"/>
          <p:nvPr/>
        </p:nvSpPr>
        <p:spPr>
          <a:xfrm>
            <a:off x="822960" y="3584448"/>
            <a:ext cx="3291840" cy="292608"/>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Àmbits del glossari</a:t>
            </a:r>
            <a:endParaRPr lang="en-US" sz="1300" dirty="0"/>
          </a:p>
        </p:txBody>
      </p:sp>
      <p:sp>
        <p:nvSpPr>
          <p:cNvPr id="9" name="Text 7"/>
          <p:cNvSpPr txBox="1"/>
          <p:nvPr/>
        </p:nvSpPr>
        <p:spPr>
          <a:xfrm>
            <a:off x="822960" y="3904488"/>
            <a:ext cx="3337560" cy="1078992"/>
          </a:xfrm>
          <a:prstGeom prst="rect">
            <a:avLst/>
          </a:prstGeom>
          <a:noFill/>
          <a:ln/>
        </p:spPr>
        <p:txBody>
          <a:bodyPr wrap="square" lIns="0" tIns="0" rIns="0" bIns="0" rtlCol="0" anchor="t"/>
          <a:lstStyle/>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1. Liberalisme i democràcia. Clientelisme i corrupció.</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8. Església i poder. Clericalisme i anticlericalisme.</a:t>
            </a:r>
            <a:endParaRPr lang="en-US" sz="1350" dirty="0"/>
          </a:p>
        </p:txBody>
      </p:sp>
      <p:sp>
        <p:nvSpPr>
          <p:cNvPr id="10" name="Text 8"/>
          <p:cNvSpPr txBox="1"/>
          <p:nvPr/>
        </p:nvSpPr>
        <p:spPr>
          <a:xfrm>
            <a:off x="4846320" y="1417320"/>
            <a:ext cx="6766560" cy="320040"/>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Conceptes clau</a:t>
            </a:r>
            <a:endParaRPr lang="en-US" sz="1300" dirty="0"/>
          </a:p>
        </p:txBody>
      </p:sp>
      <p:sp>
        <p:nvSpPr>
          <p:cNvPr id="11" name="Etiqueta Civilisme"/>
          <p:cNvSpPr/>
          <p:nvPr/>
        </p:nvSpPr>
        <p:spPr>
          <a:xfrm>
            <a:off x="4846320" y="1810512"/>
            <a:ext cx="993953" cy="310896"/>
          </a:xfrm>
          <a:prstGeom prst="roundRect">
            <a:avLst>
              <a:gd name="adj" fmla="val 50000"/>
            </a:avLst>
          </a:prstGeom>
          <a:solidFill>
            <a:srgbClr val="FDE7F3"/>
          </a:solidFill>
          <a:ln/>
        </p:spPr>
      </p:sp>
      <p:sp>
        <p:nvSpPr>
          <p:cNvPr id="12" name="Text 10"/>
          <p:cNvSpPr txBox="1"/>
          <p:nvPr/>
        </p:nvSpPr>
        <p:spPr>
          <a:xfrm>
            <a:off x="4846320" y="1810512"/>
            <a:ext cx="993953"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Civilisme</a:t>
            </a:r>
            <a:endParaRPr lang="en-US" sz="1200" dirty="0"/>
          </a:p>
        </p:txBody>
      </p:sp>
      <p:sp>
        <p:nvSpPr>
          <p:cNvPr id="13" name="Etiqueta Constitució de 1876"/>
          <p:cNvSpPr/>
          <p:nvPr/>
        </p:nvSpPr>
        <p:spPr>
          <a:xfrm>
            <a:off x="5931713" y="1810512"/>
            <a:ext cx="1752905" cy="310896"/>
          </a:xfrm>
          <a:prstGeom prst="roundRect">
            <a:avLst>
              <a:gd name="adj" fmla="val 50000"/>
            </a:avLst>
          </a:prstGeom>
          <a:solidFill>
            <a:srgbClr val="FDE7F3"/>
          </a:solidFill>
          <a:ln/>
        </p:spPr>
      </p:sp>
      <p:sp>
        <p:nvSpPr>
          <p:cNvPr id="14" name="Text 12"/>
          <p:cNvSpPr txBox="1"/>
          <p:nvPr/>
        </p:nvSpPr>
        <p:spPr>
          <a:xfrm>
            <a:off x="5931713" y="1810512"/>
            <a:ext cx="1752905"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Constitució de 1876</a:t>
            </a:r>
            <a:endParaRPr lang="en-US" sz="1200" dirty="0"/>
          </a:p>
        </p:txBody>
      </p:sp>
      <p:sp>
        <p:nvSpPr>
          <p:cNvPr id="15" name="Etiqueta Sobirania compartida"/>
          <p:cNvSpPr/>
          <p:nvPr/>
        </p:nvSpPr>
        <p:spPr>
          <a:xfrm>
            <a:off x="7776058" y="1810512"/>
            <a:ext cx="1828800" cy="310896"/>
          </a:xfrm>
          <a:prstGeom prst="roundRect">
            <a:avLst>
              <a:gd name="adj" fmla="val 50000"/>
            </a:avLst>
          </a:prstGeom>
          <a:solidFill>
            <a:srgbClr val="FDE7F3"/>
          </a:solidFill>
          <a:ln/>
        </p:spPr>
      </p:sp>
      <p:sp>
        <p:nvSpPr>
          <p:cNvPr id="16" name="Text 14"/>
          <p:cNvSpPr txBox="1"/>
          <p:nvPr/>
        </p:nvSpPr>
        <p:spPr>
          <a:xfrm>
            <a:off x="7776058" y="1810512"/>
            <a:ext cx="182880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Sobirania compartida</a:t>
            </a:r>
            <a:endParaRPr lang="en-US" sz="1200" dirty="0"/>
          </a:p>
        </p:txBody>
      </p:sp>
      <p:sp>
        <p:nvSpPr>
          <p:cNvPr id="17" name="Etiqueta Estat confessional"/>
          <p:cNvSpPr/>
          <p:nvPr/>
        </p:nvSpPr>
        <p:spPr>
          <a:xfrm>
            <a:off x="9696298" y="1810512"/>
            <a:ext cx="1677010" cy="310896"/>
          </a:xfrm>
          <a:prstGeom prst="roundRect">
            <a:avLst>
              <a:gd name="adj" fmla="val 50000"/>
            </a:avLst>
          </a:prstGeom>
          <a:solidFill>
            <a:srgbClr val="FDE7F3"/>
          </a:solidFill>
          <a:ln/>
        </p:spPr>
      </p:sp>
      <p:sp>
        <p:nvSpPr>
          <p:cNvPr id="18" name="Text 16"/>
          <p:cNvSpPr txBox="1"/>
          <p:nvPr/>
        </p:nvSpPr>
        <p:spPr>
          <a:xfrm>
            <a:off x="9696298" y="1810512"/>
            <a:ext cx="167701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Estat confessional</a:t>
            </a:r>
            <a:endParaRPr lang="en-US" sz="1200" dirty="0"/>
          </a:p>
        </p:txBody>
      </p:sp>
      <p:sp>
        <p:nvSpPr>
          <p:cNvPr id="19" name="Etiqueta Partits dinàstics"/>
          <p:cNvSpPr/>
          <p:nvPr/>
        </p:nvSpPr>
        <p:spPr>
          <a:xfrm>
            <a:off x="4846320" y="2212848"/>
            <a:ext cx="1601114" cy="310896"/>
          </a:xfrm>
          <a:prstGeom prst="roundRect">
            <a:avLst>
              <a:gd name="adj" fmla="val 50000"/>
            </a:avLst>
          </a:prstGeom>
          <a:solidFill>
            <a:srgbClr val="FDE7F3"/>
          </a:solidFill>
          <a:ln/>
        </p:spPr>
      </p:sp>
      <p:sp>
        <p:nvSpPr>
          <p:cNvPr id="20" name="Text 18"/>
          <p:cNvSpPr txBox="1"/>
          <p:nvPr/>
        </p:nvSpPr>
        <p:spPr>
          <a:xfrm>
            <a:off x="4846320" y="2212848"/>
            <a:ext cx="160111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Partits dinàstics</a:t>
            </a:r>
            <a:endParaRPr lang="en-US" sz="1200" dirty="0"/>
          </a:p>
        </p:txBody>
      </p:sp>
      <p:sp>
        <p:nvSpPr>
          <p:cNvPr id="21" name="Etiqueta Torn pacífic"/>
          <p:cNvSpPr/>
          <p:nvPr/>
        </p:nvSpPr>
        <p:spPr>
          <a:xfrm>
            <a:off x="6538874" y="2212848"/>
            <a:ext cx="1221638" cy="310896"/>
          </a:xfrm>
          <a:prstGeom prst="roundRect">
            <a:avLst>
              <a:gd name="adj" fmla="val 50000"/>
            </a:avLst>
          </a:prstGeom>
          <a:solidFill>
            <a:srgbClr val="FDE7F3"/>
          </a:solidFill>
          <a:ln/>
        </p:spPr>
      </p:sp>
      <p:sp>
        <p:nvSpPr>
          <p:cNvPr id="22" name="Text 20"/>
          <p:cNvSpPr txBox="1"/>
          <p:nvPr/>
        </p:nvSpPr>
        <p:spPr>
          <a:xfrm>
            <a:off x="6538874" y="2212848"/>
            <a:ext cx="122163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Torn pacífic</a:t>
            </a:r>
            <a:endParaRPr lang="en-US" sz="1200" dirty="0"/>
          </a:p>
        </p:txBody>
      </p:sp>
      <p:sp>
        <p:nvSpPr>
          <p:cNvPr id="23" name="Etiqueta Encasellat"/>
          <p:cNvSpPr/>
          <p:nvPr/>
        </p:nvSpPr>
        <p:spPr>
          <a:xfrm>
            <a:off x="7851953" y="2212848"/>
            <a:ext cx="1069848" cy="310896"/>
          </a:xfrm>
          <a:prstGeom prst="roundRect">
            <a:avLst>
              <a:gd name="adj" fmla="val 50000"/>
            </a:avLst>
          </a:prstGeom>
          <a:solidFill>
            <a:srgbClr val="FDE7F3"/>
          </a:solidFill>
          <a:ln/>
        </p:spPr>
      </p:sp>
      <p:sp>
        <p:nvSpPr>
          <p:cNvPr id="24" name="Text 22"/>
          <p:cNvSpPr txBox="1"/>
          <p:nvPr/>
        </p:nvSpPr>
        <p:spPr>
          <a:xfrm>
            <a:off x="7851953" y="2212848"/>
            <a:ext cx="106984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Encasellat</a:t>
            </a:r>
            <a:endParaRPr lang="en-US" sz="1200" dirty="0"/>
          </a:p>
        </p:txBody>
      </p:sp>
      <p:sp>
        <p:nvSpPr>
          <p:cNvPr id="25" name="Etiqueta Caciquisme"/>
          <p:cNvSpPr/>
          <p:nvPr/>
        </p:nvSpPr>
        <p:spPr>
          <a:xfrm>
            <a:off x="9013241" y="2212848"/>
            <a:ext cx="1069848" cy="310896"/>
          </a:xfrm>
          <a:prstGeom prst="roundRect">
            <a:avLst>
              <a:gd name="adj" fmla="val 50000"/>
            </a:avLst>
          </a:prstGeom>
          <a:solidFill>
            <a:srgbClr val="FDE7F3"/>
          </a:solidFill>
          <a:ln/>
        </p:spPr>
      </p:sp>
      <p:sp>
        <p:nvSpPr>
          <p:cNvPr id="26" name="Text 24"/>
          <p:cNvSpPr txBox="1"/>
          <p:nvPr/>
        </p:nvSpPr>
        <p:spPr>
          <a:xfrm>
            <a:off x="9013241" y="2212848"/>
            <a:ext cx="106984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Caciquisme</a:t>
            </a:r>
            <a:endParaRPr lang="en-US" sz="1200" dirty="0"/>
          </a:p>
        </p:txBody>
      </p:sp>
      <p:sp>
        <p:nvSpPr>
          <p:cNvPr id="27" name="Etiqueta Clientelisme"/>
          <p:cNvSpPr/>
          <p:nvPr/>
        </p:nvSpPr>
        <p:spPr>
          <a:xfrm>
            <a:off x="10174529" y="2212848"/>
            <a:ext cx="1221638" cy="310896"/>
          </a:xfrm>
          <a:prstGeom prst="roundRect">
            <a:avLst>
              <a:gd name="adj" fmla="val 50000"/>
            </a:avLst>
          </a:prstGeom>
          <a:solidFill>
            <a:srgbClr val="FDE7F3"/>
          </a:solidFill>
          <a:ln/>
        </p:spPr>
      </p:sp>
      <p:sp>
        <p:nvSpPr>
          <p:cNvPr id="28" name="Text 26"/>
          <p:cNvSpPr txBox="1"/>
          <p:nvPr/>
        </p:nvSpPr>
        <p:spPr>
          <a:xfrm>
            <a:off x="10174529" y="2212848"/>
            <a:ext cx="122163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Clientelisme</a:t>
            </a:r>
            <a:endParaRPr lang="en-US" sz="1200" dirty="0"/>
          </a:p>
        </p:txBody>
      </p:sp>
      <p:sp>
        <p:nvSpPr>
          <p:cNvPr id="29" name="Etiqueta Sufragi censatari"/>
          <p:cNvSpPr/>
          <p:nvPr/>
        </p:nvSpPr>
        <p:spPr>
          <a:xfrm>
            <a:off x="4846320" y="2615184"/>
            <a:ext cx="1601114" cy="310896"/>
          </a:xfrm>
          <a:prstGeom prst="roundRect">
            <a:avLst>
              <a:gd name="adj" fmla="val 50000"/>
            </a:avLst>
          </a:prstGeom>
          <a:solidFill>
            <a:srgbClr val="FDE7F3"/>
          </a:solidFill>
          <a:ln/>
        </p:spPr>
      </p:sp>
      <p:sp>
        <p:nvSpPr>
          <p:cNvPr id="30" name="Text 28"/>
          <p:cNvSpPr txBox="1"/>
          <p:nvPr/>
        </p:nvSpPr>
        <p:spPr>
          <a:xfrm>
            <a:off x="4846320" y="2615184"/>
            <a:ext cx="160111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Sufragi censatari</a:t>
            </a:r>
            <a:endParaRPr lang="en-US" sz="1200" dirty="0"/>
          </a:p>
        </p:txBody>
      </p:sp>
      <p:sp>
        <p:nvSpPr>
          <p:cNvPr id="31" name="Etiqueta Sufragi universal masculí"/>
          <p:cNvSpPr/>
          <p:nvPr/>
        </p:nvSpPr>
        <p:spPr>
          <a:xfrm>
            <a:off x="6538874" y="2615184"/>
            <a:ext cx="2208276" cy="310896"/>
          </a:xfrm>
          <a:prstGeom prst="roundRect">
            <a:avLst>
              <a:gd name="adj" fmla="val 50000"/>
            </a:avLst>
          </a:prstGeom>
          <a:solidFill>
            <a:srgbClr val="FDE7F3"/>
          </a:solidFill>
          <a:ln/>
        </p:spPr>
      </p:sp>
      <p:sp>
        <p:nvSpPr>
          <p:cNvPr id="32" name="Text 30"/>
          <p:cNvSpPr txBox="1"/>
          <p:nvPr/>
        </p:nvSpPr>
        <p:spPr>
          <a:xfrm>
            <a:off x="6538874" y="2615184"/>
            <a:ext cx="2208276"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Sufragi universal masculí</a:t>
            </a:r>
            <a:endParaRPr lang="en-US" sz="1200" dirty="0"/>
          </a:p>
        </p:txBody>
      </p:sp>
      <p:sp>
        <p:nvSpPr>
          <p:cNvPr id="33" name="Exercici PAU"/>
          <p:cNvSpPr/>
          <p:nvPr/>
        </p:nvSpPr>
        <p:spPr>
          <a:xfrm>
            <a:off x="4846320" y="3182112"/>
            <a:ext cx="6796735" cy="2852928"/>
          </a:xfrm>
          <a:prstGeom prst="roundRect">
            <a:avLst>
              <a:gd name="adj" fmla="val 3526"/>
            </a:avLst>
          </a:prstGeom>
          <a:solidFill>
            <a:srgbClr val="FFFFFF"/>
          </a:solidFill>
          <a:ln w="12700">
            <a:solidFill>
              <a:srgbClr val="DADCE0"/>
            </a:solidFill>
            <a:prstDash val="solid"/>
          </a:ln>
        </p:spPr>
      </p:sp>
      <p:sp>
        <p:nvSpPr>
          <p:cNvPr id="34" name="Etiqueta Enunciat oficial · Sèrie 0, 2025"/>
          <p:cNvSpPr/>
          <p:nvPr/>
        </p:nvSpPr>
        <p:spPr>
          <a:xfrm>
            <a:off x="5120640" y="3383280"/>
            <a:ext cx="2798064" cy="310896"/>
          </a:xfrm>
          <a:prstGeom prst="roundRect">
            <a:avLst>
              <a:gd name="adj" fmla="val 50000"/>
            </a:avLst>
          </a:prstGeom>
          <a:solidFill>
            <a:srgbClr val="FDE7F3"/>
          </a:solidFill>
          <a:ln/>
        </p:spPr>
      </p:sp>
      <p:sp>
        <p:nvSpPr>
          <p:cNvPr id="35" name="Text 33"/>
          <p:cNvSpPr txBox="1"/>
          <p:nvPr/>
        </p:nvSpPr>
        <p:spPr>
          <a:xfrm>
            <a:off x="5120640" y="3383280"/>
            <a:ext cx="2798064" cy="310896"/>
          </a:xfrm>
          <a:prstGeom prst="rect">
            <a:avLst/>
          </a:prstGeom>
          <a:noFill/>
          <a:ln/>
        </p:spPr>
        <p:txBody>
          <a:bodyPr wrap="square" lIns="0" tIns="0" rIns="0" bIns="0" rtlCol="0" anchor="ctr"/>
          <a:lstStyle/>
          <a:p>
            <a:pPr algn="ctr" indent="0" marL="0">
              <a:buNone/>
            </a:pPr>
            <a:r>
              <a:rPr lang="en-US" sz="1150" b="1" dirty="0">
                <a:solidFill>
                  <a:srgbClr val="B80672"/>
                </a:solidFill>
                <a:latin typeface="Roboto" pitchFamily="34" charset="0"/>
                <a:ea typeface="Roboto" pitchFamily="34" charset="-122"/>
                <a:cs typeface="Roboto" pitchFamily="34" charset="-120"/>
              </a:rPr>
              <a:t>Enunciat oficial · Sèrie 0, 2025</a:t>
            </a:r>
            <a:endParaRPr lang="en-US" sz="1150" dirty="0"/>
          </a:p>
        </p:txBody>
      </p:sp>
      <p:sp>
        <p:nvSpPr>
          <p:cNvPr id="36" name="Text 34"/>
          <p:cNvSpPr txBox="1"/>
          <p:nvPr/>
        </p:nvSpPr>
        <p:spPr>
          <a:xfrm>
            <a:off x="5120640" y="3785616"/>
            <a:ext cx="6248095" cy="32004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Exercici 3 · Descriptor 1 del glossari</a:t>
            </a:r>
            <a:endParaRPr lang="en-US" sz="1500" dirty="0"/>
          </a:p>
        </p:txBody>
      </p:sp>
      <p:sp>
        <p:nvSpPr>
          <p:cNvPr id="37" name="Text 35"/>
          <p:cNvSpPr txBox="1"/>
          <p:nvPr/>
        </p:nvSpPr>
        <p:spPr>
          <a:xfrm>
            <a:off x="5120640" y="4169664"/>
            <a:ext cx="6248095" cy="1755648"/>
          </a:xfrm>
          <a:prstGeom prst="rect">
            <a:avLst/>
          </a:prstGeom>
          <a:noFill/>
          <a:ln/>
        </p:spPr>
        <p:txBody>
          <a:bodyPr wrap="square" lIns="0" tIns="0" rIns="0" bIns="0" rtlCol="0" anchor="t"/>
          <a:lstStyle/>
          <a:p>
            <a:pPr indent="0" marL="0">
              <a:spcAft>
                <a:spcPts val="700"/>
              </a:spcAft>
              <a:buNone/>
            </a:pPr>
            <a:r>
              <a:rPr lang="en-US" sz="1800" i="1" dirty="0">
                <a:solidFill>
                  <a:srgbClr val="202124"/>
                </a:solidFill>
                <a:latin typeface="Roboto" pitchFamily="34" charset="0"/>
                <a:ea typeface="Roboto" pitchFamily="34" charset="-122"/>
                <a:cs typeface="Roboto" pitchFamily="34" charset="-120"/>
              </a:rPr>
              <a:t>«La reinstauració del sufragi universal el 1890 va fer d'Espanya un país democràtic».</a:t>
            </a:r>
            <a:endParaRPr lang="en-US" sz="1800" dirty="0"/>
          </a:p>
          <a:p>
            <a:pPr indent="0" marL="0">
              <a:spcAft>
                <a:spcPts val="700"/>
              </a:spcAft>
              <a:buNone/>
            </a:pPr>
            <a:r>
              <a:rPr lang="en-US" sz="1450" dirty="0">
                <a:solidFill>
                  <a:srgbClr val="5F6368"/>
                </a:solidFill>
                <a:latin typeface="Roboto" pitchFamily="34" charset="0"/>
                <a:ea typeface="Roboto" pitchFamily="34" charset="-122"/>
                <a:cs typeface="Roboto" pitchFamily="34" charset="-120"/>
              </a:rPr>
              <a:t>Valoreu aquest enunciat a partir de la discussió entre liberalisme i democràcia, i la corrupció sistèmica.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B80672"/>
          </a:solidFill>
          <a:ln/>
        </p:spPr>
      </p:sp>
      <p:pic>
        <p:nvPicPr>
          <p:cNvPr id="3" name="Il·lustració del Congrés i una urna" descr="/tmp/claude-0/-home-claude-historia-2batx/57a75df9-64d0-585a-8d62-369d37bdd596/scratchpad/deck/hero-crop.png">    </p:cNvPr>
          <p:cNvPicPr>
            <a:picLocks noChangeAspect="1"/>
          </p:cNvPicPr>
          <p:nvPr/>
        </p:nvPicPr>
        <p:blipFill>
          <a:blip r:embed="rId1"/>
          <a:stretch>
            <a:fillRect/>
          </a:stretch>
        </p:blipFill>
        <p:spPr>
          <a:xfrm>
            <a:off x="3520440" y="2795465"/>
            <a:ext cx="3566160" cy="1392487"/>
          </a:xfrm>
          <a:prstGeom prst="rect">
            <a:avLst/>
          </a:prstGeom>
        </p:spPr>
      </p:pic>
      <p:sp>
        <p:nvSpPr>
          <p:cNvPr id="4" name="Etiqueta Apartat 2  ·  1875–1898"/>
          <p:cNvSpPr/>
          <p:nvPr/>
        </p:nvSpPr>
        <p:spPr>
          <a:xfrm>
            <a:off x="960120" y="896112"/>
            <a:ext cx="2161642" cy="310896"/>
          </a:xfrm>
          <a:prstGeom prst="roundRect">
            <a:avLst>
              <a:gd name="adj" fmla="val 50000"/>
            </a:avLst>
          </a:prstGeom>
          <a:solidFill>
            <a:srgbClr val="FFFFFF">
              <a:alpha val="18000"/>
            </a:srgbClr>
          </a:solidFill>
          <a:ln/>
        </p:spPr>
      </p:sp>
      <p:sp>
        <p:nvSpPr>
          <p:cNvPr id="5" name="Text 2"/>
          <p:cNvSpPr txBox="1"/>
          <p:nvPr/>
        </p:nvSpPr>
        <p:spPr>
          <a:xfrm>
            <a:off x="960120" y="896112"/>
            <a:ext cx="2161642"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2  ·  1875–1898</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Els exclosos del sistema</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B80672"/>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Qui quedava fora del torn pacífic, i quins camins van trobar per fer-se sentir?</a:t>
            </a:r>
            <a:endParaRPr lang="en-US" sz="1900" dirty="0"/>
          </a:p>
        </p:txBody>
      </p:sp>
      <p:sp>
        <p:nvSpPr>
          <p:cNvPr id="10" name="Fons Els exclosos del sistema"/>
          <p:cNvSpPr/>
          <p:nvPr/>
        </p:nvSpPr>
        <p:spPr>
          <a:xfrm>
            <a:off x="7635240" y="608076"/>
            <a:ext cx="4007815" cy="4572000"/>
          </a:xfrm>
          <a:prstGeom prst="roundRect">
            <a:avLst>
              <a:gd name="adj" fmla="val 2510"/>
            </a:avLst>
          </a:prstGeom>
          <a:solidFill>
            <a:srgbClr val="F6F8FB"/>
          </a:solidFill>
          <a:ln/>
        </p:spPr>
      </p:sp>
      <p:pic>
        <p:nvPicPr>
          <p:cNvPr id="11" name="Els exclosos del sistema" descr="/home/claude/historia-2batx/media/tema-1/liceu.jpg">    </p:cNvPr>
          <p:cNvPicPr>
            <a:picLocks noChangeAspect="1"/>
          </p:cNvPicPr>
          <p:nvPr/>
        </p:nvPicPr>
        <p:blipFill>
          <a:blip r:embed="rId2"/>
          <a:stretch>
            <a:fillRect/>
          </a:stretch>
        </p:blipFill>
        <p:spPr>
          <a:xfrm>
            <a:off x="7680046" y="608076"/>
            <a:ext cx="3918204" cy="4572000"/>
          </a:xfrm>
          <a:prstGeom prst="rect">
            <a:avLst/>
          </a:prstGeom>
        </p:spPr>
      </p:pic>
      <p:sp>
        <p:nvSpPr>
          <p:cNvPr id="12" name="Text 8"/>
          <p:cNvSpPr txBox="1"/>
          <p:nvPr/>
        </p:nvSpPr>
        <p:spPr>
          <a:xfrm>
            <a:off x="7635240" y="5289804"/>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L'atemptat del Liceu (7 de novembre de 1893) a la portada del suplement il·lustrat de «Le Petit Journal» del 25 de novembre de 1893. Autor desconegut. Domini públic, Wikimedia Commons.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Qui quedava fora del sistema</a:t>
            </a:r>
            <a:endParaRPr lang="en-US" sz="2800" dirty="0"/>
          </a:p>
        </p:txBody>
      </p:sp>
      <p:sp>
        <p:nvSpPr>
          <p:cNvPr id="5" name="Targeta Carlins"/>
          <p:cNvSpPr/>
          <p:nvPr/>
        </p:nvSpPr>
        <p:spPr>
          <a:xfrm>
            <a:off x="548640" y="1417320"/>
            <a:ext cx="2567864" cy="3154680"/>
          </a:xfrm>
          <a:prstGeom prst="roundRect">
            <a:avLst>
              <a:gd name="adj" fmla="val 3917"/>
            </a:avLst>
          </a:prstGeom>
          <a:solidFill>
            <a:srgbClr val="FFFFFF"/>
          </a:solidFill>
          <a:ln w="12700">
            <a:solidFill>
              <a:srgbClr val="DADCE0"/>
            </a:solidFill>
            <a:prstDash val="solid"/>
          </a:ln>
        </p:spPr>
      </p:sp>
      <p:sp>
        <p:nvSpPr>
          <p:cNvPr id="6" name="Text 4"/>
          <p:cNvSpPr txBox="1"/>
          <p:nvPr/>
        </p:nvSpPr>
        <p:spPr>
          <a:xfrm>
            <a:off x="777240" y="1600200"/>
            <a:ext cx="2110664"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Carlins</a:t>
            </a:r>
            <a:endParaRPr lang="en-US" sz="1700" dirty="0"/>
          </a:p>
        </p:txBody>
      </p:sp>
      <p:sp>
        <p:nvSpPr>
          <p:cNvPr id="7" name="Text 5"/>
          <p:cNvSpPr txBox="1"/>
          <p:nvPr/>
        </p:nvSpPr>
        <p:spPr>
          <a:xfrm>
            <a:off x="777240" y="1969008"/>
            <a:ext cx="2110664" cy="24841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Monarquia tradicional i catòlica i defensa dels furs. Derrotats a la Tercera Guerra Carlina (1872-1876), van passar a fer política des de l'extrema dreta tradicionalista.</a:t>
            </a:r>
            <a:endParaRPr lang="en-US" sz="1450" dirty="0"/>
          </a:p>
        </p:txBody>
      </p:sp>
      <p:sp>
        <p:nvSpPr>
          <p:cNvPr id="8" name="Targeta Republicans"/>
          <p:cNvSpPr/>
          <p:nvPr/>
        </p:nvSpPr>
        <p:spPr>
          <a:xfrm>
            <a:off x="3390824" y="1417320"/>
            <a:ext cx="2567864" cy="3154680"/>
          </a:xfrm>
          <a:prstGeom prst="roundRect">
            <a:avLst>
              <a:gd name="adj" fmla="val 3917"/>
            </a:avLst>
          </a:prstGeom>
          <a:solidFill>
            <a:srgbClr val="FFFFFF"/>
          </a:solidFill>
          <a:ln w="12700">
            <a:solidFill>
              <a:srgbClr val="DADCE0"/>
            </a:solidFill>
            <a:prstDash val="solid"/>
          </a:ln>
        </p:spPr>
      </p:sp>
      <p:sp>
        <p:nvSpPr>
          <p:cNvPr id="9" name="Text 7"/>
          <p:cNvSpPr txBox="1"/>
          <p:nvPr/>
        </p:nvSpPr>
        <p:spPr>
          <a:xfrm>
            <a:off x="3619424" y="1600200"/>
            <a:ext cx="2110664"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Republicans</a:t>
            </a:r>
            <a:endParaRPr lang="en-US" sz="1700" dirty="0"/>
          </a:p>
        </p:txBody>
      </p:sp>
      <p:sp>
        <p:nvSpPr>
          <p:cNvPr id="10" name="Text 8"/>
          <p:cNvSpPr txBox="1"/>
          <p:nvPr/>
        </p:nvSpPr>
        <p:spPr>
          <a:xfrm>
            <a:off x="3619424" y="1969008"/>
            <a:ext cx="2110664" cy="24841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Dividits després del fracàs de la Primera República. Possibilistes (Castelar), federals (Pi i Margall) i progressistes (Ruiz Zorrilla).</a:t>
            </a:r>
            <a:endParaRPr lang="en-US" sz="1450" dirty="0"/>
          </a:p>
        </p:txBody>
      </p:sp>
      <p:sp>
        <p:nvSpPr>
          <p:cNvPr id="11" name="Targeta Regionalistes"/>
          <p:cNvSpPr/>
          <p:nvPr/>
        </p:nvSpPr>
        <p:spPr>
          <a:xfrm>
            <a:off x="6233008" y="1417320"/>
            <a:ext cx="2567864" cy="3154680"/>
          </a:xfrm>
          <a:prstGeom prst="roundRect">
            <a:avLst>
              <a:gd name="adj" fmla="val 3917"/>
            </a:avLst>
          </a:prstGeom>
          <a:solidFill>
            <a:srgbClr val="FFFFFF"/>
          </a:solidFill>
          <a:ln w="12700">
            <a:solidFill>
              <a:srgbClr val="DADCE0"/>
            </a:solidFill>
            <a:prstDash val="solid"/>
          </a:ln>
        </p:spPr>
      </p:sp>
      <p:sp>
        <p:nvSpPr>
          <p:cNvPr id="12" name="Text 10"/>
          <p:cNvSpPr txBox="1"/>
          <p:nvPr/>
        </p:nvSpPr>
        <p:spPr>
          <a:xfrm>
            <a:off x="6461608" y="1600200"/>
            <a:ext cx="2110664"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Regionalistes</a:t>
            </a:r>
            <a:endParaRPr lang="en-US" sz="1700" dirty="0"/>
          </a:p>
        </p:txBody>
      </p:sp>
      <p:sp>
        <p:nvSpPr>
          <p:cNvPr id="13" name="Text 11"/>
          <p:cNvSpPr txBox="1"/>
          <p:nvPr/>
        </p:nvSpPr>
        <p:spPr>
          <a:xfrm>
            <a:off x="6461608" y="1969008"/>
            <a:ext cx="2110664" cy="24841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Reacció al centralisme de l'Estat liberal. Van arrelar a les regions més industrialitzades, amb llengua i tradicions pròpies vives.</a:t>
            </a:r>
            <a:endParaRPr lang="en-US" sz="1450" dirty="0"/>
          </a:p>
        </p:txBody>
      </p:sp>
      <p:sp>
        <p:nvSpPr>
          <p:cNvPr id="14" name="Targeta Moviment obrer"/>
          <p:cNvSpPr/>
          <p:nvPr/>
        </p:nvSpPr>
        <p:spPr>
          <a:xfrm>
            <a:off x="9075191" y="1417320"/>
            <a:ext cx="2567864" cy="3154680"/>
          </a:xfrm>
          <a:prstGeom prst="roundRect">
            <a:avLst>
              <a:gd name="adj" fmla="val 3917"/>
            </a:avLst>
          </a:prstGeom>
          <a:solidFill>
            <a:srgbClr val="FFFFFF"/>
          </a:solidFill>
          <a:ln w="12700">
            <a:solidFill>
              <a:srgbClr val="DADCE0"/>
            </a:solidFill>
            <a:prstDash val="solid"/>
          </a:ln>
        </p:spPr>
      </p:sp>
      <p:sp>
        <p:nvSpPr>
          <p:cNvPr id="15" name="Text 13"/>
          <p:cNvSpPr txBox="1"/>
          <p:nvPr/>
        </p:nvSpPr>
        <p:spPr>
          <a:xfrm>
            <a:off x="9303791" y="1600200"/>
            <a:ext cx="2110664"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Moviment obrer</a:t>
            </a:r>
            <a:endParaRPr lang="en-US" sz="1700" dirty="0"/>
          </a:p>
        </p:txBody>
      </p:sp>
      <p:sp>
        <p:nvSpPr>
          <p:cNvPr id="16" name="Text 14"/>
          <p:cNvSpPr txBox="1"/>
          <p:nvPr/>
        </p:nvSpPr>
        <p:spPr>
          <a:xfrm>
            <a:off x="9303791" y="1969008"/>
            <a:ext cx="2110664" cy="24841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El gran exclòs. Les organitzacions que els treballadors van crear per defensar els seus interessos.</a:t>
            </a:r>
            <a:endParaRPr lang="en-US" sz="1450" dirty="0"/>
          </a:p>
        </p:txBody>
      </p:sp>
      <p:sp>
        <p:nvSpPr>
          <p:cNvPr id="17" name="Per què és important"/>
          <p:cNvSpPr/>
          <p:nvPr/>
        </p:nvSpPr>
        <p:spPr>
          <a:xfrm>
            <a:off x="548640" y="4846320"/>
            <a:ext cx="11094415" cy="1143000"/>
          </a:xfrm>
          <a:prstGeom prst="roundRect">
            <a:avLst>
              <a:gd name="adj" fmla="val 8800"/>
            </a:avLst>
          </a:prstGeom>
          <a:solidFill>
            <a:srgbClr val="FDE7F3"/>
          </a:solidFill>
          <a:ln/>
        </p:spPr>
      </p:sp>
      <p:sp>
        <p:nvSpPr>
          <p:cNvPr id="18" name="Text 16"/>
          <p:cNvSpPr txBox="1"/>
          <p:nvPr/>
        </p:nvSpPr>
        <p:spPr>
          <a:xfrm>
            <a:off x="868680" y="5001768"/>
            <a:ext cx="1045433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Per què és important</a:t>
            </a:r>
            <a:endParaRPr lang="en-US" sz="1400" dirty="0"/>
          </a:p>
        </p:txBody>
      </p:sp>
      <p:sp>
        <p:nvSpPr>
          <p:cNvPr id="19" name="Text 17"/>
          <p:cNvSpPr txBox="1"/>
          <p:nvPr/>
        </p:nvSpPr>
        <p:spPr>
          <a:xfrm>
            <a:off x="868680" y="5349240"/>
            <a:ext cx="10454335" cy="5029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Com que el caciquisme els tancava el camí de les urnes, van haver de buscar altres vies per fer-se sentir, com la premsa, les associacions, la vaga i, en alguns casos, la violència.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Regionalismes i nacionalismes</a:t>
            </a:r>
            <a:endParaRPr lang="en-US" sz="2800" dirty="0"/>
          </a:p>
        </p:txBody>
      </p:sp>
      <p:sp>
        <p:nvSpPr>
          <p:cNvPr id="5" name="Regionalisme"/>
          <p:cNvSpPr/>
          <p:nvPr/>
        </p:nvSpPr>
        <p:spPr>
          <a:xfrm>
            <a:off x="548640" y="1417320"/>
            <a:ext cx="3611880" cy="1783080"/>
          </a:xfrm>
          <a:prstGeom prst="roundRect">
            <a:avLst>
              <a:gd name="adj" fmla="val 5641"/>
            </a:avLst>
          </a:prstGeom>
          <a:solidFill>
            <a:srgbClr val="F6F8FB"/>
          </a:solidFill>
          <a:ln/>
        </p:spPr>
      </p:sp>
      <p:sp>
        <p:nvSpPr>
          <p:cNvPr id="6" name="Text 4"/>
          <p:cNvSpPr txBox="1"/>
          <p:nvPr/>
        </p:nvSpPr>
        <p:spPr>
          <a:xfrm>
            <a:off x="868680" y="1572768"/>
            <a:ext cx="297180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Regionalisme</a:t>
            </a:r>
            <a:endParaRPr lang="en-US" sz="1400" dirty="0"/>
          </a:p>
        </p:txBody>
      </p:sp>
      <p:sp>
        <p:nvSpPr>
          <p:cNvPr id="7" name="Text 5"/>
          <p:cNvSpPr txBox="1"/>
          <p:nvPr/>
        </p:nvSpPr>
        <p:spPr>
          <a:xfrm>
            <a:off x="868680" y="1920240"/>
            <a:ext cx="2971800" cy="11430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Defensa que una regió té una personalitat pròpia (llengua, història, dret) que l'Estat ha de respectar amb la descentralització o l'autonomia.</a:t>
            </a:r>
            <a:endParaRPr lang="en-US" sz="1450" dirty="0"/>
          </a:p>
        </p:txBody>
      </p:sp>
      <p:sp>
        <p:nvSpPr>
          <p:cNvPr id="8" name="Nacionalisme"/>
          <p:cNvSpPr/>
          <p:nvPr/>
        </p:nvSpPr>
        <p:spPr>
          <a:xfrm>
            <a:off x="548640" y="3383280"/>
            <a:ext cx="3611880" cy="1325880"/>
          </a:xfrm>
          <a:prstGeom prst="roundRect">
            <a:avLst>
              <a:gd name="adj" fmla="val 7586"/>
            </a:avLst>
          </a:prstGeom>
          <a:solidFill>
            <a:srgbClr val="F6F8FB"/>
          </a:solidFill>
          <a:ln/>
        </p:spPr>
      </p:sp>
      <p:sp>
        <p:nvSpPr>
          <p:cNvPr id="9" name="Text 7"/>
          <p:cNvSpPr txBox="1"/>
          <p:nvPr/>
        </p:nvSpPr>
        <p:spPr>
          <a:xfrm>
            <a:off x="868680" y="3538728"/>
            <a:ext cx="297180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Nacionalisme</a:t>
            </a:r>
            <a:endParaRPr lang="en-US" sz="1400" dirty="0"/>
          </a:p>
        </p:txBody>
      </p:sp>
      <p:sp>
        <p:nvSpPr>
          <p:cNvPr id="10" name="Text 8"/>
          <p:cNvSpPr txBox="1"/>
          <p:nvPr/>
        </p:nvSpPr>
        <p:spPr>
          <a:xfrm>
            <a:off x="868680" y="3886200"/>
            <a:ext cx="2971800" cy="6858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Va més enllà i afirma que aquell territori és una nació, amb dret a governar-se.</a:t>
            </a:r>
            <a:endParaRPr lang="en-US" sz="1450" dirty="0"/>
          </a:p>
        </p:txBody>
      </p:sp>
      <p:sp>
        <p:nvSpPr>
          <p:cNvPr id="11" name="Línia del temps"/>
          <p:cNvSpPr/>
          <p:nvPr/>
        </p:nvSpPr>
        <p:spPr>
          <a:xfrm>
            <a:off x="4535424" y="1600200"/>
            <a:ext cx="0" cy="2194560"/>
          </a:xfrm>
          <a:prstGeom prst="line">
            <a:avLst/>
          </a:prstGeom>
          <a:noFill/>
          <a:ln w="31750">
            <a:solidFill>
              <a:srgbClr val="DADCE0"/>
            </a:solidFill>
            <a:prstDash val="solid"/>
          </a:ln>
        </p:spPr>
      </p:sp>
      <p:sp>
        <p:nvSpPr>
          <p:cNvPr id="12" name="Fita Catalunya"/>
          <p:cNvSpPr/>
          <p:nvPr/>
        </p:nvSpPr>
        <p:spPr>
          <a:xfrm>
            <a:off x="4434840" y="1499616"/>
            <a:ext cx="201168" cy="201168"/>
          </a:xfrm>
          <a:prstGeom prst="ellipse">
            <a:avLst/>
          </a:prstGeom>
          <a:solidFill>
            <a:srgbClr val="FFFFFF"/>
          </a:solidFill>
          <a:ln w="28575">
            <a:solidFill>
              <a:srgbClr val="B80672"/>
            </a:solidFill>
            <a:prstDash val="solid"/>
          </a:ln>
        </p:spPr>
      </p:sp>
      <p:sp>
        <p:nvSpPr>
          <p:cNvPr id="13" name="Text 11"/>
          <p:cNvSpPr txBox="1"/>
          <p:nvPr/>
        </p:nvSpPr>
        <p:spPr>
          <a:xfrm>
            <a:off x="4818888" y="1463040"/>
            <a:ext cx="114300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Catalunya</a:t>
            </a:r>
            <a:endParaRPr lang="en-US" sz="1400" dirty="0"/>
          </a:p>
        </p:txBody>
      </p:sp>
      <p:sp>
        <p:nvSpPr>
          <p:cNvPr id="14" name="Text 12"/>
          <p:cNvSpPr txBox="1"/>
          <p:nvPr/>
        </p:nvSpPr>
        <p:spPr>
          <a:xfrm>
            <a:off x="5961888" y="1463040"/>
            <a:ext cx="1993392" cy="105156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Bases de Manresa (1892). La Lliga Regionalista (1901) trenca el domini del torn a Barcelona. Tema 2.</a:t>
            </a:r>
            <a:endParaRPr lang="en-US" sz="1400" dirty="0"/>
          </a:p>
        </p:txBody>
      </p:sp>
      <p:sp>
        <p:nvSpPr>
          <p:cNvPr id="15" name="Fita País Basc"/>
          <p:cNvSpPr/>
          <p:nvPr/>
        </p:nvSpPr>
        <p:spPr>
          <a:xfrm>
            <a:off x="4434840" y="2596896"/>
            <a:ext cx="201168" cy="201168"/>
          </a:xfrm>
          <a:prstGeom prst="ellipse">
            <a:avLst/>
          </a:prstGeom>
          <a:solidFill>
            <a:srgbClr val="FFFFFF"/>
          </a:solidFill>
          <a:ln w="28575">
            <a:solidFill>
              <a:srgbClr val="B80672"/>
            </a:solidFill>
            <a:prstDash val="solid"/>
          </a:ln>
        </p:spPr>
      </p:sp>
      <p:sp>
        <p:nvSpPr>
          <p:cNvPr id="16" name="Text 14"/>
          <p:cNvSpPr txBox="1"/>
          <p:nvPr/>
        </p:nvSpPr>
        <p:spPr>
          <a:xfrm>
            <a:off x="4818888" y="2560320"/>
            <a:ext cx="114300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País Basc</a:t>
            </a:r>
            <a:endParaRPr lang="en-US" sz="1400" dirty="0"/>
          </a:p>
        </p:txBody>
      </p:sp>
      <p:sp>
        <p:nvSpPr>
          <p:cNvPr id="17" name="Text 15"/>
          <p:cNvSpPr txBox="1"/>
          <p:nvPr/>
        </p:nvSpPr>
        <p:spPr>
          <a:xfrm>
            <a:off x="5961888" y="2560320"/>
            <a:ext cx="1993392" cy="105156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Sabino Arana funda el PNB (1895), catòlic i tradicionalista.</a:t>
            </a:r>
            <a:endParaRPr lang="en-US" sz="1400" dirty="0"/>
          </a:p>
        </p:txBody>
      </p:sp>
      <p:sp>
        <p:nvSpPr>
          <p:cNvPr id="18" name="Fita Galícia"/>
          <p:cNvSpPr/>
          <p:nvPr/>
        </p:nvSpPr>
        <p:spPr>
          <a:xfrm>
            <a:off x="4434840" y="3694176"/>
            <a:ext cx="201168" cy="201168"/>
          </a:xfrm>
          <a:prstGeom prst="ellipse">
            <a:avLst/>
          </a:prstGeom>
          <a:solidFill>
            <a:srgbClr val="FFFFFF"/>
          </a:solidFill>
          <a:ln w="28575">
            <a:solidFill>
              <a:srgbClr val="B80672"/>
            </a:solidFill>
            <a:prstDash val="solid"/>
          </a:ln>
        </p:spPr>
      </p:sp>
      <p:sp>
        <p:nvSpPr>
          <p:cNvPr id="19" name="Text 17"/>
          <p:cNvSpPr txBox="1"/>
          <p:nvPr/>
        </p:nvSpPr>
        <p:spPr>
          <a:xfrm>
            <a:off x="4818888" y="3657600"/>
            <a:ext cx="114300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Galícia</a:t>
            </a:r>
            <a:endParaRPr lang="en-US" sz="1400" dirty="0"/>
          </a:p>
        </p:txBody>
      </p:sp>
      <p:sp>
        <p:nvSpPr>
          <p:cNvPr id="20" name="Text 18"/>
          <p:cNvSpPr txBox="1"/>
          <p:nvPr/>
        </p:nvSpPr>
        <p:spPr>
          <a:xfrm>
            <a:off x="5961888" y="3657600"/>
            <a:ext cx="1993392" cy="105156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Regionalisme sobretot cultural, amb Manuel Murguía.</a:t>
            </a:r>
            <a:endParaRPr lang="en-US" sz="1400" dirty="0"/>
          </a:p>
        </p:txBody>
      </p:sp>
      <p:sp>
        <p:nvSpPr>
          <p:cNvPr id="21" name="Fons Assemblea de Manresa, on es van aprovar les Bases de Manresa (1892)"/>
          <p:cNvSpPr/>
          <p:nvPr/>
        </p:nvSpPr>
        <p:spPr>
          <a:xfrm>
            <a:off x="8183880" y="1417320"/>
            <a:ext cx="3459175" cy="2187967"/>
          </a:xfrm>
          <a:prstGeom prst="roundRect">
            <a:avLst>
              <a:gd name="adj" fmla="val 4597"/>
            </a:avLst>
          </a:prstGeom>
          <a:solidFill>
            <a:srgbClr val="F6F8FB"/>
          </a:solidFill>
          <a:ln/>
        </p:spPr>
      </p:sp>
      <p:pic>
        <p:nvPicPr>
          <p:cNvPr id="22" name="Assemblea de Manresa, on es van aprovar les Bases de Manresa (1892)" descr="/home/claude/historia-2batx/media/tema-1/manresa.jpg">    </p:cNvPr>
          <p:cNvPicPr>
            <a:picLocks noChangeAspect="1"/>
          </p:cNvPicPr>
          <p:nvPr/>
        </p:nvPicPr>
        <p:blipFill>
          <a:blip r:embed="rId1"/>
          <a:stretch>
            <a:fillRect/>
          </a:stretch>
        </p:blipFill>
        <p:spPr>
          <a:xfrm>
            <a:off x="8183880" y="1417320"/>
            <a:ext cx="3459175" cy="2187967"/>
          </a:xfrm>
          <a:prstGeom prst="rect">
            <a:avLst/>
          </a:prstGeom>
        </p:spPr>
      </p:pic>
      <p:sp>
        <p:nvSpPr>
          <p:cNvPr id="23" name="Text 20"/>
          <p:cNvSpPr txBox="1"/>
          <p:nvPr/>
        </p:nvSpPr>
        <p:spPr>
          <a:xfrm>
            <a:off x="8183880" y="3696727"/>
            <a:ext cx="345917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Assemblea de Manresa, on es van aprovar les Bases de Manresa (1892). Gravat de Jaume Pahissa, «La Ilustració Catalana», 15-4-1892. Domini públic, Wikimedia Commons.</a:t>
            </a:r>
            <a:endParaRPr lang="en-US" sz="1000" dirty="0"/>
          </a:p>
        </p:txBody>
      </p:sp>
      <p:sp>
        <p:nvSpPr>
          <p:cNvPr id="24" name="Text 21"/>
          <p:cNvSpPr txBox="1"/>
          <p:nvPr/>
        </p:nvSpPr>
        <p:spPr>
          <a:xfrm>
            <a:off x="548640" y="4983480"/>
            <a:ext cx="7315200" cy="822960"/>
          </a:xfrm>
          <a:prstGeom prst="rect">
            <a:avLst/>
          </a:prstGeom>
          <a:noFill/>
          <a:ln/>
        </p:spPr>
        <p:txBody>
          <a:bodyPr wrap="square" lIns="0" tIns="0" rIns="0" bIns="0" rtlCol="0" anchor="t"/>
          <a:lstStyle/>
          <a:p>
            <a:pPr indent="0" marL="0">
              <a:buNone/>
            </a:pPr>
            <a:r>
              <a:rPr lang="en-US" sz="1500" dirty="0">
                <a:solidFill>
                  <a:srgbClr val="5F6368"/>
                </a:solidFill>
                <a:latin typeface="Roboto" pitchFamily="34" charset="0"/>
                <a:ea typeface="Roboto" pitchFamily="34" charset="-122"/>
                <a:cs typeface="Roboto" pitchFamily="34" charset="-120"/>
              </a:rPr>
              <a:t>Van néixer com a reacció al centralisme de l'Estat liberal, que havia uniformitzat les lleis i l'administració.</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què va néixer el moviment obrer</a:t>
            </a:r>
            <a:endParaRPr lang="en-US" sz="2800" dirty="0"/>
          </a:p>
        </p:txBody>
      </p:sp>
      <p:sp>
        <p:nvSpPr>
          <p:cNvPr id="5" name="Proletariat"/>
          <p:cNvSpPr/>
          <p:nvPr/>
        </p:nvSpPr>
        <p:spPr>
          <a:xfrm>
            <a:off x="548640" y="1417320"/>
            <a:ext cx="5120640" cy="1600200"/>
          </a:xfrm>
          <a:prstGeom prst="roundRect">
            <a:avLst>
              <a:gd name="adj" fmla="val 6286"/>
            </a:avLst>
          </a:prstGeom>
          <a:solidFill>
            <a:srgbClr val="FDE7F3"/>
          </a:solidFill>
          <a:ln/>
        </p:spPr>
      </p:sp>
      <p:sp>
        <p:nvSpPr>
          <p:cNvPr id="6" name="Text 4"/>
          <p:cNvSpPr txBox="1"/>
          <p:nvPr/>
        </p:nvSpPr>
        <p:spPr>
          <a:xfrm>
            <a:off x="868680" y="1572768"/>
            <a:ext cx="448056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Proletariat</a:t>
            </a:r>
            <a:endParaRPr lang="en-US" sz="1400" dirty="0"/>
          </a:p>
        </p:txBody>
      </p:sp>
      <p:sp>
        <p:nvSpPr>
          <p:cNvPr id="7" name="Text 5"/>
          <p:cNvSpPr txBox="1"/>
          <p:nvPr/>
        </p:nvSpPr>
        <p:spPr>
          <a:xfrm>
            <a:off x="868680" y="1920240"/>
            <a:ext cx="4480560" cy="9601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La nova classe social creada per la industrialització. Obrers sense cap propietat que vivien del salari que cobraven a canvi del seu treball.</a:t>
            </a:r>
            <a:endParaRPr lang="en-US" sz="1500" dirty="0"/>
          </a:p>
        </p:txBody>
      </p:sp>
      <p:sp>
        <p:nvSpPr>
          <p:cNvPr id="8" name="Text 6"/>
          <p:cNvSpPr txBox="1"/>
          <p:nvPr/>
        </p:nvSpPr>
        <p:spPr>
          <a:xfrm>
            <a:off x="548640" y="3246120"/>
            <a:ext cx="5120640" cy="365760"/>
          </a:xfrm>
          <a:prstGeom prst="rect">
            <a:avLst/>
          </a:prstGeom>
          <a:noFill/>
          <a:ln/>
        </p:spPr>
        <p:txBody>
          <a:bodyPr wrap="square" lIns="0" tIns="0" rIns="0" bIns="0" rtlCol="0" anchor="t"/>
          <a:lstStyle/>
          <a:p>
            <a:pPr indent="0" marL="0">
              <a:buNone/>
            </a:pPr>
            <a:r>
              <a:rPr lang="en-US" sz="1700" b="1" dirty="0">
                <a:solidFill>
                  <a:srgbClr val="202124"/>
                </a:solidFill>
                <a:latin typeface="Roboto" pitchFamily="34" charset="0"/>
                <a:ea typeface="Roboto" pitchFamily="34" charset="-122"/>
                <a:cs typeface="Roboto" pitchFamily="34" charset="-120"/>
              </a:rPr>
              <a:t>Unes condicions de vida duríssimes</a:t>
            </a:r>
            <a:endParaRPr lang="en-US" sz="1700" dirty="0"/>
          </a:p>
        </p:txBody>
      </p:sp>
      <p:sp>
        <p:nvSpPr>
          <p:cNvPr id="9" name="Text 7"/>
          <p:cNvSpPr txBox="1"/>
          <p:nvPr/>
        </p:nvSpPr>
        <p:spPr>
          <a:xfrm>
            <a:off x="548640" y="3657600"/>
            <a:ext cx="5120640" cy="219456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202124"/>
                </a:solidFill>
                <a:latin typeface="Roboto" pitchFamily="34" charset="0"/>
                <a:ea typeface="Roboto" pitchFamily="34" charset="-122"/>
                <a:cs typeface="Roboto" pitchFamily="34" charset="-120"/>
              </a:rPr>
              <a:t>Jornades de dotze a catorze hores, sovint també en diumenge.</a:t>
            </a:r>
            <a:endParaRPr lang="en-US" sz="1500" dirty="0"/>
          </a:p>
          <a:p>
            <a:pPr marL="203200" indent="-203200">
              <a:spcAft>
                <a:spcPts val="400"/>
              </a:spcAft>
              <a:buSzPct val="100000"/>
              <a:buChar char="•"/>
            </a:pPr>
            <a:r>
              <a:rPr lang="en-US" sz="1500" dirty="0">
                <a:solidFill>
                  <a:srgbClr val="202124"/>
                </a:solidFill>
                <a:latin typeface="Roboto" pitchFamily="34" charset="0"/>
                <a:ea typeface="Roboto" pitchFamily="34" charset="-122"/>
                <a:cs typeface="Roboto" pitchFamily="34" charset="-120"/>
              </a:rPr>
              <a:t>Salaris que amb prou feines cobrien el menjar.</a:t>
            </a:r>
            <a:endParaRPr lang="en-US" sz="1500" dirty="0"/>
          </a:p>
          <a:p>
            <a:pPr marL="203200" indent="-203200">
              <a:spcAft>
                <a:spcPts val="400"/>
              </a:spcAft>
              <a:buSzPct val="100000"/>
              <a:buChar char="•"/>
            </a:pPr>
            <a:r>
              <a:rPr lang="en-US" sz="1500" dirty="0">
                <a:solidFill>
                  <a:srgbClr val="202124"/>
                </a:solidFill>
                <a:latin typeface="Roboto" pitchFamily="34" charset="0"/>
                <a:ea typeface="Roboto" pitchFamily="34" charset="-122"/>
                <a:cs typeface="Roboto" pitchFamily="34" charset="-120"/>
              </a:rPr>
              <a:t>Habitatges petits, foscos i insalubres.</a:t>
            </a:r>
            <a:endParaRPr lang="en-US" sz="1500" dirty="0"/>
          </a:p>
          <a:p>
            <a:pPr marL="203200" indent="-203200">
              <a:spcAft>
                <a:spcPts val="400"/>
              </a:spcAft>
              <a:buSzPct val="100000"/>
              <a:buChar char="•"/>
            </a:pPr>
            <a:r>
              <a:rPr lang="en-US" sz="1500" dirty="0">
                <a:solidFill>
                  <a:srgbClr val="202124"/>
                </a:solidFill>
                <a:latin typeface="Roboto" pitchFamily="34" charset="0"/>
                <a:ea typeface="Roboto" pitchFamily="34" charset="-122"/>
                <a:cs typeface="Roboto" pitchFamily="34" charset="-120"/>
              </a:rPr>
              <a:t>Cap indemnització si patien un accident de treball.</a:t>
            </a:r>
            <a:endParaRPr lang="en-US" sz="1500" dirty="0"/>
          </a:p>
          <a:p>
            <a:pPr marL="203200" indent="-203200">
              <a:spcAft>
                <a:spcPts val="400"/>
              </a:spcAft>
              <a:buSzPct val="100000"/>
              <a:buChar char="•"/>
            </a:pPr>
            <a:r>
              <a:rPr lang="en-US" sz="1500" dirty="0">
                <a:solidFill>
                  <a:srgbClr val="202124"/>
                </a:solidFill>
                <a:latin typeface="Roboto" pitchFamily="34" charset="0"/>
                <a:ea typeface="Roboto" pitchFamily="34" charset="-122"/>
                <a:cs typeface="Roboto" pitchFamily="34" charset="-120"/>
              </a:rPr>
              <a:t>Dones i infants feien la mateixa feina per menys sou.</a:t>
            </a:r>
            <a:endParaRPr lang="en-US" sz="1500" dirty="0"/>
          </a:p>
        </p:txBody>
      </p:sp>
      <p:sp>
        <p:nvSpPr>
          <p:cNvPr id="10" name="Text 8"/>
          <p:cNvSpPr txBox="1"/>
          <p:nvPr/>
        </p:nvSpPr>
        <p:spPr>
          <a:xfrm>
            <a:off x="6172200" y="1417320"/>
            <a:ext cx="5486400" cy="365760"/>
          </a:xfrm>
          <a:prstGeom prst="rect">
            <a:avLst/>
          </a:prstGeom>
          <a:noFill/>
          <a:ln/>
        </p:spPr>
        <p:txBody>
          <a:bodyPr wrap="square" lIns="0" tIns="0" rIns="0" bIns="0" rtlCol="0" anchor="t"/>
          <a:lstStyle/>
          <a:p>
            <a:pPr indent="0" marL="0">
              <a:buNone/>
            </a:pPr>
            <a:r>
              <a:rPr lang="en-US" sz="1700" b="1" dirty="0">
                <a:solidFill>
                  <a:srgbClr val="202124"/>
                </a:solidFill>
                <a:latin typeface="Roboto" pitchFamily="34" charset="0"/>
                <a:ea typeface="Roboto" pitchFamily="34" charset="-122"/>
                <a:cs typeface="Roboto" pitchFamily="34" charset="-120"/>
              </a:rPr>
              <a:t>De la clandestinitat a la legalitat</a:t>
            </a:r>
            <a:endParaRPr lang="en-US" sz="1700" dirty="0"/>
          </a:p>
        </p:txBody>
      </p:sp>
      <p:sp>
        <p:nvSpPr>
          <p:cNvPr id="11" name="Línia del temps"/>
          <p:cNvSpPr/>
          <p:nvPr/>
        </p:nvSpPr>
        <p:spPr>
          <a:xfrm>
            <a:off x="6272784" y="2103120"/>
            <a:ext cx="0" cy="1554480"/>
          </a:xfrm>
          <a:prstGeom prst="line">
            <a:avLst/>
          </a:prstGeom>
          <a:noFill/>
          <a:ln w="31750">
            <a:solidFill>
              <a:srgbClr val="DADCE0"/>
            </a:solidFill>
            <a:prstDash val="solid"/>
          </a:ln>
        </p:spPr>
      </p:sp>
      <p:sp>
        <p:nvSpPr>
          <p:cNvPr id="12" name="Fita Primers anys"/>
          <p:cNvSpPr/>
          <p:nvPr/>
        </p:nvSpPr>
        <p:spPr>
          <a:xfrm>
            <a:off x="6172200" y="2002536"/>
            <a:ext cx="201168" cy="201168"/>
          </a:xfrm>
          <a:prstGeom prst="ellipse">
            <a:avLst/>
          </a:prstGeom>
          <a:solidFill>
            <a:srgbClr val="FFFFFF"/>
          </a:solidFill>
          <a:ln w="28575">
            <a:solidFill>
              <a:srgbClr val="B80672"/>
            </a:solidFill>
            <a:prstDash val="solid"/>
          </a:ln>
        </p:spPr>
      </p:sp>
      <p:sp>
        <p:nvSpPr>
          <p:cNvPr id="13" name="Text 11"/>
          <p:cNvSpPr txBox="1"/>
          <p:nvPr/>
        </p:nvSpPr>
        <p:spPr>
          <a:xfrm>
            <a:off x="6556248" y="1965960"/>
            <a:ext cx="132588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Primers anys</a:t>
            </a:r>
            <a:endParaRPr lang="en-US" sz="1450" dirty="0"/>
          </a:p>
        </p:txBody>
      </p:sp>
      <p:sp>
        <p:nvSpPr>
          <p:cNvPr id="14" name="Text 12"/>
          <p:cNvSpPr txBox="1"/>
          <p:nvPr/>
        </p:nvSpPr>
        <p:spPr>
          <a:xfrm>
            <a:off x="7882128" y="1965960"/>
            <a:ext cx="3760927" cy="7315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Les organitzacions obreres actuen en la clandestinitat.</a:t>
            </a:r>
            <a:endParaRPr lang="en-US" sz="1450" dirty="0"/>
          </a:p>
        </p:txBody>
      </p:sp>
      <p:sp>
        <p:nvSpPr>
          <p:cNvPr id="15" name="Fita 1881"/>
          <p:cNvSpPr/>
          <p:nvPr/>
        </p:nvSpPr>
        <p:spPr>
          <a:xfrm>
            <a:off x="6172200" y="2779776"/>
            <a:ext cx="201168" cy="201168"/>
          </a:xfrm>
          <a:prstGeom prst="ellipse">
            <a:avLst/>
          </a:prstGeom>
          <a:solidFill>
            <a:srgbClr val="FFFFFF"/>
          </a:solidFill>
          <a:ln w="28575">
            <a:solidFill>
              <a:srgbClr val="B80672"/>
            </a:solidFill>
            <a:prstDash val="solid"/>
          </a:ln>
        </p:spPr>
      </p:sp>
      <p:sp>
        <p:nvSpPr>
          <p:cNvPr id="16" name="Text 14"/>
          <p:cNvSpPr txBox="1"/>
          <p:nvPr/>
        </p:nvSpPr>
        <p:spPr>
          <a:xfrm>
            <a:off x="6556248" y="2743200"/>
            <a:ext cx="132588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1881</a:t>
            </a:r>
            <a:endParaRPr lang="en-US" sz="1450" dirty="0"/>
          </a:p>
        </p:txBody>
      </p:sp>
      <p:sp>
        <p:nvSpPr>
          <p:cNvPr id="17" name="Text 15"/>
          <p:cNvSpPr txBox="1"/>
          <p:nvPr/>
        </p:nvSpPr>
        <p:spPr>
          <a:xfrm>
            <a:off x="7882128" y="2743200"/>
            <a:ext cx="3760927" cy="7315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Els governs liberals de Sagasta en toleren l'activitat.</a:t>
            </a:r>
            <a:endParaRPr lang="en-US" sz="1450" dirty="0"/>
          </a:p>
        </p:txBody>
      </p:sp>
      <p:sp>
        <p:nvSpPr>
          <p:cNvPr id="18" name="Fita 1887"/>
          <p:cNvSpPr/>
          <p:nvPr/>
        </p:nvSpPr>
        <p:spPr>
          <a:xfrm>
            <a:off x="6172200" y="3557016"/>
            <a:ext cx="201168" cy="201168"/>
          </a:xfrm>
          <a:prstGeom prst="ellipse">
            <a:avLst/>
          </a:prstGeom>
          <a:solidFill>
            <a:srgbClr val="B80672"/>
          </a:solidFill>
          <a:ln w="28575">
            <a:solidFill>
              <a:srgbClr val="B80672"/>
            </a:solidFill>
            <a:prstDash val="solid"/>
          </a:ln>
        </p:spPr>
      </p:sp>
      <p:sp>
        <p:nvSpPr>
          <p:cNvPr id="19" name="Text 17"/>
          <p:cNvSpPr txBox="1"/>
          <p:nvPr/>
        </p:nvSpPr>
        <p:spPr>
          <a:xfrm>
            <a:off x="6556248" y="3520440"/>
            <a:ext cx="132588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1887</a:t>
            </a:r>
            <a:endParaRPr lang="en-US" sz="1450" dirty="0"/>
          </a:p>
        </p:txBody>
      </p:sp>
      <p:sp>
        <p:nvSpPr>
          <p:cNvPr id="20" name="Text 18"/>
          <p:cNvSpPr txBox="1"/>
          <p:nvPr/>
        </p:nvSpPr>
        <p:spPr>
          <a:xfrm>
            <a:off x="7882128" y="3520440"/>
            <a:ext cx="3760927" cy="7315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La llei d'associacions en permet la legalització.</a:t>
            </a:r>
            <a:endParaRPr lang="en-US" sz="1450" dirty="0"/>
          </a:p>
        </p:txBody>
      </p:sp>
      <p:sp>
        <p:nvSpPr>
          <p:cNvPr id="21" name="Un objectiu, dos camins"/>
          <p:cNvSpPr/>
          <p:nvPr/>
        </p:nvSpPr>
        <p:spPr>
          <a:xfrm>
            <a:off x="6172200" y="4434840"/>
            <a:ext cx="5470855" cy="1554480"/>
          </a:xfrm>
          <a:prstGeom prst="roundRect">
            <a:avLst>
              <a:gd name="adj" fmla="val 6471"/>
            </a:avLst>
          </a:prstGeom>
          <a:solidFill>
            <a:srgbClr val="FDE7F3"/>
          </a:solidFill>
          <a:ln/>
        </p:spPr>
      </p:sp>
      <p:sp>
        <p:nvSpPr>
          <p:cNvPr id="22" name="Text 20"/>
          <p:cNvSpPr txBox="1"/>
          <p:nvPr/>
        </p:nvSpPr>
        <p:spPr>
          <a:xfrm>
            <a:off x="6492240" y="4590288"/>
            <a:ext cx="483077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Un objectiu, dos camins</a:t>
            </a:r>
            <a:endParaRPr lang="en-US" sz="1400" dirty="0"/>
          </a:p>
        </p:txBody>
      </p:sp>
      <p:sp>
        <p:nvSpPr>
          <p:cNvPr id="23" name="Text 21"/>
          <p:cNvSpPr txBox="1"/>
          <p:nvPr/>
        </p:nvSpPr>
        <p:spPr>
          <a:xfrm>
            <a:off x="6492240" y="4937760"/>
            <a:ext cx="4830775" cy="91440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 moviment obrer volia una societat sense classes socials, però es va dividir en dos grans corrents que volien arribar-hi per camins diferents.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socialisme i l'anarquisme, dos camins diferents</a:t>
            </a:r>
            <a:endParaRPr lang="en-US" sz="2800" dirty="0"/>
          </a:p>
        </p:txBody>
      </p:sp>
      <p:sp>
        <p:nvSpPr>
          <p:cNvPr id="5" name="Socialisme marxista"/>
          <p:cNvSpPr/>
          <p:nvPr/>
        </p:nvSpPr>
        <p:spPr>
          <a:xfrm>
            <a:off x="548640" y="1417320"/>
            <a:ext cx="4160520" cy="4526280"/>
          </a:xfrm>
          <a:prstGeom prst="roundRect">
            <a:avLst>
              <a:gd name="adj" fmla="val 2418"/>
            </a:avLst>
          </a:prstGeom>
          <a:solidFill>
            <a:srgbClr val="FFFFFF"/>
          </a:solidFill>
          <a:ln w="12700">
            <a:solidFill>
              <a:srgbClr val="DADCE0"/>
            </a:solidFill>
            <a:prstDash val="solid"/>
          </a:ln>
        </p:spPr>
      </p:sp>
      <p:sp>
        <p:nvSpPr>
          <p:cNvPr id="6" name="Text 4"/>
          <p:cNvSpPr txBox="1"/>
          <p:nvPr/>
        </p:nvSpPr>
        <p:spPr>
          <a:xfrm>
            <a:off x="822960" y="1600200"/>
            <a:ext cx="3611880" cy="365760"/>
          </a:xfrm>
          <a:prstGeom prst="rect">
            <a:avLst/>
          </a:prstGeom>
          <a:noFill/>
          <a:ln/>
        </p:spPr>
        <p:txBody>
          <a:bodyPr wrap="square" lIns="0" tIns="0" rIns="0" bIns="0" rtlCol="0" anchor="t"/>
          <a:lstStyle/>
          <a:p>
            <a:pPr indent="0" marL="0">
              <a:buNone/>
            </a:pPr>
            <a:r>
              <a:rPr lang="en-US" sz="1900" b="1" dirty="0">
                <a:solidFill>
                  <a:srgbClr val="B80672"/>
                </a:solidFill>
                <a:latin typeface="Roboto" pitchFamily="34" charset="0"/>
                <a:ea typeface="Roboto" pitchFamily="34" charset="-122"/>
                <a:cs typeface="Roboto" pitchFamily="34" charset="-120"/>
              </a:rPr>
              <a:t>Socialisme marxista</a:t>
            </a:r>
            <a:endParaRPr lang="en-US" sz="1900" dirty="0"/>
          </a:p>
        </p:txBody>
      </p:sp>
      <p:sp>
        <p:nvSpPr>
          <p:cNvPr id="7" name="Text 5"/>
          <p:cNvSpPr txBox="1"/>
          <p:nvPr/>
        </p:nvSpPr>
        <p:spPr>
          <a:xfrm>
            <a:off x="822960" y="2011680"/>
            <a:ext cx="3611880" cy="548640"/>
          </a:xfrm>
          <a:prstGeom prst="rect">
            <a:avLst/>
          </a:prstGeom>
          <a:noFill/>
          <a:ln/>
        </p:spPr>
        <p:txBody>
          <a:bodyPr wrap="square" lIns="0" tIns="0" rIns="0" bIns="0" rtlCol="0" anchor="t"/>
          <a:lstStyle/>
          <a:p>
            <a:pPr indent="0" marL="0">
              <a:buNone/>
            </a:pPr>
            <a:r>
              <a:rPr lang="en-US" sz="1450" b="1" dirty="0">
                <a:solidFill>
                  <a:srgbClr val="202124"/>
                </a:solidFill>
                <a:latin typeface="Roboto" pitchFamily="34" charset="0"/>
                <a:ea typeface="Roboto" pitchFamily="34" charset="-122"/>
                <a:cs typeface="Roboto" pitchFamily="34" charset="-120"/>
              </a:rPr>
              <a:t>Inspirat en Karl Marx. Volia conquerir l'Estat.</a:t>
            </a:r>
            <a:endParaRPr lang="en-US" sz="1450" dirty="0"/>
          </a:p>
        </p:txBody>
      </p:sp>
      <p:sp>
        <p:nvSpPr>
          <p:cNvPr id="8" name="Text 6"/>
          <p:cNvSpPr txBox="1"/>
          <p:nvPr/>
        </p:nvSpPr>
        <p:spPr>
          <a:xfrm>
            <a:off x="822960" y="2606040"/>
            <a:ext cx="3611880" cy="320040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Un partit obrer a les eleccions i un sindicat per a millores concretes.</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PSOE (1879, Pablo Iglesias) i UGT (1888, Barcelona).</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Jornada de vuit hores i primer Primer de Maig (1890).</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Cap diputat fins al 1910. Fort a Madrid, Biscaia i Astúries.</a:t>
            </a:r>
            <a:endParaRPr lang="en-US" sz="1450" dirty="0"/>
          </a:p>
        </p:txBody>
      </p:sp>
      <p:sp>
        <p:nvSpPr>
          <p:cNvPr id="9" name="Anarquisme"/>
          <p:cNvSpPr/>
          <p:nvPr/>
        </p:nvSpPr>
        <p:spPr>
          <a:xfrm>
            <a:off x="4983480" y="1417320"/>
            <a:ext cx="4160520" cy="4526280"/>
          </a:xfrm>
          <a:prstGeom prst="roundRect">
            <a:avLst>
              <a:gd name="adj" fmla="val 2418"/>
            </a:avLst>
          </a:prstGeom>
          <a:solidFill>
            <a:srgbClr val="FFFFFF"/>
          </a:solidFill>
          <a:ln w="12700">
            <a:solidFill>
              <a:srgbClr val="DADCE0"/>
            </a:solidFill>
            <a:prstDash val="solid"/>
          </a:ln>
        </p:spPr>
      </p:sp>
      <p:sp>
        <p:nvSpPr>
          <p:cNvPr id="10" name="Text 8"/>
          <p:cNvSpPr txBox="1"/>
          <p:nvPr/>
        </p:nvSpPr>
        <p:spPr>
          <a:xfrm>
            <a:off x="5257800" y="1600200"/>
            <a:ext cx="3611880" cy="365760"/>
          </a:xfrm>
          <a:prstGeom prst="rect">
            <a:avLst/>
          </a:prstGeom>
          <a:noFill/>
          <a:ln/>
        </p:spPr>
        <p:txBody>
          <a:bodyPr wrap="square" lIns="0" tIns="0" rIns="0" bIns="0" rtlCol="0" anchor="t"/>
          <a:lstStyle/>
          <a:p>
            <a:pPr indent="0" marL="0">
              <a:buNone/>
            </a:pPr>
            <a:r>
              <a:rPr lang="en-US" sz="1900" b="1" dirty="0">
                <a:solidFill>
                  <a:srgbClr val="B80672"/>
                </a:solidFill>
                <a:latin typeface="Roboto" pitchFamily="34" charset="0"/>
                <a:ea typeface="Roboto" pitchFamily="34" charset="-122"/>
                <a:cs typeface="Roboto" pitchFamily="34" charset="-120"/>
              </a:rPr>
              <a:t>Anarquisme</a:t>
            </a:r>
            <a:endParaRPr lang="en-US" sz="1900" dirty="0"/>
          </a:p>
        </p:txBody>
      </p:sp>
      <p:sp>
        <p:nvSpPr>
          <p:cNvPr id="11" name="Text 9"/>
          <p:cNvSpPr txBox="1"/>
          <p:nvPr/>
        </p:nvSpPr>
        <p:spPr>
          <a:xfrm>
            <a:off x="5257800" y="2011680"/>
            <a:ext cx="3611880" cy="548640"/>
          </a:xfrm>
          <a:prstGeom prst="rect">
            <a:avLst/>
          </a:prstGeom>
          <a:noFill/>
          <a:ln/>
        </p:spPr>
        <p:txBody>
          <a:bodyPr wrap="square" lIns="0" tIns="0" rIns="0" bIns="0" rtlCol="0" anchor="t"/>
          <a:lstStyle/>
          <a:p>
            <a:pPr indent="0" marL="0">
              <a:buNone/>
            </a:pPr>
            <a:r>
              <a:rPr lang="en-US" sz="1450" b="1" dirty="0">
                <a:solidFill>
                  <a:srgbClr val="202124"/>
                </a:solidFill>
                <a:latin typeface="Roboto" pitchFamily="34" charset="0"/>
                <a:ea typeface="Roboto" pitchFamily="34" charset="-122"/>
                <a:cs typeface="Roboto" pitchFamily="34" charset="-120"/>
              </a:rPr>
              <a:t>Inspirat en Mikhaïl Bakunin. Volia destruir l'Estat.</a:t>
            </a:r>
            <a:endParaRPr lang="en-US" sz="1450" dirty="0"/>
          </a:p>
        </p:txBody>
      </p:sp>
      <p:sp>
        <p:nvSpPr>
          <p:cNvPr id="12" name="Text 10"/>
          <p:cNvSpPr txBox="1"/>
          <p:nvPr/>
        </p:nvSpPr>
        <p:spPr>
          <a:xfrm>
            <a:off x="5257800" y="2606040"/>
            <a:ext cx="3611880" cy="320040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Qualsevol poder oprimia les persones.</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Acció directa (vagues, boicots i sabotatges) en lloc de les eleccions.</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Una societat organitzada en comunes lliures.</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Arriba el 1868 amb Giuseppe Fanelli. Fort entre els obrers catalans i els jornalers andalusos.</a:t>
            </a:r>
            <a:endParaRPr lang="en-US" sz="1450" dirty="0"/>
          </a:p>
        </p:txBody>
      </p:sp>
      <p:sp>
        <p:nvSpPr>
          <p:cNvPr id="13" name="Fons Pablo Iglesias, fundador del PSOE"/>
          <p:cNvSpPr/>
          <p:nvPr/>
        </p:nvSpPr>
        <p:spPr>
          <a:xfrm>
            <a:off x="9464040" y="1417320"/>
            <a:ext cx="2179015" cy="3204434"/>
          </a:xfrm>
          <a:prstGeom prst="roundRect">
            <a:avLst>
              <a:gd name="adj" fmla="val 4616"/>
            </a:avLst>
          </a:prstGeom>
          <a:solidFill>
            <a:srgbClr val="F6F8FB"/>
          </a:solidFill>
          <a:ln/>
        </p:spPr>
      </p:sp>
      <p:pic>
        <p:nvPicPr>
          <p:cNvPr id="14" name="Pablo Iglesias, fundador del PSOE" descr="/home/claude/historia-2batx/media/tema-1/iglesias.jpg">    </p:cNvPr>
          <p:cNvPicPr>
            <a:picLocks noChangeAspect="1"/>
          </p:cNvPicPr>
          <p:nvPr/>
        </p:nvPicPr>
        <p:blipFill>
          <a:blip r:embed="rId1"/>
          <a:stretch>
            <a:fillRect/>
          </a:stretch>
        </p:blipFill>
        <p:spPr>
          <a:xfrm>
            <a:off x="9464040" y="1417320"/>
            <a:ext cx="2179015" cy="3204434"/>
          </a:xfrm>
          <a:prstGeom prst="rect">
            <a:avLst/>
          </a:prstGeom>
        </p:spPr>
      </p:pic>
      <p:sp>
        <p:nvSpPr>
          <p:cNvPr id="15" name="Text 12"/>
          <p:cNvSpPr txBox="1"/>
          <p:nvPr/>
        </p:nvSpPr>
        <p:spPr>
          <a:xfrm>
            <a:off x="9464040" y="4713194"/>
            <a:ext cx="21790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Pablo Iglesias, fundador del PSOE. Fotografia de Roca, cap al 1910, Biblioteca Nacional de España, CC BY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propaganda pel fet i la repressió</a:t>
            </a:r>
            <a:endParaRPr lang="en-US" sz="2800" dirty="0"/>
          </a:p>
        </p:txBody>
      </p:sp>
      <p:sp>
        <p:nvSpPr>
          <p:cNvPr id="5" name="Propaganda pel fet"/>
          <p:cNvSpPr/>
          <p:nvPr/>
        </p:nvSpPr>
        <p:spPr>
          <a:xfrm>
            <a:off x="548640" y="1417320"/>
            <a:ext cx="4206240" cy="2103120"/>
          </a:xfrm>
          <a:prstGeom prst="roundRect">
            <a:avLst>
              <a:gd name="adj" fmla="val 4783"/>
            </a:avLst>
          </a:prstGeom>
          <a:solidFill>
            <a:srgbClr val="FDE7F3"/>
          </a:solidFill>
          <a:ln/>
        </p:spPr>
      </p:sp>
      <p:sp>
        <p:nvSpPr>
          <p:cNvPr id="6" name="Text 4"/>
          <p:cNvSpPr txBox="1"/>
          <p:nvPr/>
        </p:nvSpPr>
        <p:spPr>
          <a:xfrm>
            <a:off x="868680" y="1572768"/>
            <a:ext cx="356616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Propaganda pel fet</a:t>
            </a:r>
            <a:endParaRPr lang="en-US" sz="1400" dirty="0"/>
          </a:p>
        </p:txBody>
      </p:sp>
      <p:sp>
        <p:nvSpPr>
          <p:cNvPr id="7" name="Text 5"/>
          <p:cNvSpPr txBox="1"/>
          <p:nvPr/>
        </p:nvSpPr>
        <p:spPr>
          <a:xfrm>
            <a:off x="868680" y="1920240"/>
            <a:ext cx="3566160" cy="14630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Atemptats d'una minoria anarquista contra personalitats o llocs que simbolitzaven el poder de la burgesia, amb la idea que la violència despertaria la revolució.</a:t>
            </a:r>
            <a:endParaRPr lang="en-US" sz="1500" dirty="0"/>
          </a:p>
        </p:txBody>
      </p:sp>
      <p:sp>
        <p:nvSpPr>
          <p:cNvPr id="8" name="Text 6"/>
          <p:cNvSpPr txBox="1"/>
          <p:nvPr/>
        </p:nvSpPr>
        <p:spPr>
          <a:xfrm>
            <a:off x="548640" y="3657600"/>
            <a:ext cx="4206240" cy="731520"/>
          </a:xfrm>
          <a:prstGeom prst="rect">
            <a:avLst/>
          </a:prstGeom>
          <a:noFill/>
          <a:ln/>
        </p:spPr>
        <p:txBody>
          <a:bodyPr wrap="square" lIns="0" tIns="0" rIns="0" bIns="0" rtlCol="0" anchor="t"/>
          <a:lstStyle/>
          <a:p>
            <a:pPr indent="0" marL="0">
              <a:buNone/>
            </a:pPr>
            <a:r>
              <a:rPr lang="en-US" sz="1600" b="1" dirty="0">
                <a:solidFill>
                  <a:srgbClr val="B80672"/>
                </a:solidFill>
                <a:latin typeface="Roboto" pitchFamily="34" charset="0"/>
                <a:ea typeface="Roboto" pitchFamily="34" charset="-122"/>
                <a:cs typeface="Roboto" pitchFamily="34" charset="-120"/>
              </a:rPr>
              <a:t>Barcelona es va convertir en la «ciutat de les bombes».</a:t>
            </a:r>
            <a:endParaRPr lang="en-US" sz="1600" dirty="0"/>
          </a:p>
        </p:txBody>
      </p:sp>
      <p:sp>
        <p:nvSpPr>
          <p:cNvPr id="9" name="Línia del temps"/>
          <p:cNvSpPr/>
          <p:nvPr/>
        </p:nvSpPr>
        <p:spPr>
          <a:xfrm>
            <a:off x="5221224" y="1600200"/>
            <a:ext cx="0" cy="3364992"/>
          </a:xfrm>
          <a:prstGeom prst="line">
            <a:avLst/>
          </a:prstGeom>
          <a:noFill/>
          <a:ln w="31750">
            <a:solidFill>
              <a:srgbClr val="DADCE0"/>
            </a:solidFill>
            <a:prstDash val="solid"/>
          </a:ln>
        </p:spPr>
      </p:sp>
      <p:sp>
        <p:nvSpPr>
          <p:cNvPr id="10" name="Fita Setembre 1893"/>
          <p:cNvSpPr/>
          <p:nvPr/>
        </p:nvSpPr>
        <p:spPr>
          <a:xfrm>
            <a:off x="5120640" y="1499616"/>
            <a:ext cx="201168" cy="201168"/>
          </a:xfrm>
          <a:prstGeom prst="ellipse">
            <a:avLst/>
          </a:prstGeom>
          <a:solidFill>
            <a:srgbClr val="FFFFFF"/>
          </a:solidFill>
          <a:ln w="28575">
            <a:solidFill>
              <a:srgbClr val="B80672"/>
            </a:solidFill>
            <a:prstDash val="solid"/>
          </a:ln>
        </p:spPr>
      </p:sp>
      <p:sp>
        <p:nvSpPr>
          <p:cNvPr id="11" name="Text 9"/>
          <p:cNvSpPr txBox="1"/>
          <p:nvPr/>
        </p:nvSpPr>
        <p:spPr>
          <a:xfrm>
            <a:off x="5504688" y="1463040"/>
            <a:ext cx="160020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Setembre 1893</a:t>
            </a:r>
            <a:endParaRPr lang="en-US" sz="1400" dirty="0"/>
          </a:p>
        </p:txBody>
      </p:sp>
      <p:sp>
        <p:nvSpPr>
          <p:cNvPr id="12" name="Text 10"/>
          <p:cNvSpPr txBox="1"/>
          <p:nvPr/>
        </p:nvSpPr>
        <p:spPr>
          <a:xfrm>
            <a:off x="7104888" y="1463040"/>
            <a:ext cx="4538167" cy="795528"/>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Paulí Pallàs atempta contra el capità general Martínez Campos i és executat.</a:t>
            </a:r>
            <a:endParaRPr lang="en-US" sz="1400" dirty="0"/>
          </a:p>
        </p:txBody>
      </p:sp>
      <p:sp>
        <p:nvSpPr>
          <p:cNvPr id="13" name="Fita 7-11-1893"/>
          <p:cNvSpPr/>
          <p:nvPr/>
        </p:nvSpPr>
        <p:spPr>
          <a:xfrm>
            <a:off x="5120640" y="2340864"/>
            <a:ext cx="201168" cy="201168"/>
          </a:xfrm>
          <a:prstGeom prst="ellipse">
            <a:avLst/>
          </a:prstGeom>
          <a:solidFill>
            <a:srgbClr val="FFFFFF"/>
          </a:solidFill>
          <a:ln w="28575">
            <a:solidFill>
              <a:srgbClr val="B80672"/>
            </a:solidFill>
            <a:prstDash val="solid"/>
          </a:ln>
        </p:spPr>
      </p:sp>
      <p:sp>
        <p:nvSpPr>
          <p:cNvPr id="14" name="Text 12"/>
          <p:cNvSpPr txBox="1"/>
          <p:nvPr/>
        </p:nvSpPr>
        <p:spPr>
          <a:xfrm>
            <a:off x="5504688" y="2304288"/>
            <a:ext cx="160020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7-11-1893</a:t>
            </a:r>
            <a:endParaRPr lang="en-US" sz="1400" dirty="0"/>
          </a:p>
        </p:txBody>
      </p:sp>
      <p:sp>
        <p:nvSpPr>
          <p:cNvPr id="15" name="Text 13"/>
          <p:cNvSpPr txBox="1"/>
          <p:nvPr/>
        </p:nvSpPr>
        <p:spPr>
          <a:xfrm>
            <a:off x="7104888" y="2304288"/>
            <a:ext cx="4538167" cy="795528"/>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Santiago Salvador llança dues bombes al Liceu i en mata una vintena de persones.</a:t>
            </a:r>
            <a:endParaRPr lang="en-US" sz="1400" dirty="0"/>
          </a:p>
        </p:txBody>
      </p:sp>
      <p:sp>
        <p:nvSpPr>
          <p:cNvPr id="16" name="Fita 1896"/>
          <p:cNvSpPr/>
          <p:nvPr/>
        </p:nvSpPr>
        <p:spPr>
          <a:xfrm>
            <a:off x="5120640" y="3182112"/>
            <a:ext cx="201168" cy="201168"/>
          </a:xfrm>
          <a:prstGeom prst="ellipse">
            <a:avLst/>
          </a:prstGeom>
          <a:solidFill>
            <a:srgbClr val="FFFFFF"/>
          </a:solidFill>
          <a:ln w="28575">
            <a:solidFill>
              <a:srgbClr val="B80672"/>
            </a:solidFill>
            <a:prstDash val="solid"/>
          </a:ln>
        </p:spPr>
      </p:sp>
      <p:sp>
        <p:nvSpPr>
          <p:cNvPr id="17" name="Text 15"/>
          <p:cNvSpPr txBox="1"/>
          <p:nvPr/>
        </p:nvSpPr>
        <p:spPr>
          <a:xfrm>
            <a:off x="5504688" y="3145536"/>
            <a:ext cx="160020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1896</a:t>
            </a:r>
            <a:endParaRPr lang="en-US" sz="1400" dirty="0"/>
          </a:p>
        </p:txBody>
      </p:sp>
      <p:sp>
        <p:nvSpPr>
          <p:cNvPr id="18" name="Text 16"/>
          <p:cNvSpPr txBox="1"/>
          <p:nvPr/>
        </p:nvSpPr>
        <p:spPr>
          <a:xfrm>
            <a:off x="7104888" y="3145536"/>
            <a:ext cx="4538167" cy="795528"/>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Bomba contra la processó de Corpus al carrer de Canvis Nous, una dotzena de morts.</a:t>
            </a:r>
            <a:endParaRPr lang="en-US" sz="1400" dirty="0"/>
          </a:p>
        </p:txBody>
      </p:sp>
      <p:sp>
        <p:nvSpPr>
          <p:cNvPr id="19" name="Fita 1896-1897"/>
          <p:cNvSpPr/>
          <p:nvPr/>
        </p:nvSpPr>
        <p:spPr>
          <a:xfrm>
            <a:off x="5120640" y="4023360"/>
            <a:ext cx="201168" cy="201168"/>
          </a:xfrm>
          <a:prstGeom prst="ellipse">
            <a:avLst/>
          </a:prstGeom>
          <a:solidFill>
            <a:srgbClr val="FFFFFF"/>
          </a:solidFill>
          <a:ln w="28575">
            <a:solidFill>
              <a:srgbClr val="B80672"/>
            </a:solidFill>
            <a:prstDash val="solid"/>
          </a:ln>
        </p:spPr>
      </p:sp>
      <p:sp>
        <p:nvSpPr>
          <p:cNvPr id="20" name="Text 18"/>
          <p:cNvSpPr txBox="1"/>
          <p:nvPr/>
        </p:nvSpPr>
        <p:spPr>
          <a:xfrm>
            <a:off x="5504688" y="3986784"/>
            <a:ext cx="160020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1896-1897</a:t>
            </a:r>
            <a:endParaRPr lang="en-US" sz="1400" dirty="0"/>
          </a:p>
        </p:txBody>
      </p:sp>
      <p:sp>
        <p:nvSpPr>
          <p:cNvPr id="21" name="Text 19"/>
          <p:cNvSpPr txBox="1"/>
          <p:nvPr/>
        </p:nvSpPr>
        <p:spPr>
          <a:xfrm>
            <a:off x="7104888" y="3986784"/>
            <a:ext cx="4538167" cy="795528"/>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Procés de Montjuïc. Centenars de detencions, tortures i execucions, sovint sense proves.</a:t>
            </a:r>
            <a:endParaRPr lang="en-US" sz="1400" dirty="0"/>
          </a:p>
        </p:txBody>
      </p:sp>
      <p:sp>
        <p:nvSpPr>
          <p:cNvPr id="22" name="Fita 1897"/>
          <p:cNvSpPr/>
          <p:nvPr/>
        </p:nvSpPr>
        <p:spPr>
          <a:xfrm>
            <a:off x="5120640" y="4864608"/>
            <a:ext cx="201168" cy="201168"/>
          </a:xfrm>
          <a:prstGeom prst="ellipse">
            <a:avLst/>
          </a:prstGeom>
          <a:solidFill>
            <a:srgbClr val="B80672"/>
          </a:solidFill>
          <a:ln w="28575">
            <a:solidFill>
              <a:srgbClr val="B80672"/>
            </a:solidFill>
            <a:prstDash val="solid"/>
          </a:ln>
        </p:spPr>
      </p:sp>
      <p:sp>
        <p:nvSpPr>
          <p:cNvPr id="23" name="Text 21"/>
          <p:cNvSpPr txBox="1"/>
          <p:nvPr/>
        </p:nvSpPr>
        <p:spPr>
          <a:xfrm>
            <a:off x="5504688" y="4828032"/>
            <a:ext cx="160020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1897</a:t>
            </a:r>
            <a:endParaRPr lang="en-US" sz="1400" dirty="0"/>
          </a:p>
        </p:txBody>
      </p:sp>
      <p:sp>
        <p:nvSpPr>
          <p:cNvPr id="24" name="Text 22"/>
          <p:cNvSpPr txBox="1"/>
          <p:nvPr/>
        </p:nvSpPr>
        <p:spPr>
          <a:xfrm>
            <a:off x="7104888" y="4828032"/>
            <a:ext cx="4538167" cy="795528"/>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L'anarquista Michele Angiolillo assassina Cánovas.</a:t>
            </a:r>
            <a:endParaRPr lang="en-US" sz="1400" dirty="0"/>
          </a:p>
        </p:txBody>
      </p:sp>
      <p:sp>
        <p:nvSpPr>
          <p:cNvPr id="25" name="Per què és important"/>
          <p:cNvSpPr/>
          <p:nvPr/>
        </p:nvSpPr>
        <p:spPr>
          <a:xfrm>
            <a:off x="548640" y="4343400"/>
            <a:ext cx="4206240" cy="1645920"/>
          </a:xfrm>
          <a:prstGeom prst="roundRect">
            <a:avLst>
              <a:gd name="adj" fmla="val 6111"/>
            </a:avLst>
          </a:prstGeom>
          <a:solidFill>
            <a:srgbClr val="F6F8FB"/>
          </a:solidFill>
          <a:ln/>
        </p:spPr>
      </p:sp>
      <p:sp>
        <p:nvSpPr>
          <p:cNvPr id="26" name="Text 24"/>
          <p:cNvSpPr txBox="1"/>
          <p:nvPr/>
        </p:nvSpPr>
        <p:spPr>
          <a:xfrm>
            <a:off x="868680" y="4498848"/>
            <a:ext cx="356616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Per què és important</a:t>
            </a:r>
            <a:endParaRPr lang="en-US" sz="1400" dirty="0"/>
          </a:p>
        </p:txBody>
      </p:sp>
      <p:sp>
        <p:nvSpPr>
          <p:cNvPr id="27" name="Text 25"/>
          <p:cNvSpPr txBox="1"/>
          <p:nvPr/>
        </p:nvSpPr>
        <p:spPr>
          <a:xfrm>
            <a:off x="868680" y="4846320"/>
            <a:ext cx="3566160" cy="10058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Un sistema que tancava l'accés al poder i responia als conflictes socials amb la força va alimentar la radicalització d'una part del moviment obrer.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Apartat 2 a la PAU</a:t>
            </a:r>
            <a:endParaRPr lang="en-US" sz="2800" dirty="0"/>
          </a:p>
        </p:txBody>
      </p:sp>
      <p:sp>
        <p:nvSpPr>
          <p:cNvPr id="5" name="Text 3"/>
          <p:cNvSpPr txBox="1"/>
          <p:nvPr/>
        </p:nvSpPr>
        <p:spPr>
          <a:xfrm>
            <a:off x="548640" y="1371600"/>
            <a:ext cx="2011680" cy="1005840"/>
          </a:xfrm>
          <a:prstGeom prst="rect">
            <a:avLst/>
          </a:prstGeom>
          <a:noFill/>
          <a:ln/>
        </p:spPr>
        <p:txBody>
          <a:bodyPr wrap="square" lIns="0" tIns="0" rIns="0" bIns="0" rtlCol="0" anchor="t"/>
          <a:lstStyle/>
          <a:p>
            <a:pPr indent="0" marL="0">
              <a:buNone/>
            </a:pPr>
            <a:r>
              <a:rPr lang="en-US" sz="6400" b="1" dirty="0">
                <a:solidFill>
                  <a:srgbClr val="B80672"/>
                </a:solidFill>
                <a:latin typeface="Roboto" pitchFamily="34" charset="0"/>
                <a:ea typeface="Roboto" pitchFamily="34" charset="-122"/>
                <a:cs typeface="Roboto" pitchFamily="34" charset="-120"/>
              </a:rPr>
              <a:t>7</a:t>
            </a:r>
            <a:endParaRPr lang="en-US" sz="6400" dirty="0"/>
          </a:p>
        </p:txBody>
      </p:sp>
      <p:sp>
        <p:nvSpPr>
          <p:cNvPr id="6" name="Text 4"/>
          <p:cNvSpPr txBox="1"/>
          <p:nvPr/>
        </p:nvSpPr>
        <p:spPr>
          <a:xfrm>
            <a:off x="548640" y="2395728"/>
            <a:ext cx="3840480" cy="91440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preguntes sobre les condicions de vida obrera (fins al 1898) a les PAU del 2010 al 2024 (model anterior).</a:t>
            </a:r>
            <a:endParaRPr lang="en-US" sz="1500" dirty="0"/>
          </a:p>
        </p:txBody>
      </p:sp>
      <p:sp>
        <p:nvSpPr>
          <p:cNvPr id="7" name="Àmbits del glossari"/>
          <p:cNvSpPr/>
          <p:nvPr/>
        </p:nvSpPr>
        <p:spPr>
          <a:xfrm>
            <a:off x="548640" y="3429000"/>
            <a:ext cx="3840480" cy="2176272"/>
          </a:xfrm>
          <a:prstGeom prst="roundRect">
            <a:avLst>
              <a:gd name="adj" fmla="val 4622"/>
            </a:avLst>
          </a:prstGeom>
          <a:solidFill>
            <a:srgbClr val="F6F8FB"/>
          </a:solidFill>
          <a:ln/>
        </p:spPr>
      </p:sp>
      <p:sp>
        <p:nvSpPr>
          <p:cNvPr id="8" name="Text 6"/>
          <p:cNvSpPr txBox="1"/>
          <p:nvPr/>
        </p:nvSpPr>
        <p:spPr>
          <a:xfrm>
            <a:off x="822960" y="3584448"/>
            <a:ext cx="3291840" cy="292608"/>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Àmbits del glossari</a:t>
            </a:r>
            <a:endParaRPr lang="en-US" sz="1300" dirty="0"/>
          </a:p>
        </p:txBody>
      </p:sp>
      <p:sp>
        <p:nvSpPr>
          <p:cNvPr id="9" name="Text 7"/>
          <p:cNvSpPr txBox="1"/>
          <p:nvPr/>
        </p:nvSpPr>
        <p:spPr>
          <a:xfrm>
            <a:off x="822960" y="3904488"/>
            <a:ext cx="3337560" cy="1627632"/>
          </a:xfrm>
          <a:prstGeom prst="rect">
            <a:avLst/>
          </a:prstGeom>
          <a:noFill/>
          <a:ln/>
        </p:spPr>
        <p:txBody>
          <a:bodyPr wrap="square" lIns="0" tIns="0" rIns="0" bIns="0" rtlCol="0" anchor="t"/>
          <a:lstStyle/>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3. Revolució i revolucionaris. Conflicte social i obrerisme.</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7. Violència política i social (en temps de pau i en temps de guerra).</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10. Centralisme, catalanismes i experiències d’auto-govern.</a:t>
            </a:r>
            <a:endParaRPr lang="en-US" sz="1350" dirty="0"/>
          </a:p>
        </p:txBody>
      </p:sp>
      <p:sp>
        <p:nvSpPr>
          <p:cNvPr id="10" name="Text 8"/>
          <p:cNvSpPr txBox="1"/>
          <p:nvPr/>
        </p:nvSpPr>
        <p:spPr>
          <a:xfrm>
            <a:off x="4846320" y="1417320"/>
            <a:ext cx="6766560" cy="320040"/>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Conceptes clau</a:t>
            </a:r>
            <a:endParaRPr lang="en-US" sz="1300" dirty="0"/>
          </a:p>
        </p:txBody>
      </p:sp>
      <p:sp>
        <p:nvSpPr>
          <p:cNvPr id="11" name="Etiqueta Carlisme"/>
          <p:cNvSpPr/>
          <p:nvPr/>
        </p:nvSpPr>
        <p:spPr>
          <a:xfrm>
            <a:off x="4846320" y="1810512"/>
            <a:ext cx="918058" cy="310896"/>
          </a:xfrm>
          <a:prstGeom prst="roundRect">
            <a:avLst>
              <a:gd name="adj" fmla="val 50000"/>
            </a:avLst>
          </a:prstGeom>
          <a:solidFill>
            <a:srgbClr val="FDE7F3"/>
          </a:solidFill>
          <a:ln/>
        </p:spPr>
      </p:sp>
      <p:sp>
        <p:nvSpPr>
          <p:cNvPr id="12" name="Text 10"/>
          <p:cNvSpPr txBox="1"/>
          <p:nvPr/>
        </p:nvSpPr>
        <p:spPr>
          <a:xfrm>
            <a:off x="4846320" y="1810512"/>
            <a:ext cx="91805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Carlisme</a:t>
            </a:r>
            <a:endParaRPr lang="en-US" sz="1200" dirty="0"/>
          </a:p>
        </p:txBody>
      </p:sp>
      <p:sp>
        <p:nvSpPr>
          <p:cNvPr id="13" name="Etiqueta Republicanisme"/>
          <p:cNvSpPr/>
          <p:nvPr/>
        </p:nvSpPr>
        <p:spPr>
          <a:xfrm>
            <a:off x="5855818" y="1810512"/>
            <a:ext cx="1373429" cy="310896"/>
          </a:xfrm>
          <a:prstGeom prst="roundRect">
            <a:avLst>
              <a:gd name="adj" fmla="val 50000"/>
            </a:avLst>
          </a:prstGeom>
          <a:solidFill>
            <a:srgbClr val="FDE7F3"/>
          </a:solidFill>
          <a:ln/>
        </p:spPr>
      </p:sp>
      <p:sp>
        <p:nvSpPr>
          <p:cNvPr id="14" name="Text 12"/>
          <p:cNvSpPr txBox="1"/>
          <p:nvPr/>
        </p:nvSpPr>
        <p:spPr>
          <a:xfrm>
            <a:off x="5855818" y="1810512"/>
            <a:ext cx="137342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Republicanisme</a:t>
            </a:r>
            <a:endParaRPr lang="en-US" sz="1200" dirty="0"/>
          </a:p>
        </p:txBody>
      </p:sp>
      <p:sp>
        <p:nvSpPr>
          <p:cNvPr id="15" name="Etiqueta Regionalisme"/>
          <p:cNvSpPr/>
          <p:nvPr/>
        </p:nvSpPr>
        <p:spPr>
          <a:xfrm>
            <a:off x="7320686" y="1810512"/>
            <a:ext cx="1221638" cy="310896"/>
          </a:xfrm>
          <a:prstGeom prst="roundRect">
            <a:avLst>
              <a:gd name="adj" fmla="val 50000"/>
            </a:avLst>
          </a:prstGeom>
          <a:solidFill>
            <a:srgbClr val="FDE7F3"/>
          </a:solidFill>
          <a:ln/>
        </p:spPr>
      </p:sp>
      <p:sp>
        <p:nvSpPr>
          <p:cNvPr id="16" name="Text 14"/>
          <p:cNvSpPr txBox="1"/>
          <p:nvPr/>
        </p:nvSpPr>
        <p:spPr>
          <a:xfrm>
            <a:off x="7320686" y="1810512"/>
            <a:ext cx="122163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Regionalisme</a:t>
            </a:r>
            <a:endParaRPr lang="en-US" sz="1200" dirty="0"/>
          </a:p>
        </p:txBody>
      </p:sp>
      <p:sp>
        <p:nvSpPr>
          <p:cNvPr id="17" name="Etiqueta Nacionalisme"/>
          <p:cNvSpPr/>
          <p:nvPr/>
        </p:nvSpPr>
        <p:spPr>
          <a:xfrm>
            <a:off x="8633765" y="1810512"/>
            <a:ext cx="1221638" cy="310896"/>
          </a:xfrm>
          <a:prstGeom prst="roundRect">
            <a:avLst>
              <a:gd name="adj" fmla="val 50000"/>
            </a:avLst>
          </a:prstGeom>
          <a:solidFill>
            <a:srgbClr val="FDE7F3"/>
          </a:solidFill>
          <a:ln/>
        </p:spPr>
      </p:sp>
      <p:sp>
        <p:nvSpPr>
          <p:cNvPr id="18" name="Text 16"/>
          <p:cNvSpPr txBox="1"/>
          <p:nvPr/>
        </p:nvSpPr>
        <p:spPr>
          <a:xfrm>
            <a:off x="8633765" y="1810512"/>
            <a:ext cx="122163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Nacionalisme</a:t>
            </a:r>
            <a:endParaRPr lang="en-US" sz="1200" dirty="0"/>
          </a:p>
        </p:txBody>
      </p:sp>
      <p:sp>
        <p:nvSpPr>
          <p:cNvPr id="19" name="Etiqueta Bases de Manresa"/>
          <p:cNvSpPr/>
          <p:nvPr/>
        </p:nvSpPr>
        <p:spPr>
          <a:xfrm>
            <a:off x="9946843" y="1810512"/>
            <a:ext cx="1525219" cy="310896"/>
          </a:xfrm>
          <a:prstGeom prst="roundRect">
            <a:avLst>
              <a:gd name="adj" fmla="val 50000"/>
            </a:avLst>
          </a:prstGeom>
          <a:solidFill>
            <a:srgbClr val="FDE7F3"/>
          </a:solidFill>
          <a:ln/>
        </p:spPr>
      </p:sp>
      <p:sp>
        <p:nvSpPr>
          <p:cNvPr id="20" name="Text 18"/>
          <p:cNvSpPr txBox="1"/>
          <p:nvPr/>
        </p:nvSpPr>
        <p:spPr>
          <a:xfrm>
            <a:off x="9946843" y="1810512"/>
            <a:ext cx="152521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Bases de Manresa</a:t>
            </a:r>
            <a:endParaRPr lang="en-US" sz="1200" dirty="0"/>
          </a:p>
        </p:txBody>
      </p:sp>
      <p:sp>
        <p:nvSpPr>
          <p:cNvPr id="21" name="Etiqueta Lliga Regionalista"/>
          <p:cNvSpPr/>
          <p:nvPr/>
        </p:nvSpPr>
        <p:spPr>
          <a:xfrm>
            <a:off x="4846320" y="2212848"/>
            <a:ext cx="1677010" cy="310896"/>
          </a:xfrm>
          <a:prstGeom prst="roundRect">
            <a:avLst>
              <a:gd name="adj" fmla="val 50000"/>
            </a:avLst>
          </a:prstGeom>
          <a:solidFill>
            <a:srgbClr val="FDE7F3"/>
          </a:solidFill>
          <a:ln/>
        </p:spPr>
      </p:sp>
      <p:sp>
        <p:nvSpPr>
          <p:cNvPr id="22" name="Text 20"/>
          <p:cNvSpPr txBox="1"/>
          <p:nvPr/>
        </p:nvSpPr>
        <p:spPr>
          <a:xfrm>
            <a:off x="4846320" y="2212848"/>
            <a:ext cx="167701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Lliga Regionalista</a:t>
            </a:r>
            <a:endParaRPr lang="en-US" sz="1200" dirty="0"/>
          </a:p>
        </p:txBody>
      </p:sp>
      <p:sp>
        <p:nvSpPr>
          <p:cNvPr id="23" name="Etiqueta PNB"/>
          <p:cNvSpPr/>
          <p:nvPr/>
        </p:nvSpPr>
        <p:spPr>
          <a:xfrm>
            <a:off x="6614770" y="2212848"/>
            <a:ext cx="538582" cy="310896"/>
          </a:xfrm>
          <a:prstGeom prst="roundRect">
            <a:avLst>
              <a:gd name="adj" fmla="val 50000"/>
            </a:avLst>
          </a:prstGeom>
          <a:solidFill>
            <a:srgbClr val="FDE7F3"/>
          </a:solidFill>
          <a:ln/>
        </p:spPr>
      </p:sp>
      <p:sp>
        <p:nvSpPr>
          <p:cNvPr id="24" name="Text 22"/>
          <p:cNvSpPr txBox="1"/>
          <p:nvPr/>
        </p:nvSpPr>
        <p:spPr>
          <a:xfrm>
            <a:off x="6614770" y="2212848"/>
            <a:ext cx="538582"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PNB</a:t>
            </a:r>
            <a:endParaRPr lang="en-US" sz="1200" dirty="0"/>
          </a:p>
        </p:txBody>
      </p:sp>
      <p:sp>
        <p:nvSpPr>
          <p:cNvPr id="25" name="Etiqueta Proletariat"/>
          <p:cNvSpPr/>
          <p:nvPr/>
        </p:nvSpPr>
        <p:spPr>
          <a:xfrm>
            <a:off x="7244791" y="2212848"/>
            <a:ext cx="1145743" cy="310896"/>
          </a:xfrm>
          <a:prstGeom prst="roundRect">
            <a:avLst>
              <a:gd name="adj" fmla="val 50000"/>
            </a:avLst>
          </a:prstGeom>
          <a:solidFill>
            <a:srgbClr val="FDE7F3"/>
          </a:solidFill>
          <a:ln/>
        </p:spPr>
      </p:sp>
      <p:sp>
        <p:nvSpPr>
          <p:cNvPr id="26" name="Text 24"/>
          <p:cNvSpPr txBox="1"/>
          <p:nvPr/>
        </p:nvSpPr>
        <p:spPr>
          <a:xfrm>
            <a:off x="7244791" y="2212848"/>
            <a:ext cx="1145743"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Proletariat</a:t>
            </a:r>
            <a:endParaRPr lang="en-US" sz="1200" dirty="0"/>
          </a:p>
        </p:txBody>
      </p:sp>
      <p:sp>
        <p:nvSpPr>
          <p:cNvPr id="27" name="Etiqueta PSOE"/>
          <p:cNvSpPr/>
          <p:nvPr/>
        </p:nvSpPr>
        <p:spPr>
          <a:xfrm>
            <a:off x="8481974" y="2212848"/>
            <a:ext cx="614477" cy="310896"/>
          </a:xfrm>
          <a:prstGeom prst="roundRect">
            <a:avLst>
              <a:gd name="adj" fmla="val 50000"/>
            </a:avLst>
          </a:prstGeom>
          <a:solidFill>
            <a:srgbClr val="FDE7F3"/>
          </a:solidFill>
          <a:ln/>
        </p:spPr>
      </p:sp>
      <p:sp>
        <p:nvSpPr>
          <p:cNvPr id="28" name="Text 26"/>
          <p:cNvSpPr txBox="1"/>
          <p:nvPr/>
        </p:nvSpPr>
        <p:spPr>
          <a:xfrm>
            <a:off x="8481974" y="2212848"/>
            <a:ext cx="614477"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PSOE</a:t>
            </a:r>
            <a:endParaRPr lang="en-US" sz="1200" dirty="0"/>
          </a:p>
        </p:txBody>
      </p:sp>
      <p:sp>
        <p:nvSpPr>
          <p:cNvPr id="29" name="Etiqueta UGT"/>
          <p:cNvSpPr/>
          <p:nvPr/>
        </p:nvSpPr>
        <p:spPr>
          <a:xfrm>
            <a:off x="9187891" y="2212848"/>
            <a:ext cx="538582" cy="310896"/>
          </a:xfrm>
          <a:prstGeom prst="roundRect">
            <a:avLst>
              <a:gd name="adj" fmla="val 50000"/>
            </a:avLst>
          </a:prstGeom>
          <a:solidFill>
            <a:srgbClr val="FDE7F3"/>
          </a:solidFill>
          <a:ln/>
        </p:spPr>
      </p:sp>
      <p:sp>
        <p:nvSpPr>
          <p:cNvPr id="30" name="Text 28"/>
          <p:cNvSpPr txBox="1"/>
          <p:nvPr/>
        </p:nvSpPr>
        <p:spPr>
          <a:xfrm>
            <a:off x="9187891" y="2212848"/>
            <a:ext cx="538582"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UGT</a:t>
            </a:r>
            <a:endParaRPr lang="en-US" sz="1200" dirty="0"/>
          </a:p>
        </p:txBody>
      </p:sp>
      <p:sp>
        <p:nvSpPr>
          <p:cNvPr id="31" name="Etiqueta Anarquisme"/>
          <p:cNvSpPr/>
          <p:nvPr/>
        </p:nvSpPr>
        <p:spPr>
          <a:xfrm>
            <a:off x="9817913" y="2212848"/>
            <a:ext cx="1069848" cy="310896"/>
          </a:xfrm>
          <a:prstGeom prst="roundRect">
            <a:avLst>
              <a:gd name="adj" fmla="val 50000"/>
            </a:avLst>
          </a:prstGeom>
          <a:solidFill>
            <a:srgbClr val="FDE7F3"/>
          </a:solidFill>
          <a:ln/>
        </p:spPr>
      </p:sp>
      <p:sp>
        <p:nvSpPr>
          <p:cNvPr id="32" name="Text 30"/>
          <p:cNvSpPr txBox="1"/>
          <p:nvPr/>
        </p:nvSpPr>
        <p:spPr>
          <a:xfrm>
            <a:off x="9817913" y="2212848"/>
            <a:ext cx="106984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Anarquisme</a:t>
            </a:r>
            <a:endParaRPr lang="en-US" sz="1200" dirty="0"/>
          </a:p>
        </p:txBody>
      </p:sp>
      <p:sp>
        <p:nvSpPr>
          <p:cNvPr id="33" name="Etiqueta Propaganda pel fet"/>
          <p:cNvSpPr/>
          <p:nvPr/>
        </p:nvSpPr>
        <p:spPr>
          <a:xfrm>
            <a:off x="4846320" y="2615184"/>
            <a:ext cx="1677010" cy="310896"/>
          </a:xfrm>
          <a:prstGeom prst="roundRect">
            <a:avLst>
              <a:gd name="adj" fmla="val 50000"/>
            </a:avLst>
          </a:prstGeom>
          <a:solidFill>
            <a:srgbClr val="FDE7F3"/>
          </a:solidFill>
          <a:ln/>
        </p:spPr>
      </p:sp>
      <p:sp>
        <p:nvSpPr>
          <p:cNvPr id="34" name="Text 32"/>
          <p:cNvSpPr txBox="1"/>
          <p:nvPr/>
        </p:nvSpPr>
        <p:spPr>
          <a:xfrm>
            <a:off x="4846320" y="2615184"/>
            <a:ext cx="167701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Propaganda pel fet</a:t>
            </a:r>
            <a:endParaRPr lang="en-US" sz="1200" dirty="0"/>
          </a:p>
        </p:txBody>
      </p:sp>
      <p:sp>
        <p:nvSpPr>
          <p:cNvPr id="35" name="Etiqueta Procés de Montjuïc"/>
          <p:cNvSpPr/>
          <p:nvPr/>
        </p:nvSpPr>
        <p:spPr>
          <a:xfrm>
            <a:off x="6614770" y="2615184"/>
            <a:ext cx="1677010" cy="310896"/>
          </a:xfrm>
          <a:prstGeom prst="roundRect">
            <a:avLst>
              <a:gd name="adj" fmla="val 50000"/>
            </a:avLst>
          </a:prstGeom>
          <a:solidFill>
            <a:srgbClr val="FDE7F3"/>
          </a:solidFill>
          <a:ln/>
        </p:spPr>
      </p:sp>
      <p:sp>
        <p:nvSpPr>
          <p:cNvPr id="36" name="Text 34"/>
          <p:cNvSpPr txBox="1"/>
          <p:nvPr/>
        </p:nvSpPr>
        <p:spPr>
          <a:xfrm>
            <a:off x="6614770" y="2615184"/>
            <a:ext cx="167701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Procés de Montjuïc</a:t>
            </a:r>
            <a:endParaRPr lang="en-US" sz="1200" dirty="0"/>
          </a:p>
        </p:txBody>
      </p:sp>
      <p:sp>
        <p:nvSpPr>
          <p:cNvPr id="37" name="Per a la PAU"/>
          <p:cNvSpPr/>
          <p:nvPr/>
        </p:nvSpPr>
        <p:spPr>
          <a:xfrm>
            <a:off x="4846320" y="3182112"/>
            <a:ext cx="6796735" cy="2852928"/>
          </a:xfrm>
          <a:prstGeom prst="roundRect">
            <a:avLst>
              <a:gd name="adj" fmla="val 3526"/>
            </a:avLst>
          </a:prstGeom>
          <a:solidFill>
            <a:srgbClr val="FDE7F3"/>
          </a:solidFill>
          <a:ln/>
        </p:spPr>
      </p:sp>
      <p:sp>
        <p:nvSpPr>
          <p:cNvPr id="38" name="Text 36"/>
          <p:cNvSpPr txBox="1"/>
          <p:nvPr/>
        </p:nvSpPr>
        <p:spPr>
          <a:xfrm>
            <a:off x="5166360" y="3337560"/>
            <a:ext cx="615665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Per a la PAU</a:t>
            </a:r>
            <a:endParaRPr lang="en-US" sz="1400" dirty="0"/>
          </a:p>
        </p:txBody>
      </p:sp>
      <p:sp>
        <p:nvSpPr>
          <p:cNvPr id="39" name="Text 37"/>
          <p:cNvSpPr txBox="1"/>
          <p:nvPr/>
        </p:nvSpPr>
        <p:spPr>
          <a:xfrm>
            <a:off x="5166360" y="3685032"/>
            <a:ext cx="6156655" cy="2212848"/>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Relaciona les condicions de vida dels obrers i la seva exclusió política amb el naixement del moviment obrer, i explica per què una minoria va triar la violència i com hi va respondre l'Estat. El catalanisme d'aquests anys es treballa a fons al Tema 2.</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B80672"/>
          </a:solidFill>
          <a:ln/>
        </p:spPr>
      </p:sp>
      <p:pic>
        <p:nvPicPr>
          <p:cNvPr id="3" name="Il·lustració del Congrés i una urna" descr="/tmp/claude-0/-home-claude-historia-2batx/57a75df9-64d0-585a-8d62-369d37bdd596/scratchpad/deck/hero-crop.png">    </p:cNvPr>
          <p:cNvPicPr>
            <a:picLocks noChangeAspect="1"/>
          </p:cNvPicPr>
          <p:nvPr/>
        </p:nvPicPr>
        <p:blipFill>
          <a:blip r:embed="rId1"/>
          <a:stretch>
            <a:fillRect/>
          </a:stretch>
        </p:blipFill>
        <p:spPr>
          <a:xfrm>
            <a:off x="3520440" y="2795465"/>
            <a:ext cx="3566160" cy="1392487"/>
          </a:xfrm>
          <a:prstGeom prst="rect">
            <a:avLst/>
          </a:prstGeom>
        </p:spPr>
      </p:pic>
      <p:sp>
        <p:nvSpPr>
          <p:cNvPr id="4" name="Etiqueta Apartat 3  ·  1895–1898"/>
          <p:cNvSpPr/>
          <p:nvPr/>
        </p:nvSpPr>
        <p:spPr>
          <a:xfrm>
            <a:off x="960120" y="896112"/>
            <a:ext cx="2161642" cy="310896"/>
          </a:xfrm>
          <a:prstGeom prst="roundRect">
            <a:avLst>
              <a:gd name="adj" fmla="val 50000"/>
            </a:avLst>
          </a:prstGeom>
          <a:solidFill>
            <a:srgbClr val="FFFFFF">
              <a:alpha val="18000"/>
            </a:srgbClr>
          </a:solidFill>
          <a:ln/>
        </p:spPr>
      </p:sp>
      <p:sp>
        <p:nvSpPr>
          <p:cNvPr id="5" name="Text 2"/>
          <p:cNvSpPr txBox="1"/>
          <p:nvPr/>
        </p:nvSpPr>
        <p:spPr>
          <a:xfrm>
            <a:off x="960120" y="896112"/>
            <a:ext cx="2161642"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3  ·  1895–1898</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El Desastre del 98</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B80672"/>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Per què Espanya es va aferrar a Cuba, i per què la seva pèrdua es va viure com un «Desastre»?</a:t>
            </a:r>
            <a:endParaRPr lang="en-US" sz="1900" dirty="0"/>
          </a:p>
        </p:txBody>
      </p:sp>
      <p:sp>
        <p:nvSpPr>
          <p:cNvPr id="10" name="Fons El Desastre del 98"/>
          <p:cNvSpPr/>
          <p:nvPr/>
        </p:nvSpPr>
        <p:spPr>
          <a:xfrm>
            <a:off x="7635240" y="898152"/>
            <a:ext cx="4007815" cy="3991848"/>
          </a:xfrm>
          <a:prstGeom prst="roundRect">
            <a:avLst>
              <a:gd name="adj" fmla="val 2520"/>
            </a:avLst>
          </a:prstGeom>
          <a:solidFill>
            <a:srgbClr val="F6F8FB"/>
          </a:solidFill>
          <a:ln/>
        </p:spPr>
      </p:sp>
      <p:pic>
        <p:nvPicPr>
          <p:cNvPr id="11" name="El Desastre del 98" descr="/home/claude/historia-2batx/media/tema-1/maine.jpg">    </p:cNvPr>
          <p:cNvPicPr>
            <a:picLocks noChangeAspect="1"/>
          </p:cNvPicPr>
          <p:nvPr/>
        </p:nvPicPr>
        <p:blipFill>
          <a:blip r:embed="rId2"/>
          <a:stretch>
            <a:fillRect/>
          </a:stretch>
        </p:blipFill>
        <p:spPr>
          <a:xfrm>
            <a:off x="7635240" y="898152"/>
            <a:ext cx="4007815" cy="3991848"/>
          </a:xfrm>
          <a:prstGeom prst="rect">
            <a:avLst/>
          </a:prstGeom>
        </p:spPr>
      </p:pic>
      <p:sp>
        <p:nvSpPr>
          <p:cNvPr id="12" name="Text 8"/>
          <p:cNvSpPr txBox="1"/>
          <p:nvPr/>
        </p:nvSpPr>
        <p:spPr>
          <a:xfrm>
            <a:off x="7635240" y="4999728"/>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Bussos treballant a les restes del cuirassat «Maine» al port de l'Havana, el 1898. Fotografia estereoscòpica de Strohmeyer &amp; Wyman. Domini públic, Wikimedia Commons.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què Cuba era tan important</a:t>
            </a:r>
            <a:endParaRPr lang="en-US" sz="2800" dirty="0"/>
          </a:p>
        </p:txBody>
      </p:sp>
      <p:sp>
        <p:nvSpPr>
          <p:cNvPr id="5" name="Text 3"/>
          <p:cNvSpPr txBox="1"/>
          <p:nvPr/>
        </p:nvSpPr>
        <p:spPr>
          <a:xfrm>
            <a:off x="548640" y="1417320"/>
            <a:ext cx="11094415" cy="7315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Al final del segle XIX, de l'antic imperi colonial només quedaven Cuba i Puerto Rico, al Carib, i les Filipines i altres illes del Pacífic. Cuba era la més valuosa.</a:t>
            </a:r>
            <a:endParaRPr lang="en-US" sz="1600" dirty="0"/>
          </a:p>
        </p:txBody>
      </p:sp>
      <p:sp>
        <p:nvSpPr>
          <p:cNvPr id="6" name="Targeta Sucre i tabac"/>
          <p:cNvSpPr/>
          <p:nvPr/>
        </p:nvSpPr>
        <p:spPr>
          <a:xfrm>
            <a:off x="548640" y="2286000"/>
            <a:ext cx="3515258" cy="2103120"/>
          </a:xfrm>
          <a:prstGeom prst="roundRect">
            <a:avLst>
              <a:gd name="adj" fmla="val 4783"/>
            </a:avLst>
          </a:prstGeom>
          <a:solidFill>
            <a:srgbClr val="FFFFFF"/>
          </a:solidFill>
          <a:ln w="12700">
            <a:solidFill>
              <a:srgbClr val="DADCE0"/>
            </a:solidFill>
            <a:prstDash val="solid"/>
          </a:ln>
        </p:spPr>
      </p:sp>
      <p:sp>
        <p:nvSpPr>
          <p:cNvPr id="7" name="Text 5"/>
          <p:cNvSpPr txBox="1"/>
          <p:nvPr/>
        </p:nvSpPr>
        <p:spPr>
          <a:xfrm>
            <a:off x="777240" y="246888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Sucre i tabac</a:t>
            </a:r>
            <a:endParaRPr lang="en-US" sz="1700" dirty="0"/>
          </a:p>
        </p:txBody>
      </p:sp>
      <p:sp>
        <p:nvSpPr>
          <p:cNvPr id="8" name="Text 6"/>
          <p:cNvSpPr txBox="1"/>
          <p:nvPr/>
        </p:nvSpPr>
        <p:spPr>
          <a:xfrm>
            <a:off x="777240" y="2837688"/>
            <a:ext cx="3058058" cy="14325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Cuba produïa sucre i tabac, que s'exportaven arreu del món.</a:t>
            </a:r>
            <a:endParaRPr lang="en-US" sz="1500" dirty="0"/>
          </a:p>
        </p:txBody>
      </p:sp>
      <p:sp>
        <p:nvSpPr>
          <p:cNvPr id="9" name="Targeta Un mercat protegit"/>
          <p:cNvSpPr/>
          <p:nvPr/>
        </p:nvSpPr>
        <p:spPr>
          <a:xfrm>
            <a:off x="4338218" y="2286000"/>
            <a:ext cx="3515258" cy="2103120"/>
          </a:xfrm>
          <a:prstGeom prst="roundRect">
            <a:avLst>
              <a:gd name="adj" fmla="val 4783"/>
            </a:avLst>
          </a:prstGeom>
          <a:solidFill>
            <a:srgbClr val="FFFFFF"/>
          </a:solidFill>
          <a:ln w="12700">
            <a:solidFill>
              <a:srgbClr val="DADCE0"/>
            </a:solidFill>
            <a:prstDash val="solid"/>
          </a:ln>
        </p:spPr>
      </p:sp>
      <p:sp>
        <p:nvSpPr>
          <p:cNvPr id="10" name="Text 8"/>
          <p:cNvSpPr txBox="1"/>
          <p:nvPr/>
        </p:nvSpPr>
        <p:spPr>
          <a:xfrm>
            <a:off x="4566818" y="246888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Un mercat protegit</a:t>
            </a:r>
            <a:endParaRPr lang="en-US" sz="1700" dirty="0"/>
          </a:p>
        </p:txBody>
      </p:sp>
      <p:sp>
        <p:nvSpPr>
          <p:cNvPr id="11" name="Text 9"/>
          <p:cNvSpPr txBox="1"/>
          <p:nvPr/>
        </p:nvSpPr>
        <p:spPr>
          <a:xfrm>
            <a:off x="4566818" y="2837688"/>
            <a:ext cx="3058058" cy="14325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Els aranzels obligaven els cubans a comprar productes espanyols, com els teixits catalans o el blat de Castella.</a:t>
            </a:r>
            <a:endParaRPr lang="en-US" sz="1500" dirty="0"/>
          </a:p>
        </p:txBody>
      </p:sp>
      <p:sp>
        <p:nvSpPr>
          <p:cNvPr id="12" name="Targeta Grans fortunes"/>
          <p:cNvSpPr/>
          <p:nvPr/>
        </p:nvSpPr>
        <p:spPr>
          <a:xfrm>
            <a:off x="8127797" y="2286000"/>
            <a:ext cx="3515258" cy="2103120"/>
          </a:xfrm>
          <a:prstGeom prst="roundRect">
            <a:avLst>
              <a:gd name="adj" fmla="val 4783"/>
            </a:avLst>
          </a:prstGeom>
          <a:solidFill>
            <a:srgbClr val="FFFFFF"/>
          </a:solidFill>
          <a:ln w="12700">
            <a:solidFill>
              <a:srgbClr val="DADCE0"/>
            </a:solidFill>
            <a:prstDash val="solid"/>
          </a:ln>
        </p:spPr>
      </p:sp>
      <p:sp>
        <p:nvSpPr>
          <p:cNvPr id="13" name="Text 11"/>
          <p:cNvSpPr txBox="1"/>
          <p:nvPr/>
        </p:nvSpPr>
        <p:spPr>
          <a:xfrm>
            <a:off x="8356397" y="246888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Grans fortunes</a:t>
            </a:r>
            <a:endParaRPr lang="en-US" sz="1700" dirty="0"/>
          </a:p>
        </p:txBody>
      </p:sp>
      <p:sp>
        <p:nvSpPr>
          <p:cNvPr id="14" name="Text 12"/>
          <p:cNvSpPr txBox="1"/>
          <p:nvPr/>
        </p:nvSpPr>
        <p:spPr>
          <a:xfrm>
            <a:off x="8356397" y="2837688"/>
            <a:ext cx="3058058" cy="14325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Moltes, també catalanes, s'hi havien fet amb el comerç i les plantacions, en part gràcies al treball d'esclaus.</a:t>
            </a:r>
            <a:endParaRPr lang="en-US" sz="1500" dirty="0"/>
          </a:p>
        </p:txBody>
      </p:sp>
      <p:sp>
        <p:nvSpPr>
          <p:cNvPr id="15" name="Per això"/>
          <p:cNvSpPr/>
          <p:nvPr/>
        </p:nvSpPr>
        <p:spPr>
          <a:xfrm>
            <a:off x="548640" y="4663440"/>
            <a:ext cx="11094415" cy="1280160"/>
          </a:xfrm>
          <a:prstGeom prst="roundRect">
            <a:avLst>
              <a:gd name="adj" fmla="val 7857"/>
            </a:avLst>
          </a:prstGeom>
          <a:solidFill>
            <a:srgbClr val="FDE7F3"/>
          </a:solidFill>
          <a:ln/>
        </p:spPr>
      </p:sp>
      <p:sp>
        <p:nvSpPr>
          <p:cNvPr id="16" name="Text 14"/>
          <p:cNvSpPr txBox="1"/>
          <p:nvPr/>
        </p:nvSpPr>
        <p:spPr>
          <a:xfrm>
            <a:off x="868680" y="4818888"/>
            <a:ext cx="1045433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Per això</a:t>
            </a:r>
            <a:endParaRPr lang="en-US" sz="1400" dirty="0"/>
          </a:p>
        </p:txBody>
      </p:sp>
      <p:sp>
        <p:nvSpPr>
          <p:cNvPr id="17" name="Text 15"/>
          <p:cNvSpPr txBox="1"/>
          <p:nvPr/>
        </p:nvSpPr>
        <p:spPr>
          <a:xfrm>
            <a:off x="868680" y="5166360"/>
            <a:ext cx="10454335" cy="6400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La burgesia i els governs volien mantenir l'illa a qualsevol preu. L'esclavitud no es va abolir del tot a Cuba fins al 1886.</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independència reclamada des de 1868</a:t>
            </a:r>
            <a:endParaRPr lang="en-US" sz="2800" dirty="0"/>
          </a:p>
        </p:txBody>
      </p:sp>
      <p:sp>
        <p:nvSpPr>
          <p:cNvPr id="5" name="Línia del temps"/>
          <p:cNvSpPr/>
          <p:nvPr/>
        </p:nvSpPr>
        <p:spPr>
          <a:xfrm>
            <a:off x="649224" y="1645920"/>
            <a:ext cx="0" cy="3474720"/>
          </a:xfrm>
          <a:prstGeom prst="line">
            <a:avLst/>
          </a:prstGeom>
          <a:noFill/>
          <a:ln w="31750">
            <a:solidFill>
              <a:srgbClr val="DADCE0"/>
            </a:solidFill>
            <a:prstDash val="solid"/>
          </a:ln>
        </p:spPr>
      </p:sp>
      <p:sp>
        <p:nvSpPr>
          <p:cNvPr id="6" name="Fita 1868-1878"/>
          <p:cNvSpPr/>
          <p:nvPr/>
        </p:nvSpPr>
        <p:spPr>
          <a:xfrm>
            <a:off x="548640" y="1545336"/>
            <a:ext cx="201168" cy="201168"/>
          </a:xfrm>
          <a:prstGeom prst="ellipse">
            <a:avLst/>
          </a:prstGeom>
          <a:solidFill>
            <a:srgbClr val="FFFFFF"/>
          </a:solidFill>
          <a:ln w="28575">
            <a:solidFill>
              <a:srgbClr val="B80672"/>
            </a:solidFill>
            <a:prstDash val="solid"/>
          </a:ln>
        </p:spPr>
      </p:sp>
      <p:sp>
        <p:nvSpPr>
          <p:cNvPr id="7" name="Text 5"/>
          <p:cNvSpPr txBox="1"/>
          <p:nvPr/>
        </p:nvSpPr>
        <p:spPr>
          <a:xfrm>
            <a:off x="932688" y="1508760"/>
            <a:ext cx="150876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1868-1878</a:t>
            </a:r>
            <a:endParaRPr lang="en-US" sz="1450" dirty="0"/>
          </a:p>
        </p:txBody>
      </p:sp>
      <p:sp>
        <p:nvSpPr>
          <p:cNvPr id="8" name="Text 6"/>
          <p:cNvSpPr txBox="1"/>
          <p:nvPr/>
        </p:nvSpPr>
        <p:spPr>
          <a:xfrm>
            <a:off x="2441448" y="1508760"/>
            <a:ext cx="3959352" cy="8229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Guerra dels Deu Anys, la primera guerra per la independència.</a:t>
            </a:r>
            <a:endParaRPr lang="en-US" sz="1450" dirty="0"/>
          </a:p>
        </p:txBody>
      </p:sp>
      <p:sp>
        <p:nvSpPr>
          <p:cNvPr id="9" name="Fita 1878"/>
          <p:cNvSpPr/>
          <p:nvPr/>
        </p:nvSpPr>
        <p:spPr>
          <a:xfrm>
            <a:off x="548640" y="2414016"/>
            <a:ext cx="201168" cy="201168"/>
          </a:xfrm>
          <a:prstGeom prst="ellipse">
            <a:avLst/>
          </a:prstGeom>
          <a:solidFill>
            <a:srgbClr val="FFFFFF"/>
          </a:solidFill>
          <a:ln w="28575">
            <a:solidFill>
              <a:srgbClr val="B80672"/>
            </a:solidFill>
            <a:prstDash val="solid"/>
          </a:ln>
        </p:spPr>
      </p:sp>
      <p:sp>
        <p:nvSpPr>
          <p:cNvPr id="10" name="Text 8"/>
          <p:cNvSpPr txBox="1"/>
          <p:nvPr/>
        </p:nvSpPr>
        <p:spPr>
          <a:xfrm>
            <a:off x="932688" y="2377440"/>
            <a:ext cx="150876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1878</a:t>
            </a:r>
            <a:endParaRPr lang="en-US" sz="1450" dirty="0"/>
          </a:p>
        </p:txBody>
      </p:sp>
      <p:sp>
        <p:nvSpPr>
          <p:cNvPr id="11" name="Text 9"/>
          <p:cNvSpPr txBox="1"/>
          <p:nvPr/>
        </p:nvSpPr>
        <p:spPr>
          <a:xfrm>
            <a:off x="2441448" y="2377440"/>
            <a:ext cx="3959352" cy="8229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Pau de Zanjón. Espanya promet reformes i més autonomia, però no les compleix.</a:t>
            </a:r>
            <a:endParaRPr lang="en-US" sz="1450" dirty="0"/>
          </a:p>
        </p:txBody>
      </p:sp>
      <p:sp>
        <p:nvSpPr>
          <p:cNvPr id="12" name="Fita 1895"/>
          <p:cNvSpPr/>
          <p:nvPr/>
        </p:nvSpPr>
        <p:spPr>
          <a:xfrm>
            <a:off x="548640" y="3282696"/>
            <a:ext cx="201168" cy="201168"/>
          </a:xfrm>
          <a:prstGeom prst="ellipse">
            <a:avLst/>
          </a:prstGeom>
          <a:solidFill>
            <a:srgbClr val="FFFFFF"/>
          </a:solidFill>
          <a:ln w="28575">
            <a:solidFill>
              <a:srgbClr val="B80672"/>
            </a:solidFill>
            <a:prstDash val="solid"/>
          </a:ln>
        </p:spPr>
      </p:sp>
      <p:sp>
        <p:nvSpPr>
          <p:cNvPr id="13" name="Text 11"/>
          <p:cNvSpPr txBox="1"/>
          <p:nvPr/>
        </p:nvSpPr>
        <p:spPr>
          <a:xfrm>
            <a:off x="932688" y="3246120"/>
            <a:ext cx="150876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1895</a:t>
            </a:r>
            <a:endParaRPr lang="en-US" sz="1450" dirty="0"/>
          </a:p>
        </p:txBody>
      </p:sp>
      <p:sp>
        <p:nvSpPr>
          <p:cNvPr id="14" name="Text 12"/>
          <p:cNvSpPr txBox="1"/>
          <p:nvPr/>
        </p:nvSpPr>
        <p:spPr>
          <a:xfrm>
            <a:off x="2441448" y="3246120"/>
            <a:ext cx="3959352" cy="8229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Nova insurrecció, dirigida per José Martí (mort aquell any), Máximo Gómez i Antonio Maceo.</a:t>
            </a:r>
            <a:endParaRPr lang="en-US" sz="1450" dirty="0"/>
          </a:p>
        </p:txBody>
      </p:sp>
      <p:sp>
        <p:nvSpPr>
          <p:cNvPr id="15" name="Fita 1896"/>
          <p:cNvSpPr/>
          <p:nvPr/>
        </p:nvSpPr>
        <p:spPr>
          <a:xfrm>
            <a:off x="548640" y="4151376"/>
            <a:ext cx="201168" cy="201168"/>
          </a:xfrm>
          <a:prstGeom prst="ellipse">
            <a:avLst/>
          </a:prstGeom>
          <a:solidFill>
            <a:srgbClr val="FFFFFF"/>
          </a:solidFill>
          <a:ln w="28575">
            <a:solidFill>
              <a:srgbClr val="B80672"/>
            </a:solidFill>
            <a:prstDash val="solid"/>
          </a:ln>
        </p:spPr>
      </p:sp>
      <p:sp>
        <p:nvSpPr>
          <p:cNvPr id="16" name="Text 14"/>
          <p:cNvSpPr txBox="1"/>
          <p:nvPr/>
        </p:nvSpPr>
        <p:spPr>
          <a:xfrm>
            <a:off x="932688" y="4114800"/>
            <a:ext cx="150876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1896</a:t>
            </a:r>
            <a:endParaRPr lang="en-US" sz="1450" dirty="0"/>
          </a:p>
        </p:txBody>
      </p:sp>
      <p:sp>
        <p:nvSpPr>
          <p:cNvPr id="17" name="Text 15"/>
          <p:cNvSpPr txBox="1"/>
          <p:nvPr/>
        </p:nvSpPr>
        <p:spPr>
          <a:xfrm>
            <a:off x="2441448" y="4114800"/>
            <a:ext cx="3959352" cy="8229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Comença també la revolta de les Filipines.</a:t>
            </a:r>
            <a:endParaRPr lang="en-US" sz="1450" dirty="0"/>
          </a:p>
        </p:txBody>
      </p:sp>
      <p:sp>
        <p:nvSpPr>
          <p:cNvPr id="18" name="Fita Finals de 1897"/>
          <p:cNvSpPr/>
          <p:nvPr/>
        </p:nvSpPr>
        <p:spPr>
          <a:xfrm>
            <a:off x="548640" y="5020056"/>
            <a:ext cx="201168" cy="201168"/>
          </a:xfrm>
          <a:prstGeom prst="ellipse">
            <a:avLst/>
          </a:prstGeom>
          <a:solidFill>
            <a:srgbClr val="B80672"/>
          </a:solidFill>
          <a:ln w="28575">
            <a:solidFill>
              <a:srgbClr val="B80672"/>
            </a:solidFill>
            <a:prstDash val="solid"/>
          </a:ln>
        </p:spPr>
      </p:sp>
      <p:sp>
        <p:nvSpPr>
          <p:cNvPr id="19" name="Text 17"/>
          <p:cNvSpPr txBox="1"/>
          <p:nvPr/>
        </p:nvSpPr>
        <p:spPr>
          <a:xfrm>
            <a:off x="932688" y="4983480"/>
            <a:ext cx="150876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Finals de 1897</a:t>
            </a:r>
            <a:endParaRPr lang="en-US" sz="1450" dirty="0"/>
          </a:p>
        </p:txBody>
      </p:sp>
      <p:sp>
        <p:nvSpPr>
          <p:cNvPr id="20" name="Text 18"/>
          <p:cNvSpPr txBox="1"/>
          <p:nvPr/>
        </p:nvSpPr>
        <p:spPr>
          <a:xfrm>
            <a:off x="2441448" y="4983480"/>
            <a:ext cx="3959352" cy="8229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Sagasta concedeix l'autonomia a Cuba i Puerto Rico. Massa tard.</a:t>
            </a:r>
            <a:endParaRPr lang="en-US" sz="1450" dirty="0"/>
          </a:p>
        </p:txBody>
      </p:sp>
      <p:sp>
        <p:nvSpPr>
          <p:cNvPr id="21" name="Text 19"/>
          <p:cNvSpPr txBox="1"/>
          <p:nvPr/>
        </p:nvSpPr>
        <p:spPr>
          <a:xfrm>
            <a:off x="6766560" y="1417320"/>
            <a:ext cx="4846320" cy="365760"/>
          </a:xfrm>
          <a:prstGeom prst="rect">
            <a:avLst/>
          </a:prstGeom>
          <a:noFill/>
          <a:ln/>
        </p:spPr>
        <p:txBody>
          <a:bodyPr wrap="square" lIns="0" tIns="0" rIns="0" bIns="0" rtlCol="0" anchor="t"/>
          <a:lstStyle/>
          <a:p>
            <a:pPr indent="0" marL="0">
              <a:buNone/>
            </a:pPr>
            <a:r>
              <a:rPr lang="en-US" sz="1800" b="1" dirty="0">
                <a:solidFill>
                  <a:srgbClr val="202124"/>
                </a:solidFill>
                <a:latin typeface="Roboto" pitchFamily="34" charset="0"/>
                <a:ea typeface="Roboto" pitchFamily="34" charset="-122"/>
                <a:cs typeface="Roboto" pitchFamily="34" charset="-120"/>
              </a:rPr>
              <a:t>Una guerra impopular</a:t>
            </a:r>
            <a:endParaRPr lang="en-US" sz="1800" dirty="0"/>
          </a:p>
        </p:txBody>
      </p:sp>
      <p:sp>
        <p:nvSpPr>
          <p:cNvPr id="22" name="Text 20"/>
          <p:cNvSpPr txBox="1"/>
          <p:nvPr/>
        </p:nvSpPr>
        <p:spPr>
          <a:xfrm>
            <a:off x="6766560" y="1874520"/>
            <a:ext cx="4876495" cy="219456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El govern hi envia més de 200.000 soldats.</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El general Weyler concentra la població rural en poblats vigilats, on moren milers de persones de gana i de malalties.</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Les malalties tropicals maten molts més soldats que els combats.</a:t>
            </a:r>
            <a:endParaRPr lang="en-US" sz="1450" dirty="0"/>
          </a:p>
        </p:txBody>
      </p:sp>
      <p:sp>
        <p:nvSpPr>
          <p:cNvPr id="23" name="Redempció en metàl·lic"/>
          <p:cNvSpPr/>
          <p:nvPr/>
        </p:nvSpPr>
        <p:spPr>
          <a:xfrm>
            <a:off x="6766560" y="4160520"/>
            <a:ext cx="4876495" cy="1828800"/>
          </a:xfrm>
          <a:prstGeom prst="roundRect">
            <a:avLst>
              <a:gd name="adj" fmla="val 5500"/>
            </a:avLst>
          </a:prstGeom>
          <a:solidFill>
            <a:srgbClr val="FDE7F3"/>
          </a:solidFill>
          <a:ln/>
        </p:spPr>
      </p:sp>
      <p:sp>
        <p:nvSpPr>
          <p:cNvPr id="24" name="Text 22"/>
          <p:cNvSpPr txBox="1"/>
          <p:nvPr/>
        </p:nvSpPr>
        <p:spPr>
          <a:xfrm>
            <a:off x="7086600" y="4315968"/>
            <a:ext cx="423641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Redempció en metàl·lic</a:t>
            </a:r>
            <a:endParaRPr lang="en-US" sz="1400" dirty="0"/>
          </a:p>
        </p:txBody>
      </p:sp>
      <p:sp>
        <p:nvSpPr>
          <p:cNvPr id="25" name="Text 23"/>
          <p:cNvSpPr txBox="1"/>
          <p:nvPr/>
        </p:nvSpPr>
        <p:spPr>
          <a:xfrm>
            <a:off x="7086600" y="4663440"/>
            <a:ext cx="4236415" cy="11887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Els joves benestants evitaven el servei militar pagant una quantitat a l'Estat o un substitut. Els soldats eren fills de famílies humils.</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guerra amb els Estats Units (1898)</a:t>
            </a:r>
            <a:endParaRPr lang="en-US" sz="2800" dirty="0"/>
          </a:p>
        </p:txBody>
      </p:sp>
      <p:sp>
        <p:nvSpPr>
          <p:cNvPr id="5" name="Text 3"/>
          <p:cNvSpPr txBox="1"/>
          <p:nvPr/>
        </p:nvSpPr>
        <p:spPr>
          <a:xfrm>
            <a:off x="548640" y="1417320"/>
            <a:ext cx="5852160" cy="8686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Els Estats Units volien substituir Espanya a Cuba. Hi havien invertit en les plantacions de sucre i en compraven la major part de la producció.</a:t>
            </a:r>
            <a:endParaRPr lang="en-US" sz="1550" dirty="0"/>
          </a:p>
        </p:txBody>
      </p:sp>
      <p:sp>
        <p:nvSpPr>
          <p:cNvPr id="6" name="Línia del temps"/>
          <p:cNvSpPr/>
          <p:nvPr/>
        </p:nvSpPr>
        <p:spPr>
          <a:xfrm>
            <a:off x="649224" y="2560320"/>
            <a:ext cx="0" cy="2852928"/>
          </a:xfrm>
          <a:prstGeom prst="line">
            <a:avLst/>
          </a:prstGeom>
          <a:noFill/>
          <a:ln w="31750">
            <a:solidFill>
              <a:srgbClr val="DADCE0"/>
            </a:solidFill>
            <a:prstDash val="solid"/>
          </a:ln>
        </p:spPr>
      </p:sp>
      <p:sp>
        <p:nvSpPr>
          <p:cNvPr id="7" name="Fita Febrer"/>
          <p:cNvSpPr/>
          <p:nvPr/>
        </p:nvSpPr>
        <p:spPr>
          <a:xfrm>
            <a:off x="548640" y="2459736"/>
            <a:ext cx="201168" cy="201168"/>
          </a:xfrm>
          <a:prstGeom prst="ellipse">
            <a:avLst/>
          </a:prstGeom>
          <a:solidFill>
            <a:srgbClr val="FFFFFF"/>
          </a:solidFill>
          <a:ln w="28575">
            <a:solidFill>
              <a:srgbClr val="B80672"/>
            </a:solidFill>
            <a:prstDash val="solid"/>
          </a:ln>
        </p:spPr>
      </p:sp>
      <p:sp>
        <p:nvSpPr>
          <p:cNvPr id="8" name="Text 6"/>
          <p:cNvSpPr txBox="1"/>
          <p:nvPr/>
        </p:nvSpPr>
        <p:spPr>
          <a:xfrm>
            <a:off x="932688" y="2423160"/>
            <a:ext cx="146304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Febrer</a:t>
            </a:r>
            <a:endParaRPr lang="en-US" sz="1400" dirty="0"/>
          </a:p>
        </p:txBody>
      </p:sp>
      <p:sp>
        <p:nvSpPr>
          <p:cNvPr id="9" name="Text 7"/>
          <p:cNvSpPr txBox="1"/>
          <p:nvPr/>
        </p:nvSpPr>
        <p:spPr>
          <a:xfrm>
            <a:off x="2395728" y="2423160"/>
            <a:ext cx="4005072" cy="667512"/>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El cuirassat Maine explota a l'Havana. Els EUA ho atribueixen a un sabotatge espanyol, que no es va demostrar mai.</a:t>
            </a:r>
            <a:endParaRPr lang="en-US" sz="1400" dirty="0"/>
          </a:p>
        </p:txBody>
      </p:sp>
      <p:sp>
        <p:nvSpPr>
          <p:cNvPr id="10" name="Fita Abril"/>
          <p:cNvSpPr/>
          <p:nvPr/>
        </p:nvSpPr>
        <p:spPr>
          <a:xfrm>
            <a:off x="548640" y="3172968"/>
            <a:ext cx="201168" cy="201168"/>
          </a:xfrm>
          <a:prstGeom prst="ellipse">
            <a:avLst/>
          </a:prstGeom>
          <a:solidFill>
            <a:srgbClr val="FFFFFF"/>
          </a:solidFill>
          <a:ln w="28575">
            <a:solidFill>
              <a:srgbClr val="B80672"/>
            </a:solidFill>
            <a:prstDash val="solid"/>
          </a:ln>
        </p:spPr>
      </p:sp>
      <p:sp>
        <p:nvSpPr>
          <p:cNvPr id="11" name="Text 9"/>
          <p:cNvSpPr txBox="1"/>
          <p:nvPr/>
        </p:nvSpPr>
        <p:spPr>
          <a:xfrm>
            <a:off x="932688" y="3136392"/>
            <a:ext cx="146304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Abril</a:t>
            </a:r>
            <a:endParaRPr lang="en-US" sz="1400" dirty="0"/>
          </a:p>
        </p:txBody>
      </p:sp>
      <p:sp>
        <p:nvSpPr>
          <p:cNvPr id="12" name="Text 10"/>
          <p:cNvSpPr txBox="1"/>
          <p:nvPr/>
        </p:nvSpPr>
        <p:spPr>
          <a:xfrm>
            <a:off x="2395728" y="3136392"/>
            <a:ext cx="4005072" cy="667512"/>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Els Estats Units declaren la guerra.</a:t>
            </a:r>
            <a:endParaRPr lang="en-US" sz="1400" dirty="0"/>
          </a:p>
        </p:txBody>
      </p:sp>
      <p:sp>
        <p:nvSpPr>
          <p:cNvPr id="13" name="Fita 1 de maig"/>
          <p:cNvSpPr/>
          <p:nvPr/>
        </p:nvSpPr>
        <p:spPr>
          <a:xfrm>
            <a:off x="548640" y="3886200"/>
            <a:ext cx="201168" cy="201168"/>
          </a:xfrm>
          <a:prstGeom prst="ellipse">
            <a:avLst/>
          </a:prstGeom>
          <a:solidFill>
            <a:srgbClr val="FFFFFF"/>
          </a:solidFill>
          <a:ln w="28575">
            <a:solidFill>
              <a:srgbClr val="B80672"/>
            </a:solidFill>
            <a:prstDash val="solid"/>
          </a:ln>
        </p:spPr>
      </p:sp>
      <p:sp>
        <p:nvSpPr>
          <p:cNvPr id="14" name="Text 12"/>
          <p:cNvSpPr txBox="1"/>
          <p:nvPr/>
        </p:nvSpPr>
        <p:spPr>
          <a:xfrm>
            <a:off x="932688" y="3849624"/>
            <a:ext cx="146304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1 de maig</a:t>
            </a:r>
            <a:endParaRPr lang="en-US" sz="1400" dirty="0"/>
          </a:p>
        </p:txBody>
      </p:sp>
      <p:sp>
        <p:nvSpPr>
          <p:cNvPr id="15" name="Text 13"/>
          <p:cNvSpPr txBox="1"/>
          <p:nvPr/>
        </p:nvSpPr>
        <p:spPr>
          <a:xfrm>
            <a:off x="2395728" y="3849624"/>
            <a:ext cx="4005072" cy="667512"/>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La flota del Pacífic és destruïda a Cavite (Filipines).</a:t>
            </a:r>
            <a:endParaRPr lang="en-US" sz="1400" dirty="0"/>
          </a:p>
        </p:txBody>
      </p:sp>
      <p:sp>
        <p:nvSpPr>
          <p:cNvPr id="16" name="Fita 3 de juliol"/>
          <p:cNvSpPr/>
          <p:nvPr/>
        </p:nvSpPr>
        <p:spPr>
          <a:xfrm>
            <a:off x="548640" y="4599432"/>
            <a:ext cx="201168" cy="201168"/>
          </a:xfrm>
          <a:prstGeom prst="ellipse">
            <a:avLst/>
          </a:prstGeom>
          <a:solidFill>
            <a:srgbClr val="FFFFFF"/>
          </a:solidFill>
          <a:ln w="28575">
            <a:solidFill>
              <a:srgbClr val="B80672"/>
            </a:solidFill>
            <a:prstDash val="solid"/>
          </a:ln>
        </p:spPr>
      </p:sp>
      <p:sp>
        <p:nvSpPr>
          <p:cNvPr id="17" name="Text 15"/>
          <p:cNvSpPr txBox="1"/>
          <p:nvPr/>
        </p:nvSpPr>
        <p:spPr>
          <a:xfrm>
            <a:off x="932688" y="4562856"/>
            <a:ext cx="146304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3 de juliol</a:t>
            </a:r>
            <a:endParaRPr lang="en-US" sz="1400" dirty="0"/>
          </a:p>
        </p:txBody>
      </p:sp>
      <p:sp>
        <p:nvSpPr>
          <p:cNvPr id="18" name="Text 16"/>
          <p:cNvSpPr txBox="1"/>
          <p:nvPr/>
        </p:nvSpPr>
        <p:spPr>
          <a:xfrm>
            <a:off x="2395728" y="4562856"/>
            <a:ext cx="4005072" cy="667512"/>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La flota del Carib és destruïda a Santiago de Cuba.</a:t>
            </a:r>
            <a:endParaRPr lang="en-US" sz="1400" dirty="0"/>
          </a:p>
        </p:txBody>
      </p:sp>
      <p:sp>
        <p:nvSpPr>
          <p:cNvPr id="19" name="Fita 10 de desembre"/>
          <p:cNvSpPr/>
          <p:nvPr/>
        </p:nvSpPr>
        <p:spPr>
          <a:xfrm>
            <a:off x="548640" y="5312664"/>
            <a:ext cx="201168" cy="201168"/>
          </a:xfrm>
          <a:prstGeom prst="ellipse">
            <a:avLst/>
          </a:prstGeom>
          <a:solidFill>
            <a:srgbClr val="B80672"/>
          </a:solidFill>
          <a:ln w="28575">
            <a:solidFill>
              <a:srgbClr val="B80672"/>
            </a:solidFill>
            <a:prstDash val="solid"/>
          </a:ln>
        </p:spPr>
      </p:sp>
      <p:sp>
        <p:nvSpPr>
          <p:cNvPr id="20" name="Text 18"/>
          <p:cNvSpPr txBox="1"/>
          <p:nvPr/>
        </p:nvSpPr>
        <p:spPr>
          <a:xfrm>
            <a:off x="932688" y="5276088"/>
            <a:ext cx="146304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10 de desembre</a:t>
            </a:r>
            <a:endParaRPr lang="en-US" sz="1400" dirty="0"/>
          </a:p>
        </p:txBody>
      </p:sp>
      <p:sp>
        <p:nvSpPr>
          <p:cNvPr id="21" name="Text 19"/>
          <p:cNvSpPr txBox="1"/>
          <p:nvPr/>
        </p:nvSpPr>
        <p:spPr>
          <a:xfrm>
            <a:off x="2395728" y="5276088"/>
            <a:ext cx="4005072" cy="667512"/>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Tractat de París.</a:t>
            </a:r>
            <a:endParaRPr lang="en-US" sz="1400" dirty="0"/>
          </a:p>
        </p:txBody>
      </p:sp>
      <p:sp>
        <p:nvSpPr>
          <p:cNvPr id="22" name="Fons La batalla de Cavite (1 de maig de 1898), pintada pel nord-americà James Gale Tyler el 1898"/>
          <p:cNvSpPr/>
          <p:nvPr/>
        </p:nvSpPr>
        <p:spPr>
          <a:xfrm>
            <a:off x="6720840" y="1417320"/>
            <a:ext cx="4922215" cy="2175084"/>
          </a:xfrm>
          <a:prstGeom prst="roundRect">
            <a:avLst>
              <a:gd name="adj" fmla="val 4624"/>
            </a:avLst>
          </a:prstGeom>
          <a:solidFill>
            <a:srgbClr val="F6F8FB"/>
          </a:solidFill>
          <a:ln/>
        </p:spPr>
      </p:sp>
      <p:pic>
        <p:nvPicPr>
          <p:cNvPr id="23" name="La batalla de Cavite (1 de maig de 1898), pintada pel nord-americà James Gale Tyler el 1898" descr="/home/claude/historia-2batx/media/tema-1/cavite.jpg">    </p:cNvPr>
          <p:cNvPicPr>
            <a:picLocks noChangeAspect="1"/>
          </p:cNvPicPr>
          <p:nvPr/>
        </p:nvPicPr>
        <p:blipFill>
          <a:blip r:embed="rId1"/>
          <a:stretch>
            <a:fillRect/>
          </a:stretch>
        </p:blipFill>
        <p:spPr>
          <a:xfrm>
            <a:off x="6720840" y="1417320"/>
            <a:ext cx="4922215" cy="2175084"/>
          </a:xfrm>
          <a:prstGeom prst="rect">
            <a:avLst/>
          </a:prstGeom>
        </p:spPr>
      </p:pic>
      <p:sp>
        <p:nvSpPr>
          <p:cNvPr id="24" name="Text 21"/>
          <p:cNvSpPr txBox="1"/>
          <p:nvPr/>
        </p:nvSpPr>
        <p:spPr>
          <a:xfrm>
            <a:off x="6720840" y="3683844"/>
            <a:ext cx="49222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batalla de Cavite (1 de maig de 1898), pintada pel nord-americà James Gale Tyler el 1898. Domini públic, Wikimedia Commons.</a:t>
            </a:r>
            <a:endParaRPr lang="en-US" sz="1000" dirty="0"/>
          </a:p>
        </p:txBody>
      </p:sp>
      <p:sp>
        <p:nvSpPr>
          <p:cNvPr id="25" name="Tractat de París"/>
          <p:cNvSpPr/>
          <p:nvPr/>
        </p:nvSpPr>
        <p:spPr>
          <a:xfrm>
            <a:off x="6720840" y="4160520"/>
            <a:ext cx="4922215" cy="1828800"/>
          </a:xfrm>
          <a:prstGeom prst="roundRect">
            <a:avLst>
              <a:gd name="adj" fmla="val 5500"/>
            </a:avLst>
          </a:prstGeom>
          <a:solidFill>
            <a:srgbClr val="FDE7F3"/>
          </a:solidFill>
          <a:ln/>
        </p:spPr>
      </p:sp>
      <p:sp>
        <p:nvSpPr>
          <p:cNvPr id="26" name="Text 23"/>
          <p:cNvSpPr txBox="1"/>
          <p:nvPr/>
        </p:nvSpPr>
        <p:spPr>
          <a:xfrm>
            <a:off x="7040880" y="4315968"/>
            <a:ext cx="428213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Tractat de París</a:t>
            </a:r>
            <a:endParaRPr lang="en-US" sz="1400" dirty="0"/>
          </a:p>
        </p:txBody>
      </p:sp>
      <p:sp>
        <p:nvSpPr>
          <p:cNvPr id="27" name="Text 24"/>
          <p:cNvSpPr txBox="1"/>
          <p:nvPr/>
        </p:nvSpPr>
        <p:spPr>
          <a:xfrm>
            <a:off x="7040880" y="4663440"/>
            <a:ext cx="4282135" cy="11887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Cuba, independent sota la tutela dels EUA. Puerto Rico, les Filipines i Guam, cedides als EUA. El 1899, Espanya ven a Alemanya les darreres illes del Pacífic.</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què es va parlar de «Desastre»</a:t>
            </a:r>
            <a:endParaRPr lang="en-US" sz="2800" dirty="0"/>
          </a:p>
        </p:txBody>
      </p:sp>
      <p:sp>
        <p:nvSpPr>
          <p:cNvPr id="5" name="Text 3"/>
          <p:cNvSpPr txBox="1"/>
          <p:nvPr/>
        </p:nvSpPr>
        <p:spPr>
          <a:xfrm>
            <a:off x="548640" y="1417320"/>
            <a:ext cx="11094415" cy="914400"/>
          </a:xfrm>
          <a:prstGeom prst="rect">
            <a:avLst/>
          </a:prstGeom>
          <a:noFill/>
          <a:ln/>
        </p:spPr>
        <p:txBody>
          <a:bodyPr wrap="square" lIns="0" tIns="0" rIns="0" bIns="0" rtlCol="0" anchor="t"/>
          <a:lstStyle/>
          <a:p>
            <a:pPr indent="0" marL="0">
              <a:buNone/>
            </a:pPr>
            <a:r>
              <a:rPr lang="en-US" sz="1550" b="1" dirty="0">
                <a:solidFill>
                  <a:srgbClr val="202124"/>
                </a:solidFill>
                <a:latin typeface="Roboto" pitchFamily="34" charset="0"/>
                <a:ea typeface="Roboto" pitchFamily="34" charset="-122"/>
                <a:cs typeface="Roboto" pitchFamily="34" charset="-120"/>
              </a:rPr>
              <a:t>La derrota no va enfonsar el règim. </a:t>
            </a:r>
            <a:pPr indent="0" marL="0">
              <a:buNone/>
            </a:pPr>
            <a:r>
              <a:rPr lang="en-US" sz="1550" dirty="0">
                <a:solidFill>
                  <a:srgbClr val="202124"/>
                </a:solidFill>
                <a:latin typeface="Roboto" pitchFamily="34" charset="0"/>
                <a:ea typeface="Roboto" pitchFamily="34" charset="-122"/>
                <a:cs typeface="Roboto" pitchFamily="34" charset="-120"/>
              </a:rPr>
              <a:t>La monarquia i el torn van continuar. Però mentre les potències europees construïen imperis a l'Àfrica i a l'Àsia, Espanya perdia els seus darrers territoris davant d'un país nou. Va obrir una crisi d'identitat nacional.</a:t>
            </a:r>
            <a:endParaRPr lang="en-US" sz="1550" dirty="0"/>
          </a:p>
        </p:txBody>
      </p:sp>
      <p:sp>
        <p:nvSpPr>
          <p:cNvPr id="6" name="Targeta Regeneracionistes"/>
          <p:cNvSpPr/>
          <p:nvPr/>
        </p:nvSpPr>
        <p:spPr>
          <a:xfrm>
            <a:off x="548640" y="2514600"/>
            <a:ext cx="2567864" cy="3474720"/>
          </a:xfrm>
          <a:prstGeom prst="roundRect">
            <a:avLst>
              <a:gd name="adj" fmla="val 3917"/>
            </a:avLst>
          </a:prstGeom>
          <a:solidFill>
            <a:srgbClr val="FFFFFF"/>
          </a:solidFill>
          <a:ln w="12700">
            <a:solidFill>
              <a:srgbClr val="DADCE0"/>
            </a:solidFill>
            <a:prstDash val="solid"/>
          </a:ln>
        </p:spPr>
      </p:sp>
      <p:sp>
        <p:nvSpPr>
          <p:cNvPr id="7" name="Text 5"/>
          <p:cNvSpPr txBox="1"/>
          <p:nvPr/>
        </p:nvSpPr>
        <p:spPr>
          <a:xfrm>
            <a:off x="777240" y="2697480"/>
            <a:ext cx="2110664"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Regeneracionistes</a:t>
            </a:r>
            <a:endParaRPr lang="en-US" sz="1700" dirty="0"/>
          </a:p>
        </p:txBody>
      </p:sp>
      <p:sp>
        <p:nvSpPr>
          <p:cNvPr id="8" name="Text 6"/>
          <p:cNvSpPr txBox="1"/>
          <p:nvPr/>
        </p:nvSpPr>
        <p:spPr>
          <a:xfrm>
            <a:off x="777240" y="3066288"/>
            <a:ext cx="2110664" cy="2804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Joaquín Costa vol acabar amb l'oligarquia i el caciquisme i modernitzar el país amb «escola i rebost». Demana un «cirurgià de ferro».</a:t>
            </a:r>
            <a:endParaRPr lang="en-US" sz="1450" dirty="0"/>
          </a:p>
        </p:txBody>
      </p:sp>
      <p:sp>
        <p:nvSpPr>
          <p:cNvPr id="9" name="Targeta Generació del 98"/>
          <p:cNvSpPr/>
          <p:nvPr/>
        </p:nvSpPr>
        <p:spPr>
          <a:xfrm>
            <a:off x="3390824" y="2514600"/>
            <a:ext cx="2567864" cy="3474720"/>
          </a:xfrm>
          <a:prstGeom prst="roundRect">
            <a:avLst>
              <a:gd name="adj" fmla="val 3917"/>
            </a:avLst>
          </a:prstGeom>
          <a:solidFill>
            <a:srgbClr val="FFFFFF"/>
          </a:solidFill>
          <a:ln w="12700">
            <a:solidFill>
              <a:srgbClr val="DADCE0"/>
            </a:solidFill>
            <a:prstDash val="solid"/>
          </a:ln>
        </p:spPr>
      </p:sp>
      <p:sp>
        <p:nvSpPr>
          <p:cNvPr id="10" name="Text 8"/>
          <p:cNvSpPr txBox="1"/>
          <p:nvPr/>
        </p:nvSpPr>
        <p:spPr>
          <a:xfrm>
            <a:off x="3619424" y="2697480"/>
            <a:ext cx="2110664"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Generació del 98</a:t>
            </a:r>
            <a:endParaRPr lang="en-US" sz="1700" dirty="0"/>
          </a:p>
        </p:txBody>
      </p:sp>
      <p:sp>
        <p:nvSpPr>
          <p:cNvPr id="11" name="Text 9"/>
          <p:cNvSpPr txBox="1"/>
          <p:nvPr/>
        </p:nvSpPr>
        <p:spPr>
          <a:xfrm>
            <a:off x="3619424" y="3066288"/>
            <a:ext cx="2110664" cy="2804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Unamuno, Baroja o Machado reflexionen sobre el «problema d'Espanya» i la seva decadència.</a:t>
            </a:r>
            <a:endParaRPr lang="en-US" sz="1450" dirty="0"/>
          </a:p>
        </p:txBody>
      </p:sp>
      <p:sp>
        <p:nvSpPr>
          <p:cNvPr id="12" name="Targeta Catalunya"/>
          <p:cNvSpPr/>
          <p:nvPr/>
        </p:nvSpPr>
        <p:spPr>
          <a:xfrm>
            <a:off x="6233008" y="2514600"/>
            <a:ext cx="2567864" cy="3474720"/>
          </a:xfrm>
          <a:prstGeom prst="roundRect">
            <a:avLst>
              <a:gd name="adj" fmla="val 3917"/>
            </a:avLst>
          </a:prstGeom>
          <a:solidFill>
            <a:srgbClr val="FFFFFF"/>
          </a:solidFill>
          <a:ln w="12700">
            <a:solidFill>
              <a:srgbClr val="DADCE0"/>
            </a:solidFill>
            <a:prstDash val="solid"/>
          </a:ln>
        </p:spPr>
      </p:sp>
      <p:sp>
        <p:nvSpPr>
          <p:cNvPr id="13" name="Text 11"/>
          <p:cNvSpPr txBox="1"/>
          <p:nvPr/>
        </p:nvSpPr>
        <p:spPr>
          <a:xfrm>
            <a:off x="6461608" y="2697480"/>
            <a:ext cx="2110664"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Catalunya</a:t>
            </a:r>
            <a:endParaRPr lang="en-US" sz="1700" dirty="0"/>
          </a:p>
        </p:txBody>
      </p:sp>
      <p:sp>
        <p:nvSpPr>
          <p:cNvPr id="14" name="Text 12"/>
          <p:cNvSpPr txBox="1"/>
          <p:nvPr/>
        </p:nvSpPr>
        <p:spPr>
          <a:xfrm>
            <a:off x="6461608" y="3066288"/>
            <a:ext cx="2110664" cy="2804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La burgesia, que ha perdut el mercat colonial, s'allunya dels partits dinàstics i el 1901 dona suport a la Lliga (Tema 2).</a:t>
            </a:r>
            <a:endParaRPr lang="en-US" sz="1450" dirty="0"/>
          </a:p>
        </p:txBody>
      </p:sp>
      <p:sp>
        <p:nvSpPr>
          <p:cNvPr id="15" name="Targeta Exèrcit"/>
          <p:cNvSpPr/>
          <p:nvPr/>
        </p:nvSpPr>
        <p:spPr>
          <a:xfrm>
            <a:off x="9075191" y="2514600"/>
            <a:ext cx="2567864" cy="3474720"/>
          </a:xfrm>
          <a:prstGeom prst="roundRect">
            <a:avLst>
              <a:gd name="adj" fmla="val 3917"/>
            </a:avLst>
          </a:prstGeom>
          <a:solidFill>
            <a:srgbClr val="FFFFFF"/>
          </a:solidFill>
          <a:ln w="12700">
            <a:solidFill>
              <a:srgbClr val="DADCE0"/>
            </a:solidFill>
            <a:prstDash val="solid"/>
          </a:ln>
        </p:spPr>
      </p:sp>
      <p:sp>
        <p:nvSpPr>
          <p:cNvPr id="16" name="Text 14"/>
          <p:cNvSpPr txBox="1"/>
          <p:nvPr/>
        </p:nvSpPr>
        <p:spPr>
          <a:xfrm>
            <a:off x="9303791" y="2697480"/>
            <a:ext cx="2110664"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Exèrcit</a:t>
            </a:r>
            <a:endParaRPr lang="en-US" sz="1700" dirty="0"/>
          </a:p>
        </p:txBody>
      </p:sp>
      <p:sp>
        <p:nvSpPr>
          <p:cNvPr id="17" name="Text 15"/>
          <p:cNvSpPr txBox="1"/>
          <p:nvPr/>
        </p:nvSpPr>
        <p:spPr>
          <a:xfrm>
            <a:off x="9303791" y="3066288"/>
            <a:ext cx="2110664" cy="2804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Humiliat, es torna més hostil als nacionalismes i busca al Marroc una compensació per les colònies perdudes.</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Apartat 3 a la PAU</a:t>
            </a:r>
            <a:endParaRPr lang="en-US" sz="2800" dirty="0"/>
          </a:p>
        </p:txBody>
      </p:sp>
      <p:sp>
        <p:nvSpPr>
          <p:cNvPr id="5" name="Text 3"/>
          <p:cNvSpPr txBox="1"/>
          <p:nvPr/>
        </p:nvSpPr>
        <p:spPr>
          <a:xfrm>
            <a:off x="548640" y="1371600"/>
            <a:ext cx="2011680" cy="1005840"/>
          </a:xfrm>
          <a:prstGeom prst="rect">
            <a:avLst/>
          </a:prstGeom>
          <a:noFill/>
          <a:ln/>
        </p:spPr>
        <p:txBody>
          <a:bodyPr wrap="square" lIns="0" tIns="0" rIns="0" bIns="0" rtlCol="0" anchor="t"/>
          <a:lstStyle/>
          <a:p>
            <a:pPr indent="0" marL="0">
              <a:buNone/>
            </a:pPr>
            <a:r>
              <a:rPr lang="en-US" sz="6400" b="1" dirty="0">
                <a:solidFill>
                  <a:srgbClr val="B80672"/>
                </a:solidFill>
                <a:latin typeface="Roboto" pitchFamily="34" charset="0"/>
                <a:ea typeface="Roboto" pitchFamily="34" charset="-122"/>
                <a:cs typeface="Roboto" pitchFamily="34" charset="-120"/>
              </a:rPr>
              <a:t>11</a:t>
            </a:r>
            <a:endParaRPr lang="en-US" sz="6400" dirty="0"/>
          </a:p>
        </p:txBody>
      </p:sp>
      <p:sp>
        <p:nvSpPr>
          <p:cNvPr id="6" name="Text 4"/>
          <p:cNvSpPr txBox="1"/>
          <p:nvPr/>
        </p:nvSpPr>
        <p:spPr>
          <a:xfrm>
            <a:off x="548640" y="2395728"/>
            <a:ext cx="3840480" cy="91440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preguntes sobre el Desastre del 98 i el regeneracionisme a les PAU del 2010 al 2024 (model anterior).</a:t>
            </a:r>
            <a:endParaRPr lang="en-US" sz="1500" dirty="0"/>
          </a:p>
        </p:txBody>
      </p:sp>
      <p:sp>
        <p:nvSpPr>
          <p:cNvPr id="7" name="Àmbits del glossari"/>
          <p:cNvSpPr/>
          <p:nvPr/>
        </p:nvSpPr>
        <p:spPr>
          <a:xfrm>
            <a:off x="548640" y="3429000"/>
            <a:ext cx="3840480" cy="1389888"/>
          </a:xfrm>
          <a:prstGeom prst="roundRect">
            <a:avLst>
              <a:gd name="adj" fmla="val 7237"/>
            </a:avLst>
          </a:prstGeom>
          <a:solidFill>
            <a:srgbClr val="F6F8FB"/>
          </a:solidFill>
          <a:ln/>
        </p:spPr>
      </p:sp>
      <p:sp>
        <p:nvSpPr>
          <p:cNvPr id="8" name="Text 6"/>
          <p:cNvSpPr txBox="1"/>
          <p:nvPr/>
        </p:nvSpPr>
        <p:spPr>
          <a:xfrm>
            <a:off x="822960" y="3584448"/>
            <a:ext cx="3291840" cy="292608"/>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Àmbits del glossari</a:t>
            </a:r>
            <a:endParaRPr lang="en-US" sz="1300" dirty="0"/>
          </a:p>
        </p:txBody>
      </p:sp>
      <p:sp>
        <p:nvSpPr>
          <p:cNvPr id="9" name="Text 7"/>
          <p:cNvSpPr txBox="1"/>
          <p:nvPr/>
        </p:nvSpPr>
        <p:spPr>
          <a:xfrm>
            <a:off x="822960" y="3904488"/>
            <a:ext cx="3337560" cy="841248"/>
          </a:xfrm>
          <a:prstGeom prst="rect">
            <a:avLst/>
          </a:prstGeom>
          <a:noFill/>
          <a:ln/>
        </p:spPr>
        <p:txBody>
          <a:bodyPr wrap="square" lIns="0" tIns="0" rIns="0" bIns="0" rtlCol="0" anchor="t"/>
          <a:lstStyle/>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5. Militarisme.</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10. Centralisme, catalanismes i experiències d’auto-govern.</a:t>
            </a:r>
            <a:endParaRPr lang="en-US" sz="1350" dirty="0"/>
          </a:p>
        </p:txBody>
      </p:sp>
      <p:sp>
        <p:nvSpPr>
          <p:cNvPr id="10" name="Text 8"/>
          <p:cNvSpPr txBox="1"/>
          <p:nvPr/>
        </p:nvSpPr>
        <p:spPr>
          <a:xfrm>
            <a:off x="4846320" y="1417320"/>
            <a:ext cx="6766560" cy="320040"/>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Conceptes clau</a:t>
            </a:r>
            <a:endParaRPr lang="en-US" sz="1300" dirty="0"/>
          </a:p>
        </p:txBody>
      </p:sp>
      <p:sp>
        <p:nvSpPr>
          <p:cNvPr id="11" name="Etiqueta Mercat protegit"/>
          <p:cNvSpPr/>
          <p:nvPr/>
        </p:nvSpPr>
        <p:spPr>
          <a:xfrm>
            <a:off x="4846320" y="1810512"/>
            <a:ext cx="1449324" cy="310896"/>
          </a:xfrm>
          <a:prstGeom prst="roundRect">
            <a:avLst>
              <a:gd name="adj" fmla="val 50000"/>
            </a:avLst>
          </a:prstGeom>
          <a:solidFill>
            <a:srgbClr val="FDE7F3"/>
          </a:solidFill>
          <a:ln/>
        </p:spPr>
      </p:sp>
      <p:sp>
        <p:nvSpPr>
          <p:cNvPr id="12" name="Text 10"/>
          <p:cNvSpPr txBox="1"/>
          <p:nvPr/>
        </p:nvSpPr>
        <p:spPr>
          <a:xfrm>
            <a:off x="4846320" y="1810512"/>
            <a:ext cx="144932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Mercat protegit</a:t>
            </a:r>
            <a:endParaRPr lang="en-US" sz="1200" dirty="0"/>
          </a:p>
        </p:txBody>
      </p:sp>
      <p:sp>
        <p:nvSpPr>
          <p:cNvPr id="13" name="Etiqueta Pau de Zanjón"/>
          <p:cNvSpPr/>
          <p:nvPr/>
        </p:nvSpPr>
        <p:spPr>
          <a:xfrm>
            <a:off x="6387084" y="1810512"/>
            <a:ext cx="1297534" cy="310896"/>
          </a:xfrm>
          <a:prstGeom prst="roundRect">
            <a:avLst>
              <a:gd name="adj" fmla="val 50000"/>
            </a:avLst>
          </a:prstGeom>
          <a:solidFill>
            <a:srgbClr val="FDE7F3"/>
          </a:solidFill>
          <a:ln/>
        </p:spPr>
      </p:sp>
      <p:sp>
        <p:nvSpPr>
          <p:cNvPr id="14" name="Text 12"/>
          <p:cNvSpPr txBox="1"/>
          <p:nvPr/>
        </p:nvSpPr>
        <p:spPr>
          <a:xfrm>
            <a:off x="6387084" y="1810512"/>
            <a:ext cx="129753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Pau de Zanjón</a:t>
            </a:r>
            <a:endParaRPr lang="en-US" sz="1200" dirty="0"/>
          </a:p>
        </p:txBody>
      </p:sp>
      <p:sp>
        <p:nvSpPr>
          <p:cNvPr id="15" name="Etiqueta Guerra de Cuba"/>
          <p:cNvSpPr/>
          <p:nvPr/>
        </p:nvSpPr>
        <p:spPr>
          <a:xfrm>
            <a:off x="7776058" y="1810512"/>
            <a:ext cx="1373429" cy="310896"/>
          </a:xfrm>
          <a:prstGeom prst="roundRect">
            <a:avLst>
              <a:gd name="adj" fmla="val 50000"/>
            </a:avLst>
          </a:prstGeom>
          <a:solidFill>
            <a:srgbClr val="FDE7F3"/>
          </a:solidFill>
          <a:ln/>
        </p:spPr>
      </p:sp>
      <p:sp>
        <p:nvSpPr>
          <p:cNvPr id="16" name="Text 14"/>
          <p:cNvSpPr txBox="1"/>
          <p:nvPr/>
        </p:nvSpPr>
        <p:spPr>
          <a:xfrm>
            <a:off x="7776058" y="1810512"/>
            <a:ext cx="137342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Guerra de Cuba</a:t>
            </a:r>
            <a:endParaRPr lang="en-US" sz="1200" dirty="0"/>
          </a:p>
        </p:txBody>
      </p:sp>
      <p:sp>
        <p:nvSpPr>
          <p:cNvPr id="17" name="Etiqueta Redempció en metàl·lic"/>
          <p:cNvSpPr/>
          <p:nvPr/>
        </p:nvSpPr>
        <p:spPr>
          <a:xfrm>
            <a:off x="9240926" y="1810512"/>
            <a:ext cx="1980590" cy="310896"/>
          </a:xfrm>
          <a:prstGeom prst="roundRect">
            <a:avLst>
              <a:gd name="adj" fmla="val 50000"/>
            </a:avLst>
          </a:prstGeom>
          <a:solidFill>
            <a:srgbClr val="FDE7F3"/>
          </a:solidFill>
          <a:ln/>
        </p:spPr>
      </p:sp>
      <p:sp>
        <p:nvSpPr>
          <p:cNvPr id="18" name="Text 16"/>
          <p:cNvSpPr txBox="1"/>
          <p:nvPr/>
        </p:nvSpPr>
        <p:spPr>
          <a:xfrm>
            <a:off x="9240926" y="1810512"/>
            <a:ext cx="198059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Redempció en metàl·lic</a:t>
            </a:r>
            <a:endParaRPr lang="en-US" sz="1200" dirty="0"/>
          </a:p>
        </p:txBody>
      </p:sp>
      <p:sp>
        <p:nvSpPr>
          <p:cNvPr id="19" name="Etiqueta Maine"/>
          <p:cNvSpPr/>
          <p:nvPr/>
        </p:nvSpPr>
        <p:spPr>
          <a:xfrm>
            <a:off x="4846320" y="2212848"/>
            <a:ext cx="690372" cy="310896"/>
          </a:xfrm>
          <a:prstGeom prst="roundRect">
            <a:avLst>
              <a:gd name="adj" fmla="val 50000"/>
            </a:avLst>
          </a:prstGeom>
          <a:solidFill>
            <a:srgbClr val="FDE7F3"/>
          </a:solidFill>
          <a:ln/>
        </p:spPr>
      </p:sp>
      <p:sp>
        <p:nvSpPr>
          <p:cNvPr id="20" name="Text 18"/>
          <p:cNvSpPr txBox="1"/>
          <p:nvPr/>
        </p:nvSpPr>
        <p:spPr>
          <a:xfrm>
            <a:off x="4846320" y="2212848"/>
            <a:ext cx="690372"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Maine</a:t>
            </a:r>
            <a:endParaRPr lang="en-US" sz="1200" dirty="0"/>
          </a:p>
        </p:txBody>
      </p:sp>
      <p:sp>
        <p:nvSpPr>
          <p:cNvPr id="21" name="Etiqueta Cavite"/>
          <p:cNvSpPr/>
          <p:nvPr/>
        </p:nvSpPr>
        <p:spPr>
          <a:xfrm>
            <a:off x="5628132" y="2212848"/>
            <a:ext cx="766267" cy="310896"/>
          </a:xfrm>
          <a:prstGeom prst="roundRect">
            <a:avLst>
              <a:gd name="adj" fmla="val 50000"/>
            </a:avLst>
          </a:prstGeom>
          <a:solidFill>
            <a:srgbClr val="FDE7F3"/>
          </a:solidFill>
          <a:ln/>
        </p:spPr>
      </p:sp>
      <p:sp>
        <p:nvSpPr>
          <p:cNvPr id="22" name="Text 20"/>
          <p:cNvSpPr txBox="1"/>
          <p:nvPr/>
        </p:nvSpPr>
        <p:spPr>
          <a:xfrm>
            <a:off x="5628132" y="2212848"/>
            <a:ext cx="766267"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Cavite</a:t>
            </a:r>
            <a:endParaRPr lang="en-US" sz="1200" dirty="0"/>
          </a:p>
        </p:txBody>
      </p:sp>
      <p:sp>
        <p:nvSpPr>
          <p:cNvPr id="23" name="Etiqueta Tractat de París"/>
          <p:cNvSpPr/>
          <p:nvPr/>
        </p:nvSpPr>
        <p:spPr>
          <a:xfrm>
            <a:off x="6485839" y="2212848"/>
            <a:ext cx="1525219" cy="310896"/>
          </a:xfrm>
          <a:prstGeom prst="roundRect">
            <a:avLst>
              <a:gd name="adj" fmla="val 50000"/>
            </a:avLst>
          </a:prstGeom>
          <a:solidFill>
            <a:srgbClr val="FDE7F3"/>
          </a:solidFill>
          <a:ln/>
        </p:spPr>
      </p:sp>
      <p:sp>
        <p:nvSpPr>
          <p:cNvPr id="24" name="Text 22"/>
          <p:cNvSpPr txBox="1"/>
          <p:nvPr/>
        </p:nvSpPr>
        <p:spPr>
          <a:xfrm>
            <a:off x="6485839" y="2212848"/>
            <a:ext cx="152521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Tractat de París</a:t>
            </a:r>
            <a:endParaRPr lang="en-US" sz="1200" dirty="0"/>
          </a:p>
        </p:txBody>
      </p:sp>
      <p:sp>
        <p:nvSpPr>
          <p:cNvPr id="25" name="Etiqueta Regeneracionisme"/>
          <p:cNvSpPr/>
          <p:nvPr/>
        </p:nvSpPr>
        <p:spPr>
          <a:xfrm>
            <a:off x="8102498" y="2212848"/>
            <a:ext cx="1525219" cy="310896"/>
          </a:xfrm>
          <a:prstGeom prst="roundRect">
            <a:avLst>
              <a:gd name="adj" fmla="val 50000"/>
            </a:avLst>
          </a:prstGeom>
          <a:solidFill>
            <a:srgbClr val="FDE7F3"/>
          </a:solidFill>
          <a:ln/>
        </p:spPr>
      </p:sp>
      <p:sp>
        <p:nvSpPr>
          <p:cNvPr id="26" name="Text 24"/>
          <p:cNvSpPr txBox="1"/>
          <p:nvPr/>
        </p:nvSpPr>
        <p:spPr>
          <a:xfrm>
            <a:off x="8102498" y="2212848"/>
            <a:ext cx="152521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Regeneracionisme</a:t>
            </a:r>
            <a:endParaRPr lang="en-US" sz="1200" dirty="0"/>
          </a:p>
        </p:txBody>
      </p:sp>
      <p:sp>
        <p:nvSpPr>
          <p:cNvPr id="27" name="Etiqueta Generació del 98"/>
          <p:cNvSpPr/>
          <p:nvPr/>
        </p:nvSpPr>
        <p:spPr>
          <a:xfrm>
            <a:off x="9719158" y="2212848"/>
            <a:ext cx="1525219" cy="310896"/>
          </a:xfrm>
          <a:prstGeom prst="roundRect">
            <a:avLst>
              <a:gd name="adj" fmla="val 50000"/>
            </a:avLst>
          </a:prstGeom>
          <a:solidFill>
            <a:srgbClr val="FDE7F3"/>
          </a:solidFill>
          <a:ln/>
        </p:spPr>
      </p:sp>
      <p:sp>
        <p:nvSpPr>
          <p:cNvPr id="28" name="Text 26"/>
          <p:cNvSpPr txBox="1"/>
          <p:nvPr/>
        </p:nvSpPr>
        <p:spPr>
          <a:xfrm>
            <a:off x="9719158" y="2212848"/>
            <a:ext cx="152521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Generació del 98</a:t>
            </a:r>
            <a:endParaRPr lang="en-US" sz="1200" dirty="0"/>
          </a:p>
        </p:txBody>
      </p:sp>
      <p:sp>
        <p:nvSpPr>
          <p:cNvPr id="29" name="Exercici PAU"/>
          <p:cNvSpPr/>
          <p:nvPr/>
        </p:nvSpPr>
        <p:spPr>
          <a:xfrm>
            <a:off x="4846320" y="2779776"/>
            <a:ext cx="6796735" cy="3255264"/>
          </a:xfrm>
          <a:prstGeom prst="roundRect">
            <a:avLst>
              <a:gd name="adj" fmla="val 3090"/>
            </a:avLst>
          </a:prstGeom>
          <a:solidFill>
            <a:srgbClr val="FFFFFF"/>
          </a:solidFill>
          <a:ln w="12700">
            <a:solidFill>
              <a:srgbClr val="DADCE0"/>
            </a:solidFill>
            <a:prstDash val="solid"/>
          </a:ln>
        </p:spPr>
      </p:sp>
      <p:sp>
        <p:nvSpPr>
          <p:cNvPr id="30" name="Etiqueta Fonts reals · preguntes amb el format de la Sèrie 0"/>
          <p:cNvSpPr/>
          <p:nvPr/>
        </p:nvSpPr>
        <p:spPr>
          <a:xfrm>
            <a:off x="5120640" y="2980944"/>
            <a:ext cx="4274820" cy="310896"/>
          </a:xfrm>
          <a:prstGeom prst="roundRect">
            <a:avLst>
              <a:gd name="adj" fmla="val 50000"/>
            </a:avLst>
          </a:prstGeom>
          <a:solidFill>
            <a:srgbClr val="FDE7F3"/>
          </a:solidFill>
          <a:ln/>
        </p:spPr>
      </p:sp>
      <p:sp>
        <p:nvSpPr>
          <p:cNvPr id="31" name="Text 29"/>
          <p:cNvSpPr txBox="1"/>
          <p:nvPr/>
        </p:nvSpPr>
        <p:spPr>
          <a:xfrm>
            <a:off x="5120640" y="2980944"/>
            <a:ext cx="4274820" cy="310896"/>
          </a:xfrm>
          <a:prstGeom prst="rect">
            <a:avLst/>
          </a:prstGeom>
          <a:noFill/>
          <a:ln/>
        </p:spPr>
        <p:txBody>
          <a:bodyPr wrap="square" lIns="0" tIns="0" rIns="0" bIns="0" rtlCol="0" anchor="ctr"/>
          <a:lstStyle/>
          <a:p>
            <a:pPr algn="ctr" indent="0" marL="0">
              <a:buNone/>
            </a:pPr>
            <a:r>
              <a:rPr lang="en-US" sz="1150" b="1" dirty="0">
                <a:solidFill>
                  <a:srgbClr val="B80672"/>
                </a:solidFill>
                <a:latin typeface="Roboto" pitchFamily="34" charset="0"/>
                <a:ea typeface="Roboto" pitchFamily="34" charset="-122"/>
                <a:cs typeface="Roboto" pitchFamily="34" charset="-120"/>
              </a:rPr>
              <a:t>Fonts reals · preguntes amb el format de la Sèrie 0</a:t>
            </a:r>
            <a:endParaRPr lang="en-US" sz="1150" dirty="0"/>
          </a:p>
        </p:txBody>
      </p:sp>
      <p:sp>
        <p:nvSpPr>
          <p:cNvPr id="32" name="Text 30"/>
          <p:cNvSpPr txBox="1"/>
          <p:nvPr/>
        </p:nvSpPr>
        <p:spPr>
          <a:xfrm>
            <a:off x="5120640" y="3383280"/>
            <a:ext cx="6248095" cy="32004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Exercici 1 · Comentari de fonts</a:t>
            </a:r>
            <a:endParaRPr lang="en-US" sz="1500" dirty="0"/>
          </a:p>
        </p:txBody>
      </p:sp>
      <p:sp>
        <p:nvSpPr>
          <p:cNvPr id="33" name="Text 31"/>
          <p:cNvSpPr txBox="1"/>
          <p:nvPr/>
        </p:nvSpPr>
        <p:spPr>
          <a:xfrm>
            <a:off x="5120640" y="3767328"/>
            <a:ext cx="6248095" cy="2157984"/>
          </a:xfrm>
          <a:prstGeom prst="rect">
            <a:avLst/>
          </a:prstGeom>
          <a:noFill/>
          <a:ln/>
        </p:spPr>
        <p:txBody>
          <a:bodyPr wrap="square" lIns="0" tIns="0" rIns="0" bIns="0" rtlCol="0" anchor="t"/>
          <a:lstStyle/>
          <a:p>
            <a:pPr indent="0" marL="0">
              <a:spcAft>
                <a:spcPts val="700"/>
              </a:spcAft>
              <a:buNone/>
            </a:pPr>
            <a:r>
              <a:rPr lang="en-US" sz="1800" i="1" dirty="0">
                <a:solidFill>
                  <a:srgbClr val="202124"/>
                </a:solidFill>
                <a:latin typeface="Roboto" pitchFamily="34" charset="0"/>
                <a:ea typeface="Roboto" pitchFamily="34" charset="-122"/>
                <a:cs typeface="Roboto" pitchFamily="34" charset="-120"/>
              </a:rPr>
              <a:t>La Constitució de 1876 i Joaquín Costa.</a:t>
            </a:r>
            <a:endParaRPr lang="en-US" sz="1800" dirty="0"/>
          </a:p>
          <a:p>
            <a:pPr indent="0" marL="0">
              <a:spcAft>
                <a:spcPts val="700"/>
              </a:spcAft>
              <a:buNone/>
            </a:pPr>
            <a:r>
              <a:rPr lang="en-US" sz="1450" dirty="0">
                <a:solidFill>
                  <a:srgbClr val="5F6368"/>
                </a:solidFill>
                <a:latin typeface="Roboto" pitchFamily="34" charset="0"/>
                <a:ea typeface="Roboto" pitchFamily="34" charset="-122"/>
                <a:cs typeface="Roboto" pitchFamily="34" charset="-120"/>
              </a:rPr>
              <a:t>Dues idees fonamentals de cada font i una breu redacció sobre la distància entre el funcionament teòric i el funcionament real del sistema polític de la Restauració.</a:t>
            </a:r>
            <a:endParaRPr lang="en-US" sz="1800" dirty="0"/>
          </a:p>
          <a:p>
            <a:pPr indent="0" marL="0">
              <a:spcAft>
                <a:spcPts val="700"/>
              </a:spcAft>
              <a:buNone/>
            </a:pPr>
            <a:r>
              <a:rPr lang="en-US" sz="1350" b="1" u="sng" dirty="0">
                <a:solidFill>
                  <a:srgbClr val="B80672"/>
                </a:solidFill>
                <a:latin typeface="Roboto" pitchFamily="34" charset="0"/>
                <a:ea typeface="Roboto" pitchFamily="34" charset="-122"/>
                <a:cs typeface="Roboto" pitchFamily="34" charset="-120"/>
                <a:hlinkClick r:id="rId1" invalidUrl="" action="" tgtFrame="" tooltip="Taller PAU" history="1" highlightClick="0" endSnd="0">
                  <a:extLst>
                    <a:ext uri="{A12FA001-AC4F-418D-AE19-62706E023703}">
                      <ahyp:hlinkClr xmlns:ahyp="http://schemas.microsoft.com/office/drawing/2018/hyperlinkcolor" val="tx"/>
                    </a:ext>
                  </a:extLst>
                </a:hlinkClick>
              </a:rPr>
              <a:t>Pas a pas al Taller PAU del tema.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B80672"/>
          </a:solidFill>
          <a:ln/>
        </p:spPr>
      </p:sp>
      <p:pic>
        <p:nvPicPr>
          <p:cNvPr id="3" name="Il·lustració del Congrés i una urna" descr="/tmp/claude-0/-home-claude-historia-2batx/57a75df9-64d0-585a-8d62-369d37bdd596/scratchpad/deck/hero-crop.png">    </p:cNvPr>
          <p:cNvPicPr>
            <a:picLocks noChangeAspect="1"/>
          </p:cNvPicPr>
          <p:nvPr/>
        </p:nvPicPr>
        <p:blipFill>
          <a:blip r:embed="rId1"/>
          <a:stretch>
            <a:fillRect/>
          </a:stretch>
        </p:blipFill>
        <p:spPr>
          <a:xfrm>
            <a:off x="3520440" y="2795465"/>
            <a:ext cx="3566160" cy="1392487"/>
          </a:xfrm>
          <a:prstGeom prst="rect">
            <a:avLst/>
          </a:prstGeom>
        </p:spPr>
      </p:pic>
      <p:sp>
        <p:nvSpPr>
          <p:cNvPr id="4" name="Etiqueta Apartat 4  ·  1898–1923"/>
          <p:cNvSpPr/>
          <p:nvPr/>
        </p:nvSpPr>
        <p:spPr>
          <a:xfrm>
            <a:off x="960120" y="896112"/>
            <a:ext cx="2161642" cy="310896"/>
          </a:xfrm>
          <a:prstGeom prst="roundRect">
            <a:avLst>
              <a:gd name="adj" fmla="val 50000"/>
            </a:avLst>
          </a:prstGeom>
          <a:solidFill>
            <a:srgbClr val="FFFFFF">
              <a:alpha val="18000"/>
            </a:srgbClr>
          </a:solidFill>
          <a:ln/>
        </p:spPr>
      </p:sp>
      <p:sp>
        <p:nvSpPr>
          <p:cNvPr id="5" name="Text 2"/>
          <p:cNvSpPr txBox="1"/>
          <p:nvPr/>
        </p:nvSpPr>
        <p:spPr>
          <a:xfrm>
            <a:off x="960120" y="896112"/>
            <a:ext cx="2161642"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4  ·  1898–1923</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La crisi del sistema</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B80672"/>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Per què el sistema no es va saber reformar i va viure vint-i-cinc anys de crisi?</a:t>
            </a:r>
            <a:endParaRPr lang="en-US" sz="1900" dirty="0"/>
          </a:p>
        </p:txBody>
      </p:sp>
      <p:sp>
        <p:nvSpPr>
          <p:cNvPr id="10" name="Fons La crisi del sistema"/>
          <p:cNvSpPr/>
          <p:nvPr/>
        </p:nvSpPr>
        <p:spPr>
          <a:xfrm>
            <a:off x="7635240" y="608076"/>
            <a:ext cx="4007815" cy="4572000"/>
          </a:xfrm>
          <a:prstGeom prst="roundRect">
            <a:avLst>
              <a:gd name="adj" fmla="val 2510"/>
            </a:avLst>
          </a:prstGeom>
          <a:solidFill>
            <a:srgbClr val="F6F8FB"/>
          </a:solidFill>
          <a:ln/>
        </p:spPr>
      </p:sp>
      <p:pic>
        <p:nvPicPr>
          <p:cNvPr id="11" name="La crisi del sistema" descr="/home/claude/historia-2batx/media/tema-1/vaga1917.jpg">    </p:cNvPr>
          <p:cNvPicPr>
            <a:picLocks noChangeAspect="1"/>
          </p:cNvPicPr>
          <p:nvPr/>
        </p:nvPicPr>
        <p:blipFill>
          <a:blip r:embed="rId2"/>
          <a:stretch>
            <a:fillRect/>
          </a:stretch>
        </p:blipFill>
        <p:spPr>
          <a:xfrm>
            <a:off x="7958938" y="608076"/>
            <a:ext cx="3360420" cy="4572000"/>
          </a:xfrm>
          <a:prstGeom prst="rect">
            <a:avLst/>
          </a:prstGeom>
        </p:spPr>
      </p:pic>
      <p:sp>
        <p:nvSpPr>
          <p:cNvPr id="12" name="Text 8"/>
          <p:cNvSpPr txBox="1"/>
          <p:nvPr/>
        </p:nvSpPr>
        <p:spPr>
          <a:xfrm>
            <a:off x="7635240" y="5289804"/>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Locomotora custodiada per soldats durant la vaga general d'agost de 1917. Portada de «La Mañana» (Madrid) del 14 d'agost de 1917, fotografia de José Pío Alonso. Domini públic, Wikimedia Commons.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què el sistema va entrar en crisi</a:t>
            </a:r>
            <a:endParaRPr lang="en-US" sz="2800" dirty="0"/>
          </a:p>
        </p:txBody>
      </p:sp>
      <p:sp>
        <p:nvSpPr>
          <p:cNvPr id="5" name="Targeta Un rei que intervenia"/>
          <p:cNvSpPr/>
          <p:nvPr/>
        </p:nvSpPr>
        <p:spPr>
          <a:xfrm>
            <a:off x="548640" y="1417320"/>
            <a:ext cx="2567864" cy="3337560"/>
          </a:xfrm>
          <a:prstGeom prst="roundRect">
            <a:avLst>
              <a:gd name="adj" fmla="val 3917"/>
            </a:avLst>
          </a:prstGeom>
          <a:solidFill>
            <a:srgbClr val="FFFFFF"/>
          </a:solidFill>
          <a:ln w="12700">
            <a:solidFill>
              <a:srgbClr val="DADCE0"/>
            </a:solidFill>
            <a:prstDash val="solid"/>
          </a:ln>
        </p:spPr>
      </p:sp>
      <p:sp>
        <p:nvSpPr>
          <p:cNvPr id="6" name="Text 4"/>
          <p:cNvSpPr txBox="1"/>
          <p:nvPr/>
        </p:nvSpPr>
        <p:spPr>
          <a:xfrm>
            <a:off x="777240" y="1600200"/>
            <a:ext cx="2110664" cy="5181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Un rei que intervenia</a:t>
            </a:r>
            <a:endParaRPr lang="en-US" sz="1700" dirty="0"/>
          </a:p>
        </p:txBody>
      </p:sp>
      <p:sp>
        <p:nvSpPr>
          <p:cNvPr id="7" name="Text 5"/>
          <p:cNvSpPr txBox="1"/>
          <p:nvPr/>
        </p:nvSpPr>
        <p:spPr>
          <a:xfrm>
            <a:off x="777240" y="2228088"/>
            <a:ext cx="2110664" cy="24079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Alfons XIII regna des del 1902, en complir setze anys. Intervé sovint en la política, sobretot en els afers militars.</a:t>
            </a:r>
            <a:endParaRPr lang="en-US" sz="1450" dirty="0"/>
          </a:p>
        </p:txBody>
      </p:sp>
      <p:sp>
        <p:nvSpPr>
          <p:cNvPr id="8" name="Targeta Uns partits dividits"/>
          <p:cNvSpPr/>
          <p:nvPr/>
        </p:nvSpPr>
        <p:spPr>
          <a:xfrm>
            <a:off x="3390824" y="1417320"/>
            <a:ext cx="2567864" cy="3337560"/>
          </a:xfrm>
          <a:prstGeom prst="roundRect">
            <a:avLst>
              <a:gd name="adj" fmla="val 3917"/>
            </a:avLst>
          </a:prstGeom>
          <a:solidFill>
            <a:srgbClr val="FFFFFF"/>
          </a:solidFill>
          <a:ln w="12700">
            <a:solidFill>
              <a:srgbClr val="DADCE0"/>
            </a:solidFill>
            <a:prstDash val="solid"/>
          </a:ln>
        </p:spPr>
      </p:sp>
      <p:sp>
        <p:nvSpPr>
          <p:cNvPr id="9" name="Text 7"/>
          <p:cNvSpPr txBox="1"/>
          <p:nvPr/>
        </p:nvSpPr>
        <p:spPr>
          <a:xfrm>
            <a:off x="3619424" y="1600200"/>
            <a:ext cx="2110664" cy="5181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Uns partits dividits</a:t>
            </a:r>
            <a:endParaRPr lang="en-US" sz="1700" dirty="0"/>
          </a:p>
        </p:txBody>
      </p:sp>
      <p:sp>
        <p:nvSpPr>
          <p:cNvPr id="10" name="Text 8"/>
          <p:cNvSpPr txBox="1"/>
          <p:nvPr/>
        </p:nvSpPr>
        <p:spPr>
          <a:xfrm>
            <a:off x="3619424" y="2228088"/>
            <a:ext cx="2110664" cy="24079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Morts Cánovas (1897) i Sagasta (1903), els partits es divideixen en faccions. Més de trenta canvis de govern entre 1901 i 1923.</a:t>
            </a:r>
            <a:endParaRPr lang="en-US" sz="1450" dirty="0"/>
          </a:p>
        </p:txBody>
      </p:sp>
      <p:sp>
        <p:nvSpPr>
          <p:cNvPr id="11" name="Targeta Una societat que canviava"/>
          <p:cNvSpPr/>
          <p:nvPr/>
        </p:nvSpPr>
        <p:spPr>
          <a:xfrm>
            <a:off x="6233008" y="1417320"/>
            <a:ext cx="2567864" cy="3337560"/>
          </a:xfrm>
          <a:prstGeom prst="roundRect">
            <a:avLst>
              <a:gd name="adj" fmla="val 3917"/>
            </a:avLst>
          </a:prstGeom>
          <a:solidFill>
            <a:srgbClr val="FFFFFF"/>
          </a:solidFill>
          <a:ln w="12700">
            <a:solidFill>
              <a:srgbClr val="DADCE0"/>
            </a:solidFill>
            <a:prstDash val="solid"/>
          </a:ln>
        </p:spPr>
      </p:sp>
      <p:sp>
        <p:nvSpPr>
          <p:cNvPr id="12" name="Text 10"/>
          <p:cNvSpPr txBox="1"/>
          <p:nvPr/>
        </p:nvSpPr>
        <p:spPr>
          <a:xfrm>
            <a:off x="6461608" y="1600200"/>
            <a:ext cx="2110664" cy="5181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Una societat que canviava</a:t>
            </a:r>
            <a:endParaRPr lang="en-US" sz="1700" dirty="0"/>
          </a:p>
        </p:txBody>
      </p:sp>
      <p:sp>
        <p:nvSpPr>
          <p:cNvPr id="13" name="Text 11"/>
          <p:cNvSpPr txBox="1"/>
          <p:nvPr/>
        </p:nvSpPr>
        <p:spPr>
          <a:xfrm>
            <a:off x="6461608" y="2228088"/>
            <a:ext cx="2110664" cy="24079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Creixen les classes mitjanes i obreres de les ciutats, i amb elles republicans, catalanistes i socialistes, que el caciquisme no controla.</a:t>
            </a:r>
            <a:endParaRPr lang="en-US" sz="1450" dirty="0"/>
          </a:p>
        </p:txBody>
      </p:sp>
      <p:sp>
        <p:nvSpPr>
          <p:cNvPr id="14" name="Targeta Problemes sense resoldre"/>
          <p:cNvSpPr/>
          <p:nvPr/>
        </p:nvSpPr>
        <p:spPr>
          <a:xfrm>
            <a:off x="9075191" y="1417320"/>
            <a:ext cx="2567864" cy="3337560"/>
          </a:xfrm>
          <a:prstGeom prst="roundRect">
            <a:avLst>
              <a:gd name="adj" fmla="val 3917"/>
            </a:avLst>
          </a:prstGeom>
          <a:solidFill>
            <a:srgbClr val="FFFFFF"/>
          </a:solidFill>
          <a:ln w="12700">
            <a:solidFill>
              <a:srgbClr val="DADCE0"/>
            </a:solidFill>
            <a:prstDash val="solid"/>
          </a:ln>
        </p:spPr>
      </p:sp>
      <p:sp>
        <p:nvSpPr>
          <p:cNvPr id="15" name="Text 13"/>
          <p:cNvSpPr txBox="1"/>
          <p:nvPr/>
        </p:nvSpPr>
        <p:spPr>
          <a:xfrm>
            <a:off x="9303791" y="1600200"/>
            <a:ext cx="2110664" cy="5181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Problemes sense resoldre</a:t>
            </a:r>
            <a:endParaRPr lang="en-US" sz="1700" dirty="0"/>
          </a:p>
        </p:txBody>
      </p:sp>
      <p:sp>
        <p:nvSpPr>
          <p:cNvPr id="16" name="Text 14"/>
          <p:cNvSpPr txBox="1"/>
          <p:nvPr/>
        </p:nvSpPr>
        <p:spPr>
          <a:xfrm>
            <a:off x="9303791" y="2228088"/>
            <a:ext cx="2110664" cy="24079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La guerra del Marroc, el poder de l'exèrcit, la conflictivitat obrera i les reivindicacions de Catalunya.</a:t>
            </a:r>
            <a:endParaRPr lang="en-US" sz="1450" dirty="0"/>
          </a:p>
        </p:txBody>
      </p:sp>
      <p:sp>
        <p:nvSpPr>
          <p:cNvPr id="17" name="La clau"/>
          <p:cNvSpPr/>
          <p:nvPr/>
        </p:nvSpPr>
        <p:spPr>
          <a:xfrm>
            <a:off x="548640" y="4983480"/>
            <a:ext cx="11094415" cy="1005840"/>
          </a:xfrm>
          <a:prstGeom prst="roundRect">
            <a:avLst>
              <a:gd name="adj" fmla="val 10000"/>
            </a:avLst>
          </a:prstGeom>
          <a:solidFill>
            <a:srgbClr val="FDE7F3"/>
          </a:solidFill>
          <a:ln/>
        </p:spPr>
      </p:sp>
      <p:sp>
        <p:nvSpPr>
          <p:cNvPr id="18" name="Text 16"/>
          <p:cNvSpPr txBox="1"/>
          <p:nvPr/>
        </p:nvSpPr>
        <p:spPr>
          <a:xfrm>
            <a:off x="868680" y="5138928"/>
            <a:ext cx="1045433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La clau</a:t>
            </a:r>
            <a:endParaRPr lang="en-US" sz="1400" dirty="0"/>
          </a:p>
        </p:txBody>
      </p:sp>
      <p:sp>
        <p:nvSpPr>
          <p:cNvPr id="19" name="Text 17"/>
          <p:cNvSpPr txBox="1"/>
          <p:nvPr/>
        </p:nvSpPr>
        <p:spPr>
          <a:xfrm>
            <a:off x="868680" y="5486400"/>
            <a:ext cx="10454335" cy="3657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Les causes es reforçaven entre si. Per això la crisi va durar vint-i-cinc anys i va acabar amb un cop d'estat.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Reformar el sistema des de dalt</a:t>
            </a:r>
            <a:endParaRPr lang="en-US" sz="2800" dirty="0"/>
          </a:p>
        </p:txBody>
      </p:sp>
      <p:sp>
        <p:nvSpPr>
          <p:cNvPr id="5" name="Revolució des de dalt"/>
          <p:cNvSpPr/>
          <p:nvPr/>
        </p:nvSpPr>
        <p:spPr>
          <a:xfrm>
            <a:off x="548640" y="1417320"/>
            <a:ext cx="11094415" cy="1051560"/>
          </a:xfrm>
          <a:prstGeom prst="roundRect">
            <a:avLst>
              <a:gd name="adj" fmla="val 9565"/>
            </a:avLst>
          </a:prstGeom>
          <a:solidFill>
            <a:srgbClr val="FDE7F3"/>
          </a:solidFill>
          <a:ln/>
        </p:spPr>
      </p:sp>
      <p:sp>
        <p:nvSpPr>
          <p:cNvPr id="6" name="Text 4"/>
          <p:cNvSpPr txBox="1"/>
          <p:nvPr/>
        </p:nvSpPr>
        <p:spPr>
          <a:xfrm>
            <a:off x="868680" y="1572768"/>
            <a:ext cx="1045433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Revolució des de dalt</a:t>
            </a:r>
            <a:endParaRPr lang="en-US" sz="1400" dirty="0"/>
          </a:p>
        </p:txBody>
      </p:sp>
      <p:sp>
        <p:nvSpPr>
          <p:cNvPr id="7" name="Text 5"/>
          <p:cNvSpPr txBox="1"/>
          <p:nvPr/>
        </p:nvSpPr>
        <p:spPr>
          <a:xfrm>
            <a:off x="868680" y="1920240"/>
            <a:ext cx="10454335" cy="4114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Reformar el sistema des del poder, de manera ordenada, per evitar una revolució des de baix, al carrer.</a:t>
            </a:r>
            <a:endParaRPr lang="en-US" sz="1500" dirty="0"/>
          </a:p>
        </p:txBody>
      </p:sp>
      <p:sp>
        <p:nvSpPr>
          <p:cNvPr id="8" name="Antoni Maura, conservador (1907-1909)"/>
          <p:cNvSpPr/>
          <p:nvPr/>
        </p:nvSpPr>
        <p:spPr>
          <a:xfrm>
            <a:off x="548640" y="2697480"/>
            <a:ext cx="5410048" cy="3291840"/>
          </a:xfrm>
          <a:prstGeom prst="roundRect">
            <a:avLst>
              <a:gd name="adj" fmla="val 3056"/>
            </a:avLst>
          </a:prstGeom>
          <a:solidFill>
            <a:srgbClr val="FFFFFF"/>
          </a:solidFill>
          <a:ln w="12700">
            <a:solidFill>
              <a:srgbClr val="DADCE0"/>
            </a:solidFill>
            <a:prstDash val="solid"/>
          </a:ln>
        </p:spPr>
      </p:sp>
      <p:sp>
        <p:nvSpPr>
          <p:cNvPr id="9" name="Text 7"/>
          <p:cNvSpPr txBox="1"/>
          <p:nvPr/>
        </p:nvSpPr>
        <p:spPr>
          <a:xfrm>
            <a:off x="822960" y="2880360"/>
            <a:ext cx="4861408"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Antoni Maura, conservador (1907-1909)</a:t>
            </a:r>
            <a:endParaRPr lang="en-US" sz="1700" dirty="0"/>
          </a:p>
        </p:txBody>
      </p:sp>
      <p:sp>
        <p:nvSpPr>
          <p:cNvPr id="10" name="Text 8"/>
          <p:cNvSpPr txBox="1"/>
          <p:nvPr/>
        </p:nvSpPr>
        <p:spPr>
          <a:xfrm>
            <a:off x="822960" y="3337560"/>
            <a:ext cx="4861408" cy="256032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Vol arrencar d'arrel el caciquisme i atreure les «masses neutres».</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Llei electoral de 1907. Vot obligatori, però l'article 29 facilita el control dels cacics.</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Institut Nacional de Previsió (1908).</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Llei d'administració local, amb la Lliga.</a:t>
            </a:r>
            <a:endParaRPr lang="en-US" sz="1450" dirty="0"/>
          </a:p>
        </p:txBody>
      </p:sp>
      <p:sp>
        <p:nvSpPr>
          <p:cNvPr id="11" name="José Canalejas, liberal (1910-1912)"/>
          <p:cNvSpPr/>
          <p:nvPr/>
        </p:nvSpPr>
        <p:spPr>
          <a:xfrm>
            <a:off x="6233008" y="2697480"/>
            <a:ext cx="5410048" cy="3291840"/>
          </a:xfrm>
          <a:prstGeom prst="roundRect">
            <a:avLst>
              <a:gd name="adj" fmla="val 3056"/>
            </a:avLst>
          </a:prstGeom>
          <a:solidFill>
            <a:srgbClr val="FFFFFF"/>
          </a:solidFill>
          <a:ln w="12700">
            <a:solidFill>
              <a:srgbClr val="DADCE0"/>
            </a:solidFill>
            <a:prstDash val="solid"/>
          </a:ln>
        </p:spPr>
      </p:sp>
      <p:sp>
        <p:nvSpPr>
          <p:cNvPr id="12" name="Text 10"/>
          <p:cNvSpPr txBox="1"/>
          <p:nvPr/>
        </p:nvSpPr>
        <p:spPr>
          <a:xfrm>
            <a:off x="6507328" y="2880360"/>
            <a:ext cx="4861408"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José Canalejas, liberal (1910-1912)</a:t>
            </a:r>
            <a:endParaRPr lang="en-US" sz="1700" dirty="0"/>
          </a:p>
        </p:txBody>
      </p:sp>
      <p:sp>
        <p:nvSpPr>
          <p:cNvPr id="13" name="Text 11"/>
          <p:cNvSpPr txBox="1"/>
          <p:nvPr/>
        </p:nvSpPr>
        <p:spPr>
          <a:xfrm>
            <a:off x="6507328" y="3337560"/>
            <a:ext cx="4861408" cy="256032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Vol modernitzar l'Estat i reduir el poder de l'Església. Llei del Cadenat (1910).</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Suprimeix l'impost de consums.</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Servei militar obligatori, però amb els «soldats de quota».</a:t>
            </a:r>
            <a:endParaRPr lang="en-US" sz="1450" dirty="0"/>
          </a:p>
          <a:p>
            <a:pPr marL="177800" indent="-177800">
              <a:spcAft>
                <a:spcPts val="600"/>
              </a:spcAft>
              <a:buSzPct val="100000"/>
              <a:buChar char="•"/>
            </a:pPr>
            <a:r>
              <a:rPr lang="en-US" sz="1450" dirty="0">
                <a:solidFill>
                  <a:srgbClr val="202124"/>
                </a:solidFill>
                <a:latin typeface="Roboto" pitchFamily="34" charset="0"/>
                <a:ea typeface="Roboto" pitchFamily="34" charset="-122"/>
                <a:cs typeface="Roboto" pitchFamily="34" charset="-120"/>
              </a:rPr>
              <a:t>Impulsa la llei de mancomunitats. Assassinat el 1912.</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L'exèrcit, el Marroc i la Setmana Tràgica (1909)</a:t>
            </a:r>
            <a:endParaRPr lang="en-US" sz="2800" dirty="0"/>
          </a:p>
        </p:txBody>
      </p:sp>
      <p:sp>
        <p:nvSpPr>
          <p:cNvPr id="5" name="Militarisme"/>
          <p:cNvSpPr/>
          <p:nvPr/>
        </p:nvSpPr>
        <p:spPr>
          <a:xfrm>
            <a:off x="548640" y="1417320"/>
            <a:ext cx="3749040" cy="1371600"/>
          </a:xfrm>
          <a:prstGeom prst="roundRect">
            <a:avLst>
              <a:gd name="adj" fmla="val 7333"/>
            </a:avLst>
          </a:prstGeom>
          <a:solidFill>
            <a:srgbClr val="FDE7F3"/>
          </a:solidFill>
          <a:ln/>
        </p:spPr>
      </p:sp>
      <p:sp>
        <p:nvSpPr>
          <p:cNvPr id="6" name="Text 4"/>
          <p:cNvSpPr txBox="1"/>
          <p:nvPr/>
        </p:nvSpPr>
        <p:spPr>
          <a:xfrm>
            <a:off x="868680" y="1572768"/>
            <a:ext cx="310896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Militarisme</a:t>
            </a:r>
            <a:endParaRPr lang="en-US" sz="1400" dirty="0"/>
          </a:p>
        </p:txBody>
      </p:sp>
      <p:sp>
        <p:nvSpPr>
          <p:cNvPr id="7" name="Text 5"/>
          <p:cNvSpPr txBox="1"/>
          <p:nvPr/>
        </p:nvSpPr>
        <p:spPr>
          <a:xfrm>
            <a:off x="868680" y="1920240"/>
            <a:ext cx="3108960" cy="7315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Intervenció de l'exèrcit en la política per imposar els seus interessos i la seva visió del país.</a:t>
            </a:r>
            <a:endParaRPr lang="en-US" sz="1450" dirty="0"/>
          </a:p>
        </p:txBody>
      </p:sp>
      <p:sp>
        <p:nvSpPr>
          <p:cNvPr id="8" name="Línia del temps"/>
          <p:cNvSpPr/>
          <p:nvPr/>
        </p:nvSpPr>
        <p:spPr>
          <a:xfrm>
            <a:off x="649224" y="3154680"/>
            <a:ext cx="0" cy="1920240"/>
          </a:xfrm>
          <a:prstGeom prst="line">
            <a:avLst/>
          </a:prstGeom>
          <a:noFill/>
          <a:ln w="31750">
            <a:solidFill>
              <a:srgbClr val="DADCE0"/>
            </a:solidFill>
            <a:prstDash val="solid"/>
          </a:ln>
        </p:spPr>
      </p:sp>
      <p:sp>
        <p:nvSpPr>
          <p:cNvPr id="9" name="Fita 1905"/>
          <p:cNvSpPr/>
          <p:nvPr/>
        </p:nvSpPr>
        <p:spPr>
          <a:xfrm>
            <a:off x="548640" y="3054096"/>
            <a:ext cx="201168" cy="201168"/>
          </a:xfrm>
          <a:prstGeom prst="ellipse">
            <a:avLst/>
          </a:prstGeom>
          <a:solidFill>
            <a:srgbClr val="FFFFFF"/>
          </a:solidFill>
          <a:ln w="28575">
            <a:solidFill>
              <a:srgbClr val="B80672"/>
            </a:solidFill>
            <a:prstDash val="solid"/>
          </a:ln>
        </p:spPr>
      </p:sp>
      <p:sp>
        <p:nvSpPr>
          <p:cNvPr id="10" name="Text 8"/>
          <p:cNvSpPr txBox="1"/>
          <p:nvPr/>
        </p:nvSpPr>
        <p:spPr>
          <a:xfrm>
            <a:off x="932688" y="3017520"/>
            <a:ext cx="594360" cy="292608"/>
          </a:xfrm>
          <a:prstGeom prst="rect">
            <a:avLst/>
          </a:prstGeom>
          <a:noFill/>
          <a:ln/>
        </p:spPr>
        <p:txBody>
          <a:bodyPr wrap="square" lIns="0" tIns="0" rIns="0" bIns="0" rtlCol="0" anchor="t"/>
          <a:lstStyle/>
          <a:p>
            <a:pPr indent="0" marL="0">
              <a:buNone/>
            </a:pPr>
            <a:r>
              <a:rPr lang="en-US" sz="1350" b="1" dirty="0">
                <a:solidFill>
                  <a:srgbClr val="B80672"/>
                </a:solidFill>
                <a:latin typeface="Roboto" pitchFamily="34" charset="0"/>
                <a:ea typeface="Roboto" pitchFamily="34" charset="-122"/>
                <a:cs typeface="Roboto" pitchFamily="34" charset="-120"/>
              </a:rPr>
              <a:t>1905</a:t>
            </a:r>
            <a:endParaRPr lang="en-US" sz="1350" dirty="0"/>
          </a:p>
        </p:txBody>
      </p:sp>
      <p:sp>
        <p:nvSpPr>
          <p:cNvPr id="11" name="Text 9"/>
          <p:cNvSpPr txBox="1"/>
          <p:nvPr/>
        </p:nvSpPr>
        <p:spPr>
          <a:xfrm>
            <a:off x="1527048" y="3017520"/>
            <a:ext cx="2770632" cy="9144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Uns tres-cents oficials assalten a Barcelona el Cu-cut! i La Veu de Catalunya.</a:t>
            </a:r>
            <a:endParaRPr lang="en-US" sz="1350" dirty="0"/>
          </a:p>
        </p:txBody>
      </p:sp>
      <p:sp>
        <p:nvSpPr>
          <p:cNvPr id="12" name="Fita 1906"/>
          <p:cNvSpPr/>
          <p:nvPr/>
        </p:nvSpPr>
        <p:spPr>
          <a:xfrm>
            <a:off x="548640" y="4014216"/>
            <a:ext cx="201168" cy="201168"/>
          </a:xfrm>
          <a:prstGeom prst="ellipse">
            <a:avLst/>
          </a:prstGeom>
          <a:solidFill>
            <a:srgbClr val="FFFFFF"/>
          </a:solidFill>
          <a:ln w="28575">
            <a:solidFill>
              <a:srgbClr val="B80672"/>
            </a:solidFill>
            <a:prstDash val="solid"/>
          </a:ln>
        </p:spPr>
      </p:sp>
      <p:sp>
        <p:nvSpPr>
          <p:cNvPr id="13" name="Text 11"/>
          <p:cNvSpPr txBox="1"/>
          <p:nvPr/>
        </p:nvSpPr>
        <p:spPr>
          <a:xfrm>
            <a:off x="932688" y="3977640"/>
            <a:ext cx="594360" cy="292608"/>
          </a:xfrm>
          <a:prstGeom prst="rect">
            <a:avLst/>
          </a:prstGeom>
          <a:noFill/>
          <a:ln/>
        </p:spPr>
        <p:txBody>
          <a:bodyPr wrap="square" lIns="0" tIns="0" rIns="0" bIns="0" rtlCol="0" anchor="t"/>
          <a:lstStyle/>
          <a:p>
            <a:pPr indent="0" marL="0">
              <a:buNone/>
            </a:pPr>
            <a:r>
              <a:rPr lang="en-US" sz="1350" b="1" dirty="0">
                <a:solidFill>
                  <a:srgbClr val="B80672"/>
                </a:solidFill>
                <a:latin typeface="Roboto" pitchFamily="34" charset="0"/>
                <a:ea typeface="Roboto" pitchFamily="34" charset="-122"/>
                <a:cs typeface="Roboto" pitchFamily="34" charset="-120"/>
              </a:rPr>
              <a:t>1906</a:t>
            </a:r>
            <a:endParaRPr lang="en-US" sz="1350" dirty="0"/>
          </a:p>
        </p:txBody>
      </p:sp>
      <p:sp>
        <p:nvSpPr>
          <p:cNvPr id="14" name="Text 12"/>
          <p:cNvSpPr txBox="1"/>
          <p:nvPr/>
        </p:nvSpPr>
        <p:spPr>
          <a:xfrm>
            <a:off x="1527048" y="3977640"/>
            <a:ext cx="2770632" cy="9144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Llei de Jurisdiccions. Les ofenses a l'exèrcit, als tribunals militars.</a:t>
            </a:r>
            <a:endParaRPr lang="en-US" sz="1350" dirty="0"/>
          </a:p>
        </p:txBody>
      </p:sp>
      <p:sp>
        <p:nvSpPr>
          <p:cNvPr id="15" name="Fita 1906"/>
          <p:cNvSpPr/>
          <p:nvPr/>
        </p:nvSpPr>
        <p:spPr>
          <a:xfrm>
            <a:off x="548640" y="4974336"/>
            <a:ext cx="201168" cy="201168"/>
          </a:xfrm>
          <a:prstGeom prst="ellipse">
            <a:avLst/>
          </a:prstGeom>
          <a:solidFill>
            <a:srgbClr val="FFFFFF"/>
          </a:solidFill>
          <a:ln w="28575">
            <a:solidFill>
              <a:srgbClr val="B80672"/>
            </a:solidFill>
            <a:prstDash val="solid"/>
          </a:ln>
        </p:spPr>
      </p:sp>
      <p:sp>
        <p:nvSpPr>
          <p:cNvPr id="16" name="Text 14"/>
          <p:cNvSpPr txBox="1"/>
          <p:nvPr/>
        </p:nvSpPr>
        <p:spPr>
          <a:xfrm>
            <a:off x="932688" y="4937760"/>
            <a:ext cx="594360" cy="292608"/>
          </a:xfrm>
          <a:prstGeom prst="rect">
            <a:avLst/>
          </a:prstGeom>
          <a:noFill/>
          <a:ln/>
        </p:spPr>
        <p:txBody>
          <a:bodyPr wrap="square" lIns="0" tIns="0" rIns="0" bIns="0" rtlCol="0" anchor="t"/>
          <a:lstStyle/>
          <a:p>
            <a:pPr indent="0" marL="0">
              <a:buNone/>
            </a:pPr>
            <a:r>
              <a:rPr lang="en-US" sz="1350" b="1" dirty="0">
                <a:solidFill>
                  <a:srgbClr val="B80672"/>
                </a:solidFill>
                <a:latin typeface="Roboto" pitchFamily="34" charset="0"/>
                <a:ea typeface="Roboto" pitchFamily="34" charset="-122"/>
                <a:cs typeface="Roboto" pitchFamily="34" charset="-120"/>
              </a:rPr>
              <a:t>1906</a:t>
            </a:r>
            <a:endParaRPr lang="en-US" sz="1350" dirty="0"/>
          </a:p>
        </p:txBody>
      </p:sp>
      <p:sp>
        <p:nvSpPr>
          <p:cNvPr id="17" name="Text 15"/>
          <p:cNvSpPr txBox="1"/>
          <p:nvPr/>
        </p:nvSpPr>
        <p:spPr>
          <a:xfrm>
            <a:off x="1527048" y="4937760"/>
            <a:ext cx="2770632" cy="9144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Conferència d'Algesires. Protectorat al nord del Marroc (1912).</a:t>
            </a:r>
            <a:endParaRPr lang="en-US" sz="1350" dirty="0"/>
          </a:p>
        </p:txBody>
      </p:sp>
      <p:sp>
        <p:nvSpPr>
          <p:cNvPr id="18" name="Text 16"/>
          <p:cNvSpPr txBox="1"/>
          <p:nvPr/>
        </p:nvSpPr>
        <p:spPr>
          <a:xfrm>
            <a:off x="4572000" y="1417320"/>
            <a:ext cx="3657600" cy="365760"/>
          </a:xfrm>
          <a:prstGeom prst="rect">
            <a:avLst/>
          </a:prstGeom>
          <a:noFill/>
          <a:ln/>
        </p:spPr>
        <p:txBody>
          <a:bodyPr wrap="square" lIns="0" tIns="0" rIns="0" bIns="0" rtlCol="0" anchor="t"/>
          <a:lstStyle/>
          <a:p>
            <a:pPr indent="0" marL="0">
              <a:buNone/>
            </a:pPr>
            <a:r>
              <a:rPr lang="en-US" sz="1800" b="1" dirty="0">
                <a:solidFill>
                  <a:srgbClr val="B80672"/>
                </a:solidFill>
                <a:latin typeface="Roboto" pitchFamily="34" charset="0"/>
                <a:ea typeface="Roboto" pitchFamily="34" charset="-122"/>
                <a:cs typeface="Roboto" pitchFamily="34" charset="-120"/>
              </a:rPr>
              <a:t>La Setmana Tràgica</a:t>
            </a:r>
            <a:endParaRPr lang="en-US" sz="1800" dirty="0"/>
          </a:p>
        </p:txBody>
      </p:sp>
      <p:sp>
        <p:nvSpPr>
          <p:cNvPr id="19" name="Text 17"/>
          <p:cNvSpPr txBox="1"/>
          <p:nvPr/>
        </p:nvSpPr>
        <p:spPr>
          <a:xfrm>
            <a:off x="4572000" y="1874520"/>
            <a:ext cx="3657600"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202124"/>
                </a:solidFill>
                <a:latin typeface="Roboto" pitchFamily="34" charset="0"/>
                <a:ea typeface="Roboto" pitchFamily="34" charset="-122"/>
                <a:cs typeface="Roboto" pitchFamily="34" charset="-120"/>
              </a:rPr>
              <a:t>Juliol de 1909. Maura mobilitza els reservistes, molts obrers casats i pares de família.</a:t>
            </a:r>
            <a:endParaRPr lang="en-US" sz="1400" dirty="0"/>
          </a:p>
          <a:p>
            <a:pPr marL="177800" indent="-177800">
              <a:spcAft>
                <a:spcPts val="600"/>
              </a:spcAft>
              <a:buSzPct val="100000"/>
              <a:buChar char="•"/>
            </a:pPr>
            <a:r>
              <a:rPr lang="en-US" sz="1400" dirty="0">
                <a:solidFill>
                  <a:srgbClr val="202124"/>
                </a:solidFill>
                <a:latin typeface="Roboto" pitchFamily="34" charset="0"/>
                <a:ea typeface="Roboto" pitchFamily="34" charset="-122"/>
                <a:cs typeface="Roboto" pitchFamily="34" charset="-120"/>
              </a:rPr>
              <a:t>Protestes als embarcaments del port de Barcelona i vaga general el 26 de juliol.</a:t>
            </a:r>
            <a:endParaRPr lang="en-US" sz="1400" dirty="0"/>
          </a:p>
          <a:p>
            <a:pPr marL="177800" indent="-177800">
              <a:spcAft>
                <a:spcPts val="600"/>
              </a:spcAft>
              <a:buSzPct val="100000"/>
              <a:buChar char="•"/>
            </a:pPr>
            <a:r>
              <a:rPr lang="en-US" sz="1400" dirty="0">
                <a:solidFill>
                  <a:srgbClr val="202124"/>
                </a:solidFill>
                <a:latin typeface="Roboto" pitchFamily="34" charset="0"/>
                <a:ea typeface="Roboto" pitchFamily="34" charset="-122"/>
                <a:cs typeface="Roboto" pitchFamily="34" charset="-120"/>
              </a:rPr>
              <a:t>La vaga es converteix en revolta. Barricades i crema d'esglésies i convents.</a:t>
            </a:r>
            <a:endParaRPr lang="en-US" sz="1400" dirty="0"/>
          </a:p>
          <a:p>
            <a:pPr marL="177800" indent="-177800">
              <a:spcAft>
                <a:spcPts val="600"/>
              </a:spcAft>
              <a:buSzPct val="100000"/>
              <a:buChar char="•"/>
            </a:pPr>
            <a:r>
              <a:rPr lang="en-US" sz="1400" dirty="0">
                <a:solidFill>
                  <a:srgbClr val="202124"/>
                </a:solidFill>
                <a:latin typeface="Roboto" pitchFamily="34" charset="0"/>
                <a:ea typeface="Roboto" pitchFamily="34" charset="-122"/>
                <a:cs typeface="Roboto" pitchFamily="34" charset="-120"/>
              </a:rPr>
              <a:t>Repressió molt dura. Cinc execucions, entre elles Ferrer i Guàrdia. «Maura, no!»</a:t>
            </a:r>
            <a:endParaRPr lang="en-US" sz="1400" dirty="0"/>
          </a:p>
        </p:txBody>
      </p:sp>
      <p:sp>
        <p:nvSpPr>
          <p:cNvPr id="20" name="Anticlericalisme"/>
          <p:cNvSpPr/>
          <p:nvPr/>
        </p:nvSpPr>
        <p:spPr>
          <a:xfrm>
            <a:off x="4572000" y="4572000"/>
            <a:ext cx="3657600" cy="1417320"/>
          </a:xfrm>
          <a:prstGeom prst="roundRect">
            <a:avLst>
              <a:gd name="adj" fmla="val 7097"/>
            </a:avLst>
          </a:prstGeom>
          <a:solidFill>
            <a:srgbClr val="FDE7F3"/>
          </a:solidFill>
          <a:ln/>
        </p:spPr>
      </p:sp>
      <p:sp>
        <p:nvSpPr>
          <p:cNvPr id="21" name="Text 19"/>
          <p:cNvSpPr txBox="1"/>
          <p:nvPr/>
        </p:nvSpPr>
        <p:spPr>
          <a:xfrm>
            <a:off x="4892040" y="4727448"/>
            <a:ext cx="301752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Anticlericalisme</a:t>
            </a:r>
            <a:endParaRPr lang="en-US" sz="1400" dirty="0"/>
          </a:p>
        </p:txBody>
      </p:sp>
      <p:sp>
        <p:nvSpPr>
          <p:cNvPr id="22" name="Text 20"/>
          <p:cNvSpPr txBox="1"/>
          <p:nvPr/>
        </p:nvSpPr>
        <p:spPr>
          <a:xfrm>
            <a:off x="4892040" y="5074920"/>
            <a:ext cx="3017520" cy="77724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Molts obrers veien l'Església com una aliada dels rics, que controlava l'ensenyament i la beneficència i justificava l'ordre social.</a:t>
            </a:r>
            <a:endParaRPr lang="en-US" sz="1350" dirty="0"/>
          </a:p>
        </p:txBody>
      </p:sp>
      <p:sp>
        <p:nvSpPr>
          <p:cNvPr id="23" name="Fons Restes del convent de les Jerònimes de Sant Maties, cremat durant la Setmana Tràgica"/>
          <p:cNvSpPr/>
          <p:nvPr/>
        </p:nvSpPr>
        <p:spPr>
          <a:xfrm>
            <a:off x="8503920" y="1417320"/>
            <a:ext cx="3139135" cy="2139833"/>
          </a:xfrm>
          <a:prstGeom prst="roundRect">
            <a:avLst>
              <a:gd name="adj" fmla="val 4701"/>
            </a:avLst>
          </a:prstGeom>
          <a:solidFill>
            <a:srgbClr val="F6F8FB"/>
          </a:solidFill>
          <a:ln/>
        </p:spPr>
      </p:sp>
      <p:pic>
        <p:nvPicPr>
          <p:cNvPr id="24" name="Restes del convent de les Jerònimes de Sant Maties, cremat durant la Setmana Tràgica" descr="/home/claude/historia-2batx/media/tema-1/setmana.jpg">    </p:cNvPr>
          <p:cNvPicPr>
            <a:picLocks noChangeAspect="1"/>
          </p:cNvPicPr>
          <p:nvPr/>
        </p:nvPicPr>
        <p:blipFill>
          <a:blip r:embed="rId1"/>
          <a:stretch>
            <a:fillRect/>
          </a:stretch>
        </p:blipFill>
        <p:spPr>
          <a:xfrm>
            <a:off x="8503920" y="1417320"/>
            <a:ext cx="3139135" cy="2139833"/>
          </a:xfrm>
          <a:prstGeom prst="rect">
            <a:avLst/>
          </a:prstGeom>
        </p:spPr>
      </p:pic>
      <p:sp>
        <p:nvSpPr>
          <p:cNvPr id="25" name="Text 22"/>
          <p:cNvSpPr txBox="1"/>
          <p:nvPr/>
        </p:nvSpPr>
        <p:spPr>
          <a:xfrm>
            <a:off x="8503920" y="3648593"/>
            <a:ext cx="313913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Restes del convent de les Jerònimes de Sant Maties, cremat durant la Setmana Tràgica. Fotografia d'Adolf Mas, «La Ilustració Catalana», 8-8-1909. Domini públic.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triple crisi de 1917</a:t>
            </a:r>
            <a:endParaRPr lang="en-US" sz="2800" dirty="0"/>
          </a:p>
        </p:txBody>
      </p:sp>
      <p:sp>
        <p:nvSpPr>
          <p:cNvPr id="5" name="Text 3"/>
          <p:cNvSpPr txBox="1"/>
          <p:nvPr/>
        </p:nvSpPr>
        <p:spPr>
          <a:xfrm>
            <a:off x="548640" y="1417320"/>
            <a:ext cx="11094415" cy="7772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Espanya va ser neutral a la Primera Guerra Mundial. Les exportacions van enriquir industrials i comerciants, però els preus van pujar molt més que els salaris. La revolució russa va donar ales als moviments revolucionaris.</a:t>
            </a:r>
            <a:endParaRPr lang="en-US" sz="1550" dirty="0"/>
          </a:p>
        </p:txBody>
      </p:sp>
      <p:sp>
        <p:nvSpPr>
          <p:cNvPr id="6" name="Targeta Crisi militar"/>
          <p:cNvSpPr/>
          <p:nvPr/>
        </p:nvSpPr>
        <p:spPr>
          <a:xfrm>
            <a:off x="548640" y="2377440"/>
            <a:ext cx="3515258" cy="2331720"/>
          </a:xfrm>
          <a:prstGeom prst="roundRect">
            <a:avLst>
              <a:gd name="adj" fmla="val 4314"/>
            </a:avLst>
          </a:prstGeom>
          <a:solidFill>
            <a:srgbClr val="FFFFFF"/>
          </a:solidFill>
          <a:ln w="12700">
            <a:solidFill>
              <a:srgbClr val="DADCE0"/>
            </a:solidFill>
            <a:prstDash val="solid"/>
          </a:ln>
        </p:spPr>
      </p:sp>
      <p:sp>
        <p:nvSpPr>
          <p:cNvPr id="7" name="Text 5"/>
          <p:cNvSpPr txBox="1"/>
          <p:nvPr/>
        </p:nvSpPr>
        <p:spPr>
          <a:xfrm>
            <a:off x="777240" y="256032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Crisi militar</a:t>
            </a:r>
            <a:endParaRPr lang="en-US" sz="1700" dirty="0"/>
          </a:p>
        </p:txBody>
      </p:sp>
      <p:sp>
        <p:nvSpPr>
          <p:cNvPr id="8" name="Text 6"/>
          <p:cNvSpPr txBox="1"/>
          <p:nvPr/>
        </p:nvSpPr>
        <p:spPr>
          <a:xfrm>
            <a:off x="777240" y="2929128"/>
            <a:ext cx="3058058" cy="1661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Els militars de la Península, descontents amb els sous i els ascensos dels oficials del Marroc, s'organitzen en Juntes de Defensa. El govern les acaba acceptant.</a:t>
            </a:r>
            <a:endParaRPr lang="en-US" sz="1450" dirty="0"/>
          </a:p>
        </p:txBody>
      </p:sp>
      <p:sp>
        <p:nvSpPr>
          <p:cNvPr id="9" name="Targeta Crisi política"/>
          <p:cNvSpPr/>
          <p:nvPr/>
        </p:nvSpPr>
        <p:spPr>
          <a:xfrm>
            <a:off x="4338218" y="2377440"/>
            <a:ext cx="3515258" cy="2331720"/>
          </a:xfrm>
          <a:prstGeom prst="roundRect">
            <a:avLst>
              <a:gd name="adj" fmla="val 4314"/>
            </a:avLst>
          </a:prstGeom>
          <a:solidFill>
            <a:srgbClr val="FFFFFF"/>
          </a:solidFill>
          <a:ln w="12700">
            <a:solidFill>
              <a:srgbClr val="DADCE0"/>
            </a:solidFill>
            <a:prstDash val="solid"/>
          </a:ln>
        </p:spPr>
      </p:sp>
      <p:sp>
        <p:nvSpPr>
          <p:cNvPr id="10" name="Text 8"/>
          <p:cNvSpPr txBox="1"/>
          <p:nvPr/>
        </p:nvSpPr>
        <p:spPr>
          <a:xfrm>
            <a:off x="4566818" y="256032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Crisi política</a:t>
            </a:r>
            <a:endParaRPr lang="en-US" sz="1700" dirty="0"/>
          </a:p>
        </p:txBody>
      </p:sp>
      <p:sp>
        <p:nvSpPr>
          <p:cNvPr id="11" name="Text 9"/>
          <p:cNvSpPr txBox="1"/>
          <p:nvPr/>
        </p:nvSpPr>
        <p:spPr>
          <a:xfrm>
            <a:off x="4566818" y="2929128"/>
            <a:ext cx="3058058" cy="1661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Davant les Corts tancades, Cambó reuneix a Barcelona l'Assemblea de Parlamentaris (19 de juliol). La Guàrdia Civil la dissol.</a:t>
            </a:r>
            <a:endParaRPr lang="en-US" sz="1450" dirty="0"/>
          </a:p>
        </p:txBody>
      </p:sp>
      <p:sp>
        <p:nvSpPr>
          <p:cNvPr id="12" name="Targeta Crisi social"/>
          <p:cNvSpPr/>
          <p:nvPr/>
        </p:nvSpPr>
        <p:spPr>
          <a:xfrm>
            <a:off x="8127797" y="2377440"/>
            <a:ext cx="3515258" cy="2331720"/>
          </a:xfrm>
          <a:prstGeom prst="roundRect">
            <a:avLst>
              <a:gd name="adj" fmla="val 4314"/>
            </a:avLst>
          </a:prstGeom>
          <a:solidFill>
            <a:srgbClr val="FFFFFF"/>
          </a:solidFill>
          <a:ln w="12700">
            <a:solidFill>
              <a:srgbClr val="DADCE0"/>
            </a:solidFill>
            <a:prstDash val="solid"/>
          </a:ln>
        </p:spPr>
      </p:sp>
      <p:sp>
        <p:nvSpPr>
          <p:cNvPr id="13" name="Text 11"/>
          <p:cNvSpPr txBox="1"/>
          <p:nvPr/>
        </p:nvSpPr>
        <p:spPr>
          <a:xfrm>
            <a:off x="8356397" y="256032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Crisi social</a:t>
            </a:r>
            <a:endParaRPr lang="en-US" sz="1700" dirty="0"/>
          </a:p>
        </p:txBody>
      </p:sp>
      <p:sp>
        <p:nvSpPr>
          <p:cNvPr id="14" name="Text 12"/>
          <p:cNvSpPr txBox="1"/>
          <p:nvPr/>
        </p:nvSpPr>
        <p:spPr>
          <a:xfrm>
            <a:off x="8356397" y="2929128"/>
            <a:ext cx="3058058" cy="1661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A l'agost, la UGT i la CNT convoquen una vaga general revolucionària. L'exèrcit la reprimeix amb duresa.</a:t>
            </a:r>
            <a:endParaRPr lang="en-US" sz="1450" dirty="0"/>
          </a:p>
        </p:txBody>
      </p:sp>
      <p:sp>
        <p:nvSpPr>
          <p:cNvPr id="15" name="Per què el sistema va sobreviure"/>
          <p:cNvSpPr/>
          <p:nvPr/>
        </p:nvSpPr>
        <p:spPr>
          <a:xfrm>
            <a:off x="548640" y="4892040"/>
            <a:ext cx="11094415" cy="1097280"/>
          </a:xfrm>
          <a:prstGeom prst="roundRect">
            <a:avLst>
              <a:gd name="adj" fmla="val 9167"/>
            </a:avLst>
          </a:prstGeom>
          <a:solidFill>
            <a:srgbClr val="FDE7F3"/>
          </a:solidFill>
          <a:ln/>
        </p:spPr>
      </p:sp>
      <p:sp>
        <p:nvSpPr>
          <p:cNvPr id="16" name="Text 14"/>
          <p:cNvSpPr txBox="1"/>
          <p:nvPr/>
        </p:nvSpPr>
        <p:spPr>
          <a:xfrm>
            <a:off x="868680" y="5047488"/>
            <a:ext cx="1045433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Per què el sistema va sobreviure</a:t>
            </a:r>
            <a:endParaRPr lang="en-US" sz="1400" dirty="0"/>
          </a:p>
        </p:txBody>
      </p:sp>
      <p:sp>
        <p:nvSpPr>
          <p:cNvPr id="17" name="Text 15"/>
          <p:cNvSpPr txBox="1"/>
          <p:nvPr/>
        </p:nvSpPr>
        <p:spPr>
          <a:xfrm>
            <a:off x="868680" y="5394960"/>
            <a:ext cx="10454335" cy="45720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Els tres moviments no es van unir, perquè tenien objectius oposats. Els militars volien ordre, la Lliga tenia més por de la revolució obrera que del règim, i els obrers volien un canvi social profund.</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Mancomunitat i la qüestió catalana</a:t>
            </a:r>
            <a:endParaRPr lang="en-US" sz="2800" dirty="0"/>
          </a:p>
        </p:txBody>
      </p:sp>
      <p:sp>
        <p:nvSpPr>
          <p:cNvPr id="5" name="Línia del temps"/>
          <p:cNvSpPr/>
          <p:nvPr/>
        </p:nvSpPr>
        <p:spPr>
          <a:xfrm>
            <a:off x="649224" y="1600200"/>
            <a:ext cx="0" cy="3017520"/>
          </a:xfrm>
          <a:prstGeom prst="line">
            <a:avLst/>
          </a:prstGeom>
          <a:noFill/>
          <a:ln w="31750">
            <a:solidFill>
              <a:srgbClr val="DADCE0"/>
            </a:solidFill>
            <a:prstDash val="solid"/>
          </a:ln>
        </p:spPr>
      </p:sp>
      <p:sp>
        <p:nvSpPr>
          <p:cNvPr id="6" name="Fita 1912"/>
          <p:cNvSpPr/>
          <p:nvPr/>
        </p:nvSpPr>
        <p:spPr>
          <a:xfrm>
            <a:off x="548640" y="1499616"/>
            <a:ext cx="201168" cy="201168"/>
          </a:xfrm>
          <a:prstGeom prst="ellipse">
            <a:avLst/>
          </a:prstGeom>
          <a:solidFill>
            <a:srgbClr val="FFFFFF"/>
          </a:solidFill>
          <a:ln w="28575">
            <a:solidFill>
              <a:srgbClr val="B80672"/>
            </a:solidFill>
            <a:prstDash val="solid"/>
          </a:ln>
        </p:spPr>
      </p:sp>
      <p:sp>
        <p:nvSpPr>
          <p:cNvPr id="7" name="Text 5"/>
          <p:cNvSpPr txBox="1"/>
          <p:nvPr/>
        </p:nvSpPr>
        <p:spPr>
          <a:xfrm>
            <a:off x="932688" y="1463040"/>
            <a:ext cx="1463040" cy="292608"/>
          </a:xfrm>
          <a:prstGeom prst="rect">
            <a:avLst/>
          </a:prstGeom>
          <a:noFill/>
          <a:ln/>
        </p:spPr>
        <p:txBody>
          <a:bodyPr wrap="square" lIns="0" tIns="0" rIns="0" bIns="0" rtlCol="0" anchor="t"/>
          <a:lstStyle/>
          <a:p>
            <a:pPr indent="0" marL="0">
              <a:buNone/>
            </a:pPr>
            <a:r>
              <a:rPr lang="en-US" sz="1350" b="1" dirty="0">
                <a:solidFill>
                  <a:srgbClr val="B80672"/>
                </a:solidFill>
                <a:latin typeface="Roboto" pitchFamily="34" charset="0"/>
                <a:ea typeface="Roboto" pitchFamily="34" charset="-122"/>
                <a:cs typeface="Roboto" pitchFamily="34" charset="-120"/>
              </a:rPr>
              <a:t>1912</a:t>
            </a:r>
            <a:endParaRPr lang="en-US" sz="1350" dirty="0"/>
          </a:p>
        </p:txBody>
      </p:sp>
      <p:sp>
        <p:nvSpPr>
          <p:cNvPr id="8" name="Text 6"/>
          <p:cNvSpPr txBox="1"/>
          <p:nvPr/>
        </p:nvSpPr>
        <p:spPr>
          <a:xfrm>
            <a:off x="2395728" y="1463040"/>
            <a:ext cx="5468112" cy="557784"/>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Canalejas presenta una llei de mancomunitats per a tot Espanya. El Congrés l'aprova, però s'encalla al Senat.</a:t>
            </a:r>
            <a:endParaRPr lang="en-US" sz="1350" dirty="0"/>
          </a:p>
        </p:txBody>
      </p:sp>
      <p:sp>
        <p:nvSpPr>
          <p:cNvPr id="9" name="Fita 18-12-1913"/>
          <p:cNvSpPr/>
          <p:nvPr/>
        </p:nvSpPr>
        <p:spPr>
          <a:xfrm>
            <a:off x="548640" y="2103120"/>
            <a:ext cx="201168" cy="201168"/>
          </a:xfrm>
          <a:prstGeom prst="ellipse">
            <a:avLst/>
          </a:prstGeom>
          <a:solidFill>
            <a:srgbClr val="FFFFFF"/>
          </a:solidFill>
          <a:ln w="28575">
            <a:solidFill>
              <a:srgbClr val="B80672"/>
            </a:solidFill>
            <a:prstDash val="solid"/>
          </a:ln>
        </p:spPr>
      </p:sp>
      <p:sp>
        <p:nvSpPr>
          <p:cNvPr id="10" name="Text 8"/>
          <p:cNvSpPr txBox="1"/>
          <p:nvPr/>
        </p:nvSpPr>
        <p:spPr>
          <a:xfrm>
            <a:off x="932688" y="2066544"/>
            <a:ext cx="1463040" cy="292608"/>
          </a:xfrm>
          <a:prstGeom prst="rect">
            <a:avLst/>
          </a:prstGeom>
          <a:noFill/>
          <a:ln/>
        </p:spPr>
        <p:txBody>
          <a:bodyPr wrap="square" lIns="0" tIns="0" rIns="0" bIns="0" rtlCol="0" anchor="t"/>
          <a:lstStyle/>
          <a:p>
            <a:pPr indent="0" marL="0">
              <a:buNone/>
            </a:pPr>
            <a:r>
              <a:rPr lang="en-US" sz="1350" b="1" dirty="0">
                <a:solidFill>
                  <a:srgbClr val="B80672"/>
                </a:solidFill>
                <a:latin typeface="Roboto" pitchFamily="34" charset="0"/>
                <a:ea typeface="Roboto" pitchFamily="34" charset="-122"/>
                <a:cs typeface="Roboto" pitchFamily="34" charset="-120"/>
              </a:rPr>
              <a:t>18-12-1913</a:t>
            </a:r>
            <a:endParaRPr lang="en-US" sz="1350" dirty="0"/>
          </a:p>
        </p:txBody>
      </p:sp>
      <p:sp>
        <p:nvSpPr>
          <p:cNvPr id="11" name="Text 9"/>
          <p:cNvSpPr txBox="1"/>
          <p:nvPr/>
        </p:nvSpPr>
        <p:spPr>
          <a:xfrm>
            <a:off x="2395728" y="2066544"/>
            <a:ext cx="5468112" cy="557784"/>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Dato autoritza les mancomunitats per un reial decret.</a:t>
            </a:r>
            <a:endParaRPr lang="en-US" sz="1350" dirty="0"/>
          </a:p>
        </p:txBody>
      </p:sp>
      <p:sp>
        <p:nvSpPr>
          <p:cNvPr id="12" name="Fita 6-4-1914"/>
          <p:cNvSpPr/>
          <p:nvPr/>
        </p:nvSpPr>
        <p:spPr>
          <a:xfrm>
            <a:off x="548640" y="2706624"/>
            <a:ext cx="201168" cy="201168"/>
          </a:xfrm>
          <a:prstGeom prst="ellipse">
            <a:avLst/>
          </a:prstGeom>
          <a:solidFill>
            <a:srgbClr val="FFFFFF"/>
          </a:solidFill>
          <a:ln w="28575">
            <a:solidFill>
              <a:srgbClr val="B80672"/>
            </a:solidFill>
            <a:prstDash val="solid"/>
          </a:ln>
        </p:spPr>
      </p:sp>
      <p:sp>
        <p:nvSpPr>
          <p:cNvPr id="13" name="Text 11"/>
          <p:cNvSpPr txBox="1"/>
          <p:nvPr/>
        </p:nvSpPr>
        <p:spPr>
          <a:xfrm>
            <a:off x="932688" y="2670048"/>
            <a:ext cx="1463040" cy="292608"/>
          </a:xfrm>
          <a:prstGeom prst="rect">
            <a:avLst/>
          </a:prstGeom>
          <a:noFill/>
          <a:ln/>
        </p:spPr>
        <p:txBody>
          <a:bodyPr wrap="square" lIns="0" tIns="0" rIns="0" bIns="0" rtlCol="0" anchor="t"/>
          <a:lstStyle/>
          <a:p>
            <a:pPr indent="0" marL="0">
              <a:buNone/>
            </a:pPr>
            <a:r>
              <a:rPr lang="en-US" sz="1350" b="1" dirty="0">
                <a:solidFill>
                  <a:srgbClr val="B80672"/>
                </a:solidFill>
                <a:latin typeface="Roboto" pitchFamily="34" charset="0"/>
                <a:ea typeface="Roboto" pitchFamily="34" charset="-122"/>
                <a:cs typeface="Roboto" pitchFamily="34" charset="-120"/>
              </a:rPr>
              <a:t>6-4-1914</a:t>
            </a:r>
            <a:endParaRPr lang="en-US" sz="1350" dirty="0"/>
          </a:p>
        </p:txBody>
      </p:sp>
      <p:sp>
        <p:nvSpPr>
          <p:cNvPr id="14" name="Text 12"/>
          <p:cNvSpPr txBox="1"/>
          <p:nvPr/>
        </p:nvSpPr>
        <p:spPr>
          <a:xfrm>
            <a:off x="2395728" y="2670048"/>
            <a:ext cx="5468112" cy="557784"/>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Les quatre diputacions catalanes constitueixen la Mancomunitat, presidida per Prat de la Riba.</a:t>
            </a:r>
            <a:endParaRPr lang="en-US" sz="1350" dirty="0"/>
          </a:p>
        </p:txBody>
      </p:sp>
      <p:sp>
        <p:nvSpPr>
          <p:cNvPr id="15" name="Fita 1918-1919"/>
          <p:cNvSpPr/>
          <p:nvPr/>
        </p:nvSpPr>
        <p:spPr>
          <a:xfrm>
            <a:off x="548640" y="3310128"/>
            <a:ext cx="201168" cy="201168"/>
          </a:xfrm>
          <a:prstGeom prst="ellipse">
            <a:avLst/>
          </a:prstGeom>
          <a:solidFill>
            <a:srgbClr val="FFFFFF"/>
          </a:solidFill>
          <a:ln w="28575">
            <a:solidFill>
              <a:srgbClr val="B80672"/>
            </a:solidFill>
            <a:prstDash val="solid"/>
          </a:ln>
        </p:spPr>
      </p:sp>
      <p:sp>
        <p:nvSpPr>
          <p:cNvPr id="16" name="Text 14"/>
          <p:cNvSpPr txBox="1"/>
          <p:nvPr/>
        </p:nvSpPr>
        <p:spPr>
          <a:xfrm>
            <a:off x="932688" y="3273552"/>
            <a:ext cx="1463040" cy="292608"/>
          </a:xfrm>
          <a:prstGeom prst="rect">
            <a:avLst/>
          </a:prstGeom>
          <a:noFill/>
          <a:ln/>
        </p:spPr>
        <p:txBody>
          <a:bodyPr wrap="square" lIns="0" tIns="0" rIns="0" bIns="0" rtlCol="0" anchor="t"/>
          <a:lstStyle/>
          <a:p>
            <a:pPr indent="0" marL="0">
              <a:buNone/>
            </a:pPr>
            <a:r>
              <a:rPr lang="en-US" sz="1350" b="1" dirty="0">
                <a:solidFill>
                  <a:srgbClr val="B80672"/>
                </a:solidFill>
                <a:latin typeface="Roboto" pitchFamily="34" charset="0"/>
                <a:ea typeface="Roboto" pitchFamily="34" charset="-122"/>
                <a:cs typeface="Roboto" pitchFamily="34" charset="-120"/>
              </a:rPr>
              <a:t>1918-1919</a:t>
            </a:r>
            <a:endParaRPr lang="en-US" sz="1350" dirty="0"/>
          </a:p>
        </p:txBody>
      </p:sp>
      <p:sp>
        <p:nvSpPr>
          <p:cNvPr id="17" name="Text 15"/>
          <p:cNvSpPr txBox="1"/>
          <p:nvPr/>
        </p:nvSpPr>
        <p:spPr>
          <a:xfrm>
            <a:off x="2395728" y="3273552"/>
            <a:ext cx="5468112" cy="557784"/>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Campanya autonomista de la Lliga. Bases d'autonomia i projecte d'Estatut.</a:t>
            </a:r>
            <a:endParaRPr lang="en-US" sz="1350" dirty="0"/>
          </a:p>
        </p:txBody>
      </p:sp>
      <p:sp>
        <p:nvSpPr>
          <p:cNvPr id="18" name="Fita 2-12-1918"/>
          <p:cNvSpPr/>
          <p:nvPr/>
        </p:nvSpPr>
        <p:spPr>
          <a:xfrm>
            <a:off x="548640" y="3913632"/>
            <a:ext cx="201168" cy="201168"/>
          </a:xfrm>
          <a:prstGeom prst="ellipse">
            <a:avLst/>
          </a:prstGeom>
          <a:solidFill>
            <a:srgbClr val="FFFFFF"/>
          </a:solidFill>
          <a:ln w="28575">
            <a:solidFill>
              <a:srgbClr val="B80672"/>
            </a:solidFill>
            <a:prstDash val="solid"/>
          </a:ln>
        </p:spPr>
      </p:sp>
      <p:sp>
        <p:nvSpPr>
          <p:cNvPr id="19" name="Text 17"/>
          <p:cNvSpPr txBox="1"/>
          <p:nvPr/>
        </p:nvSpPr>
        <p:spPr>
          <a:xfrm>
            <a:off x="932688" y="3877056"/>
            <a:ext cx="1463040" cy="292608"/>
          </a:xfrm>
          <a:prstGeom prst="rect">
            <a:avLst/>
          </a:prstGeom>
          <a:noFill/>
          <a:ln/>
        </p:spPr>
        <p:txBody>
          <a:bodyPr wrap="square" lIns="0" tIns="0" rIns="0" bIns="0" rtlCol="0" anchor="t"/>
          <a:lstStyle/>
          <a:p>
            <a:pPr indent="0" marL="0">
              <a:buNone/>
            </a:pPr>
            <a:r>
              <a:rPr lang="en-US" sz="1350" b="1" dirty="0">
                <a:solidFill>
                  <a:srgbClr val="B80672"/>
                </a:solidFill>
                <a:latin typeface="Roboto" pitchFamily="34" charset="0"/>
                <a:ea typeface="Roboto" pitchFamily="34" charset="-122"/>
                <a:cs typeface="Roboto" pitchFamily="34" charset="-120"/>
              </a:rPr>
              <a:t>2-12-1918</a:t>
            </a:r>
            <a:endParaRPr lang="en-US" sz="1350" dirty="0"/>
          </a:p>
        </p:txBody>
      </p:sp>
      <p:sp>
        <p:nvSpPr>
          <p:cNvPr id="20" name="Text 18"/>
          <p:cNvSpPr txBox="1"/>
          <p:nvPr/>
        </p:nvSpPr>
        <p:spPr>
          <a:xfrm>
            <a:off x="2395728" y="3877056"/>
            <a:ext cx="5468112" cy="557784"/>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Mensaje de Castilla, a Burgos, contra qualsevol autonomia política.</a:t>
            </a:r>
            <a:endParaRPr lang="en-US" sz="1350" dirty="0"/>
          </a:p>
        </p:txBody>
      </p:sp>
      <p:sp>
        <p:nvSpPr>
          <p:cNvPr id="21" name="Fita Febrer 1919"/>
          <p:cNvSpPr/>
          <p:nvPr/>
        </p:nvSpPr>
        <p:spPr>
          <a:xfrm>
            <a:off x="548640" y="4517136"/>
            <a:ext cx="201168" cy="201168"/>
          </a:xfrm>
          <a:prstGeom prst="ellipse">
            <a:avLst/>
          </a:prstGeom>
          <a:solidFill>
            <a:srgbClr val="B80672"/>
          </a:solidFill>
          <a:ln w="28575">
            <a:solidFill>
              <a:srgbClr val="B80672"/>
            </a:solidFill>
            <a:prstDash val="solid"/>
          </a:ln>
        </p:spPr>
      </p:sp>
      <p:sp>
        <p:nvSpPr>
          <p:cNvPr id="22" name="Text 20"/>
          <p:cNvSpPr txBox="1"/>
          <p:nvPr/>
        </p:nvSpPr>
        <p:spPr>
          <a:xfrm>
            <a:off x="932688" y="4480560"/>
            <a:ext cx="1463040" cy="292608"/>
          </a:xfrm>
          <a:prstGeom prst="rect">
            <a:avLst/>
          </a:prstGeom>
          <a:noFill/>
          <a:ln/>
        </p:spPr>
        <p:txBody>
          <a:bodyPr wrap="square" lIns="0" tIns="0" rIns="0" bIns="0" rtlCol="0" anchor="t"/>
          <a:lstStyle/>
          <a:p>
            <a:pPr indent="0" marL="0">
              <a:buNone/>
            </a:pPr>
            <a:r>
              <a:rPr lang="en-US" sz="1350" b="1" dirty="0">
                <a:solidFill>
                  <a:srgbClr val="B80672"/>
                </a:solidFill>
                <a:latin typeface="Roboto" pitchFamily="34" charset="0"/>
                <a:ea typeface="Roboto" pitchFamily="34" charset="-122"/>
                <a:cs typeface="Roboto" pitchFamily="34" charset="-120"/>
              </a:rPr>
              <a:t>Febrer 1919</a:t>
            </a:r>
            <a:endParaRPr lang="en-US" sz="1350" dirty="0"/>
          </a:p>
        </p:txBody>
      </p:sp>
      <p:sp>
        <p:nvSpPr>
          <p:cNvPr id="23" name="Text 21"/>
          <p:cNvSpPr txBox="1"/>
          <p:nvPr/>
        </p:nvSpPr>
        <p:spPr>
          <a:xfrm>
            <a:off x="2395728" y="4480560"/>
            <a:ext cx="5468112" cy="557784"/>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Romanones tanca les Corts. L'Estatut no s'aprova.</a:t>
            </a:r>
            <a:endParaRPr lang="en-US" sz="1350" dirty="0"/>
          </a:p>
        </p:txBody>
      </p:sp>
      <p:sp>
        <p:nvSpPr>
          <p:cNvPr id="24" name="Fons Enric Prat de la Riba"/>
          <p:cNvSpPr/>
          <p:nvPr/>
        </p:nvSpPr>
        <p:spPr>
          <a:xfrm>
            <a:off x="8366760" y="1417320"/>
            <a:ext cx="3276295" cy="3017520"/>
          </a:xfrm>
          <a:prstGeom prst="roundRect">
            <a:avLst>
              <a:gd name="adj" fmla="val 3333"/>
            </a:avLst>
          </a:prstGeom>
          <a:solidFill>
            <a:srgbClr val="F6F8FB"/>
          </a:solidFill>
          <a:ln/>
        </p:spPr>
      </p:sp>
      <p:pic>
        <p:nvPicPr>
          <p:cNvPr id="25" name="Enric Prat de la Riba" descr="/home/claude/historia-2batx/media/tema-1/prat.jpg">    </p:cNvPr>
          <p:cNvPicPr>
            <a:picLocks noChangeAspect="1"/>
          </p:cNvPicPr>
          <p:nvPr/>
        </p:nvPicPr>
        <p:blipFill>
          <a:blip r:embed="rId1"/>
          <a:stretch>
            <a:fillRect/>
          </a:stretch>
        </p:blipFill>
        <p:spPr>
          <a:xfrm>
            <a:off x="8886916" y="1417320"/>
            <a:ext cx="2235982" cy="3017520"/>
          </a:xfrm>
          <a:prstGeom prst="rect">
            <a:avLst/>
          </a:prstGeom>
        </p:spPr>
      </p:pic>
      <p:sp>
        <p:nvSpPr>
          <p:cNvPr id="26" name="Text 23"/>
          <p:cNvSpPr txBox="1"/>
          <p:nvPr/>
        </p:nvSpPr>
        <p:spPr>
          <a:xfrm>
            <a:off x="8366760" y="4526280"/>
            <a:ext cx="327629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Enric Prat de la Riba. «Blanco y Negro», 25-1-1908, sense autor indicat. Domini públic, Wikimedia Commons.</a:t>
            </a:r>
            <a:endParaRPr lang="en-US" sz="1000" dirty="0"/>
          </a:p>
        </p:txBody>
      </p:sp>
      <p:sp>
        <p:nvSpPr>
          <p:cNvPr id="27" name="Per què és important"/>
          <p:cNvSpPr/>
          <p:nvPr/>
        </p:nvSpPr>
        <p:spPr>
          <a:xfrm>
            <a:off x="548640" y="5166360"/>
            <a:ext cx="11094415" cy="868680"/>
          </a:xfrm>
          <a:prstGeom prst="roundRect">
            <a:avLst>
              <a:gd name="adj" fmla="val 11579"/>
            </a:avLst>
          </a:prstGeom>
          <a:solidFill>
            <a:srgbClr val="FDE7F3"/>
          </a:solidFill>
          <a:ln/>
        </p:spPr>
      </p:sp>
      <p:sp>
        <p:nvSpPr>
          <p:cNvPr id="28" name="Text 25"/>
          <p:cNvSpPr txBox="1"/>
          <p:nvPr/>
        </p:nvSpPr>
        <p:spPr>
          <a:xfrm>
            <a:off x="868680" y="5321808"/>
            <a:ext cx="1045433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Per què és important</a:t>
            </a:r>
            <a:endParaRPr lang="en-US" sz="1400" dirty="0"/>
          </a:p>
        </p:txBody>
      </p:sp>
      <p:sp>
        <p:nvSpPr>
          <p:cNvPr id="29" name="Text 26"/>
          <p:cNvSpPr txBox="1"/>
          <p:nvPr/>
        </p:nvSpPr>
        <p:spPr>
          <a:xfrm>
            <a:off x="868680" y="5669280"/>
            <a:ext cx="10454335" cy="22860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La qüestió catalana va desestabilitzar el sistema. Dividia els partits dinàstics, alimentava un nacionalisme espanyol cada cop més agressiu i augmentava la desconfiança de l'exèrcit.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trienni bolxevic i el pistolerisme (1918-1923)</a:t>
            </a:r>
            <a:endParaRPr lang="en-US" sz="2800" dirty="0"/>
          </a:p>
        </p:txBody>
      </p:sp>
      <p:sp>
        <p:nvSpPr>
          <p:cNvPr id="5" name="Targeta Trienni bolxevic"/>
          <p:cNvSpPr/>
          <p:nvPr/>
        </p:nvSpPr>
        <p:spPr>
          <a:xfrm>
            <a:off x="548640" y="1417320"/>
            <a:ext cx="3515258" cy="2331720"/>
          </a:xfrm>
          <a:prstGeom prst="roundRect">
            <a:avLst>
              <a:gd name="adj" fmla="val 4314"/>
            </a:avLst>
          </a:prstGeom>
          <a:solidFill>
            <a:srgbClr val="FFFFFF"/>
          </a:solidFill>
          <a:ln w="12700">
            <a:solidFill>
              <a:srgbClr val="DADCE0"/>
            </a:solidFill>
            <a:prstDash val="solid"/>
          </a:ln>
        </p:spPr>
      </p:sp>
      <p:sp>
        <p:nvSpPr>
          <p:cNvPr id="6" name="Text 4"/>
          <p:cNvSpPr txBox="1"/>
          <p:nvPr/>
        </p:nvSpPr>
        <p:spPr>
          <a:xfrm>
            <a:off x="777240" y="160020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Trienni bolxevic</a:t>
            </a:r>
            <a:endParaRPr lang="en-US" sz="1700" dirty="0"/>
          </a:p>
        </p:txBody>
      </p:sp>
      <p:sp>
        <p:nvSpPr>
          <p:cNvPr id="7" name="Text 5"/>
          <p:cNvSpPr txBox="1"/>
          <p:nvPr/>
        </p:nvSpPr>
        <p:spPr>
          <a:xfrm>
            <a:off x="777240" y="1969008"/>
            <a:ext cx="3058058" cy="1661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Al camp andalús (1918-1920), onades de vagues i d'ocupacions de terres dels jornalers, inspirades en la revolució russa.</a:t>
            </a:r>
            <a:endParaRPr lang="en-US" sz="1450" dirty="0"/>
          </a:p>
        </p:txBody>
      </p:sp>
      <p:sp>
        <p:nvSpPr>
          <p:cNvPr id="8" name="Targeta La CNT creix"/>
          <p:cNvSpPr/>
          <p:nvPr/>
        </p:nvSpPr>
        <p:spPr>
          <a:xfrm>
            <a:off x="4338218" y="1417320"/>
            <a:ext cx="3515258" cy="2331720"/>
          </a:xfrm>
          <a:prstGeom prst="roundRect">
            <a:avLst>
              <a:gd name="adj" fmla="val 4314"/>
            </a:avLst>
          </a:prstGeom>
          <a:solidFill>
            <a:srgbClr val="FFFFFF"/>
          </a:solidFill>
          <a:ln w="12700">
            <a:solidFill>
              <a:srgbClr val="DADCE0"/>
            </a:solidFill>
            <a:prstDash val="solid"/>
          </a:ln>
        </p:spPr>
      </p:sp>
      <p:sp>
        <p:nvSpPr>
          <p:cNvPr id="9" name="Text 7"/>
          <p:cNvSpPr txBox="1"/>
          <p:nvPr/>
        </p:nvSpPr>
        <p:spPr>
          <a:xfrm>
            <a:off x="4566818" y="160020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La CNT creix</a:t>
            </a:r>
            <a:endParaRPr lang="en-US" sz="1700" dirty="0"/>
          </a:p>
        </p:txBody>
      </p:sp>
      <p:sp>
        <p:nvSpPr>
          <p:cNvPr id="10" name="Text 8"/>
          <p:cNvSpPr txBox="1"/>
          <p:nvPr/>
        </p:nvSpPr>
        <p:spPr>
          <a:xfrm>
            <a:off x="4566818" y="1969008"/>
            <a:ext cx="3058058" cy="1661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Al Congrés de Sants (1918) s'organitza en sindicats únics. La vaga de La Canadenca (1919) aconsegueix la jornada de vuit hores.</a:t>
            </a:r>
            <a:endParaRPr lang="en-US" sz="1450" dirty="0"/>
          </a:p>
        </p:txBody>
      </p:sp>
      <p:sp>
        <p:nvSpPr>
          <p:cNvPr id="11" name="Targeta La patronal respon"/>
          <p:cNvSpPr/>
          <p:nvPr/>
        </p:nvSpPr>
        <p:spPr>
          <a:xfrm>
            <a:off x="8127797" y="1417320"/>
            <a:ext cx="3515258" cy="2331720"/>
          </a:xfrm>
          <a:prstGeom prst="roundRect">
            <a:avLst>
              <a:gd name="adj" fmla="val 4314"/>
            </a:avLst>
          </a:prstGeom>
          <a:solidFill>
            <a:srgbClr val="FFFFFF"/>
          </a:solidFill>
          <a:ln w="12700">
            <a:solidFill>
              <a:srgbClr val="DADCE0"/>
            </a:solidFill>
            <a:prstDash val="solid"/>
          </a:ln>
        </p:spPr>
      </p:sp>
      <p:sp>
        <p:nvSpPr>
          <p:cNvPr id="12" name="Text 10"/>
          <p:cNvSpPr txBox="1"/>
          <p:nvPr/>
        </p:nvSpPr>
        <p:spPr>
          <a:xfrm>
            <a:off x="8356397" y="160020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La patronal respon</a:t>
            </a:r>
            <a:endParaRPr lang="en-US" sz="1700" dirty="0"/>
          </a:p>
        </p:txBody>
      </p:sp>
      <p:sp>
        <p:nvSpPr>
          <p:cNvPr id="13" name="Text 11"/>
          <p:cNvSpPr txBox="1"/>
          <p:nvPr/>
        </p:nvSpPr>
        <p:spPr>
          <a:xfrm>
            <a:off x="8356397" y="1969008"/>
            <a:ext cx="3058058" cy="1661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Tancaments d'empreses (locauts), pistolers i el Sindicat Lliure (1919), contrari a la CNT.</a:t>
            </a:r>
            <a:endParaRPr lang="en-US" sz="1450" dirty="0"/>
          </a:p>
        </p:txBody>
      </p:sp>
      <p:sp>
        <p:nvSpPr>
          <p:cNvPr id="14" name="Pistolerisme"/>
          <p:cNvSpPr/>
          <p:nvPr/>
        </p:nvSpPr>
        <p:spPr>
          <a:xfrm>
            <a:off x="548640" y="3977640"/>
            <a:ext cx="5486400" cy="2011680"/>
          </a:xfrm>
          <a:prstGeom prst="roundRect">
            <a:avLst>
              <a:gd name="adj" fmla="val 5000"/>
            </a:avLst>
          </a:prstGeom>
          <a:solidFill>
            <a:srgbClr val="FDE7F3"/>
          </a:solidFill>
          <a:ln/>
        </p:spPr>
      </p:sp>
      <p:sp>
        <p:nvSpPr>
          <p:cNvPr id="15" name="Text 13"/>
          <p:cNvSpPr txBox="1"/>
          <p:nvPr/>
        </p:nvSpPr>
        <p:spPr>
          <a:xfrm>
            <a:off x="868680" y="4133088"/>
            <a:ext cx="484632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Pistolerisme</a:t>
            </a:r>
            <a:endParaRPr lang="en-US" sz="1400" dirty="0"/>
          </a:p>
        </p:txBody>
      </p:sp>
      <p:sp>
        <p:nvSpPr>
          <p:cNvPr id="16" name="Text 14"/>
          <p:cNvSpPr txBox="1"/>
          <p:nvPr/>
        </p:nvSpPr>
        <p:spPr>
          <a:xfrm>
            <a:off x="868680" y="4480560"/>
            <a:ext cx="4846320" cy="137160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Pistolers pagats per la patronal i grups d'acció anarquistes s'assassinaven mútuament. Martínez Anido va aplicar la llei de fugues.</a:t>
            </a:r>
            <a:endParaRPr lang="en-US" sz="1450" dirty="0"/>
          </a:p>
        </p:txBody>
      </p:sp>
      <p:sp>
        <p:nvSpPr>
          <p:cNvPr id="17" name="Centenars de morts"/>
          <p:cNvSpPr/>
          <p:nvPr/>
        </p:nvSpPr>
        <p:spPr>
          <a:xfrm>
            <a:off x="6309360" y="3977640"/>
            <a:ext cx="5333695" cy="2011680"/>
          </a:xfrm>
          <a:prstGeom prst="roundRect">
            <a:avLst>
              <a:gd name="adj" fmla="val 5000"/>
            </a:avLst>
          </a:prstGeom>
          <a:solidFill>
            <a:srgbClr val="F6F8FB"/>
          </a:solidFill>
          <a:ln/>
        </p:spPr>
      </p:sp>
      <p:sp>
        <p:nvSpPr>
          <p:cNvPr id="18" name="Text 16"/>
          <p:cNvSpPr txBox="1"/>
          <p:nvPr/>
        </p:nvSpPr>
        <p:spPr>
          <a:xfrm>
            <a:off x="6629400" y="4133088"/>
            <a:ext cx="469361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Centenars de morts</a:t>
            </a:r>
            <a:endParaRPr lang="en-US" sz="1400" dirty="0"/>
          </a:p>
        </p:txBody>
      </p:sp>
      <p:sp>
        <p:nvSpPr>
          <p:cNvPr id="19" name="Text 17"/>
          <p:cNvSpPr txBox="1"/>
          <p:nvPr/>
        </p:nvSpPr>
        <p:spPr>
          <a:xfrm>
            <a:off x="6629400" y="4480560"/>
            <a:ext cx="4693615" cy="13716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Entre ells, l'advocat Francesc Layret, el dirigent de la CNT Salvador Seguí, el «Noi del Sucre», i el president del govern Eduardo Dato (1921).</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desastre d'Annual (1921)</a:t>
            </a:r>
            <a:endParaRPr lang="en-US" sz="2800" dirty="0"/>
          </a:p>
        </p:txBody>
      </p:sp>
      <p:sp>
        <p:nvSpPr>
          <p:cNvPr id="5" name="Pas 1"/>
          <p:cNvSpPr/>
          <p:nvPr/>
        </p:nvSpPr>
        <p:spPr>
          <a:xfrm>
            <a:off x="548640" y="1463040"/>
            <a:ext cx="2464994" cy="2514600"/>
          </a:xfrm>
          <a:prstGeom prst="roundRect">
            <a:avLst>
              <a:gd name="adj" fmla="val 4080"/>
            </a:avLst>
          </a:prstGeom>
          <a:solidFill>
            <a:srgbClr val="FFFFFF"/>
          </a:solidFill>
          <a:ln w="12700">
            <a:solidFill>
              <a:srgbClr val="DADCE0"/>
            </a:solidFill>
            <a:prstDash val="solid"/>
          </a:ln>
        </p:spPr>
      </p:sp>
      <p:sp>
        <p:nvSpPr>
          <p:cNvPr id="6" name="Número del pas 1"/>
          <p:cNvSpPr/>
          <p:nvPr/>
        </p:nvSpPr>
        <p:spPr>
          <a:xfrm>
            <a:off x="804672" y="1691640"/>
            <a:ext cx="420624" cy="420624"/>
          </a:xfrm>
          <a:prstGeom prst="ellipse">
            <a:avLst/>
          </a:prstGeom>
          <a:solidFill>
            <a:srgbClr val="FDE7F3"/>
          </a:solidFill>
          <a:ln/>
        </p:spPr>
      </p:sp>
      <p:sp>
        <p:nvSpPr>
          <p:cNvPr id="7" name="Text 5"/>
          <p:cNvSpPr txBox="1"/>
          <p:nvPr/>
        </p:nvSpPr>
        <p:spPr>
          <a:xfrm>
            <a:off x="804672" y="1691640"/>
            <a:ext cx="420624" cy="420624"/>
          </a:xfrm>
          <a:prstGeom prst="rect">
            <a:avLst/>
          </a:prstGeom>
          <a:noFill/>
          <a:ln/>
        </p:spPr>
        <p:txBody>
          <a:bodyPr wrap="square" lIns="0" tIns="0" rIns="0" bIns="0" rtlCol="0" anchor="ctr"/>
          <a:lstStyle/>
          <a:p>
            <a:pPr algn="ctr" indent="0" marL="0">
              <a:buNone/>
            </a:pPr>
            <a:r>
              <a:rPr lang="en-US" sz="1500" b="1" dirty="0">
                <a:solidFill>
                  <a:srgbClr val="B80672"/>
                </a:solidFill>
                <a:latin typeface="Roboto" pitchFamily="34" charset="0"/>
                <a:ea typeface="Roboto" pitchFamily="34" charset="-122"/>
                <a:cs typeface="Roboto" pitchFamily="34" charset="-120"/>
              </a:rPr>
              <a:t>1</a:t>
            </a:r>
            <a:endParaRPr lang="en-US" sz="1500" dirty="0"/>
          </a:p>
        </p:txBody>
      </p:sp>
      <p:sp>
        <p:nvSpPr>
          <p:cNvPr id="8" name="Text 6"/>
          <p:cNvSpPr txBox="1"/>
          <p:nvPr/>
        </p:nvSpPr>
        <p:spPr>
          <a:xfrm>
            <a:off x="804672" y="2240280"/>
            <a:ext cx="2007794" cy="54864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La derrota</a:t>
            </a:r>
            <a:endParaRPr lang="en-US" sz="1600" dirty="0"/>
          </a:p>
        </p:txBody>
      </p:sp>
      <p:sp>
        <p:nvSpPr>
          <p:cNvPr id="9" name="Text 7"/>
          <p:cNvSpPr txBox="1"/>
          <p:nvPr/>
        </p:nvSpPr>
        <p:spPr>
          <a:xfrm>
            <a:off x="804672" y="2834640"/>
            <a:ext cx="2007794" cy="10058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Juliol de 1921. Les tropes d'Abd el-Krim derroten l'exèrcit del general Silvestre. Milers de morts.</a:t>
            </a:r>
            <a:endParaRPr lang="en-US" sz="1400" dirty="0"/>
          </a:p>
        </p:txBody>
      </p:sp>
      <p:sp>
        <p:nvSpPr>
          <p:cNvPr id="10" name="Fletxa 1"/>
          <p:cNvSpPr/>
          <p:nvPr/>
        </p:nvSpPr>
        <p:spPr>
          <a:xfrm>
            <a:off x="3132506" y="2331720"/>
            <a:ext cx="182880" cy="274320"/>
          </a:xfrm>
          <a:prstGeom prst="chevron">
            <a:avLst/>
          </a:prstGeom>
          <a:solidFill>
            <a:srgbClr val="B80672"/>
          </a:solidFill>
          <a:ln/>
        </p:spPr>
      </p:sp>
      <p:sp>
        <p:nvSpPr>
          <p:cNvPr id="11" name="Pas 2"/>
          <p:cNvSpPr/>
          <p:nvPr/>
        </p:nvSpPr>
        <p:spPr>
          <a:xfrm>
            <a:off x="3425114" y="1463040"/>
            <a:ext cx="2464994" cy="2514600"/>
          </a:xfrm>
          <a:prstGeom prst="roundRect">
            <a:avLst>
              <a:gd name="adj" fmla="val 4080"/>
            </a:avLst>
          </a:prstGeom>
          <a:solidFill>
            <a:srgbClr val="FFFFFF"/>
          </a:solidFill>
          <a:ln w="12700">
            <a:solidFill>
              <a:srgbClr val="DADCE0"/>
            </a:solidFill>
            <a:prstDash val="solid"/>
          </a:ln>
        </p:spPr>
      </p:sp>
      <p:sp>
        <p:nvSpPr>
          <p:cNvPr id="12" name="Número del pas 2"/>
          <p:cNvSpPr/>
          <p:nvPr/>
        </p:nvSpPr>
        <p:spPr>
          <a:xfrm>
            <a:off x="3681146" y="1691640"/>
            <a:ext cx="420624" cy="420624"/>
          </a:xfrm>
          <a:prstGeom prst="ellipse">
            <a:avLst/>
          </a:prstGeom>
          <a:solidFill>
            <a:srgbClr val="FDE7F3"/>
          </a:solidFill>
          <a:ln/>
        </p:spPr>
      </p:sp>
      <p:sp>
        <p:nvSpPr>
          <p:cNvPr id="13" name="Text 11"/>
          <p:cNvSpPr txBox="1"/>
          <p:nvPr/>
        </p:nvSpPr>
        <p:spPr>
          <a:xfrm>
            <a:off x="3681146" y="1691640"/>
            <a:ext cx="420624" cy="420624"/>
          </a:xfrm>
          <a:prstGeom prst="rect">
            <a:avLst/>
          </a:prstGeom>
          <a:noFill/>
          <a:ln/>
        </p:spPr>
        <p:txBody>
          <a:bodyPr wrap="square" lIns="0" tIns="0" rIns="0" bIns="0" rtlCol="0" anchor="ctr"/>
          <a:lstStyle/>
          <a:p>
            <a:pPr algn="ctr" indent="0" marL="0">
              <a:buNone/>
            </a:pPr>
            <a:r>
              <a:rPr lang="en-US" sz="1500" b="1" dirty="0">
                <a:solidFill>
                  <a:srgbClr val="B80672"/>
                </a:solidFill>
                <a:latin typeface="Roboto" pitchFamily="34" charset="0"/>
                <a:ea typeface="Roboto" pitchFamily="34" charset="-122"/>
                <a:cs typeface="Roboto" pitchFamily="34" charset="-120"/>
              </a:rPr>
              <a:t>2</a:t>
            </a:r>
            <a:endParaRPr lang="en-US" sz="1500" dirty="0"/>
          </a:p>
        </p:txBody>
      </p:sp>
      <p:sp>
        <p:nvSpPr>
          <p:cNvPr id="14" name="Text 12"/>
          <p:cNvSpPr txBox="1"/>
          <p:nvPr/>
        </p:nvSpPr>
        <p:spPr>
          <a:xfrm>
            <a:off x="3681146" y="2240280"/>
            <a:ext cx="2007794" cy="54864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Responsabilitats</a:t>
            </a:r>
            <a:endParaRPr lang="en-US" sz="1600" dirty="0"/>
          </a:p>
        </p:txBody>
      </p:sp>
      <p:sp>
        <p:nvSpPr>
          <p:cNvPr id="15" name="Text 13"/>
          <p:cNvSpPr txBox="1"/>
          <p:nvPr/>
        </p:nvSpPr>
        <p:spPr>
          <a:xfrm>
            <a:off x="3681146" y="2834640"/>
            <a:ext cx="2007794" cy="10058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L'opinió pública les exigeix. Molts acusen el rei d'haver encoratjat l'ofensiva.</a:t>
            </a:r>
            <a:endParaRPr lang="en-US" sz="1400" dirty="0"/>
          </a:p>
        </p:txBody>
      </p:sp>
      <p:sp>
        <p:nvSpPr>
          <p:cNvPr id="16" name="Fletxa 2"/>
          <p:cNvSpPr/>
          <p:nvPr/>
        </p:nvSpPr>
        <p:spPr>
          <a:xfrm>
            <a:off x="6008980" y="2331720"/>
            <a:ext cx="182880" cy="274320"/>
          </a:xfrm>
          <a:prstGeom prst="chevron">
            <a:avLst/>
          </a:prstGeom>
          <a:solidFill>
            <a:srgbClr val="B80672"/>
          </a:solidFill>
          <a:ln/>
        </p:spPr>
      </p:sp>
      <p:sp>
        <p:nvSpPr>
          <p:cNvPr id="17" name="Pas 3"/>
          <p:cNvSpPr/>
          <p:nvPr/>
        </p:nvSpPr>
        <p:spPr>
          <a:xfrm>
            <a:off x="6301588" y="1463040"/>
            <a:ext cx="2464994" cy="2514600"/>
          </a:xfrm>
          <a:prstGeom prst="roundRect">
            <a:avLst>
              <a:gd name="adj" fmla="val 4080"/>
            </a:avLst>
          </a:prstGeom>
          <a:solidFill>
            <a:srgbClr val="FFFFFF"/>
          </a:solidFill>
          <a:ln w="12700">
            <a:solidFill>
              <a:srgbClr val="DADCE0"/>
            </a:solidFill>
            <a:prstDash val="solid"/>
          </a:ln>
        </p:spPr>
      </p:sp>
      <p:sp>
        <p:nvSpPr>
          <p:cNvPr id="18" name="Número del pas 3"/>
          <p:cNvSpPr/>
          <p:nvPr/>
        </p:nvSpPr>
        <p:spPr>
          <a:xfrm>
            <a:off x="6557620" y="1691640"/>
            <a:ext cx="420624" cy="420624"/>
          </a:xfrm>
          <a:prstGeom prst="ellipse">
            <a:avLst/>
          </a:prstGeom>
          <a:solidFill>
            <a:srgbClr val="FDE7F3"/>
          </a:solidFill>
          <a:ln/>
        </p:spPr>
      </p:sp>
      <p:sp>
        <p:nvSpPr>
          <p:cNvPr id="19" name="Text 17"/>
          <p:cNvSpPr txBox="1"/>
          <p:nvPr/>
        </p:nvSpPr>
        <p:spPr>
          <a:xfrm>
            <a:off x="6557620" y="1691640"/>
            <a:ext cx="420624" cy="420624"/>
          </a:xfrm>
          <a:prstGeom prst="rect">
            <a:avLst/>
          </a:prstGeom>
          <a:noFill/>
          <a:ln/>
        </p:spPr>
        <p:txBody>
          <a:bodyPr wrap="square" lIns="0" tIns="0" rIns="0" bIns="0" rtlCol="0" anchor="ctr"/>
          <a:lstStyle/>
          <a:p>
            <a:pPr algn="ctr" indent="0" marL="0">
              <a:buNone/>
            </a:pPr>
            <a:r>
              <a:rPr lang="en-US" sz="1500" b="1" dirty="0">
                <a:solidFill>
                  <a:srgbClr val="B80672"/>
                </a:solidFill>
                <a:latin typeface="Roboto" pitchFamily="34" charset="0"/>
                <a:ea typeface="Roboto" pitchFamily="34" charset="-122"/>
                <a:cs typeface="Roboto" pitchFamily="34" charset="-120"/>
              </a:rPr>
              <a:t>3</a:t>
            </a:r>
            <a:endParaRPr lang="en-US" sz="1500" dirty="0"/>
          </a:p>
        </p:txBody>
      </p:sp>
      <p:sp>
        <p:nvSpPr>
          <p:cNvPr id="20" name="Text 18"/>
          <p:cNvSpPr txBox="1"/>
          <p:nvPr/>
        </p:nvSpPr>
        <p:spPr>
          <a:xfrm>
            <a:off x="6557620" y="2240280"/>
            <a:ext cx="2007794" cy="54864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Expedient Picasso</a:t>
            </a:r>
            <a:endParaRPr lang="en-US" sz="1600" dirty="0"/>
          </a:p>
        </p:txBody>
      </p:sp>
      <p:sp>
        <p:nvSpPr>
          <p:cNvPr id="21" name="Text 19"/>
          <p:cNvSpPr txBox="1"/>
          <p:nvPr/>
        </p:nvSpPr>
        <p:spPr>
          <a:xfrm>
            <a:off x="6557620" y="2834640"/>
            <a:ext cx="2007794" cy="10058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Una investigació militar assenyala errors greus dels comandaments.</a:t>
            </a:r>
            <a:endParaRPr lang="en-US" sz="1400" dirty="0"/>
          </a:p>
        </p:txBody>
      </p:sp>
      <p:sp>
        <p:nvSpPr>
          <p:cNvPr id="22" name="Fletxa 3"/>
          <p:cNvSpPr/>
          <p:nvPr/>
        </p:nvSpPr>
        <p:spPr>
          <a:xfrm>
            <a:off x="8885453" y="2331720"/>
            <a:ext cx="182880" cy="274320"/>
          </a:xfrm>
          <a:prstGeom prst="chevron">
            <a:avLst/>
          </a:prstGeom>
          <a:solidFill>
            <a:srgbClr val="B80672"/>
          </a:solidFill>
          <a:ln/>
        </p:spPr>
      </p:sp>
      <p:sp>
        <p:nvSpPr>
          <p:cNvPr id="23" name="Pas 4"/>
          <p:cNvSpPr/>
          <p:nvPr/>
        </p:nvSpPr>
        <p:spPr>
          <a:xfrm>
            <a:off x="9178061" y="1463040"/>
            <a:ext cx="2464994" cy="2514600"/>
          </a:xfrm>
          <a:prstGeom prst="roundRect">
            <a:avLst>
              <a:gd name="adj" fmla="val 4080"/>
            </a:avLst>
          </a:prstGeom>
          <a:solidFill>
            <a:srgbClr val="FFFFFF"/>
          </a:solidFill>
          <a:ln w="12700">
            <a:solidFill>
              <a:srgbClr val="DADCE0"/>
            </a:solidFill>
            <a:prstDash val="solid"/>
          </a:ln>
        </p:spPr>
      </p:sp>
      <p:sp>
        <p:nvSpPr>
          <p:cNvPr id="24" name="Número del pas 4"/>
          <p:cNvSpPr/>
          <p:nvPr/>
        </p:nvSpPr>
        <p:spPr>
          <a:xfrm>
            <a:off x="9434093" y="1691640"/>
            <a:ext cx="420624" cy="420624"/>
          </a:xfrm>
          <a:prstGeom prst="ellipse">
            <a:avLst/>
          </a:prstGeom>
          <a:solidFill>
            <a:srgbClr val="FDE7F3"/>
          </a:solidFill>
          <a:ln/>
        </p:spPr>
      </p:sp>
      <p:sp>
        <p:nvSpPr>
          <p:cNvPr id="25" name="Text 23"/>
          <p:cNvSpPr txBox="1"/>
          <p:nvPr/>
        </p:nvSpPr>
        <p:spPr>
          <a:xfrm>
            <a:off x="9434093" y="1691640"/>
            <a:ext cx="420624" cy="420624"/>
          </a:xfrm>
          <a:prstGeom prst="rect">
            <a:avLst/>
          </a:prstGeom>
          <a:noFill/>
          <a:ln/>
        </p:spPr>
        <p:txBody>
          <a:bodyPr wrap="square" lIns="0" tIns="0" rIns="0" bIns="0" rtlCol="0" anchor="ctr"/>
          <a:lstStyle/>
          <a:p>
            <a:pPr algn="ctr" indent="0" marL="0">
              <a:buNone/>
            </a:pPr>
            <a:r>
              <a:rPr lang="en-US" sz="1500" b="1" dirty="0">
                <a:solidFill>
                  <a:srgbClr val="B80672"/>
                </a:solidFill>
                <a:latin typeface="Roboto" pitchFamily="34" charset="0"/>
                <a:ea typeface="Roboto" pitchFamily="34" charset="-122"/>
                <a:cs typeface="Roboto" pitchFamily="34" charset="-120"/>
              </a:rPr>
              <a:t>4</a:t>
            </a:r>
            <a:endParaRPr lang="en-US" sz="1500" dirty="0"/>
          </a:p>
        </p:txBody>
      </p:sp>
      <p:sp>
        <p:nvSpPr>
          <p:cNvPr id="26" name="Text 24"/>
          <p:cNvSpPr txBox="1"/>
          <p:nvPr/>
        </p:nvSpPr>
        <p:spPr>
          <a:xfrm>
            <a:off x="9434093" y="2240280"/>
            <a:ext cx="2007794" cy="54864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El debat que no arriba</a:t>
            </a:r>
            <a:endParaRPr lang="en-US" sz="1600" dirty="0"/>
          </a:p>
        </p:txBody>
      </p:sp>
      <p:sp>
        <p:nvSpPr>
          <p:cNvPr id="27" name="Text 25"/>
          <p:cNvSpPr txBox="1"/>
          <p:nvPr/>
        </p:nvSpPr>
        <p:spPr>
          <a:xfrm>
            <a:off x="9434093" y="2834640"/>
            <a:ext cx="2007794" cy="10058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Havia de continuar al Congrés la tardor de 1923. El cop d'estat de setembre l'impedeix.</a:t>
            </a:r>
            <a:endParaRPr lang="en-US" sz="1400" dirty="0"/>
          </a:p>
        </p:txBody>
      </p:sp>
      <p:sp>
        <p:nvSpPr>
          <p:cNvPr id="28" name="Per què és important"/>
          <p:cNvSpPr/>
          <p:nvPr/>
        </p:nvSpPr>
        <p:spPr>
          <a:xfrm>
            <a:off x="548640" y="4297680"/>
            <a:ext cx="11094415" cy="1280160"/>
          </a:xfrm>
          <a:prstGeom prst="roundRect">
            <a:avLst>
              <a:gd name="adj" fmla="val 7857"/>
            </a:avLst>
          </a:prstGeom>
          <a:solidFill>
            <a:srgbClr val="FDE7F3"/>
          </a:solidFill>
          <a:ln/>
        </p:spPr>
      </p:sp>
      <p:sp>
        <p:nvSpPr>
          <p:cNvPr id="29" name="Text 27"/>
          <p:cNvSpPr txBox="1"/>
          <p:nvPr/>
        </p:nvSpPr>
        <p:spPr>
          <a:xfrm>
            <a:off x="868680" y="4453128"/>
            <a:ext cx="1045433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Per què és important</a:t>
            </a:r>
            <a:endParaRPr lang="en-US" sz="1400" dirty="0"/>
          </a:p>
        </p:txBody>
      </p:sp>
      <p:sp>
        <p:nvSpPr>
          <p:cNvPr id="30" name="Text 28"/>
          <p:cNvSpPr txBox="1"/>
          <p:nvPr/>
        </p:nvSpPr>
        <p:spPr>
          <a:xfrm>
            <a:off x="868680" y="4800600"/>
            <a:ext cx="10454335" cy="6400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Annual va unir la crisi del Marroc amb la crisi política. El debat sobre les responsabilitats amenaçava els comandaments militars i el mateix rei, i és una de les causes del cop de Primo de Rivera.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Apartat 4 a la PAU</a:t>
            </a:r>
            <a:endParaRPr lang="en-US" sz="2800" dirty="0"/>
          </a:p>
        </p:txBody>
      </p:sp>
      <p:sp>
        <p:nvSpPr>
          <p:cNvPr id="5" name="Text 3"/>
          <p:cNvSpPr txBox="1"/>
          <p:nvPr/>
        </p:nvSpPr>
        <p:spPr>
          <a:xfrm>
            <a:off x="548640" y="1371600"/>
            <a:ext cx="1097280" cy="822960"/>
          </a:xfrm>
          <a:prstGeom prst="rect">
            <a:avLst/>
          </a:prstGeom>
          <a:noFill/>
          <a:ln/>
        </p:spPr>
        <p:txBody>
          <a:bodyPr wrap="square" lIns="0" tIns="0" rIns="0" bIns="0" rtlCol="0" anchor="t"/>
          <a:lstStyle/>
          <a:p>
            <a:pPr indent="0" marL="0">
              <a:buNone/>
            </a:pPr>
            <a:r>
              <a:rPr lang="en-US" sz="4800" b="1" dirty="0">
                <a:solidFill>
                  <a:srgbClr val="B80672"/>
                </a:solidFill>
                <a:latin typeface="Roboto" pitchFamily="34" charset="0"/>
                <a:ea typeface="Roboto" pitchFamily="34" charset="-122"/>
                <a:cs typeface="Roboto" pitchFamily="34" charset="-120"/>
              </a:rPr>
              <a:t>11</a:t>
            </a:r>
            <a:endParaRPr lang="en-US" sz="4800" dirty="0"/>
          </a:p>
        </p:txBody>
      </p:sp>
      <p:sp>
        <p:nvSpPr>
          <p:cNvPr id="6" name="Text 4"/>
          <p:cNvSpPr txBox="1"/>
          <p:nvPr/>
        </p:nvSpPr>
        <p:spPr>
          <a:xfrm>
            <a:off x="1691640" y="1417320"/>
            <a:ext cx="2697480" cy="1005840"/>
          </a:xfrm>
          <a:prstGeom prst="rect">
            <a:avLst/>
          </a:prstGeom>
          <a:noFill/>
          <a:ln/>
        </p:spPr>
        <p:txBody>
          <a:bodyPr wrap="square" lIns="0" tIns="0" rIns="0" bIns="0" rtlCol="0" anchor="t"/>
          <a:lstStyle/>
          <a:p>
            <a:pPr indent="0" marL="0">
              <a:buNone/>
            </a:pPr>
            <a:r>
              <a:rPr lang="en-US" sz="1300" dirty="0">
                <a:solidFill>
                  <a:srgbClr val="202124"/>
                </a:solidFill>
                <a:latin typeface="Roboto" pitchFamily="34" charset="0"/>
                <a:ea typeface="Roboto" pitchFamily="34" charset="-122"/>
                <a:cs typeface="Roboto" pitchFamily="34" charset="-120"/>
              </a:rPr>
              <a:t>preguntes sobre la Gran Guerra, la crisi de 1917 i el pistolerisme a les PAU del 2010 al 2024 (model anterior).</a:t>
            </a:r>
            <a:endParaRPr lang="en-US" sz="1300" dirty="0"/>
          </a:p>
        </p:txBody>
      </p:sp>
      <p:sp>
        <p:nvSpPr>
          <p:cNvPr id="7" name="Àmbits del glossari"/>
          <p:cNvSpPr/>
          <p:nvPr/>
        </p:nvSpPr>
        <p:spPr>
          <a:xfrm>
            <a:off x="548640" y="2560320"/>
            <a:ext cx="3840480" cy="3584448"/>
          </a:xfrm>
          <a:prstGeom prst="roundRect">
            <a:avLst>
              <a:gd name="adj" fmla="val 2806"/>
            </a:avLst>
          </a:prstGeom>
          <a:solidFill>
            <a:srgbClr val="F6F8FB"/>
          </a:solidFill>
          <a:ln/>
        </p:spPr>
      </p:sp>
      <p:sp>
        <p:nvSpPr>
          <p:cNvPr id="8" name="Text 6"/>
          <p:cNvSpPr txBox="1"/>
          <p:nvPr/>
        </p:nvSpPr>
        <p:spPr>
          <a:xfrm>
            <a:off x="822960" y="2715768"/>
            <a:ext cx="3291840" cy="292608"/>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Àmbits del glossari</a:t>
            </a:r>
            <a:endParaRPr lang="en-US" sz="1300" dirty="0"/>
          </a:p>
        </p:txBody>
      </p:sp>
      <p:sp>
        <p:nvSpPr>
          <p:cNvPr id="9" name="Text 7"/>
          <p:cNvSpPr txBox="1"/>
          <p:nvPr/>
        </p:nvSpPr>
        <p:spPr>
          <a:xfrm>
            <a:off x="822960" y="3035808"/>
            <a:ext cx="3337560" cy="3035808"/>
          </a:xfrm>
          <a:prstGeom prst="rect">
            <a:avLst/>
          </a:prstGeom>
          <a:noFill/>
          <a:ln/>
        </p:spPr>
        <p:txBody>
          <a:bodyPr wrap="square" lIns="0" tIns="0" rIns="0" bIns="0" rtlCol="0" anchor="t"/>
          <a:lstStyle/>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1. Liberalisme i democràcia. Clientelisme i corrupció.</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4. Conquesta dels drets socials i incipient Estat del Benestar.</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5. Militarisme.</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7. Violència política i social (en temps de pau i en temps de guerra).</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8. Església i poder. Clericalisme i anticlericalisme.</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10. Centralisme, catalanismes i experiències d’auto-govern.</a:t>
            </a:r>
            <a:endParaRPr lang="en-US" sz="1350" dirty="0"/>
          </a:p>
        </p:txBody>
      </p:sp>
      <p:sp>
        <p:nvSpPr>
          <p:cNvPr id="10" name="Text 8"/>
          <p:cNvSpPr txBox="1"/>
          <p:nvPr/>
        </p:nvSpPr>
        <p:spPr>
          <a:xfrm>
            <a:off x="4846320" y="1417320"/>
            <a:ext cx="6766560" cy="320040"/>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Conceptes clau</a:t>
            </a:r>
            <a:endParaRPr lang="en-US" sz="1300" dirty="0"/>
          </a:p>
        </p:txBody>
      </p:sp>
      <p:sp>
        <p:nvSpPr>
          <p:cNvPr id="11" name="Etiqueta Revolució des de dalt"/>
          <p:cNvSpPr/>
          <p:nvPr/>
        </p:nvSpPr>
        <p:spPr>
          <a:xfrm>
            <a:off x="4846320" y="1810512"/>
            <a:ext cx="1904695" cy="310896"/>
          </a:xfrm>
          <a:prstGeom prst="roundRect">
            <a:avLst>
              <a:gd name="adj" fmla="val 50000"/>
            </a:avLst>
          </a:prstGeom>
          <a:solidFill>
            <a:srgbClr val="FDE7F3"/>
          </a:solidFill>
          <a:ln/>
        </p:spPr>
      </p:sp>
      <p:sp>
        <p:nvSpPr>
          <p:cNvPr id="12" name="Text 10"/>
          <p:cNvSpPr txBox="1"/>
          <p:nvPr/>
        </p:nvSpPr>
        <p:spPr>
          <a:xfrm>
            <a:off x="4846320" y="1810512"/>
            <a:ext cx="1904695"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Revolució des de dalt</a:t>
            </a:r>
            <a:endParaRPr lang="en-US" sz="1200" dirty="0"/>
          </a:p>
        </p:txBody>
      </p:sp>
      <p:sp>
        <p:nvSpPr>
          <p:cNvPr id="13" name="Etiqueta Llei del Cadenat"/>
          <p:cNvSpPr/>
          <p:nvPr/>
        </p:nvSpPr>
        <p:spPr>
          <a:xfrm>
            <a:off x="6842455" y="1810512"/>
            <a:ext cx="1525219" cy="310896"/>
          </a:xfrm>
          <a:prstGeom prst="roundRect">
            <a:avLst>
              <a:gd name="adj" fmla="val 50000"/>
            </a:avLst>
          </a:prstGeom>
          <a:solidFill>
            <a:srgbClr val="FDE7F3"/>
          </a:solidFill>
          <a:ln/>
        </p:spPr>
      </p:sp>
      <p:sp>
        <p:nvSpPr>
          <p:cNvPr id="14" name="Text 12"/>
          <p:cNvSpPr txBox="1"/>
          <p:nvPr/>
        </p:nvSpPr>
        <p:spPr>
          <a:xfrm>
            <a:off x="6842455" y="1810512"/>
            <a:ext cx="152521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Llei del Cadenat</a:t>
            </a:r>
            <a:endParaRPr lang="en-US" sz="1200" dirty="0"/>
          </a:p>
        </p:txBody>
      </p:sp>
      <p:sp>
        <p:nvSpPr>
          <p:cNvPr id="15" name="Etiqueta Militarisme"/>
          <p:cNvSpPr/>
          <p:nvPr/>
        </p:nvSpPr>
        <p:spPr>
          <a:xfrm>
            <a:off x="8459114" y="1810512"/>
            <a:ext cx="1145743" cy="310896"/>
          </a:xfrm>
          <a:prstGeom prst="roundRect">
            <a:avLst>
              <a:gd name="adj" fmla="val 50000"/>
            </a:avLst>
          </a:prstGeom>
          <a:solidFill>
            <a:srgbClr val="FDE7F3"/>
          </a:solidFill>
          <a:ln/>
        </p:spPr>
      </p:sp>
      <p:sp>
        <p:nvSpPr>
          <p:cNvPr id="16" name="Text 14"/>
          <p:cNvSpPr txBox="1"/>
          <p:nvPr/>
        </p:nvSpPr>
        <p:spPr>
          <a:xfrm>
            <a:off x="8459114" y="1810512"/>
            <a:ext cx="1145743"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Militarisme</a:t>
            </a:r>
            <a:endParaRPr lang="en-US" sz="1200" dirty="0"/>
          </a:p>
        </p:txBody>
      </p:sp>
      <p:sp>
        <p:nvSpPr>
          <p:cNvPr id="17" name="Etiqueta Llei de Jurisdiccions"/>
          <p:cNvSpPr/>
          <p:nvPr/>
        </p:nvSpPr>
        <p:spPr>
          <a:xfrm>
            <a:off x="9696298" y="1810512"/>
            <a:ext cx="1904695" cy="310896"/>
          </a:xfrm>
          <a:prstGeom prst="roundRect">
            <a:avLst>
              <a:gd name="adj" fmla="val 50000"/>
            </a:avLst>
          </a:prstGeom>
          <a:solidFill>
            <a:srgbClr val="FDE7F3"/>
          </a:solidFill>
          <a:ln/>
        </p:spPr>
      </p:sp>
      <p:sp>
        <p:nvSpPr>
          <p:cNvPr id="18" name="Text 16"/>
          <p:cNvSpPr txBox="1"/>
          <p:nvPr/>
        </p:nvSpPr>
        <p:spPr>
          <a:xfrm>
            <a:off x="9696298" y="1810512"/>
            <a:ext cx="1904695"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Llei de Jurisdiccions</a:t>
            </a:r>
            <a:endParaRPr lang="en-US" sz="1200" dirty="0"/>
          </a:p>
        </p:txBody>
      </p:sp>
      <p:sp>
        <p:nvSpPr>
          <p:cNvPr id="19" name="Etiqueta Setmana Tràgica"/>
          <p:cNvSpPr/>
          <p:nvPr/>
        </p:nvSpPr>
        <p:spPr>
          <a:xfrm>
            <a:off x="4846320" y="2212848"/>
            <a:ext cx="1449324" cy="310896"/>
          </a:xfrm>
          <a:prstGeom prst="roundRect">
            <a:avLst>
              <a:gd name="adj" fmla="val 50000"/>
            </a:avLst>
          </a:prstGeom>
          <a:solidFill>
            <a:srgbClr val="FDE7F3"/>
          </a:solidFill>
          <a:ln/>
        </p:spPr>
      </p:sp>
      <p:sp>
        <p:nvSpPr>
          <p:cNvPr id="20" name="Text 18"/>
          <p:cNvSpPr txBox="1"/>
          <p:nvPr/>
        </p:nvSpPr>
        <p:spPr>
          <a:xfrm>
            <a:off x="4846320" y="2212848"/>
            <a:ext cx="144932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Setmana Tràgica</a:t>
            </a:r>
            <a:endParaRPr lang="en-US" sz="1200" dirty="0"/>
          </a:p>
        </p:txBody>
      </p:sp>
      <p:sp>
        <p:nvSpPr>
          <p:cNvPr id="21" name="Etiqueta Anticlericalisme"/>
          <p:cNvSpPr/>
          <p:nvPr/>
        </p:nvSpPr>
        <p:spPr>
          <a:xfrm>
            <a:off x="6387084" y="2212848"/>
            <a:ext cx="1525219" cy="310896"/>
          </a:xfrm>
          <a:prstGeom prst="roundRect">
            <a:avLst>
              <a:gd name="adj" fmla="val 50000"/>
            </a:avLst>
          </a:prstGeom>
          <a:solidFill>
            <a:srgbClr val="FDE7F3"/>
          </a:solidFill>
          <a:ln/>
        </p:spPr>
      </p:sp>
      <p:sp>
        <p:nvSpPr>
          <p:cNvPr id="22" name="Text 20"/>
          <p:cNvSpPr txBox="1"/>
          <p:nvPr/>
        </p:nvSpPr>
        <p:spPr>
          <a:xfrm>
            <a:off x="6387084" y="2212848"/>
            <a:ext cx="152521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Anticlericalisme</a:t>
            </a:r>
            <a:endParaRPr lang="en-US" sz="1200" dirty="0"/>
          </a:p>
        </p:txBody>
      </p:sp>
      <p:sp>
        <p:nvSpPr>
          <p:cNvPr id="23" name="Etiqueta Llei de mancomunitats"/>
          <p:cNvSpPr/>
          <p:nvPr/>
        </p:nvSpPr>
        <p:spPr>
          <a:xfrm>
            <a:off x="8003743" y="2212848"/>
            <a:ext cx="1904695" cy="310896"/>
          </a:xfrm>
          <a:prstGeom prst="roundRect">
            <a:avLst>
              <a:gd name="adj" fmla="val 50000"/>
            </a:avLst>
          </a:prstGeom>
          <a:solidFill>
            <a:srgbClr val="FDE7F3"/>
          </a:solidFill>
          <a:ln/>
        </p:spPr>
      </p:sp>
      <p:sp>
        <p:nvSpPr>
          <p:cNvPr id="24" name="Text 22"/>
          <p:cNvSpPr txBox="1"/>
          <p:nvPr/>
        </p:nvSpPr>
        <p:spPr>
          <a:xfrm>
            <a:off x="8003743" y="2212848"/>
            <a:ext cx="1904695"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Llei de mancomunitats</a:t>
            </a:r>
            <a:endParaRPr lang="en-US" sz="1200" dirty="0"/>
          </a:p>
        </p:txBody>
      </p:sp>
      <p:sp>
        <p:nvSpPr>
          <p:cNvPr id="25" name="Etiqueta Mancomunitat"/>
          <p:cNvSpPr/>
          <p:nvPr/>
        </p:nvSpPr>
        <p:spPr>
          <a:xfrm>
            <a:off x="9999878" y="2212848"/>
            <a:ext cx="1221638" cy="310896"/>
          </a:xfrm>
          <a:prstGeom prst="roundRect">
            <a:avLst>
              <a:gd name="adj" fmla="val 50000"/>
            </a:avLst>
          </a:prstGeom>
          <a:solidFill>
            <a:srgbClr val="FDE7F3"/>
          </a:solidFill>
          <a:ln/>
        </p:spPr>
      </p:sp>
      <p:sp>
        <p:nvSpPr>
          <p:cNvPr id="26" name="Text 24"/>
          <p:cNvSpPr txBox="1"/>
          <p:nvPr/>
        </p:nvSpPr>
        <p:spPr>
          <a:xfrm>
            <a:off x="9999878" y="2212848"/>
            <a:ext cx="122163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Mancomunitat</a:t>
            </a:r>
            <a:endParaRPr lang="en-US" sz="1200" dirty="0"/>
          </a:p>
        </p:txBody>
      </p:sp>
      <p:sp>
        <p:nvSpPr>
          <p:cNvPr id="27" name="Etiqueta Juntes de Defensa"/>
          <p:cNvSpPr/>
          <p:nvPr/>
        </p:nvSpPr>
        <p:spPr>
          <a:xfrm>
            <a:off x="4846320" y="2615184"/>
            <a:ext cx="1601114" cy="310896"/>
          </a:xfrm>
          <a:prstGeom prst="roundRect">
            <a:avLst>
              <a:gd name="adj" fmla="val 50000"/>
            </a:avLst>
          </a:prstGeom>
          <a:solidFill>
            <a:srgbClr val="FDE7F3"/>
          </a:solidFill>
          <a:ln/>
        </p:spPr>
      </p:sp>
      <p:sp>
        <p:nvSpPr>
          <p:cNvPr id="28" name="Text 26"/>
          <p:cNvSpPr txBox="1"/>
          <p:nvPr/>
        </p:nvSpPr>
        <p:spPr>
          <a:xfrm>
            <a:off x="4846320" y="2615184"/>
            <a:ext cx="160111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Juntes de Defensa</a:t>
            </a:r>
            <a:endParaRPr lang="en-US" sz="1200" dirty="0"/>
          </a:p>
        </p:txBody>
      </p:sp>
      <p:sp>
        <p:nvSpPr>
          <p:cNvPr id="29" name="Etiqueta Assemblea de Parlamentaris"/>
          <p:cNvSpPr/>
          <p:nvPr/>
        </p:nvSpPr>
        <p:spPr>
          <a:xfrm>
            <a:off x="6538874" y="2615184"/>
            <a:ext cx="2284171" cy="310896"/>
          </a:xfrm>
          <a:prstGeom prst="roundRect">
            <a:avLst>
              <a:gd name="adj" fmla="val 50000"/>
            </a:avLst>
          </a:prstGeom>
          <a:solidFill>
            <a:srgbClr val="FDE7F3"/>
          </a:solidFill>
          <a:ln/>
        </p:spPr>
      </p:sp>
      <p:sp>
        <p:nvSpPr>
          <p:cNvPr id="30" name="Text 28"/>
          <p:cNvSpPr txBox="1"/>
          <p:nvPr/>
        </p:nvSpPr>
        <p:spPr>
          <a:xfrm>
            <a:off x="6538874" y="2615184"/>
            <a:ext cx="2284171"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Assemblea de Parlamentaris</a:t>
            </a:r>
            <a:endParaRPr lang="en-US" sz="1200" dirty="0"/>
          </a:p>
        </p:txBody>
      </p:sp>
      <p:sp>
        <p:nvSpPr>
          <p:cNvPr id="31" name="Etiqueta Campanya autonomista"/>
          <p:cNvSpPr/>
          <p:nvPr/>
        </p:nvSpPr>
        <p:spPr>
          <a:xfrm>
            <a:off x="8914486" y="2615184"/>
            <a:ext cx="1828800" cy="310896"/>
          </a:xfrm>
          <a:prstGeom prst="roundRect">
            <a:avLst>
              <a:gd name="adj" fmla="val 50000"/>
            </a:avLst>
          </a:prstGeom>
          <a:solidFill>
            <a:srgbClr val="FDE7F3"/>
          </a:solidFill>
          <a:ln/>
        </p:spPr>
      </p:sp>
      <p:sp>
        <p:nvSpPr>
          <p:cNvPr id="32" name="Text 30"/>
          <p:cNvSpPr txBox="1"/>
          <p:nvPr/>
        </p:nvSpPr>
        <p:spPr>
          <a:xfrm>
            <a:off x="8914486" y="2615184"/>
            <a:ext cx="182880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Campanya autonomista</a:t>
            </a:r>
            <a:endParaRPr lang="en-US" sz="1200" dirty="0"/>
          </a:p>
        </p:txBody>
      </p:sp>
      <p:sp>
        <p:nvSpPr>
          <p:cNvPr id="33" name="Etiqueta Trienni bolxevic"/>
          <p:cNvSpPr/>
          <p:nvPr/>
        </p:nvSpPr>
        <p:spPr>
          <a:xfrm>
            <a:off x="4846320" y="3017520"/>
            <a:ext cx="1525219" cy="310896"/>
          </a:xfrm>
          <a:prstGeom prst="roundRect">
            <a:avLst>
              <a:gd name="adj" fmla="val 50000"/>
            </a:avLst>
          </a:prstGeom>
          <a:solidFill>
            <a:srgbClr val="FDE7F3"/>
          </a:solidFill>
          <a:ln/>
        </p:spPr>
      </p:sp>
      <p:sp>
        <p:nvSpPr>
          <p:cNvPr id="34" name="Text 32"/>
          <p:cNvSpPr txBox="1"/>
          <p:nvPr/>
        </p:nvSpPr>
        <p:spPr>
          <a:xfrm>
            <a:off x="4846320" y="3017520"/>
            <a:ext cx="152521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Trienni bolxevic</a:t>
            </a:r>
            <a:endParaRPr lang="en-US" sz="1200" dirty="0"/>
          </a:p>
        </p:txBody>
      </p:sp>
      <p:sp>
        <p:nvSpPr>
          <p:cNvPr id="35" name="Etiqueta La Canadenca"/>
          <p:cNvSpPr/>
          <p:nvPr/>
        </p:nvSpPr>
        <p:spPr>
          <a:xfrm>
            <a:off x="6462979" y="3017520"/>
            <a:ext cx="1221638" cy="310896"/>
          </a:xfrm>
          <a:prstGeom prst="roundRect">
            <a:avLst>
              <a:gd name="adj" fmla="val 50000"/>
            </a:avLst>
          </a:prstGeom>
          <a:solidFill>
            <a:srgbClr val="FDE7F3"/>
          </a:solidFill>
          <a:ln/>
        </p:spPr>
      </p:sp>
      <p:sp>
        <p:nvSpPr>
          <p:cNvPr id="36" name="Text 34"/>
          <p:cNvSpPr txBox="1"/>
          <p:nvPr/>
        </p:nvSpPr>
        <p:spPr>
          <a:xfrm>
            <a:off x="6462979" y="3017520"/>
            <a:ext cx="122163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La Canadenca</a:t>
            </a:r>
            <a:endParaRPr lang="en-US" sz="1200" dirty="0"/>
          </a:p>
        </p:txBody>
      </p:sp>
      <p:sp>
        <p:nvSpPr>
          <p:cNvPr id="37" name="Etiqueta Pistolerisme"/>
          <p:cNvSpPr/>
          <p:nvPr/>
        </p:nvSpPr>
        <p:spPr>
          <a:xfrm>
            <a:off x="7776058" y="3017520"/>
            <a:ext cx="1221638" cy="310896"/>
          </a:xfrm>
          <a:prstGeom prst="roundRect">
            <a:avLst>
              <a:gd name="adj" fmla="val 50000"/>
            </a:avLst>
          </a:prstGeom>
          <a:solidFill>
            <a:srgbClr val="FDE7F3"/>
          </a:solidFill>
          <a:ln/>
        </p:spPr>
      </p:sp>
      <p:sp>
        <p:nvSpPr>
          <p:cNvPr id="38" name="Text 36"/>
          <p:cNvSpPr txBox="1"/>
          <p:nvPr/>
        </p:nvSpPr>
        <p:spPr>
          <a:xfrm>
            <a:off x="7776058" y="3017520"/>
            <a:ext cx="122163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Pistolerisme</a:t>
            </a:r>
            <a:endParaRPr lang="en-US" sz="1200" dirty="0"/>
          </a:p>
        </p:txBody>
      </p:sp>
      <p:sp>
        <p:nvSpPr>
          <p:cNvPr id="39" name="Etiqueta Desastre d'Annual"/>
          <p:cNvSpPr/>
          <p:nvPr/>
        </p:nvSpPr>
        <p:spPr>
          <a:xfrm>
            <a:off x="9089136" y="3017520"/>
            <a:ext cx="1601114" cy="310896"/>
          </a:xfrm>
          <a:prstGeom prst="roundRect">
            <a:avLst>
              <a:gd name="adj" fmla="val 50000"/>
            </a:avLst>
          </a:prstGeom>
          <a:solidFill>
            <a:srgbClr val="FDE7F3"/>
          </a:solidFill>
          <a:ln/>
        </p:spPr>
      </p:sp>
      <p:sp>
        <p:nvSpPr>
          <p:cNvPr id="40" name="Text 38"/>
          <p:cNvSpPr txBox="1"/>
          <p:nvPr/>
        </p:nvSpPr>
        <p:spPr>
          <a:xfrm>
            <a:off x="9089136" y="3017520"/>
            <a:ext cx="160111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Desastre d'Annual</a:t>
            </a:r>
            <a:endParaRPr lang="en-US" sz="1200" dirty="0"/>
          </a:p>
        </p:txBody>
      </p:sp>
      <p:sp>
        <p:nvSpPr>
          <p:cNvPr id="41" name="Exercici PAU"/>
          <p:cNvSpPr/>
          <p:nvPr/>
        </p:nvSpPr>
        <p:spPr>
          <a:xfrm>
            <a:off x="4846320" y="3584448"/>
            <a:ext cx="6796735" cy="2450592"/>
          </a:xfrm>
          <a:prstGeom prst="roundRect">
            <a:avLst>
              <a:gd name="adj" fmla="val 4104"/>
            </a:avLst>
          </a:prstGeom>
          <a:solidFill>
            <a:srgbClr val="FFFFFF"/>
          </a:solidFill>
          <a:ln w="12700">
            <a:solidFill>
              <a:srgbClr val="DADCE0"/>
            </a:solidFill>
            <a:prstDash val="solid"/>
          </a:ln>
        </p:spPr>
      </p:sp>
      <p:sp>
        <p:nvSpPr>
          <p:cNvPr id="42" name="Etiqueta Enunciat oficial · Sèrie 0, 2025"/>
          <p:cNvSpPr/>
          <p:nvPr/>
        </p:nvSpPr>
        <p:spPr>
          <a:xfrm>
            <a:off x="5120640" y="3785616"/>
            <a:ext cx="2798064" cy="310896"/>
          </a:xfrm>
          <a:prstGeom prst="roundRect">
            <a:avLst>
              <a:gd name="adj" fmla="val 50000"/>
            </a:avLst>
          </a:prstGeom>
          <a:solidFill>
            <a:srgbClr val="FDE7F3"/>
          </a:solidFill>
          <a:ln/>
        </p:spPr>
      </p:sp>
      <p:sp>
        <p:nvSpPr>
          <p:cNvPr id="43" name="Text 41"/>
          <p:cNvSpPr txBox="1"/>
          <p:nvPr/>
        </p:nvSpPr>
        <p:spPr>
          <a:xfrm>
            <a:off x="5120640" y="3785616"/>
            <a:ext cx="2798064" cy="310896"/>
          </a:xfrm>
          <a:prstGeom prst="rect">
            <a:avLst/>
          </a:prstGeom>
          <a:noFill/>
          <a:ln/>
        </p:spPr>
        <p:txBody>
          <a:bodyPr wrap="square" lIns="0" tIns="0" rIns="0" bIns="0" rtlCol="0" anchor="ctr"/>
          <a:lstStyle/>
          <a:p>
            <a:pPr algn="ctr" indent="0" marL="0">
              <a:buNone/>
            </a:pPr>
            <a:r>
              <a:rPr lang="en-US" sz="1150" b="1" dirty="0">
                <a:solidFill>
                  <a:srgbClr val="B80672"/>
                </a:solidFill>
                <a:latin typeface="Roboto" pitchFamily="34" charset="0"/>
                <a:ea typeface="Roboto" pitchFamily="34" charset="-122"/>
                <a:cs typeface="Roboto" pitchFamily="34" charset="-120"/>
              </a:rPr>
              <a:t>Enunciat oficial · Sèrie 0, 2025</a:t>
            </a:r>
            <a:endParaRPr lang="en-US" sz="1150" dirty="0"/>
          </a:p>
        </p:txBody>
      </p:sp>
      <p:sp>
        <p:nvSpPr>
          <p:cNvPr id="44" name="Text 42"/>
          <p:cNvSpPr txBox="1"/>
          <p:nvPr/>
        </p:nvSpPr>
        <p:spPr>
          <a:xfrm>
            <a:off x="5120640" y="4187952"/>
            <a:ext cx="6248095" cy="32004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Exercici 2 · Text amb cinc termes</a:t>
            </a:r>
            <a:endParaRPr lang="en-US" sz="1500" dirty="0"/>
          </a:p>
        </p:txBody>
      </p:sp>
      <p:sp>
        <p:nvSpPr>
          <p:cNvPr id="45" name="Text 43"/>
          <p:cNvSpPr txBox="1"/>
          <p:nvPr/>
        </p:nvSpPr>
        <p:spPr>
          <a:xfrm>
            <a:off x="5120640" y="4572000"/>
            <a:ext cx="6248095" cy="1353312"/>
          </a:xfrm>
          <a:prstGeom prst="rect">
            <a:avLst/>
          </a:prstGeom>
          <a:noFill/>
          <a:ln/>
        </p:spPr>
        <p:txBody>
          <a:bodyPr wrap="square" lIns="0" tIns="0" rIns="0" bIns="0" rtlCol="0" anchor="t"/>
          <a:lstStyle/>
          <a:p>
            <a:pPr indent="0" marL="0">
              <a:spcAft>
                <a:spcPts val="700"/>
              </a:spcAft>
              <a:buNone/>
            </a:pPr>
            <a:r>
              <a:rPr lang="en-US" sz="1350" dirty="0">
                <a:solidFill>
                  <a:srgbClr val="202124"/>
                </a:solidFill>
                <a:latin typeface="Roboto" pitchFamily="34" charset="0"/>
                <a:ea typeface="Roboto" pitchFamily="34" charset="-122"/>
                <a:cs typeface="Roboto" pitchFamily="34" charset="-120"/>
              </a:rPr>
              <a:t>Un diari estranger us ha enviat com a corresponsal a la Barcelona de principis del segle XX per explicar l'impacte de la Setmana Tràgica. Com a part de la vostra feina, heu de redactar un article utilitzant els cinc termes següents de manera adequada: reservistes, barricades, anticlericalisme, vaga general i Francesc Ferrer i Guàrdia (l'ús de cada terme històric val 0,20 punts).</a:t>
            </a:r>
            <a:endParaRPr lang="en-US" sz="1350" dirty="0"/>
          </a:p>
          <a:p>
            <a:pPr indent="0" marL="0">
              <a:spcAft>
                <a:spcPts val="700"/>
              </a:spcAft>
              <a:buNone/>
            </a:pPr>
            <a:r>
              <a:rPr lang="en-US" sz="1350" b="1" u="sng" dirty="0">
                <a:solidFill>
                  <a:srgbClr val="B80672"/>
                </a:solidFill>
                <a:latin typeface="Roboto" pitchFamily="34" charset="0"/>
                <a:ea typeface="Roboto" pitchFamily="34" charset="-122"/>
                <a:cs typeface="Roboto" pitchFamily="34" charset="-120"/>
                <a:hlinkClick r:id="rId1" invalidUrl="" action="" tgtFrame="" tooltip="Taller PAU" history="1" highlightClick="0" endSnd="0">
                  <a:extLst>
                    <a:ext uri="{A12FA001-AC4F-418D-AE19-62706E023703}">
                      <ahyp:hlinkClr xmlns:ahyp="http://schemas.microsoft.com/office/drawing/2018/hyperlinkcolor" val="tx"/>
                    </a:ext>
                  </a:extLst>
                </a:hlinkClick>
              </a:rPr>
              <a:t>Pas a pas al Taller PAU del tema.</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B80672"/>
          </a:solidFill>
          <a:ln/>
        </p:spPr>
      </p:sp>
      <p:pic>
        <p:nvPicPr>
          <p:cNvPr id="3" name="Il·lustració del Congrés i una urna" descr="/tmp/claude-0/-home-claude-historia-2batx/57a75df9-64d0-585a-8d62-369d37bdd596/scratchpad/deck/hero-crop.png">    </p:cNvPr>
          <p:cNvPicPr>
            <a:picLocks noChangeAspect="1"/>
          </p:cNvPicPr>
          <p:nvPr/>
        </p:nvPicPr>
        <p:blipFill>
          <a:blip r:embed="rId1"/>
          <a:stretch>
            <a:fillRect/>
          </a:stretch>
        </p:blipFill>
        <p:spPr>
          <a:xfrm>
            <a:off x="3520440" y="2795465"/>
            <a:ext cx="3566160" cy="1392487"/>
          </a:xfrm>
          <a:prstGeom prst="rect">
            <a:avLst/>
          </a:prstGeom>
        </p:spPr>
      </p:pic>
      <p:sp>
        <p:nvSpPr>
          <p:cNvPr id="4" name="Etiqueta Apartat 5  ·  1923–1931"/>
          <p:cNvSpPr/>
          <p:nvPr/>
        </p:nvSpPr>
        <p:spPr>
          <a:xfrm>
            <a:off x="960120" y="896112"/>
            <a:ext cx="2161642" cy="310896"/>
          </a:xfrm>
          <a:prstGeom prst="roundRect">
            <a:avLst>
              <a:gd name="adj" fmla="val 50000"/>
            </a:avLst>
          </a:prstGeom>
          <a:solidFill>
            <a:srgbClr val="FFFFFF">
              <a:alpha val="18000"/>
            </a:srgbClr>
          </a:solidFill>
          <a:ln/>
        </p:spPr>
      </p:sp>
      <p:sp>
        <p:nvSpPr>
          <p:cNvPr id="5" name="Text 2"/>
          <p:cNvSpPr txBox="1"/>
          <p:nvPr/>
        </p:nvSpPr>
        <p:spPr>
          <a:xfrm>
            <a:off x="960120" y="896112"/>
            <a:ext cx="2161642"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5  ·  1923–1931</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La dictadura i la caiguda de la monarquia</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B80672"/>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Per què es va acceptar una dictadura el 1923, i per què la seva caiguda va arrossegar la monarquia?</a:t>
            </a:r>
            <a:endParaRPr lang="en-US" sz="1900" dirty="0"/>
          </a:p>
        </p:txBody>
      </p:sp>
      <p:sp>
        <p:nvSpPr>
          <p:cNvPr id="10" name="Fons La dictadura i la caiguda de la monarquia"/>
          <p:cNvSpPr/>
          <p:nvPr/>
        </p:nvSpPr>
        <p:spPr>
          <a:xfrm>
            <a:off x="7635240" y="608076"/>
            <a:ext cx="4007815" cy="4572000"/>
          </a:xfrm>
          <a:prstGeom prst="roundRect">
            <a:avLst>
              <a:gd name="adj" fmla="val 2510"/>
            </a:avLst>
          </a:prstGeom>
          <a:solidFill>
            <a:srgbClr val="F6F8FB"/>
          </a:solidFill>
          <a:ln/>
        </p:spPr>
      </p:sp>
      <p:pic>
        <p:nvPicPr>
          <p:cNvPr id="11" name="La dictadura i la caiguda de la monarquia" descr="/home/claude/historia-2batx/media/tema-1/primo.jpg">    </p:cNvPr>
          <p:cNvPicPr>
            <a:picLocks noChangeAspect="1"/>
          </p:cNvPicPr>
          <p:nvPr/>
        </p:nvPicPr>
        <p:blipFill>
          <a:blip r:embed="rId2"/>
          <a:stretch>
            <a:fillRect/>
          </a:stretch>
        </p:blipFill>
        <p:spPr>
          <a:xfrm>
            <a:off x="8116672" y="608076"/>
            <a:ext cx="3044952" cy="4572000"/>
          </a:xfrm>
          <a:prstGeom prst="rect">
            <a:avLst/>
          </a:prstGeom>
        </p:spPr>
      </p:pic>
      <p:sp>
        <p:nvSpPr>
          <p:cNvPr id="12" name="Text 8"/>
          <p:cNvSpPr txBox="1"/>
          <p:nvPr/>
        </p:nvSpPr>
        <p:spPr>
          <a:xfrm>
            <a:off x="7635240" y="5289804"/>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rei Alfons XIII i el general Miguel Primo de Rivera. Fotografia d'autor desconegut de l'arxiu federal alemany (Bundesarchiv, Bild 102-09411), CC BY-SA 3.0 DE, Wikimedia Commons.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què es va produir el cop d'estat</a:t>
            </a:r>
            <a:endParaRPr lang="en-US" sz="2800" dirty="0"/>
          </a:p>
        </p:txBody>
      </p:sp>
      <p:sp>
        <p:nvSpPr>
          <p:cNvPr id="5" name="Text 3"/>
          <p:cNvSpPr txBox="1"/>
          <p:nvPr/>
        </p:nvSpPr>
        <p:spPr>
          <a:xfrm>
            <a:off x="548640" y="1417320"/>
            <a:ext cx="11094415" cy="54864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La nit del 12 al 13 de setembre de 1923, el capità general de Catalunya, Miguel Primo de Rivera, es va pronunciar a Barcelona.</a:t>
            </a:r>
            <a:endParaRPr lang="en-US" sz="1600" dirty="0"/>
          </a:p>
        </p:txBody>
      </p:sp>
      <p:sp>
        <p:nvSpPr>
          <p:cNvPr id="6" name="Targeta Conflictivitat social"/>
          <p:cNvSpPr/>
          <p:nvPr/>
        </p:nvSpPr>
        <p:spPr>
          <a:xfrm>
            <a:off x="548640" y="2103120"/>
            <a:ext cx="2057949" cy="2057400"/>
          </a:xfrm>
          <a:prstGeom prst="roundRect">
            <a:avLst>
              <a:gd name="adj" fmla="val 4889"/>
            </a:avLst>
          </a:prstGeom>
          <a:solidFill>
            <a:srgbClr val="FFFFFF"/>
          </a:solidFill>
          <a:ln w="12700">
            <a:solidFill>
              <a:srgbClr val="DADCE0"/>
            </a:solidFill>
            <a:prstDash val="solid"/>
          </a:ln>
        </p:spPr>
      </p:sp>
      <p:sp>
        <p:nvSpPr>
          <p:cNvPr id="7" name="Text 5"/>
          <p:cNvSpPr txBox="1"/>
          <p:nvPr/>
        </p:nvSpPr>
        <p:spPr>
          <a:xfrm>
            <a:off x="777240" y="2286000"/>
            <a:ext cx="1600749" cy="472440"/>
          </a:xfrm>
          <a:prstGeom prst="rect">
            <a:avLst/>
          </a:prstGeom>
          <a:noFill/>
          <a:ln/>
        </p:spPr>
        <p:txBody>
          <a:bodyPr wrap="square" lIns="0" tIns="0" rIns="0" bIns="0" rtlCol="0" anchor="t"/>
          <a:lstStyle/>
          <a:p>
            <a:pPr indent="0" marL="0">
              <a:buNone/>
            </a:pPr>
            <a:r>
              <a:rPr lang="en-US" sz="1550" b="1" dirty="0">
                <a:solidFill>
                  <a:srgbClr val="B80672"/>
                </a:solidFill>
                <a:latin typeface="Roboto" pitchFamily="34" charset="0"/>
                <a:ea typeface="Roboto" pitchFamily="34" charset="-122"/>
                <a:cs typeface="Roboto" pitchFamily="34" charset="-120"/>
              </a:rPr>
              <a:t>Conflictivitat social</a:t>
            </a:r>
            <a:endParaRPr lang="en-US" sz="1550" dirty="0"/>
          </a:p>
        </p:txBody>
      </p:sp>
      <p:sp>
        <p:nvSpPr>
          <p:cNvPr id="8" name="Text 6"/>
          <p:cNvSpPr txBox="1"/>
          <p:nvPr/>
        </p:nvSpPr>
        <p:spPr>
          <a:xfrm>
            <a:off x="777240" y="2868168"/>
            <a:ext cx="1600749" cy="117348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El pistolerisme havia espantat les classes benestants.</a:t>
            </a:r>
            <a:endParaRPr lang="en-US" sz="1400" dirty="0"/>
          </a:p>
        </p:txBody>
      </p:sp>
      <p:sp>
        <p:nvSpPr>
          <p:cNvPr id="9" name="Targeta Annual"/>
          <p:cNvSpPr/>
          <p:nvPr/>
        </p:nvSpPr>
        <p:spPr>
          <a:xfrm>
            <a:off x="2807757" y="2103120"/>
            <a:ext cx="2057949" cy="2057400"/>
          </a:xfrm>
          <a:prstGeom prst="roundRect">
            <a:avLst>
              <a:gd name="adj" fmla="val 4889"/>
            </a:avLst>
          </a:prstGeom>
          <a:solidFill>
            <a:srgbClr val="FFFFFF"/>
          </a:solidFill>
          <a:ln w="12700">
            <a:solidFill>
              <a:srgbClr val="DADCE0"/>
            </a:solidFill>
            <a:prstDash val="solid"/>
          </a:ln>
        </p:spPr>
      </p:sp>
      <p:sp>
        <p:nvSpPr>
          <p:cNvPr id="10" name="Text 8"/>
          <p:cNvSpPr txBox="1"/>
          <p:nvPr/>
        </p:nvSpPr>
        <p:spPr>
          <a:xfrm>
            <a:off x="3036357" y="2286000"/>
            <a:ext cx="1600749" cy="236220"/>
          </a:xfrm>
          <a:prstGeom prst="rect">
            <a:avLst/>
          </a:prstGeom>
          <a:noFill/>
          <a:ln/>
        </p:spPr>
        <p:txBody>
          <a:bodyPr wrap="square" lIns="0" tIns="0" rIns="0" bIns="0" rtlCol="0" anchor="t"/>
          <a:lstStyle/>
          <a:p>
            <a:pPr indent="0" marL="0">
              <a:buNone/>
            </a:pPr>
            <a:r>
              <a:rPr lang="en-US" sz="1550" b="1" dirty="0">
                <a:solidFill>
                  <a:srgbClr val="B80672"/>
                </a:solidFill>
                <a:latin typeface="Roboto" pitchFamily="34" charset="0"/>
                <a:ea typeface="Roboto" pitchFamily="34" charset="-122"/>
                <a:cs typeface="Roboto" pitchFamily="34" charset="-120"/>
              </a:rPr>
              <a:t>Annual</a:t>
            </a:r>
            <a:endParaRPr lang="en-US" sz="1550" dirty="0"/>
          </a:p>
        </p:txBody>
      </p:sp>
      <p:sp>
        <p:nvSpPr>
          <p:cNvPr id="11" name="Text 9"/>
          <p:cNvSpPr txBox="1"/>
          <p:nvPr/>
        </p:nvSpPr>
        <p:spPr>
          <a:xfrm>
            <a:off x="3036357" y="2631948"/>
            <a:ext cx="1600749" cy="140970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El debat sobre les responsabilitats amenaçava els militars i el rei.</a:t>
            </a:r>
            <a:endParaRPr lang="en-US" sz="1400" dirty="0"/>
          </a:p>
        </p:txBody>
      </p:sp>
      <p:sp>
        <p:nvSpPr>
          <p:cNvPr id="12" name="Targeta Partits desacreditats"/>
          <p:cNvSpPr/>
          <p:nvPr/>
        </p:nvSpPr>
        <p:spPr>
          <a:xfrm>
            <a:off x="5066873" y="2103120"/>
            <a:ext cx="2057949" cy="2057400"/>
          </a:xfrm>
          <a:prstGeom prst="roundRect">
            <a:avLst>
              <a:gd name="adj" fmla="val 4889"/>
            </a:avLst>
          </a:prstGeom>
          <a:solidFill>
            <a:srgbClr val="FFFFFF"/>
          </a:solidFill>
          <a:ln w="12700">
            <a:solidFill>
              <a:srgbClr val="DADCE0"/>
            </a:solidFill>
            <a:prstDash val="solid"/>
          </a:ln>
        </p:spPr>
      </p:sp>
      <p:sp>
        <p:nvSpPr>
          <p:cNvPr id="13" name="Text 11"/>
          <p:cNvSpPr txBox="1"/>
          <p:nvPr/>
        </p:nvSpPr>
        <p:spPr>
          <a:xfrm>
            <a:off x="5295473" y="2286000"/>
            <a:ext cx="1600749" cy="472440"/>
          </a:xfrm>
          <a:prstGeom prst="rect">
            <a:avLst/>
          </a:prstGeom>
          <a:noFill/>
          <a:ln/>
        </p:spPr>
        <p:txBody>
          <a:bodyPr wrap="square" lIns="0" tIns="0" rIns="0" bIns="0" rtlCol="0" anchor="t"/>
          <a:lstStyle/>
          <a:p>
            <a:pPr indent="0" marL="0">
              <a:buNone/>
            </a:pPr>
            <a:r>
              <a:rPr lang="en-US" sz="1550" b="1" dirty="0">
                <a:solidFill>
                  <a:srgbClr val="B80672"/>
                </a:solidFill>
                <a:latin typeface="Roboto" pitchFamily="34" charset="0"/>
                <a:ea typeface="Roboto" pitchFamily="34" charset="-122"/>
                <a:cs typeface="Roboto" pitchFamily="34" charset="-120"/>
              </a:rPr>
              <a:t>Partits desacreditats</a:t>
            </a:r>
            <a:endParaRPr lang="en-US" sz="1550" dirty="0"/>
          </a:p>
        </p:txBody>
      </p:sp>
      <p:sp>
        <p:nvSpPr>
          <p:cNvPr id="14" name="Text 12"/>
          <p:cNvSpPr txBox="1"/>
          <p:nvPr/>
        </p:nvSpPr>
        <p:spPr>
          <a:xfrm>
            <a:off x="5295473" y="2868168"/>
            <a:ext cx="1600749" cy="117348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Dividits i incapaços de formar governs estables.</a:t>
            </a:r>
            <a:endParaRPr lang="en-US" sz="1400" dirty="0"/>
          </a:p>
        </p:txBody>
      </p:sp>
      <p:sp>
        <p:nvSpPr>
          <p:cNvPr id="15" name="Targeta Por al catalanisme"/>
          <p:cNvSpPr/>
          <p:nvPr/>
        </p:nvSpPr>
        <p:spPr>
          <a:xfrm>
            <a:off x="7325990" y="2103120"/>
            <a:ext cx="2057949" cy="2057400"/>
          </a:xfrm>
          <a:prstGeom prst="roundRect">
            <a:avLst>
              <a:gd name="adj" fmla="val 4889"/>
            </a:avLst>
          </a:prstGeom>
          <a:solidFill>
            <a:srgbClr val="FFFFFF"/>
          </a:solidFill>
          <a:ln w="12700">
            <a:solidFill>
              <a:srgbClr val="DADCE0"/>
            </a:solidFill>
            <a:prstDash val="solid"/>
          </a:ln>
        </p:spPr>
      </p:sp>
      <p:sp>
        <p:nvSpPr>
          <p:cNvPr id="16" name="Text 14"/>
          <p:cNvSpPr txBox="1"/>
          <p:nvPr/>
        </p:nvSpPr>
        <p:spPr>
          <a:xfrm>
            <a:off x="7554590" y="2286000"/>
            <a:ext cx="1600749" cy="472440"/>
          </a:xfrm>
          <a:prstGeom prst="rect">
            <a:avLst/>
          </a:prstGeom>
          <a:noFill/>
          <a:ln/>
        </p:spPr>
        <p:txBody>
          <a:bodyPr wrap="square" lIns="0" tIns="0" rIns="0" bIns="0" rtlCol="0" anchor="t"/>
          <a:lstStyle/>
          <a:p>
            <a:pPr indent="0" marL="0">
              <a:buNone/>
            </a:pPr>
            <a:r>
              <a:rPr lang="en-US" sz="1550" b="1" dirty="0">
                <a:solidFill>
                  <a:srgbClr val="B80672"/>
                </a:solidFill>
                <a:latin typeface="Roboto" pitchFamily="34" charset="0"/>
                <a:ea typeface="Roboto" pitchFamily="34" charset="-122"/>
                <a:cs typeface="Roboto" pitchFamily="34" charset="-120"/>
              </a:rPr>
              <a:t>Por al catalanisme</a:t>
            </a:r>
            <a:endParaRPr lang="en-US" sz="1550" dirty="0"/>
          </a:p>
        </p:txBody>
      </p:sp>
      <p:sp>
        <p:nvSpPr>
          <p:cNvPr id="17" name="Text 15"/>
          <p:cNvSpPr txBox="1"/>
          <p:nvPr/>
        </p:nvSpPr>
        <p:spPr>
          <a:xfrm>
            <a:off x="7554590" y="2868168"/>
            <a:ext cx="1600749" cy="117348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El manifest denunciava «la descarada propaganda separatista».</a:t>
            </a:r>
            <a:endParaRPr lang="en-US" sz="1400" dirty="0"/>
          </a:p>
        </p:txBody>
      </p:sp>
      <p:sp>
        <p:nvSpPr>
          <p:cNvPr id="18" name="Targeta Context europeu"/>
          <p:cNvSpPr/>
          <p:nvPr/>
        </p:nvSpPr>
        <p:spPr>
          <a:xfrm>
            <a:off x="9585107" y="2103120"/>
            <a:ext cx="2057949" cy="2057400"/>
          </a:xfrm>
          <a:prstGeom prst="roundRect">
            <a:avLst>
              <a:gd name="adj" fmla="val 4889"/>
            </a:avLst>
          </a:prstGeom>
          <a:solidFill>
            <a:srgbClr val="FFFFFF"/>
          </a:solidFill>
          <a:ln w="12700">
            <a:solidFill>
              <a:srgbClr val="DADCE0"/>
            </a:solidFill>
            <a:prstDash val="solid"/>
          </a:ln>
        </p:spPr>
      </p:sp>
      <p:sp>
        <p:nvSpPr>
          <p:cNvPr id="19" name="Text 17"/>
          <p:cNvSpPr txBox="1"/>
          <p:nvPr/>
        </p:nvSpPr>
        <p:spPr>
          <a:xfrm>
            <a:off x="9813707" y="2286000"/>
            <a:ext cx="1600749" cy="472440"/>
          </a:xfrm>
          <a:prstGeom prst="rect">
            <a:avLst/>
          </a:prstGeom>
          <a:noFill/>
          <a:ln/>
        </p:spPr>
        <p:txBody>
          <a:bodyPr wrap="square" lIns="0" tIns="0" rIns="0" bIns="0" rtlCol="0" anchor="t"/>
          <a:lstStyle/>
          <a:p>
            <a:pPr indent="0" marL="0">
              <a:buNone/>
            </a:pPr>
            <a:r>
              <a:rPr lang="en-US" sz="1550" b="1" dirty="0">
                <a:solidFill>
                  <a:srgbClr val="B80672"/>
                </a:solidFill>
                <a:latin typeface="Roboto" pitchFamily="34" charset="0"/>
                <a:ea typeface="Roboto" pitchFamily="34" charset="-122"/>
                <a:cs typeface="Roboto" pitchFamily="34" charset="-120"/>
              </a:rPr>
              <a:t>Context europeu</a:t>
            </a:r>
            <a:endParaRPr lang="en-US" sz="1550" dirty="0"/>
          </a:p>
        </p:txBody>
      </p:sp>
      <p:sp>
        <p:nvSpPr>
          <p:cNvPr id="20" name="Text 18"/>
          <p:cNvSpPr txBox="1"/>
          <p:nvPr/>
        </p:nvSpPr>
        <p:spPr>
          <a:xfrm>
            <a:off x="9813707" y="2868168"/>
            <a:ext cx="1600749" cy="117348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El 1922, Mussolini havia arribat al poder a Itàlia.</a:t>
            </a:r>
            <a:endParaRPr lang="en-US" sz="1400" dirty="0"/>
          </a:p>
        </p:txBody>
      </p:sp>
      <p:sp>
        <p:nvSpPr>
          <p:cNvPr id="21" name="Dictadura"/>
          <p:cNvSpPr/>
          <p:nvPr/>
        </p:nvSpPr>
        <p:spPr>
          <a:xfrm>
            <a:off x="548640" y="4343400"/>
            <a:ext cx="5486400" cy="1645920"/>
          </a:xfrm>
          <a:prstGeom prst="roundRect">
            <a:avLst>
              <a:gd name="adj" fmla="val 6111"/>
            </a:avLst>
          </a:prstGeom>
          <a:solidFill>
            <a:srgbClr val="FDE7F3"/>
          </a:solidFill>
          <a:ln/>
        </p:spPr>
      </p:sp>
      <p:sp>
        <p:nvSpPr>
          <p:cNvPr id="22" name="Text 20"/>
          <p:cNvSpPr txBox="1"/>
          <p:nvPr/>
        </p:nvSpPr>
        <p:spPr>
          <a:xfrm>
            <a:off x="868680" y="4498848"/>
            <a:ext cx="484632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Dictadura</a:t>
            </a:r>
            <a:endParaRPr lang="en-US" sz="1400" dirty="0"/>
          </a:p>
        </p:txBody>
      </p:sp>
      <p:sp>
        <p:nvSpPr>
          <p:cNvPr id="23" name="Text 21"/>
          <p:cNvSpPr txBox="1"/>
          <p:nvPr/>
        </p:nvSpPr>
        <p:spPr>
          <a:xfrm>
            <a:off x="868680" y="4846320"/>
            <a:ext cx="4846320" cy="10058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Règim en què una persona o un grup concentra tots els poders sense haver estat elegit, sense el control d'un parlament ni de jutges independents i sense respectar els drets dels ciutadans.</a:t>
            </a:r>
            <a:endParaRPr lang="en-US" sz="1450" dirty="0"/>
          </a:p>
        </p:txBody>
      </p:sp>
      <p:sp>
        <p:nvSpPr>
          <p:cNvPr id="24" name="Qui li va donar suport"/>
          <p:cNvSpPr/>
          <p:nvPr/>
        </p:nvSpPr>
        <p:spPr>
          <a:xfrm>
            <a:off x="6309360" y="4343400"/>
            <a:ext cx="5333695" cy="1645920"/>
          </a:xfrm>
          <a:prstGeom prst="roundRect">
            <a:avLst>
              <a:gd name="adj" fmla="val 6111"/>
            </a:avLst>
          </a:prstGeom>
          <a:solidFill>
            <a:srgbClr val="F6F8FB"/>
          </a:solidFill>
          <a:ln/>
        </p:spPr>
      </p:sp>
      <p:sp>
        <p:nvSpPr>
          <p:cNvPr id="25" name="Text 23"/>
          <p:cNvSpPr txBox="1"/>
          <p:nvPr/>
        </p:nvSpPr>
        <p:spPr>
          <a:xfrm>
            <a:off x="6629400" y="4498848"/>
            <a:ext cx="469361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Qui li va donar suport</a:t>
            </a:r>
            <a:endParaRPr lang="en-US" sz="1400" dirty="0"/>
          </a:p>
        </p:txBody>
      </p:sp>
      <p:sp>
        <p:nvSpPr>
          <p:cNvPr id="26" name="Text 24"/>
          <p:cNvSpPr txBox="1"/>
          <p:nvPr/>
        </p:nvSpPr>
        <p:spPr>
          <a:xfrm>
            <a:off x="6629400" y="4846320"/>
            <a:ext cx="4693615" cy="100584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El rei, que el va nomenar cap del govern, l'exèrcit, la burgesia (també la catalana), l'Església i els sectors conservadors. Es presentava com el «cirurgià de ferro».</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Directori militar (1923-1925)</a:t>
            </a:r>
            <a:endParaRPr lang="en-US" sz="2800" dirty="0"/>
          </a:p>
        </p:txBody>
      </p:sp>
      <p:sp>
        <p:nvSpPr>
          <p:cNvPr id="5" name="Text 3"/>
          <p:cNvSpPr txBox="1"/>
          <p:nvPr/>
        </p:nvSpPr>
        <p:spPr>
          <a:xfrm>
            <a:off x="548640" y="1417320"/>
            <a:ext cx="6035040" cy="36576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Un govern format només per generals.</a:t>
            </a:r>
            <a:endParaRPr lang="en-US" sz="1600" dirty="0"/>
          </a:p>
        </p:txBody>
      </p:sp>
      <p:sp>
        <p:nvSpPr>
          <p:cNvPr id="6" name="Text 4"/>
          <p:cNvSpPr txBox="1"/>
          <p:nvPr/>
        </p:nvSpPr>
        <p:spPr>
          <a:xfrm>
            <a:off x="548640" y="1874520"/>
            <a:ext cx="6035040" cy="23774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202124"/>
                </a:solidFill>
                <a:latin typeface="Roboto" pitchFamily="34" charset="0"/>
                <a:ea typeface="Roboto" pitchFamily="34" charset="-122"/>
                <a:cs typeface="Roboto" pitchFamily="34" charset="-120"/>
              </a:rPr>
              <a:t>Estén a tot Espanya el sometent, una milícia ciutadana d'origen català.</a:t>
            </a:r>
            <a:endParaRPr lang="en-US" sz="1500" dirty="0"/>
          </a:p>
          <a:p>
            <a:pPr marL="177800" indent="-177800">
              <a:spcAft>
                <a:spcPts val="600"/>
              </a:spcAft>
              <a:buSzPct val="100000"/>
              <a:buChar char="•"/>
            </a:pPr>
            <a:r>
              <a:rPr lang="en-US" sz="1500" dirty="0">
                <a:solidFill>
                  <a:srgbClr val="202124"/>
                </a:solidFill>
                <a:latin typeface="Roboto" pitchFamily="34" charset="0"/>
                <a:ea typeface="Roboto" pitchFamily="34" charset="-122"/>
                <a:cs typeface="Roboto" pitchFamily="34" charset="-120"/>
              </a:rPr>
              <a:t>Substitueix ajuntaments i diputacions elegits per altres de designats.</a:t>
            </a:r>
            <a:endParaRPr lang="en-US" sz="1500" dirty="0"/>
          </a:p>
          <a:p>
            <a:pPr marL="177800" indent="-177800">
              <a:spcAft>
                <a:spcPts val="600"/>
              </a:spcAft>
              <a:buSzPct val="100000"/>
              <a:buChar char="•"/>
            </a:pPr>
            <a:r>
              <a:rPr lang="en-US" sz="1500" dirty="0">
                <a:solidFill>
                  <a:srgbClr val="202124"/>
                </a:solidFill>
                <a:latin typeface="Roboto" pitchFamily="34" charset="0"/>
                <a:ea typeface="Roboto" pitchFamily="34" charset="-122"/>
                <a:cs typeface="Roboto" pitchFamily="34" charset="-120"/>
              </a:rPr>
              <a:t>Persegueix la CNT.</a:t>
            </a:r>
            <a:endParaRPr lang="en-US" sz="1500" dirty="0"/>
          </a:p>
          <a:p>
            <a:pPr marL="177800" indent="-177800">
              <a:spcAft>
                <a:spcPts val="600"/>
              </a:spcAft>
              <a:buSzPct val="100000"/>
              <a:buChar char="•"/>
            </a:pPr>
            <a:r>
              <a:rPr lang="en-US" sz="1500" dirty="0">
                <a:solidFill>
                  <a:srgbClr val="202124"/>
                </a:solidFill>
                <a:latin typeface="Roboto" pitchFamily="34" charset="0"/>
                <a:ea typeface="Roboto" pitchFamily="34" charset="-122"/>
                <a:cs typeface="Roboto" pitchFamily="34" charset="-120"/>
              </a:rPr>
              <a:t>Reprimeix el catalanisme. Prohibeix la bandera catalana, limita l'ús públic del català i el 1925 suprimeix la Mancomunitat.</a:t>
            </a:r>
            <a:endParaRPr lang="en-US" sz="1500" dirty="0"/>
          </a:p>
        </p:txBody>
      </p:sp>
      <p:sp>
        <p:nvSpPr>
          <p:cNvPr id="7" name="El seu gran èxit, el Marroc"/>
          <p:cNvSpPr/>
          <p:nvPr/>
        </p:nvSpPr>
        <p:spPr>
          <a:xfrm>
            <a:off x="548640" y="4343400"/>
            <a:ext cx="6035040" cy="1645920"/>
          </a:xfrm>
          <a:prstGeom prst="roundRect">
            <a:avLst>
              <a:gd name="adj" fmla="val 6111"/>
            </a:avLst>
          </a:prstGeom>
          <a:solidFill>
            <a:srgbClr val="FDE7F3"/>
          </a:solidFill>
          <a:ln/>
        </p:spPr>
      </p:sp>
      <p:sp>
        <p:nvSpPr>
          <p:cNvPr id="8" name="Text 6"/>
          <p:cNvSpPr txBox="1"/>
          <p:nvPr/>
        </p:nvSpPr>
        <p:spPr>
          <a:xfrm>
            <a:off x="868680" y="4498848"/>
            <a:ext cx="539496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El seu gran èxit, el Marroc</a:t>
            </a:r>
            <a:endParaRPr lang="en-US" sz="1400" dirty="0"/>
          </a:p>
        </p:txBody>
      </p:sp>
      <p:sp>
        <p:nvSpPr>
          <p:cNvPr id="9" name="Text 7"/>
          <p:cNvSpPr txBox="1"/>
          <p:nvPr/>
        </p:nvSpPr>
        <p:spPr>
          <a:xfrm>
            <a:off x="868680" y="4846320"/>
            <a:ext cx="5394960" cy="10058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El desembarcament d'Alhucemas (setembre de 1925), amb França, derrota els rebels rifenys. El 1927 el protectorat queda pacificat. L'èxit li dona popularitat i l'anima a quedar-se al poder.</a:t>
            </a:r>
            <a:endParaRPr lang="en-US" sz="1450" dirty="0"/>
          </a:p>
        </p:txBody>
      </p:sp>
      <p:sp>
        <p:nvSpPr>
          <p:cNvPr id="10" name="Fons El desembarcament d'Alhucemas (setembre de 1925), pintat per José Moreno Carbonero el 1929"/>
          <p:cNvSpPr/>
          <p:nvPr/>
        </p:nvSpPr>
        <p:spPr>
          <a:xfrm>
            <a:off x="6903720" y="1417320"/>
            <a:ext cx="4739335" cy="2839626"/>
          </a:xfrm>
          <a:prstGeom prst="roundRect">
            <a:avLst>
              <a:gd name="adj" fmla="val 3542"/>
            </a:avLst>
          </a:prstGeom>
          <a:solidFill>
            <a:srgbClr val="F6F8FB"/>
          </a:solidFill>
          <a:ln/>
        </p:spPr>
      </p:sp>
      <p:pic>
        <p:nvPicPr>
          <p:cNvPr id="11" name="El desembarcament d'Alhucemas (setembre de 1925), pintat per José Moreno Carbonero el 1929" descr="/home/claude/historia-2batx/media/tema-1/alhucemas.jpg">    </p:cNvPr>
          <p:cNvPicPr>
            <a:picLocks noChangeAspect="1"/>
          </p:cNvPicPr>
          <p:nvPr/>
        </p:nvPicPr>
        <p:blipFill>
          <a:blip r:embed="rId1"/>
          <a:stretch>
            <a:fillRect/>
          </a:stretch>
        </p:blipFill>
        <p:spPr>
          <a:xfrm>
            <a:off x="6903720" y="1417320"/>
            <a:ext cx="4739335" cy="2839626"/>
          </a:xfrm>
          <a:prstGeom prst="rect">
            <a:avLst/>
          </a:prstGeom>
        </p:spPr>
      </p:pic>
      <p:sp>
        <p:nvSpPr>
          <p:cNvPr id="12" name="Text 9"/>
          <p:cNvSpPr txBox="1"/>
          <p:nvPr/>
        </p:nvSpPr>
        <p:spPr>
          <a:xfrm>
            <a:off x="6903720" y="4348386"/>
            <a:ext cx="473933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desembarcament d'Alhucemas (setembre de 1925), pintat per José Moreno Carbonero el 1929. Domini públic, Wikimedia Commons.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Directori civil (1925-1930)</a:t>
            </a:r>
            <a:endParaRPr lang="en-US" sz="28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El dictador vol institucionalitzar el règim, és a dir, convertir-lo en permanent.</a:t>
            </a:r>
            <a:endParaRPr lang="en-US" sz="1600" dirty="0"/>
          </a:p>
        </p:txBody>
      </p:sp>
      <p:sp>
        <p:nvSpPr>
          <p:cNvPr id="6" name="Targeta Política"/>
          <p:cNvSpPr/>
          <p:nvPr/>
        </p:nvSpPr>
        <p:spPr>
          <a:xfrm>
            <a:off x="548640" y="2011680"/>
            <a:ext cx="3515258" cy="2331720"/>
          </a:xfrm>
          <a:prstGeom prst="roundRect">
            <a:avLst>
              <a:gd name="adj" fmla="val 4314"/>
            </a:avLst>
          </a:prstGeom>
          <a:solidFill>
            <a:srgbClr val="FFFFFF"/>
          </a:solidFill>
          <a:ln w="12700">
            <a:solidFill>
              <a:srgbClr val="DADCE0"/>
            </a:solidFill>
            <a:prstDash val="solid"/>
          </a:ln>
        </p:spPr>
      </p:sp>
      <p:sp>
        <p:nvSpPr>
          <p:cNvPr id="7" name="Text 5"/>
          <p:cNvSpPr txBox="1"/>
          <p:nvPr/>
        </p:nvSpPr>
        <p:spPr>
          <a:xfrm>
            <a:off x="777240" y="219456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Política</a:t>
            </a:r>
            <a:endParaRPr lang="en-US" sz="1700" dirty="0"/>
          </a:p>
        </p:txBody>
      </p:sp>
      <p:sp>
        <p:nvSpPr>
          <p:cNvPr id="8" name="Text 6"/>
          <p:cNvSpPr txBox="1"/>
          <p:nvPr/>
        </p:nvSpPr>
        <p:spPr>
          <a:xfrm>
            <a:off x="777240" y="2563368"/>
            <a:ext cx="3058058" cy="1661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Un partit únic, la Unión Patriótica, i una Assemblea Nacional Consultiva (1927), nomenada i no elegida. La nova constitució no s'aprova.</a:t>
            </a:r>
            <a:endParaRPr lang="en-US" sz="1450" dirty="0"/>
          </a:p>
        </p:txBody>
      </p:sp>
      <p:sp>
        <p:nvSpPr>
          <p:cNvPr id="9" name="Targeta Treball"/>
          <p:cNvSpPr/>
          <p:nvPr/>
        </p:nvSpPr>
        <p:spPr>
          <a:xfrm>
            <a:off x="4338218" y="2011680"/>
            <a:ext cx="3515258" cy="2331720"/>
          </a:xfrm>
          <a:prstGeom prst="roundRect">
            <a:avLst>
              <a:gd name="adj" fmla="val 4314"/>
            </a:avLst>
          </a:prstGeom>
          <a:solidFill>
            <a:srgbClr val="FFFFFF"/>
          </a:solidFill>
          <a:ln w="12700">
            <a:solidFill>
              <a:srgbClr val="DADCE0"/>
            </a:solidFill>
            <a:prstDash val="solid"/>
          </a:ln>
        </p:spPr>
      </p:sp>
      <p:sp>
        <p:nvSpPr>
          <p:cNvPr id="10" name="Text 8"/>
          <p:cNvSpPr txBox="1"/>
          <p:nvPr/>
        </p:nvSpPr>
        <p:spPr>
          <a:xfrm>
            <a:off x="4566818" y="219456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Treball</a:t>
            </a:r>
            <a:endParaRPr lang="en-US" sz="1700" dirty="0"/>
          </a:p>
        </p:txBody>
      </p:sp>
      <p:sp>
        <p:nvSpPr>
          <p:cNvPr id="11" name="Text 9"/>
          <p:cNvSpPr txBox="1"/>
          <p:nvPr/>
        </p:nvSpPr>
        <p:spPr>
          <a:xfrm>
            <a:off x="4566818" y="2563368"/>
            <a:ext cx="3058058" cy="1661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Comitès paritaris, amb el mateix nombre de representants d'obrers i de patrons, per fixar salaris i condicions. La UGT hi col·labora. La CNT, perseguida.</a:t>
            </a:r>
            <a:endParaRPr lang="en-US" sz="1450" dirty="0"/>
          </a:p>
        </p:txBody>
      </p:sp>
      <p:sp>
        <p:nvSpPr>
          <p:cNvPr id="12" name="Targeta Economia"/>
          <p:cNvSpPr/>
          <p:nvPr/>
        </p:nvSpPr>
        <p:spPr>
          <a:xfrm>
            <a:off x="8127797" y="2011680"/>
            <a:ext cx="3515258" cy="2331720"/>
          </a:xfrm>
          <a:prstGeom prst="roundRect">
            <a:avLst>
              <a:gd name="adj" fmla="val 4314"/>
            </a:avLst>
          </a:prstGeom>
          <a:solidFill>
            <a:srgbClr val="FFFFFF"/>
          </a:solidFill>
          <a:ln w="12700">
            <a:solidFill>
              <a:srgbClr val="DADCE0"/>
            </a:solidFill>
            <a:prstDash val="solid"/>
          </a:ln>
        </p:spPr>
      </p:sp>
      <p:sp>
        <p:nvSpPr>
          <p:cNvPr id="13" name="Text 11"/>
          <p:cNvSpPr txBox="1"/>
          <p:nvPr/>
        </p:nvSpPr>
        <p:spPr>
          <a:xfrm>
            <a:off x="8356397" y="219456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Economia</a:t>
            </a:r>
            <a:endParaRPr lang="en-US" sz="1700" dirty="0"/>
          </a:p>
        </p:txBody>
      </p:sp>
      <p:sp>
        <p:nvSpPr>
          <p:cNvPr id="14" name="Text 12"/>
          <p:cNvSpPr txBox="1"/>
          <p:nvPr/>
        </p:nvSpPr>
        <p:spPr>
          <a:xfrm>
            <a:off x="8356397" y="2563368"/>
            <a:ext cx="3058058" cy="16611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Monopolis com la CAMPSA o la Telefònica, grans obres públiques i les exposicions de Barcelona i Sevilla (1929), finançades amb deute.</a:t>
            </a:r>
            <a:endParaRPr lang="en-US" sz="1450" dirty="0"/>
          </a:p>
        </p:txBody>
      </p:sp>
      <p:sp>
        <p:nvSpPr>
          <p:cNvPr id="15" name="Corporativisme"/>
          <p:cNvSpPr/>
          <p:nvPr/>
        </p:nvSpPr>
        <p:spPr>
          <a:xfrm>
            <a:off x="548640" y="4572000"/>
            <a:ext cx="5410048" cy="1417320"/>
          </a:xfrm>
          <a:prstGeom prst="roundRect">
            <a:avLst>
              <a:gd name="adj" fmla="val 7097"/>
            </a:avLst>
          </a:prstGeom>
          <a:solidFill>
            <a:srgbClr val="FDE7F3"/>
          </a:solidFill>
          <a:ln/>
        </p:spPr>
      </p:sp>
      <p:sp>
        <p:nvSpPr>
          <p:cNvPr id="16" name="Text 14"/>
          <p:cNvSpPr txBox="1"/>
          <p:nvPr/>
        </p:nvSpPr>
        <p:spPr>
          <a:xfrm>
            <a:off x="868680" y="4727448"/>
            <a:ext cx="4769968"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Corporativisme</a:t>
            </a:r>
            <a:endParaRPr lang="en-US" sz="1400" dirty="0"/>
          </a:p>
        </p:txBody>
      </p:sp>
      <p:sp>
        <p:nvSpPr>
          <p:cNvPr id="17" name="Text 15"/>
          <p:cNvSpPr txBox="1"/>
          <p:nvPr/>
        </p:nvSpPr>
        <p:spPr>
          <a:xfrm>
            <a:off x="868680" y="5074920"/>
            <a:ext cx="4769968" cy="7772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L'Estat reuneix obrers i patrons per acabar amb la lluita de classes, en lloc de deixar que negociïn lliurement o s'enfrontin.</a:t>
            </a:r>
            <a:endParaRPr lang="en-US" sz="1450" dirty="0"/>
          </a:p>
        </p:txBody>
      </p:sp>
      <p:sp>
        <p:nvSpPr>
          <p:cNvPr id="18" name="Dirigisme"/>
          <p:cNvSpPr/>
          <p:nvPr/>
        </p:nvSpPr>
        <p:spPr>
          <a:xfrm>
            <a:off x="6233008" y="4572000"/>
            <a:ext cx="5410048" cy="1417320"/>
          </a:xfrm>
          <a:prstGeom prst="roundRect">
            <a:avLst>
              <a:gd name="adj" fmla="val 7097"/>
            </a:avLst>
          </a:prstGeom>
          <a:solidFill>
            <a:srgbClr val="FDE7F3"/>
          </a:solidFill>
          <a:ln/>
        </p:spPr>
      </p:sp>
      <p:sp>
        <p:nvSpPr>
          <p:cNvPr id="19" name="Text 17"/>
          <p:cNvSpPr txBox="1"/>
          <p:nvPr/>
        </p:nvSpPr>
        <p:spPr>
          <a:xfrm>
            <a:off x="6553048" y="4727448"/>
            <a:ext cx="4769968"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Dirigisme</a:t>
            </a:r>
            <a:endParaRPr lang="en-US" sz="1400" dirty="0"/>
          </a:p>
        </p:txBody>
      </p:sp>
      <p:sp>
        <p:nvSpPr>
          <p:cNvPr id="20" name="Text 18"/>
          <p:cNvSpPr txBox="1"/>
          <p:nvPr/>
        </p:nvSpPr>
        <p:spPr>
          <a:xfrm>
            <a:off x="6553048" y="5074920"/>
            <a:ext cx="4769968" cy="7772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L'Estat intervé en l'economia, protegeix la indústria nacional i crea monopolis.</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De la caiguda del dictador a la República</a:t>
            </a:r>
            <a:endParaRPr lang="en-US" sz="2800" dirty="0"/>
          </a:p>
        </p:txBody>
      </p:sp>
      <p:sp>
        <p:nvSpPr>
          <p:cNvPr id="5" name="Línia del temps"/>
          <p:cNvSpPr/>
          <p:nvPr/>
        </p:nvSpPr>
        <p:spPr>
          <a:xfrm>
            <a:off x="649224" y="1600200"/>
            <a:ext cx="0" cy="3840480"/>
          </a:xfrm>
          <a:prstGeom prst="line">
            <a:avLst/>
          </a:prstGeom>
          <a:noFill/>
          <a:ln w="31750">
            <a:solidFill>
              <a:srgbClr val="DADCE0"/>
            </a:solidFill>
            <a:prstDash val="solid"/>
          </a:ln>
        </p:spPr>
      </p:sp>
      <p:sp>
        <p:nvSpPr>
          <p:cNvPr id="6" name="Fita 1926"/>
          <p:cNvSpPr/>
          <p:nvPr/>
        </p:nvSpPr>
        <p:spPr>
          <a:xfrm>
            <a:off x="548640" y="1499616"/>
            <a:ext cx="201168" cy="201168"/>
          </a:xfrm>
          <a:prstGeom prst="ellipse">
            <a:avLst/>
          </a:prstGeom>
          <a:solidFill>
            <a:srgbClr val="FFFFFF"/>
          </a:solidFill>
          <a:ln w="28575">
            <a:solidFill>
              <a:srgbClr val="B80672"/>
            </a:solidFill>
            <a:prstDash val="solid"/>
          </a:ln>
        </p:spPr>
      </p:sp>
      <p:sp>
        <p:nvSpPr>
          <p:cNvPr id="7" name="Text 5"/>
          <p:cNvSpPr txBox="1"/>
          <p:nvPr/>
        </p:nvSpPr>
        <p:spPr>
          <a:xfrm>
            <a:off x="932688" y="1463040"/>
            <a:ext cx="155448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1926</a:t>
            </a:r>
            <a:endParaRPr lang="en-US" sz="1400" dirty="0"/>
          </a:p>
        </p:txBody>
      </p:sp>
      <p:sp>
        <p:nvSpPr>
          <p:cNvPr id="8" name="Text 6"/>
          <p:cNvSpPr txBox="1"/>
          <p:nvPr/>
        </p:nvSpPr>
        <p:spPr>
          <a:xfrm>
            <a:off x="2487168" y="1463040"/>
            <a:ext cx="5010912" cy="50292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Sanjuanada. Macià intenta una invasió armada des de Prats de Molló.</a:t>
            </a:r>
            <a:endParaRPr lang="en-US" sz="1400" dirty="0"/>
          </a:p>
        </p:txBody>
      </p:sp>
      <p:sp>
        <p:nvSpPr>
          <p:cNvPr id="9" name="Fita 1929"/>
          <p:cNvSpPr/>
          <p:nvPr/>
        </p:nvSpPr>
        <p:spPr>
          <a:xfrm>
            <a:off x="548640" y="2048256"/>
            <a:ext cx="201168" cy="201168"/>
          </a:xfrm>
          <a:prstGeom prst="ellipse">
            <a:avLst/>
          </a:prstGeom>
          <a:solidFill>
            <a:srgbClr val="FFFFFF"/>
          </a:solidFill>
          <a:ln w="28575">
            <a:solidFill>
              <a:srgbClr val="B80672"/>
            </a:solidFill>
            <a:prstDash val="solid"/>
          </a:ln>
        </p:spPr>
      </p:sp>
      <p:sp>
        <p:nvSpPr>
          <p:cNvPr id="10" name="Text 8"/>
          <p:cNvSpPr txBox="1"/>
          <p:nvPr/>
        </p:nvSpPr>
        <p:spPr>
          <a:xfrm>
            <a:off x="932688" y="2011680"/>
            <a:ext cx="155448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1929</a:t>
            </a:r>
            <a:endParaRPr lang="en-US" sz="1400" dirty="0"/>
          </a:p>
        </p:txBody>
      </p:sp>
      <p:sp>
        <p:nvSpPr>
          <p:cNvPr id="11" name="Text 9"/>
          <p:cNvSpPr txBox="1"/>
          <p:nvPr/>
        </p:nvSpPr>
        <p:spPr>
          <a:xfrm>
            <a:off x="2487168" y="2011680"/>
            <a:ext cx="5010912" cy="50292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Crisi econòmica i caiguda del valor de la pesseta.</a:t>
            </a:r>
            <a:endParaRPr lang="en-US" sz="1400" dirty="0"/>
          </a:p>
        </p:txBody>
      </p:sp>
      <p:sp>
        <p:nvSpPr>
          <p:cNvPr id="12" name="Fita Gener 1930"/>
          <p:cNvSpPr/>
          <p:nvPr/>
        </p:nvSpPr>
        <p:spPr>
          <a:xfrm>
            <a:off x="548640" y="2596896"/>
            <a:ext cx="201168" cy="201168"/>
          </a:xfrm>
          <a:prstGeom prst="ellipse">
            <a:avLst/>
          </a:prstGeom>
          <a:solidFill>
            <a:srgbClr val="FFFFFF"/>
          </a:solidFill>
          <a:ln w="28575">
            <a:solidFill>
              <a:srgbClr val="B80672"/>
            </a:solidFill>
            <a:prstDash val="solid"/>
          </a:ln>
        </p:spPr>
      </p:sp>
      <p:sp>
        <p:nvSpPr>
          <p:cNvPr id="13" name="Text 11"/>
          <p:cNvSpPr txBox="1"/>
          <p:nvPr/>
        </p:nvSpPr>
        <p:spPr>
          <a:xfrm>
            <a:off x="932688" y="2560320"/>
            <a:ext cx="155448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Gener 1930</a:t>
            </a:r>
            <a:endParaRPr lang="en-US" sz="1400" dirty="0"/>
          </a:p>
        </p:txBody>
      </p:sp>
      <p:sp>
        <p:nvSpPr>
          <p:cNvPr id="14" name="Text 12"/>
          <p:cNvSpPr txBox="1"/>
          <p:nvPr/>
        </p:nvSpPr>
        <p:spPr>
          <a:xfrm>
            <a:off x="2487168" y="2560320"/>
            <a:ext cx="5010912" cy="50292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Sense el suport de l'exèrcit ni del rei, Primo de Rivera dimiteix.</a:t>
            </a:r>
            <a:endParaRPr lang="en-US" sz="1400" dirty="0"/>
          </a:p>
        </p:txBody>
      </p:sp>
      <p:sp>
        <p:nvSpPr>
          <p:cNvPr id="15" name="Fita 1930"/>
          <p:cNvSpPr/>
          <p:nvPr/>
        </p:nvSpPr>
        <p:spPr>
          <a:xfrm>
            <a:off x="548640" y="3145536"/>
            <a:ext cx="201168" cy="201168"/>
          </a:xfrm>
          <a:prstGeom prst="ellipse">
            <a:avLst/>
          </a:prstGeom>
          <a:solidFill>
            <a:srgbClr val="FFFFFF"/>
          </a:solidFill>
          <a:ln w="28575">
            <a:solidFill>
              <a:srgbClr val="B80672"/>
            </a:solidFill>
            <a:prstDash val="solid"/>
          </a:ln>
        </p:spPr>
      </p:sp>
      <p:sp>
        <p:nvSpPr>
          <p:cNvPr id="16" name="Text 14"/>
          <p:cNvSpPr txBox="1"/>
          <p:nvPr/>
        </p:nvSpPr>
        <p:spPr>
          <a:xfrm>
            <a:off x="932688" y="3108960"/>
            <a:ext cx="155448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1930</a:t>
            </a:r>
            <a:endParaRPr lang="en-US" sz="1400" dirty="0"/>
          </a:p>
        </p:txBody>
      </p:sp>
      <p:sp>
        <p:nvSpPr>
          <p:cNvPr id="17" name="Text 15"/>
          <p:cNvSpPr txBox="1"/>
          <p:nvPr/>
        </p:nvSpPr>
        <p:spPr>
          <a:xfrm>
            <a:off x="2487168" y="3108960"/>
            <a:ext cx="5010912" cy="50292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Dictablanda del general Berenguer.</a:t>
            </a:r>
            <a:endParaRPr lang="en-US" sz="1400" dirty="0"/>
          </a:p>
        </p:txBody>
      </p:sp>
      <p:sp>
        <p:nvSpPr>
          <p:cNvPr id="18" name="Fita Agost 1930"/>
          <p:cNvSpPr/>
          <p:nvPr/>
        </p:nvSpPr>
        <p:spPr>
          <a:xfrm>
            <a:off x="548640" y="3694176"/>
            <a:ext cx="201168" cy="201168"/>
          </a:xfrm>
          <a:prstGeom prst="ellipse">
            <a:avLst/>
          </a:prstGeom>
          <a:solidFill>
            <a:srgbClr val="FFFFFF"/>
          </a:solidFill>
          <a:ln w="28575">
            <a:solidFill>
              <a:srgbClr val="B80672"/>
            </a:solidFill>
            <a:prstDash val="solid"/>
          </a:ln>
        </p:spPr>
      </p:sp>
      <p:sp>
        <p:nvSpPr>
          <p:cNvPr id="19" name="Text 17"/>
          <p:cNvSpPr txBox="1"/>
          <p:nvPr/>
        </p:nvSpPr>
        <p:spPr>
          <a:xfrm>
            <a:off x="932688" y="3657600"/>
            <a:ext cx="155448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Agost 1930</a:t>
            </a:r>
            <a:endParaRPr lang="en-US" sz="1400" dirty="0"/>
          </a:p>
        </p:txBody>
      </p:sp>
      <p:sp>
        <p:nvSpPr>
          <p:cNvPr id="20" name="Text 18"/>
          <p:cNvSpPr txBox="1"/>
          <p:nvPr/>
        </p:nvSpPr>
        <p:spPr>
          <a:xfrm>
            <a:off x="2487168" y="3657600"/>
            <a:ext cx="5010912" cy="50292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Pacte de Sant Sebastià per instaurar la república.</a:t>
            </a:r>
            <a:endParaRPr lang="en-US" sz="1400" dirty="0"/>
          </a:p>
        </p:txBody>
      </p:sp>
      <p:sp>
        <p:nvSpPr>
          <p:cNvPr id="21" name="Fita Desembre 1930"/>
          <p:cNvSpPr/>
          <p:nvPr/>
        </p:nvSpPr>
        <p:spPr>
          <a:xfrm>
            <a:off x="548640" y="4242816"/>
            <a:ext cx="201168" cy="201168"/>
          </a:xfrm>
          <a:prstGeom prst="ellipse">
            <a:avLst/>
          </a:prstGeom>
          <a:solidFill>
            <a:srgbClr val="FFFFFF"/>
          </a:solidFill>
          <a:ln w="28575">
            <a:solidFill>
              <a:srgbClr val="B80672"/>
            </a:solidFill>
            <a:prstDash val="solid"/>
          </a:ln>
        </p:spPr>
      </p:sp>
      <p:sp>
        <p:nvSpPr>
          <p:cNvPr id="22" name="Text 20"/>
          <p:cNvSpPr txBox="1"/>
          <p:nvPr/>
        </p:nvSpPr>
        <p:spPr>
          <a:xfrm>
            <a:off x="932688" y="4206240"/>
            <a:ext cx="155448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Desembre 1930</a:t>
            </a:r>
            <a:endParaRPr lang="en-US" sz="1400" dirty="0"/>
          </a:p>
        </p:txBody>
      </p:sp>
      <p:sp>
        <p:nvSpPr>
          <p:cNvPr id="23" name="Text 21"/>
          <p:cNvSpPr txBox="1"/>
          <p:nvPr/>
        </p:nvSpPr>
        <p:spPr>
          <a:xfrm>
            <a:off x="2487168" y="4206240"/>
            <a:ext cx="5010912" cy="50292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Fracassa una insurrecció. A Jaca, Galán i García Hernández són afusellats.</a:t>
            </a:r>
            <a:endParaRPr lang="en-US" sz="1400" dirty="0"/>
          </a:p>
        </p:txBody>
      </p:sp>
      <p:sp>
        <p:nvSpPr>
          <p:cNvPr id="24" name="Fita 12-4-1931"/>
          <p:cNvSpPr/>
          <p:nvPr/>
        </p:nvSpPr>
        <p:spPr>
          <a:xfrm>
            <a:off x="548640" y="4791456"/>
            <a:ext cx="201168" cy="201168"/>
          </a:xfrm>
          <a:prstGeom prst="ellipse">
            <a:avLst/>
          </a:prstGeom>
          <a:solidFill>
            <a:srgbClr val="FFFFFF"/>
          </a:solidFill>
          <a:ln w="28575">
            <a:solidFill>
              <a:srgbClr val="B80672"/>
            </a:solidFill>
            <a:prstDash val="solid"/>
          </a:ln>
        </p:spPr>
      </p:sp>
      <p:sp>
        <p:nvSpPr>
          <p:cNvPr id="25" name="Text 23"/>
          <p:cNvSpPr txBox="1"/>
          <p:nvPr/>
        </p:nvSpPr>
        <p:spPr>
          <a:xfrm>
            <a:off x="932688" y="4754880"/>
            <a:ext cx="155448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12-4-1931</a:t>
            </a:r>
            <a:endParaRPr lang="en-US" sz="1400" dirty="0"/>
          </a:p>
        </p:txBody>
      </p:sp>
      <p:sp>
        <p:nvSpPr>
          <p:cNvPr id="26" name="Text 24"/>
          <p:cNvSpPr txBox="1"/>
          <p:nvPr/>
        </p:nvSpPr>
        <p:spPr>
          <a:xfrm>
            <a:off x="2487168" y="4754880"/>
            <a:ext cx="5010912" cy="50292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Eleccions municipals, convertides en un plebiscit sobre la monarquia.</a:t>
            </a:r>
            <a:endParaRPr lang="en-US" sz="1400" dirty="0"/>
          </a:p>
        </p:txBody>
      </p:sp>
      <p:sp>
        <p:nvSpPr>
          <p:cNvPr id="27" name="Fita 14-4-1931"/>
          <p:cNvSpPr/>
          <p:nvPr/>
        </p:nvSpPr>
        <p:spPr>
          <a:xfrm>
            <a:off x="548640" y="5340096"/>
            <a:ext cx="201168" cy="201168"/>
          </a:xfrm>
          <a:prstGeom prst="ellipse">
            <a:avLst/>
          </a:prstGeom>
          <a:solidFill>
            <a:srgbClr val="B80672"/>
          </a:solidFill>
          <a:ln w="28575">
            <a:solidFill>
              <a:srgbClr val="B80672"/>
            </a:solidFill>
            <a:prstDash val="solid"/>
          </a:ln>
        </p:spPr>
      </p:sp>
      <p:sp>
        <p:nvSpPr>
          <p:cNvPr id="28" name="Text 26"/>
          <p:cNvSpPr txBox="1"/>
          <p:nvPr/>
        </p:nvSpPr>
        <p:spPr>
          <a:xfrm>
            <a:off x="932688" y="5303520"/>
            <a:ext cx="1554480" cy="292608"/>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14-4-1931</a:t>
            </a:r>
            <a:endParaRPr lang="en-US" sz="1400" dirty="0"/>
          </a:p>
        </p:txBody>
      </p:sp>
      <p:sp>
        <p:nvSpPr>
          <p:cNvPr id="29" name="Text 27"/>
          <p:cNvSpPr txBox="1"/>
          <p:nvPr/>
        </p:nvSpPr>
        <p:spPr>
          <a:xfrm>
            <a:off x="2487168" y="5303520"/>
            <a:ext cx="5010912" cy="50292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Es proclama la Segona República. Alfons XIII marxa a l'exili.</a:t>
            </a:r>
            <a:endParaRPr lang="en-US" sz="1400" dirty="0"/>
          </a:p>
        </p:txBody>
      </p:sp>
      <p:sp>
        <p:nvSpPr>
          <p:cNvPr id="30" name="Per què va caure la monarquia"/>
          <p:cNvSpPr/>
          <p:nvPr/>
        </p:nvSpPr>
        <p:spPr>
          <a:xfrm>
            <a:off x="7863840" y="1417320"/>
            <a:ext cx="3779215" cy="2743200"/>
          </a:xfrm>
          <a:prstGeom prst="roundRect">
            <a:avLst>
              <a:gd name="adj" fmla="val 3667"/>
            </a:avLst>
          </a:prstGeom>
          <a:solidFill>
            <a:srgbClr val="FDE7F3"/>
          </a:solidFill>
          <a:ln/>
        </p:spPr>
      </p:sp>
      <p:sp>
        <p:nvSpPr>
          <p:cNvPr id="31" name="Text 29"/>
          <p:cNvSpPr txBox="1"/>
          <p:nvPr/>
        </p:nvSpPr>
        <p:spPr>
          <a:xfrm>
            <a:off x="8183880" y="1572768"/>
            <a:ext cx="313913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Per què va caure la monarquia</a:t>
            </a:r>
            <a:endParaRPr lang="en-US" sz="1400" dirty="0"/>
          </a:p>
        </p:txBody>
      </p:sp>
      <p:sp>
        <p:nvSpPr>
          <p:cNvPr id="32" name="Text 30"/>
          <p:cNvSpPr txBox="1"/>
          <p:nvPr/>
        </p:nvSpPr>
        <p:spPr>
          <a:xfrm>
            <a:off x="8183880" y="1920240"/>
            <a:ext cx="3139135" cy="21031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Havia quedat associada a la dictadura. El rei havia acceptat el cop d'estat de 1923 i havia governat set anys sense constitució. Molts monàrquics, com Alcalá-Zamora o Miguel Maura, es van fer republicans.</a:t>
            </a:r>
            <a:endParaRPr lang="en-US" sz="1450" dirty="0"/>
          </a:p>
        </p:txBody>
      </p:sp>
      <p:sp>
        <p:nvSpPr>
          <p:cNvPr id="33" name="Dictablanda"/>
          <p:cNvSpPr/>
          <p:nvPr/>
        </p:nvSpPr>
        <p:spPr>
          <a:xfrm>
            <a:off x="7863840" y="4343400"/>
            <a:ext cx="3779215" cy="1645920"/>
          </a:xfrm>
          <a:prstGeom prst="roundRect">
            <a:avLst>
              <a:gd name="adj" fmla="val 6111"/>
            </a:avLst>
          </a:prstGeom>
          <a:solidFill>
            <a:srgbClr val="F6F8FB"/>
          </a:solidFill>
          <a:ln/>
        </p:spPr>
      </p:sp>
      <p:sp>
        <p:nvSpPr>
          <p:cNvPr id="34" name="Text 32"/>
          <p:cNvSpPr txBox="1"/>
          <p:nvPr/>
        </p:nvSpPr>
        <p:spPr>
          <a:xfrm>
            <a:off x="8183880" y="4498848"/>
            <a:ext cx="31391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Dictablanda</a:t>
            </a:r>
            <a:endParaRPr lang="en-US" sz="1400" dirty="0"/>
          </a:p>
        </p:txBody>
      </p:sp>
      <p:sp>
        <p:nvSpPr>
          <p:cNvPr id="35" name="Text 33"/>
          <p:cNvSpPr txBox="1"/>
          <p:nvPr/>
        </p:nvSpPr>
        <p:spPr>
          <a:xfrm>
            <a:off x="8183880" y="4846320"/>
            <a:ext cx="3139135" cy="100584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Nom que la gent va donar al govern de Berenguer, perquè restablia la normalitat constitucional molt a poc a poc.</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Apartat 5 a la PAU</a:t>
            </a:r>
            <a:endParaRPr lang="en-US" sz="2800" dirty="0"/>
          </a:p>
        </p:txBody>
      </p:sp>
      <p:sp>
        <p:nvSpPr>
          <p:cNvPr id="5" name="Text 3"/>
          <p:cNvSpPr txBox="1"/>
          <p:nvPr/>
        </p:nvSpPr>
        <p:spPr>
          <a:xfrm>
            <a:off x="548640" y="1371600"/>
            <a:ext cx="2011680" cy="1005840"/>
          </a:xfrm>
          <a:prstGeom prst="rect">
            <a:avLst/>
          </a:prstGeom>
          <a:noFill/>
          <a:ln/>
        </p:spPr>
        <p:txBody>
          <a:bodyPr wrap="square" lIns="0" tIns="0" rIns="0" bIns="0" rtlCol="0" anchor="t"/>
          <a:lstStyle/>
          <a:p>
            <a:pPr indent="0" marL="0">
              <a:buNone/>
            </a:pPr>
            <a:r>
              <a:rPr lang="en-US" sz="6400" b="1" dirty="0">
                <a:solidFill>
                  <a:srgbClr val="B80672"/>
                </a:solidFill>
                <a:latin typeface="Roboto" pitchFamily="34" charset="0"/>
                <a:ea typeface="Roboto" pitchFamily="34" charset="-122"/>
                <a:cs typeface="Roboto" pitchFamily="34" charset="-120"/>
              </a:rPr>
              <a:t>10</a:t>
            </a:r>
            <a:endParaRPr lang="en-US" sz="6400" dirty="0"/>
          </a:p>
        </p:txBody>
      </p:sp>
      <p:sp>
        <p:nvSpPr>
          <p:cNvPr id="6" name="Text 4"/>
          <p:cNvSpPr txBox="1"/>
          <p:nvPr/>
        </p:nvSpPr>
        <p:spPr>
          <a:xfrm>
            <a:off x="548640" y="2395728"/>
            <a:ext cx="3840480" cy="91440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preguntes sobre la dictadura de Primo de Rivera a les PAU del 2010 al 2024 (model anterior).</a:t>
            </a:r>
            <a:endParaRPr lang="en-US" sz="1500" dirty="0"/>
          </a:p>
        </p:txBody>
      </p:sp>
      <p:sp>
        <p:nvSpPr>
          <p:cNvPr id="7" name="Àmbits del glossari"/>
          <p:cNvSpPr/>
          <p:nvPr/>
        </p:nvSpPr>
        <p:spPr>
          <a:xfrm>
            <a:off x="548640" y="3429000"/>
            <a:ext cx="3840480" cy="1938528"/>
          </a:xfrm>
          <a:prstGeom prst="roundRect">
            <a:avLst>
              <a:gd name="adj" fmla="val 5189"/>
            </a:avLst>
          </a:prstGeom>
          <a:solidFill>
            <a:srgbClr val="F6F8FB"/>
          </a:solidFill>
          <a:ln/>
        </p:spPr>
      </p:sp>
      <p:sp>
        <p:nvSpPr>
          <p:cNvPr id="8" name="Text 6"/>
          <p:cNvSpPr txBox="1"/>
          <p:nvPr/>
        </p:nvSpPr>
        <p:spPr>
          <a:xfrm>
            <a:off x="822960" y="3584448"/>
            <a:ext cx="3291840" cy="292608"/>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Àmbits del glossari</a:t>
            </a:r>
            <a:endParaRPr lang="en-US" sz="1300" dirty="0"/>
          </a:p>
        </p:txBody>
      </p:sp>
      <p:sp>
        <p:nvSpPr>
          <p:cNvPr id="9" name="Text 7"/>
          <p:cNvSpPr txBox="1"/>
          <p:nvPr/>
        </p:nvSpPr>
        <p:spPr>
          <a:xfrm>
            <a:off x="822960" y="3904488"/>
            <a:ext cx="3337560" cy="1389888"/>
          </a:xfrm>
          <a:prstGeom prst="rect">
            <a:avLst/>
          </a:prstGeom>
          <a:noFill/>
          <a:ln/>
        </p:spPr>
        <p:txBody>
          <a:bodyPr wrap="square" lIns="0" tIns="0" rIns="0" bIns="0" rtlCol="0" anchor="t"/>
          <a:lstStyle/>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5. Militarisme.</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6. Contrarevolució: corporativisme, democràcia orgànica i feixisme.</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10. Centralisme, catalanismes i experiències d’auto-govern.</a:t>
            </a:r>
            <a:endParaRPr lang="en-US" sz="1350" dirty="0"/>
          </a:p>
        </p:txBody>
      </p:sp>
      <p:sp>
        <p:nvSpPr>
          <p:cNvPr id="10" name="Text 8"/>
          <p:cNvSpPr txBox="1"/>
          <p:nvPr/>
        </p:nvSpPr>
        <p:spPr>
          <a:xfrm>
            <a:off x="4846320" y="1417320"/>
            <a:ext cx="6766560" cy="320040"/>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Conceptes clau</a:t>
            </a:r>
            <a:endParaRPr lang="en-US" sz="1300" dirty="0"/>
          </a:p>
        </p:txBody>
      </p:sp>
      <p:sp>
        <p:nvSpPr>
          <p:cNvPr id="11" name="Etiqueta Dictadura"/>
          <p:cNvSpPr/>
          <p:nvPr/>
        </p:nvSpPr>
        <p:spPr>
          <a:xfrm>
            <a:off x="4846320" y="1810512"/>
            <a:ext cx="993953" cy="310896"/>
          </a:xfrm>
          <a:prstGeom prst="roundRect">
            <a:avLst>
              <a:gd name="adj" fmla="val 50000"/>
            </a:avLst>
          </a:prstGeom>
          <a:solidFill>
            <a:srgbClr val="FDE7F3"/>
          </a:solidFill>
          <a:ln/>
        </p:spPr>
      </p:sp>
      <p:sp>
        <p:nvSpPr>
          <p:cNvPr id="12" name="Text 10"/>
          <p:cNvSpPr txBox="1"/>
          <p:nvPr/>
        </p:nvSpPr>
        <p:spPr>
          <a:xfrm>
            <a:off x="4846320" y="1810512"/>
            <a:ext cx="993953"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Dictadura</a:t>
            </a:r>
            <a:endParaRPr lang="en-US" sz="1200" dirty="0"/>
          </a:p>
        </p:txBody>
      </p:sp>
      <p:sp>
        <p:nvSpPr>
          <p:cNvPr id="13" name="Etiqueta Cirurgià de ferro"/>
          <p:cNvSpPr/>
          <p:nvPr/>
        </p:nvSpPr>
        <p:spPr>
          <a:xfrm>
            <a:off x="5931713" y="1810512"/>
            <a:ext cx="1601114" cy="310896"/>
          </a:xfrm>
          <a:prstGeom prst="roundRect">
            <a:avLst>
              <a:gd name="adj" fmla="val 50000"/>
            </a:avLst>
          </a:prstGeom>
          <a:solidFill>
            <a:srgbClr val="FDE7F3"/>
          </a:solidFill>
          <a:ln/>
        </p:spPr>
      </p:sp>
      <p:sp>
        <p:nvSpPr>
          <p:cNvPr id="14" name="Text 12"/>
          <p:cNvSpPr txBox="1"/>
          <p:nvPr/>
        </p:nvSpPr>
        <p:spPr>
          <a:xfrm>
            <a:off x="5931713" y="1810512"/>
            <a:ext cx="160111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Cirurgià de ferro</a:t>
            </a:r>
            <a:endParaRPr lang="en-US" sz="1200" dirty="0"/>
          </a:p>
        </p:txBody>
      </p:sp>
      <p:sp>
        <p:nvSpPr>
          <p:cNvPr id="15" name="Etiqueta Directori militar"/>
          <p:cNvSpPr/>
          <p:nvPr/>
        </p:nvSpPr>
        <p:spPr>
          <a:xfrm>
            <a:off x="7624267" y="1810512"/>
            <a:ext cx="1601114" cy="310896"/>
          </a:xfrm>
          <a:prstGeom prst="roundRect">
            <a:avLst>
              <a:gd name="adj" fmla="val 50000"/>
            </a:avLst>
          </a:prstGeom>
          <a:solidFill>
            <a:srgbClr val="FDE7F3"/>
          </a:solidFill>
          <a:ln/>
        </p:spPr>
      </p:sp>
      <p:sp>
        <p:nvSpPr>
          <p:cNvPr id="16" name="Text 14"/>
          <p:cNvSpPr txBox="1"/>
          <p:nvPr/>
        </p:nvSpPr>
        <p:spPr>
          <a:xfrm>
            <a:off x="7624267" y="1810512"/>
            <a:ext cx="160111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Directori militar</a:t>
            </a:r>
            <a:endParaRPr lang="en-US" sz="1200" dirty="0"/>
          </a:p>
        </p:txBody>
      </p:sp>
      <p:sp>
        <p:nvSpPr>
          <p:cNvPr id="17" name="Etiqueta Sometent"/>
          <p:cNvSpPr/>
          <p:nvPr/>
        </p:nvSpPr>
        <p:spPr>
          <a:xfrm>
            <a:off x="9316822" y="1810512"/>
            <a:ext cx="918058" cy="310896"/>
          </a:xfrm>
          <a:prstGeom prst="roundRect">
            <a:avLst>
              <a:gd name="adj" fmla="val 50000"/>
            </a:avLst>
          </a:prstGeom>
          <a:solidFill>
            <a:srgbClr val="FDE7F3"/>
          </a:solidFill>
          <a:ln/>
        </p:spPr>
      </p:sp>
      <p:sp>
        <p:nvSpPr>
          <p:cNvPr id="18" name="Text 16"/>
          <p:cNvSpPr txBox="1"/>
          <p:nvPr/>
        </p:nvSpPr>
        <p:spPr>
          <a:xfrm>
            <a:off x="9316822" y="1810512"/>
            <a:ext cx="91805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Sometent</a:t>
            </a:r>
            <a:endParaRPr lang="en-US" sz="1200" dirty="0"/>
          </a:p>
        </p:txBody>
      </p:sp>
      <p:sp>
        <p:nvSpPr>
          <p:cNvPr id="19" name="Etiqueta Desembarcament d'Alhucemas"/>
          <p:cNvSpPr/>
          <p:nvPr/>
        </p:nvSpPr>
        <p:spPr>
          <a:xfrm>
            <a:off x="4846320" y="2212848"/>
            <a:ext cx="2284171" cy="310896"/>
          </a:xfrm>
          <a:prstGeom prst="roundRect">
            <a:avLst>
              <a:gd name="adj" fmla="val 50000"/>
            </a:avLst>
          </a:prstGeom>
          <a:solidFill>
            <a:srgbClr val="FDE7F3"/>
          </a:solidFill>
          <a:ln/>
        </p:spPr>
      </p:sp>
      <p:sp>
        <p:nvSpPr>
          <p:cNvPr id="20" name="Text 18"/>
          <p:cNvSpPr txBox="1"/>
          <p:nvPr/>
        </p:nvSpPr>
        <p:spPr>
          <a:xfrm>
            <a:off x="4846320" y="2212848"/>
            <a:ext cx="2284171"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Desembarcament d'Alhucemas</a:t>
            </a:r>
            <a:endParaRPr lang="en-US" sz="1200" dirty="0"/>
          </a:p>
        </p:txBody>
      </p:sp>
      <p:sp>
        <p:nvSpPr>
          <p:cNvPr id="21" name="Etiqueta Directori civil"/>
          <p:cNvSpPr/>
          <p:nvPr/>
        </p:nvSpPr>
        <p:spPr>
          <a:xfrm>
            <a:off x="7221931" y="2212848"/>
            <a:ext cx="1449324" cy="310896"/>
          </a:xfrm>
          <a:prstGeom prst="roundRect">
            <a:avLst>
              <a:gd name="adj" fmla="val 50000"/>
            </a:avLst>
          </a:prstGeom>
          <a:solidFill>
            <a:srgbClr val="FDE7F3"/>
          </a:solidFill>
          <a:ln/>
        </p:spPr>
      </p:sp>
      <p:sp>
        <p:nvSpPr>
          <p:cNvPr id="22" name="Text 20"/>
          <p:cNvSpPr txBox="1"/>
          <p:nvPr/>
        </p:nvSpPr>
        <p:spPr>
          <a:xfrm>
            <a:off x="7221931" y="2212848"/>
            <a:ext cx="144932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Directori civil</a:t>
            </a:r>
            <a:endParaRPr lang="en-US" sz="1200" dirty="0"/>
          </a:p>
        </p:txBody>
      </p:sp>
      <p:sp>
        <p:nvSpPr>
          <p:cNvPr id="23" name="Etiqueta Unión Patriótica"/>
          <p:cNvSpPr/>
          <p:nvPr/>
        </p:nvSpPr>
        <p:spPr>
          <a:xfrm>
            <a:off x="8762695" y="2212848"/>
            <a:ext cx="1525219" cy="310896"/>
          </a:xfrm>
          <a:prstGeom prst="roundRect">
            <a:avLst>
              <a:gd name="adj" fmla="val 50000"/>
            </a:avLst>
          </a:prstGeom>
          <a:solidFill>
            <a:srgbClr val="FDE7F3"/>
          </a:solidFill>
          <a:ln/>
        </p:spPr>
      </p:sp>
      <p:sp>
        <p:nvSpPr>
          <p:cNvPr id="24" name="Text 22"/>
          <p:cNvSpPr txBox="1"/>
          <p:nvPr/>
        </p:nvSpPr>
        <p:spPr>
          <a:xfrm>
            <a:off x="8762695" y="2212848"/>
            <a:ext cx="152521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Unión Patriótica</a:t>
            </a:r>
            <a:endParaRPr lang="en-US" sz="1200" dirty="0"/>
          </a:p>
        </p:txBody>
      </p:sp>
      <p:sp>
        <p:nvSpPr>
          <p:cNvPr id="25" name="Etiqueta Assemblea Nacional Consultiva"/>
          <p:cNvSpPr/>
          <p:nvPr/>
        </p:nvSpPr>
        <p:spPr>
          <a:xfrm>
            <a:off x="4846320" y="2615184"/>
            <a:ext cx="2511857" cy="310896"/>
          </a:xfrm>
          <a:prstGeom prst="roundRect">
            <a:avLst>
              <a:gd name="adj" fmla="val 50000"/>
            </a:avLst>
          </a:prstGeom>
          <a:solidFill>
            <a:srgbClr val="FDE7F3"/>
          </a:solidFill>
          <a:ln/>
        </p:spPr>
      </p:sp>
      <p:sp>
        <p:nvSpPr>
          <p:cNvPr id="26" name="Text 24"/>
          <p:cNvSpPr txBox="1"/>
          <p:nvPr/>
        </p:nvSpPr>
        <p:spPr>
          <a:xfrm>
            <a:off x="4846320" y="2615184"/>
            <a:ext cx="2511857"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Assemblea Nacional Consultiva</a:t>
            </a:r>
            <a:endParaRPr lang="en-US" sz="1200" dirty="0"/>
          </a:p>
        </p:txBody>
      </p:sp>
      <p:sp>
        <p:nvSpPr>
          <p:cNvPr id="27" name="Etiqueta Corporativisme"/>
          <p:cNvSpPr/>
          <p:nvPr/>
        </p:nvSpPr>
        <p:spPr>
          <a:xfrm>
            <a:off x="7449617" y="2615184"/>
            <a:ext cx="1373429" cy="310896"/>
          </a:xfrm>
          <a:prstGeom prst="roundRect">
            <a:avLst>
              <a:gd name="adj" fmla="val 50000"/>
            </a:avLst>
          </a:prstGeom>
          <a:solidFill>
            <a:srgbClr val="FDE7F3"/>
          </a:solidFill>
          <a:ln/>
        </p:spPr>
      </p:sp>
      <p:sp>
        <p:nvSpPr>
          <p:cNvPr id="28" name="Text 26"/>
          <p:cNvSpPr txBox="1"/>
          <p:nvPr/>
        </p:nvSpPr>
        <p:spPr>
          <a:xfrm>
            <a:off x="7449617" y="2615184"/>
            <a:ext cx="137342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Corporativisme</a:t>
            </a:r>
            <a:endParaRPr lang="en-US" sz="1200" dirty="0"/>
          </a:p>
        </p:txBody>
      </p:sp>
      <p:sp>
        <p:nvSpPr>
          <p:cNvPr id="29" name="Etiqueta Dirigisme econòmic"/>
          <p:cNvSpPr/>
          <p:nvPr/>
        </p:nvSpPr>
        <p:spPr>
          <a:xfrm>
            <a:off x="8914486" y="2615184"/>
            <a:ext cx="1677010" cy="310896"/>
          </a:xfrm>
          <a:prstGeom prst="roundRect">
            <a:avLst>
              <a:gd name="adj" fmla="val 50000"/>
            </a:avLst>
          </a:prstGeom>
          <a:solidFill>
            <a:srgbClr val="FDE7F3"/>
          </a:solidFill>
          <a:ln/>
        </p:spPr>
      </p:sp>
      <p:sp>
        <p:nvSpPr>
          <p:cNvPr id="30" name="Text 28"/>
          <p:cNvSpPr txBox="1"/>
          <p:nvPr/>
        </p:nvSpPr>
        <p:spPr>
          <a:xfrm>
            <a:off x="8914486" y="2615184"/>
            <a:ext cx="167701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Dirigisme econòmic</a:t>
            </a:r>
            <a:endParaRPr lang="en-US" sz="1200" dirty="0"/>
          </a:p>
        </p:txBody>
      </p:sp>
      <p:sp>
        <p:nvSpPr>
          <p:cNvPr id="31" name="Etiqueta Dictablanda"/>
          <p:cNvSpPr/>
          <p:nvPr/>
        </p:nvSpPr>
        <p:spPr>
          <a:xfrm>
            <a:off x="4846320" y="3017520"/>
            <a:ext cx="1145743" cy="310896"/>
          </a:xfrm>
          <a:prstGeom prst="roundRect">
            <a:avLst>
              <a:gd name="adj" fmla="val 50000"/>
            </a:avLst>
          </a:prstGeom>
          <a:solidFill>
            <a:srgbClr val="FDE7F3"/>
          </a:solidFill>
          <a:ln/>
        </p:spPr>
      </p:sp>
      <p:sp>
        <p:nvSpPr>
          <p:cNvPr id="32" name="Text 30"/>
          <p:cNvSpPr txBox="1"/>
          <p:nvPr/>
        </p:nvSpPr>
        <p:spPr>
          <a:xfrm>
            <a:off x="4846320" y="3017520"/>
            <a:ext cx="1145743"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Dictablanda</a:t>
            </a:r>
            <a:endParaRPr lang="en-US" sz="1200" dirty="0"/>
          </a:p>
        </p:txBody>
      </p:sp>
      <p:sp>
        <p:nvSpPr>
          <p:cNvPr id="33" name="Etiqueta Pacte de Sant Sebastià"/>
          <p:cNvSpPr/>
          <p:nvPr/>
        </p:nvSpPr>
        <p:spPr>
          <a:xfrm>
            <a:off x="6083503" y="3017520"/>
            <a:ext cx="1980590" cy="310896"/>
          </a:xfrm>
          <a:prstGeom prst="roundRect">
            <a:avLst>
              <a:gd name="adj" fmla="val 50000"/>
            </a:avLst>
          </a:prstGeom>
          <a:solidFill>
            <a:srgbClr val="FDE7F3"/>
          </a:solidFill>
          <a:ln/>
        </p:spPr>
      </p:sp>
      <p:sp>
        <p:nvSpPr>
          <p:cNvPr id="34" name="Text 32"/>
          <p:cNvSpPr txBox="1"/>
          <p:nvPr/>
        </p:nvSpPr>
        <p:spPr>
          <a:xfrm>
            <a:off x="6083503" y="3017520"/>
            <a:ext cx="198059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Pacte de Sant Sebastià</a:t>
            </a:r>
            <a:endParaRPr lang="en-US" sz="1200" dirty="0"/>
          </a:p>
        </p:txBody>
      </p:sp>
      <p:sp>
        <p:nvSpPr>
          <p:cNvPr id="35" name="Per a la PAU"/>
          <p:cNvSpPr/>
          <p:nvPr/>
        </p:nvSpPr>
        <p:spPr>
          <a:xfrm>
            <a:off x="4846320" y="3584448"/>
            <a:ext cx="6796735" cy="2450592"/>
          </a:xfrm>
          <a:prstGeom prst="roundRect">
            <a:avLst>
              <a:gd name="adj" fmla="val 4104"/>
            </a:avLst>
          </a:prstGeom>
          <a:solidFill>
            <a:srgbClr val="FDE7F3"/>
          </a:solidFill>
          <a:ln/>
        </p:spPr>
      </p:sp>
      <p:sp>
        <p:nvSpPr>
          <p:cNvPr id="36" name="Text 34"/>
          <p:cNvSpPr txBox="1"/>
          <p:nvPr/>
        </p:nvSpPr>
        <p:spPr>
          <a:xfrm>
            <a:off x="5166360" y="3739896"/>
            <a:ext cx="615665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Per a la PAU</a:t>
            </a:r>
            <a:endParaRPr lang="en-US" sz="1400" dirty="0"/>
          </a:p>
        </p:txBody>
      </p:sp>
      <p:sp>
        <p:nvSpPr>
          <p:cNvPr id="37" name="Text 35"/>
          <p:cNvSpPr txBox="1"/>
          <p:nvPr/>
        </p:nvSpPr>
        <p:spPr>
          <a:xfrm>
            <a:off x="5166360" y="4087368"/>
            <a:ext cx="6156655" cy="1810512"/>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A l'exercici 3, la dictadura és un bon exemple de militarisme (àmbit 5) i de corporativisme (àmbit 6). Explica també per què la seva caiguda va arrossegar la monarquia i com va afectar el catalanisme (àmbit 10).</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B80672"/>
          </a:solidFill>
          <a:ln/>
        </p:spPr>
      </p:sp>
      <p:pic>
        <p:nvPicPr>
          <p:cNvPr id="3" name="Il·lustració del Congrés i una urna" descr="/tmp/claude-0/-home-claude-historia-2batx/57a75df9-64d0-585a-8d62-369d37bdd596/scratchpad/deck/hero-crop.png">    </p:cNvPr>
          <p:cNvPicPr>
            <a:picLocks noChangeAspect="1"/>
          </p:cNvPicPr>
          <p:nvPr/>
        </p:nvPicPr>
        <p:blipFill>
          <a:blip r:embed="rId1"/>
          <a:stretch>
            <a:fillRect/>
          </a:stretch>
        </p:blipFill>
        <p:spPr>
          <a:xfrm>
            <a:off x="3520440" y="2795465"/>
            <a:ext cx="3566160" cy="1392487"/>
          </a:xfrm>
          <a:prstGeom prst="rect">
            <a:avLst/>
          </a:prstGeom>
        </p:spPr>
      </p:pic>
      <p:sp>
        <p:nvSpPr>
          <p:cNvPr id="4" name="Etiqueta Apartat 6  ·  1875–1931"/>
          <p:cNvSpPr/>
          <p:nvPr/>
        </p:nvSpPr>
        <p:spPr>
          <a:xfrm>
            <a:off x="960120" y="896112"/>
            <a:ext cx="2161642" cy="310896"/>
          </a:xfrm>
          <a:prstGeom prst="roundRect">
            <a:avLst>
              <a:gd name="adj" fmla="val 50000"/>
            </a:avLst>
          </a:prstGeom>
          <a:solidFill>
            <a:srgbClr val="FFFFFF">
              <a:alpha val="18000"/>
            </a:srgbClr>
          </a:solidFill>
          <a:ln/>
        </p:spPr>
      </p:sp>
      <p:sp>
        <p:nvSpPr>
          <p:cNvPr id="5" name="Text 2"/>
          <p:cNvSpPr txBox="1"/>
          <p:nvPr/>
        </p:nvSpPr>
        <p:spPr>
          <a:xfrm>
            <a:off x="960120" y="896112"/>
            <a:ext cx="2161642"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6  ·  1875–1931</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Economia, societat i demografia</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B80672"/>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Com van canviar la població, el camp i la indústria, i com vivien els obrers i les dones?</a:t>
            </a:r>
            <a:endParaRPr lang="en-US" sz="1900" dirty="0"/>
          </a:p>
        </p:txBody>
      </p:sp>
      <p:sp>
        <p:nvSpPr>
          <p:cNvPr id="10" name="Fons Economia, societat i demografia"/>
          <p:cNvSpPr/>
          <p:nvPr/>
        </p:nvSpPr>
        <p:spPr>
          <a:xfrm>
            <a:off x="7635240" y="608076"/>
            <a:ext cx="4007815" cy="4572000"/>
          </a:xfrm>
          <a:prstGeom prst="roundRect">
            <a:avLst>
              <a:gd name="adj" fmla="val 2510"/>
            </a:avLst>
          </a:prstGeom>
          <a:solidFill>
            <a:srgbClr val="F6F8FB"/>
          </a:solidFill>
          <a:ln/>
        </p:spPr>
      </p:sp>
      <p:pic>
        <p:nvPicPr>
          <p:cNvPr id="11" name="Economia, societat i demografia" descr="/home/claude/historia-2batx/media/tema-1/colonia.jpg">    </p:cNvPr>
          <p:cNvPicPr>
            <a:picLocks noChangeAspect="1"/>
          </p:cNvPicPr>
          <p:nvPr/>
        </p:nvPicPr>
        <p:blipFill>
          <a:blip r:embed="rId2"/>
          <a:stretch>
            <a:fillRect/>
          </a:stretch>
        </p:blipFill>
        <p:spPr>
          <a:xfrm>
            <a:off x="7924648" y="608076"/>
            <a:ext cx="3429000" cy="4572000"/>
          </a:xfrm>
          <a:prstGeom prst="rect">
            <a:avLst/>
          </a:prstGeom>
        </p:spPr>
      </p:pic>
      <p:sp>
        <p:nvSpPr>
          <p:cNvPr id="12" name="Text 8"/>
          <p:cNvSpPr txBox="1"/>
          <p:nvPr/>
        </p:nvSpPr>
        <p:spPr>
          <a:xfrm>
            <a:off x="7635240" y="5289804"/>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Xemeneia de la fàbrica de la Colònia Güell, a Santa Coloma de Cervelló, una colònia industrial del Llobregat. Foto d'Enfo (2010), CC BY-SA 3.0, Wikimedia Commons.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transició demogràfica</a:t>
            </a:r>
            <a:endParaRPr lang="en-US" sz="2800" dirty="0"/>
          </a:p>
        </p:txBody>
      </p:sp>
      <p:sp>
        <p:nvSpPr>
          <p:cNvPr id="5" name="Transició demogràfica"/>
          <p:cNvSpPr/>
          <p:nvPr/>
        </p:nvSpPr>
        <p:spPr>
          <a:xfrm>
            <a:off x="548640" y="1417320"/>
            <a:ext cx="6583680" cy="1828800"/>
          </a:xfrm>
          <a:prstGeom prst="roundRect">
            <a:avLst>
              <a:gd name="adj" fmla="val 5500"/>
            </a:avLst>
          </a:prstGeom>
          <a:solidFill>
            <a:srgbClr val="FDE7F3"/>
          </a:solidFill>
          <a:ln/>
        </p:spPr>
      </p:sp>
      <p:sp>
        <p:nvSpPr>
          <p:cNvPr id="6" name="Text 4"/>
          <p:cNvSpPr txBox="1"/>
          <p:nvPr/>
        </p:nvSpPr>
        <p:spPr>
          <a:xfrm>
            <a:off x="868680" y="1572768"/>
            <a:ext cx="594360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Transició demogràfica</a:t>
            </a:r>
            <a:endParaRPr lang="en-US" sz="1400" dirty="0"/>
          </a:p>
        </p:txBody>
      </p:sp>
      <p:sp>
        <p:nvSpPr>
          <p:cNvPr id="7" name="Text 5"/>
          <p:cNvSpPr txBox="1"/>
          <p:nvPr/>
        </p:nvSpPr>
        <p:spPr>
          <a:xfrm>
            <a:off x="868680" y="1920240"/>
            <a:ext cx="5943600" cy="118872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Pas d'un model antic, amb natalitat i mortalitat molt altes i creixement lent, a un model modern, en què totes dues baixen. Primer baixa la mortalitat i la població creix ràpidament. Després baixa la natalitat i el creixement es modera.</a:t>
            </a:r>
            <a:endParaRPr lang="en-US" sz="1450" dirty="0"/>
          </a:p>
        </p:txBody>
      </p:sp>
      <p:sp>
        <p:nvSpPr>
          <p:cNvPr id="8" name="Text 6"/>
          <p:cNvSpPr txBox="1"/>
          <p:nvPr/>
        </p:nvSpPr>
        <p:spPr>
          <a:xfrm>
            <a:off x="7498080" y="1417320"/>
            <a:ext cx="4114800" cy="320040"/>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Esperança de vida</a:t>
            </a:r>
            <a:endParaRPr lang="en-US" sz="1300" dirty="0"/>
          </a:p>
        </p:txBody>
      </p:sp>
      <p:sp>
        <p:nvSpPr>
          <p:cNvPr id="9" name="Text 7"/>
          <p:cNvSpPr txBox="1"/>
          <p:nvPr/>
        </p:nvSpPr>
        <p:spPr>
          <a:xfrm>
            <a:off x="7498080" y="1783080"/>
            <a:ext cx="2011680" cy="868680"/>
          </a:xfrm>
          <a:prstGeom prst="rect">
            <a:avLst/>
          </a:prstGeom>
          <a:noFill/>
          <a:ln/>
        </p:spPr>
        <p:txBody>
          <a:bodyPr wrap="square" lIns="0" tIns="0" rIns="0" bIns="0" rtlCol="0" anchor="t"/>
          <a:lstStyle/>
          <a:p>
            <a:pPr indent="0" marL="0">
              <a:buNone/>
            </a:pPr>
            <a:r>
              <a:rPr lang="en-US" sz="4800" b="1" dirty="0">
                <a:solidFill>
                  <a:srgbClr val="B80672"/>
                </a:solidFill>
                <a:latin typeface="Roboto" pitchFamily="34" charset="0"/>
                <a:ea typeface="Roboto" pitchFamily="34" charset="-122"/>
                <a:cs typeface="Roboto" pitchFamily="34" charset="-120"/>
              </a:rPr>
              <a:t>34,8</a:t>
            </a:r>
            <a:endParaRPr lang="en-US" sz="4800" dirty="0"/>
          </a:p>
        </p:txBody>
      </p:sp>
      <p:sp>
        <p:nvSpPr>
          <p:cNvPr id="10" name="Text 8"/>
          <p:cNvSpPr txBox="1"/>
          <p:nvPr/>
        </p:nvSpPr>
        <p:spPr>
          <a:xfrm>
            <a:off x="7498080" y="2651760"/>
            <a:ext cx="2011680" cy="3657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anys el 1900</a:t>
            </a:r>
            <a:endParaRPr lang="en-US" sz="1500" dirty="0"/>
          </a:p>
        </p:txBody>
      </p:sp>
      <p:sp>
        <p:nvSpPr>
          <p:cNvPr id="11" name="Text 9"/>
          <p:cNvSpPr txBox="1"/>
          <p:nvPr/>
        </p:nvSpPr>
        <p:spPr>
          <a:xfrm>
            <a:off x="9646920" y="1783080"/>
            <a:ext cx="2011680" cy="868680"/>
          </a:xfrm>
          <a:prstGeom prst="rect">
            <a:avLst/>
          </a:prstGeom>
          <a:noFill/>
          <a:ln/>
        </p:spPr>
        <p:txBody>
          <a:bodyPr wrap="square" lIns="0" tIns="0" rIns="0" bIns="0" rtlCol="0" anchor="t"/>
          <a:lstStyle/>
          <a:p>
            <a:pPr indent="0" marL="0">
              <a:buNone/>
            </a:pPr>
            <a:r>
              <a:rPr lang="en-US" sz="4800" b="1" dirty="0">
                <a:solidFill>
                  <a:srgbClr val="B80672"/>
                </a:solidFill>
                <a:latin typeface="Roboto" pitchFamily="34" charset="0"/>
                <a:ea typeface="Roboto" pitchFamily="34" charset="-122"/>
                <a:cs typeface="Roboto" pitchFamily="34" charset="-120"/>
              </a:rPr>
              <a:t>50</a:t>
            </a:r>
            <a:endParaRPr lang="en-US" sz="4800" dirty="0"/>
          </a:p>
        </p:txBody>
      </p:sp>
      <p:sp>
        <p:nvSpPr>
          <p:cNvPr id="12" name="Text 10"/>
          <p:cNvSpPr txBox="1"/>
          <p:nvPr/>
        </p:nvSpPr>
        <p:spPr>
          <a:xfrm>
            <a:off x="9646920" y="2651760"/>
            <a:ext cx="2011680" cy="3657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anys el 1930</a:t>
            </a:r>
            <a:endParaRPr lang="en-US" sz="1500" dirty="0"/>
          </a:p>
        </p:txBody>
      </p:sp>
      <p:sp>
        <p:nvSpPr>
          <p:cNvPr id="13" name="Targeta Per què baixa la mortalitat"/>
          <p:cNvSpPr/>
          <p:nvPr/>
        </p:nvSpPr>
        <p:spPr>
          <a:xfrm>
            <a:off x="548640" y="3474720"/>
            <a:ext cx="3515258" cy="2514600"/>
          </a:xfrm>
          <a:prstGeom prst="roundRect">
            <a:avLst>
              <a:gd name="adj" fmla="val 4000"/>
            </a:avLst>
          </a:prstGeom>
          <a:solidFill>
            <a:srgbClr val="FFFFFF"/>
          </a:solidFill>
          <a:ln w="12700">
            <a:solidFill>
              <a:srgbClr val="DADCE0"/>
            </a:solidFill>
            <a:prstDash val="solid"/>
          </a:ln>
        </p:spPr>
      </p:sp>
      <p:sp>
        <p:nvSpPr>
          <p:cNvPr id="14" name="Text 12"/>
          <p:cNvSpPr txBox="1"/>
          <p:nvPr/>
        </p:nvSpPr>
        <p:spPr>
          <a:xfrm>
            <a:off x="777240" y="3657600"/>
            <a:ext cx="3058058" cy="5181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Per què baixa la mortalitat</a:t>
            </a:r>
            <a:endParaRPr lang="en-US" sz="1700" dirty="0"/>
          </a:p>
        </p:txBody>
      </p:sp>
      <p:sp>
        <p:nvSpPr>
          <p:cNvPr id="15" name="Text 13"/>
          <p:cNvSpPr txBox="1"/>
          <p:nvPr/>
        </p:nvSpPr>
        <p:spPr>
          <a:xfrm>
            <a:off x="777240" y="4285488"/>
            <a:ext cx="3058058" cy="158496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Millores en higiene (aigua potable i clavegueram), en sanitat (vacunes i hospitals) i en alimentació.</a:t>
            </a:r>
            <a:endParaRPr lang="en-US" sz="1450" dirty="0"/>
          </a:p>
        </p:txBody>
      </p:sp>
      <p:sp>
        <p:nvSpPr>
          <p:cNvPr id="16" name="Targeta Catalunya, per davant"/>
          <p:cNvSpPr/>
          <p:nvPr/>
        </p:nvSpPr>
        <p:spPr>
          <a:xfrm>
            <a:off x="4338218" y="3474720"/>
            <a:ext cx="3515258" cy="2514600"/>
          </a:xfrm>
          <a:prstGeom prst="roundRect">
            <a:avLst>
              <a:gd name="adj" fmla="val 4000"/>
            </a:avLst>
          </a:prstGeom>
          <a:solidFill>
            <a:srgbClr val="FFFFFF"/>
          </a:solidFill>
          <a:ln w="12700">
            <a:solidFill>
              <a:srgbClr val="DADCE0"/>
            </a:solidFill>
            <a:prstDash val="solid"/>
          </a:ln>
        </p:spPr>
      </p:sp>
      <p:sp>
        <p:nvSpPr>
          <p:cNvPr id="17" name="Text 15"/>
          <p:cNvSpPr txBox="1"/>
          <p:nvPr/>
        </p:nvSpPr>
        <p:spPr>
          <a:xfrm>
            <a:off x="4566818" y="365760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Catalunya, per davant</a:t>
            </a:r>
            <a:endParaRPr lang="en-US" sz="1700" dirty="0"/>
          </a:p>
        </p:txBody>
      </p:sp>
      <p:sp>
        <p:nvSpPr>
          <p:cNvPr id="18" name="Text 16"/>
          <p:cNvSpPr txBox="1"/>
          <p:nvPr/>
        </p:nvSpPr>
        <p:spPr>
          <a:xfrm>
            <a:off x="4566818" y="4026408"/>
            <a:ext cx="3058058" cy="18440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La natalitat i la mortalitat hi baixen abans. El creixement depèn cada cop més de la immigració d'altres zones d'Espanya.</a:t>
            </a:r>
            <a:endParaRPr lang="en-US" sz="1450" dirty="0"/>
          </a:p>
        </p:txBody>
      </p:sp>
      <p:sp>
        <p:nvSpPr>
          <p:cNvPr id="19" name="Targeta Una població que es mou"/>
          <p:cNvSpPr/>
          <p:nvPr/>
        </p:nvSpPr>
        <p:spPr>
          <a:xfrm>
            <a:off x="8127797" y="3474720"/>
            <a:ext cx="3515258" cy="2514600"/>
          </a:xfrm>
          <a:prstGeom prst="roundRect">
            <a:avLst>
              <a:gd name="adj" fmla="val 4000"/>
            </a:avLst>
          </a:prstGeom>
          <a:solidFill>
            <a:srgbClr val="FFFFFF"/>
          </a:solidFill>
          <a:ln w="12700">
            <a:solidFill>
              <a:srgbClr val="DADCE0"/>
            </a:solidFill>
            <a:prstDash val="solid"/>
          </a:ln>
        </p:spPr>
      </p:sp>
      <p:sp>
        <p:nvSpPr>
          <p:cNvPr id="20" name="Text 18"/>
          <p:cNvSpPr txBox="1"/>
          <p:nvPr/>
        </p:nvSpPr>
        <p:spPr>
          <a:xfrm>
            <a:off x="8356397" y="3657600"/>
            <a:ext cx="3058058"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Una població que es mou</a:t>
            </a:r>
            <a:endParaRPr lang="en-US" sz="1700" dirty="0"/>
          </a:p>
        </p:txBody>
      </p:sp>
      <p:sp>
        <p:nvSpPr>
          <p:cNvPr id="21" name="Text 19"/>
          <p:cNvSpPr txBox="1"/>
          <p:nvPr/>
        </p:nvSpPr>
        <p:spPr>
          <a:xfrm>
            <a:off x="8356397" y="4026408"/>
            <a:ext cx="3058058" cy="18440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Emigració a Amèrica i èxode rural, del camp a les ciutats. Barcelona supera el milió d'habitants el 1930.</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L'agricultura i el problema de la terra</a:t>
            </a:r>
            <a:endParaRPr lang="en-US" sz="2800" dirty="0"/>
          </a:p>
        </p:txBody>
      </p:sp>
      <p:sp>
        <p:nvSpPr>
          <p:cNvPr id="5" name="Text 3"/>
          <p:cNvSpPr txBox="1"/>
          <p:nvPr/>
        </p:nvSpPr>
        <p:spPr>
          <a:xfrm>
            <a:off x="548640" y="1417320"/>
            <a:ext cx="11094415" cy="45720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L'agricultura ocupava la majoria de la població activa, però tenia una productivitat baixa i una propietat molt mal repartida.</a:t>
            </a:r>
            <a:endParaRPr lang="en-US" sz="1600" dirty="0"/>
          </a:p>
        </p:txBody>
      </p:sp>
      <p:sp>
        <p:nvSpPr>
          <p:cNvPr id="6" name="Targeta Latifundi"/>
          <p:cNvSpPr/>
          <p:nvPr/>
        </p:nvSpPr>
        <p:spPr>
          <a:xfrm>
            <a:off x="548640" y="2057400"/>
            <a:ext cx="2606040" cy="2377440"/>
          </a:xfrm>
          <a:prstGeom prst="roundRect">
            <a:avLst>
              <a:gd name="adj" fmla="val 4231"/>
            </a:avLst>
          </a:prstGeom>
          <a:solidFill>
            <a:srgbClr val="FFFFFF"/>
          </a:solidFill>
          <a:ln w="12700">
            <a:solidFill>
              <a:srgbClr val="DADCE0"/>
            </a:solidFill>
            <a:prstDash val="solid"/>
          </a:ln>
        </p:spPr>
      </p:sp>
      <p:sp>
        <p:nvSpPr>
          <p:cNvPr id="7" name="Text 5"/>
          <p:cNvSpPr txBox="1"/>
          <p:nvPr/>
        </p:nvSpPr>
        <p:spPr>
          <a:xfrm>
            <a:off x="777240" y="2240280"/>
            <a:ext cx="2148840"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Latifundi</a:t>
            </a:r>
            <a:endParaRPr lang="en-US" sz="1700" dirty="0"/>
          </a:p>
        </p:txBody>
      </p:sp>
      <p:sp>
        <p:nvSpPr>
          <p:cNvPr id="8" name="Text 6"/>
          <p:cNvSpPr txBox="1"/>
          <p:nvPr/>
        </p:nvSpPr>
        <p:spPr>
          <a:xfrm>
            <a:off x="777240" y="2609088"/>
            <a:ext cx="2148840" cy="17068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Grans finques de propietaris sovint absentistes, a l'Andalusia occidental, Extremadura i Castella-la Manxa. Les treballen jornalers sense terra.</a:t>
            </a:r>
            <a:endParaRPr lang="en-US" sz="1450" dirty="0"/>
          </a:p>
        </p:txBody>
      </p:sp>
      <p:sp>
        <p:nvSpPr>
          <p:cNvPr id="9" name="Targeta Minifundi"/>
          <p:cNvSpPr/>
          <p:nvPr/>
        </p:nvSpPr>
        <p:spPr>
          <a:xfrm>
            <a:off x="3429000" y="2057400"/>
            <a:ext cx="2606040" cy="2377440"/>
          </a:xfrm>
          <a:prstGeom prst="roundRect">
            <a:avLst>
              <a:gd name="adj" fmla="val 4231"/>
            </a:avLst>
          </a:prstGeom>
          <a:solidFill>
            <a:srgbClr val="FFFFFF"/>
          </a:solidFill>
          <a:ln w="12700">
            <a:solidFill>
              <a:srgbClr val="DADCE0"/>
            </a:solidFill>
            <a:prstDash val="solid"/>
          </a:ln>
        </p:spPr>
      </p:sp>
      <p:sp>
        <p:nvSpPr>
          <p:cNvPr id="10" name="Text 8"/>
          <p:cNvSpPr txBox="1"/>
          <p:nvPr/>
        </p:nvSpPr>
        <p:spPr>
          <a:xfrm>
            <a:off x="3657600" y="2240280"/>
            <a:ext cx="2148840"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Minifundi</a:t>
            </a:r>
            <a:endParaRPr lang="en-US" sz="1700" dirty="0"/>
          </a:p>
        </p:txBody>
      </p:sp>
      <p:sp>
        <p:nvSpPr>
          <p:cNvPr id="11" name="Text 9"/>
          <p:cNvSpPr txBox="1"/>
          <p:nvPr/>
        </p:nvSpPr>
        <p:spPr>
          <a:xfrm>
            <a:off x="3657600" y="2609088"/>
            <a:ext cx="2148840" cy="17068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Al nord, explotacions tan petites que amb prou feines donaven per viure.</a:t>
            </a:r>
            <a:endParaRPr lang="en-US" sz="1450" dirty="0"/>
          </a:p>
        </p:txBody>
      </p:sp>
      <p:sp>
        <p:nvSpPr>
          <p:cNvPr id="12" name="Per què és important"/>
          <p:cNvSpPr/>
          <p:nvPr/>
        </p:nvSpPr>
        <p:spPr>
          <a:xfrm>
            <a:off x="548640" y="4617720"/>
            <a:ext cx="5486400" cy="1371600"/>
          </a:xfrm>
          <a:prstGeom prst="roundRect">
            <a:avLst>
              <a:gd name="adj" fmla="val 7333"/>
            </a:avLst>
          </a:prstGeom>
          <a:solidFill>
            <a:srgbClr val="F6F8FB"/>
          </a:solidFill>
          <a:ln/>
        </p:spPr>
      </p:sp>
      <p:sp>
        <p:nvSpPr>
          <p:cNvPr id="13" name="Text 11"/>
          <p:cNvSpPr txBox="1"/>
          <p:nvPr/>
        </p:nvSpPr>
        <p:spPr>
          <a:xfrm>
            <a:off x="868680" y="4773168"/>
            <a:ext cx="484632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Per què és important</a:t>
            </a:r>
            <a:endParaRPr lang="en-US" sz="1400" dirty="0"/>
          </a:p>
        </p:txBody>
      </p:sp>
      <p:sp>
        <p:nvSpPr>
          <p:cNvPr id="14" name="Text 12"/>
          <p:cNvSpPr txBox="1"/>
          <p:nvPr/>
        </p:nvSpPr>
        <p:spPr>
          <a:xfrm>
            <a:off x="868680" y="5120640"/>
            <a:ext cx="4846320" cy="731520"/>
          </a:xfrm>
          <a:prstGeom prst="rect">
            <a:avLst/>
          </a:prstGeom>
          <a:noFill/>
          <a:ln/>
        </p:spPr>
        <p:txBody>
          <a:bodyPr wrap="square" lIns="0" tIns="0" rIns="0" bIns="0" rtlCol="0" anchor="t"/>
          <a:lstStyle/>
          <a:p>
            <a:pPr indent="0" marL="0">
              <a:buNone/>
            </a:pPr>
            <a:r>
              <a:rPr lang="en-US" sz="1400" dirty="0">
                <a:solidFill>
                  <a:srgbClr val="5F6368"/>
                </a:solidFill>
                <a:latin typeface="Roboto" pitchFamily="34" charset="0"/>
                <a:ea typeface="Roboto" pitchFamily="34" charset="-122"/>
                <a:cs typeface="Roboto" pitchFamily="34" charset="-120"/>
              </a:rPr>
              <a:t>El problema de la terra explica la força de l'anarquisme al camp andalús i revoltes com les del trienni bolxevic (1918-1920). Serà un dels grans reptes de la Segona República.</a:t>
            </a:r>
            <a:endParaRPr lang="en-US" sz="1400" dirty="0"/>
          </a:p>
        </p:txBody>
      </p:sp>
      <p:sp>
        <p:nvSpPr>
          <p:cNvPr id="15" name="Catalunya"/>
          <p:cNvSpPr/>
          <p:nvPr/>
        </p:nvSpPr>
        <p:spPr>
          <a:xfrm>
            <a:off x="6355080" y="2057400"/>
            <a:ext cx="5287975" cy="3931920"/>
          </a:xfrm>
          <a:prstGeom prst="roundRect">
            <a:avLst>
              <a:gd name="adj" fmla="val 2558"/>
            </a:avLst>
          </a:prstGeom>
          <a:solidFill>
            <a:srgbClr val="FFFFFF"/>
          </a:solidFill>
          <a:ln w="12700">
            <a:solidFill>
              <a:srgbClr val="DADCE0"/>
            </a:solidFill>
            <a:prstDash val="solid"/>
          </a:ln>
        </p:spPr>
      </p:sp>
      <p:sp>
        <p:nvSpPr>
          <p:cNvPr id="16" name="Text 14"/>
          <p:cNvSpPr txBox="1"/>
          <p:nvPr/>
        </p:nvSpPr>
        <p:spPr>
          <a:xfrm>
            <a:off x="6629400" y="2240280"/>
            <a:ext cx="4754880"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Catalunya, la rabassa morta</a:t>
            </a:r>
            <a:endParaRPr lang="en-US" sz="1700" dirty="0"/>
          </a:p>
        </p:txBody>
      </p:sp>
      <p:sp>
        <p:nvSpPr>
          <p:cNvPr id="17" name="Text 15"/>
          <p:cNvSpPr txBox="1"/>
          <p:nvPr/>
        </p:nvSpPr>
        <p:spPr>
          <a:xfrm>
            <a:off x="6629400" y="2697480"/>
            <a:ext cx="4739335" cy="3200400"/>
          </a:xfrm>
          <a:prstGeom prst="rect">
            <a:avLst/>
          </a:prstGeom>
          <a:noFill/>
          <a:ln/>
        </p:spPr>
        <p:txBody>
          <a:bodyPr wrap="square" lIns="0" tIns="0" rIns="0" bIns="0" rtlCol="0" anchor="t"/>
          <a:lstStyle/>
          <a:p>
            <a:pPr indent="0" marL="0">
              <a:spcAft>
                <a:spcPts val="800"/>
              </a:spcAft>
              <a:buNone/>
            </a:pPr>
            <a:r>
              <a:rPr lang="en-US" sz="1450" dirty="0">
                <a:solidFill>
                  <a:srgbClr val="202124"/>
                </a:solidFill>
                <a:latin typeface="Roboto" pitchFamily="34" charset="0"/>
                <a:ea typeface="Roboto" pitchFamily="34" charset="-122"/>
                <a:cs typeface="Roboto" pitchFamily="34" charset="-120"/>
              </a:rPr>
              <a:t>El propietari cedia una terra al rabassaire perquè hi plantés vinya. El contracte durava mentre visquessin dos terços dels primers ceps.</a:t>
            </a:r>
            <a:endParaRPr lang="en-US" sz="1450" dirty="0"/>
          </a:p>
          <a:p>
            <a:pPr indent="0" marL="0">
              <a:spcAft>
                <a:spcPts val="800"/>
              </a:spcAft>
              <a:buNone/>
            </a:pPr>
            <a:r>
              <a:rPr lang="en-US" sz="1450" dirty="0">
                <a:solidFill>
                  <a:srgbClr val="202124"/>
                </a:solidFill>
                <a:latin typeface="Roboto" pitchFamily="34" charset="0"/>
                <a:ea typeface="Roboto" pitchFamily="34" charset="-122"/>
                <a:cs typeface="Roboto" pitchFamily="34" charset="-120"/>
              </a:rPr>
              <a:t>La fil·loxera, un insecte que destrueix les arrels dels ceps, arriba a l'Empordà (1879) i al Penedès (1887). Els propietaris donen els contractes per acabats.</a:t>
            </a:r>
            <a:endParaRPr lang="en-US" sz="1450" dirty="0"/>
          </a:p>
          <a:p>
            <a:pPr indent="0" marL="0">
              <a:spcAft>
                <a:spcPts val="800"/>
              </a:spcAft>
              <a:buNone/>
            </a:pPr>
            <a:r>
              <a:rPr lang="en-US" sz="1450" dirty="0">
                <a:solidFill>
                  <a:srgbClr val="202124"/>
                </a:solidFill>
                <a:latin typeface="Roboto" pitchFamily="34" charset="0"/>
                <a:ea typeface="Roboto" pitchFamily="34" charset="-122"/>
                <a:cs typeface="Roboto" pitchFamily="34" charset="-120"/>
              </a:rPr>
              <a:t>Els rabassaires s'organitzen, i el conflicte marca la política catalana fins a la Guerra Civil.</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industrialització desigual</a:t>
            </a:r>
            <a:endParaRPr lang="en-US" sz="2800" dirty="0"/>
          </a:p>
        </p:txBody>
      </p:sp>
      <p:sp>
        <p:nvSpPr>
          <p:cNvPr id="5" name="Targeta Catalunya"/>
          <p:cNvSpPr/>
          <p:nvPr/>
        </p:nvSpPr>
        <p:spPr>
          <a:xfrm>
            <a:off x="548640" y="1417320"/>
            <a:ext cx="2133600" cy="2286000"/>
          </a:xfrm>
          <a:prstGeom prst="roundRect">
            <a:avLst>
              <a:gd name="adj" fmla="val 4714"/>
            </a:avLst>
          </a:prstGeom>
          <a:solidFill>
            <a:srgbClr val="FFFFFF"/>
          </a:solidFill>
          <a:ln w="12700">
            <a:solidFill>
              <a:srgbClr val="DADCE0"/>
            </a:solidFill>
            <a:prstDash val="solid"/>
          </a:ln>
        </p:spPr>
      </p:sp>
      <p:sp>
        <p:nvSpPr>
          <p:cNvPr id="6" name="Text 4"/>
          <p:cNvSpPr txBox="1"/>
          <p:nvPr/>
        </p:nvSpPr>
        <p:spPr>
          <a:xfrm>
            <a:off x="777240" y="1600200"/>
            <a:ext cx="1676400"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Catalunya</a:t>
            </a:r>
            <a:endParaRPr lang="en-US" sz="1700" dirty="0"/>
          </a:p>
        </p:txBody>
      </p:sp>
      <p:sp>
        <p:nvSpPr>
          <p:cNvPr id="7" name="Text 5"/>
          <p:cNvSpPr txBox="1"/>
          <p:nvPr/>
        </p:nvSpPr>
        <p:spPr>
          <a:xfrm>
            <a:off x="777240" y="1969008"/>
            <a:ext cx="1676400" cy="161544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El tèxtil del cotó. Moltes fàbriques al costat del Llobregat o el Ter, per aprofitar la força de l'aigua.</a:t>
            </a:r>
            <a:endParaRPr lang="en-US" sz="1400" dirty="0"/>
          </a:p>
        </p:txBody>
      </p:sp>
      <p:sp>
        <p:nvSpPr>
          <p:cNvPr id="8" name="Targeta País Basc"/>
          <p:cNvSpPr/>
          <p:nvPr/>
        </p:nvSpPr>
        <p:spPr>
          <a:xfrm>
            <a:off x="2956560" y="1417320"/>
            <a:ext cx="2133600" cy="2286000"/>
          </a:xfrm>
          <a:prstGeom prst="roundRect">
            <a:avLst>
              <a:gd name="adj" fmla="val 4714"/>
            </a:avLst>
          </a:prstGeom>
          <a:solidFill>
            <a:srgbClr val="FFFFFF"/>
          </a:solidFill>
          <a:ln w="12700">
            <a:solidFill>
              <a:srgbClr val="DADCE0"/>
            </a:solidFill>
            <a:prstDash val="solid"/>
          </a:ln>
        </p:spPr>
      </p:sp>
      <p:sp>
        <p:nvSpPr>
          <p:cNvPr id="9" name="Text 7"/>
          <p:cNvSpPr txBox="1"/>
          <p:nvPr/>
        </p:nvSpPr>
        <p:spPr>
          <a:xfrm>
            <a:off x="3185160" y="1600200"/>
            <a:ext cx="1676400"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País Basc</a:t>
            </a:r>
            <a:endParaRPr lang="en-US" sz="1700" dirty="0"/>
          </a:p>
        </p:txBody>
      </p:sp>
      <p:sp>
        <p:nvSpPr>
          <p:cNvPr id="10" name="Text 8"/>
          <p:cNvSpPr txBox="1"/>
          <p:nvPr/>
        </p:nvSpPr>
        <p:spPr>
          <a:xfrm>
            <a:off x="3185160" y="1969008"/>
            <a:ext cx="1676400" cy="161544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El ferro exportat a la Gran Bretanya finança una gran siderúrgia, com Altos Hornos de Vizcaya (1902), i bancs potents.</a:t>
            </a:r>
            <a:endParaRPr lang="en-US" sz="1400" dirty="0"/>
          </a:p>
        </p:txBody>
      </p:sp>
      <p:sp>
        <p:nvSpPr>
          <p:cNvPr id="11" name="Targeta Astúries"/>
          <p:cNvSpPr/>
          <p:nvPr/>
        </p:nvSpPr>
        <p:spPr>
          <a:xfrm>
            <a:off x="5364480" y="1417320"/>
            <a:ext cx="2133600" cy="2286000"/>
          </a:xfrm>
          <a:prstGeom prst="roundRect">
            <a:avLst>
              <a:gd name="adj" fmla="val 4714"/>
            </a:avLst>
          </a:prstGeom>
          <a:solidFill>
            <a:srgbClr val="FFFFFF"/>
          </a:solidFill>
          <a:ln w="12700">
            <a:solidFill>
              <a:srgbClr val="DADCE0"/>
            </a:solidFill>
            <a:prstDash val="solid"/>
          </a:ln>
        </p:spPr>
      </p:sp>
      <p:sp>
        <p:nvSpPr>
          <p:cNvPr id="12" name="Text 10"/>
          <p:cNvSpPr txBox="1"/>
          <p:nvPr/>
        </p:nvSpPr>
        <p:spPr>
          <a:xfrm>
            <a:off x="5593080" y="1600200"/>
            <a:ext cx="1676400" cy="259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Astúries</a:t>
            </a:r>
            <a:endParaRPr lang="en-US" sz="1700" dirty="0"/>
          </a:p>
        </p:txBody>
      </p:sp>
      <p:sp>
        <p:nvSpPr>
          <p:cNvPr id="13" name="Text 11"/>
          <p:cNvSpPr txBox="1"/>
          <p:nvPr/>
        </p:nvSpPr>
        <p:spPr>
          <a:xfrm>
            <a:off x="5593080" y="1969008"/>
            <a:ext cx="1676400" cy="161544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La mineria del carbó.</a:t>
            </a:r>
            <a:endParaRPr lang="en-US" sz="1400" dirty="0"/>
          </a:p>
        </p:txBody>
      </p:sp>
      <p:sp>
        <p:nvSpPr>
          <p:cNvPr id="14" name="Colònies industrials"/>
          <p:cNvSpPr/>
          <p:nvPr/>
        </p:nvSpPr>
        <p:spPr>
          <a:xfrm>
            <a:off x="548640" y="3886200"/>
            <a:ext cx="3337560" cy="2103120"/>
          </a:xfrm>
          <a:prstGeom prst="roundRect">
            <a:avLst>
              <a:gd name="adj" fmla="val 4783"/>
            </a:avLst>
          </a:prstGeom>
          <a:solidFill>
            <a:srgbClr val="FDE7F3"/>
          </a:solidFill>
          <a:ln/>
        </p:spPr>
      </p:sp>
      <p:sp>
        <p:nvSpPr>
          <p:cNvPr id="15" name="Text 13"/>
          <p:cNvSpPr txBox="1"/>
          <p:nvPr/>
        </p:nvSpPr>
        <p:spPr>
          <a:xfrm>
            <a:off x="868680" y="4041648"/>
            <a:ext cx="269748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Colònies industrials</a:t>
            </a:r>
            <a:endParaRPr lang="en-US" sz="1400" dirty="0"/>
          </a:p>
        </p:txBody>
      </p:sp>
      <p:sp>
        <p:nvSpPr>
          <p:cNvPr id="16" name="Text 14"/>
          <p:cNvSpPr txBox="1"/>
          <p:nvPr/>
        </p:nvSpPr>
        <p:spPr>
          <a:xfrm>
            <a:off x="868680" y="4389120"/>
            <a:ext cx="2697480" cy="146304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Al costat de la fàbrica, l'amo construïa els habitatges dels obrers, l'església, l'escola i la botiga, i controlava tota la vida dels treballadors.</a:t>
            </a:r>
            <a:endParaRPr lang="en-US" sz="1400" dirty="0"/>
          </a:p>
        </p:txBody>
      </p:sp>
      <p:sp>
        <p:nvSpPr>
          <p:cNvPr id="17" name="Proteccionisme"/>
          <p:cNvSpPr/>
          <p:nvPr/>
        </p:nvSpPr>
        <p:spPr>
          <a:xfrm>
            <a:off x="4160520" y="3886200"/>
            <a:ext cx="3337560" cy="2103120"/>
          </a:xfrm>
          <a:prstGeom prst="roundRect">
            <a:avLst>
              <a:gd name="adj" fmla="val 4783"/>
            </a:avLst>
          </a:prstGeom>
          <a:solidFill>
            <a:srgbClr val="FDE7F3"/>
          </a:solidFill>
          <a:ln/>
        </p:spPr>
      </p:sp>
      <p:sp>
        <p:nvSpPr>
          <p:cNvPr id="18" name="Text 16"/>
          <p:cNvSpPr txBox="1"/>
          <p:nvPr/>
        </p:nvSpPr>
        <p:spPr>
          <a:xfrm>
            <a:off x="4480560" y="4041648"/>
            <a:ext cx="269748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Proteccionisme</a:t>
            </a:r>
            <a:endParaRPr lang="en-US" sz="1400" dirty="0"/>
          </a:p>
        </p:txBody>
      </p:sp>
      <p:sp>
        <p:nvSpPr>
          <p:cNvPr id="19" name="Text 17"/>
          <p:cNvSpPr txBox="1"/>
          <p:nvPr/>
        </p:nvSpPr>
        <p:spPr>
          <a:xfrm>
            <a:off x="4480560" y="4389120"/>
            <a:ext cx="2697480" cy="146304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Aranzels alts que encareixen els productes estrangers i reserven el mercat espanyol i el colonial. Aranzel de 1891. Per això la pèrdua de Cuba va ser un cop dur per al tèxtil.</a:t>
            </a:r>
            <a:endParaRPr lang="en-US" sz="1400" dirty="0"/>
          </a:p>
        </p:txBody>
      </p:sp>
      <p:sp>
        <p:nvSpPr>
          <p:cNvPr id="20" name="Segona revolució industrial"/>
          <p:cNvSpPr/>
          <p:nvPr/>
        </p:nvSpPr>
        <p:spPr>
          <a:xfrm>
            <a:off x="7772400" y="1417320"/>
            <a:ext cx="3870655" cy="4572000"/>
          </a:xfrm>
          <a:prstGeom prst="roundRect">
            <a:avLst>
              <a:gd name="adj" fmla="val 2599"/>
            </a:avLst>
          </a:prstGeom>
          <a:solidFill>
            <a:srgbClr val="FFFFFF"/>
          </a:solidFill>
          <a:ln w="12700">
            <a:solidFill>
              <a:srgbClr val="DADCE0"/>
            </a:solidFill>
            <a:prstDash val="solid"/>
          </a:ln>
        </p:spPr>
      </p:sp>
      <p:sp>
        <p:nvSpPr>
          <p:cNvPr id="21" name="Text 19"/>
          <p:cNvSpPr txBox="1"/>
          <p:nvPr/>
        </p:nvSpPr>
        <p:spPr>
          <a:xfrm>
            <a:off x="8001000" y="1600200"/>
            <a:ext cx="3413455" cy="640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La segona revolució industrial</a:t>
            </a:r>
            <a:endParaRPr lang="en-US" sz="1700" dirty="0"/>
          </a:p>
        </p:txBody>
      </p:sp>
      <p:sp>
        <p:nvSpPr>
          <p:cNvPr id="22" name="Text 20"/>
          <p:cNvSpPr txBox="1"/>
          <p:nvPr/>
        </p:nvSpPr>
        <p:spPr>
          <a:xfrm>
            <a:off x="8001000" y="2286000"/>
            <a:ext cx="3413455" cy="3566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202124"/>
                </a:solidFill>
                <a:latin typeface="Roboto" pitchFamily="34" charset="0"/>
                <a:ea typeface="Roboto" pitchFamily="34" charset="-122"/>
                <a:cs typeface="Roboto" pitchFamily="34" charset="-120"/>
              </a:rPr>
              <a:t>L'electricitat permet fàbriques lluny dels rius i del carbó.</a:t>
            </a:r>
            <a:endParaRPr lang="en-US" sz="1400" dirty="0"/>
          </a:p>
          <a:p>
            <a:pPr marL="177800" indent="-177800">
              <a:spcAft>
                <a:spcPts val="600"/>
              </a:spcAft>
              <a:buSzPct val="100000"/>
              <a:buChar char="•"/>
            </a:pPr>
            <a:r>
              <a:rPr lang="en-US" sz="1400" dirty="0">
                <a:solidFill>
                  <a:srgbClr val="202124"/>
                </a:solidFill>
                <a:latin typeface="Roboto" pitchFamily="34" charset="0"/>
                <a:ea typeface="Roboto" pitchFamily="34" charset="-122"/>
                <a:cs typeface="Roboto" pitchFamily="34" charset="-120"/>
              </a:rPr>
              <a:t>La Canadenca porta energia hidroelèctrica dels Pirineus a partir de 1911.</a:t>
            </a:r>
            <a:endParaRPr lang="en-US" sz="1400" dirty="0"/>
          </a:p>
          <a:p>
            <a:pPr marL="177800" indent="-177800">
              <a:spcAft>
                <a:spcPts val="600"/>
              </a:spcAft>
              <a:buSzPct val="100000"/>
              <a:buChar char="•"/>
            </a:pPr>
            <a:r>
              <a:rPr lang="en-US" sz="1400" dirty="0">
                <a:solidFill>
                  <a:srgbClr val="202124"/>
                </a:solidFill>
                <a:latin typeface="Roboto" pitchFamily="34" charset="0"/>
                <a:ea typeface="Roboto" pitchFamily="34" charset="-122"/>
                <a:cs typeface="Roboto" pitchFamily="34" charset="-120"/>
              </a:rPr>
              <a:t>Nous sectors, el químic, el metal·lúrgic i l'automobilístic (Hispano-Suiza, 1904).</a:t>
            </a:r>
            <a:endParaRPr lang="en-US" sz="1400" dirty="0"/>
          </a:p>
          <a:p>
            <a:pPr marL="177800" indent="-177800">
              <a:spcAft>
                <a:spcPts val="600"/>
              </a:spcAft>
              <a:buSzPct val="100000"/>
              <a:buChar char="•"/>
            </a:pPr>
            <a:r>
              <a:rPr lang="en-US" sz="1400" dirty="0">
                <a:solidFill>
                  <a:srgbClr val="202124"/>
                </a:solidFill>
                <a:latin typeface="Roboto" pitchFamily="34" charset="0"/>
                <a:ea typeface="Roboto" pitchFamily="34" charset="-122"/>
                <a:cs typeface="Roboto" pitchFamily="34" charset="-120"/>
              </a:rPr>
              <a:t>La neutralitat a la Primera Guerra Mundial dispara exportacions, beneficis i preus.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primers drets socials</a:t>
            </a:r>
            <a:endParaRPr lang="en-US" sz="2800" dirty="0"/>
          </a:p>
        </p:txBody>
      </p:sp>
      <p:sp>
        <p:nvSpPr>
          <p:cNvPr id="5" name="Text 3"/>
          <p:cNvSpPr txBox="1"/>
          <p:nvPr/>
        </p:nvSpPr>
        <p:spPr>
          <a:xfrm>
            <a:off x="548640" y="1417320"/>
            <a:ext cx="11094415" cy="7772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El liberalisme considerava que l'Estat no havia d'intervenir entre patrons i obrers. La pressió obrera, la por a la revolució i les idees reformistes, com l'encíclica Rerum Novarum (1891), van canviar aquesta actitud.</a:t>
            </a:r>
            <a:endParaRPr lang="en-US" sz="1550" dirty="0"/>
          </a:p>
        </p:txBody>
      </p:sp>
      <p:sp>
        <p:nvSpPr>
          <p:cNvPr id="6" name="Línia del temps"/>
          <p:cNvSpPr/>
          <p:nvPr/>
        </p:nvSpPr>
        <p:spPr>
          <a:xfrm>
            <a:off x="649224" y="2514600"/>
            <a:ext cx="0" cy="2834640"/>
          </a:xfrm>
          <a:prstGeom prst="line">
            <a:avLst/>
          </a:prstGeom>
          <a:noFill/>
          <a:ln w="31750">
            <a:solidFill>
              <a:srgbClr val="DADCE0"/>
            </a:solidFill>
            <a:prstDash val="solid"/>
          </a:ln>
        </p:spPr>
      </p:sp>
      <p:sp>
        <p:nvSpPr>
          <p:cNvPr id="7" name="Fita 1900"/>
          <p:cNvSpPr/>
          <p:nvPr/>
        </p:nvSpPr>
        <p:spPr>
          <a:xfrm>
            <a:off x="548640" y="2414016"/>
            <a:ext cx="201168" cy="201168"/>
          </a:xfrm>
          <a:prstGeom prst="ellipse">
            <a:avLst/>
          </a:prstGeom>
          <a:solidFill>
            <a:srgbClr val="FFFFFF"/>
          </a:solidFill>
          <a:ln w="28575">
            <a:solidFill>
              <a:srgbClr val="B80672"/>
            </a:solidFill>
            <a:prstDash val="solid"/>
          </a:ln>
        </p:spPr>
      </p:sp>
      <p:sp>
        <p:nvSpPr>
          <p:cNvPr id="8" name="Text 6"/>
          <p:cNvSpPr txBox="1"/>
          <p:nvPr/>
        </p:nvSpPr>
        <p:spPr>
          <a:xfrm>
            <a:off x="932688" y="2377440"/>
            <a:ext cx="73152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1900</a:t>
            </a:r>
            <a:endParaRPr lang="en-US" sz="1450" dirty="0"/>
          </a:p>
        </p:txBody>
      </p:sp>
      <p:sp>
        <p:nvSpPr>
          <p:cNvPr id="9" name="Text 7"/>
          <p:cNvSpPr txBox="1"/>
          <p:nvPr/>
        </p:nvSpPr>
        <p:spPr>
          <a:xfrm>
            <a:off x="1664208" y="2377440"/>
            <a:ext cx="4919472" cy="521208"/>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Llei d'accidents de treball i regulació del treball de dones i infants.</a:t>
            </a:r>
            <a:endParaRPr lang="en-US" sz="1450" dirty="0"/>
          </a:p>
        </p:txBody>
      </p:sp>
      <p:sp>
        <p:nvSpPr>
          <p:cNvPr id="10" name="Fita 1903"/>
          <p:cNvSpPr/>
          <p:nvPr/>
        </p:nvSpPr>
        <p:spPr>
          <a:xfrm>
            <a:off x="548640" y="2980944"/>
            <a:ext cx="201168" cy="201168"/>
          </a:xfrm>
          <a:prstGeom prst="ellipse">
            <a:avLst/>
          </a:prstGeom>
          <a:solidFill>
            <a:srgbClr val="FFFFFF"/>
          </a:solidFill>
          <a:ln w="28575">
            <a:solidFill>
              <a:srgbClr val="B80672"/>
            </a:solidFill>
            <a:prstDash val="solid"/>
          </a:ln>
        </p:spPr>
      </p:sp>
      <p:sp>
        <p:nvSpPr>
          <p:cNvPr id="11" name="Text 9"/>
          <p:cNvSpPr txBox="1"/>
          <p:nvPr/>
        </p:nvSpPr>
        <p:spPr>
          <a:xfrm>
            <a:off x="932688" y="2944368"/>
            <a:ext cx="73152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1903</a:t>
            </a:r>
            <a:endParaRPr lang="en-US" sz="1450" dirty="0"/>
          </a:p>
        </p:txBody>
      </p:sp>
      <p:sp>
        <p:nvSpPr>
          <p:cNvPr id="12" name="Text 10"/>
          <p:cNvSpPr txBox="1"/>
          <p:nvPr/>
        </p:nvSpPr>
        <p:spPr>
          <a:xfrm>
            <a:off x="1664208" y="2944368"/>
            <a:ext cx="4919472" cy="521208"/>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Institut de Reformes Socials.</a:t>
            </a:r>
            <a:endParaRPr lang="en-US" sz="1450" dirty="0"/>
          </a:p>
        </p:txBody>
      </p:sp>
      <p:sp>
        <p:nvSpPr>
          <p:cNvPr id="13" name="Fita 1904"/>
          <p:cNvSpPr/>
          <p:nvPr/>
        </p:nvSpPr>
        <p:spPr>
          <a:xfrm>
            <a:off x="548640" y="3547872"/>
            <a:ext cx="201168" cy="201168"/>
          </a:xfrm>
          <a:prstGeom prst="ellipse">
            <a:avLst/>
          </a:prstGeom>
          <a:solidFill>
            <a:srgbClr val="FFFFFF"/>
          </a:solidFill>
          <a:ln w="28575">
            <a:solidFill>
              <a:srgbClr val="B80672"/>
            </a:solidFill>
            <a:prstDash val="solid"/>
          </a:ln>
        </p:spPr>
      </p:sp>
      <p:sp>
        <p:nvSpPr>
          <p:cNvPr id="14" name="Text 12"/>
          <p:cNvSpPr txBox="1"/>
          <p:nvPr/>
        </p:nvSpPr>
        <p:spPr>
          <a:xfrm>
            <a:off x="932688" y="3511296"/>
            <a:ext cx="73152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1904</a:t>
            </a:r>
            <a:endParaRPr lang="en-US" sz="1450" dirty="0"/>
          </a:p>
        </p:txBody>
      </p:sp>
      <p:sp>
        <p:nvSpPr>
          <p:cNvPr id="15" name="Text 13"/>
          <p:cNvSpPr txBox="1"/>
          <p:nvPr/>
        </p:nvSpPr>
        <p:spPr>
          <a:xfrm>
            <a:off x="1664208" y="3511296"/>
            <a:ext cx="4919472" cy="521208"/>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Descans dominical.</a:t>
            </a:r>
            <a:endParaRPr lang="en-US" sz="1450" dirty="0"/>
          </a:p>
        </p:txBody>
      </p:sp>
      <p:sp>
        <p:nvSpPr>
          <p:cNvPr id="16" name="Fita 1908"/>
          <p:cNvSpPr/>
          <p:nvPr/>
        </p:nvSpPr>
        <p:spPr>
          <a:xfrm>
            <a:off x="548640" y="4114800"/>
            <a:ext cx="201168" cy="201168"/>
          </a:xfrm>
          <a:prstGeom prst="ellipse">
            <a:avLst/>
          </a:prstGeom>
          <a:solidFill>
            <a:srgbClr val="FFFFFF"/>
          </a:solidFill>
          <a:ln w="28575">
            <a:solidFill>
              <a:srgbClr val="B80672"/>
            </a:solidFill>
            <a:prstDash val="solid"/>
          </a:ln>
        </p:spPr>
      </p:sp>
      <p:sp>
        <p:nvSpPr>
          <p:cNvPr id="17" name="Text 15"/>
          <p:cNvSpPr txBox="1"/>
          <p:nvPr/>
        </p:nvSpPr>
        <p:spPr>
          <a:xfrm>
            <a:off x="932688" y="4078224"/>
            <a:ext cx="73152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1908</a:t>
            </a:r>
            <a:endParaRPr lang="en-US" sz="1450" dirty="0"/>
          </a:p>
        </p:txBody>
      </p:sp>
      <p:sp>
        <p:nvSpPr>
          <p:cNvPr id="18" name="Text 16"/>
          <p:cNvSpPr txBox="1"/>
          <p:nvPr/>
        </p:nvSpPr>
        <p:spPr>
          <a:xfrm>
            <a:off x="1664208" y="4078224"/>
            <a:ext cx="4919472" cy="521208"/>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Institut Nacional de Previsió.</a:t>
            </a:r>
            <a:endParaRPr lang="en-US" sz="1450" dirty="0"/>
          </a:p>
        </p:txBody>
      </p:sp>
      <p:sp>
        <p:nvSpPr>
          <p:cNvPr id="19" name="Fita 1909"/>
          <p:cNvSpPr/>
          <p:nvPr/>
        </p:nvSpPr>
        <p:spPr>
          <a:xfrm>
            <a:off x="548640" y="4681728"/>
            <a:ext cx="201168" cy="201168"/>
          </a:xfrm>
          <a:prstGeom prst="ellipse">
            <a:avLst/>
          </a:prstGeom>
          <a:solidFill>
            <a:srgbClr val="FFFFFF"/>
          </a:solidFill>
          <a:ln w="28575">
            <a:solidFill>
              <a:srgbClr val="B80672"/>
            </a:solidFill>
            <a:prstDash val="solid"/>
          </a:ln>
        </p:spPr>
      </p:sp>
      <p:sp>
        <p:nvSpPr>
          <p:cNvPr id="20" name="Text 18"/>
          <p:cNvSpPr txBox="1"/>
          <p:nvPr/>
        </p:nvSpPr>
        <p:spPr>
          <a:xfrm>
            <a:off x="932688" y="4645152"/>
            <a:ext cx="73152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1909</a:t>
            </a:r>
            <a:endParaRPr lang="en-US" sz="1450" dirty="0"/>
          </a:p>
        </p:txBody>
      </p:sp>
      <p:sp>
        <p:nvSpPr>
          <p:cNvPr id="21" name="Text 19"/>
          <p:cNvSpPr txBox="1"/>
          <p:nvPr/>
        </p:nvSpPr>
        <p:spPr>
          <a:xfrm>
            <a:off x="1664208" y="4645152"/>
            <a:ext cx="4919472" cy="521208"/>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Llei de vagues, que reconeix el dret de vaga.</a:t>
            </a:r>
            <a:endParaRPr lang="en-US" sz="1450" dirty="0"/>
          </a:p>
        </p:txBody>
      </p:sp>
      <p:sp>
        <p:nvSpPr>
          <p:cNvPr id="22" name="Fita 1919"/>
          <p:cNvSpPr/>
          <p:nvPr/>
        </p:nvSpPr>
        <p:spPr>
          <a:xfrm>
            <a:off x="548640" y="5248656"/>
            <a:ext cx="201168" cy="201168"/>
          </a:xfrm>
          <a:prstGeom prst="ellipse">
            <a:avLst/>
          </a:prstGeom>
          <a:solidFill>
            <a:srgbClr val="B80672"/>
          </a:solidFill>
          <a:ln w="28575">
            <a:solidFill>
              <a:srgbClr val="B80672"/>
            </a:solidFill>
            <a:prstDash val="solid"/>
          </a:ln>
        </p:spPr>
      </p:sp>
      <p:sp>
        <p:nvSpPr>
          <p:cNvPr id="23" name="Text 21"/>
          <p:cNvSpPr txBox="1"/>
          <p:nvPr/>
        </p:nvSpPr>
        <p:spPr>
          <a:xfrm>
            <a:off x="932688" y="5212080"/>
            <a:ext cx="731520" cy="292608"/>
          </a:xfrm>
          <a:prstGeom prst="rect">
            <a:avLst/>
          </a:prstGeom>
          <a:noFill/>
          <a:ln/>
        </p:spPr>
        <p:txBody>
          <a:bodyPr wrap="square" lIns="0" tIns="0" rIns="0" bIns="0" rtlCol="0" anchor="t"/>
          <a:lstStyle/>
          <a:p>
            <a:pPr indent="0" marL="0">
              <a:buNone/>
            </a:pPr>
            <a:r>
              <a:rPr lang="en-US" sz="1450" b="1" dirty="0">
                <a:solidFill>
                  <a:srgbClr val="B80672"/>
                </a:solidFill>
                <a:latin typeface="Roboto" pitchFamily="34" charset="0"/>
                <a:ea typeface="Roboto" pitchFamily="34" charset="-122"/>
                <a:cs typeface="Roboto" pitchFamily="34" charset="-120"/>
              </a:rPr>
              <a:t>1919</a:t>
            </a:r>
            <a:endParaRPr lang="en-US" sz="1450" dirty="0"/>
          </a:p>
        </p:txBody>
      </p:sp>
      <p:sp>
        <p:nvSpPr>
          <p:cNvPr id="24" name="Text 22"/>
          <p:cNvSpPr txBox="1"/>
          <p:nvPr/>
        </p:nvSpPr>
        <p:spPr>
          <a:xfrm>
            <a:off x="1664208" y="5212080"/>
            <a:ext cx="4919472" cy="521208"/>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Jornada de vuit hores, després de la vaga de La Canadenca.</a:t>
            </a:r>
            <a:endParaRPr lang="en-US" sz="1450" dirty="0"/>
          </a:p>
        </p:txBody>
      </p:sp>
      <p:sp>
        <p:nvSpPr>
          <p:cNvPr id="25" name="Fons «Una huelga de obreros en Vizcaya», pintura de Vicente Cutanda (1892)"/>
          <p:cNvSpPr/>
          <p:nvPr/>
        </p:nvSpPr>
        <p:spPr>
          <a:xfrm>
            <a:off x="6903720" y="2286000"/>
            <a:ext cx="4739335" cy="2011680"/>
          </a:xfrm>
          <a:prstGeom prst="roundRect">
            <a:avLst>
              <a:gd name="adj" fmla="val 5000"/>
            </a:avLst>
          </a:prstGeom>
          <a:solidFill>
            <a:srgbClr val="F6F8FB"/>
          </a:solidFill>
          <a:ln/>
        </p:spPr>
      </p:sp>
      <p:pic>
        <p:nvPicPr>
          <p:cNvPr id="26" name="«Una huelga de obreros en Vizcaya», pintura de Vicente Cutanda (1892)" descr="/home/claude/historia-2batx/media/tema-1/cutanda.jpg">    </p:cNvPr>
          <p:cNvPicPr>
            <a:picLocks noChangeAspect="1"/>
          </p:cNvPicPr>
          <p:nvPr/>
        </p:nvPicPr>
        <p:blipFill>
          <a:blip r:embed="rId1"/>
          <a:stretch>
            <a:fillRect/>
          </a:stretch>
        </p:blipFill>
        <p:spPr>
          <a:xfrm>
            <a:off x="7290877" y="2286000"/>
            <a:ext cx="3965021" cy="2011680"/>
          </a:xfrm>
          <a:prstGeom prst="rect">
            <a:avLst/>
          </a:prstGeom>
        </p:spPr>
      </p:pic>
      <p:sp>
        <p:nvSpPr>
          <p:cNvPr id="27" name="Text 24"/>
          <p:cNvSpPr txBox="1"/>
          <p:nvPr/>
        </p:nvSpPr>
        <p:spPr>
          <a:xfrm>
            <a:off x="6903720" y="4389120"/>
            <a:ext cx="473933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«Una huelga de obreros en Vizcaya», pintura de Vicente Cutanda (1892). Domini públic, Wikimedia Commons.</a:t>
            </a:r>
            <a:endParaRPr lang="en-US" sz="1000" dirty="0"/>
          </a:p>
        </p:txBody>
      </p:sp>
      <p:sp>
        <p:nvSpPr>
          <p:cNvPr id="28" name="Anarcosindicalisme"/>
          <p:cNvSpPr/>
          <p:nvPr/>
        </p:nvSpPr>
        <p:spPr>
          <a:xfrm>
            <a:off x="6903720" y="4754880"/>
            <a:ext cx="4739335" cy="1234440"/>
          </a:xfrm>
          <a:prstGeom prst="roundRect">
            <a:avLst>
              <a:gd name="adj" fmla="val 8148"/>
            </a:avLst>
          </a:prstGeom>
          <a:solidFill>
            <a:srgbClr val="FDE7F3"/>
          </a:solidFill>
          <a:ln/>
        </p:spPr>
      </p:sp>
      <p:sp>
        <p:nvSpPr>
          <p:cNvPr id="29" name="Text 26"/>
          <p:cNvSpPr txBox="1"/>
          <p:nvPr/>
        </p:nvSpPr>
        <p:spPr>
          <a:xfrm>
            <a:off x="7223760" y="4910328"/>
            <a:ext cx="4099255"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Anarcosindicalisme</a:t>
            </a:r>
            <a:endParaRPr lang="en-US" sz="1400" dirty="0"/>
          </a:p>
        </p:txBody>
      </p:sp>
      <p:sp>
        <p:nvSpPr>
          <p:cNvPr id="30" name="Text 27"/>
          <p:cNvSpPr txBox="1"/>
          <p:nvPr/>
        </p:nvSpPr>
        <p:spPr>
          <a:xfrm>
            <a:off x="7223760" y="5257800"/>
            <a:ext cx="4099255" cy="59436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La CNT (1911), majoritària a Catalunya, rebutja la política i confia en l'acció directa i en la vaga general revolucionària.</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subordinació de les dones</a:t>
            </a:r>
            <a:endParaRPr lang="en-US" sz="2800" dirty="0"/>
          </a:p>
        </p:txBody>
      </p:sp>
      <p:sp>
        <p:nvSpPr>
          <p:cNvPr id="5" name="Ideologia de la domesticitat"/>
          <p:cNvSpPr/>
          <p:nvPr/>
        </p:nvSpPr>
        <p:spPr>
          <a:xfrm>
            <a:off x="548640" y="1417320"/>
            <a:ext cx="3657600" cy="2194560"/>
          </a:xfrm>
          <a:prstGeom prst="roundRect">
            <a:avLst>
              <a:gd name="adj" fmla="val 4583"/>
            </a:avLst>
          </a:prstGeom>
          <a:solidFill>
            <a:srgbClr val="FDE7F3"/>
          </a:solidFill>
          <a:ln/>
        </p:spPr>
      </p:sp>
      <p:sp>
        <p:nvSpPr>
          <p:cNvPr id="6" name="Text 4"/>
          <p:cNvSpPr txBox="1"/>
          <p:nvPr/>
        </p:nvSpPr>
        <p:spPr>
          <a:xfrm>
            <a:off x="868680" y="1572768"/>
            <a:ext cx="301752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Ideologia de la domesticitat</a:t>
            </a:r>
            <a:endParaRPr lang="en-US" sz="1400" dirty="0"/>
          </a:p>
        </p:txBody>
      </p:sp>
      <p:sp>
        <p:nvSpPr>
          <p:cNvPr id="7" name="Text 5"/>
          <p:cNvSpPr txBox="1"/>
          <p:nvPr/>
        </p:nvSpPr>
        <p:spPr>
          <a:xfrm>
            <a:off x="868680" y="1920240"/>
            <a:ext cx="3017520" cy="15544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Defensada per l'Església i la burgesia, destinava les dones a la llar i a la cura dels fills. L'ideal era l'«àngel de la llar», mentre l'home guanyava el pa.</a:t>
            </a:r>
            <a:endParaRPr lang="en-US" sz="1450" dirty="0"/>
          </a:p>
        </p:txBody>
      </p:sp>
      <p:sp>
        <p:nvSpPr>
          <p:cNvPr id="8" name="Les lleis ho confirmaven"/>
          <p:cNvSpPr/>
          <p:nvPr/>
        </p:nvSpPr>
        <p:spPr>
          <a:xfrm>
            <a:off x="548640" y="3794760"/>
            <a:ext cx="3657600" cy="2194560"/>
          </a:xfrm>
          <a:prstGeom prst="roundRect">
            <a:avLst>
              <a:gd name="adj" fmla="val 4583"/>
            </a:avLst>
          </a:prstGeom>
          <a:solidFill>
            <a:srgbClr val="F6F8FB"/>
          </a:solidFill>
          <a:ln/>
        </p:spPr>
      </p:sp>
      <p:sp>
        <p:nvSpPr>
          <p:cNvPr id="9" name="Text 7"/>
          <p:cNvSpPr txBox="1"/>
          <p:nvPr/>
        </p:nvSpPr>
        <p:spPr>
          <a:xfrm>
            <a:off x="868680" y="3950208"/>
            <a:ext cx="301752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Les lleis ho confirmaven</a:t>
            </a:r>
            <a:endParaRPr lang="en-US" sz="1400" dirty="0"/>
          </a:p>
        </p:txBody>
      </p:sp>
      <p:sp>
        <p:nvSpPr>
          <p:cNvPr id="10" name="Text 8"/>
          <p:cNvSpPr txBox="1"/>
          <p:nvPr/>
        </p:nvSpPr>
        <p:spPr>
          <a:xfrm>
            <a:off x="868680" y="4297680"/>
            <a:ext cx="3017520" cy="155448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El Codi Civil de 1889 obligava la dona casada a obeir el marit, que administrava els seus béns.</a:t>
            </a:r>
            <a:endParaRPr lang="en-US" sz="1450" dirty="0"/>
          </a:p>
        </p:txBody>
      </p:sp>
      <p:sp>
        <p:nvSpPr>
          <p:cNvPr id="11" name="La realitat"/>
          <p:cNvSpPr/>
          <p:nvPr/>
        </p:nvSpPr>
        <p:spPr>
          <a:xfrm>
            <a:off x="4480560" y="1417320"/>
            <a:ext cx="3520440" cy="4572000"/>
          </a:xfrm>
          <a:prstGeom prst="roundRect">
            <a:avLst>
              <a:gd name="adj" fmla="val 2857"/>
            </a:avLst>
          </a:prstGeom>
          <a:solidFill>
            <a:srgbClr val="FFFFFF"/>
          </a:solidFill>
          <a:ln w="12700">
            <a:solidFill>
              <a:srgbClr val="DADCE0"/>
            </a:solidFill>
            <a:prstDash val="solid"/>
          </a:ln>
        </p:spPr>
      </p:sp>
      <p:sp>
        <p:nvSpPr>
          <p:cNvPr id="12" name="Text 10"/>
          <p:cNvSpPr txBox="1"/>
          <p:nvPr/>
        </p:nvSpPr>
        <p:spPr>
          <a:xfrm>
            <a:off x="4709160" y="1600200"/>
            <a:ext cx="3108960" cy="64008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La realitat de les classes populars</a:t>
            </a:r>
            <a:endParaRPr lang="en-US" sz="1700" dirty="0"/>
          </a:p>
        </p:txBody>
      </p:sp>
      <p:sp>
        <p:nvSpPr>
          <p:cNvPr id="13" name="Text 11"/>
          <p:cNvSpPr txBox="1"/>
          <p:nvPr/>
        </p:nvSpPr>
        <p:spPr>
          <a:xfrm>
            <a:off x="4709160" y="2286000"/>
            <a:ext cx="3108960" cy="3566160"/>
          </a:xfrm>
          <a:prstGeom prst="rect">
            <a:avLst/>
          </a:prstGeom>
          <a:noFill/>
          <a:ln/>
        </p:spPr>
        <p:txBody>
          <a:bodyPr wrap="square" lIns="0" tIns="0" rIns="0" bIns="0" rtlCol="0" anchor="t"/>
          <a:lstStyle/>
          <a:p>
            <a:pPr indent="0" marL="0">
              <a:spcAft>
                <a:spcPts val="800"/>
              </a:spcAft>
              <a:buNone/>
            </a:pPr>
            <a:r>
              <a:rPr lang="en-US" sz="1450" dirty="0">
                <a:solidFill>
                  <a:srgbClr val="202124"/>
                </a:solidFill>
                <a:latin typeface="Roboto" pitchFamily="34" charset="0"/>
                <a:ea typeface="Roboto" pitchFamily="34" charset="-122"/>
                <a:cs typeface="Roboto" pitchFamily="34" charset="-120"/>
              </a:rPr>
              <a:t>Treballaven a les fàbriques tèxtils, als tallers, al servei domèstic o al camp, amb salaris molt més baixos que els homes.</a:t>
            </a:r>
            <a:endParaRPr lang="en-US" sz="1450" dirty="0"/>
          </a:p>
          <a:p>
            <a:pPr indent="0" marL="0">
              <a:spcAft>
                <a:spcPts val="800"/>
              </a:spcAft>
              <a:buNone/>
            </a:pPr>
            <a:r>
              <a:rPr lang="en-US" sz="1450" b="1" dirty="0">
                <a:solidFill>
                  <a:srgbClr val="202124"/>
                </a:solidFill>
                <a:latin typeface="Roboto" pitchFamily="34" charset="0"/>
                <a:ea typeface="Roboto" pitchFamily="34" charset="-122"/>
                <a:cs typeface="Roboto" pitchFamily="34" charset="-120"/>
              </a:rPr>
              <a:t>Doble jornada. </a:t>
            </a:r>
            <a:pPr indent="0" marL="0">
              <a:spcAft>
                <a:spcPts val="800"/>
              </a:spcAft>
              <a:buNone/>
            </a:pPr>
            <a:r>
              <a:rPr lang="en-US" sz="1450" dirty="0">
                <a:solidFill>
                  <a:srgbClr val="202124"/>
                </a:solidFill>
                <a:latin typeface="Roboto" pitchFamily="34" charset="0"/>
                <a:ea typeface="Roboto" pitchFamily="34" charset="-122"/>
                <a:cs typeface="Roboto" pitchFamily="34" charset="-120"/>
              </a:rPr>
              <a:t>A més, feien les feines de casa.</a:t>
            </a:r>
            <a:endParaRPr lang="en-US" sz="1450" dirty="0"/>
          </a:p>
          <a:p>
            <a:pPr indent="0" marL="0">
              <a:spcAft>
                <a:spcPts val="800"/>
              </a:spcAft>
              <a:buNone/>
            </a:pPr>
            <a:r>
              <a:rPr lang="en-US" sz="1450" dirty="0">
                <a:solidFill>
                  <a:srgbClr val="202124"/>
                </a:solidFill>
                <a:latin typeface="Roboto" pitchFamily="34" charset="0"/>
                <a:ea typeface="Roboto" pitchFamily="34" charset="-122"/>
                <a:cs typeface="Roboto" pitchFamily="34" charset="-120"/>
              </a:rPr>
              <a:t>Van participar en les vagues i en el moviment obrer, com l'anarquista Teresa Claramunt.</a:t>
            </a:r>
            <a:endParaRPr lang="en-US" sz="1450" dirty="0"/>
          </a:p>
        </p:txBody>
      </p:sp>
      <p:sp>
        <p:nvSpPr>
          <p:cNvPr id="14" name="Els primers canvis"/>
          <p:cNvSpPr/>
          <p:nvPr/>
        </p:nvSpPr>
        <p:spPr>
          <a:xfrm>
            <a:off x="8275320" y="1417320"/>
            <a:ext cx="3367735" cy="4572000"/>
          </a:xfrm>
          <a:prstGeom prst="roundRect">
            <a:avLst>
              <a:gd name="adj" fmla="val 2987"/>
            </a:avLst>
          </a:prstGeom>
          <a:solidFill>
            <a:srgbClr val="FFFFFF"/>
          </a:solidFill>
          <a:ln w="12700">
            <a:solidFill>
              <a:srgbClr val="DADCE0"/>
            </a:solidFill>
            <a:prstDash val="solid"/>
          </a:ln>
        </p:spPr>
      </p:sp>
      <p:sp>
        <p:nvSpPr>
          <p:cNvPr id="15" name="Text 13"/>
          <p:cNvSpPr txBox="1"/>
          <p:nvPr/>
        </p:nvSpPr>
        <p:spPr>
          <a:xfrm>
            <a:off x="8503920" y="1600200"/>
            <a:ext cx="2910535" cy="365760"/>
          </a:xfrm>
          <a:prstGeom prst="rect">
            <a:avLst/>
          </a:prstGeom>
          <a:noFill/>
          <a:ln/>
        </p:spPr>
        <p:txBody>
          <a:bodyPr wrap="square" lIns="0" tIns="0" rIns="0" bIns="0" rtlCol="0" anchor="t"/>
          <a:lstStyle/>
          <a:p>
            <a:pPr indent="0" marL="0">
              <a:buNone/>
            </a:pPr>
            <a:r>
              <a:rPr lang="en-US" sz="1700" b="1" dirty="0">
                <a:solidFill>
                  <a:srgbClr val="B80672"/>
                </a:solidFill>
                <a:latin typeface="Roboto" pitchFamily="34" charset="0"/>
                <a:ea typeface="Roboto" pitchFamily="34" charset="-122"/>
                <a:cs typeface="Roboto" pitchFamily="34" charset="-120"/>
              </a:rPr>
              <a:t>Els primers canvis</a:t>
            </a:r>
            <a:endParaRPr lang="en-US" sz="1700" dirty="0"/>
          </a:p>
        </p:txBody>
      </p:sp>
      <p:sp>
        <p:nvSpPr>
          <p:cNvPr id="16" name="Text 14"/>
          <p:cNvSpPr txBox="1"/>
          <p:nvPr/>
        </p:nvSpPr>
        <p:spPr>
          <a:xfrm>
            <a:off x="8503920" y="2057400"/>
            <a:ext cx="2910535" cy="3749040"/>
          </a:xfrm>
          <a:prstGeom prst="rect">
            <a:avLst/>
          </a:prstGeom>
          <a:noFill/>
          <a:ln/>
        </p:spPr>
        <p:txBody>
          <a:bodyPr wrap="square" lIns="0" tIns="0" rIns="0" bIns="0" rtlCol="0" anchor="t"/>
          <a:lstStyle/>
          <a:p>
            <a:pPr indent="0" marL="0">
              <a:spcAft>
                <a:spcPts val="800"/>
              </a:spcAft>
              <a:buNone/>
            </a:pPr>
            <a:r>
              <a:rPr lang="en-US" sz="1450" dirty="0">
                <a:solidFill>
                  <a:srgbClr val="202124"/>
                </a:solidFill>
                <a:latin typeface="Roboto" pitchFamily="34" charset="0"/>
                <a:ea typeface="Roboto" pitchFamily="34" charset="-122"/>
                <a:cs typeface="Roboto" pitchFamily="34" charset="-120"/>
              </a:rPr>
              <a:t>Lliure accés a la universitat (1910) i noves professions, com mestra, infermera o bibliotecària.</a:t>
            </a:r>
            <a:endParaRPr lang="en-US" sz="1450" dirty="0"/>
          </a:p>
          <a:p>
            <a:pPr indent="0" marL="0">
              <a:spcAft>
                <a:spcPts val="800"/>
              </a:spcAft>
              <a:buNone/>
            </a:pPr>
            <a:r>
              <a:rPr lang="en-US" sz="1450" dirty="0">
                <a:solidFill>
                  <a:srgbClr val="202124"/>
                </a:solidFill>
                <a:latin typeface="Roboto" pitchFamily="34" charset="0"/>
                <a:ea typeface="Roboto" pitchFamily="34" charset="-122"/>
                <a:cs typeface="Roboto" pitchFamily="34" charset="-120"/>
              </a:rPr>
              <a:t>Dolors Monserdà defensa un feminisme catòlic i moderat.</a:t>
            </a:r>
            <a:endParaRPr lang="en-US" sz="1450" dirty="0"/>
          </a:p>
          <a:p>
            <a:pPr indent="0" marL="0">
              <a:spcAft>
                <a:spcPts val="800"/>
              </a:spcAft>
              <a:buNone/>
            </a:pPr>
            <a:r>
              <a:rPr lang="en-US" sz="1450" dirty="0">
                <a:solidFill>
                  <a:srgbClr val="202124"/>
                </a:solidFill>
                <a:latin typeface="Roboto" pitchFamily="34" charset="0"/>
                <a:ea typeface="Roboto" pitchFamily="34" charset="-122"/>
                <a:cs typeface="Roboto" pitchFamily="34" charset="-120"/>
              </a:rPr>
              <a:t>El vot femení no arriba fins a la Constitució de 1931. Es va exercir per primera vegada el 1933.</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B80672"/>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Apartat 6 a la PAU</a:t>
            </a:r>
            <a:endParaRPr lang="en-US" sz="2800" dirty="0"/>
          </a:p>
        </p:txBody>
      </p:sp>
      <p:sp>
        <p:nvSpPr>
          <p:cNvPr id="5" name="Àmbits del glossari"/>
          <p:cNvSpPr/>
          <p:nvPr/>
        </p:nvSpPr>
        <p:spPr>
          <a:xfrm>
            <a:off x="548640" y="1371600"/>
            <a:ext cx="3840480" cy="1938528"/>
          </a:xfrm>
          <a:prstGeom prst="roundRect">
            <a:avLst>
              <a:gd name="adj" fmla="val 5189"/>
            </a:avLst>
          </a:prstGeom>
          <a:solidFill>
            <a:srgbClr val="F6F8FB"/>
          </a:solidFill>
          <a:ln/>
        </p:spPr>
      </p:sp>
      <p:sp>
        <p:nvSpPr>
          <p:cNvPr id="6" name="Text 4"/>
          <p:cNvSpPr txBox="1"/>
          <p:nvPr/>
        </p:nvSpPr>
        <p:spPr>
          <a:xfrm>
            <a:off x="822960" y="1527048"/>
            <a:ext cx="3291840" cy="292608"/>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Àmbits del glossari</a:t>
            </a:r>
            <a:endParaRPr lang="en-US" sz="1300" dirty="0"/>
          </a:p>
        </p:txBody>
      </p:sp>
      <p:sp>
        <p:nvSpPr>
          <p:cNvPr id="7" name="Text 5"/>
          <p:cNvSpPr txBox="1"/>
          <p:nvPr/>
        </p:nvSpPr>
        <p:spPr>
          <a:xfrm>
            <a:off x="822960" y="1847088"/>
            <a:ext cx="3337560" cy="1389888"/>
          </a:xfrm>
          <a:prstGeom prst="rect">
            <a:avLst/>
          </a:prstGeom>
          <a:noFill/>
          <a:ln/>
        </p:spPr>
        <p:txBody>
          <a:bodyPr wrap="square" lIns="0" tIns="0" rIns="0" bIns="0" rtlCol="0" anchor="t"/>
          <a:lstStyle/>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2. Canvi econòmic i social a Espanya i Catalunya.</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4. Conquesta dels drets socials i incipient Estat del Benestar.</a:t>
            </a:r>
            <a:endParaRPr lang="en-US" sz="1350" dirty="0"/>
          </a:p>
          <a:p>
            <a:pPr indent="0" marL="0">
              <a:spcAft>
                <a:spcPts val="500"/>
              </a:spcAft>
              <a:buNone/>
            </a:pPr>
            <a:r>
              <a:rPr lang="en-US" sz="1350" b="1" dirty="0">
                <a:solidFill>
                  <a:srgbClr val="202124"/>
                </a:solidFill>
                <a:latin typeface="Roboto" pitchFamily="34" charset="0"/>
                <a:ea typeface="Roboto" pitchFamily="34" charset="-122"/>
                <a:cs typeface="Roboto" pitchFamily="34" charset="-120"/>
              </a:rPr>
              <a:t>9. El paper de la dona.</a:t>
            </a:r>
            <a:endParaRPr lang="en-US" sz="1350" dirty="0"/>
          </a:p>
        </p:txBody>
      </p:sp>
      <p:sp>
        <p:nvSpPr>
          <p:cNvPr id="8" name="També el paper de la dona"/>
          <p:cNvSpPr/>
          <p:nvPr/>
        </p:nvSpPr>
        <p:spPr>
          <a:xfrm>
            <a:off x="548640" y="3538728"/>
            <a:ext cx="3840480" cy="2496312"/>
          </a:xfrm>
          <a:prstGeom prst="roundRect">
            <a:avLst>
              <a:gd name="adj" fmla="val 4029"/>
            </a:avLst>
          </a:prstGeom>
          <a:solidFill>
            <a:srgbClr val="FDE7F3"/>
          </a:solidFill>
          <a:ln/>
        </p:spPr>
      </p:sp>
      <p:sp>
        <p:nvSpPr>
          <p:cNvPr id="9" name="Text 7"/>
          <p:cNvSpPr txBox="1"/>
          <p:nvPr/>
        </p:nvSpPr>
        <p:spPr>
          <a:xfrm>
            <a:off x="868680" y="3694176"/>
            <a:ext cx="3200400" cy="320040"/>
          </a:xfrm>
          <a:prstGeom prst="rect">
            <a:avLst/>
          </a:prstGeom>
          <a:noFill/>
          <a:ln/>
        </p:spPr>
        <p:txBody>
          <a:bodyPr wrap="square" lIns="0" tIns="0" rIns="0" bIns="0" rtlCol="0" anchor="t"/>
          <a:lstStyle/>
          <a:p>
            <a:pPr indent="0" marL="0">
              <a:buNone/>
            </a:pPr>
            <a:r>
              <a:rPr lang="en-US" sz="1400" b="1" dirty="0">
                <a:solidFill>
                  <a:srgbClr val="B80672"/>
                </a:solidFill>
                <a:latin typeface="Roboto" pitchFamily="34" charset="0"/>
                <a:ea typeface="Roboto" pitchFamily="34" charset="-122"/>
                <a:cs typeface="Roboto" pitchFamily="34" charset="-120"/>
              </a:rPr>
              <a:t>També el paper de la dona</a:t>
            </a:r>
            <a:endParaRPr lang="en-US" sz="1400" dirty="0"/>
          </a:p>
        </p:txBody>
      </p:sp>
      <p:sp>
        <p:nvSpPr>
          <p:cNvPr id="10" name="Text 8"/>
          <p:cNvSpPr txBox="1"/>
          <p:nvPr/>
        </p:nvSpPr>
        <p:spPr>
          <a:xfrm>
            <a:off x="868680" y="4041648"/>
            <a:ext cx="3200400" cy="1856232"/>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L'àmbit 9 es pot treballar amb la ideologia de la domesticitat, la doble jornada, les primeres feministes i el sufragi femení de 1931.</a:t>
            </a:r>
            <a:endParaRPr lang="en-US" sz="1450" dirty="0"/>
          </a:p>
        </p:txBody>
      </p:sp>
      <p:sp>
        <p:nvSpPr>
          <p:cNvPr id="11" name="Text 9"/>
          <p:cNvSpPr txBox="1"/>
          <p:nvPr/>
        </p:nvSpPr>
        <p:spPr>
          <a:xfrm>
            <a:off x="4846320" y="1417320"/>
            <a:ext cx="6766560" cy="320040"/>
          </a:xfrm>
          <a:prstGeom prst="rect">
            <a:avLst/>
          </a:prstGeom>
          <a:noFill/>
          <a:ln/>
        </p:spPr>
        <p:txBody>
          <a:bodyPr wrap="square" lIns="0" tIns="0" rIns="0" bIns="0" rtlCol="0" anchor="t"/>
          <a:lstStyle/>
          <a:p>
            <a:pPr indent="0" marL="0">
              <a:buNone/>
            </a:pPr>
            <a:r>
              <a:rPr lang="en-US" sz="1300" b="1" dirty="0">
                <a:solidFill>
                  <a:srgbClr val="5F6368"/>
                </a:solidFill>
                <a:latin typeface="Roboto" pitchFamily="34" charset="0"/>
                <a:ea typeface="Roboto" pitchFamily="34" charset="-122"/>
                <a:cs typeface="Roboto" pitchFamily="34" charset="-120"/>
              </a:rPr>
              <a:t>Conceptes clau</a:t>
            </a:r>
            <a:endParaRPr lang="en-US" sz="1300" dirty="0"/>
          </a:p>
        </p:txBody>
      </p:sp>
      <p:sp>
        <p:nvSpPr>
          <p:cNvPr id="12" name="Etiqueta Transició demogràfica"/>
          <p:cNvSpPr/>
          <p:nvPr/>
        </p:nvSpPr>
        <p:spPr>
          <a:xfrm>
            <a:off x="4846320" y="1810512"/>
            <a:ext cx="1904695" cy="310896"/>
          </a:xfrm>
          <a:prstGeom prst="roundRect">
            <a:avLst>
              <a:gd name="adj" fmla="val 50000"/>
            </a:avLst>
          </a:prstGeom>
          <a:solidFill>
            <a:srgbClr val="FDE7F3"/>
          </a:solidFill>
          <a:ln/>
        </p:spPr>
      </p:sp>
      <p:sp>
        <p:nvSpPr>
          <p:cNvPr id="13" name="Text 11"/>
          <p:cNvSpPr txBox="1"/>
          <p:nvPr/>
        </p:nvSpPr>
        <p:spPr>
          <a:xfrm>
            <a:off x="4846320" y="1810512"/>
            <a:ext cx="1904695"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Transició demogràfica</a:t>
            </a:r>
            <a:endParaRPr lang="en-US" sz="1200" dirty="0"/>
          </a:p>
        </p:txBody>
      </p:sp>
      <p:sp>
        <p:nvSpPr>
          <p:cNvPr id="14" name="Etiqueta Èxode rural"/>
          <p:cNvSpPr/>
          <p:nvPr/>
        </p:nvSpPr>
        <p:spPr>
          <a:xfrm>
            <a:off x="6842455" y="1810512"/>
            <a:ext cx="1145743" cy="310896"/>
          </a:xfrm>
          <a:prstGeom prst="roundRect">
            <a:avLst>
              <a:gd name="adj" fmla="val 50000"/>
            </a:avLst>
          </a:prstGeom>
          <a:solidFill>
            <a:srgbClr val="FDE7F3"/>
          </a:solidFill>
          <a:ln/>
        </p:spPr>
      </p:sp>
      <p:sp>
        <p:nvSpPr>
          <p:cNvPr id="15" name="Text 13"/>
          <p:cNvSpPr txBox="1"/>
          <p:nvPr/>
        </p:nvSpPr>
        <p:spPr>
          <a:xfrm>
            <a:off x="6842455" y="1810512"/>
            <a:ext cx="1145743"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Èxode rural</a:t>
            </a:r>
            <a:endParaRPr lang="en-US" sz="1200" dirty="0"/>
          </a:p>
        </p:txBody>
      </p:sp>
      <p:sp>
        <p:nvSpPr>
          <p:cNvPr id="16" name="Etiqueta Latifundi"/>
          <p:cNvSpPr/>
          <p:nvPr/>
        </p:nvSpPr>
        <p:spPr>
          <a:xfrm>
            <a:off x="8079638" y="1810512"/>
            <a:ext cx="993953" cy="310896"/>
          </a:xfrm>
          <a:prstGeom prst="roundRect">
            <a:avLst>
              <a:gd name="adj" fmla="val 50000"/>
            </a:avLst>
          </a:prstGeom>
          <a:solidFill>
            <a:srgbClr val="FDE7F3"/>
          </a:solidFill>
          <a:ln/>
        </p:spPr>
      </p:sp>
      <p:sp>
        <p:nvSpPr>
          <p:cNvPr id="17" name="Text 15"/>
          <p:cNvSpPr txBox="1"/>
          <p:nvPr/>
        </p:nvSpPr>
        <p:spPr>
          <a:xfrm>
            <a:off x="8079638" y="1810512"/>
            <a:ext cx="993953"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Latifundi</a:t>
            </a:r>
            <a:endParaRPr lang="en-US" sz="1200" dirty="0"/>
          </a:p>
        </p:txBody>
      </p:sp>
      <p:sp>
        <p:nvSpPr>
          <p:cNvPr id="18" name="Etiqueta Rabassa morta"/>
          <p:cNvSpPr/>
          <p:nvPr/>
        </p:nvSpPr>
        <p:spPr>
          <a:xfrm>
            <a:off x="9165031" y="1810512"/>
            <a:ext cx="1297534" cy="310896"/>
          </a:xfrm>
          <a:prstGeom prst="roundRect">
            <a:avLst>
              <a:gd name="adj" fmla="val 50000"/>
            </a:avLst>
          </a:prstGeom>
          <a:solidFill>
            <a:srgbClr val="FDE7F3"/>
          </a:solidFill>
          <a:ln/>
        </p:spPr>
      </p:sp>
      <p:sp>
        <p:nvSpPr>
          <p:cNvPr id="19" name="Text 17"/>
          <p:cNvSpPr txBox="1"/>
          <p:nvPr/>
        </p:nvSpPr>
        <p:spPr>
          <a:xfrm>
            <a:off x="9165031" y="1810512"/>
            <a:ext cx="129753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Rabassa morta</a:t>
            </a:r>
            <a:endParaRPr lang="en-US" sz="1200" dirty="0"/>
          </a:p>
        </p:txBody>
      </p:sp>
      <p:sp>
        <p:nvSpPr>
          <p:cNvPr id="20" name="Etiqueta Fil·loxera"/>
          <p:cNvSpPr/>
          <p:nvPr/>
        </p:nvSpPr>
        <p:spPr>
          <a:xfrm>
            <a:off x="10554005" y="1810512"/>
            <a:ext cx="1069848" cy="310896"/>
          </a:xfrm>
          <a:prstGeom prst="roundRect">
            <a:avLst>
              <a:gd name="adj" fmla="val 50000"/>
            </a:avLst>
          </a:prstGeom>
          <a:solidFill>
            <a:srgbClr val="FDE7F3"/>
          </a:solidFill>
          <a:ln/>
        </p:spPr>
      </p:sp>
      <p:sp>
        <p:nvSpPr>
          <p:cNvPr id="21" name="Text 19"/>
          <p:cNvSpPr txBox="1"/>
          <p:nvPr/>
        </p:nvSpPr>
        <p:spPr>
          <a:xfrm>
            <a:off x="10554005" y="1810512"/>
            <a:ext cx="1069848"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Fil·loxera</a:t>
            </a:r>
            <a:endParaRPr lang="en-US" sz="1200" dirty="0"/>
          </a:p>
        </p:txBody>
      </p:sp>
      <p:sp>
        <p:nvSpPr>
          <p:cNvPr id="22" name="Etiqueta Colònies industrials"/>
          <p:cNvSpPr/>
          <p:nvPr/>
        </p:nvSpPr>
        <p:spPr>
          <a:xfrm>
            <a:off x="4846320" y="2212848"/>
            <a:ext cx="1828800" cy="310896"/>
          </a:xfrm>
          <a:prstGeom prst="roundRect">
            <a:avLst>
              <a:gd name="adj" fmla="val 50000"/>
            </a:avLst>
          </a:prstGeom>
          <a:solidFill>
            <a:srgbClr val="FDE7F3"/>
          </a:solidFill>
          <a:ln/>
        </p:spPr>
      </p:sp>
      <p:sp>
        <p:nvSpPr>
          <p:cNvPr id="23" name="Text 21"/>
          <p:cNvSpPr txBox="1"/>
          <p:nvPr/>
        </p:nvSpPr>
        <p:spPr>
          <a:xfrm>
            <a:off x="4846320" y="2212848"/>
            <a:ext cx="182880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Colònies industrials</a:t>
            </a:r>
            <a:endParaRPr lang="en-US" sz="1200" dirty="0"/>
          </a:p>
        </p:txBody>
      </p:sp>
      <p:sp>
        <p:nvSpPr>
          <p:cNvPr id="24" name="Etiqueta Proteccionisme"/>
          <p:cNvSpPr/>
          <p:nvPr/>
        </p:nvSpPr>
        <p:spPr>
          <a:xfrm>
            <a:off x="6766560" y="2212848"/>
            <a:ext cx="1373429" cy="310896"/>
          </a:xfrm>
          <a:prstGeom prst="roundRect">
            <a:avLst>
              <a:gd name="adj" fmla="val 50000"/>
            </a:avLst>
          </a:prstGeom>
          <a:solidFill>
            <a:srgbClr val="FDE7F3"/>
          </a:solidFill>
          <a:ln/>
        </p:spPr>
      </p:sp>
      <p:sp>
        <p:nvSpPr>
          <p:cNvPr id="25" name="Text 23"/>
          <p:cNvSpPr txBox="1"/>
          <p:nvPr/>
        </p:nvSpPr>
        <p:spPr>
          <a:xfrm>
            <a:off x="6766560" y="2212848"/>
            <a:ext cx="1373429"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Proteccionisme</a:t>
            </a:r>
            <a:endParaRPr lang="en-US" sz="1200" dirty="0"/>
          </a:p>
        </p:txBody>
      </p:sp>
      <p:sp>
        <p:nvSpPr>
          <p:cNvPr id="26" name="Etiqueta Segona revolució industrial"/>
          <p:cNvSpPr/>
          <p:nvPr/>
        </p:nvSpPr>
        <p:spPr>
          <a:xfrm>
            <a:off x="8231429" y="2212848"/>
            <a:ext cx="2360066" cy="310896"/>
          </a:xfrm>
          <a:prstGeom prst="roundRect">
            <a:avLst>
              <a:gd name="adj" fmla="val 50000"/>
            </a:avLst>
          </a:prstGeom>
          <a:solidFill>
            <a:srgbClr val="FDE7F3"/>
          </a:solidFill>
          <a:ln/>
        </p:spPr>
      </p:sp>
      <p:sp>
        <p:nvSpPr>
          <p:cNvPr id="27" name="Text 25"/>
          <p:cNvSpPr txBox="1"/>
          <p:nvPr/>
        </p:nvSpPr>
        <p:spPr>
          <a:xfrm>
            <a:off x="8231429" y="2212848"/>
            <a:ext cx="2360066"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Segona revolució industrial</a:t>
            </a:r>
            <a:endParaRPr lang="en-US" sz="1200" dirty="0"/>
          </a:p>
        </p:txBody>
      </p:sp>
      <p:sp>
        <p:nvSpPr>
          <p:cNvPr id="28" name="Etiqueta Drets socials"/>
          <p:cNvSpPr/>
          <p:nvPr/>
        </p:nvSpPr>
        <p:spPr>
          <a:xfrm>
            <a:off x="4846320" y="2615184"/>
            <a:ext cx="1297534" cy="310896"/>
          </a:xfrm>
          <a:prstGeom prst="roundRect">
            <a:avLst>
              <a:gd name="adj" fmla="val 50000"/>
            </a:avLst>
          </a:prstGeom>
          <a:solidFill>
            <a:srgbClr val="FDE7F3"/>
          </a:solidFill>
          <a:ln/>
        </p:spPr>
      </p:sp>
      <p:sp>
        <p:nvSpPr>
          <p:cNvPr id="29" name="Text 27"/>
          <p:cNvSpPr txBox="1"/>
          <p:nvPr/>
        </p:nvSpPr>
        <p:spPr>
          <a:xfrm>
            <a:off x="4846320" y="2615184"/>
            <a:ext cx="129753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Drets socials</a:t>
            </a:r>
            <a:endParaRPr lang="en-US" sz="1200" dirty="0"/>
          </a:p>
        </p:txBody>
      </p:sp>
      <p:sp>
        <p:nvSpPr>
          <p:cNvPr id="30" name="Etiqueta Anarcosindicalisme"/>
          <p:cNvSpPr/>
          <p:nvPr/>
        </p:nvSpPr>
        <p:spPr>
          <a:xfrm>
            <a:off x="6235294" y="2615184"/>
            <a:ext cx="1677010" cy="310896"/>
          </a:xfrm>
          <a:prstGeom prst="roundRect">
            <a:avLst>
              <a:gd name="adj" fmla="val 50000"/>
            </a:avLst>
          </a:prstGeom>
          <a:solidFill>
            <a:srgbClr val="FDE7F3"/>
          </a:solidFill>
          <a:ln/>
        </p:spPr>
      </p:sp>
      <p:sp>
        <p:nvSpPr>
          <p:cNvPr id="31" name="Text 29"/>
          <p:cNvSpPr txBox="1"/>
          <p:nvPr/>
        </p:nvSpPr>
        <p:spPr>
          <a:xfrm>
            <a:off x="6235294" y="2615184"/>
            <a:ext cx="1677010"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Anarcosindicalisme</a:t>
            </a:r>
            <a:endParaRPr lang="en-US" sz="1200" dirty="0"/>
          </a:p>
        </p:txBody>
      </p:sp>
      <p:sp>
        <p:nvSpPr>
          <p:cNvPr id="32" name="Etiqueta Ideologia de la domesticitat"/>
          <p:cNvSpPr/>
          <p:nvPr/>
        </p:nvSpPr>
        <p:spPr>
          <a:xfrm>
            <a:off x="8003743" y="2615184"/>
            <a:ext cx="2435962" cy="310896"/>
          </a:xfrm>
          <a:prstGeom prst="roundRect">
            <a:avLst>
              <a:gd name="adj" fmla="val 50000"/>
            </a:avLst>
          </a:prstGeom>
          <a:solidFill>
            <a:srgbClr val="FDE7F3"/>
          </a:solidFill>
          <a:ln/>
        </p:spPr>
      </p:sp>
      <p:sp>
        <p:nvSpPr>
          <p:cNvPr id="33" name="Text 31"/>
          <p:cNvSpPr txBox="1"/>
          <p:nvPr/>
        </p:nvSpPr>
        <p:spPr>
          <a:xfrm>
            <a:off x="8003743" y="2615184"/>
            <a:ext cx="2435962"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Ideologia de la domesticitat</a:t>
            </a:r>
            <a:endParaRPr lang="en-US" sz="1200" dirty="0"/>
          </a:p>
        </p:txBody>
      </p:sp>
      <p:sp>
        <p:nvSpPr>
          <p:cNvPr id="34" name="Etiqueta Doble jornada"/>
          <p:cNvSpPr/>
          <p:nvPr/>
        </p:nvSpPr>
        <p:spPr>
          <a:xfrm>
            <a:off x="4846320" y="3017520"/>
            <a:ext cx="1297534" cy="310896"/>
          </a:xfrm>
          <a:prstGeom prst="roundRect">
            <a:avLst>
              <a:gd name="adj" fmla="val 50000"/>
            </a:avLst>
          </a:prstGeom>
          <a:solidFill>
            <a:srgbClr val="FDE7F3"/>
          </a:solidFill>
          <a:ln/>
        </p:spPr>
      </p:sp>
      <p:sp>
        <p:nvSpPr>
          <p:cNvPr id="35" name="Text 33"/>
          <p:cNvSpPr txBox="1"/>
          <p:nvPr/>
        </p:nvSpPr>
        <p:spPr>
          <a:xfrm>
            <a:off x="4846320" y="3017520"/>
            <a:ext cx="1297534" cy="310896"/>
          </a:xfrm>
          <a:prstGeom prst="rect">
            <a:avLst/>
          </a:prstGeom>
          <a:noFill/>
          <a:ln/>
        </p:spPr>
        <p:txBody>
          <a:bodyPr wrap="square" lIns="0" tIns="0" rIns="0" bIns="0" rtlCol="0" anchor="ctr"/>
          <a:lstStyle/>
          <a:p>
            <a:pPr algn="ctr" indent="0" marL="0">
              <a:buNone/>
            </a:pPr>
            <a:r>
              <a:rPr lang="en-US" sz="1200" dirty="0">
                <a:solidFill>
                  <a:srgbClr val="202124"/>
                </a:solidFill>
                <a:latin typeface="Roboto" pitchFamily="34" charset="0"/>
                <a:ea typeface="Roboto" pitchFamily="34" charset="-122"/>
                <a:cs typeface="Roboto" pitchFamily="34" charset="-120"/>
              </a:rPr>
              <a:t>Doble jornada</a:t>
            </a:r>
            <a:endParaRPr lang="en-US" sz="1200" dirty="0"/>
          </a:p>
        </p:txBody>
      </p:sp>
      <p:sp>
        <p:nvSpPr>
          <p:cNvPr id="36" name="Exercici PAU"/>
          <p:cNvSpPr/>
          <p:nvPr/>
        </p:nvSpPr>
        <p:spPr>
          <a:xfrm>
            <a:off x="4846320" y="3584448"/>
            <a:ext cx="6796735" cy="2450592"/>
          </a:xfrm>
          <a:prstGeom prst="roundRect">
            <a:avLst>
              <a:gd name="adj" fmla="val 4104"/>
            </a:avLst>
          </a:prstGeom>
          <a:solidFill>
            <a:srgbClr val="FFFFFF"/>
          </a:solidFill>
          <a:ln w="12700">
            <a:solidFill>
              <a:srgbClr val="DADCE0"/>
            </a:solidFill>
            <a:prstDash val="solid"/>
          </a:ln>
        </p:spPr>
      </p:sp>
      <p:sp>
        <p:nvSpPr>
          <p:cNvPr id="37" name="Etiqueta Enunciat oficial · Exemples PAU 2026"/>
          <p:cNvSpPr/>
          <p:nvPr/>
        </p:nvSpPr>
        <p:spPr>
          <a:xfrm>
            <a:off x="5120640" y="3785616"/>
            <a:ext cx="3108960" cy="310896"/>
          </a:xfrm>
          <a:prstGeom prst="roundRect">
            <a:avLst>
              <a:gd name="adj" fmla="val 50000"/>
            </a:avLst>
          </a:prstGeom>
          <a:solidFill>
            <a:srgbClr val="FDE7F3"/>
          </a:solidFill>
          <a:ln/>
        </p:spPr>
      </p:sp>
      <p:sp>
        <p:nvSpPr>
          <p:cNvPr id="38" name="Text 36"/>
          <p:cNvSpPr txBox="1"/>
          <p:nvPr/>
        </p:nvSpPr>
        <p:spPr>
          <a:xfrm>
            <a:off x="5120640" y="3785616"/>
            <a:ext cx="3108960" cy="310896"/>
          </a:xfrm>
          <a:prstGeom prst="rect">
            <a:avLst/>
          </a:prstGeom>
          <a:noFill/>
          <a:ln/>
        </p:spPr>
        <p:txBody>
          <a:bodyPr wrap="square" lIns="0" tIns="0" rIns="0" bIns="0" rtlCol="0" anchor="ctr"/>
          <a:lstStyle/>
          <a:p>
            <a:pPr algn="ctr" indent="0" marL="0">
              <a:buNone/>
            </a:pPr>
            <a:r>
              <a:rPr lang="en-US" sz="1150" b="1" dirty="0">
                <a:solidFill>
                  <a:srgbClr val="B80672"/>
                </a:solidFill>
                <a:latin typeface="Roboto" pitchFamily="34" charset="0"/>
                <a:ea typeface="Roboto" pitchFamily="34" charset="-122"/>
                <a:cs typeface="Roboto" pitchFamily="34" charset="-120"/>
              </a:rPr>
              <a:t>Enunciat oficial · Exemples PAU 2026</a:t>
            </a:r>
            <a:endParaRPr lang="en-US" sz="1150" dirty="0"/>
          </a:p>
        </p:txBody>
      </p:sp>
      <p:sp>
        <p:nvSpPr>
          <p:cNvPr id="39" name="Text 37"/>
          <p:cNvSpPr txBox="1"/>
          <p:nvPr/>
        </p:nvSpPr>
        <p:spPr>
          <a:xfrm>
            <a:off x="5120640" y="4187952"/>
            <a:ext cx="6248095" cy="320040"/>
          </a:xfrm>
          <a:prstGeom prst="rect">
            <a:avLst/>
          </a:prstGeom>
          <a:noFill/>
          <a:ln/>
        </p:spPr>
        <p:txBody>
          <a:bodyPr wrap="square" lIns="0" tIns="0" rIns="0" bIns="0" rtlCol="0" anchor="t"/>
          <a:lstStyle/>
          <a:p>
            <a:pPr indent="0" marL="0">
              <a:buNone/>
            </a:pPr>
            <a:r>
              <a:rPr lang="en-US" sz="1500" b="1" dirty="0">
                <a:solidFill>
                  <a:srgbClr val="202124"/>
                </a:solidFill>
                <a:latin typeface="Roboto" pitchFamily="34" charset="0"/>
                <a:ea typeface="Roboto" pitchFamily="34" charset="-122"/>
                <a:cs typeface="Roboto" pitchFamily="34" charset="-120"/>
              </a:rPr>
              <a:t>Exercici 3 · Descriptor 4 del glossari</a:t>
            </a:r>
            <a:endParaRPr lang="en-US" sz="1500" dirty="0"/>
          </a:p>
        </p:txBody>
      </p:sp>
      <p:sp>
        <p:nvSpPr>
          <p:cNvPr id="40" name="Text 38"/>
          <p:cNvSpPr txBox="1"/>
          <p:nvPr/>
        </p:nvSpPr>
        <p:spPr>
          <a:xfrm>
            <a:off x="5120640" y="4572000"/>
            <a:ext cx="6248095" cy="1353312"/>
          </a:xfrm>
          <a:prstGeom prst="rect">
            <a:avLst/>
          </a:prstGeom>
          <a:noFill/>
          <a:ln/>
        </p:spPr>
        <p:txBody>
          <a:bodyPr wrap="square" lIns="0" tIns="0" rIns="0" bIns="0" rtlCol="0" anchor="t"/>
          <a:lstStyle/>
          <a:p>
            <a:pPr indent="0" marL="0">
              <a:spcAft>
                <a:spcPts val="700"/>
              </a:spcAft>
              <a:buNone/>
            </a:pPr>
            <a:r>
              <a:rPr lang="en-US" sz="1600" dirty="0">
                <a:solidFill>
                  <a:srgbClr val="202124"/>
                </a:solidFill>
                <a:latin typeface="Roboto" pitchFamily="34" charset="0"/>
                <a:ea typeface="Roboto" pitchFamily="34" charset="-122"/>
                <a:cs typeface="Roboto" pitchFamily="34" charset="-120"/>
              </a:rPr>
              <a:t>Feu una relació on comenteu i relacioneu les principals fites en la conquesta dels drets socials i laborals a Espanya, atenent a les singularitats de cada etapa històrica.</a:t>
            </a:r>
            <a:endParaRPr lang="en-US" sz="1600" dirty="0"/>
          </a:p>
          <a:p>
            <a:pPr indent="0" marL="0">
              <a:spcAft>
                <a:spcPts val="700"/>
              </a:spcAft>
              <a:buNone/>
            </a:pPr>
            <a:r>
              <a:rPr lang="en-US" sz="1350" b="1" u="sng" dirty="0">
                <a:solidFill>
                  <a:srgbClr val="B80672"/>
                </a:solidFill>
                <a:latin typeface="Roboto" pitchFamily="34" charset="0"/>
                <a:ea typeface="Roboto" pitchFamily="34" charset="-122"/>
                <a:cs typeface="Roboto" pitchFamily="34" charset="-120"/>
                <a:hlinkClick r:id="rId1" invalidUrl="" action="" tgtFrame="" tooltip="Taller PAU" history="1" highlightClick="0" endSnd="0">
                  <a:extLst>
                    <a:ext uri="{A12FA001-AC4F-418D-AE19-62706E023703}">
                      <ahyp:hlinkClr xmlns:ahyp="http://schemas.microsoft.com/office/drawing/2018/hyperlinkcolor" val="tx"/>
                    </a:ext>
                  </a:extLst>
                </a:hlinkClick>
              </a:rPr>
              <a:t>Pas a pas al Taller PAU del tema.</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Capçalera"/>
          <p:cNvSpPr/>
          <p:nvPr/>
        </p:nvSpPr>
        <p:spPr>
          <a:xfrm>
            <a:off x="548640" y="548640"/>
            <a:ext cx="11094415" cy="5760720"/>
          </a:xfrm>
          <a:prstGeom prst="roundRect">
            <a:avLst>
              <a:gd name="adj" fmla="val 1746"/>
            </a:avLst>
          </a:prstGeom>
          <a:solidFill>
            <a:srgbClr val="B80672"/>
          </a:solidFill>
          <a:ln/>
        </p:spPr>
      </p:sp>
      <p:pic>
        <p:nvPicPr>
          <p:cNvPr id="3" name="Il·lustració del Congrés i una urna" descr="/tmp/claude-0/-home-claude-historia-2batx/57a75df9-64d0-585a-8d62-369d37bdd596/scratchpad/deck/hero-crop.png">    </p:cNvPr>
          <p:cNvPicPr>
            <a:picLocks noChangeAspect="1"/>
          </p:cNvPicPr>
          <p:nvPr/>
        </p:nvPicPr>
        <p:blipFill>
          <a:blip r:embed="rId1"/>
          <a:stretch>
            <a:fillRect/>
          </a:stretch>
        </p:blipFill>
        <p:spPr>
          <a:xfrm>
            <a:off x="5790895" y="4077374"/>
            <a:ext cx="5669280" cy="2213698"/>
          </a:xfrm>
          <a:prstGeom prst="rect">
            <a:avLst/>
          </a:prstGeom>
        </p:spPr>
      </p:pic>
      <p:sp>
        <p:nvSpPr>
          <p:cNvPr id="4" name="Etiqueta Torna a la pregunta del tema"/>
          <p:cNvSpPr/>
          <p:nvPr/>
        </p:nvSpPr>
        <p:spPr>
          <a:xfrm>
            <a:off x="1005840" y="960120"/>
            <a:ext cx="2563978" cy="310896"/>
          </a:xfrm>
          <a:prstGeom prst="roundRect">
            <a:avLst>
              <a:gd name="adj" fmla="val 50000"/>
            </a:avLst>
          </a:prstGeom>
          <a:solidFill>
            <a:srgbClr val="FFFFFF">
              <a:alpha val="18000"/>
            </a:srgbClr>
          </a:solidFill>
          <a:ln/>
        </p:spPr>
      </p:sp>
      <p:sp>
        <p:nvSpPr>
          <p:cNvPr id="5" name="Text 2"/>
          <p:cNvSpPr txBox="1"/>
          <p:nvPr/>
        </p:nvSpPr>
        <p:spPr>
          <a:xfrm>
            <a:off x="1005840" y="960120"/>
            <a:ext cx="2563978" cy="310896"/>
          </a:xfrm>
          <a:prstGeom prst="rect">
            <a:avLst/>
          </a:prstGeom>
          <a:noFill/>
          <a:ln/>
        </p:spPr>
        <p:txBody>
          <a:bodyPr wrap="square" lIns="0" tIns="0" rIns="0" bIns="0" rtlCol="0" anchor="ctr"/>
          <a:lstStyle/>
          <a:p>
            <a:pPr algn="ctr" indent="0" marL="0">
              <a:buNone/>
            </a:pPr>
            <a:r>
              <a:rPr lang="en-US" sz="1300" dirty="0">
                <a:solidFill>
                  <a:srgbClr val="FFFFFF"/>
                </a:solidFill>
                <a:latin typeface="Roboto" pitchFamily="34" charset="0"/>
                <a:ea typeface="Roboto" pitchFamily="34" charset="-122"/>
                <a:cs typeface="Roboto" pitchFamily="34" charset="-120"/>
              </a:rPr>
              <a:t>Torna a la pregunta del tema</a:t>
            </a:r>
            <a:endParaRPr lang="en-US" sz="1300" dirty="0"/>
          </a:p>
        </p:txBody>
      </p:sp>
      <p:sp>
        <p:nvSpPr>
          <p:cNvPr id="6" name="Text 3"/>
          <p:cNvSpPr txBox="1"/>
          <p:nvPr/>
        </p:nvSpPr>
        <p:spPr>
          <a:xfrm>
            <a:off x="1005840" y="1508760"/>
            <a:ext cx="9601200" cy="1645920"/>
          </a:xfrm>
          <a:prstGeom prst="rect">
            <a:avLst/>
          </a:prstGeom>
          <a:noFill/>
          <a:ln/>
        </p:spPr>
        <p:txBody>
          <a:bodyPr wrap="square" lIns="0" tIns="0" rIns="0" bIns="0" rtlCol="0" anchor="t"/>
          <a:lstStyle/>
          <a:p>
            <a:pPr indent="0" marL="0">
              <a:lnSpc>
                <a:spcPct val="100000"/>
              </a:lnSpc>
              <a:buNone/>
            </a:pPr>
            <a:r>
              <a:rPr lang="en-US" sz="3400" b="1" dirty="0">
                <a:solidFill>
                  <a:srgbClr val="FFFFFF"/>
                </a:solidFill>
                <a:latin typeface="Roboto" pitchFamily="34" charset="0"/>
                <a:ea typeface="Roboto" pitchFamily="34" charset="-122"/>
                <a:cs typeface="Roboto" pitchFamily="34" charset="-120"/>
              </a:rPr>
              <a:t>Com va funcionar un sistema estable però poc democràtic, i per què va acabar en dictadura?</a:t>
            </a:r>
            <a:endParaRPr lang="en-US" sz="3400" dirty="0"/>
          </a:p>
        </p:txBody>
      </p:sp>
      <p:sp>
        <p:nvSpPr>
          <p:cNvPr id="7" name="Text 4"/>
          <p:cNvSpPr txBox="1"/>
          <p:nvPr/>
        </p:nvSpPr>
        <p:spPr>
          <a:xfrm>
            <a:off x="1005840" y="3291840"/>
            <a:ext cx="6035040" cy="1188720"/>
          </a:xfrm>
          <a:prstGeom prst="rect">
            <a:avLst/>
          </a:prstGeom>
          <a:noFill/>
          <a:ln/>
        </p:spPr>
        <p:txBody>
          <a:bodyPr wrap="square" lIns="0" tIns="0" rIns="0" bIns="0" rtlCol="0" anchor="t"/>
          <a:lstStyle/>
          <a:p>
            <a:pPr indent="0" marL="0">
              <a:buNone/>
            </a:pPr>
            <a:r>
              <a:rPr lang="en-US" sz="1800" dirty="0">
                <a:solidFill>
                  <a:srgbClr val="FFFFFF"/>
                </a:solidFill>
                <a:latin typeface="Roboto" pitchFamily="34" charset="0"/>
                <a:ea typeface="Roboto" pitchFamily="34" charset="-122"/>
                <a:cs typeface="Roboto" pitchFamily="34" charset="-120"/>
              </a:rPr>
              <a:t>Estabilitat a canvi d'exclusió. Quan l'exclusió es va fer insostenible, el sistema va entrar en crisi, va acabar en la dictadura i va arrossegar la monarquia.</a:t>
            </a:r>
            <a:endParaRPr lang="en-US" sz="1800" dirty="0"/>
          </a:p>
        </p:txBody>
      </p:sp>
      <p:sp>
        <p:nvSpPr>
          <p:cNvPr id="8" name="Text 5"/>
          <p:cNvSpPr txBox="1"/>
          <p:nvPr/>
        </p:nvSpPr>
        <p:spPr>
          <a:xfrm>
            <a:off x="1005840" y="4754880"/>
            <a:ext cx="5029200" cy="731520"/>
          </a:xfrm>
          <a:prstGeom prst="rect">
            <a:avLst/>
          </a:prstGeom>
          <a:noFill/>
          <a:ln/>
        </p:spPr>
        <p:txBody>
          <a:bodyPr wrap="square" lIns="0" tIns="0" rIns="0" bIns="0" rtlCol="0" anchor="t"/>
          <a:lstStyle/>
          <a:p>
            <a:pPr indent="0" marL="0">
              <a:spcAft>
                <a:spcPts val="400"/>
              </a:spcAft>
              <a:buNone/>
            </a:pPr>
            <a:r>
              <a:rPr lang="en-US" sz="1500" b="1" u="sng" dirty="0">
                <a:solidFill>
                  <a:srgbClr val="FFFFFF"/>
                </a:solidFill>
                <a:latin typeface="Roboto" pitchFamily="34" charset="0"/>
                <a:ea typeface="Roboto" pitchFamily="34" charset="-122"/>
                <a:cs typeface="Roboto" pitchFamily="34" charset="-120"/>
                <a:hlinkClick r:id="rId2" invalidUrl="" action="" tgtFrame="" tooltip="Taller PAU" history="1" highlightClick="0" endSnd="0">
                  <a:extLst>
                    <a:ext uri="{A12FA001-AC4F-418D-AE19-62706E023703}">
                      <ahyp:hlinkClr xmlns:ahyp="http://schemas.microsoft.com/office/drawing/2018/hyperlinkcolor" val="tx"/>
                    </a:ext>
                  </a:extLst>
                </a:hlinkClick>
              </a:rPr>
              <a:t>Practica-ho al Taller PAU del tema</a:t>
            </a:r>
            <a:endParaRPr lang="en-US" sz="1500" dirty="0"/>
          </a:p>
          <a:p>
            <a:pPr indent="0" marL="0">
              <a:spcAft>
                <a:spcPts val="400"/>
              </a:spcAft>
              <a:buNone/>
            </a:pPr>
            <a:r>
              <a:rPr lang="en-US" sz="1500" dirty="0">
                <a:solidFill>
                  <a:srgbClr val="F9D9EB"/>
                </a:solidFill>
                <a:latin typeface="Roboto" pitchFamily="34" charset="0"/>
                <a:ea typeface="Roboto" pitchFamily="34" charset="-122"/>
                <a:cs typeface="Roboto" pitchFamily="34" charset="-120"/>
              </a:rPr>
              <a:t>professordesocials.cat</a:t>
            </a:r>
            <a:endParaRPr lang="en-US" sz="1500" dirty="0"/>
          </a:p>
        </p:txBody>
      </p:sp>
    </p:spTree>
  </p:cSld>
  <p:clrMapOvr>
    <a:masterClrMapping/>
  </p:clrMapOvr>
</p:sld>
</file>

<file path=ppt/theme/theme1.xml><?xml version="1.0" encoding="utf-8"?>
<a:theme xmlns:a="http://schemas.openxmlformats.org/drawingml/2006/main" name="Professor de socials · 2n de Batxillerat">
  <a:themeElements>
    <a:clrScheme name="Professor de socials · 2n de Batxillerat">
      <a:dk1>
        <a:srgbClr val="202124"/>
      </a:dk1>
      <a:lt1>
        <a:srgbClr val="FFFFFF"/>
      </a:lt1>
      <a:dk2>
        <a:srgbClr val="5F6368"/>
      </a:dk2>
      <a:lt2>
        <a:srgbClr val="FDE7F3"/>
      </a:lt2>
      <a:accent1>
        <a:srgbClr val="B80672"/>
      </a:accent1>
      <a:accent2>
        <a:srgbClr val="8E0558"/>
      </a:accent2>
      <a:accent3>
        <a:srgbClr val="DADCE0"/>
      </a:accent3>
      <a:accent4>
        <a:srgbClr val="80868B"/>
      </a:accent4>
      <a:accent5>
        <a:srgbClr val="F6F8FB"/>
      </a:accent5>
      <a:accent6>
        <a:srgbClr val="188038"/>
      </a:accent6>
      <a:hlink>
        <a:srgbClr val="B80672"/>
      </a:hlink>
      <a:folHlink>
        <a:srgbClr val="8E0558"/>
      </a:folHlink>
    </a:clrScheme>
    <a:fontScheme name="Professor de socials · 2n de Batxillerat">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professordesocials.cat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Restauració (1875–1931)</dc:title>
  <dc:subject>PptxGenJS Presentation</dc:subject>
  <dc:creator>Professor de socials</dc:creator>
  <cp:lastModifiedBy>Professor de socials</cp:lastModifiedBy>
  <cp:revision>1</cp:revision>
  <dcterms:created xsi:type="dcterms:W3CDTF">2026-10-12T11:07:37Z</dcterms:created>
  <dcterms:modified xsi:type="dcterms:W3CDTF">2026-10-12T11:07:37Z</dcterms:modified>
</cp:coreProperties>
</file>