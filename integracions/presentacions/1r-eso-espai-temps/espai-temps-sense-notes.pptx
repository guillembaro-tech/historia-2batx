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Lst>
  <p:notesMasterIdLst>
    <p:notesMasterId r:id="rId8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esentació" id="{dba580cc-264b-89f8-89e9-c0981e9d6ab0}">
          <p14:sldIdLst>
            <p14:sldId id="256"/>
            <p14:sldId id="257"/>
            <p14:sldId id="258"/>
          </p14:sldIdLst>
        </p14:section>
        <p14:section name="Apartat 1. Orientar-se. Els punts cardinals" id="{b3564273-b597-8fd7-a3a8-365260681e3e}">
          <p14:sldIdLst>
            <p14:sldId id="259"/>
            <p14:sldId id="260"/>
            <p14:sldId id="261"/>
            <p14:sldId id="262"/>
            <p14:sldId id="263"/>
            <p14:sldId id="264"/>
            <p14:sldId id="265"/>
            <p14:sldId id="266"/>
            <p14:sldId id="267"/>
          </p14:sldIdLst>
        </p14:section>
        <p14:section name="Apartat 2. Les coordenades geogràfiques" id="{bd6e443a-764f-d5d2-85f4-75afe1abe5a0}">
          <p14:sldIdLst>
            <p14:sldId id="268"/>
            <p14:sldId id="269"/>
            <p14:sldId id="270"/>
            <p14:sldId id="271"/>
            <p14:sldId id="272"/>
            <p14:sldId id="273"/>
            <p14:sldId id="274"/>
          </p14:sldIdLst>
        </p14:section>
        <p14:section name="Apartat 3. Els mapes. Del paper a la pantalla" id="{b675d4c6-d40e-7418-83b0-79344abb0be5}">
          <p14:sldIdLst>
            <p14:sldId id="275"/>
            <p14:sldId id="276"/>
            <p14:sldId id="277"/>
            <p14:sldId id="278"/>
            <p14:sldId id="279"/>
            <p14:sldId id="280"/>
            <p14:sldId id="281"/>
            <p14:sldId id="282"/>
            <p14:sldId id="283"/>
            <p14:sldId id="284"/>
            <p14:sldId id="285"/>
            <p14:sldId id="286"/>
            <p14:sldId id="287"/>
            <p14:sldId id="288"/>
            <p14:sldId id="289"/>
            <p14:sldId id="290"/>
          </p14:sldIdLst>
        </p14:section>
        <p14:section name="Apartat 4. Els moviments de la Terra" id="{edf152ec-c3eb-7872-e1b5-6dbb7c4a7d8d}">
          <p14:sldIdLst>
            <p14:sldId id="291"/>
            <p14:sldId id="292"/>
            <p14:sldId id="293"/>
            <p14:sldId id="294"/>
            <p14:sldId id="295"/>
            <p14:sldId id="296"/>
            <p14:sldId id="297"/>
            <p14:sldId id="298"/>
            <p14:sldId id="299"/>
          </p14:sldIdLst>
        </p14:section>
        <p14:section name="Apartat 5. Què és la història i per què l'estudiem" id="{a565022d-aa8b-186b-e7fe-da6343bbfe17}">
          <p14:sldIdLst>
            <p14:sldId id="300"/>
            <p14:sldId id="301"/>
            <p14:sldId id="302"/>
            <p14:sldId id="303"/>
            <p14:sldId id="304"/>
            <p14:sldId id="305"/>
            <p14:sldId id="306"/>
            <p14:sldId id="307"/>
          </p14:sldIdLst>
        </p14:section>
        <p14:section name="Apartat 6. Com sabem què va passar? Les fonts històriques" id="{21e2c963-a02f-f453-4d82-3b55d38818e7}">
          <p14:sldIdLst>
            <p14:sldId id="308"/>
            <p14:sldId id="309"/>
            <p14:sldId id="310"/>
            <p14:sldId id="311"/>
            <p14:sldId id="312"/>
            <p14:sldId id="313"/>
            <p14:sldId id="314"/>
            <p14:sldId id="315"/>
            <p14:sldId id="316"/>
            <p14:sldId id="317"/>
          </p14:sldIdLst>
        </p14:section>
        <p14:section name="Apartat 7. Com mesurem el temps" id="{4e31ba6a-0967-7e1c-e389-1b34eaa58c64}">
          <p14:sldIdLst>
            <p14:sldId id="318"/>
            <p14:sldId id="319"/>
            <p14:sldId id="320"/>
            <p14:sldId id="321"/>
            <p14:sldId id="322"/>
            <p14:sldId id="323"/>
            <p14:sldId id="324"/>
            <p14:sldId id="325"/>
          </p14:sldIdLst>
        </p14:section>
        <p14:section name="Apartat 8. Les edats de la història" id="{1e2db06b-c9b0-26eb-3e7d-a8a6c0d9c577}">
          <p14:sldIdLst>
            <p14:sldId id="326"/>
            <p14:sldId id="327"/>
            <p14:sldId id="328"/>
            <p14:sldId id="329"/>
            <p14:sldId id="330"/>
            <p14:sldId id="331"/>
          </p14:sldIdLst>
        </p14:section>
        <p14:section name="Apartat 9. Les línies del temps i els frisos cronològics" id="{7f27ca38-3b8f-16fc-db25-90c437cb7401}">
          <p14:sldIdLst>
            <p14:sldId id="332"/>
            <p14:sldId id="333"/>
            <p14:sldId id="334"/>
            <p14:sldId id="335"/>
            <p14:sldId id="336"/>
            <p14:sldId id="337"/>
            <p14:sldId id="338"/>
            <p14:sldId id="339"/>
            <p14:sldId id="34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notesMaster" Target="notesMasters/notesMaster1.xml"/><Relationship Id="rId88" Type="http://schemas.openxmlformats.org/officeDocument/2006/relationships/presProps" Target="presProps.xml"/><Relationship Id="rId89" Type="http://schemas.openxmlformats.org/officeDocument/2006/relationships/viewProps" Target="viewProps.xml"/><Relationship Id="rId90" Type="http://schemas.openxmlformats.org/officeDocument/2006/relationships/theme" Target="theme/theme1.xml"/><Relationship Id="rId9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parador">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6291072"/>
            <a:ext cx="11094415" cy="0"/>
          </a:xfrm>
          <a:prstGeom prst="line">
            <a:avLst/>
          </a:prstGeom>
          <a:noFill/>
          <a:ln w="9525">
            <a:solidFill>
              <a:srgbClr val="DADCE0"/>
            </a:solidFill>
            <a:prstDash val="solid"/>
          </a:ln>
        </p:spPr>
      </p:sp>
      <p:sp>
        <p:nvSpPr>
          <p:cNvPr id="3" name="Text 1"/>
          <p:cNvSpPr/>
          <p:nvPr/>
        </p:nvSpPr>
        <p:spPr>
          <a:xfrm>
            <a:off x="548640" y="6400800"/>
            <a:ext cx="3657600" cy="274320"/>
          </a:xfrm>
          <a:prstGeom prst="rect">
            <a:avLst/>
          </a:prstGeom>
          <a:noFill/>
          <a:ln/>
        </p:spPr>
        <p:txBody>
          <a:bodyPr wrap="square" lIns="0" tIns="0" rIns="0" bIns="0" rtlCol="0" anchor="ctr"/>
          <a:lstStyle/>
          <a:p>
            <a:pPr indent="0" marL="0">
              <a:buNone/>
            </a:pPr>
            <a:r>
              <a:rPr lang="en-US" sz="1000" dirty="0">
                <a:solidFill>
                  <a:srgbClr val="80868B"/>
                </a:solidFill>
                <a:latin typeface="Roboto" pitchFamily="34" charset="0"/>
                <a:ea typeface="Roboto" pitchFamily="34" charset="-122"/>
                <a:cs typeface="Roboto" pitchFamily="34" charset="-120"/>
              </a:rPr>
              <a:t>professordesocials.cat</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uida">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01168"/>
            <a:ext cx="8229600" cy="274320"/>
          </a:xfrm>
          <a:prstGeom prst="rect">
            <a:avLst/>
          </a:prstGeom>
          <a:noFill/>
          <a:ln/>
        </p:spPr>
        <p:txBody>
          <a:bodyPr wrap="square" lIns="0" tIns="0" rIns="0" bIns="0" rtlCol="0" anchor="ctr"/>
          <a:lstStyle/>
          <a:p>
            <a:pPr indent="0" marL="0">
              <a:buNone/>
            </a:pPr>
            <a:r>
              <a:rPr lang="en-US" sz="1050" dirty="0">
                <a:solidFill>
                  <a:srgbClr val="5F6368"/>
                </a:solidFill>
                <a:latin typeface="Roboto" pitchFamily="34" charset="0"/>
                <a:ea typeface="Roboto" pitchFamily="34" charset="-122"/>
                <a:cs typeface="Roboto" pitchFamily="34" charset="-120"/>
              </a:rPr>
              <a:t>1r ESO  ›  Ciències socials  ›  Unitat 1. Situar-nos en l'espai i en el temps</a:t>
            </a:r>
            <a:endParaRPr lang="en-US" sz="1050" dirty="0"/>
          </a:p>
        </p:txBody>
      </p:sp>
      <p:sp>
        <p:nvSpPr>
          <p:cNvPr id="3" name="Shape 1"/>
          <p:cNvSpPr/>
          <p:nvPr/>
        </p:nvSpPr>
        <p:spPr>
          <a:xfrm>
            <a:off x="548640" y="6291072"/>
            <a:ext cx="11094415" cy="0"/>
          </a:xfrm>
          <a:prstGeom prst="line">
            <a:avLst/>
          </a:prstGeom>
          <a:noFill/>
          <a:ln w="9525">
            <a:solidFill>
              <a:srgbClr val="DADCE0"/>
            </a:solidFill>
            <a:prstDash val="solid"/>
          </a:ln>
        </p:spPr>
      </p:sp>
      <p:sp>
        <p:nvSpPr>
          <p:cNvPr id="4" name="Text 2"/>
          <p:cNvSpPr/>
          <p:nvPr/>
        </p:nvSpPr>
        <p:spPr>
          <a:xfrm>
            <a:off x="548640" y="6400800"/>
            <a:ext cx="3657600" cy="274320"/>
          </a:xfrm>
          <a:prstGeom prst="rect">
            <a:avLst/>
          </a:prstGeom>
          <a:noFill/>
          <a:ln/>
        </p:spPr>
        <p:txBody>
          <a:bodyPr wrap="square" lIns="0" tIns="0" rIns="0" bIns="0" rtlCol="0" anchor="ctr"/>
          <a:lstStyle/>
          <a:p>
            <a:pPr indent="0" marL="0">
              <a:buNone/>
            </a:pPr>
            <a:r>
              <a:rPr lang="en-US" sz="1000" dirty="0">
                <a:solidFill>
                  <a:srgbClr val="80868B"/>
                </a:solidFill>
                <a:latin typeface="Roboto" pitchFamily="34" charset="0"/>
                <a:ea typeface="Roboto" pitchFamily="34" charset="-122"/>
                <a:cs typeface="Roboto" pitchFamily="34" charset="-120"/>
              </a:rPr>
              <a:t>professordesocials.cat</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ingu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01168"/>
            <a:ext cx="8229600" cy="274320"/>
          </a:xfrm>
          <a:prstGeom prst="rect">
            <a:avLst/>
          </a:prstGeom>
          <a:noFill/>
          <a:ln/>
        </p:spPr>
        <p:txBody>
          <a:bodyPr wrap="square" lIns="0" tIns="0" rIns="0" bIns="0" rtlCol="0" anchor="ctr"/>
          <a:lstStyle/>
          <a:p>
            <a:pPr indent="0" marL="0">
              <a:buNone/>
            </a:pPr>
            <a:r>
              <a:rPr lang="en-US" sz="1050" dirty="0">
                <a:solidFill>
                  <a:srgbClr val="5F6368"/>
                </a:solidFill>
                <a:latin typeface="Roboto" pitchFamily="34" charset="0"/>
                <a:ea typeface="Roboto" pitchFamily="34" charset="-122"/>
                <a:cs typeface="Roboto" pitchFamily="34" charset="-120"/>
              </a:rPr>
              <a:t>1r ESO  ›  Ciències socials  ›  Unitat 1. Situar-nos en l'espai i en el temps</a:t>
            </a:r>
            <a:endParaRPr lang="en-US" sz="1050" dirty="0"/>
          </a:p>
        </p:txBody>
      </p:sp>
      <p:sp>
        <p:nvSpPr>
          <p:cNvPr id="3" name="Text 1"/>
          <p:cNvSpPr/>
          <p:nvPr>
            <p:ph idx="101" type="title" hasCustomPrompt="1"/>
          </p:nvPr>
        </p:nvSpPr>
        <p:spPr>
          <a:xfrm>
            <a:off x="1298448" y="566928"/>
            <a:ext cx="10344607" cy="566928"/>
          </a:xfrm>
          <a:prstGeom prst="rect">
            <a:avLst/>
          </a:prstGeom>
          <a:noFill/>
          <a:ln/>
        </p:spPr>
        <p:txBody>
          <a:bodyPr wrap="square" rtlCol="0"/>
          <a:lstStyle>
            <a:lvl1pPr algn="l" indent="0" marL="0">
              <a:buNone/>
              <a:defRPr lang="en-US" sz="2800" b="1" dirty="0">
                <a:solidFill>
                  <a:srgbClr val="202124"/>
                </a:solidFill>
                <a:latin typeface="Roboto" pitchFamily="34" charset="0"/>
                <a:ea typeface="Roboto" pitchFamily="34" charset="-122"/>
                <a:cs typeface="Roboto" pitchFamily="34" charset="-120"/>
              </a:defRPr>
            </a:lvl1pPr>
          </a:lstStyle>
          <a:p>
            <a:pPr algn="l" indent="0" marL="0">
              <a:buNone/>
            </a:pPr>
            <a:endParaRPr lang="en-US" sz="2800" dirty="0"/>
          </a:p>
        </p:txBody>
      </p:sp>
      <p:sp>
        <p:nvSpPr>
          <p:cNvPr id="4" name="Shape 1"/>
          <p:cNvSpPr/>
          <p:nvPr/>
        </p:nvSpPr>
        <p:spPr>
          <a:xfrm>
            <a:off x="548640" y="6291072"/>
            <a:ext cx="11094415" cy="0"/>
          </a:xfrm>
          <a:prstGeom prst="line">
            <a:avLst/>
          </a:prstGeom>
          <a:noFill/>
          <a:ln w="9525">
            <a:solidFill>
              <a:srgbClr val="DADCE0"/>
            </a:solidFill>
            <a:prstDash val="solid"/>
          </a:ln>
        </p:spPr>
      </p:sp>
      <p:sp>
        <p:nvSpPr>
          <p:cNvPr id="5" name="Text 2"/>
          <p:cNvSpPr/>
          <p:nvPr/>
        </p:nvSpPr>
        <p:spPr>
          <a:xfrm>
            <a:off x="548640" y="6400800"/>
            <a:ext cx="3657600" cy="274320"/>
          </a:xfrm>
          <a:prstGeom prst="rect">
            <a:avLst/>
          </a:prstGeom>
          <a:noFill/>
          <a:ln/>
        </p:spPr>
        <p:txBody>
          <a:bodyPr wrap="square" lIns="0" tIns="0" rIns="0" bIns="0" rtlCol="0" anchor="ctr"/>
          <a:lstStyle/>
          <a:p>
            <a:pPr indent="0" marL="0">
              <a:buNone/>
            </a:pPr>
            <a:r>
              <a:rPr lang="en-US" sz="1000" dirty="0">
                <a:solidFill>
                  <a:srgbClr val="80868B"/>
                </a:solidFill>
                <a:latin typeface="Roboto" pitchFamily="34" charset="0"/>
                <a:ea typeface="Roboto" pitchFamily="34" charset="-122"/>
                <a:cs typeface="Roboto" pitchFamily="34" charset="-120"/>
              </a:rPr>
              <a:t>professordesocials.cat</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5.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5.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jp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5.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5.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5.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png"/><Relationship Id="rId3" Type="http://schemas.openxmlformats.org/officeDocument/2006/relationships/slideLayout" Target="../slideLayouts/slideLayout5.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5.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slideLayout" Target="../slideLayouts/slideLayout5.xml"/><Relationship Id="rId11"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5.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jpg"/><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5.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5.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5.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5.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5.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jpg"/><Relationship Id="rId3" Type="http://schemas.openxmlformats.org/officeDocument/2006/relationships/slideLayout" Target="../slideLayouts/slideLayout3.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5.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5.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slideLayout" Target="../slideLayouts/slideLayout5.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slideLayout" Target="../slideLayouts/slideLayout5.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slideLayout" Target="../slideLayouts/slideLayout5.xml"/><Relationship Id="rId7"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slideLayout" Target="../slideLayouts/slideLayout5.xml"/><Relationship Id="rId6"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slideLayout" Target="../slideLayouts/slideLayout5.xml"/><Relationship Id="rId5"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5.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slideLayout" Target="../slideLayouts/slideLayout5.xml"/><Relationship Id="rId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image" Target="../media/image-32-2.jpg"/><Relationship Id="rId3" Type="http://schemas.openxmlformats.org/officeDocument/2006/relationships/slideLayout" Target="../slideLayouts/slideLayout5.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slideLayout" Target="../slideLayouts/slideLayout5.xml"/><Relationship Id="rId5"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image" Target="../media/image-34-3.png"/><Relationship Id="rId6" Type="http://schemas.openxmlformats.org/officeDocument/2006/relationships/image" Target="../media/image-34-4.png"/><Relationship Id="rId7" Type="http://schemas.openxmlformats.org/officeDocument/2006/relationships/image" Target="../media/image-34-1.png"/><Relationship Id="rId8" Type="http://schemas.openxmlformats.org/officeDocument/2006/relationships/image" Target="../media/image-34-2.png"/><Relationship Id="rId9" Type="http://schemas.openxmlformats.org/officeDocument/2006/relationships/image" Target="../media/image-34-9.png"/><Relationship Id="rId10" Type="http://schemas.openxmlformats.org/officeDocument/2006/relationships/image" Target="../media/image-34-10.png"/><Relationship Id="rId11" Type="http://schemas.openxmlformats.org/officeDocument/2006/relationships/image" Target="../media/image-34-11.png"/><Relationship Id="rId12" Type="http://schemas.openxmlformats.org/officeDocument/2006/relationships/slideLayout" Target="../slideLayouts/slideLayout5.xml"/><Relationship Id="rId1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jpg"/><Relationship Id="rId3" Type="http://schemas.openxmlformats.org/officeDocument/2006/relationships/slideLayout" Target="../slideLayouts/slideLayout3.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slideLayout" Target="../slideLayouts/slideLayout5.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slideLayout" Target="../slideLayouts/slideLayout5.xml"/><Relationship Id="rId6"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slideLayout" Target="../slideLayouts/slideLayout5.xml"/><Relationship Id="rId5"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slideLayout" Target="../slideLayouts/slideLayout5.xml"/><Relationship Id="rId5"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image" Target="../media/image-41-3.png"/><Relationship Id="rId4" Type="http://schemas.openxmlformats.org/officeDocument/2006/relationships/slideLayout" Target="../slideLayouts/slideLayout5.xml"/><Relationship Id="rId5"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5.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slideLayout" Target="../slideLayouts/slideLayout5.xml"/><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jpg"/><Relationship Id="rId3" Type="http://schemas.openxmlformats.org/officeDocument/2006/relationships/slideLayout" Target="../slideLayouts/slideLayout3.xml"/><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image" Target="../media/image-46-3.png"/><Relationship Id="rId4" Type="http://schemas.openxmlformats.org/officeDocument/2006/relationships/image" Target="../media/image-46-4.png"/><Relationship Id="rId5" Type="http://schemas.openxmlformats.org/officeDocument/2006/relationships/image" Target="../media/image-46-5.png"/><Relationship Id="rId6" Type="http://schemas.openxmlformats.org/officeDocument/2006/relationships/image" Target="../media/image-46-6.png"/><Relationship Id="rId7" Type="http://schemas.openxmlformats.org/officeDocument/2006/relationships/slideLayout" Target="../slideLayouts/slideLayout5.xml"/><Relationship Id="rId8"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image" Target="../media/image-47-3.png"/><Relationship Id="rId4" Type="http://schemas.openxmlformats.org/officeDocument/2006/relationships/slideLayout" Target="../slideLayouts/slideLayout5.xml"/><Relationship Id="rId5"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image" Target="../media/image-48-3.png"/><Relationship Id="rId4" Type="http://schemas.openxmlformats.org/officeDocument/2006/relationships/slideLayout" Target="../slideLayouts/slideLayout5.xml"/><Relationship Id="rId5"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image" Target="../media/image-49-3.png"/><Relationship Id="rId4" Type="http://schemas.openxmlformats.org/officeDocument/2006/relationships/slideLayout" Target="../slideLayouts/slideLayout5.xml"/><Relationship Id="rId5"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jpg"/><Relationship Id="rId2" Type="http://schemas.openxmlformats.org/officeDocument/2006/relationships/image" Target="../media/image-50-2.png"/><Relationship Id="rId3" Type="http://schemas.openxmlformats.org/officeDocument/2006/relationships/slideLayout" Target="../slideLayouts/slideLayout5.xml"/><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slideLayout" Target="../slideLayouts/slideLayout5.xml"/><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jpg"/><Relationship Id="rId3" Type="http://schemas.openxmlformats.org/officeDocument/2006/relationships/slideLayout" Target="../slideLayouts/slideLayout3.xml"/><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image" Target="../media/image-54-2.png"/><Relationship Id="rId3" Type="http://schemas.openxmlformats.org/officeDocument/2006/relationships/slideLayout" Target="../slideLayouts/slideLayout5.xml"/><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jpg"/><Relationship Id="rId2" Type="http://schemas.openxmlformats.org/officeDocument/2006/relationships/image" Target="../media/image-55-2.png"/><Relationship Id="rId3" Type="http://schemas.openxmlformats.org/officeDocument/2006/relationships/image" Target="../media/image-55-3.png"/><Relationship Id="rId4" Type="http://schemas.openxmlformats.org/officeDocument/2006/relationships/image" Target="../media/image-55-4.png"/><Relationship Id="rId5" Type="http://schemas.openxmlformats.org/officeDocument/2006/relationships/slideLayout" Target="../slideLayouts/slideLayout5.xml"/><Relationship Id="rId6"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jpg"/><Relationship Id="rId2" Type="http://schemas.openxmlformats.org/officeDocument/2006/relationships/slideLayout" Target="../slideLayouts/slideLayout5.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image" Target="../media/image-57-2.png"/><Relationship Id="rId3" Type="http://schemas.openxmlformats.org/officeDocument/2006/relationships/image" Target="../media/image-57-3.png"/><Relationship Id="rId4" Type="http://schemas.openxmlformats.org/officeDocument/2006/relationships/image" Target="../media/image-57-4.png"/><Relationship Id="rId5" Type="http://schemas.openxmlformats.org/officeDocument/2006/relationships/slideLayout" Target="../slideLayouts/slideLayout5.xml"/><Relationship Id="rId6"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image" Target="../media/image-58-2.png"/><Relationship Id="rId3" Type="http://schemas.openxmlformats.org/officeDocument/2006/relationships/image" Target="../media/image-58-3.png"/><Relationship Id="rId4" Type="http://schemas.openxmlformats.org/officeDocument/2006/relationships/slideLayout" Target="../slideLayouts/slideLayout5.xml"/><Relationship Id="rId5"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image" Target="../media/image-59-2.png"/><Relationship Id="rId3" Type="http://schemas.openxmlformats.org/officeDocument/2006/relationships/image" Target="../media/image-59-3.png"/><Relationship Id="rId4" Type="http://schemas.openxmlformats.org/officeDocument/2006/relationships/image" Target="../media/image-59-1.png"/><Relationship Id="rId5" Type="http://schemas.openxmlformats.org/officeDocument/2006/relationships/slideLayout" Target="../slideLayouts/slideLayout5.xml"/><Relationship Id="rId6"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image" Target="../media/image-60-2.png"/><Relationship Id="rId3" Type="http://schemas.openxmlformats.org/officeDocument/2006/relationships/image" Target="../media/image-60-3.png"/><Relationship Id="rId4" Type="http://schemas.openxmlformats.org/officeDocument/2006/relationships/image" Target="../media/image-60-4.png"/><Relationship Id="rId5" Type="http://schemas.openxmlformats.org/officeDocument/2006/relationships/slideLayout" Target="../slideLayouts/slideLayout5.xml"/><Relationship Id="rId6"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image" Target="../media/image-61-2.png"/><Relationship Id="rId3" Type="http://schemas.openxmlformats.org/officeDocument/2006/relationships/image" Target="../media/image-61-3.png"/><Relationship Id="rId4" Type="http://schemas.openxmlformats.org/officeDocument/2006/relationships/slideLayout" Target="../slideLayouts/slideLayout5.xml"/><Relationship Id="rId5"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image" Target="../media/image-63-2.jpg"/><Relationship Id="rId3" Type="http://schemas.openxmlformats.org/officeDocument/2006/relationships/slideLayout" Target="../slideLayouts/slideLayout3.xml"/><Relationship Id="rId4"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image" Target="../media/image-65-2.png"/><Relationship Id="rId3" Type="http://schemas.openxmlformats.org/officeDocument/2006/relationships/image" Target="../media/image-65-3.png"/><Relationship Id="rId4" Type="http://schemas.openxmlformats.org/officeDocument/2006/relationships/image" Target="../media/image-65-4.png"/><Relationship Id="rId5" Type="http://schemas.openxmlformats.org/officeDocument/2006/relationships/slideLayout" Target="../slideLayouts/slideLayout5.xml"/><Relationship Id="rId6"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image" Target="../media/image-66-2.png"/><Relationship Id="rId3" Type="http://schemas.openxmlformats.org/officeDocument/2006/relationships/slideLayout" Target="../slideLayouts/slideLayout5.xml"/><Relationship Id="rId4"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image" Target="../media/image-67-2.png"/><Relationship Id="rId3" Type="http://schemas.openxmlformats.org/officeDocument/2006/relationships/image" Target="../media/image-67-3.png"/><Relationship Id="rId4" Type="http://schemas.openxmlformats.org/officeDocument/2006/relationships/slideLayout" Target="../slideLayouts/slideLayout5.xml"/><Relationship Id="rId5"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image" Target="../media/image-68-2.png"/><Relationship Id="rId3" Type="http://schemas.openxmlformats.org/officeDocument/2006/relationships/image" Target="../media/image-68-3.png"/><Relationship Id="rId4" Type="http://schemas.openxmlformats.org/officeDocument/2006/relationships/slideLayout" Target="../slideLayouts/slideLayout5.xml"/><Relationship Id="rId5"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image" Target="../media/image-71-2.png"/><Relationship Id="rId3" Type="http://schemas.openxmlformats.org/officeDocument/2006/relationships/slideLayout" Target="../slideLayouts/slideLayout3.xml"/><Relationship Id="rId4"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png"/><Relationship Id="rId2" Type="http://schemas.openxmlformats.org/officeDocument/2006/relationships/slideLayout" Target="../slideLayouts/slideLayout5.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image" Target="../media/image-74-2.png"/><Relationship Id="rId3" Type="http://schemas.openxmlformats.org/officeDocument/2006/relationships/slideLayout" Target="../slideLayouts/slideLayout5.xml"/><Relationship Id="rId4"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image" Target="../media/image-75-2.png"/><Relationship Id="rId3" Type="http://schemas.openxmlformats.org/officeDocument/2006/relationships/image" Target="../media/image-75-3.png"/><Relationship Id="rId4" Type="http://schemas.openxmlformats.org/officeDocument/2006/relationships/slideLayout" Target="../slideLayouts/slideLayout5.xml"/><Relationship Id="rId5"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image" Target="../media/image-77-1.png"/><Relationship Id="rId2" Type="http://schemas.openxmlformats.org/officeDocument/2006/relationships/image" Target="../media/image-77-2.png"/><Relationship Id="rId3" Type="http://schemas.openxmlformats.org/officeDocument/2006/relationships/slideLayout" Target="../slideLayouts/slideLayout3.xml"/><Relationship Id="rId4"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image-78-1.png"/><Relationship Id="rId2" Type="http://schemas.openxmlformats.org/officeDocument/2006/relationships/image" Target="../media/image-78-2.png"/><Relationship Id="rId3" Type="http://schemas.openxmlformats.org/officeDocument/2006/relationships/image" Target="../media/image-78-3.png"/><Relationship Id="rId4" Type="http://schemas.openxmlformats.org/officeDocument/2006/relationships/slideLayout" Target="../slideLayouts/slideLayout5.xml"/><Relationship Id="rId5"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image-79-1.png"/><Relationship Id="rId2" Type="http://schemas.openxmlformats.org/officeDocument/2006/relationships/slideLayout" Target="../slideLayouts/slideLayout5.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image-80-1.png"/><Relationship Id="rId2" Type="http://schemas.openxmlformats.org/officeDocument/2006/relationships/image" Target="../media/image-80-2.png"/><Relationship Id="rId3" Type="http://schemas.openxmlformats.org/officeDocument/2006/relationships/image" Target="../media/image-80-3.png"/><Relationship Id="rId4" Type="http://schemas.openxmlformats.org/officeDocument/2006/relationships/image" Target="../media/image-80-4.png"/><Relationship Id="rId5" Type="http://schemas.openxmlformats.org/officeDocument/2006/relationships/slideLayout" Target="../slideLayouts/slideLayout5.xml"/><Relationship Id="rId6"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image" Target="../media/image-81-1.png"/><Relationship Id="rId2" Type="http://schemas.openxmlformats.org/officeDocument/2006/relationships/image" Target="../media/image-81-1.png"/><Relationship Id="rId3" Type="http://schemas.openxmlformats.org/officeDocument/2006/relationships/image" Target="../media/image-81-3.png"/><Relationship Id="rId4" Type="http://schemas.openxmlformats.org/officeDocument/2006/relationships/slideLayout" Target="../slideLayouts/slideLayout5.xml"/><Relationship Id="rId5"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image" Target="../media/image-82-1.png"/><Relationship Id="rId2" Type="http://schemas.openxmlformats.org/officeDocument/2006/relationships/image" Target="../media/image-82-2.png"/><Relationship Id="rId3" Type="http://schemas.openxmlformats.org/officeDocument/2006/relationships/slideLayout" Target="../slideLayouts/slideLayout5.xml"/><Relationship Id="rId4"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image" Target="../media/image-83-1.png"/><Relationship Id="rId2" Type="http://schemas.openxmlformats.org/officeDocument/2006/relationships/image" Target="../media/image-83-2.png"/><Relationship Id="rId3" Type="http://schemas.openxmlformats.org/officeDocument/2006/relationships/slideLayout" Target="../slideLayouts/slideLayout5.xml"/><Relationship Id="rId4"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image" Target="../media/image-84-1.png"/><Relationship Id="rId2" Type="http://schemas.openxmlformats.org/officeDocument/2006/relationships/image" Target="../media/image-84-2.png"/><Relationship Id="rId3" Type="http://schemas.openxmlformats.org/officeDocument/2006/relationships/image" Target="../media/image-84-3.png"/><Relationship Id="rId4" Type="http://schemas.openxmlformats.org/officeDocument/2006/relationships/slideLayout" Target="../slideLayouts/slideLayout5.xml"/><Relationship Id="rId5"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apçalera"/>
          <p:cNvSpPr/>
          <p:nvPr/>
        </p:nvSpPr>
        <p:spPr>
          <a:xfrm>
            <a:off x="548640" y="548640"/>
            <a:ext cx="7086600" cy="5760720"/>
          </a:xfrm>
          <a:prstGeom prst="roundRect">
            <a:avLst>
              <a:gd name="adj" fmla="val 1746"/>
            </a:avLst>
          </a:prstGeom>
          <a:solidFill>
            <a:srgbClr val="188038"/>
          </a:solidFill>
          <a:ln/>
        </p:spPr>
      </p:sp>
      <p:pic>
        <p:nvPicPr>
          <p:cNvPr id="3" name="Il·lustració d'una rosa dels vents i un rellotge de sorra" descr="/home/claude/p857/build/hero-crop.png">    </p:cNvPr>
          <p:cNvPicPr>
            <a:picLocks noChangeAspect="1"/>
          </p:cNvPicPr>
          <p:nvPr/>
        </p:nvPicPr>
        <p:blipFill>
          <a:blip r:embed="rId1"/>
          <a:stretch>
            <a:fillRect/>
          </a:stretch>
        </p:blipFill>
        <p:spPr>
          <a:xfrm>
            <a:off x="4983480" y="4872175"/>
            <a:ext cx="2468880" cy="1418897"/>
          </a:xfrm>
          <a:prstGeom prst="rect">
            <a:avLst/>
          </a:prstGeom>
        </p:spPr>
      </p:pic>
      <p:sp>
        <p:nvSpPr>
          <p:cNvPr id="4" name="Text 1"/>
          <p:cNvSpPr txBox="1"/>
          <p:nvPr/>
        </p:nvSpPr>
        <p:spPr>
          <a:xfrm>
            <a:off x="1005840" y="914400"/>
            <a:ext cx="6217920" cy="274320"/>
          </a:xfrm>
          <a:prstGeom prst="rect">
            <a:avLst/>
          </a:prstGeom>
          <a:noFill/>
          <a:ln/>
        </p:spPr>
        <p:txBody>
          <a:bodyPr wrap="square" lIns="0" tIns="0" rIns="0" bIns="0" rtlCol="0" anchor="t"/>
          <a:lstStyle/>
          <a:p>
            <a:pPr indent="0" marL="0">
              <a:buNone/>
            </a:pPr>
            <a:r>
              <a:rPr lang="en-US" sz="1200" dirty="0">
                <a:solidFill>
                  <a:srgbClr val="D3EEDB"/>
                </a:solidFill>
                <a:latin typeface="Roboto" pitchFamily="34" charset="0"/>
                <a:ea typeface="Roboto" pitchFamily="34" charset="-122"/>
                <a:cs typeface="Roboto" pitchFamily="34" charset="-120"/>
              </a:rPr>
              <a:t>professordesocials.cat  ›  1r ESO  ›  Ciències socials</a:t>
            </a:r>
            <a:endParaRPr lang="en-US" sz="1200" dirty="0"/>
          </a:p>
        </p:txBody>
      </p:sp>
      <p:sp>
        <p:nvSpPr>
          <p:cNvPr id="5" name="Text 2"/>
          <p:cNvSpPr txBox="1"/>
          <p:nvPr/>
        </p:nvSpPr>
        <p:spPr>
          <a:xfrm>
            <a:off x="1005840" y="1298448"/>
            <a:ext cx="6217920" cy="1417320"/>
          </a:xfrm>
          <a:prstGeom prst="rect">
            <a:avLst/>
          </a:prstGeom>
          <a:noFill/>
          <a:ln/>
        </p:spPr>
        <p:txBody>
          <a:bodyPr wrap="square" lIns="0" tIns="0" rIns="0" bIns="0" rtlCol="0" anchor="t"/>
          <a:lstStyle/>
          <a:p>
            <a:pPr indent="0" marL="0">
              <a:lnSpc>
                <a:spcPct val="95000"/>
              </a:lnSpc>
              <a:buNone/>
            </a:pPr>
            <a:r>
              <a:rPr lang="en-US" sz="4200" b="1" dirty="0">
                <a:solidFill>
                  <a:srgbClr val="FFFFFF"/>
                </a:solidFill>
                <a:latin typeface="Roboto" pitchFamily="34" charset="0"/>
                <a:ea typeface="Roboto" pitchFamily="34" charset="-122"/>
                <a:cs typeface="Roboto" pitchFamily="34" charset="-120"/>
              </a:rPr>
              <a:t>Situar-nos en l'espai i en el temps</a:t>
            </a:r>
            <a:endParaRPr lang="en-US" sz="4200" dirty="0"/>
          </a:p>
        </p:txBody>
      </p:sp>
      <p:sp>
        <p:nvSpPr>
          <p:cNvPr id="6" name="Text 3"/>
          <p:cNvSpPr txBox="1"/>
          <p:nvPr/>
        </p:nvSpPr>
        <p:spPr>
          <a:xfrm>
            <a:off x="1005840" y="2816352"/>
            <a:ext cx="6217920" cy="320040"/>
          </a:xfrm>
          <a:prstGeom prst="rect">
            <a:avLst/>
          </a:prstGeom>
          <a:noFill/>
          <a:ln/>
        </p:spPr>
        <p:txBody>
          <a:bodyPr wrap="square" lIns="0" tIns="0" rIns="0" bIns="0" rtlCol="0" anchor="t"/>
          <a:lstStyle/>
          <a:p>
            <a:pPr indent="0" marL="0">
              <a:buNone/>
            </a:pPr>
            <a:r>
              <a:rPr lang="en-US" sz="1500" dirty="0">
                <a:solidFill>
                  <a:srgbClr val="FFFFFF"/>
                </a:solidFill>
                <a:latin typeface="Roboto" pitchFamily="34" charset="0"/>
                <a:ea typeface="Roboto" pitchFamily="34" charset="-122"/>
                <a:cs typeface="Roboto" pitchFamily="34" charset="-120"/>
              </a:rPr>
              <a:t>Geografia i història  ·  Unitat 1</a:t>
            </a:r>
            <a:endParaRPr lang="en-US" sz="1500" dirty="0"/>
          </a:p>
        </p:txBody>
      </p:sp>
      <p:sp>
        <p:nvSpPr>
          <p:cNvPr id="7" name="Text 4"/>
          <p:cNvSpPr txBox="1"/>
          <p:nvPr/>
        </p:nvSpPr>
        <p:spPr>
          <a:xfrm>
            <a:off x="1005840" y="3273552"/>
            <a:ext cx="6126480" cy="1143000"/>
          </a:xfrm>
          <a:prstGeom prst="rect">
            <a:avLst/>
          </a:prstGeom>
          <a:noFill/>
          <a:ln/>
        </p:spPr>
        <p:txBody>
          <a:bodyPr wrap="square" lIns="0" tIns="0" rIns="0" bIns="0" rtlCol="0" anchor="t"/>
          <a:lstStyle/>
          <a:p>
            <a:pPr indent="0" marL="0">
              <a:buNone/>
            </a:pPr>
            <a:r>
              <a:rPr lang="en-US" sz="1700" dirty="0">
                <a:solidFill>
                  <a:srgbClr val="FFFFFF"/>
                </a:solidFill>
                <a:latin typeface="Roboto" pitchFamily="34" charset="0"/>
                <a:ea typeface="Roboto" pitchFamily="34" charset="-122"/>
                <a:cs typeface="Roboto" pitchFamily="34" charset="-120"/>
              </a:rPr>
              <a:t>On és exactament un lloc i quan va passar exactament una cosa? Abans d'estudiar cap civilització, necessites les eines que fan servir els geògrafs i els historiadors per situar-ho tot al mapa i en el temps.</a:t>
            </a:r>
            <a:endParaRPr lang="en-US" sz="1700" dirty="0"/>
          </a:p>
        </p:txBody>
      </p:sp>
      <p:sp>
        <p:nvSpPr>
          <p:cNvPr id="8" name="Etiqueta 9 apartats"/>
          <p:cNvSpPr/>
          <p:nvPr/>
        </p:nvSpPr>
        <p:spPr>
          <a:xfrm>
            <a:off x="1005840" y="4434840"/>
            <a:ext cx="1115568" cy="310896"/>
          </a:xfrm>
          <a:prstGeom prst="roundRect">
            <a:avLst>
              <a:gd name="adj" fmla="val 50000"/>
            </a:avLst>
          </a:prstGeom>
          <a:solidFill>
            <a:srgbClr val="FFFFFF">
              <a:alpha val="18000"/>
            </a:srgbClr>
          </a:solidFill>
          <a:ln/>
        </p:spPr>
      </p:sp>
      <p:sp>
        <p:nvSpPr>
          <p:cNvPr id="9" name="Text 6"/>
          <p:cNvSpPr txBox="1"/>
          <p:nvPr/>
        </p:nvSpPr>
        <p:spPr>
          <a:xfrm>
            <a:off x="1005840" y="4434840"/>
            <a:ext cx="1115568" cy="310896"/>
          </a:xfrm>
          <a:prstGeom prst="rect">
            <a:avLst/>
          </a:prstGeom>
          <a:noFill/>
          <a:ln/>
        </p:spPr>
        <p:txBody>
          <a:bodyPr wrap="square" lIns="0" tIns="0" rIns="0" bIns="0" rtlCol="0" anchor="ctr"/>
          <a:lstStyle/>
          <a:p>
            <a:pPr algn="ctr" indent="0" marL="0">
              <a:buNone/>
            </a:pPr>
            <a:r>
              <a:rPr lang="en-US" sz="1200" dirty="0">
                <a:solidFill>
                  <a:srgbClr val="FFFFFF"/>
                </a:solidFill>
                <a:latin typeface="Roboto" pitchFamily="34" charset="0"/>
                <a:ea typeface="Roboto" pitchFamily="34" charset="-122"/>
                <a:cs typeface="Roboto" pitchFamily="34" charset="-120"/>
              </a:rPr>
              <a:t>9 apartats</a:t>
            </a:r>
            <a:endParaRPr lang="en-US" sz="1200" dirty="0"/>
          </a:p>
        </p:txBody>
      </p:sp>
      <p:sp>
        <p:nvSpPr>
          <p:cNvPr id="10" name="Etiqueta Mapes i línies del temps"/>
          <p:cNvSpPr/>
          <p:nvPr/>
        </p:nvSpPr>
        <p:spPr>
          <a:xfrm>
            <a:off x="2231136" y="4434840"/>
            <a:ext cx="2242109" cy="310896"/>
          </a:xfrm>
          <a:prstGeom prst="roundRect">
            <a:avLst>
              <a:gd name="adj" fmla="val 50000"/>
            </a:avLst>
          </a:prstGeom>
          <a:solidFill>
            <a:srgbClr val="FFFFFF">
              <a:alpha val="18000"/>
            </a:srgbClr>
          </a:solidFill>
          <a:ln/>
        </p:spPr>
      </p:sp>
      <p:sp>
        <p:nvSpPr>
          <p:cNvPr id="11" name="Text 8"/>
          <p:cNvSpPr txBox="1"/>
          <p:nvPr/>
        </p:nvSpPr>
        <p:spPr>
          <a:xfrm>
            <a:off x="2231136" y="4434840"/>
            <a:ext cx="2242109" cy="310896"/>
          </a:xfrm>
          <a:prstGeom prst="rect">
            <a:avLst/>
          </a:prstGeom>
          <a:noFill/>
          <a:ln/>
        </p:spPr>
        <p:txBody>
          <a:bodyPr wrap="square" lIns="0" tIns="0" rIns="0" bIns="0" rtlCol="0" anchor="ctr"/>
          <a:lstStyle/>
          <a:p>
            <a:pPr algn="ctr" indent="0" marL="0">
              <a:buNone/>
            </a:pPr>
            <a:r>
              <a:rPr lang="en-US" sz="1200" dirty="0">
                <a:solidFill>
                  <a:srgbClr val="FFFFFF"/>
                </a:solidFill>
                <a:latin typeface="Roboto" pitchFamily="34" charset="0"/>
                <a:ea typeface="Roboto" pitchFamily="34" charset="-122"/>
                <a:cs typeface="Roboto" pitchFamily="34" charset="-120"/>
              </a:rPr>
              <a:t>Mapes i línies del temps</a:t>
            </a:r>
            <a:endParaRPr lang="en-US" sz="1200" dirty="0"/>
          </a:p>
        </p:txBody>
      </p:sp>
      <p:sp>
        <p:nvSpPr>
          <p:cNvPr id="12" name="Etiqueta Comprova-ho"/>
          <p:cNvSpPr/>
          <p:nvPr/>
        </p:nvSpPr>
        <p:spPr>
          <a:xfrm>
            <a:off x="4582973" y="4434840"/>
            <a:ext cx="1196035" cy="310896"/>
          </a:xfrm>
          <a:prstGeom prst="roundRect">
            <a:avLst>
              <a:gd name="adj" fmla="val 50000"/>
            </a:avLst>
          </a:prstGeom>
          <a:solidFill>
            <a:srgbClr val="FFFFFF">
              <a:alpha val="18000"/>
            </a:srgbClr>
          </a:solidFill>
          <a:ln/>
        </p:spPr>
      </p:sp>
      <p:sp>
        <p:nvSpPr>
          <p:cNvPr id="13" name="Text 10"/>
          <p:cNvSpPr txBox="1"/>
          <p:nvPr/>
        </p:nvSpPr>
        <p:spPr>
          <a:xfrm>
            <a:off x="4582973" y="4434840"/>
            <a:ext cx="1196035" cy="310896"/>
          </a:xfrm>
          <a:prstGeom prst="rect">
            <a:avLst/>
          </a:prstGeom>
          <a:noFill/>
          <a:ln/>
        </p:spPr>
        <p:txBody>
          <a:bodyPr wrap="square" lIns="0" tIns="0" rIns="0" bIns="0" rtlCol="0" anchor="ctr"/>
          <a:lstStyle/>
          <a:p>
            <a:pPr algn="ctr" indent="0" marL="0">
              <a:buNone/>
            </a:pPr>
            <a:r>
              <a:rPr lang="en-US" sz="1200" dirty="0">
                <a:solidFill>
                  <a:srgbClr val="FFFFFF"/>
                </a:solidFill>
                <a:latin typeface="Roboto" pitchFamily="34" charset="0"/>
                <a:ea typeface="Roboto" pitchFamily="34" charset="-122"/>
                <a:cs typeface="Roboto" pitchFamily="34" charset="-120"/>
              </a:rPr>
              <a:t>Comprova-ho</a:t>
            </a:r>
            <a:endParaRPr lang="en-US" sz="1200" dirty="0"/>
          </a:p>
        </p:txBody>
      </p:sp>
      <p:sp>
        <p:nvSpPr>
          <p:cNvPr id="14" name="Fons L'Atles Català"/>
          <p:cNvSpPr/>
          <p:nvPr/>
        </p:nvSpPr>
        <p:spPr>
          <a:xfrm>
            <a:off x="8001000" y="1729877"/>
            <a:ext cx="3642055" cy="2346685"/>
          </a:xfrm>
          <a:prstGeom prst="roundRect">
            <a:avLst>
              <a:gd name="adj" fmla="val 4286"/>
            </a:avLst>
          </a:prstGeom>
          <a:solidFill>
            <a:srgbClr val="F6F8FB"/>
          </a:solidFill>
          <a:ln/>
        </p:spPr>
      </p:sp>
      <p:pic>
        <p:nvPicPr>
          <p:cNvPr id="15" name="L'Atles Català" descr="/home/claude/p857/build/img/atles.jpg">    </p:cNvPr>
          <p:cNvPicPr>
            <a:picLocks noChangeAspect="1"/>
          </p:cNvPicPr>
          <p:nvPr/>
        </p:nvPicPr>
        <p:blipFill>
          <a:blip r:embed="rId2"/>
          <a:stretch>
            <a:fillRect/>
          </a:stretch>
        </p:blipFill>
        <p:spPr>
          <a:xfrm>
            <a:off x="8001000" y="1729877"/>
            <a:ext cx="3642055" cy="2346685"/>
          </a:xfrm>
          <a:prstGeom prst="rect">
            <a:avLst/>
          </a:prstGeom>
        </p:spPr>
      </p:pic>
      <p:sp>
        <p:nvSpPr>
          <p:cNvPr id="16" name="Text 12"/>
          <p:cNvSpPr txBox="1"/>
          <p:nvPr/>
        </p:nvSpPr>
        <p:spPr>
          <a:xfrm>
            <a:off x="8001000" y="4168003"/>
            <a:ext cx="3642055" cy="960120"/>
          </a:xfrm>
          <a:prstGeom prst="rect">
            <a:avLst/>
          </a:prstGeom>
          <a:noFill/>
          <a:ln/>
        </p:spPr>
        <p:txBody>
          <a:bodyPr wrap="square" lIns="0" tIns="0" rIns="0" bIns="0" rtlCol="0" anchor="t"/>
          <a:lstStyle/>
          <a:p>
            <a:pPr indent="0" marL="0">
              <a:buNone/>
            </a:pPr>
            <a:r>
              <a:rPr lang="en-US" sz="1000" dirty="0">
                <a:solidFill>
                  <a:srgbClr val="5F6368"/>
                </a:solidFill>
                <a:latin typeface="Roboto" pitchFamily="34" charset="0"/>
                <a:ea typeface="Roboto" pitchFamily="34" charset="-122"/>
                <a:cs typeface="Roboto" pitchFamily="34" charset="-120"/>
              </a:rPr>
              <a:t>L'Atles Català (cap al 1375). Es va fer a Mallorca i s'atribueix al cartògraf jueu Cresques Abraham. A l'esquerra hi ha una de les primeres roses dels vents dibuixades en un mapa. Mapa: Cresques Abraham, Wikimedia Commons, domini públic.</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pic>
        <p:nvPicPr>
          <p:cNvPr id="3" name="Icona" descr="/home/claude/p857/build/llibre.png">    </p:cNvPr>
          <p:cNvPicPr>
            <a:picLocks noChangeAspect="1"/>
          </p:cNvPicPr>
          <p:nvPr/>
        </p:nvPicPr>
        <p:blipFill>
          <a:blip r:embed="rId1"/>
          <a:stretch>
            <a:fillRect/>
          </a:stretch>
        </p:blipFill>
        <p:spPr>
          <a:xfrm>
            <a:off x="694944" y="713232"/>
            <a:ext cx="274320" cy="274320"/>
          </a:xfrm>
          <a:prstGeom prst="rect">
            <a:avLst/>
          </a:prstGeom>
        </p:spPr>
      </p:pic>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Què aprendràs</a:t>
            </a:r>
            <a:endParaRPr lang="en-US" sz="2800" dirty="0"/>
          </a:p>
        </p:txBody>
      </p:sp>
      <p:sp>
        <p:nvSpPr>
          <p:cNvPr id="5" name="Text 2"/>
          <p:cNvSpPr txBox="1"/>
          <p:nvPr/>
        </p:nvSpPr>
        <p:spPr>
          <a:xfrm>
            <a:off x="548640" y="1371600"/>
            <a:ext cx="7315200" cy="365760"/>
          </a:xfrm>
          <a:prstGeom prst="rect">
            <a:avLst/>
          </a:prstGeom>
          <a:noFill/>
          <a:ln/>
        </p:spPr>
        <p:txBody>
          <a:bodyPr wrap="square" lIns="0" tIns="0" rIns="0" bIns="0" rtlCol="0" anchor="t"/>
          <a:lstStyle/>
          <a:p>
            <a:pPr indent="0" marL="0">
              <a:buNone/>
            </a:pPr>
            <a:r>
              <a:rPr lang="en-US" sz="1700" dirty="0">
                <a:solidFill>
                  <a:srgbClr val="5F6368"/>
                </a:solidFill>
                <a:latin typeface="Roboto" pitchFamily="34" charset="0"/>
                <a:ea typeface="Roboto" pitchFamily="34" charset="-122"/>
                <a:cs typeface="Roboto" pitchFamily="34" charset="-120"/>
              </a:rPr>
              <a:t>Al final de la unitat seràs capaç de…</a:t>
            </a:r>
            <a:endParaRPr lang="en-US" sz="1700" dirty="0"/>
          </a:p>
        </p:txBody>
      </p:sp>
      <p:sp>
        <p:nvSpPr>
          <p:cNvPr id="6" name="Objectiu 1"/>
          <p:cNvSpPr/>
          <p:nvPr/>
        </p:nvSpPr>
        <p:spPr>
          <a:xfrm>
            <a:off x="548640" y="1920240"/>
            <a:ext cx="438912" cy="438912"/>
          </a:xfrm>
          <a:prstGeom prst="ellipse">
            <a:avLst/>
          </a:prstGeom>
          <a:solidFill>
            <a:srgbClr val="E6F4EA"/>
          </a:solidFill>
          <a:ln/>
        </p:spPr>
      </p:sp>
      <p:sp>
        <p:nvSpPr>
          <p:cNvPr id="7" name="Text 4"/>
          <p:cNvSpPr txBox="1"/>
          <p:nvPr/>
        </p:nvSpPr>
        <p:spPr>
          <a:xfrm>
            <a:off x="548640" y="1920240"/>
            <a:ext cx="438912" cy="438912"/>
          </a:xfrm>
          <a:prstGeom prst="rect">
            <a:avLst/>
          </a:prstGeom>
          <a:noFill/>
          <a:ln/>
        </p:spPr>
        <p:txBody>
          <a:bodyPr wrap="square" lIns="0" tIns="0" rIns="0" bIns="0" rtlCol="0" anchor="ctr"/>
          <a:lstStyle/>
          <a:p>
            <a:pPr algn="ctr" indent="0" marL="0">
              <a:buNone/>
            </a:pPr>
            <a:r>
              <a:rPr lang="en-US" sz="1600" b="1" dirty="0">
                <a:solidFill>
                  <a:srgbClr val="188038"/>
                </a:solidFill>
                <a:latin typeface="Roboto" pitchFamily="34" charset="0"/>
                <a:ea typeface="Roboto" pitchFamily="34" charset="-122"/>
                <a:cs typeface="Roboto" pitchFamily="34" charset="-120"/>
              </a:rPr>
              <a:t>1</a:t>
            </a:r>
            <a:endParaRPr lang="en-US" sz="1600" dirty="0"/>
          </a:p>
        </p:txBody>
      </p:sp>
      <p:sp>
        <p:nvSpPr>
          <p:cNvPr id="8" name="Text 5"/>
          <p:cNvSpPr txBox="1"/>
          <p:nvPr/>
        </p:nvSpPr>
        <p:spPr>
          <a:xfrm>
            <a:off x="1188720" y="1874520"/>
            <a:ext cx="10012680" cy="548640"/>
          </a:xfrm>
          <a:prstGeom prst="rect">
            <a:avLst/>
          </a:prstGeom>
          <a:noFill/>
          <a:ln/>
        </p:spPr>
        <p:txBody>
          <a:bodyPr wrap="square" lIns="0" tIns="0" rIns="0" bIns="0" rtlCol="0" anchor="ctr"/>
          <a:lstStyle/>
          <a:p>
            <a:pPr indent="0" marL="0">
              <a:buNone/>
            </a:pPr>
            <a:r>
              <a:rPr lang="en-US" sz="1800" dirty="0">
                <a:solidFill>
                  <a:srgbClr val="202124"/>
                </a:solidFill>
                <a:latin typeface="Roboto" pitchFamily="34" charset="0"/>
                <a:ea typeface="Roboto" pitchFamily="34" charset="-122"/>
                <a:cs typeface="Roboto" pitchFamily="34" charset="-120"/>
              </a:rPr>
              <a:t>Orientar-te al món amb els punts cardinals i les coordenades geogràfiques.</a:t>
            </a:r>
            <a:endParaRPr lang="en-US" sz="1800" dirty="0"/>
          </a:p>
        </p:txBody>
      </p:sp>
      <p:pic>
        <p:nvPicPr>
          <p:cNvPr id="9" name="Icona TbCompass" descr="/home/claude/p857/build/img/ic/TbCompass-g.png">    </p:cNvPr>
          <p:cNvPicPr>
            <a:picLocks noChangeAspect="1"/>
          </p:cNvPicPr>
          <p:nvPr/>
        </p:nvPicPr>
        <p:blipFill>
          <a:blip r:embed="rId2"/>
          <a:stretch>
            <a:fillRect/>
          </a:stretch>
        </p:blipFill>
        <p:spPr>
          <a:xfrm>
            <a:off x="11259007" y="1956816"/>
            <a:ext cx="384048" cy="384048"/>
          </a:xfrm>
          <a:prstGeom prst="rect">
            <a:avLst/>
          </a:prstGeom>
        </p:spPr>
      </p:pic>
      <p:sp>
        <p:nvSpPr>
          <p:cNvPr id="10" name="Objectiu 2"/>
          <p:cNvSpPr/>
          <p:nvPr/>
        </p:nvSpPr>
        <p:spPr>
          <a:xfrm>
            <a:off x="548640" y="2606040"/>
            <a:ext cx="438912" cy="438912"/>
          </a:xfrm>
          <a:prstGeom prst="ellipse">
            <a:avLst/>
          </a:prstGeom>
          <a:solidFill>
            <a:srgbClr val="E6F4EA"/>
          </a:solidFill>
          <a:ln/>
        </p:spPr>
      </p:sp>
      <p:sp>
        <p:nvSpPr>
          <p:cNvPr id="11" name="Text 7"/>
          <p:cNvSpPr txBox="1"/>
          <p:nvPr/>
        </p:nvSpPr>
        <p:spPr>
          <a:xfrm>
            <a:off x="548640" y="2606040"/>
            <a:ext cx="438912" cy="438912"/>
          </a:xfrm>
          <a:prstGeom prst="rect">
            <a:avLst/>
          </a:prstGeom>
          <a:noFill/>
          <a:ln/>
        </p:spPr>
        <p:txBody>
          <a:bodyPr wrap="square" lIns="0" tIns="0" rIns="0" bIns="0" rtlCol="0" anchor="ctr"/>
          <a:lstStyle/>
          <a:p>
            <a:pPr algn="ctr" indent="0" marL="0">
              <a:buNone/>
            </a:pPr>
            <a:r>
              <a:rPr lang="en-US" sz="1600" b="1" dirty="0">
                <a:solidFill>
                  <a:srgbClr val="188038"/>
                </a:solidFill>
                <a:latin typeface="Roboto" pitchFamily="34" charset="0"/>
                <a:ea typeface="Roboto" pitchFamily="34" charset="-122"/>
                <a:cs typeface="Roboto" pitchFamily="34" charset="-120"/>
              </a:rPr>
              <a:t>2</a:t>
            </a:r>
            <a:endParaRPr lang="en-US" sz="1600" dirty="0"/>
          </a:p>
        </p:txBody>
      </p:sp>
      <p:sp>
        <p:nvSpPr>
          <p:cNvPr id="12" name="Text 8"/>
          <p:cNvSpPr txBox="1"/>
          <p:nvPr/>
        </p:nvSpPr>
        <p:spPr>
          <a:xfrm>
            <a:off x="1188720" y="2560320"/>
            <a:ext cx="10012680" cy="548640"/>
          </a:xfrm>
          <a:prstGeom prst="rect">
            <a:avLst/>
          </a:prstGeom>
          <a:noFill/>
          <a:ln/>
        </p:spPr>
        <p:txBody>
          <a:bodyPr wrap="square" lIns="0" tIns="0" rIns="0" bIns="0" rtlCol="0" anchor="ctr"/>
          <a:lstStyle/>
          <a:p>
            <a:pPr indent="0" marL="0">
              <a:buNone/>
            </a:pPr>
            <a:r>
              <a:rPr lang="en-US" sz="1800" dirty="0">
                <a:solidFill>
                  <a:srgbClr val="202124"/>
                </a:solidFill>
                <a:latin typeface="Roboto" pitchFamily="34" charset="0"/>
                <a:ea typeface="Roboto" pitchFamily="34" charset="-122"/>
                <a:cs typeface="Roboto" pitchFamily="34" charset="-120"/>
              </a:rPr>
              <a:t>Llegir mapes de tipus diferents (físic, polític, temàtic) i calcular distàncies amb l'escala.</a:t>
            </a:r>
            <a:endParaRPr lang="en-US" sz="1800" dirty="0"/>
          </a:p>
        </p:txBody>
      </p:sp>
      <p:pic>
        <p:nvPicPr>
          <p:cNvPr id="13" name="Icona TbMap" descr="/home/claude/p857/build/img/ic/TbMap-g.png">    </p:cNvPr>
          <p:cNvPicPr>
            <a:picLocks noChangeAspect="1"/>
          </p:cNvPicPr>
          <p:nvPr/>
        </p:nvPicPr>
        <p:blipFill>
          <a:blip r:embed="rId3"/>
          <a:stretch>
            <a:fillRect/>
          </a:stretch>
        </p:blipFill>
        <p:spPr>
          <a:xfrm>
            <a:off x="11259007" y="2642616"/>
            <a:ext cx="384048" cy="384048"/>
          </a:xfrm>
          <a:prstGeom prst="rect">
            <a:avLst/>
          </a:prstGeom>
        </p:spPr>
      </p:pic>
      <p:sp>
        <p:nvSpPr>
          <p:cNvPr id="14" name="Objectiu 3"/>
          <p:cNvSpPr/>
          <p:nvPr/>
        </p:nvSpPr>
        <p:spPr>
          <a:xfrm>
            <a:off x="548640" y="3291840"/>
            <a:ext cx="438912" cy="438912"/>
          </a:xfrm>
          <a:prstGeom prst="ellipse">
            <a:avLst/>
          </a:prstGeom>
          <a:solidFill>
            <a:srgbClr val="E6F4EA"/>
          </a:solidFill>
          <a:ln/>
        </p:spPr>
      </p:sp>
      <p:sp>
        <p:nvSpPr>
          <p:cNvPr id="15" name="Text 10"/>
          <p:cNvSpPr txBox="1"/>
          <p:nvPr/>
        </p:nvSpPr>
        <p:spPr>
          <a:xfrm>
            <a:off x="548640" y="3291840"/>
            <a:ext cx="438912" cy="438912"/>
          </a:xfrm>
          <a:prstGeom prst="rect">
            <a:avLst/>
          </a:prstGeom>
          <a:noFill/>
          <a:ln/>
        </p:spPr>
        <p:txBody>
          <a:bodyPr wrap="square" lIns="0" tIns="0" rIns="0" bIns="0" rtlCol="0" anchor="ctr"/>
          <a:lstStyle/>
          <a:p>
            <a:pPr algn="ctr" indent="0" marL="0">
              <a:buNone/>
            </a:pPr>
            <a:r>
              <a:rPr lang="en-US" sz="1600" b="1" dirty="0">
                <a:solidFill>
                  <a:srgbClr val="188038"/>
                </a:solidFill>
                <a:latin typeface="Roboto" pitchFamily="34" charset="0"/>
                <a:ea typeface="Roboto" pitchFamily="34" charset="-122"/>
                <a:cs typeface="Roboto" pitchFamily="34" charset="-120"/>
              </a:rPr>
              <a:t>3</a:t>
            </a:r>
            <a:endParaRPr lang="en-US" sz="1600" dirty="0"/>
          </a:p>
        </p:txBody>
      </p:sp>
      <p:sp>
        <p:nvSpPr>
          <p:cNvPr id="16" name="Text 11"/>
          <p:cNvSpPr txBox="1"/>
          <p:nvPr/>
        </p:nvSpPr>
        <p:spPr>
          <a:xfrm>
            <a:off x="1188720" y="3246120"/>
            <a:ext cx="10012680" cy="548640"/>
          </a:xfrm>
          <a:prstGeom prst="rect">
            <a:avLst/>
          </a:prstGeom>
          <a:noFill/>
          <a:ln/>
        </p:spPr>
        <p:txBody>
          <a:bodyPr wrap="square" lIns="0" tIns="0" rIns="0" bIns="0" rtlCol="0" anchor="ctr"/>
          <a:lstStyle/>
          <a:p>
            <a:pPr indent="0" marL="0">
              <a:buNone/>
            </a:pPr>
            <a:r>
              <a:rPr lang="en-US" sz="1800" dirty="0">
                <a:solidFill>
                  <a:srgbClr val="202124"/>
                </a:solidFill>
                <a:latin typeface="Roboto" pitchFamily="34" charset="0"/>
                <a:ea typeface="Roboto" pitchFamily="34" charset="-122"/>
                <a:cs typeface="Roboto" pitchFamily="34" charset="-120"/>
              </a:rPr>
              <a:t>Explicar els moviments de la Terra i per què no és la mateixa hora a tot arreu.</a:t>
            </a:r>
            <a:endParaRPr lang="en-US" sz="1800" dirty="0"/>
          </a:p>
        </p:txBody>
      </p:sp>
      <p:pic>
        <p:nvPicPr>
          <p:cNvPr id="17" name="Icona TbWorld" descr="/home/claude/p857/build/img/ic/TbWorld-g.png">    </p:cNvPr>
          <p:cNvPicPr>
            <a:picLocks noChangeAspect="1"/>
          </p:cNvPicPr>
          <p:nvPr/>
        </p:nvPicPr>
        <p:blipFill>
          <a:blip r:embed="rId4"/>
          <a:stretch>
            <a:fillRect/>
          </a:stretch>
        </p:blipFill>
        <p:spPr>
          <a:xfrm>
            <a:off x="11259007" y="3328416"/>
            <a:ext cx="384048" cy="384048"/>
          </a:xfrm>
          <a:prstGeom prst="rect">
            <a:avLst/>
          </a:prstGeom>
        </p:spPr>
      </p:pic>
      <p:sp>
        <p:nvSpPr>
          <p:cNvPr id="18" name="Objectiu 4"/>
          <p:cNvSpPr/>
          <p:nvPr/>
        </p:nvSpPr>
        <p:spPr>
          <a:xfrm>
            <a:off x="548640" y="3977640"/>
            <a:ext cx="438912" cy="438912"/>
          </a:xfrm>
          <a:prstGeom prst="ellipse">
            <a:avLst/>
          </a:prstGeom>
          <a:solidFill>
            <a:srgbClr val="E6F4EA"/>
          </a:solidFill>
          <a:ln/>
        </p:spPr>
      </p:sp>
      <p:sp>
        <p:nvSpPr>
          <p:cNvPr id="19" name="Text 13"/>
          <p:cNvSpPr txBox="1"/>
          <p:nvPr/>
        </p:nvSpPr>
        <p:spPr>
          <a:xfrm>
            <a:off x="548640" y="3977640"/>
            <a:ext cx="438912" cy="438912"/>
          </a:xfrm>
          <a:prstGeom prst="rect">
            <a:avLst/>
          </a:prstGeom>
          <a:noFill/>
          <a:ln/>
        </p:spPr>
        <p:txBody>
          <a:bodyPr wrap="square" lIns="0" tIns="0" rIns="0" bIns="0" rtlCol="0" anchor="ctr"/>
          <a:lstStyle/>
          <a:p>
            <a:pPr algn="ctr" indent="0" marL="0">
              <a:buNone/>
            </a:pPr>
            <a:r>
              <a:rPr lang="en-US" sz="1600" b="1" dirty="0">
                <a:solidFill>
                  <a:srgbClr val="188038"/>
                </a:solidFill>
                <a:latin typeface="Roboto" pitchFamily="34" charset="0"/>
                <a:ea typeface="Roboto" pitchFamily="34" charset="-122"/>
                <a:cs typeface="Roboto" pitchFamily="34" charset="-120"/>
              </a:rPr>
              <a:t>4</a:t>
            </a:r>
            <a:endParaRPr lang="en-US" sz="1600" dirty="0"/>
          </a:p>
        </p:txBody>
      </p:sp>
      <p:sp>
        <p:nvSpPr>
          <p:cNvPr id="20" name="Text 14"/>
          <p:cNvSpPr txBox="1"/>
          <p:nvPr/>
        </p:nvSpPr>
        <p:spPr>
          <a:xfrm>
            <a:off x="1188720" y="3931920"/>
            <a:ext cx="10012680" cy="548640"/>
          </a:xfrm>
          <a:prstGeom prst="rect">
            <a:avLst/>
          </a:prstGeom>
          <a:noFill/>
          <a:ln/>
        </p:spPr>
        <p:txBody>
          <a:bodyPr wrap="square" lIns="0" tIns="0" rIns="0" bIns="0" rtlCol="0" anchor="ctr"/>
          <a:lstStyle/>
          <a:p>
            <a:pPr indent="0" marL="0">
              <a:buNone/>
            </a:pPr>
            <a:r>
              <a:rPr lang="en-US" sz="1800" dirty="0">
                <a:solidFill>
                  <a:srgbClr val="202124"/>
                </a:solidFill>
                <a:latin typeface="Roboto" pitchFamily="34" charset="0"/>
                <a:ea typeface="Roboto" pitchFamily="34" charset="-122"/>
                <a:cs typeface="Roboto" pitchFamily="34" charset="-120"/>
              </a:rPr>
              <a:t>Distingir la història d'altres maneres de mirar el passat, com la memòria o el mite.</a:t>
            </a:r>
            <a:endParaRPr lang="en-US" sz="1800" dirty="0"/>
          </a:p>
        </p:txBody>
      </p:sp>
      <p:pic>
        <p:nvPicPr>
          <p:cNvPr id="21" name="Icona TbBooks" descr="/home/claude/p857/build/img/ic/TbBooks-g.png">    </p:cNvPr>
          <p:cNvPicPr>
            <a:picLocks noChangeAspect="1"/>
          </p:cNvPicPr>
          <p:nvPr/>
        </p:nvPicPr>
        <p:blipFill>
          <a:blip r:embed="rId5"/>
          <a:stretch>
            <a:fillRect/>
          </a:stretch>
        </p:blipFill>
        <p:spPr>
          <a:xfrm>
            <a:off x="11259007" y="4014216"/>
            <a:ext cx="384048" cy="384048"/>
          </a:xfrm>
          <a:prstGeom prst="rect">
            <a:avLst/>
          </a:prstGeom>
        </p:spPr>
      </p:pic>
      <p:sp>
        <p:nvSpPr>
          <p:cNvPr id="22" name="Objectiu 5"/>
          <p:cNvSpPr/>
          <p:nvPr/>
        </p:nvSpPr>
        <p:spPr>
          <a:xfrm>
            <a:off x="548640" y="4663440"/>
            <a:ext cx="438912" cy="438912"/>
          </a:xfrm>
          <a:prstGeom prst="ellipse">
            <a:avLst/>
          </a:prstGeom>
          <a:solidFill>
            <a:srgbClr val="E6F4EA"/>
          </a:solidFill>
          <a:ln/>
        </p:spPr>
      </p:sp>
      <p:sp>
        <p:nvSpPr>
          <p:cNvPr id="23" name="Text 16"/>
          <p:cNvSpPr txBox="1"/>
          <p:nvPr/>
        </p:nvSpPr>
        <p:spPr>
          <a:xfrm>
            <a:off x="548640" y="4663440"/>
            <a:ext cx="438912" cy="438912"/>
          </a:xfrm>
          <a:prstGeom prst="rect">
            <a:avLst/>
          </a:prstGeom>
          <a:noFill/>
          <a:ln/>
        </p:spPr>
        <p:txBody>
          <a:bodyPr wrap="square" lIns="0" tIns="0" rIns="0" bIns="0" rtlCol="0" anchor="ctr"/>
          <a:lstStyle/>
          <a:p>
            <a:pPr algn="ctr" indent="0" marL="0">
              <a:buNone/>
            </a:pPr>
            <a:r>
              <a:rPr lang="en-US" sz="1600" b="1" dirty="0">
                <a:solidFill>
                  <a:srgbClr val="188038"/>
                </a:solidFill>
                <a:latin typeface="Roboto" pitchFamily="34" charset="0"/>
                <a:ea typeface="Roboto" pitchFamily="34" charset="-122"/>
                <a:cs typeface="Roboto" pitchFamily="34" charset="-120"/>
              </a:rPr>
              <a:t>5</a:t>
            </a:r>
            <a:endParaRPr lang="en-US" sz="1600" dirty="0"/>
          </a:p>
        </p:txBody>
      </p:sp>
      <p:sp>
        <p:nvSpPr>
          <p:cNvPr id="24" name="Text 17"/>
          <p:cNvSpPr txBox="1"/>
          <p:nvPr/>
        </p:nvSpPr>
        <p:spPr>
          <a:xfrm>
            <a:off x="1188720" y="4617720"/>
            <a:ext cx="10012680" cy="548640"/>
          </a:xfrm>
          <a:prstGeom prst="rect">
            <a:avLst/>
          </a:prstGeom>
          <a:noFill/>
          <a:ln/>
        </p:spPr>
        <p:txBody>
          <a:bodyPr wrap="square" lIns="0" tIns="0" rIns="0" bIns="0" rtlCol="0" anchor="ctr"/>
          <a:lstStyle/>
          <a:p>
            <a:pPr indent="0" marL="0">
              <a:buNone/>
            </a:pPr>
            <a:r>
              <a:rPr lang="en-US" sz="1800" dirty="0">
                <a:solidFill>
                  <a:srgbClr val="202124"/>
                </a:solidFill>
                <a:latin typeface="Roboto" pitchFamily="34" charset="0"/>
                <a:ea typeface="Roboto" pitchFamily="34" charset="-122"/>
                <a:cs typeface="Roboto" pitchFamily="34" charset="-120"/>
              </a:rPr>
              <a:t>Reconèixer els tipus de fonts històriques i valorar-ne la fiabilitat.</a:t>
            </a:r>
            <a:endParaRPr lang="en-US" sz="1800" dirty="0"/>
          </a:p>
        </p:txBody>
      </p:sp>
      <p:pic>
        <p:nvPicPr>
          <p:cNvPr id="25" name="Icona TbSearch" descr="/home/claude/p857/build/img/ic/TbSearch-g.png">    </p:cNvPr>
          <p:cNvPicPr>
            <a:picLocks noChangeAspect="1"/>
          </p:cNvPicPr>
          <p:nvPr/>
        </p:nvPicPr>
        <p:blipFill>
          <a:blip r:embed="rId6"/>
          <a:stretch>
            <a:fillRect/>
          </a:stretch>
        </p:blipFill>
        <p:spPr>
          <a:xfrm>
            <a:off x="11259007" y="4700016"/>
            <a:ext cx="384048" cy="384048"/>
          </a:xfrm>
          <a:prstGeom prst="rect">
            <a:avLst/>
          </a:prstGeom>
        </p:spPr>
      </p:pic>
      <p:sp>
        <p:nvSpPr>
          <p:cNvPr id="26" name="Objectiu 6"/>
          <p:cNvSpPr/>
          <p:nvPr/>
        </p:nvSpPr>
        <p:spPr>
          <a:xfrm>
            <a:off x="548640" y="5349240"/>
            <a:ext cx="438912" cy="438912"/>
          </a:xfrm>
          <a:prstGeom prst="ellipse">
            <a:avLst/>
          </a:prstGeom>
          <a:solidFill>
            <a:srgbClr val="E6F4EA"/>
          </a:solidFill>
          <a:ln/>
        </p:spPr>
      </p:sp>
      <p:sp>
        <p:nvSpPr>
          <p:cNvPr id="27" name="Text 19"/>
          <p:cNvSpPr txBox="1"/>
          <p:nvPr/>
        </p:nvSpPr>
        <p:spPr>
          <a:xfrm>
            <a:off x="548640" y="5349240"/>
            <a:ext cx="438912" cy="438912"/>
          </a:xfrm>
          <a:prstGeom prst="rect">
            <a:avLst/>
          </a:prstGeom>
          <a:noFill/>
          <a:ln/>
        </p:spPr>
        <p:txBody>
          <a:bodyPr wrap="square" lIns="0" tIns="0" rIns="0" bIns="0" rtlCol="0" anchor="ctr"/>
          <a:lstStyle/>
          <a:p>
            <a:pPr algn="ctr" indent="0" marL="0">
              <a:buNone/>
            </a:pPr>
            <a:r>
              <a:rPr lang="en-US" sz="1600" b="1" dirty="0">
                <a:solidFill>
                  <a:srgbClr val="188038"/>
                </a:solidFill>
                <a:latin typeface="Roboto" pitchFamily="34" charset="0"/>
                <a:ea typeface="Roboto" pitchFamily="34" charset="-122"/>
                <a:cs typeface="Roboto" pitchFamily="34" charset="-120"/>
              </a:rPr>
              <a:t>6</a:t>
            </a:r>
            <a:endParaRPr lang="en-US" sz="1600" dirty="0"/>
          </a:p>
        </p:txBody>
      </p:sp>
      <p:sp>
        <p:nvSpPr>
          <p:cNvPr id="28" name="Text 20"/>
          <p:cNvSpPr txBox="1"/>
          <p:nvPr/>
        </p:nvSpPr>
        <p:spPr>
          <a:xfrm>
            <a:off x="1188720" y="5303520"/>
            <a:ext cx="10012680" cy="548640"/>
          </a:xfrm>
          <a:prstGeom prst="rect">
            <a:avLst/>
          </a:prstGeom>
          <a:noFill/>
          <a:ln/>
        </p:spPr>
        <p:txBody>
          <a:bodyPr wrap="square" lIns="0" tIns="0" rIns="0" bIns="0" rtlCol="0" anchor="ctr"/>
          <a:lstStyle/>
          <a:p>
            <a:pPr indent="0" marL="0">
              <a:buNone/>
            </a:pPr>
            <a:r>
              <a:rPr lang="en-US" sz="1800" dirty="0">
                <a:solidFill>
                  <a:srgbClr val="202124"/>
                </a:solidFill>
                <a:latin typeface="Roboto" pitchFamily="34" charset="0"/>
                <a:ea typeface="Roboto" pitchFamily="34" charset="-122"/>
                <a:cs typeface="Roboto" pitchFamily="34" charset="-120"/>
              </a:rPr>
              <a:t>Construir i interpretar línies del temps amb les edats de la història.</a:t>
            </a:r>
            <a:endParaRPr lang="en-US" sz="1800" dirty="0"/>
          </a:p>
        </p:txBody>
      </p:sp>
      <p:pic>
        <p:nvPicPr>
          <p:cNvPr id="29" name="Icona TbTimeline" descr="/home/claude/p857/build/img/ic/TbTimeline-g.png">    </p:cNvPr>
          <p:cNvPicPr>
            <a:picLocks noChangeAspect="1"/>
          </p:cNvPicPr>
          <p:nvPr/>
        </p:nvPicPr>
        <p:blipFill>
          <a:blip r:embed="rId7"/>
          <a:stretch>
            <a:fillRect/>
          </a:stretch>
        </p:blipFill>
        <p:spPr>
          <a:xfrm>
            <a:off x="11259007" y="5385816"/>
            <a:ext cx="384048" cy="384048"/>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pic>
        <p:nvPicPr>
          <p:cNvPr id="3" name="Icona" descr="/home/claude/p857/build/llibre.png">    </p:cNvPr>
          <p:cNvPicPr>
            <a:picLocks noChangeAspect="1"/>
          </p:cNvPicPr>
          <p:nvPr/>
        </p:nvPicPr>
        <p:blipFill>
          <a:blip r:embed="rId1"/>
          <a:stretch>
            <a:fillRect/>
          </a:stretch>
        </p:blipFill>
        <p:spPr>
          <a:xfrm>
            <a:off x="694944" y="713232"/>
            <a:ext cx="274320" cy="274320"/>
          </a:xfrm>
          <a:prstGeom prst="rect">
            <a:avLst/>
          </a:prstGeom>
        </p:spPr>
      </p:pic>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Què en saps?</a:t>
            </a:r>
            <a:endParaRPr lang="en-US" sz="2800" dirty="0"/>
          </a:p>
        </p:txBody>
      </p:sp>
      <p:sp>
        <p:nvSpPr>
          <p:cNvPr id="5" name="Text 2"/>
          <p:cNvSpPr txBox="1"/>
          <p:nvPr/>
        </p:nvSpPr>
        <p:spPr>
          <a:xfrm>
            <a:off x="548640" y="1371600"/>
            <a:ext cx="9144000" cy="365760"/>
          </a:xfrm>
          <a:prstGeom prst="rect">
            <a:avLst/>
          </a:prstGeom>
          <a:noFill/>
          <a:ln/>
        </p:spPr>
        <p:txBody>
          <a:bodyPr wrap="square" lIns="0" tIns="0" rIns="0" bIns="0" rtlCol="0" anchor="t"/>
          <a:lstStyle/>
          <a:p>
            <a:pPr indent="0" marL="0">
              <a:buNone/>
            </a:pPr>
            <a:r>
              <a:rPr lang="en-US" sz="1700" dirty="0">
                <a:solidFill>
                  <a:srgbClr val="5F6368"/>
                </a:solidFill>
                <a:latin typeface="Roboto" pitchFamily="34" charset="0"/>
                <a:ea typeface="Roboto" pitchFamily="34" charset="-122"/>
                <a:cs typeface="Roboto" pitchFamily="34" charset="-120"/>
              </a:rPr>
              <a:t>Una miniprova abans de començar. No compta per a nota.</a:t>
            </a:r>
            <a:endParaRPr lang="en-US" sz="1700" dirty="0"/>
          </a:p>
        </p:txBody>
      </p:sp>
      <p:sp>
        <p:nvSpPr>
          <p:cNvPr id="6" name="Targeta Quin punt cardinal és el contrari del nord?"/>
          <p:cNvSpPr/>
          <p:nvPr/>
        </p:nvSpPr>
        <p:spPr>
          <a:xfrm>
            <a:off x="548640" y="1920240"/>
            <a:ext cx="5410048" cy="1897380"/>
          </a:xfrm>
          <a:prstGeom prst="roundRect">
            <a:avLst>
              <a:gd name="adj" fmla="val 5301"/>
            </a:avLst>
          </a:prstGeom>
          <a:solidFill>
            <a:srgbClr val="FFFFFF"/>
          </a:solidFill>
          <a:ln w="12700">
            <a:solidFill>
              <a:srgbClr val="DADCE0"/>
            </a:solidFill>
            <a:prstDash val="solid"/>
          </a:ln>
        </p:spPr>
      </p:sp>
      <p:sp>
        <p:nvSpPr>
          <p:cNvPr id="7" name="Text 4"/>
          <p:cNvSpPr txBox="1"/>
          <p:nvPr/>
        </p:nvSpPr>
        <p:spPr>
          <a:xfrm>
            <a:off x="777240" y="2103120"/>
            <a:ext cx="4952848" cy="289560"/>
          </a:xfrm>
          <a:prstGeom prst="rect">
            <a:avLst/>
          </a:prstGeom>
          <a:noFill/>
          <a:ln/>
        </p:spPr>
        <p:txBody>
          <a:bodyPr wrap="square" lIns="0" tIns="0" rIns="0" bIns="0" rtlCol="0" anchor="t"/>
          <a:lstStyle/>
          <a:p>
            <a:pPr indent="0" marL="0">
              <a:buNone/>
            </a:pPr>
            <a:r>
              <a:rPr lang="en-US" sz="1900" b="1" dirty="0">
                <a:solidFill>
                  <a:srgbClr val="188038"/>
                </a:solidFill>
                <a:latin typeface="Roboto" pitchFamily="34" charset="0"/>
                <a:ea typeface="Roboto" pitchFamily="34" charset="-122"/>
                <a:cs typeface="Roboto" pitchFamily="34" charset="-120"/>
              </a:rPr>
              <a:t>Quin punt cardinal és el contrari del nord?</a:t>
            </a:r>
            <a:endParaRPr lang="en-US" sz="1900" dirty="0"/>
          </a:p>
        </p:txBody>
      </p:sp>
      <p:sp>
        <p:nvSpPr>
          <p:cNvPr id="8" name="Text 5"/>
          <p:cNvSpPr txBox="1"/>
          <p:nvPr/>
        </p:nvSpPr>
        <p:spPr>
          <a:xfrm>
            <a:off x="777240" y="2502408"/>
            <a:ext cx="4952848" cy="1196340"/>
          </a:xfrm>
          <a:prstGeom prst="rect">
            <a:avLst/>
          </a:prstGeom>
          <a:noFill/>
          <a:ln/>
        </p:spPr>
        <p:txBody>
          <a:bodyPr wrap="square" lIns="0" tIns="0" rIns="0" bIns="0" rtlCol="0" anchor="t"/>
          <a:lstStyle/>
          <a:p>
            <a:pPr indent="0" marL="0">
              <a:buNone/>
            </a:pPr>
            <a:r>
              <a:rPr lang="en-US" sz="1600" dirty="0">
                <a:solidFill>
                  <a:srgbClr val="202124"/>
                </a:solidFill>
                <a:latin typeface="Roboto" pitchFamily="34" charset="0"/>
                <a:ea typeface="Roboto" pitchFamily="34" charset="-122"/>
                <a:cs typeface="Roboto" pitchFamily="34" charset="-120"/>
              </a:rPr>
              <a:t>L'est</a:t>
            </a:r>
            <a:endParaRPr lang="en-US" sz="1600" dirty="0"/>
          </a:p>
          <a:p>
            <a:pPr indent="0" marL="0">
              <a:buNone/>
            </a:pPr>
            <a:r>
              <a:rPr lang="en-US" sz="1600" dirty="0">
                <a:solidFill>
                  <a:srgbClr val="202124"/>
                </a:solidFill>
                <a:latin typeface="Roboto" pitchFamily="34" charset="0"/>
                <a:ea typeface="Roboto" pitchFamily="34" charset="-122"/>
                <a:cs typeface="Roboto" pitchFamily="34" charset="-120"/>
              </a:rPr>
              <a:t>El sud</a:t>
            </a:r>
            <a:endParaRPr lang="en-US" sz="1600" dirty="0"/>
          </a:p>
          <a:p>
            <a:pPr indent="0" marL="0">
              <a:buNone/>
            </a:pPr>
            <a:r>
              <a:rPr lang="en-US" sz="1600" dirty="0">
                <a:solidFill>
                  <a:srgbClr val="202124"/>
                </a:solidFill>
                <a:latin typeface="Roboto" pitchFamily="34" charset="0"/>
                <a:ea typeface="Roboto" pitchFamily="34" charset="-122"/>
                <a:cs typeface="Roboto" pitchFamily="34" charset="-120"/>
              </a:rPr>
              <a:t>L'oest</a:t>
            </a:r>
            <a:endParaRPr lang="en-US" sz="1600" dirty="0"/>
          </a:p>
        </p:txBody>
      </p:sp>
      <p:sp>
        <p:nvSpPr>
          <p:cNvPr id="9" name="Targeta La Terra triga un dia a fer una volta al voltant del Sol."/>
          <p:cNvSpPr/>
          <p:nvPr/>
        </p:nvSpPr>
        <p:spPr>
          <a:xfrm>
            <a:off x="6233008" y="1920240"/>
            <a:ext cx="5410048" cy="1897380"/>
          </a:xfrm>
          <a:prstGeom prst="roundRect">
            <a:avLst>
              <a:gd name="adj" fmla="val 5301"/>
            </a:avLst>
          </a:prstGeom>
          <a:solidFill>
            <a:srgbClr val="FFFFFF"/>
          </a:solidFill>
          <a:ln w="12700">
            <a:solidFill>
              <a:srgbClr val="DADCE0"/>
            </a:solidFill>
            <a:prstDash val="solid"/>
          </a:ln>
        </p:spPr>
      </p:sp>
      <p:sp>
        <p:nvSpPr>
          <p:cNvPr id="10" name="Text 7"/>
          <p:cNvSpPr txBox="1"/>
          <p:nvPr/>
        </p:nvSpPr>
        <p:spPr>
          <a:xfrm>
            <a:off x="6461608" y="2103120"/>
            <a:ext cx="4952848" cy="579120"/>
          </a:xfrm>
          <a:prstGeom prst="rect">
            <a:avLst/>
          </a:prstGeom>
          <a:noFill/>
          <a:ln/>
        </p:spPr>
        <p:txBody>
          <a:bodyPr wrap="square" lIns="0" tIns="0" rIns="0" bIns="0" rtlCol="0" anchor="t"/>
          <a:lstStyle/>
          <a:p>
            <a:pPr indent="0" marL="0">
              <a:buNone/>
            </a:pPr>
            <a:r>
              <a:rPr lang="en-US" sz="1900" b="1" dirty="0">
                <a:solidFill>
                  <a:srgbClr val="188038"/>
                </a:solidFill>
                <a:latin typeface="Roboto" pitchFamily="34" charset="0"/>
                <a:ea typeface="Roboto" pitchFamily="34" charset="-122"/>
                <a:cs typeface="Roboto" pitchFamily="34" charset="-120"/>
              </a:rPr>
              <a:t>La Terra triga un dia a fer una volta al voltant del Sol.</a:t>
            </a:r>
            <a:endParaRPr lang="en-US" sz="1900" dirty="0"/>
          </a:p>
        </p:txBody>
      </p:sp>
      <p:sp>
        <p:nvSpPr>
          <p:cNvPr id="11" name="Text 8"/>
          <p:cNvSpPr txBox="1"/>
          <p:nvPr/>
        </p:nvSpPr>
        <p:spPr>
          <a:xfrm>
            <a:off x="6461608" y="2791968"/>
            <a:ext cx="4952848" cy="906780"/>
          </a:xfrm>
          <a:prstGeom prst="rect">
            <a:avLst/>
          </a:prstGeom>
          <a:noFill/>
          <a:ln/>
        </p:spPr>
        <p:txBody>
          <a:bodyPr wrap="square" lIns="0" tIns="0" rIns="0" bIns="0" rtlCol="0" anchor="t"/>
          <a:lstStyle/>
          <a:p>
            <a:pPr indent="0" marL="0">
              <a:buNone/>
            </a:pPr>
            <a:r>
              <a:rPr lang="en-US" sz="1600" dirty="0">
                <a:solidFill>
                  <a:srgbClr val="202124"/>
                </a:solidFill>
                <a:latin typeface="Roboto" pitchFamily="34" charset="0"/>
                <a:ea typeface="Roboto" pitchFamily="34" charset="-122"/>
                <a:cs typeface="Roboto" pitchFamily="34" charset="-120"/>
              </a:rPr>
              <a:t>Vertader o fals?</a:t>
            </a:r>
            <a:endParaRPr lang="en-US" sz="1600" dirty="0"/>
          </a:p>
        </p:txBody>
      </p:sp>
      <p:sp>
        <p:nvSpPr>
          <p:cNvPr id="12" name="Targeta L'any 500 aC és més antic que l'any 200 aC."/>
          <p:cNvSpPr/>
          <p:nvPr/>
        </p:nvSpPr>
        <p:spPr>
          <a:xfrm>
            <a:off x="548640" y="4091940"/>
            <a:ext cx="5410048" cy="1897380"/>
          </a:xfrm>
          <a:prstGeom prst="roundRect">
            <a:avLst>
              <a:gd name="adj" fmla="val 5301"/>
            </a:avLst>
          </a:prstGeom>
          <a:solidFill>
            <a:srgbClr val="FFFFFF"/>
          </a:solidFill>
          <a:ln w="12700">
            <a:solidFill>
              <a:srgbClr val="DADCE0"/>
            </a:solidFill>
            <a:prstDash val="solid"/>
          </a:ln>
        </p:spPr>
      </p:sp>
      <p:sp>
        <p:nvSpPr>
          <p:cNvPr id="13" name="Text 10"/>
          <p:cNvSpPr txBox="1"/>
          <p:nvPr/>
        </p:nvSpPr>
        <p:spPr>
          <a:xfrm>
            <a:off x="777240" y="4274820"/>
            <a:ext cx="4952848" cy="289560"/>
          </a:xfrm>
          <a:prstGeom prst="rect">
            <a:avLst/>
          </a:prstGeom>
          <a:noFill/>
          <a:ln/>
        </p:spPr>
        <p:txBody>
          <a:bodyPr wrap="square" lIns="0" tIns="0" rIns="0" bIns="0" rtlCol="0" anchor="t"/>
          <a:lstStyle/>
          <a:p>
            <a:pPr indent="0" marL="0">
              <a:buNone/>
            </a:pPr>
            <a:r>
              <a:rPr lang="en-US" sz="1900" b="1" dirty="0">
                <a:solidFill>
                  <a:srgbClr val="188038"/>
                </a:solidFill>
                <a:latin typeface="Roboto" pitchFamily="34" charset="0"/>
                <a:ea typeface="Roboto" pitchFamily="34" charset="-122"/>
                <a:cs typeface="Roboto" pitchFamily="34" charset="-120"/>
              </a:rPr>
              <a:t>L'any 500 aC és més antic que l'any 200 aC.</a:t>
            </a:r>
            <a:endParaRPr lang="en-US" sz="1900" dirty="0"/>
          </a:p>
        </p:txBody>
      </p:sp>
      <p:sp>
        <p:nvSpPr>
          <p:cNvPr id="14" name="Text 11"/>
          <p:cNvSpPr txBox="1"/>
          <p:nvPr/>
        </p:nvSpPr>
        <p:spPr>
          <a:xfrm>
            <a:off x="777240" y="4674108"/>
            <a:ext cx="4952848" cy="1196340"/>
          </a:xfrm>
          <a:prstGeom prst="rect">
            <a:avLst/>
          </a:prstGeom>
          <a:noFill/>
          <a:ln/>
        </p:spPr>
        <p:txBody>
          <a:bodyPr wrap="square" lIns="0" tIns="0" rIns="0" bIns="0" rtlCol="0" anchor="t"/>
          <a:lstStyle/>
          <a:p>
            <a:pPr indent="0" marL="0">
              <a:buNone/>
            </a:pPr>
            <a:r>
              <a:rPr lang="en-US" sz="1600" dirty="0">
                <a:solidFill>
                  <a:srgbClr val="202124"/>
                </a:solidFill>
                <a:latin typeface="Roboto" pitchFamily="34" charset="0"/>
                <a:ea typeface="Roboto" pitchFamily="34" charset="-122"/>
                <a:cs typeface="Roboto" pitchFamily="34" charset="-120"/>
              </a:rPr>
              <a:t>Vertader o fals?</a:t>
            </a:r>
            <a:endParaRPr lang="en-US" sz="1600" dirty="0"/>
          </a:p>
        </p:txBody>
      </p:sp>
      <p:sp>
        <p:nvSpPr>
          <p:cNvPr id="15" name="Targeta Quina d'aquestes és una font primària, feta en el moment dels fets?"/>
          <p:cNvSpPr/>
          <p:nvPr/>
        </p:nvSpPr>
        <p:spPr>
          <a:xfrm>
            <a:off x="6233008" y="4091940"/>
            <a:ext cx="5410048" cy="1897380"/>
          </a:xfrm>
          <a:prstGeom prst="roundRect">
            <a:avLst>
              <a:gd name="adj" fmla="val 5301"/>
            </a:avLst>
          </a:prstGeom>
          <a:solidFill>
            <a:srgbClr val="FFFFFF"/>
          </a:solidFill>
          <a:ln w="12700">
            <a:solidFill>
              <a:srgbClr val="DADCE0"/>
            </a:solidFill>
            <a:prstDash val="solid"/>
          </a:ln>
        </p:spPr>
      </p:sp>
      <p:sp>
        <p:nvSpPr>
          <p:cNvPr id="16" name="Text 13"/>
          <p:cNvSpPr txBox="1"/>
          <p:nvPr/>
        </p:nvSpPr>
        <p:spPr>
          <a:xfrm>
            <a:off x="6461608" y="4274820"/>
            <a:ext cx="4952848" cy="579120"/>
          </a:xfrm>
          <a:prstGeom prst="rect">
            <a:avLst/>
          </a:prstGeom>
          <a:noFill/>
          <a:ln/>
        </p:spPr>
        <p:txBody>
          <a:bodyPr wrap="square" lIns="0" tIns="0" rIns="0" bIns="0" rtlCol="0" anchor="t"/>
          <a:lstStyle/>
          <a:p>
            <a:pPr indent="0" marL="0">
              <a:buNone/>
            </a:pPr>
            <a:r>
              <a:rPr lang="en-US" sz="1900" b="1" dirty="0">
                <a:solidFill>
                  <a:srgbClr val="188038"/>
                </a:solidFill>
                <a:latin typeface="Roboto" pitchFamily="34" charset="0"/>
                <a:ea typeface="Roboto" pitchFamily="34" charset="-122"/>
                <a:cs typeface="Roboto" pitchFamily="34" charset="-120"/>
              </a:rPr>
              <a:t>Quina d'aquestes és una font primària, feta en el moment dels fets?</a:t>
            </a:r>
            <a:endParaRPr lang="en-US" sz="1900" dirty="0"/>
          </a:p>
        </p:txBody>
      </p:sp>
      <p:sp>
        <p:nvSpPr>
          <p:cNvPr id="17" name="Text 14"/>
          <p:cNvSpPr txBox="1"/>
          <p:nvPr/>
        </p:nvSpPr>
        <p:spPr>
          <a:xfrm>
            <a:off x="6461608" y="4963668"/>
            <a:ext cx="4952848" cy="906780"/>
          </a:xfrm>
          <a:prstGeom prst="rect">
            <a:avLst/>
          </a:prstGeom>
          <a:noFill/>
          <a:ln/>
        </p:spPr>
        <p:txBody>
          <a:bodyPr wrap="square" lIns="0" tIns="0" rIns="0" bIns="0" rtlCol="0" anchor="t"/>
          <a:lstStyle/>
          <a:p>
            <a:pPr indent="0" marL="0">
              <a:buNone/>
            </a:pPr>
            <a:r>
              <a:rPr lang="en-US" sz="1600" dirty="0">
                <a:solidFill>
                  <a:srgbClr val="202124"/>
                </a:solidFill>
                <a:latin typeface="Roboto" pitchFamily="34" charset="0"/>
                <a:ea typeface="Roboto" pitchFamily="34" charset="-122"/>
                <a:cs typeface="Roboto" pitchFamily="34" charset="-120"/>
              </a:rPr>
              <a:t>El teu llibre de text</a:t>
            </a:r>
            <a:endParaRPr lang="en-US" sz="1600" dirty="0"/>
          </a:p>
          <a:p>
            <a:pPr indent="0" marL="0">
              <a:buNone/>
            </a:pPr>
            <a:r>
              <a:rPr lang="en-US" sz="1600" dirty="0">
                <a:solidFill>
                  <a:srgbClr val="202124"/>
                </a:solidFill>
                <a:latin typeface="Roboto" pitchFamily="34" charset="0"/>
                <a:ea typeface="Roboto" pitchFamily="34" charset="-122"/>
                <a:cs typeface="Roboto" pitchFamily="34" charset="-120"/>
              </a:rPr>
              <a:t>Una carta escrita fa 200 anys</a:t>
            </a:r>
            <a:endParaRPr lang="en-US" sz="1600" dirty="0"/>
          </a:p>
          <a:p>
            <a:pPr indent="0" marL="0">
              <a:buNone/>
            </a:pPr>
            <a:r>
              <a:rPr lang="en-US" sz="1600" dirty="0">
                <a:solidFill>
                  <a:srgbClr val="202124"/>
                </a:solidFill>
                <a:latin typeface="Roboto" pitchFamily="34" charset="0"/>
                <a:ea typeface="Roboto" pitchFamily="34" charset="-122"/>
                <a:cs typeface="Roboto" pitchFamily="34" charset="-120"/>
              </a:rPr>
              <a:t>Un documental d'aquest any sobre els romans</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Capçalera"/>
          <p:cNvSpPr/>
          <p:nvPr/>
        </p:nvSpPr>
        <p:spPr>
          <a:xfrm>
            <a:off x="548640" y="548640"/>
            <a:ext cx="6720840" cy="3657600"/>
          </a:xfrm>
          <a:prstGeom prst="roundRect">
            <a:avLst>
              <a:gd name="adj" fmla="val 2750"/>
            </a:avLst>
          </a:prstGeom>
          <a:solidFill>
            <a:srgbClr val="188038"/>
          </a:solidFill>
          <a:ln/>
        </p:spPr>
      </p:sp>
      <p:pic>
        <p:nvPicPr>
          <p:cNvPr id="3" name="Il·lustració d'una rosa dels vents i un rellotge de sorra" descr="/home/claude/p857/build/hero-crop.png">    </p:cNvPr>
          <p:cNvPicPr>
            <a:picLocks noChangeAspect="1"/>
          </p:cNvPicPr>
          <p:nvPr/>
        </p:nvPicPr>
        <p:blipFill>
          <a:blip r:embed="rId1"/>
          <a:stretch>
            <a:fillRect/>
          </a:stretch>
        </p:blipFill>
        <p:spPr>
          <a:xfrm>
            <a:off x="3794760" y="2296090"/>
            <a:ext cx="3291840" cy="1891862"/>
          </a:xfrm>
          <a:prstGeom prst="rect">
            <a:avLst/>
          </a:prstGeom>
        </p:spPr>
      </p:pic>
      <p:sp>
        <p:nvSpPr>
          <p:cNvPr id="4" name="Etiqueta Apartat 1"/>
          <p:cNvSpPr/>
          <p:nvPr/>
        </p:nvSpPr>
        <p:spPr>
          <a:xfrm>
            <a:off x="960120" y="896112"/>
            <a:ext cx="1035101" cy="310896"/>
          </a:xfrm>
          <a:prstGeom prst="roundRect">
            <a:avLst>
              <a:gd name="adj" fmla="val 50000"/>
            </a:avLst>
          </a:prstGeom>
          <a:solidFill>
            <a:srgbClr val="FFFFFF">
              <a:alpha val="18000"/>
            </a:srgbClr>
          </a:solidFill>
          <a:ln/>
        </p:spPr>
      </p:sp>
      <p:sp>
        <p:nvSpPr>
          <p:cNvPr id="5" name="Text 2"/>
          <p:cNvSpPr txBox="1"/>
          <p:nvPr/>
        </p:nvSpPr>
        <p:spPr>
          <a:xfrm>
            <a:off x="960120" y="896112"/>
            <a:ext cx="1035101" cy="310896"/>
          </a:xfrm>
          <a:prstGeom prst="rect">
            <a:avLst/>
          </a:prstGeom>
          <a:noFill/>
          <a:ln/>
        </p:spPr>
        <p:txBody>
          <a:bodyPr wrap="square" lIns="0" tIns="0" rIns="0" bIns="0" rtlCol="0" anchor="ctr"/>
          <a:lstStyle/>
          <a:p>
            <a:pPr algn="ctr" indent="0" marL="0">
              <a:buNone/>
            </a:pPr>
            <a:r>
              <a:rPr lang="en-US" sz="1250" dirty="0">
                <a:solidFill>
                  <a:srgbClr val="FFFFFF"/>
                </a:solidFill>
                <a:latin typeface="Roboto" pitchFamily="34" charset="0"/>
                <a:ea typeface="Roboto" pitchFamily="34" charset="-122"/>
                <a:cs typeface="Roboto" pitchFamily="34" charset="-120"/>
              </a:rPr>
              <a:t>Apartat 1</a:t>
            </a:r>
            <a:endParaRPr lang="en-US" sz="1250" dirty="0"/>
          </a:p>
        </p:txBody>
      </p:sp>
      <p:sp>
        <p:nvSpPr>
          <p:cNvPr id="6" name="Text 3"/>
          <p:cNvSpPr txBox="1"/>
          <p:nvPr/>
        </p:nvSpPr>
        <p:spPr>
          <a:xfrm>
            <a:off x="960120" y="1371600"/>
            <a:ext cx="5760720" cy="1280160"/>
          </a:xfrm>
          <a:prstGeom prst="rect">
            <a:avLst/>
          </a:prstGeom>
          <a:noFill/>
          <a:ln/>
        </p:spPr>
        <p:txBody>
          <a:bodyPr wrap="square" lIns="0" tIns="0" rIns="0" bIns="0" rtlCol="0" anchor="t"/>
          <a:lstStyle/>
          <a:p>
            <a:pPr indent="0" marL="0">
              <a:lnSpc>
                <a:spcPct val="95000"/>
              </a:lnSpc>
              <a:buNone/>
            </a:pPr>
            <a:r>
              <a:rPr lang="en-US" sz="3400" b="1" dirty="0">
                <a:solidFill>
                  <a:srgbClr val="FFFFFF"/>
                </a:solidFill>
                <a:latin typeface="Roboto" pitchFamily="34" charset="0"/>
                <a:ea typeface="Roboto" pitchFamily="34" charset="-122"/>
                <a:cs typeface="Roboto" pitchFamily="34" charset="-120"/>
              </a:rPr>
              <a:t>Orientar-se. Els punts cardinals</a:t>
            </a:r>
            <a:endParaRPr lang="en-US" sz="3400" dirty="0"/>
          </a:p>
        </p:txBody>
      </p:sp>
      <p:sp>
        <p:nvSpPr>
          <p:cNvPr id="7" name="Pregunta guia"/>
          <p:cNvSpPr/>
          <p:nvPr/>
        </p:nvSpPr>
        <p:spPr>
          <a:xfrm>
            <a:off x="548640" y="4389120"/>
            <a:ext cx="6720840" cy="1645920"/>
          </a:xfrm>
          <a:prstGeom prst="roundRect">
            <a:avLst>
              <a:gd name="adj" fmla="val 6111"/>
            </a:avLst>
          </a:prstGeom>
          <a:solidFill>
            <a:srgbClr val="F6F8FB"/>
          </a:solidFill>
          <a:ln/>
        </p:spPr>
      </p:sp>
      <p:sp>
        <p:nvSpPr>
          <p:cNvPr id="8" name="Text 5"/>
          <p:cNvSpPr txBox="1"/>
          <p:nvPr/>
        </p:nvSpPr>
        <p:spPr>
          <a:xfrm>
            <a:off x="914400" y="4590288"/>
            <a:ext cx="4572000" cy="320040"/>
          </a:xfrm>
          <a:prstGeom prst="rect">
            <a:avLst/>
          </a:prstGeom>
          <a:noFill/>
          <a:ln/>
        </p:spPr>
        <p:txBody>
          <a:bodyPr wrap="square" lIns="0" tIns="0" rIns="0" bIns="0" rtlCol="0" anchor="t"/>
          <a:lstStyle/>
          <a:p>
            <a:pPr indent="0" marL="0">
              <a:buNone/>
            </a:pPr>
            <a:r>
              <a:rPr lang="en-US" sz="1300" b="1" dirty="0">
                <a:solidFill>
                  <a:srgbClr val="188038"/>
                </a:solidFill>
                <a:latin typeface="Roboto" pitchFamily="34" charset="0"/>
                <a:ea typeface="Roboto" pitchFamily="34" charset="-122"/>
                <a:cs typeface="Roboto" pitchFamily="34" charset="-120"/>
              </a:rPr>
              <a:t>Pregunta guia</a:t>
            </a:r>
            <a:endParaRPr lang="en-US" sz="1300" dirty="0"/>
          </a:p>
        </p:txBody>
      </p:sp>
      <p:sp>
        <p:nvSpPr>
          <p:cNvPr id="9" name="Text 6"/>
          <p:cNvSpPr txBox="1"/>
          <p:nvPr/>
        </p:nvSpPr>
        <p:spPr>
          <a:xfrm>
            <a:off x="914400" y="4937760"/>
            <a:ext cx="6035040" cy="914400"/>
          </a:xfrm>
          <a:prstGeom prst="rect">
            <a:avLst/>
          </a:prstGeom>
          <a:noFill/>
          <a:ln/>
        </p:spPr>
        <p:txBody>
          <a:bodyPr wrap="square" lIns="0" tIns="0" rIns="0" bIns="0" rtlCol="0" anchor="t"/>
          <a:lstStyle/>
          <a:p>
            <a:pPr indent="0" marL="0">
              <a:buNone/>
            </a:pPr>
            <a:r>
              <a:rPr lang="en-US" sz="1900" dirty="0">
                <a:solidFill>
                  <a:srgbClr val="5F6368"/>
                </a:solidFill>
                <a:latin typeface="Roboto" pitchFamily="34" charset="0"/>
                <a:ea typeface="Roboto" pitchFamily="34" charset="-122"/>
                <a:cs typeface="Roboto" pitchFamily="34" charset="-120"/>
              </a:rPr>
              <a:t>Si et deixessin al mig d'un bosc sense mòbil, sabries trobar el camí cap al nord?</a:t>
            </a:r>
            <a:endParaRPr lang="en-US" sz="1900" dirty="0"/>
          </a:p>
        </p:txBody>
      </p:sp>
      <p:sp>
        <p:nvSpPr>
          <p:cNvPr id="10" name="Fons Orientar-se. Els punts cardinals"/>
          <p:cNvSpPr/>
          <p:nvPr/>
        </p:nvSpPr>
        <p:spPr>
          <a:xfrm>
            <a:off x="7635240" y="845091"/>
            <a:ext cx="4007815" cy="4097971"/>
          </a:xfrm>
          <a:prstGeom prst="roundRect">
            <a:avLst>
              <a:gd name="adj" fmla="val 2510"/>
            </a:avLst>
          </a:prstGeom>
          <a:solidFill>
            <a:srgbClr val="F6F8FB"/>
          </a:solidFill>
          <a:ln/>
        </p:spPr>
      </p:sp>
      <p:pic>
        <p:nvPicPr>
          <p:cNvPr id="11" name="Orientar-se. Els punts cardinals" descr="/home/claude/p857/build/img/bruixola.jpg">    </p:cNvPr>
          <p:cNvPicPr>
            <a:picLocks noChangeAspect="1"/>
          </p:cNvPicPr>
          <p:nvPr/>
        </p:nvPicPr>
        <p:blipFill>
          <a:blip r:embed="rId2"/>
          <a:stretch>
            <a:fillRect/>
          </a:stretch>
        </p:blipFill>
        <p:spPr>
          <a:xfrm>
            <a:off x="7635240" y="845091"/>
            <a:ext cx="4007815" cy="4097971"/>
          </a:xfrm>
          <a:prstGeom prst="rect">
            <a:avLst/>
          </a:prstGeom>
        </p:spPr>
      </p:pic>
      <p:sp>
        <p:nvSpPr>
          <p:cNvPr id="12" name="Text 8"/>
          <p:cNvSpPr txBox="1"/>
          <p:nvPr/>
        </p:nvSpPr>
        <p:spPr>
          <a:xfrm>
            <a:off x="7635240" y="5052789"/>
            <a:ext cx="4007815" cy="685800"/>
          </a:xfrm>
          <a:prstGeom prst="rect">
            <a:avLst/>
          </a:prstGeom>
          <a:noFill/>
          <a:ln/>
        </p:spPr>
        <p:txBody>
          <a:bodyPr wrap="square" lIns="0" tIns="0" rIns="0" bIns="0" rtlCol="0" anchor="t"/>
          <a:lstStyle/>
          <a:p>
            <a:pPr indent="0" marL="0">
              <a:buNone/>
            </a:pPr>
            <a:r>
              <a:rPr lang="en-US" sz="1000" dirty="0">
                <a:solidFill>
                  <a:srgbClr val="5F6368"/>
                </a:solidFill>
                <a:latin typeface="Roboto" pitchFamily="34" charset="0"/>
                <a:ea typeface="Roboto" pitchFamily="34" charset="-122"/>
                <a:cs typeface="Roboto" pitchFamily="34" charset="-120"/>
              </a:rPr>
              <a:t>Una brúixola. L'agulla és un petit imant que sempre s'alinea en direcció nord-sud. Foto: Gabriel Fredrick Sindahnai, Wikimedia Commons, CC BY 4.0.</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1</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Els quatre punts cardinals</a:t>
            </a:r>
            <a:endParaRPr lang="en-US" sz="2800" dirty="0"/>
          </a:p>
        </p:txBody>
      </p:sp>
      <p:sp>
        <p:nvSpPr>
          <p:cNvPr id="5" name="Text 3"/>
          <p:cNvSpPr txBox="1"/>
          <p:nvPr/>
        </p:nvSpPr>
        <p:spPr>
          <a:xfrm>
            <a:off x="548640" y="1371600"/>
            <a:ext cx="11094415" cy="594360"/>
          </a:xfrm>
          <a:prstGeom prst="rect">
            <a:avLst/>
          </a:prstGeom>
          <a:noFill/>
          <a:ln/>
        </p:spPr>
        <p:txBody>
          <a:bodyPr wrap="square" lIns="0" tIns="0" rIns="0" bIns="0" rtlCol="0" anchor="t"/>
          <a:lstStyle/>
          <a:p>
            <a:pPr indent="0" marL="0">
              <a:buNone/>
            </a:pPr>
            <a:r>
              <a:rPr lang="en-US" sz="1800" dirty="0">
                <a:solidFill>
                  <a:srgbClr val="202124"/>
                </a:solidFill>
                <a:latin typeface="Roboto" pitchFamily="34" charset="0"/>
                <a:ea typeface="Roboto" pitchFamily="34" charset="-122"/>
                <a:cs typeface="Roboto" pitchFamily="34" charset="-120"/>
              </a:rPr>
              <a:t>Ens serveixen per dir cap on va una cosa o on és. Per exemple, Barcelona està al nord-est de la península Ibèrica.</a:t>
            </a:r>
            <a:endParaRPr lang="en-US" sz="1800" dirty="0"/>
          </a:p>
        </p:txBody>
      </p:sp>
      <p:sp>
        <p:nvSpPr>
          <p:cNvPr id="6" name="Punt Nord"/>
          <p:cNvSpPr/>
          <p:nvPr/>
        </p:nvSpPr>
        <p:spPr>
          <a:xfrm>
            <a:off x="2240280" y="2194560"/>
            <a:ext cx="1463040" cy="1051560"/>
          </a:xfrm>
          <a:prstGeom prst="roundRect">
            <a:avLst>
              <a:gd name="adj" fmla="val 9565"/>
            </a:avLst>
          </a:prstGeom>
          <a:solidFill>
            <a:srgbClr val="E6F4EA"/>
          </a:solidFill>
          <a:ln/>
        </p:spPr>
      </p:sp>
      <p:sp>
        <p:nvSpPr>
          <p:cNvPr id="7" name="Text 5"/>
          <p:cNvSpPr txBox="1"/>
          <p:nvPr/>
        </p:nvSpPr>
        <p:spPr>
          <a:xfrm>
            <a:off x="2240280" y="2240280"/>
            <a:ext cx="1463040" cy="960120"/>
          </a:xfrm>
          <a:prstGeom prst="rect">
            <a:avLst/>
          </a:prstGeom>
          <a:noFill/>
          <a:ln/>
        </p:spPr>
        <p:txBody>
          <a:bodyPr wrap="square" lIns="0" tIns="0" rIns="0" bIns="0" rtlCol="0" anchor="ctr"/>
          <a:lstStyle/>
          <a:p>
            <a:pPr algn="ctr" indent="0" marL="0">
              <a:lnSpc>
                <a:spcPct val="90000"/>
              </a:lnSpc>
              <a:buNone/>
            </a:pPr>
            <a:r>
              <a:rPr lang="en-US" sz="3200" b="1" dirty="0">
                <a:solidFill>
                  <a:srgbClr val="188038"/>
                </a:solidFill>
                <a:latin typeface="Roboto" pitchFamily="34" charset="0"/>
                <a:ea typeface="Roboto" pitchFamily="34" charset="-122"/>
                <a:cs typeface="Roboto" pitchFamily="34" charset="-120"/>
              </a:rPr>
              <a:t>N</a:t>
            </a:r>
            <a:endParaRPr lang="en-US" sz="3200" dirty="0"/>
          </a:p>
          <a:p>
            <a:pPr algn="ctr" indent="0" marL="0">
              <a:lnSpc>
                <a:spcPct val="90000"/>
              </a:lnSpc>
              <a:buNone/>
            </a:pPr>
            <a:r>
              <a:rPr lang="en-US" sz="1600" dirty="0">
                <a:solidFill>
                  <a:srgbClr val="202124"/>
                </a:solidFill>
                <a:latin typeface="Roboto" pitchFamily="34" charset="0"/>
                <a:ea typeface="Roboto" pitchFamily="34" charset="-122"/>
                <a:cs typeface="Roboto" pitchFamily="34" charset="-120"/>
              </a:rPr>
              <a:t>Nord</a:t>
            </a:r>
            <a:endParaRPr lang="en-US" sz="3200" dirty="0"/>
          </a:p>
        </p:txBody>
      </p:sp>
      <p:sp>
        <p:nvSpPr>
          <p:cNvPr id="8" name="Punt Sud"/>
          <p:cNvSpPr/>
          <p:nvPr/>
        </p:nvSpPr>
        <p:spPr>
          <a:xfrm>
            <a:off x="2240280" y="4709160"/>
            <a:ext cx="1463040" cy="1051560"/>
          </a:xfrm>
          <a:prstGeom prst="roundRect">
            <a:avLst>
              <a:gd name="adj" fmla="val 9565"/>
            </a:avLst>
          </a:prstGeom>
          <a:solidFill>
            <a:srgbClr val="E6F4EA"/>
          </a:solidFill>
          <a:ln/>
        </p:spPr>
      </p:sp>
      <p:sp>
        <p:nvSpPr>
          <p:cNvPr id="9" name="Text 7"/>
          <p:cNvSpPr txBox="1"/>
          <p:nvPr/>
        </p:nvSpPr>
        <p:spPr>
          <a:xfrm>
            <a:off x="2240280" y="4754880"/>
            <a:ext cx="1463040" cy="960120"/>
          </a:xfrm>
          <a:prstGeom prst="rect">
            <a:avLst/>
          </a:prstGeom>
          <a:noFill/>
          <a:ln/>
        </p:spPr>
        <p:txBody>
          <a:bodyPr wrap="square" lIns="0" tIns="0" rIns="0" bIns="0" rtlCol="0" anchor="ctr"/>
          <a:lstStyle/>
          <a:p>
            <a:pPr algn="ctr" indent="0" marL="0">
              <a:lnSpc>
                <a:spcPct val="90000"/>
              </a:lnSpc>
              <a:buNone/>
            </a:pPr>
            <a:r>
              <a:rPr lang="en-US" sz="3200" b="1" dirty="0">
                <a:solidFill>
                  <a:srgbClr val="188038"/>
                </a:solidFill>
                <a:latin typeface="Roboto" pitchFamily="34" charset="0"/>
                <a:ea typeface="Roboto" pitchFamily="34" charset="-122"/>
                <a:cs typeface="Roboto" pitchFamily="34" charset="-120"/>
              </a:rPr>
              <a:t>S</a:t>
            </a:r>
            <a:endParaRPr lang="en-US" sz="3200" dirty="0"/>
          </a:p>
          <a:p>
            <a:pPr algn="ctr" indent="0" marL="0">
              <a:lnSpc>
                <a:spcPct val="90000"/>
              </a:lnSpc>
              <a:buNone/>
            </a:pPr>
            <a:r>
              <a:rPr lang="en-US" sz="1600" dirty="0">
                <a:solidFill>
                  <a:srgbClr val="202124"/>
                </a:solidFill>
                <a:latin typeface="Roboto" pitchFamily="34" charset="0"/>
                <a:ea typeface="Roboto" pitchFamily="34" charset="-122"/>
                <a:cs typeface="Roboto" pitchFamily="34" charset="-120"/>
              </a:rPr>
              <a:t>Sud</a:t>
            </a:r>
            <a:endParaRPr lang="en-US" sz="3200" dirty="0"/>
          </a:p>
        </p:txBody>
      </p:sp>
      <p:sp>
        <p:nvSpPr>
          <p:cNvPr id="10" name="Punt Oest"/>
          <p:cNvSpPr/>
          <p:nvPr/>
        </p:nvSpPr>
        <p:spPr>
          <a:xfrm>
            <a:off x="777240" y="3451860"/>
            <a:ext cx="1463040" cy="1051560"/>
          </a:xfrm>
          <a:prstGeom prst="roundRect">
            <a:avLst>
              <a:gd name="adj" fmla="val 9565"/>
            </a:avLst>
          </a:prstGeom>
          <a:solidFill>
            <a:srgbClr val="E6F4EA"/>
          </a:solidFill>
          <a:ln/>
        </p:spPr>
      </p:sp>
      <p:sp>
        <p:nvSpPr>
          <p:cNvPr id="11" name="Text 9"/>
          <p:cNvSpPr txBox="1"/>
          <p:nvPr/>
        </p:nvSpPr>
        <p:spPr>
          <a:xfrm>
            <a:off x="777240" y="3497580"/>
            <a:ext cx="1463040" cy="960120"/>
          </a:xfrm>
          <a:prstGeom prst="rect">
            <a:avLst/>
          </a:prstGeom>
          <a:noFill/>
          <a:ln/>
        </p:spPr>
        <p:txBody>
          <a:bodyPr wrap="square" lIns="0" tIns="0" rIns="0" bIns="0" rtlCol="0" anchor="ctr"/>
          <a:lstStyle/>
          <a:p>
            <a:pPr algn="ctr" indent="0" marL="0">
              <a:lnSpc>
                <a:spcPct val="90000"/>
              </a:lnSpc>
              <a:buNone/>
            </a:pPr>
            <a:r>
              <a:rPr lang="en-US" sz="3200" b="1" dirty="0">
                <a:solidFill>
                  <a:srgbClr val="188038"/>
                </a:solidFill>
                <a:latin typeface="Roboto" pitchFamily="34" charset="0"/>
                <a:ea typeface="Roboto" pitchFamily="34" charset="-122"/>
                <a:cs typeface="Roboto" pitchFamily="34" charset="-120"/>
              </a:rPr>
              <a:t>O</a:t>
            </a:r>
            <a:endParaRPr lang="en-US" sz="3200" dirty="0"/>
          </a:p>
          <a:p>
            <a:pPr algn="ctr" indent="0" marL="0">
              <a:lnSpc>
                <a:spcPct val="90000"/>
              </a:lnSpc>
              <a:buNone/>
            </a:pPr>
            <a:r>
              <a:rPr lang="en-US" sz="1600" dirty="0">
                <a:solidFill>
                  <a:srgbClr val="202124"/>
                </a:solidFill>
                <a:latin typeface="Roboto" pitchFamily="34" charset="0"/>
                <a:ea typeface="Roboto" pitchFamily="34" charset="-122"/>
                <a:cs typeface="Roboto" pitchFamily="34" charset="-120"/>
              </a:rPr>
              <a:t>Oest</a:t>
            </a:r>
            <a:endParaRPr lang="en-US" sz="3200" dirty="0"/>
          </a:p>
        </p:txBody>
      </p:sp>
      <p:sp>
        <p:nvSpPr>
          <p:cNvPr id="12" name="Punt Est"/>
          <p:cNvSpPr/>
          <p:nvPr/>
        </p:nvSpPr>
        <p:spPr>
          <a:xfrm>
            <a:off x="3703320" y="3451860"/>
            <a:ext cx="1463040" cy="1051560"/>
          </a:xfrm>
          <a:prstGeom prst="roundRect">
            <a:avLst>
              <a:gd name="adj" fmla="val 9565"/>
            </a:avLst>
          </a:prstGeom>
          <a:solidFill>
            <a:srgbClr val="E6F4EA"/>
          </a:solidFill>
          <a:ln/>
        </p:spPr>
      </p:sp>
      <p:sp>
        <p:nvSpPr>
          <p:cNvPr id="13" name="Text 11"/>
          <p:cNvSpPr txBox="1"/>
          <p:nvPr/>
        </p:nvSpPr>
        <p:spPr>
          <a:xfrm>
            <a:off x="3703320" y="3497580"/>
            <a:ext cx="1463040" cy="960120"/>
          </a:xfrm>
          <a:prstGeom prst="rect">
            <a:avLst/>
          </a:prstGeom>
          <a:noFill/>
          <a:ln/>
        </p:spPr>
        <p:txBody>
          <a:bodyPr wrap="square" lIns="0" tIns="0" rIns="0" bIns="0" rtlCol="0" anchor="ctr"/>
          <a:lstStyle/>
          <a:p>
            <a:pPr algn="ctr" indent="0" marL="0">
              <a:lnSpc>
                <a:spcPct val="90000"/>
              </a:lnSpc>
              <a:buNone/>
            </a:pPr>
            <a:r>
              <a:rPr lang="en-US" sz="3200" b="1" dirty="0">
                <a:solidFill>
                  <a:srgbClr val="188038"/>
                </a:solidFill>
                <a:latin typeface="Roboto" pitchFamily="34" charset="0"/>
                <a:ea typeface="Roboto" pitchFamily="34" charset="-122"/>
                <a:cs typeface="Roboto" pitchFamily="34" charset="-120"/>
              </a:rPr>
              <a:t>E</a:t>
            </a:r>
            <a:endParaRPr lang="en-US" sz="3200" dirty="0"/>
          </a:p>
          <a:p>
            <a:pPr algn="ctr" indent="0" marL="0">
              <a:lnSpc>
                <a:spcPct val="90000"/>
              </a:lnSpc>
              <a:buNone/>
            </a:pPr>
            <a:r>
              <a:rPr lang="en-US" sz="1600" dirty="0">
                <a:solidFill>
                  <a:srgbClr val="202124"/>
                </a:solidFill>
                <a:latin typeface="Roboto" pitchFamily="34" charset="0"/>
                <a:ea typeface="Roboto" pitchFamily="34" charset="-122"/>
                <a:cs typeface="Roboto" pitchFamily="34" charset="-120"/>
              </a:rPr>
              <a:t>Est</a:t>
            </a:r>
            <a:endParaRPr lang="en-US" sz="3200" dirty="0"/>
          </a:p>
        </p:txBody>
      </p:sp>
      <p:sp>
        <p:nvSpPr>
          <p:cNvPr id="14" name="Cercle icona"/>
          <p:cNvSpPr/>
          <p:nvPr/>
        </p:nvSpPr>
        <p:spPr>
          <a:xfrm>
            <a:off x="2514600" y="3520440"/>
            <a:ext cx="914400" cy="914400"/>
          </a:xfrm>
          <a:prstGeom prst="ellipse">
            <a:avLst/>
          </a:prstGeom>
          <a:solidFill>
            <a:srgbClr val="188038"/>
          </a:solidFill>
          <a:ln/>
        </p:spPr>
      </p:sp>
      <p:pic>
        <p:nvPicPr>
          <p:cNvPr id="15" name="Icona TbCompass" descr="/home/claude/p857/build/img/ic/TbCompass-w.png">    </p:cNvPr>
          <p:cNvPicPr>
            <a:picLocks noChangeAspect="1"/>
          </p:cNvPicPr>
          <p:nvPr/>
        </p:nvPicPr>
        <p:blipFill>
          <a:blip r:embed="rId1"/>
          <a:stretch>
            <a:fillRect/>
          </a:stretch>
        </p:blipFill>
        <p:spPr>
          <a:xfrm>
            <a:off x="2715768" y="3721608"/>
            <a:ext cx="512064" cy="512064"/>
          </a:xfrm>
          <a:prstGeom prst="rect">
            <a:avLst/>
          </a:prstGeom>
        </p:spPr>
      </p:pic>
      <p:sp>
        <p:nvSpPr>
          <p:cNvPr id="16" name="Fons La península Ibèrica en quatre parts"/>
          <p:cNvSpPr/>
          <p:nvPr/>
        </p:nvSpPr>
        <p:spPr>
          <a:xfrm>
            <a:off x="5806440" y="2103120"/>
            <a:ext cx="5836615" cy="3520440"/>
          </a:xfrm>
          <a:prstGeom prst="roundRect">
            <a:avLst>
              <a:gd name="adj" fmla="val 2857"/>
            </a:avLst>
          </a:prstGeom>
          <a:solidFill>
            <a:srgbClr val="F6F8FB"/>
          </a:solidFill>
          <a:ln/>
        </p:spPr>
      </p:sp>
      <p:pic>
        <p:nvPicPr>
          <p:cNvPr id="17" name="La península Ibèrica en quatre parts" descr="/home/claude/p857/build/img/peninsula.png">    </p:cNvPr>
          <p:cNvPicPr>
            <a:picLocks noChangeAspect="1"/>
          </p:cNvPicPr>
          <p:nvPr/>
        </p:nvPicPr>
        <p:blipFill>
          <a:blip r:embed="rId2"/>
          <a:stretch>
            <a:fillRect/>
          </a:stretch>
        </p:blipFill>
        <p:spPr>
          <a:xfrm>
            <a:off x="6306205" y="2103120"/>
            <a:ext cx="4837085" cy="3520440"/>
          </a:xfrm>
          <a:prstGeom prst="rect">
            <a:avLst/>
          </a:prstGeom>
        </p:spPr>
      </p:pic>
      <p:sp>
        <p:nvSpPr>
          <p:cNvPr id="18" name="Text 14"/>
          <p:cNvSpPr txBox="1"/>
          <p:nvPr/>
        </p:nvSpPr>
        <p:spPr>
          <a:xfrm>
            <a:off x="5806440" y="5687568"/>
            <a:ext cx="5836615" cy="411480"/>
          </a:xfrm>
          <a:prstGeom prst="rect">
            <a:avLst/>
          </a:prstGeom>
          <a:noFill/>
          <a:ln/>
        </p:spPr>
        <p:txBody>
          <a:bodyPr wrap="square" lIns="0" tIns="0" rIns="0" bIns="0" rtlCol="0" anchor="t"/>
          <a:lstStyle/>
          <a:p>
            <a:pPr indent="0" marL="0">
              <a:buNone/>
            </a:pPr>
            <a:r>
              <a:rPr lang="en-US" sz="1000" dirty="0">
                <a:solidFill>
                  <a:srgbClr val="5F6368"/>
                </a:solidFill>
                <a:latin typeface="Roboto" pitchFamily="34" charset="0"/>
                <a:ea typeface="Roboto" pitchFamily="34" charset="-122"/>
                <a:cs typeface="Roboto" pitchFamily="34" charset="-120"/>
              </a:rPr>
              <a:t>Barcelona, al nord-est de la península. Mapa: professordesocials.cat, CC BY-SA 4.0. Base cartogràfica: Natural Earth (domini públic).</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1</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Com t'orientes</a:t>
            </a:r>
            <a:endParaRPr lang="en-US" sz="2800" dirty="0"/>
          </a:p>
        </p:txBody>
      </p:sp>
      <p:sp>
        <p:nvSpPr>
          <p:cNvPr id="5" name="Text 3"/>
          <p:cNvSpPr txBox="1"/>
          <p:nvPr/>
        </p:nvSpPr>
        <p:spPr>
          <a:xfrm>
            <a:off x="548640" y="1371600"/>
            <a:ext cx="11094415" cy="457200"/>
          </a:xfrm>
          <a:prstGeom prst="rect">
            <a:avLst/>
          </a:prstGeom>
          <a:noFill/>
          <a:ln/>
        </p:spPr>
        <p:txBody>
          <a:bodyPr wrap="square" lIns="0" tIns="0" rIns="0" bIns="0" rtlCol="0" anchor="t"/>
          <a:lstStyle/>
          <a:p>
            <a:pPr indent="0" marL="0">
              <a:buNone/>
            </a:pPr>
            <a:r>
              <a:rPr lang="en-US" sz="1800" dirty="0">
                <a:solidFill>
                  <a:srgbClr val="202124"/>
                </a:solidFill>
                <a:latin typeface="Roboto" pitchFamily="34" charset="0"/>
                <a:ea typeface="Roboto" pitchFamily="34" charset="-122"/>
                <a:cs typeface="Roboto" pitchFamily="34" charset="-120"/>
              </a:rPr>
              <a:t>Per orientar-te al carrer pots fer servir tres recursos.</a:t>
            </a:r>
            <a:endParaRPr lang="en-US" sz="1800" dirty="0"/>
          </a:p>
        </p:txBody>
      </p:sp>
      <p:sp>
        <p:nvSpPr>
          <p:cNvPr id="6" name="Targeta El sol"/>
          <p:cNvSpPr/>
          <p:nvPr/>
        </p:nvSpPr>
        <p:spPr>
          <a:xfrm>
            <a:off x="548640" y="1965960"/>
            <a:ext cx="3515258" cy="2606040"/>
          </a:xfrm>
          <a:prstGeom prst="roundRect">
            <a:avLst>
              <a:gd name="adj" fmla="val 3860"/>
            </a:avLst>
          </a:prstGeom>
          <a:solidFill>
            <a:srgbClr val="FFFFFF"/>
          </a:solidFill>
          <a:ln w="12700">
            <a:solidFill>
              <a:srgbClr val="DADCE0"/>
            </a:solidFill>
            <a:prstDash val="solid"/>
          </a:ln>
        </p:spPr>
      </p:sp>
      <p:sp>
        <p:nvSpPr>
          <p:cNvPr id="7" name="Cercle icona"/>
          <p:cNvSpPr/>
          <p:nvPr/>
        </p:nvSpPr>
        <p:spPr>
          <a:xfrm>
            <a:off x="777240" y="2194560"/>
            <a:ext cx="685800" cy="685800"/>
          </a:xfrm>
          <a:prstGeom prst="ellipse">
            <a:avLst/>
          </a:prstGeom>
          <a:solidFill>
            <a:srgbClr val="E6F4EA"/>
          </a:solidFill>
          <a:ln/>
        </p:spPr>
      </p:sp>
      <p:pic>
        <p:nvPicPr>
          <p:cNvPr id="8" name="Icona TbSun" descr="/home/claude/p857/build/img/ic/TbSun-g.png">    </p:cNvPr>
          <p:cNvPicPr>
            <a:picLocks noChangeAspect="1"/>
          </p:cNvPicPr>
          <p:nvPr/>
        </p:nvPicPr>
        <p:blipFill>
          <a:blip r:embed="rId1"/>
          <a:stretch>
            <a:fillRect/>
          </a:stretch>
        </p:blipFill>
        <p:spPr>
          <a:xfrm>
            <a:off x="928116" y="2345436"/>
            <a:ext cx="384048" cy="384048"/>
          </a:xfrm>
          <a:prstGeom prst="rect">
            <a:avLst/>
          </a:prstGeom>
        </p:spPr>
      </p:pic>
      <p:sp>
        <p:nvSpPr>
          <p:cNvPr id="9" name="Text 6"/>
          <p:cNvSpPr txBox="1"/>
          <p:nvPr/>
        </p:nvSpPr>
        <p:spPr>
          <a:xfrm>
            <a:off x="1600200" y="2194560"/>
            <a:ext cx="2235098" cy="685800"/>
          </a:xfrm>
          <a:prstGeom prst="rect">
            <a:avLst/>
          </a:prstGeom>
          <a:noFill/>
          <a:ln/>
        </p:spPr>
        <p:txBody>
          <a:bodyPr wrap="square" lIns="0" tIns="0" rIns="0" bIns="0" rtlCol="0" anchor="ctr"/>
          <a:lstStyle/>
          <a:p>
            <a:pPr indent="0" marL="0">
              <a:buNone/>
            </a:pPr>
            <a:r>
              <a:rPr lang="en-US" sz="2100" b="1" dirty="0">
                <a:solidFill>
                  <a:srgbClr val="188038"/>
                </a:solidFill>
                <a:latin typeface="Roboto" pitchFamily="34" charset="0"/>
                <a:ea typeface="Roboto" pitchFamily="34" charset="-122"/>
                <a:cs typeface="Roboto" pitchFamily="34" charset="-120"/>
              </a:rPr>
              <a:t>El sol</a:t>
            </a:r>
            <a:endParaRPr lang="en-US" sz="2100" dirty="0"/>
          </a:p>
        </p:txBody>
      </p:sp>
      <p:sp>
        <p:nvSpPr>
          <p:cNvPr id="10" name="Text 7"/>
          <p:cNvSpPr txBox="1"/>
          <p:nvPr/>
        </p:nvSpPr>
        <p:spPr>
          <a:xfrm>
            <a:off x="777240" y="3017520"/>
            <a:ext cx="3058058" cy="1417320"/>
          </a:xfrm>
          <a:prstGeom prst="rect">
            <a:avLst/>
          </a:prstGeom>
          <a:noFill/>
          <a:ln/>
        </p:spPr>
        <p:txBody>
          <a:bodyPr wrap="square" lIns="0" tIns="0" rIns="0" bIns="0" rtlCol="0" anchor="t"/>
          <a:lstStyle/>
          <a:p>
            <a:pPr indent="0" marL="0">
              <a:buNone/>
            </a:pPr>
            <a:r>
              <a:rPr lang="en-US" sz="1850" dirty="0">
                <a:solidFill>
                  <a:srgbClr val="202124"/>
                </a:solidFill>
                <a:latin typeface="Roboto" pitchFamily="34" charset="0"/>
                <a:ea typeface="Roboto" pitchFamily="34" charset="-122"/>
                <a:cs typeface="Roboto" pitchFamily="34" charset="-120"/>
              </a:rPr>
              <a:t>Surt aproximadament per l'est al matí i es pon per l'oest a la tarda.</a:t>
            </a:r>
            <a:endParaRPr lang="en-US" sz="1850" dirty="0"/>
          </a:p>
        </p:txBody>
      </p:sp>
      <p:sp>
        <p:nvSpPr>
          <p:cNvPr id="11" name="Targeta Una brúixola"/>
          <p:cNvSpPr/>
          <p:nvPr/>
        </p:nvSpPr>
        <p:spPr>
          <a:xfrm>
            <a:off x="4338218" y="1965960"/>
            <a:ext cx="3515258" cy="2606040"/>
          </a:xfrm>
          <a:prstGeom prst="roundRect">
            <a:avLst>
              <a:gd name="adj" fmla="val 3860"/>
            </a:avLst>
          </a:prstGeom>
          <a:solidFill>
            <a:srgbClr val="FFFFFF"/>
          </a:solidFill>
          <a:ln w="12700">
            <a:solidFill>
              <a:srgbClr val="DADCE0"/>
            </a:solidFill>
            <a:prstDash val="solid"/>
          </a:ln>
        </p:spPr>
      </p:sp>
      <p:sp>
        <p:nvSpPr>
          <p:cNvPr id="12" name="Cercle icona"/>
          <p:cNvSpPr/>
          <p:nvPr/>
        </p:nvSpPr>
        <p:spPr>
          <a:xfrm>
            <a:off x="4566818" y="2194560"/>
            <a:ext cx="685800" cy="685800"/>
          </a:xfrm>
          <a:prstGeom prst="ellipse">
            <a:avLst/>
          </a:prstGeom>
          <a:solidFill>
            <a:srgbClr val="E6F4EA"/>
          </a:solidFill>
          <a:ln/>
        </p:spPr>
      </p:sp>
      <p:pic>
        <p:nvPicPr>
          <p:cNvPr id="13" name="Icona TbCompass" descr="/home/claude/p857/build/img/ic/TbCompass-g.png">    </p:cNvPr>
          <p:cNvPicPr>
            <a:picLocks noChangeAspect="1"/>
          </p:cNvPicPr>
          <p:nvPr/>
        </p:nvPicPr>
        <p:blipFill>
          <a:blip r:embed="rId2"/>
          <a:stretch>
            <a:fillRect/>
          </a:stretch>
        </p:blipFill>
        <p:spPr>
          <a:xfrm>
            <a:off x="4717694" y="2345436"/>
            <a:ext cx="384048" cy="384048"/>
          </a:xfrm>
          <a:prstGeom prst="rect">
            <a:avLst/>
          </a:prstGeom>
        </p:spPr>
      </p:pic>
      <p:sp>
        <p:nvSpPr>
          <p:cNvPr id="14" name="Text 10"/>
          <p:cNvSpPr txBox="1"/>
          <p:nvPr/>
        </p:nvSpPr>
        <p:spPr>
          <a:xfrm>
            <a:off x="5389778" y="2194560"/>
            <a:ext cx="2235098" cy="685800"/>
          </a:xfrm>
          <a:prstGeom prst="rect">
            <a:avLst/>
          </a:prstGeom>
          <a:noFill/>
          <a:ln/>
        </p:spPr>
        <p:txBody>
          <a:bodyPr wrap="square" lIns="0" tIns="0" rIns="0" bIns="0" rtlCol="0" anchor="ctr"/>
          <a:lstStyle/>
          <a:p>
            <a:pPr indent="0" marL="0">
              <a:buNone/>
            </a:pPr>
            <a:r>
              <a:rPr lang="en-US" sz="2100" b="1" dirty="0">
                <a:solidFill>
                  <a:srgbClr val="188038"/>
                </a:solidFill>
                <a:latin typeface="Roboto" pitchFamily="34" charset="0"/>
                <a:ea typeface="Roboto" pitchFamily="34" charset="-122"/>
                <a:cs typeface="Roboto" pitchFamily="34" charset="-120"/>
              </a:rPr>
              <a:t>Una brúixola</a:t>
            </a:r>
            <a:endParaRPr lang="en-US" sz="2100" dirty="0"/>
          </a:p>
        </p:txBody>
      </p:sp>
      <p:sp>
        <p:nvSpPr>
          <p:cNvPr id="15" name="Text 11"/>
          <p:cNvSpPr txBox="1"/>
          <p:nvPr/>
        </p:nvSpPr>
        <p:spPr>
          <a:xfrm>
            <a:off x="4566818" y="3017520"/>
            <a:ext cx="3058058" cy="1417320"/>
          </a:xfrm>
          <a:prstGeom prst="rect">
            <a:avLst/>
          </a:prstGeom>
          <a:noFill/>
          <a:ln/>
        </p:spPr>
        <p:txBody>
          <a:bodyPr wrap="square" lIns="0" tIns="0" rIns="0" bIns="0" rtlCol="0" anchor="t"/>
          <a:lstStyle/>
          <a:p>
            <a:pPr indent="0" marL="0">
              <a:buNone/>
            </a:pPr>
            <a:r>
              <a:rPr lang="en-US" sz="1850" dirty="0">
                <a:solidFill>
                  <a:srgbClr val="202124"/>
                </a:solidFill>
                <a:latin typeface="Roboto" pitchFamily="34" charset="0"/>
                <a:ea typeface="Roboto" pitchFamily="34" charset="-122"/>
                <a:cs typeface="Roboto" pitchFamily="34" charset="-120"/>
              </a:rPr>
              <a:t>L'agulla magnètica sempre apunta al nord.</a:t>
            </a:r>
            <a:endParaRPr lang="en-US" sz="1850" dirty="0"/>
          </a:p>
        </p:txBody>
      </p:sp>
      <p:sp>
        <p:nvSpPr>
          <p:cNvPr id="16" name="Targeta El GPS del mòbil"/>
          <p:cNvSpPr/>
          <p:nvPr/>
        </p:nvSpPr>
        <p:spPr>
          <a:xfrm>
            <a:off x="8127797" y="1965960"/>
            <a:ext cx="3515258" cy="2606040"/>
          </a:xfrm>
          <a:prstGeom prst="roundRect">
            <a:avLst>
              <a:gd name="adj" fmla="val 3860"/>
            </a:avLst>
          </a:prstGeom>
          <a:solidFill>
            <a:srgbClr val="FFFFFF"/>
          </a:solidFill>
          <a:ln w="12700">
            <a:solidFill>
              <a:srgbClr val="DADCE0"/>
            </a:solidFill>
            <a:prstDash val="solid"/>
          </a:ln>
        </p:spPr>
      </p:sp>
      <p:sp>
        <p:nvSpPr>
          <p:cNvPr id="17" name="Cercle icona"/>
          <p:cNvSpPr/>
          <p:nvPr/>
        </p:nvSpPr>
        <p:spPr>
          <a:xfrm>
            <a:off x="8356397" y="2194560"/>
            <a:ext cx="685800" cy="685800"/>
          </a:xfrm>
          <a:prstGeom prst="ellipse">
            <a:avLst/>
          </a:prstGeom>
          <a:solidFill>
            <a:srgbClr val="E6F4EA"/>
          </a:solidFill>
          <a:ln/>
        </p:spPr>
      </p:sp>
      <p:pic>
        <p:nvPicPr>
          <p:cNvPr id="18" name="Icona TbDeviceMobile" descr="/home/claude/p857/build/img/ic/TbDeviceMobile-g.png">    </p:cNvPr>
          <p:cNvPicPr>
            <a:picLocks noChangeAspect="1"/>
          </p:cNvPicPr>
          <p:nvPr/>
        </p:nvPicPr>
        <p:blipFill>
          <a:blip r:embed="rId3"/>
          <a:stretch>
            <a:fillRect/>
          </a:stretch>
        </p:blipFill>
        <p:spPr>
          <a:xfrm>
            <a:off x="8507273" y="2345436"/>
            <a:ext cx="384048" cy="384048"/>
          </a:xfrm>
          <a:prstGeom prst="rect">
            <a:avLst/>
          </a:prstGeom>
        </p:spPr>
      </p:pic>
      <p:sp>
        <p:nvSpPr>
          <p:cNvPr id="19" name="Text 14"/>
          <p:cNvSpPr txBox="1"/>
          <p:nvPr/>
        </p:nvSpPr>
        <p:spPr>
          <a:xfrm>
            <a:off x="9179357" y="2194560"/>
            <a:ext cx="2235098" cy="685800"/>
          </a:xfrm>
          <a:prstGeom prst="rect">
            <a:avLst/>
          </a:prstGeom>
          <a:noFill/>
          <a:ln/>
        </p:spPr>
        <p:txBody>
          <a:bodyPr wrap="square" lIns="0" tIns="0" rIns="0" bIns="0" rtlCol="0" anchor="ctr"/>
          <a:lstStyle/>
          <a:p>
            <a:pPr indent="0" marL="0">
              <a:buNone/>
            </a:pPr>
            <a:r>
              <a:rPr lang="en-US" sz="2100" b="1" dirty="0">
                <a:solidFill>
                  <a:srgbClr val="188038"/>
                </a:solidFill>
                <a:latin typeface="Roboto" pitchFamily="34" charset="0"/>
                <a:ea typeface="Roboto" pitchFamily="34" charset="-122"/>
                <a:cs typeface="Roboto" pitchFamily="34" charset="-120"/>
              </a:rPr>
              <a:t>El GPS del mòbil</a:t>
            </a:r>
            <a:endParaRPr lang="en-US" sz="2100" dirty="0"/>
          </a:p>
        </p:txBody>
      </p:sp>
      <p:sp>
        <p:nvSpPr>
          <p:cNvPr id="20" name="Text 15"/>
          <p:cNvSpPr txBox="1"/>
          <p:nvPr/>
        </p:nvSpPr>
        <p:spPr>
          <a:xfrm>
            <a:off x="8356397" y="3017520"/>
            <a:ext cx="3058058" cy="1417320"/>
          </a:xfrm>
          <a:prstGeom prst="rect">
            <a:avLst/>
          </a:prstGeom>
          <a:noFill/>
          <a:ln/>
        </p:spPr>
        <p:txBody>
          <a:bodyPr wrap="square" lIns="0" tIns="0" rIns="0" bIns="0" rtlCol="0" anchor="t"/>
          <a:lstStyle/>
          <a:p>
            <a:pPr indent="0" marL="0">
              <a:buNone/>
            </a:pPr>
            <a:r>
              <a:rPr lang="en-US" sz="1850" dirty="0">
                <a:solidFill>
                  <a:srgbClr val="202124"/>
                </a:solidFill>
                <a:latin typeface="Roboto" pitchFamily="34" charset="0"/>
                <a:ea typeface="Roboto" pitchFamily="34" charset="-122"/>
                <a:cs typeface="Roboto" pitchFamily="34" charset="-120"/>
              </a:rPr>
              <a:t>T'ho diu tot fent servir satèl·lits. Ho veuràs a l'apartat 3.</a:t>
            </a:r>
            <a:endParaRPr lang="en-US" sz="1850" dirty="0"/>
          </a:p>
        </p:txBody>
      </p:sp>
      <p:sp>
        <p:nvSpPr>
          <p:cNvPr id="21" name="Paraula clau · Orientar-se"/>
          <p:cNvSpPr/>
          <p:nvPr/>
        </p:nvSpPr>
        <p:spPr>
          <a:xfrm>
            <a:off x="548640" y="4800600"/>
            <a:ext cx="11094415" cy="1188720"/>
          </a:xfrm>
          <a:prstGeom prst="roundRect">
            <a:avLst>
              <a:gd name="adj" fmla="val 8462"/>
            </a:avLst>
          </a:prstGeom>
          <a:solidFill>
            <a:srgbClr val="E6F4EA"/>
          </a:solidFill>
          <a:ln/>
        </p:spPr>
      </p:sp>
      <p:sp>
        <p:nvSpPr>
          <p:cNvPr id="22" name="Text 17"/>
          <p:cNvSpPr txBox="1"/>
          <p:nvPr/>
        </p:nvSpPr>
        <p:spPr>
          <a:xfrm>
            <a:off x="868680" y="4956048"/>
            <a:ext cx="10454335" cy="320040"/>
          </a:xfrm>
          <a:prstGeom prst="rect">
            <a:avLst/>
          </a:prstGeom>
          <a:noFill/>
          <a:ln/>
        </p:spPr>
        <p:txBody>
          <a:bodyPr wrap="square" lIns="0" tIns="0" rIns="0" bIns="0" rtlCol="0" anchor="t"/>
          <a:lstStyle/>
          <a:p>
            <a:pPr indent="0" marL="0">
              <a:buNone/>
            </a:pPr>
            <a:r>
              <a:rPr lang="en-US" sz="1400" b="1" dirty="0">
                <a:solidFill>
                  <a:srgbClr val="188038"/>
                </a:solidFill>
                <a:latin typeface="Roboto" pitchFamily="34" charset="0"/>
                <a:ea typeface="Roboto" pitchFamily="34" charset="-122"/>
                <a:cs typeface="Roboto" pitchFamily="34" charset="-120"/>
              </a:rPr>
              <a:t>Paraula clau · Orientar-se</a:t>
            </a:r>
            <a:endParaRPr lang="en-US" sz="1400" dirty="0"/>
          </a:p>
        </p:txBody>
      </p:sp>
      <p:sp>
        <p:nvSpPr>
          <p:cNvPr id="23" name="Text 18"/>
          <p:cNvSpPr txBox="1"/>
          <p:nvPr/>
        </p:nvSpPr>
        <p:spPr>
          <a:xfrm>
            <a:off x="868680" y="5303520"/>
            <a:ext cx="10454335" cy="548640"/>
          </a:xfrm>
          <a:prstGeom prst="rect">
            <a:avLst/>
          </a:prstGeom>
          <a:noFill/>
          <a:ln/>
        </p:spPr>
        <p:txBody>
          <a:bodyPr wrap="square" lIns="0" tIns="0" rIns="0" bIns="0" rtlCol="0" anchor="t"/>
          <a:lstStyle/>
          <a:p>
            <a:pPr indent="0" marL="0">
              <a:buNone/>
            </a:pPr>
            <a:r>
              <a:rPr lang="en-US" sz="1700" dirty="0">
                <a:solidFill>
                  <a:srgbClr val="202124"/>
                </a:solidFill>
                <a:latin typeface="Roboto" pitchFamily="34" charset="0"/>
                <a:ea typeface="Roboto" pitchFamily="34" charset="-122"/>
                <a:cs typeface="Roboto" pitchFamily="34" charset="-120"/>
              </a:rPr>
              <a:t>Saber on som i cap on hem d'anar, prenent com a referència els punts cardinals.</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1</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Orientar-se amb el sol</a:t>
            </a:r>
            <a:endParaRPr lang="en-US" sz="2800" dirty="0"/>
          </a:p>
        </p:txBody>
      </p:sp>
      <p:sp>
        <p:nvSpPr>
          <p:cNvPr id="5" name="El camí del sol"/>
          <p:cNvSpPr/>
          <p:nvPr/>
        </p:nvSpPr>
        <p:spPr>
          <a:xfrm>
            <a:off x="548640" y="1371600"/>
            <a:ext cx="6583680" cy="4251960"/>
          </a:xfrm>
          <a:prstGeom prst="roundRect">
            <a:avLst>
              <a:gd name="adj" fmla="val 2366"/>
            </a:avLst>
          </a:prstGeom>
          <a:solidFill>
            <a:srgbClr val="F6F8FB"/>
          </a:solidFill>
          <a:ln/>
        </p:spPr>
      </p:sp>
      <p:sp>
        <p:nvSpPr>
          <p:cNvPr id="6" name="Camí del sol"/>
          <p:cNvSpPr/>
          <p:nvPr/>
        </p:nvSpPr>
        <p:spPr>
          <a:xfrm>
            <a:off x="5893278" y="3223260"/>
            <a:ext cx="91440" cy="91440"/>
          </a:xfrm>
          <a:prstGeom prst="ellipse">
            <a:avLst/>
          </a:prstGeom>
          <a:solidFill>
            <a:srgbClr val="7FC293"/>
          </a:solidFill>
          <a:ln/>
        </p:spPr>
      </p:sp>
      <p:sp>
        <p:nvSpPr>
          <p:cNvPr id="7" name="Camí del sol"/>
          <p:cNvSpPr/>
          <p:nvPr/>
        </p:nvSpPr>
        <p:spPr>
          <a:xfrm>
            <a:off x="5651008" y="2851150"/>
            <a:ext cx="91440" cy="91440"/>
          </a:xfrm>
          <a:prstGeom prst="ellipse">
            <a:avLst/>
          </a:prstGeom>
          <a:solidFill>
            <a:srgbClr val="7FC293"/>
          </a:solidFill>
          <a:ln/>
        </p:spPr>
      </p:sp>
      <p:sp>
        <p:nvSpPr>
          <p:cNvPr id="8" name="Camí del sol"/>
          <p:cNvSpPr/>
          <p:nvPr/>
        </p:nvSpPr>
        <p:spPr>
          <a:xfrm>
            <a:off x="5352337" y="2529938"/>
            <a:ext cx="91440" cy="91440"/>
          </a:xfrm>
          <a:prstGeom prst="ellipse">
            <a:avLst/>
          </a:prstGeom>
          <a:solidFill>
            <a:srgbClr val="7FC293"/>
          </a:solidFill>
          <a:ln/>
        </p:spPr>
      </p:sp>
      <p:sp>
        <p:nvSpPr>
          <p:cNvPr id="9" name="Camí del sol"/>
          <p:cNvSpPr/>
          <p:nvPr/>
        </p:nvSpPr>
        <p:spPr>
          <a:xfrm>
            <a:off x="5006340" y="2269383"/>
            <a:ext cx="91440" cy="91440"/>
          </a:xfrm>
          <a:prstGeom prst="ellipse">
            <a:avLst/>
          </a:prstGeom>
          <a:solidFill>
            <a:srgbClr val="7FC293"/>
          </a:solidFill>
          <a:ln/>
        </p:spPr>
      </p:sp>
      <p:sp>
        <p:nvSpPr>
          <p:cNvPr id="10" name="Camí del sol"/>
          <p:cNvSpPr/>
          <p:nvPr/>
        </p:nvSpPr>
        <p:spPr>
          <a:xfrm>
            <a:off x="4623530" y="2077403"/>
            <a:ext cx="91440" cy="91440"/>
          </a:xfrm>
          <a:prstGeom prst="ellipse">
            <a:avLst/>
          </a:prstGeom>
          <a:solidFill>
            <a:srgbClr val="7FC293"/>
          </a:solidFill>
          <a:ln/>
        </p:spPr>
      </p:sp>
      <p:sp>
        <p:nvSpPr>
          <p:cNvPr id="11" name="Camí del sol"/>
          <p:cNvSpPr/>
          <p:nvPr/>
        </p:nvSpPr>
        <p:spPr>
          <a:xfrm>
            <a:off x="2965990" y="2077403"/>
            <a:ext cx="91440" cy="91440"/>
          </a:xfrm>
          <a:prstGeom prst="ellipse">
            <a:avLst/>
          </a:prstGeom>
          <a:solidFill>
            <a:srgbClr val="7FC293"/>
          </a:solidFill>
          <a:ln/>
        </p:spPr>
      </p:sp>
      <p:sp>
        <p:nvSpPr>
          <p:cNvPr id="12" name="Camí del sol"/>
          <p:cNvSpPr/>
          <p:nvPr/>
        </p:nvSpPr>
        <p:spPr>
          <a:xfrm>
            <a:off x="2583180" y="2269383"/>
            <a:ext cx="91440" cy="91440"/>
          </a:xfrm>
          <a:prstGeom prst="ellipse">
            <a:avLst/>
          </a:prstGeom>
          <a:solidFill>
            <a:srgbClr val="7FC293"/>
          </a:solidFill>
          <a:ln/>
        </p:spPr>
      </p:sp>
      <p:sp>
        <p:nvSpPr>
          <p:cNvPr id="13" name="Camí del sol"/>
          <p:cNvSpPr/>
          <p:nvPr/>
        </p:nvSpPr>
        <p:spPr>
          <a:xfrm>
            <a:off x="2237183" y="2529938"/>
            <a:ext cx="91440" cy="91440"/>
          </a:xfrm>
          <a:prstGeom prst="ellipse">
            <a:avLst/>
          </a:prstGeom>
          <a:solidFill>
            <a:srgbClr val="7FC293"/>
          </a:solidFill>
          <a:ln/>
        </p:spPr>
      </p:sp>
      <p:sp>
        <p:nvSpPr>
          <p:cNvPr id="14" name="Camí del sol"/>
          <p:cNvSpPr/>
          <p:nvPr/>
        </p:nvSpPr>
        <p:spPr>
          <a:xfrm>
            <a:off x="1938512" y="2851150"/>
            <a:ext cx="91440" cy="91440"/>
          </a:xfrm>
          <a:prstGeom prst="ellipse">
            <a:avLst/>
          </a:prstGeom>
          <a:solidFill>
            <a:srgbClr val="7FC293"/>
          </a:solidFill>
          <a:ln/>
        </p:spPr>
      </p:sp>
      <p:sp>
        <p:nvSpPr>
          <p:cNvPr id="15" name="Camí del sol"/>
          <p:cNvSpPr/>
          <p:nvPr/>
        </p:nvSpPr>
        <p:spPr>
          <a:xfrm>
            <a:off x="1696242" y="3223260"/>
            <a:ext cx="91440" cy="91440"/>
          </a:xfrm>
          <a:prstGeom prst="ellipse">
            <a:avLst/>
          </a:prstGeom>
          <a:solidFill>
            <a:srgbClr val="7FC293"/>
          </a:solidFill>
          <a:ln/>
        </p:spPr>
      </p:sp>
      <p:sp>
        <p:nvSpPr>
          <p:cNvPr id="16" name="Horitzó"/>
          <p:cNvSpPr/>
          <p:nvPr/>
        </p:nvSpPr>
        <p:spPr>
          <a:xfrm>
            <a:off x="822960" y="4572000"/>
            <a:ext cx="6035040" cy="0"/>
          </a:xfrm>
          <a:prstGeom prst="line">
            <a:avLst/>
          </a:prstGeom>
          <a:noFill/>
          <a:ln w="25400">
            <a:solidFill>
              <a:srgbClr val="80868B"/>
            </a:solidFill>
            <a:prstDash val="solid"/>
          </a:ln>
        </p:spPr>
      </p:sp>
      <p:sp>
        <p:nvSpPr>
          <p:cNvPr id="17" name="Cercle icona"/>
          <p:cNvSpPr/>
          <p:nvPr/>
        </p:nvSpPr>
        <p:spPr>
          <a:xfrm>
            <a:off x="1134127" y="3531747"/>
            <a:ext cx="731520" cy="731520"/>
          </a:xfrm>
          <a:prstGeom prst="ellipse">
            <a:avLst/>
          </a:prstGeom>
          <a:solidFill>
            <a:srgbClr val="FFFFFF"/>
          </a:solidFill>
          <a:ln w="12700">
            <a:solidFill>
              <a:srgbClr val="7FC293"/>
            </a:solidFill>
            <a:prstDash val="solid"/>
          </a:ln>
        </p:spPr>
      </p:sp>
      <p:pic>
        <p:nvPicPr>
          <p:cNvPr id="18" name="Icona TbSunrise" descr="/home/claude/p857/build/img/ic/TbSunrise-g.png">    </p:cNvPr>
          <p:cNvPicPr>
            <a:picLocks noChangeAspect="1"/>
          </p:cNvPicPr>
          <p:nvPr/>
        </p:nvPicPr>
        <p:blipFill>
          <a:blip r:embed="rId1"/>
          <a:stretch>
            <a:fillRect/>
          </a:stretch>
        </p:blipFill>
        <p:spPr>
          <a:xfrm>
            <a:off x="1295062" y="3692682"/>
            <a:ext cx="409651" cy="409651"/>
          </a:xfrm>
          <a:prstGeom prst="rect">
            <a:avLst/>
          </a:prstGeom>
        </p:spPr>
      </p:pic>
      <p:sp>
        <p:nvSpPr>
          <p:cNvPr id="19" name="Cercle icona"/>
          <p:cNvSpPr/>
          <p:nvPr/>
        </p:nvSpPr>
        <p:spPr>
          <a:xfrm>
            <a:off x="3451860" y="1577340"/>
            <a:ext cx="777240" cy="777240"/>
          </a:xfrm>
          <a:prstGeom prst="ellipse">
            <a:avLst/>
          </a:prstGeom>
          <a:solidFill>
            <a:srgbClr val="FFFFFF"/>
          </a:solidFill>
          <a:ln w="12700">
            <a:solidFill>
              <a:srgbClr val="7FC293"/>
            </a:solidFill>
            <a:prstDash val="solid"/>
          </a:ln>
        </p:spPr>
      </p:sp>
      <p:pic>
        <p:nvPicPr>
          <p:cNvPr id="20" name="Icona TbSun" descr="/home/claude/p857/build/img/ic/TbSun-g.png">    </p:cNvPr>
          <p:cNvPicPr>
            <a:picLocks noChangeAspect="1"/>
          </p:cNvPicPr>
          <p:nvPr/>
        </p:nvPicPr>
        <p:blipFill>
          <a:blip r:embed="rId2"/>
          <a:stretch>
            <a:fillRect/>
          </a:stretch>
        </p:blipFill>
        <p:spPr>
          <a:xfrm>
            <a:off x="3622853" y="1748333"/>
            <a:ext cx="435254" cy="435254"/>
          </a:xfrm>
          <a:prstGeom prst="rect">
            <a:avLst/>
          </a:prstGeom>
        </p:spPr>
      </p:pic>
      <p:sp>
        <p:nvSpPr>
          <p:cNvPr id="21" name="Cercle icona"/>
          <p:cNvSpPr/>
          <p:nvPr/>
        </p:nvSpPr>
        <p:spPr>
          <a:xfrm>
            <a:off x="5815313" y="3531747"/>
            <a:ext cx="731520" cy="731520"/>
          </a:xfrm>
          <a:prstGeom prst="ellipse">
            <a:avLst/>
          </a:prstGeom>
          <a:solidFill>
            <a:srgbClr val="FFFFFF"/>
          </a:solidFill>
          <a:ln w="12700">
            <a:solidFill>
              <a:srgbClr val="7FC293"/>
            </a:solidFill>
            <a:prstDash val="solid"/>
          </a:ln>
        </p:spPr>
      </p:sp>
      <p:pic>
        <p:nvPicPr>
          <p:cNvPr id="22" name="Icona TbSunset" descr="/home/claude/p857/build/img/ic/TbSunset-g.png">    </p:cNvPr>
          <p:cNvPicPr>
            <a:picLocks noChangeAspect="1"/>
          </p:cNvPicPr>
          <p:nvPr/>
        </p:nvPicPr>
        <p:blipFill>
          <a:blip r:embed="rId3"/>
          <a:stretch>
            <a:fillRect/>
          </a:stretch>
        </p:blipFill>
        <p:spPr>
          <a:xfrm>
            <a:off x="5976247" y="3692682"/>
            <a:ext cx="409651" cy="409651"/>
          </a:xfrm>
          <a:prstGeom prst="rect">
            <a:avLst/>
          </a:prstGeom>
        </p:spPr>
      </p:pic>
      <p:sp>
        <p:nvSpPr>
          <p:cNvPr id="23" name="Text 18"/>
          <p:cNvSpPr txBox="1"/>
          <p:nvPr/>
        </p:nvSpPr>
        <p:spPr>
          <a:xfrm>
            <a:off x="1957087" y="3623187"/>
            <a:ext cx="1463040" cy="685800"/>
          </a:xfrm>
          <a:prstGeom prst="rect">
            <a:avLst/>
          </a:prstGeom>
          <a:noFill/>
          <a:ln/>
        </p:spPr>
        <p:txBody>
          <a:bodyPr wrap="square" lIns="0" tIns="0" rIns="0" bIns="0" rtlCol="0" anchor="t"/>
          <a:lstStyle/>
          <a:p>
            <a:pPr indent="0" marL="0">
              <a:buNone/>
            </a:pPr>
            <a:r>
              <a:rPr lang="en-US" sz="1700" b="1" dirty="0">
                <a:solidFill>
                  <a:srgbClr val="188038"/>
                </a:solidFill>
                <a:latin typeface="Roboto" pitchFamily="34" charset="0"/>
                <a:ea typeface="Roboto" pitchFamily="34" charset="-122"/>
                <a:cs typeface="Roboto" pitchFamily="34" charset="-120"/>
              </a:rPr>
              <a:t>Matí</a:t>
            </a:r>
            <a:endParaRPr lang="en-US" sz="1700" dirty="0"/>
          </a:p>
          <a:p>
            <a:pPr indent="0" marL="0">
              <a:buNone/>
            </a:pPr>
            <a:r>
              <a:rPr lang="en-US" sz="1450" dirty="0">
                <a:solidFill>
                  <a:srgbClr val="202124"/>
                </a:solidFill>
                <a:latin typeface="Roboto" pitchFamily="34" charset="0"/>
                <a:ea typeface="Roboto" pitchFamily="34" charset="-122"/>
                <a:cs typeface="Roboto" pitchFamily="34" charset="-120"/>
              </a:rPr>
              <a:t>Surt per l'est</a:t>
            </a:r>
            <a:endParaRPr lang="en-US" sz="1700" dirty="0"/>
          </a:p>
        </p:txBody>
      </p:sp>
      <p:sp>
        <p:nvSpPr>
          <p:cNvPr id="24" name="Text 19"/>
          <p:cNvSpPr txBox="1"/>
          <p:nvPr/>
        </p:nvSpPr>
        <p:spPr>
          <a:xfrm>
            <a:off x="2926080" y="2468880"/>
            <a:ext cx="1828800" cy="685800"/>
          </a:xfrm>
          <a:prstGeom prst="rect">
            <a:avLst/>
          </a:prstGeom>
          <a:noFill/>
          <a:ln/>
        </p:spPr>
        <p:txBody>
          <a:bodyPr wrap="square" lIns="0" tIns="0" rIns="0" bIns="0" rtlCol="0" anchor="t"/>
          <a:lstStyle/>
          <a:p>
            <a:pPr algn="ctr" indent="0" marL="0">
              <a:buNone/>
            </a:pPr>
            <a:r>
              <a:rPr lang="en-US" sz="1700" b="1" dirty="0">
                <a:solidFill>
                  <a:srgbClr val="188038"/>
                </a:solidFill>
                <a:latin typeface="Roboto" pitchFamily="34" charset="0"/>
                <a:ea typeface="Roboto" pitchFamily="34" charset="-122"/>
                <a:cs typeface="Roboto" pitchFamily="34" charset="-120"/>
              </a:rPr>
              <a:t>Migdia</a:t>
            </a:r>
            <a:endParaRPr lang="en-US" sz="1700" dirty="0"/>
          </a:p>
          <a:p>
            <a:pPr algn="ctr" indent="0" marL="0">
              <a:buNone/>
            </a:pPr>
            <a:r>
              <a:rPr lang="en-US" sz="1450" dirty="0">
                <a:solidFill>
                  <a:srgbClr val="202124"/>
                </a:solidFill>
                <a:latin typeface="Roboto" pitchFamily="34" charset="0"/>
                <a:ea typeface="Roboto" pitchFamily="34" charset="-122"/>
                <a:cs typeface="Roboto" pitchFamily="34" charset="-120"/>
              </a:rPr>
              <a:t>És al sud</a:t>
            </a:r>
            <a:endParaRPr lang="en-US" sz="1700" dirty="0"/>
          </a:p>
        </p:txBody>
      </p:sp>
      <p:sp>
        <p:nvSpPr>
          <p:cNvPr id="25" name="Text 20"/>
          <p:cNvSpPr txBox="1"/>
          <p:nvPr/>
        </p:nvSpPr>
        <p:spPr>
          <a:xfrm>
            <a:off x="4215113" y="3623187"/>
            <a:ext cx="1508760" cy="685800"/>
          </a:xfrm>
          <a:prstGeom prst="rect">
            <a:avLst/>
          </a:prstGeom>
          <a:noFill/>
          <a:ln/>
        </p:spPr>
        <p:txBody>
          <a:bodyPr wrap="square" lIns="0" tIns="0" rIns="0" bIns="0" rtlCol="0" anchor="t"/>
          <a:lstStyle/>
          <a:p>
            <a:pPr algn="r" indent="0" marL="0">
              <a:buNone/>
            </a:pPr>
            <a:r>
              <a:rPr lang="en-US" sz="1700" b="1" dirty="0">
                <a:solidFill>
                  <a:srgbClr val="188038"/>
                </a:solidFill>
                <a:latin typeface="Roboto" pitchFamily="34" charset="0"/>
                <a:ea typeface="Roboto" pitchFamily="34" charset="-122"/>
                <a:cs typeface="Roboto" pitchFamily="34" charset="-120"/>
              </a:rPr>
              <a:t>Tarda</a:t>
            </a:r>
            <a:endParaRPr lang="en-US" sz="1700" dirty="0"/>
          </a:p>
          <a:p>
            <a:pPr algn="r" indent="0" marL="0">
              <a:buNone/>
            </a:pPr>
            <a:r>
              <a:rPr lang="en-US" sz="1450" dirty="0">
                <a:solidFill>
                  <a:srgbClr val="202124"/>
                </a:solidFill>
                <a:latin typeface="Roboto" pitchFamily="34" charset="0"/>
                <a:ea typeface="Roboto" pitchFamily="34" charset="-122"/>
                <a:cs typeface="Roboto" pitchFamily="34" charset="-120"/>
              </a:rPr>
              <a:t>Es pon per l'oest</a:t>
            </a:r>
            <a:endParaRPr lang="en-US" sz="1700" dirty="0"/>
          </a:p>
        </p:txBody>
      </p:sp>
      <p:sp>
        <p:nvSpPr>
          <p:cNvPr id="26" name="Cercle E"/>
          <p:cNvSpPr/>
          <p:nvPr/>
        </p:nvSpPr>
        <p:spPr>
          <a:xfrm>
            <a:off x="1307863" y="4379976"/>
            <a:ext cx="384048" cy="384048"/>
          </a:xfrm>
          <a:prstGeom prst="ellipse">
            <a:avLst/>
          </a:prstGeom>
          <a:solidFill>
            <a:srgbClr val="188038"/>
          </a:solidFill>
          <a:ln/>
        </p:spPr>
      </p:sp>
      <p:sp>
        <p:nvSpPr>
          <p:cNvPr id="27" name="Text 22"/>
          <p:cNvSpPr txBox="1"/>
          <p:nvPr/>
        </p:nvSpPr>
        <p:spPr>
          <a:xfrm>
            <a:off x="1307863" y="437997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Roboto" pitchFamily="34" charset="0"/>
                <a:ea typeface="Roboto" pitchFamily="34" charset="-122"/>
                <a:cs typeface="Roboto" pitchFamily="34" charset="-120"/>
              </a:rPr>
              <a:t>E</a:t>
            </a:r>
            <a:endParaRPr lang="en-US" sz="1500" dirty="0"/>
          </a:p>
        </p:txBody>
      </p:sp>
      <p:sp>
        <p:nvSpPr>
          <p:cNvPr id="28" name="Cercle S"/>
          <p:cNvSpPr/>
          <p:nvPr/>
        </p:nvSpPr>
        <p:spPr>
          <a:xfrm>
            <a:off x="3648456" y="4379976"/>
            <a:ext cx="384048" cy="384048"/>
          </a:xfrm>
          <a:prstGeom prst="ellipse">
            <a:avLst/>
          </a:prstGeom>
          <a:solidFill>
            <a:srgbClr val="188038"/>
          </a:solidFill>
          <a:ln/>
        </p:spPr>
      </p:sp>
      <p:sp>
        <p:nvSpPr>
          <p:cNvPr id="29" name="Text 24"/>
          <p:cNvSpPr txBox="1"/>
          <p:nvPr/>
        </p:nvSpPr>
        <p:spPr>
          <a:xfrm>
            <a:off x="3648456" y="437997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Roboto" pitchFamily="34" charset="0"/>
                <a:ea typeface="Roboto" pitchFamily="34" charset="-122"/>
                <a:cs typeface="Roboto" pitchFamily="34" charset="-120"/>
              </a:rPr>
              <a:t>S</a:t>
            </a:r>
            <a:endParaRPr lang="en-US" sz="1500" dirty="0"/>
          </a:p>
        </p:txBody>
      </p:sp>
      <p:sp>
        <p:nvSpPr>
          <p:cNvPr id="30" name="Cercle O"/>
          <p:cNvSpPr/>
          <p:nvPr/>
        </p:nvSpPr>
        <p:spPr>
          <a:xfrm>
            <a:off x="5989049" y="4379976"/>
            <a:ext cx="384048" cy="384048"/>
          </a:xfrm>
          <a:prstGeom prst="ellipse">
            <a:avLst/>
          </a:prstGeom>
          <a:solidFill>
            <a:srgbClr val="188038"/>
          </a:solidFill>
          <a:ln/>
        </p:spPr>
      </p:sp>
      <p:sp>
        <p:nvSpPr>
          <p:cNvPr id="31" name="Text 26"/>
          <p:cNvSpPr txBox="1"/>
          <p:nvPr/>
        </p:nvSpPr>
        <p:spPr>
          <a:xfrm>
            <a:off x="5989049" y="437997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Roboto" pitchFamily="34" charset="0"/>
                <a:ea typeface="Roboto" pitchFamily="34" charset="-122"/>
                <a:cs typeface="Roboto" pitchFamily="34" charset="-120"/>
              </a:rPr>
              <a:t>O</a:t>
            </a:r>
            <a:endParaRPr lang="en-US" sz="1500" dirty="0"/>
          </a:p>
        </p:txBody>
      </p:sp>
      <p:sp>
        <p:nvSpPr>
          <p:cNvPr id="32" name="Persona"/>
          <p:cNvSpPr/>
          <p:nvPr/>
        </p:nvSpPr>
        <p:spPr>
          <a:xfrm>
            <a:off x="3727094" y="4873752"/>
            <a:ext cx="226771" cy="226771"/>
          </a:xfrm>
          <a:prstGeom prst="ellipse">
            <a:avLst/>
          </a:prstGeom>
          <a:solidFill>
            <a:srgbClr val="5F6368"/>
          </a:solidFill>
          <a:ln/>
        </p:spPr>
      </p:sp>
      <p:sp>
        <p:nvSpPr>
          <p:cNvPr id="33" name="Persona"/>
          <p:cNvSpPr/>
          <p:nvPr/>
        </p:nvSpPr>
        <p:spPr>
          <a:xfrm>
            <a:off x="3642055" y="5134539"/>
            <a:ext cx="396850" cy="396850"/>
          </a:xfrm>
          <a:prstGeom prst="roundRect">
            <a:avLst>
              <a:gd name="adj" fmla="val 35714"/>
            </a:avLst>
          </a:prstGeom>
          <a:solidFill>
            <a:srgbClr val="5F6368"/>
          </a:solidFill>
          <a:ln/>
        </p:spPr>
      </p:sp>
      <p:sp>
        <p:nvSpPr>
          <p:cNvPr id="34" name="Text 29"/>
          <p:cNvSpPr txBox="1"/>
          <p:nvPr/>
        </p:nvSpPr>
        <p:spPr>
          <a:xfrm>
            <a:off x="4251960" y="4983480"/>
            <a:ext cx="2194560" cy="365760"/>
          </a:xfrm>
          <a:prstGeom prst="rect">
            <a:avLst/>
          </a:prstGeom>
          <a:noFill/>
          <a:ln/>
        </p:spPr>
        <p:txBody>
          <a:bodyPr wrap="square" lIns="0" tIns="0" rIns="0" bIns="0" rtlCol="0" anchor="t"/>
          <a:lstStyle/>
          <a:p>
            <a:pPr indent="0" marL="0">
              <a:buNone/>
            </a:pPr>
            <a:r>
              <a:rPr lang="en-US" sz="1350" dirty="0">
                <a:solidFill>
                  <a:srgbClr val="5F6368"/>
                </a:solidFill>
                <a:latin typeface="Roboto" pitchFamily="34" charset="0"/>
                <a:ea typeface="Roboto" pitchFamily="34" charset="-122"/>
                <a:cs typeface="Roboto" pitchFamily="34" charset="-120"/>
              </a:rPr>
              <a:t>Tu, mirant cap al sud</a:t>
            </a:r>
            <a:endParaRPr lang="en-US" sz="1350" dirty="0"/>
          </a:p>
        </p:txBody>
      </p:sp>
      <p:sp>
        <p:nvSpPr>
          <p:cNvPr id="35" name="Text 30"/>
          <p:cNvSpPr txBox="1"/>
          <p:nvPr/>
        </p:nvSpPr>
        <p:spPr>
          <a:xfrm>
            <a:off x="548640" y="5696712"/>
            <a:ext cx="6583680" cy="274320"/>
          </a:xfrm>
          <a:prstGeom prst="rect">
            <a:avLst/>
          </a:prstGeom>
          <a:noFill/>
          <a:ln/>
        </p:spPr>
        <p:txBody>
          <a:bodyPr wrap="square" lIns="0" tIns="0" rIns="0" bIns="0" rtlCol="0" anchor="t"/>
          <a:lstStyle/>
          <a:p>
            <a:pPr indent="0" marL="0">
              <a:buNone/>
            </a:pPr>
            <a:r>
              <a:rPr lang="en-US" sz="1000" dirty="0">
                <a:solidFill>
                  <a:srgbClr val="5F6368"/>
                </a:solidFill>
                <a:latin typeface="Roboto" pitchFamily="34" charset="0"/>
                <a:ea typeface="Roboto" pitchFamily="34" charset="-122"/>
                <a:cs typeface="Roboto" pitchFamily="34" charset="-120"/>
              </a:rPr>
              <a:t>El camí del sol en un dia. Esquema sense escala. Dibuix: professordesocials.cat, CC BY-SA 4.0.</a:t>
            </a:r>
            <a:endParaRPr lang="en-US" sz="1000" dirty="0"/>
          </a:p>
        </p:txBody>
      </p:sp>
      <p:sp>
        <p:nvSpPr>
          <p:cNvPr id="36" name="Al migdia solar"/>
          <p:cNvSpPr/>
          <p:nvPr/>
        </p:nvSpPr>
        <p:spPr>
          <a:xfrm>
            <a:off x="7452360" y="1371600"/>
            <a:ext cx="4190695" cy="2011680"/>
          </a:xfrm>
          <a:prstGeom prst="roundRect">
            <a:avLst>
              <a:gd name="adj" fmla="val 5000"/>
            </a:avLst>
          </a:prstGeom>
          <a:solidFill>
            <a:srgbClr val="E6F4EA"/>
          </a:solidFill>
          <a:ln/>
        </p:spPr>
      </p:sp>
      <p:sp>
        <p:nvSpPr>
          <p:cNvPr id="37" name="Text 32"/>
          <p:cNvSpPr txBox="1"/>
          <p:nvPr/>
        </p:nvSpPr>
        <p:spPr>
          <a:xfrm>
            <a:off x="7772400" y="1527048"/>
            <a:ext cx="3550615" cy="320040"/>
          </a:xfrm>
          <a:prstGeom prst="rect">
            <a:avLst/>
          </a:prstGeom>
          <a:noFill/>
          <a:ln/>
        </p:spPr>
        <p:txBody>
          <a:bodyPr wrap="square" lIns="0" tIns="0" rIns="0" bIns="0" rtlCol="0" anchor="t"/>
          <a:lstStyle/>
          <a:p>
            <a:pPr indent="0" marL="0">
              <a:buNone/>
            </a:pPr>
            <a:r>
              <a:rPr lang="en-US" sz="1400" b="1" dirty="0">
                <a:solidFill>
                  <a:srgbClr val="188038"/>
                </a:solidFill>
                <a:latin typeface="Roboto" pitchFamily="34" charset="0"/>
                <a:ea typeface="Roboto" pitchFamily="34" charset="-122"/>
                <a:cs typeface="Roboto" pitchFamily="34" charset="-120"/>
              </a:rPr>
              <a:t>Al migdia solar</a:t>
            </a:r>
            <a:endParaRPr lang="en-US" sz="1400" dirty="0"/>
          </a:p>
        </p:txBody>
      </p:sp>
      <p:sp>
        <p:nvSpPr>
          <p:cNvPr id="38" name="Text 33"/>
          <p:cNvSpPr txBox="1"/>
          <p:nvPr/>
        </p:nvSpPr>
        <p:spPr>
          <a:xfrm>
            <a:off x="7772400" y="1874520"/>
            <a:ext cx="3550615" cy="1371600"/>
          </a:xfrm>
          <a:prstGeom prst="rect">
            <a:avLst/>
          </a:prstGeom>
          <a:noFill/>
          <a:ln/>
        </p:spPr>
        <p:txBody>
          <a:bodyPr wrap="square" lIns="0" tIns="0" rIns="0" bIns="0" rtlCol="0" anchor="t"/>
          <a:lstStyle/>
          <a:p>
            <a:pPr indent="0" marL="0">
              <a:buNone/>
            </a:pPr>
            <a:r>
              <a:rPr lang="en-US" sz="2000" dirty="0">
                <a:solidFill>
                  <a:srgbClr val="202124"/>
                </a:solidFill>
                <a:latin typeface="Roboto" pitchFamily="34" charset="0"/>
                <a:ea typeface="Roboto" pitchFamily="34" charset="-122"/>
                <a:cs typeface="Roboto" pitchFamily="34" charset="-120"/>
              </a:rPr>
              <a:t>A l'hemisferi nord, el Sol és al sud. A les nostres latituds, sempre.</a:t>
            </a:r>
            <a:endParaRPr lang="en-US" sz="2000" dirty="0"/>
          </a:p>
        </p:txBody>
      </p:sp>
      <p:sp>
        <p:nvSpPr>
          <p:cNvPr id="39" name="Fixa-t'hi"/>
          <p:cNvSpPr/>
          <p:nvPr/>
        </p:nvSpPr>
        <p:spPr>
          <a:xfrm>
            <a:off x="7452360" y="3611880"/>
            <a:ext cx="4190695" cy="2011680"/>
          </a:xfrm>
          <a:prstGeom prst="roundRect">
            <a:avLst>
              <a:gd name="adj" fmla="val 5000"/>
            </a:avLst>
          </a:prstGeom>
          <a:solidFill>
            <a:srgbClr val="F6F8FB"/>
          </a:solidFill>
          <a:ln/>
        </p:spPr>
      </p:sp>
      <p:sp>
        <p:nvSpPr>
          <p:cNvPr id="40" name="Text 35"/>
          <p:cNvSpPr txBox="1"/>
          <p:nvPr/>
        </p:nvSpPr>
        <p:spPr>
          <a:xfrm>
            <a:off x="7772400" y="3767328"/>
            <a:ext cx="3550615" cy="320040"/>
          </a:xfrm>
          <a:prstGeom prst="rect">
            <a:avLst/>
          </a:prstGeom>
          <a:noFill/>
          <a:ln/>
        </p:spPr>
        <p:txBody>
          <a:bodyPr wrap="square" lIns="0" tIns="0" rIns="0" bIns="0" rtlCol="0" anchor="t"/>
          <a:lstStyle/>
          <a:p>
            <a:pPr indent="0" marL="0">
              <a:buNone/>
            </a:pPr>
            <a:r>
              <a:rPr lang="en-US" sz="1400" b="1" dirty="0">
                <a:solidFill>
                  <a:srgbClr val="202124"/>
                </a:solidFill>
                <a:latin typeface="Roboto" pitchFamily="34" charset="0"/>
                <a:ea typeface="Roboto" pitchFamily="34" charset="-122"/>
                <a:cs typeface="Roboto" pitchFamily="34" charset="-120"/>
              </a:rPr>
              <a:t>Fixa-t'hi</a:t>
            </a:r>
            <a:endParaRPr lang="en-US" sz="1400" dirty="0"/>
          </a:p>
        </p:txBody>
      </p:sp>
      <p:sp>
        <p:nvSpPr>
          <p:cNvPr id="41" name="Text 36"/>
          <p:cNvSpPr txBox="1"/>
          <p:nvPr/>
        </p:nvSpPr>
        <p:spPr>
          <a:xfrm>
            <a:off x="7772400" y="4114800"/>
            <a:ext cx="3550615" cy="1371600"/>
          </a:xfrm>
          <a:prstGeom prst="rect">
            <a:avLst/>
          </a:prstGeom>
          <a:noFill/>
          <a:ln/>
        </p:spPr>
        <p:txBody>
          <a:bodyPr wrap="square" lIns="0" tIns="0" rIns="0" bIns="0" rtlCol="0" anchor="t"/>
          <a:lstStyle/>
          <a:p>
            <a:pPr indent="0" marL="0">
              <a:buNone/>
            </a:pPr>
            <a:r>
              <a:rPr lang="en-US" sz="2000" dirty="0">
                <a:solidFill>
                  <a:srgbClr val="5F6368"/>
                </a:solidFill>
                <a:latin typeface="Roboto" pitchFamily="34" charset="0"/>
                <a:ea typeface="Roboto" pitchFamily="34" charset="-122"/>
                <a:cs typeface="Roboto" pitchFamily="34" charset="-120"/>
              </a:rPr>
              <a:t>Si mires cap al sud, l'est queda a la teva esquerra i l'oest, a la teva dreta.</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1</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La brúixola</a:t>
            </a:r>
            <a:endParaRPr lang="en-US" sz="2800" dirty="0"/>
          </a:p>
        </p:txBody>
      </p:sp>
      <p:sp>
        <p:nvSpPr>
          <p:cNvPr id="5" name="Fons Esfera d'una brúixola"/>
          <p:cNvSpPr/>
          <p:nvPr/>
        </p:nvSpPr>
        <p:spPr>
          <a:xfrm>
            <a:off x="548640" y="1371600"/>
            <a:ext cx="4297680" cy="4297680"/>
          </a:xfrm>
          <a:prstGeom prst="roundRect">
            <a:avLst>
              <a:gd name="adj" fmla="val 2340"/>
            </a:avLst>
          </a:prstGeom>
          <a:solidFill>
            <a:srgbClr val="F6F8FB"/>
          </a:solidFill>
          <a:ln/>
        </p:spPr>
      </p:sp>
      <p:pic>
        <p:nvPicPr>
          <p:cNvPr id="6" name="Esfera d'una brúixola" descr="/home/claude/p857/build/img/bruixola-esfera.jpg">    </p:cNvPr>
          <p:cNvPicPr>
            <a:picLocks noChangeAspect="1"/>
          </p:cNvPicPr>
          <p:nvPr/>
        </p:nvPicPr>
        <p:blipFill>
          <a:blip r:embed="rId1"/>
          <a:stretch>
            <a:fillRect/>
          </a:stretch>
        </p:blipFill>
        <p:spPr>
          <a:xfrm>
            <a:off x="548640" y="1371600"/>
            <a:ext cx="4297680" cy="4297680"/>
          </a:xfrm>
          <a:prstGeom prst="rect">
            <a:avLst/>
          </a:prstGeom>
        </p:spPr>
      </p:pic>
      <p:sp>
        <p:nvSpPr>
          <p:cNvPr id="7" name="Cercle 1"/>
          <p:cNvSpPr/>
          <p:nvPr/>
        </p:nvSpPr>
        <p:spPr>
          <a:xfrm>
            <a:off x="3012034" y="1643177"/>
            <a:ext cx="402336" cy="402336"/>
          </a:xfrm>
          <a:prstGeom prst="ellipse">
            <a:avLst/>
          </a:prstGeom>
          <a:solidFill>
            <a:srgbClr val="188038"/>
          </a:solidFill>
          <a:ln w="25400">
            <a:solidFill>
              <a:srgbClr val="FFFFFF"/>
            </a:solidFill>
            <a:prstDash val="solid"/>
          </a:ln>
        </p:spPr>
      </p:sp>
      <p:sp>
        <p:nvSpPr>
          <p:cNvPr id="8" name="Text 5"/>
          <p:cNvSpPr txBox="1"/>
          <p:nvPr/>
        </p:nvSpPr>
        <p:spPr>
          <a:xfrm>
            <a:off x="3012034" y="1643177"/>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Roboto" pitchFamily="34" charset="0"/>
                <a:ea typeface="Roboto" pitchFamily="34" charset="-122"/>
                <a:cs typeface="Roboto" pitchFamily="34" charset="-120"/>
              </a:rPr>
              <a:t>1</a:t>
            </a:r>
            <a:endParaRPr lang="en-US" sz="1600" dirty="0"/>
          </a:p>
        </p:txBody>
      </p:sp>
      <p:sp>
        <p:nvSpPr>
          <p:cNvPr id="9" name="Cercle 2"/>
          <p:cNvSpPr/>
          <p:nvPr/>
        </p:nvSpPr>
        <p:spPr>
          <a:xfrm>
            <a:off x="2023567" y="4178808"/>
            <a:ext cx="402336" cy="402336"/>
          </a:xfrm>
          <a:prstGeom prst="ellipse">
            <a:avLst/>
          </a:prstGeom>
          <a:solidFill>
            <a:srgbClr val="188038"/>
          </a:solidFill>
          <a:ln w="25400">
            <a:solidFill>
              <a:srgbClr val="FFFFFF"/>
            </a:solidFill>
            <a:prstDash val="solid"/>
          </a:ln>
        </p:spPr>
      </p:sp>
      <p:sp>
        <p:nvSpPr>
          <p:cNvPr id="10" name="Text 7"/>
          <p:cNvSpPr txBox="1"/>
          <p:nvPr/>
        </p:nvSpPr>
        <p:spPr>
          <a:xfrm>
            <a:off x="2023567" y="4178808"/>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Roboto" pitchFamily="34" charset="0"/>
                <a:ea typeface="Roboto" pitchFamily="34" charset="-122"/>
                <a:cs typeface="Roboto" pitchFamily="34" charset="-120"/>
              </a:rPr>
              <a:t>2</a:t>
            </a:r>
            <a:endParaRPr lang="en-US" sz="1600" dirty="0"/>
          </a:p>
        </p:txBody>
      </p:sp>
      <p:sp>
        <p:nvSpPr>
          <p:cNvPr id="11" name="Cercle 3"/>
          <p:cNvSpPr/>
          <p:nvPr/>
        </p:nvSpPr>
        <p:spPr>
          <a:xfrm>
            <a:off x="669798" y="3319272"/>
            <a:ext cx="402336" cy="402336"/>
          </a:xfrm>
          <a:prstGeom prst="ellipse">
            <a:avLst/>
          </a:prstGeom>
          <a:solidFill>
            <a:srgbClr val="188038"/>
          </a:solidFill>
          <a:ln w="25400">
            <a:solidFill>
              <a:srgbClr val="FFFFFF"/>
            </a:solidFill>
            <a:prstDash val="solid"/>
          </a:ln>
        </p:spPr>
      </p:sp>
      <p:sp>
        <p:nvSpPr>
          <p:cNvPr id="12" name="Text 9"/>
          <p:cNvSpPr txBox="1"/>
          <p:nvPr/>
        </p:nvSpPr>
        <p:spPr>
          <a:xfrm>
            <a:off x="669798" y="3319272"/>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Roboto" pitchFamily="34" charset="0"/>
                <a:ea typeface="Roboto" pitchFamily="34" charset="-122"/>
                <a:cs typeface="Roboto" pitchFamily="34" charset="-120"/>
              </a:rPr>
              <a:t>3</a:t>
            </a:r>
            <a:endParaRPr lang="en-US" sz="1600" dirty="0"/>
          </a:p>
        </p:txBody>
      </p:sp>
      <p:sp>
        <p:nvSpPr>
          <p:cNvPr id="13" name="Text 10"/>
          <p:cNvSpPr txBox="1"/>
          <p:nvPr/>
        </p:nvSpPr>
        <p:spPr>
          <a:xfrm>
            <a:off x="548640" y="5733288"/>
            <a:ext cx="4297680" cy="320040"/>
          </a:xfrm>
          <a:prstGeom prst="rect">
            <a:avLst/>
          </a:prstGeom>
          <a:noFill/>
          <a:ln/>
        </p:spPr>
        <p:txBody>
          <a:bodyPr wrap="square" lIns="0" tIns="0" rIns="0" bIns="0" rtlCol="0" anchor="t"/>
          <a:lstStyle/>
          <a:p>
            <a:pPr indent="0" marL="0">
              <a:buNone/>
            </a:pPr>
            <a:r>
              <a:rPr lang="en-US" sz="1000" dirty="0">
                <a:solidFill>
                  <a:srgbClr val="5F6368"/>
                </a:solidFill>
                <a:latin typeface="Roboto" pitchFamily="34" charset="0"/>
                <a:ea typeface="Roboto" pitchFamily="34" charset="-122"/>
                <a:cs typeface="Roboto" pitchFamily="34" charset="-120"/>
              </a:rPr>
              <a:t>Una brúixola (detall). Foto: Gabriel Fredrick Sindahnai, Wikimedia Commons, CC BY 4.0.</a:t>
            </a:r>
            <a:endParaRPr lang="en-US" sz="1000" dirty="0"/>
          </a:p>
        </p:txBody>
      </p:sp>
      <p:sp>
        <p:nvSpPr>
          <p:cNvPr id="14" name="Cercle 1"/>
          <p:cNvSpPr/>
          <p:nvPr/>
        </p:nvSpPr>
        <p:spPr>
          <a:xfrm>
            <a:off x="5166360" y="1490472"/>
            <a:ext cx="402336" cy="402336"/>
          </a:xfrm>
          <a:prstGeom prst="ellipse">
            <a:avLst/>
          </a:prstGeom>
          <a:solidFill>
            <a:srgbClr val="188038"/>
          </a:solidFill>
          <a:ln/>
        </p:spPr>
      </p:sp>
      <p:sp>
        <p:nvSpPr>
          <p:cNvPr id="15" name="Text 12"/>
          <p:cNvSpPr txBox="1"/>
          <p:nvPr/>
        </p:nvSpPr>
        <p:spPr>
          <a:xfrm>
            <a:off x="5166360" y="1490472"/>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Roboto" pitchFamily="34" charset="0"/>
                <a:ea typeface="Roboto" pitchFamily="34" charset="-122"/>
                <a:cs typeface="Roboto" pitchFamily="34" charset="-120"/>
              </a:rPr>
              <a:t>1</a:t>
            </a:r>
            <a:endParaRPr lang="en-US" sz="1600" dirty="0"/>
          </a:p>
        </p:txBody>
      </p:sp>
      <p:sp>
        <p:nvSpPr>
          <p:cNvPr id="16" name="Text 13"/>
          <p:cNvSpPr txBox="1"/>
          <p:nvPr/>
        </p:nvSpPr>
        <p:spPr>
          <a:xfrm>
            <a:off x="5760720" y="1417320"/>
            <a:ext cx="5882335" cy="566928"/>
          </a:xfrm>
          <a:prstGeom prst="rect">
            <a:avLst/>
          </a:prstGeom>
          <a:noFill/>
          <a:ln/>
        </p:spPr>
        <p:txBody>
          <a:bodyPr wrap="square" lIns="0" tIns="0" rIns="0" bIns="0" rtlCol="0" anchor="ctr"/>
          <a:lstStyle/>
          <a:p>
            <a:pPr indent="0" marL="0">
              <a:buNone/>
            </a:pPr>
            <a:r>
              <a:rPr lang="en-US" sz="1800" b="1" dirty="0">
                <a:solidFill>
                  <a:srgbClr val="202124"/>
                </a:solidFill>
                <a:latin typeface="Roboto" pitchFamily="34" charset="0"/>
                <a:ea typeface="Roboto" pitchFamily="34" charset="-122"/>
                <a:cs typeface="Roboto" pitchFamily="34" charset="-120"/>
              </a:rPr>
              <a:t>La punta vermella </a:t>
            </a:r>
            <a:pPr indent="0" marL="0">
              <a:buNone/>
            </a:pPr>
            <a:r>
              <a:rPr lang="en-US" sz="1800" dirty="0">
                <a:solidFill>
                  <a:srgbClr val="202124"/>
                </a:solidFill>
                <a:latin typeface="Roboto" pitchFamily="34" charset="0"/>
                <a:ea typeface="Roboto" pitchFamily="34" charset="-122"/>
                <a:cs typeface="Roboto" pitchFamily="34" charset="-120"/>
              </a:rPr>
              <a:t>marca el nord.</a:t>
            </a:r>
            <a:endParaRPr lang="en-US" sz="1800" dirty="0"/>
          </a:p>
        </p:txBody>
      </p:sp>
      <p:sp>
        <p:nvSpPr>
          <p:cNvPr id="17" name="Cercle 2"/>
          <p:cNvSpPr/>
          <p:nvPr/>
        </p:nvSpPr>
        <p:spPr>
          <a:xfrm>
            <a:off x="5166360" y="2240280"/>
            <a:ext cx="402336" cy="402336"/>
          </a:xfrm>
          <a:prstGeom prst="ellipse">
            <a:avLst/>
          </a:prstGeom>
          <a:solidFill>
            <a:srgbClr val="188038"/>
          </a:solidFill>
          <a:ln/>
        </p:spPr>
      </p:sp>
      <p:sp>
        <p:nvSpPr>
          <p:cNvPr id="18" name="Text 15"/>
          <p:cNvSpPr txBox="1"/>
          <p:nvPr/>
        </p:nvSpPr>
        <p:spPr>
          <a:xfrm>
            <a:off x="5166360" y="2240280"/>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Roboto" pitchFamily="34" charset="0"/>
                <a:ea typeface="Roboto" pitchFamily="34" charset="-122"/>
                <a:cs typeface="Roboto" pitchFamily="34" charset="-120"/>
              </a:rPr>
              <a:t>2</a:t>
            </a:r>
            <a:endParaRPr lang="en-US" sz="1600" dirty="0"/>
          </a:p>
        </p:txBody>
      </p:sp>
      <p:sp>
        <p:nvSpPr>
          <p:cNvPr id="19" name="Text 16"/>
          <p:cNvSpPr txBox="1"/>
          <p:nvPr/>
        </p:nvSpPr>
        <p:spPr>
          <a:xfrm>
            <a:off x="5760720" y="2167128"/>
            <a:ext cx="5882335" cy="566928"/>
          </a:xfrm>
          <a:prstGeom prst="rect">
            <a:avLst/>
          </a:prstGeom>
          <a:noFill/>
          <a:ln/>
        </p:spPr>
        <p:txBody>
          <a:bodyPr wrap="square" lIns="0" tIns="0" rIns="0" bIns="0" rtlCol="0" anchor="ctr"/>
          <a:lstStyle/>
          <a:p>
            <a:pPr indent="0" marL="0">
              <a:buNone/>
            </a:pPr>
            <a:r>
              <a:rPr lang="en-US" sz="1800" b="1" dirty="0">
                <a:solidFill>
                  <a:srgbClr val="202124"/>
                </a:solidFill>
                <a:latin typeface="Roboto" pitchFamily="34" charset="0"/>
                <a:ea typeface="Roboto" pitchFamily="34" charset="-122"/>
                <a:cs typeface="Roboto" pitchFamily="34" charset="-120"/>
              </a:rPr>
              <a:t>L'agulla és un petit imant </a:t>
            </a:r>
            <a:pPr indent="0" marL="0">
              <a:buNone/>
            </a:pPr>
            <a:r>
              <a:rPr lang="en-US" sz="1800" dirty="0">
                <a:solidFill>
                  <a:srgbClr val="202124"/>
                </a:solidFill>
                <a:latin typeface="Roboto" pitchFamily="34" charset="0"/>
                <a:ea typeface="Roboto" pitchFamily="34" charset="-122"/>
                <a:cs typeface="Roboto" pitchFamily="34" charset="-120"/>
              </a:rPr>
              <a:t>que sempre s'alinea en direcció nord-sud.</a:t>
            </a:r>
            <a:endParaRPr lang="en-US" sz="1800" dirty="0"/>
          </a:p>
        </p:txBody>
      </p:sp>
      <p:sp>
        <p:nvSpPr>
          <p:cNvPr id="20" name="Cercle 3"/>
          <p:cNvSpPr/>
          <p:nvPr/>
        </p:nvSpPr>
        <p:spPr>
          <a:xfrm>
            <a:off x="5166360" y="2990088"/>
            <a:ext cx="402336" cy="402336"/>
          </a:xfrm>
          <a:prstGeom prst="ellipse">
            <a:avLst/>
          </a:prstGeom>
          <a:solidFill>
            <a:srgbClr val="188038"/>
          </a:solidFill>
          <a:ln/>
        </p:spPr>
      </p:sp>
      <p:sp>
        <p:nvSpPr>
          <p:cNvPr id="21" name="Text 18"/>
          <p:cNvSpPr txBox="1"/>
          <p:nvPr/>
        </p:nvSpPr>
        <p:spPr>
          <a:xfrm>
            <a:off x="5166360" y="2990088"/>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Roboto" pitchFamily="34" charset="0"/>
                <a:ea typeface="Roboto" pitchFamily="34" charset="-122"/>
                <a:cs typeface="Roboto" pitchFamily="34" charset="-120"/>
              </a:rPr>
              <a:t>3</a:t>
            </a:r>
            <a:endParaRPr lang="en-US" sz="1600" dirty="0"/>
          </a:p>
        </p:txBody>
      </p:sp>
      <p:sp>
        <p:nvSpPr>
          <p:cNvPr id="22" name="Text 19"/>
          <p:cNvSpPr txBox="1"/>
          <p:nvPr/>
        </p:nvSpPr>
        <p:spPr>
          <a:xfrm>
            <a:off x="5760720" y="2916936"/>
            <a:ext cx="5882335" cy="566928"/>
          </a:xfrm>
          <a:prstGeom prst="rect">
            <a:avLst/>
          </a:prstGeom>
          <a:noFill/>
          <a:ln/>
        </p:spPr>
        <p:txBody>
          <a:bodyPr wrap="square" lIns="0" tIns="0" rIns="0" bIns="0" rtlCol="0" anchor="ctr"/>
          <a:lstStyle/>
          <a:p>
            <a:pPr indent="0" marL="0">
              <a:buNone/>
            </a:pPr>
            <a:r>
              <a:rPr lang="en-US" sz="1800" b="1" dirty="0">
                <a:solidFill>
                  <a:srgbClr val="202124"/>
                </a:solidFill>
                <a:latin typeface="Roboto" pitchFamily="34" charset="0"/>
                <a:ea typeface="Roboto" pitchFamily="34" charset="-122"/>
                <a:cs typeface="Roboto" pitchFamily="34" charset="-120"/>
              </a:rPr>
              <a:t>La W vol dir west, </a:t>
            </a:r>
            <a:pPr indent="0" marL="0">
              <a:buNone/>
            </a:pPr>
            <a:r>
              <a:rPr lang="en-US" sz="1800" dirty="0">
                <a:solidFill>
                  <a:srgbClr val="202124"/>
                </a:solidFill>
                <a:latin typeface="Roboto" pitchFamily="34" charset="0"/>
                <a:ea typeface="Roboto" pitchFamily="34" charset="-122"/>
                <a:cs typeface="Roboto" pitchFamily="34" charset="-120"/>
              </a:rPr>
              <a:t>oest en anglès.</a:t>
            </a:r>
            <a:endParaRPr lang="en-US" sz="1800" dirty="0"/>
          </a:p>
        </p:txBody>
      </p:sp>
      <p:sp>
        <p:nvSpPr>
          <p:cNvPr id="23" name="El nord magnètic"/>
          <p:cNvSpPr/>
          <p:nvPr/>
        </p:nvSpPr>
        <p:spPr>
          <a:xfrm>
            <a:off x="5166360" y="3794760"/>
            <a:ext cx="6476695" cy="2194560"/>
          </a:xfrm>
          <a:prstGeom prst="roundRect">
            <a:avLst>
              <a:gd name="adj" fmla="val 4583"/>
            </a:avLst>
          </a:prstGeom>
          <a:solidFill>
            <a:srgbClr val="188038"/>
          </a:solidFill>
          <a:ln/>
        </p:spPr>
      </p:sp>
      <p:sp>
        <p:nvSpPr>
          <p:cNvPr id="24" name="Cercle icona"/>
          <p:cNvSpPr/>
          <p:nvPr/>
        </p:nvSpPr>
        <p:spPr>
          <a:xfrm>
            <a:off x="5440680" y="4023360"/>
            <a:ext cx="640080" cy="640080"/>
          </a:xfrm>
          <a:prstGeom prst="ellipse">
            <a:avLst/>
          </a:prstGeom>
          <a:solidFill>
            <a:srgbClr val="FFFFFF"/>
          </a:solidFill>
          <a:ln/>
        </p:spPr>
      </p:sp>
      <p:pic>
        <p:nvPicPr>
          <p:cNvPr id="25" name="Icona TbMagnet" descr="/home/claude/p857/build/img/ic/TbMagnet-g.png">    </p:cNvPr>
          <p:cNvPicPr>
            <a:picLocks noChangeAspect="1"/>
          </p:cNvPicPr>
          <p:nvPr/>
        </p:nvPicPr>
        <p:blipFill>
          <a:blip r:embed="rId2"/>
          <a:stretch>
            <a:fillRect/>
          </a:stretch>
        </p:blipFill>
        <p:spPr>
          <a:xfrm>
            <a:off x="5581498" y="4164178"/>
            <a:ext cx="358445" cy="358445"/>
          </a:xfrm>
          <a:prstGeom prst="rect">
            <a:avLst/>
          </a:prstGeom>
        </p:spPr>
      </p:pic>
      <p:sp>
        <p:nvSpPr>
          <p:cNvPr id="26" name="Text 22"/>
          <p:cNvSpPr txBox="1"/>
          <p:nvPr/>
        </p:nvSpPr>
        <p:spPr>
          <a:xfrm>
            <a:off x="6263640" y="3977640"/>
            <a:ext cx="5150815" cy="777240"/>
          </a:xfrm>
          <a:prstGeom prst="rect">
            <a:avLst/>
          </a:prstGeom>
          <a:noFill/>
          <a:ln/>
        </p:spPr>
        <p:txBody>
          <a:bodyPr wrap="square" lIns="0" tIns="0" rIns="0" bIns="0" rtlCol="0" anchor="ctr"/>
          <a:lstStyle/>
          <a:p>
            <a:pPr indent="0" marL="0">
              <a:buNone/>
            </a:pPr>
            <a:r>
              <a:rPr lang="en-US" sz="1500" dirty="0">
                <a:solidFill>
                  <a:srgbClr val="FFFFFF"/>
                </a:solidFill>
                <a:latin typeface="Roboto" pitchFamily="34" charset="0"/>
                <a:ea typeface="Roboto" pitchFamily="34" charset="-122"/>
                <a:cs typeface="Roboto" pitchFamily="34" charset="-120"/>
              </a:rPr>
              <a:t>Més exactament, apunta al</a:t>
            </a:r>
            <a:endParaRPr lang="en-US" sz="1500" dirty="0"/>
          </a:p>
          <a:p>
            <a:pPr indent="0" marL="0">
              <a:buNone/>
            </a:pPr>
            <a:r>
              <a:rPr lang="en-US" sz="2400" b="1" dirty="0">
                <a:solidFill>
                  <a:srgbClr val="FFFFFF"/>
                </a:solidFill>
                <a:latin typeface="Roboto" pitchFamily="34" charset="0"/>
                <a:ea typeface="Roboto" pitchFamily="34" charset="-122"/>
                <a:cs typeface="Roboto" pitchFamily="34" charset="-120"/>
              </a:rPr>
              <a:t>nord magnètic</a:t>
            </a:r>
            <a:endParaRPr lang="en-US" sz="1500" dirty="0"/>
          </a:p>
        </p:txBody>
      </p:sp>
      <p:sp>
        <p:nvSpPr>
          <p:cNvPr id="27" name="Text 23"/>
          <p:cNvSpPr txBox="1"/>
          <p:nvPr/>
        </p:nvSpPr>
        <p:spPr>
          <a:xfrm>
            <a:off x="5440680" y="4892040"/>
            <a:ext cx="5928055" cy="960120"/>
          </a:xfrm>
          <a:prstGeom prst="rect">
            <a:avLst/>
          </a:prstGeom>
          <a:noFill/>
          <a:ln/>
        </p:spPr>
        <p:txBody>
          <a:bodyPr wrap="square" lIns="0" tIns="0" rIns="0" bIns="0" rtlCol="0" anchor="t"/>
          <a:lstStyle/>
          <a:p>
            <a:pPr indent="0" marL="0">
              <a:buNone/>
            </a:pPr>
            <a:r>
              <a:rPr lang="en-US" sz="1800" dirty="0">
                <a:solidFill>
                  <a:srgbClr val="FFFFFF"/>
                </a:solidFill>
                <a:latin typeface="Roboto" pitchFamily="34" charset="0"/>
                <a:ea typeface="Roboto" pitchFamily="34" charset="-122"/>
                <a:cs typeface="Roboto" pitchFamily="34" charset="-120"/>
              </a:rPr>
              <a:t>Un punt que és a uns 500 km del pol Nord geogràfic i que es va movent a poc a poc.</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1</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La rosa dels vents</a:t>
            </a:r>
            <a:endParaRPr lang="en-US" sz="2800" dirty="0"/>
          </a:p>
        </p:txBody>
      </p:sp>
      <p:sp>
        <p:nvSpPr>
          <p:cNvPr id="5" name="Fons Rosa dels vents"/>
          <p:cNvSpPr/>
          <p:nvPr/>
        </p:nvSpPr>
        <p:spPr>
          <a:xfrm>
            <a:off x="548640" y="1371600"/>
            <a:ext cx="4892040" cy="4251960"/>
          </a:xfrm>
          <a:prstGeom prst="roundRect">
            <a:avLst>
              <a:gd name="adj" fmla="val 2366"/>
            </a:avLst>
          </a:prstGeom>
          <a:solidFill>
            <a:srgbClr val="F6F8FB"/>
          </a:solidFill>
          <a:ln/>
        </p:spPr>
      </p:sp>
      <p:pic>
        <p:nvPicPr>
          <p:cNvPr id="6" name="Rosa dels vents" descr="/home/claude/p857/build/img/rosa.png">    </p:cNvPr>
          <p:cNvPicPr>
            <a:picLocks noChangeAspect="1"/>
          </p:cNvPicPr>
          <p:nvPr/>
        </p:nvPicPr>
        <p:blipFill>
          <a:blip r:embed="rId1"/>
          <a:stretch>
            <a:fillRect/>
          </a:stretch>
        </p:blipFill>
        <p:spPr>
          <a:xfrm>
            <a:off x="817656" y="1371600"/>
            <a:ext cx="4354007" cy="4251960"/>
          </a:xfrm>
          <a:prstGeom prst="rect">
            <a:avLst/>
          </a:prstGeom>
        </p:spPr>
      </p:pic>
      <p:sp>
        <p:nvSpPr>
          <p:cNvPr id="7" name="Text 4"/>
          <p:cNvSpPr txBox="1"/>
          <p:nvPr/>
        </p:nvSpPr>
        <p:spPr>
          <a:xfrm>
            <a:off x="548640" y="5687568"/>
            <a:ext cx="4892040" cy="411480"/>
          </a:xfrm>
          <a:prstGeom prst="rect">
            <a:avLst/>
          </a:prstGeom>
          <a:noFill/>
          <a:ln/>
        </p:spPr>
        <p:txBody>
          <a:bodyPr wrap="square" lIns="0" tIns="0" rIns="0" bIns="0" rtlCol="0" anchor="t"/>
          <a:lstStyle/>
          <a:p>
            <a:pPr indent="0" marL="0">
              <a:buNone/>
            </a:pPr>
            <a:r>
              <a:rPr lang="en-US" sz="1000" dirty="0">
                <a:solidFill>
                  <a:srgbClr val="5F6368"/>
                </a:solidFill>
                <a:latin typeface="Roboto" pitchFamily="34" charset="0"/>
                <a:ea typeface="Roboto" pitchFamily="34" charset="-122"/>
                <a:cs typeface="Roboto" pitchFamily="34" charset="-120"/>
              </a:rPr>
              <a:t>La rosa dels vents. En verd fosc, els quatre punts cardinals. En verd clar, els quatre col·laterals. Gràfic: professordesocials.cat, CC BY-SA 4.0.</a:t>
            </a:r>
            <a:endParaRPr lang="en-US" sz="1000" dirty="0"/>
          </a:p>
        </p:txBody>
      </p:sp>
      <p:sp>
        <p:nvSpPr>
          <p:cNvPr id="8" name="Els 4 punts cardinals"/>
          <p:cNvSpPr/>
          <p:nvPr/>
        </p:nvSpPr>
        <p:spPr>
          <a:xfrm>
            <a:off x="5760720" y="1371600"/>
            <a:ext cx="5882335" cy="1371600"/>
          </a:xfrm>
          <a:prstGeom prst="roundRect">
            <a:avLst>
              <a:gd name="adj" fmla="val 7333"/>
            </a:avLst>
          </a:prstGeom>
          <a:solidFill>
            <a:srgbClr val="FFFFFF"/>
          </a:solidFill>
          <a:ln w="12700">
            <a:solidFill>
              <a:srgbClr val="DADCE0"/>
            </a:solidFill>
            <a:prstDash val="solid"/>
          </a:ln>
        </p:spPr>
      </p:sp>
      <p:sp>
        <p:nvSpPr>
          <p:cNvPr id="9" name="Text 6"/>
          <p:cNvSpPr txBox="1"/>
          <p:nvPr/>
        </p:nvSpPr>
        <p:spPr>
          <a:xfrm>
            <a:off x="6035040" y="1572768"/>
            <a:ext cx="2377440" cy="1005840"/>
          </a:xfrm>
          <a:prstGeom prst="rect">
            <a:avLst/>
          </a:prstGeom>
          <a:noFill/>
          <a:ln/>
        </p:spPr>
        <p:txBody>
          <a:bodyPr wrap="square" lIns="0" tIns="0" rIns="0" bIns="0" rtlCol="0" anchor="ctr"/>
          <a:lstStyle/>
          <a:p>
            <a:pPr indent="0" marL="0">
              <a:buNone/>
            </a:pPr>
            <a:r>
              <a:rPr lang="en-US" sz="1900" b="1" dirty="0">
                <a:solidFill>
                  <a:srgbClr val="188038"/>
                </a:solidFill>
                <a:latin typeface="Roboto" pitchFamily="34" charset="0"/>
                <a:ea typeface="Roboto" pitchFamily="34" charset="-122"/>
                <a:cs typeface="Roboto" pitchFamily="34" charset="-120"/>
              </a:rPr>
              <a:t>Els 4 punts cardinals</a:t>
            </a:r>
            <a:endParaRPr lang="en-US" sz="1900" dirty="0"/>
          </a:p>
          <a:p>
            <a:pPr indent="0" marL="0">
              <a:buNone/>
            </a:pPr>
            <a:r>
              <a:rPr lang="en-US" sz="1450" dirty="0">
                <a:solidFill>
                  <a:srgbClr val="5F6368"/>
                </a:solidFill>
                <a:latin typeface="Roboto" pitchFamily="34" charset="0"/>
                <a:ea typeface="Roboto" pitchFamily="34" charset="-122"/>
                <a:cs typeface="Roboto" pitchFamily="34" charset="-120"/>
              </a:rPr>
              <a:t>Nord, sud, est i oest</a:t>
            </a:r>
            <a:endParaRPr lang="en-US" sz="1900" dirty="0"/>
          </a:p>
        </p:txBody>
      </p:sp>
      <p:sp>
        <p:nvSpPr>
          <p:cNvPr id="10" name="Cercle N"/>
          <p:cNvSpPr/>
          <p:nvPr/>
        </p:nvSpPr>
        <p:spPr>
          <a:xfrm>
            <a:off x="8485632" y="1728216"/>
            <a:ext cx="658368" cy="658368"/>
          </a:xfrm>
          <a:prstGeom prst="ellipse">
            <a:avLst/>
          </a:prstGeom>
          <a:solidFill>
            <a:srgbClr val="188038"/>
          </a:solidFill>
          <a:ln/>
        </p:spPr>
      </p:sp>
      <p:sp>
        <p:nvSpPr>
          <p:cNvPr id="11" name="Text 8"/>
          <p:cNvSpPr txBox="1"/>
          <p:nvPr/>
        </p:nvSpPr>
        <p:spPr>
          <a:xfrm>
            <a:off x="8485632" y="1728216"/>
            <a:ext cx="658368" cy="658368"/>
          </a:xfrm>
          <a:prstGeom prst="rect">
            <a:avLst/>
          </a:prstGeom>
          <a:noFill/>
          <a:ln/>
        </p:spPr>
        <p:txBody>
          <a:bodyPr wrap="square" lIns="0" tIns="0" rIns="0" bIns="0" rtlCol="0" anchor="ctr"/>
          <a:lstStyle/>
          <a:p>
            <a:pPr algn="ctr" indent="0" marL="0">
              <a:buNone/>
            </a:pPr>
            <a:r>
              <a:rPr lang="en-US" sz="2100" b="1" dirty="0">
                <a:solidFill>
                  <a:srgbClr val="FFFFFF"/>
                </a:solidFill>
                <a:latin typeface="Roboto" pitchFamily="34" charset="0"/>
                <a:ea typeface="Roboto" pitchFamily="34" charset="-122"/>
                <a:cs typeface="Roboto" pitchFamily="34" charset="-120"/>
              </a:rPr>
              <a:t>N</a:t>
            </a:r>
            <a:endParaRPr lang="en-US" sz="2100" dirty="0"/>
          </a:p>
        </p:txBody>
      </p:sp>
      <p:sp>
        <p:nvSpPr>
          <p:cNvPr id="12" name="Cercle S"/>
          <p:cNvSpPr/>
          <p:nvPr/>
        </p:nvSpPr>
        <p:spPr>
          <a:xfrm>
            <a:off x="9235440" y="1728216"/>
            <a:ext cx="658368" cy="658368"/>
          </a:xfrm>
          <a:prstGeom prst="ellipse">
            <a:avLst/>
          </a:prstGeom>
          <a:solidFill>
            <a:srgbClr val="188038"/>
          </a:solidFill>
          <a:ln/>
        </p:spPr>
      </p:sp>
      <p:sp>
        <p:nvSpPr>
          <p:cNvPr id="13" name="Text 10"/>
          <p:cNvSpPr txBox="1"/>
          <p:nvPr/>
        </p:nvSpPr>
        <p:spPr>
          <a:xfrm>
            <a:off x="9235440" y="1728216"/>
            <a:ext cx="658368" cy="658368"/>
          </a:xfrm>
          <a:prstGeom prst="rect">
            <a:avLst/>
          </a:prstGeom>
          <a:noFill/>
          <a:ln/>
        </p:spPr>
        <p:txBody>
          <a:bodyPr wrap="square" lIns="0" tIns="0" rIns="0" bIns="0" rtlCol="0" anchor="ctr"/>
          <a:lstStyle/>
          <a:p>
            <a:pPr algn="ctr" indent="0" marL="0">
              <a:buNone/>
            </a:pPr>
            <a:r>
              <a:rPr lang="en-US" sz="2100" b="1" dirty="0">
                <a:solidFill>
                  <a:srgbClr val="FFFFFF"/>
                </a:solidFill>
                <a:latin typeface="Roboto" pitchFamily="34" charset="0"/>
                <a:ea typeface="Roboto" pitchFamily="34" charset="-122"/>
                <a:cs typeface="Roboto" pitchFamily="34" charset="-120"/>
              </a:rPr>
              <a:t>S</a:t>
            </a:r>
            <a:endParaRPr lang="en-US" sz="2100" dirty="0"/>
          </a:p>
        </p:txBody>
      </p:sp>
      <p:sp>
        <p:nvSpPr>
          <p:cNvPr id="14" name="Cercle E"/>
          <p:cNvSpPr/>
          <p:nvPr/>
        </p:nvSpPr>
        <p:spPr>
          <a:xfrm>
            <a:off x="9985248" y="1728216"/>
            <a:ext cx="658368" cy="658368"/>
          </a:xfrm>
          <a:prstGeom prst="ellipse">
            <a:avLst/>
          </a:prstGeom>
          <a:solidFill>
            <a:srgbClr val="188038"/>
          </a:solidFill>
          <a:ln/>
        </p:spPr>
      </p:sp>
      <p:sp>
        <p:nvSpPr>
          <p:cNvPr id="15" name="Text 12"/>
          <p:cNvSpPr txBox="1"/>
          <p:nvPr/>
        </p:nvSpPr>
        <p:spPr>
          <a:xfrm>
            <a:off x="9985248" y="1728216"/>
            <a:ext cx="658368" cy="658368"/>
          </a:xfrm>
          <a:prstGeom prst="rect">
            <a:avLst/>
          </a:prstGeom>
          <a:noFill/>
          <a:ln/>
        </p:spPr>
        <p:txBody>
          <a:bodyPr wrap="square" lIns="0" tIns="0" rIns="0" bIns="0" rtlCol="0" anchor="ctr"/>
          <a:lstStyle/>
          <a:p>
            <a:pPr algn="ctr" indent="0" marL="0">
              <a:buNone/>
            </a:pPr>
            <a:r>
              <a:rPr lang="en-US" sz="2100" b="1" dirty="0">
                <a:solidFill>
                  <a:srgbClr val="FFFFFF"/>
                </a:solidFill>
                <a:latin typeface="Roboto" pitchFamily="34" charset="0"/>
                <a:ea typeface="Roboto" pitchFamily="34" charset="-122"/>
                <a:cs typeface="Roboto" pitchFamily="34" charset="-120"/>
              </a:rPr>
              <a:t>E</a:t>
            </a:r>
            <a:endParaRPr lang="en-US" sz="2100" dirty="0"/>
          </a:p>
        </p:txBody>
      </p:sp>
      <p:sp>
        <p:nvSpPr>
          <p:cNvPr id="16" name="Cercle O"/>
          <p:cNvSpPr/>
          <p:nvPr/>
        </p:nvSpPr>
        <p:spPr>
          <a:xfrm>
            <a:off x="10735056" y="1728216"/>
            <a:ext cx="658368" cy="658368"/>
          </a:xfrm>
          <a:prstGeom prst="ellipse">
            <a:avLst/>
          </a:prstGeom>
          <a:solidFill>
            <a:srgbClr val="188038"/>
          </a:solidFill>
          <a:ln/>
        </p:spPr>
      </p:sp>
      <p:sp>
        <p:nvSpPr>
          <p:cNvPr id="17" name="Text 14"/>
          <p:cNvSpPr txBox="1"/>
          <p:nvPr/>
        </p:nvSpPr>
        <p:spPr>
          <a:xfrm>
            <a:off x="10735056" y="1728216"/>
            <a:ext cx="658368" cy="658368"/>
          </a:xfrm>
          <a:prstGeom prst="rect">
            <a:avLst/>
          </a:prstGeom>
          <a:noFill/>
          <a:ln/>
        </p:spPr>
        <p:txBody>
          <a:bodyPr wrap="square" lIns="0" tIns="0" rIns="0" bIns="0" rtlCol="0" anchor="ctr"/>
          <a:lstStyle/>
          <a:p>
            <a:pPr algn="ctr" indent="0" marL="0">
              <a:buNone/>
            </a:pPr>
            <a:r>
              <a:rPr lang="en-US" sz="2100" b="1" dirty="0">
                <a:solidFill>
                  <a:srgbClr val="FFFFFF"/>
                </a:solidFill>
                <a:latin typeface="Roboto" pitchFamily="34" charset="0"/>
                <a:ea typeface="Roboto" pitchFamily="34" charset="-122"/>
                <a:cs typeface="Roboto" pitchFamily="34" charset="-120"/>
              </a:rPr>
              <a:t>O</a:t>
            </a:r>
            <a:endParaRPr lang="en-US" sz="2100" dirty="0"/>
          </a:p>
        </p:txBody>
      </p:sp>
      <p:sp>
        <p:nvSpPr>
          <p:cNvPr id="18" name="Els 4 col·laterals"/>
          <p:cNvSpPr/>
          <p:nvPr/>
        </p:nvSpPr>
        <p:spPr>
          <a:xfrm>
            <a:off x="5760720" y="2926080"/>
            <a:ext cx="5882335" cy="1371600"/>
          </a:xfrm>
          <a:prstGeom prst="roundRect">
            <a:avLst>
              <a:gd name="adj" fmla="val 7333"/>
            </a:avLst>
          </a:prstGeom>
          <a:solidFill>
            <a:srgbClr val="FFFFFF"/>
          </a:solidFill>
          <a:ln w="12700">
            <a:solidFill>
              <a:srgbClr val="DADCE0"/>
            </a:solidFill>
            <a:prstDash val="solid"/>
          </a:ln>
        </p:spPr>
      </p:sp>
      <p:sp>
        <p:nvSpPr>
          <p:cNvPr id="19" name="Text 16"/>
          <p:cNvSpPr txBox="1"/>
          <p:nvPr/>
        </p:nvSpPr>
        <p:spPr>
          <a:xfrm>
            <a:off x="6035040" y="3127248"/>
            <a:ext cx="2377440" cy="1005840"/>
          </a:xfrm>
          <a:prstGeom prst="rect">
            <a:avLst/>
          </a:prstGeom>
          <a:noFill/>
          <a:ln/>
        </p:spPr>
        <p:txBody>
          <a:bodyPr wrap="square" lIns="0" tIns="0" rIns="0" bIns="0" rtlCol="0" anchor="ctr"/>
          <a:lstStyle/>
          <a:p>
            <a:pPr indent="0" marL="0">
              <a:buNone/>
            </a:pPr>
            <a:r>
              <a:rPr lang="en-US" sz="1900" b="1" dirty="0">
                <a:solidFill>
                  <a:srgbClr val="188038"/>
                </a:solidFill>
                <a:latin typeface="Roboto" pitchFamily="34" charset="0"/>
                <a:ea typeface="Roboto" pitchFamily="34" charset="-122"/>
                <a:cs typeface="Roboto" pitchFamily="34" charset="-120"/>
              </a:rPr>
              <a:t>Els 4 col·laterals</a:t>
            </a:r>
            <a:endParaRPr lang="en-US" sz="1900" dirty="0"/>
          </a:p>
          <a:p>
            <a:pPr indent="0" marL="0">
              <a:buNone/>
            </a:pPr>
            <a:r>
              <a:rPr lang="en-US" sz="1450" dirty="0">
                <a:solidFill>
                  <a:srgbClr val="5F6368"/>
                </a:solidFill>
                <a:latin typeface="Roboto" pitchFamily="34" charset="0"/>
                <a:ea typeface="Roboto" pitchFamily="34" charset="-122"/>
                <a:cs typeface="Roboto" pitchFamily="34" charset="-120"/>
              </a:rPr>
              <a:t>També anomenats intermedis</a:t>
            </a:r>
            <a:endParaRPr lang="en-US" sz="1900" dirty="0"/>
          </a:p>
        </p:txBody>
      </p:sp>
      <p:sp>
        <p:nvSpPr>
          <p:cNvPr id="20" name="Cercle NE"/>
          <p:cNvSpPr/>
          <p:nvPr/>
        </p:nvSpPr>
        <p:spPr>
          <a:xfrm>
            <a:off x="8485632" y="3282696"/>
            <a:ext cx="658368" cy="658368"/>
          </a:xfrm>
          <a:prstGeom prst="ellipse">
            <a:avLst/>
          </a:prstGeom>
          <a:solidFill>
            <a:srgbClr val="A9DAB7"/>
          </a:solidFill>
          <a:ln/>
        </p:spPr>
      </p:sp>
      <p:sp>
        <p:nvSpPr>
          <p:cNvPr id="21" name="Text 18"/>
          <p:cNvSpPr txBox="1"/>
          <p:nvPr/>
        </p:nvSpPr>
        <p:spPr>
          <a:xfrm>
            <a:off x="8485632" y="3282696"/>
            <a:ext cx="658368" cy="658368"/>
          </a:xfrm>
          <a:prstGeom prst="rect">
            <a:avLst/>
          </a:prstGeom>
          <a:noFill/>
          <a:ln/>
        </p:spPr>
        <p:txBody>
          <a:bodyPr wrap="square" lIns="0" tIns="0" rIns="0" bIns="0" rtlCol="0" anchor="ctr"/>
          <a:lstStyle/>
          <a:p>
            <a:pPr algn="ctr" indent="0" marL="0">
              <a:buNone/>
            </a:pPr>
            <a:r>
              <a:rPr lang="en-US" sz="1800" b="1" dirty="0">
                <a:solidFill>
                  <a:srgbClr val="12632B"/>
                </a:solidFill>
                <a:latin typeface="Roboto" pitchFamily="34" charset="0"/>
                <a:ea typeface="Roboto" pitchFamily="34" charset="-122"/>
                <a:cs typeface="Roboto" pitchFamily="34" charset="-120"/>
              </a:rPr>
              <a:t>NE</a:t>
            </a:r>
            <a:endParaRPr lang="en-US" sz="1800" dirty="0"/>
          </a:p>
        </p:txBody>
      </p:sp>
      <p:sp>
        <p:nvSpPr>
          <p:cNvPr id="22" name="Cercle SE"/>
          <p:cNvSpPr/>
          <p:nvPr/>
        </p:nvSpPr>
        <p:spPr>
          <a:xfrm>
            <a:off x="9235440" y="3282696"/>
            <a:ext cx="658368" cy="658368"/>
          </a:xfrm>
          <a:prstGeom prst="ellipse">
            <a:avLst/>
          </a:prstGeom>
          <a:solidFill>
            <a:srgbClr val="A9DAB7"/>
          </a:solidFill>
          <a:ln/>
        </p:spPr>
      </p:sp>
      <p:sp>
        <p:nvSpPr>
          <p:cNvPr id="23" name="Text 20"/>
          <p:cNvSpPr txBox="1"/>
          <p:nvPr/>
        </p:nvSpPr>
        <p:spPr>
          <a:xfrm>
            <a:off x="9235440" y="3282696"/>
            <a:ext cx="658368" cy="658368"/>
          </a:xfrm>
          <a:prstGeom prst="rect">
            <a:avLst/>
          </a:prstGeom>
          <a:noFill/>
          <a:ln/>
        </p:spPr>
        <p:txBody>
          <a:bodyPr wrap="square" lIns="0" tIns="0" rIns="0" bIns="0" rtlCol="0" anchor="ctr"/>
          <a:lstStyle/>
          <a:p>
            <a:pPr algn="ctr" indent="0" marL="0">
              <a:buNone/>
            </a:pPr>
            <a:r>
              <a:rPr lang="en-US" sz="1800" b="1" dirty="0">
                <a:solidFill>
                  <a:srgbClr val="12632B"/>
                </a:solidFill>
                <a:latin typeface="Roboto" pitchFamily="34" charset="0"/>
                <a:ea typeface="Roboto" pitchFamily="34" charset="-122"/>
                <a:cs typeface="Roboto" pitchFamily="34" charset="-120"/>
              </a:rPr>
              <a:t>SE</a:t>
            </a:r>
            <a:endParaRPr lang="en-US" sz="1800" dirty="0"/>
          </a:p>
        </p:txBody>
      </p:sp>
      <p:sp>
        <p:nvSpPr>
          <p:cNvPr id="24" name="Cercle SO"/>
          <p:cNvSpPr/>
          <p:nvPr/>
        </p:nvSpPr>
        <p:spPr>
          <a:xfrm>
            <a:off x="9985248" y="3282696"/>
            <a:ext cx="658368" cy="658368"/>
          </a:xfrm>
          <a:prstGeom prst="ellipse">
            <a:avLst/>
          </a:prstGeom>
          <a:solidFill>
            <a:srgbClr val="A9DAB7"/>
          </a:solidFill>
          <a:ln/>
        </p:spPr>
      </p:sp>
      <p:sp>
        <p:nvSpPr>
          <p:cNvPr id="25" name="Text 22"/>
          <p:cNvSpPr txBox="1"/>
          <p:nvPr/>
        </p:nvSpPr>
        <p:spPr>
          <a:xfrm>
            <a:off x="9985248" y="3282696"/>
            <a:ext cx="658368" cy="658368"/>
          </a:xfrm>
          <a:prstGeom prst="rect">
            <a:avLst/>
          </a:prstGeom>
          <a:noFill/>
          <a:ln/>
        </p:spPr>
        <p:txBody>
          <a:bodyPr wrap="square" lIns="0" tIns="0" rIns="0" bIns="0" rtlCol="0" anchor="ctr"/>
          <a:lstStyle/>
          <a:p>
            <a:pPr algn="ctr" indent="0" marL="0">
              <a:buNone/>
            </a:pPr>
            <a:r>
              <a:rPr lang="en-US" sz="1800" b="1" dirty="0">
                <a:solidFill>
                  <a:srgbClr val="12632B"/>
                </a:solidFill>
                <a:latin typeface="Roboto" pitchFamily="34" charset="0"/>
                <a:ea typeface="Roboto" pitchFamily="34" charset="-122"/>
                <a:cs typeface="Roboto" pitchFamily="34" charset="-120"/>
              </a:rPr>
              <a:t>SO</a:t>
            </a:r>
            <a:endParaRPr lang="en-US" sz="1800" dirty="0"/>
          </a:p>
        </p:txBody>
      </p:sp>
      <p:sp>
        <p:nvSpPr>
          <p:cNvPr id="26" name="Cercle NO"/>
          <p:cNvSpPr/>
          <p:nvPr/>
        </p:nvSpPr>
        <p:spPr>
          <a:xfrm>
            <a:off x="10735056" y="3282696"/>
            <a:ext cx="658368" cy="658368"/>
          </a:xfrm>
          <a:prstGeom prst="ellipse">
            <a:avLst/>
          </a:prstGeom>
          <a:solidFill>
            <a:srgbClr val="A9DAB7"/>
          </a:solidFill>
          <a:ln/>
        </p:spPr>
      </p:sp>
      <p:sp>
        <p:nvSpPr>
          <p:cNvPr id="27" name="Text 24"/>
          <p:cNvSpPr txBox="1"/>
          <p:nvPr/>
        </p:nvSpPr>
        <p:spPr>
          <a:xfrm>
            <a:off x="10735056" y="3282696"/>
            <a:ext cx="658368" cy="658368"/>
          </a:xfrm>
          <a:prstGeom prst="rect">
            <a:avLst/>
          </a:prstGeom>
          <a:noFill/>
          <a:ln/>
        </p:spPr>
        <p:txBody>
          <a:bodyPr wrap="square" lIns="0" tIns="0" rIns="0" bIns="0" rtlCol="0" anchor="ctr"/>
          <a:lstStyle/>
          <a:p>
            <a:pPr algn="ctr" indent="0" marL="0">
              <a:buNone/>
            </a:pPr>
            <a:r>
              <a:rPr lang="en-US" sz="1800" b="1" dirty="0">
                <a:solidFill>
                  <a:srgbClr val="12632B"/>
                </a:solidFill>
                <a:latin typeface="Roboto" pitchFamily="34" charset="0"/>
                <a:ea typeface="Roboto" pitchFamily="34" charset="-122"/>
                <a:cs typeface="Roboto" pitchFamily="34" charset="-120"/>
              </a:rPr>
              <a:t>NO</a:t>
            </a:r>
            <a:endParaRPr lang="en-US" sz="1800" dirty="0"/>
          </a:p>
        </p:txBody>
      </p:sp>
      <p:sp>
        <p:nvSpPr>
          <p:cNvPr id="28" name="Rosa dels vents"/>
          <p:cNvSpPr/>
          <p:nvPr/>
        </p:nvSpPr>
        <p:spPr>
          <a:xfrm>
            <a:off x="5760720" y="4480560"/>
            <a:ext cx="5882335" cy="1508760"/>
          </a:xfrm>
          <a:prstGeom prst="roundRect">
            <a:avLst>
              <a:gd name="adj" fmla="val 6667"/>
            </a:avLst>
          </a:prstGeom>
          <a:solidFill>
            <a:srgbClr val="E6F4EA"/>
          </a:solidFill>
          <a:ln/>
        </p:spPr>
      </p:sp>
      <p:sp>
        <p:nvSpPr>
          <p:cNvPr id="29" name="Text 26"/>
          <p:cNvSpPr txBox="1"/>
          <p:nvPr/>
        </p:nvSpPr>
        <p:spPr>
          <a:xfrm>
            <a:off x="6080760" y="4636008"/>
            <a:ext cx="5242255" cy="320040"/>
          </a:xfrm>
          <a:prstGeom prst="rect">
            <a:avLst/>
          </a:prstGeom>
          <a:noFill/>
          <a:ln/>
        </p:spPr>
        <p:txBody>
          <a:bodyPr wrap="square" lIns="0" tIns="0" rIns="0" bIns="0" rtlCol="0" anchor="t"/>
          <a:lstStyle/>
          <a:p>
            <a:pPr indent="0" marL="0">
              <a:buNone/>
            </a:pPr>
            <a:r>
              <a:rPr lang="en-US" sz="1400" b="1" dirty="0">
                <a:solidFill>
                  <a:srgbClr val="188038"/>
                </a:solidFill>
                <a:latin typeface="Roboto" pitchFamily="34" charset="0"/>
                <a:ea typeface="Roboto" pitchFamily="34" charset="-122"/>
                <a:cs typeface="Roboto" pitchFamily="34" charset="-120"/>
              </a:rPr>
              <a:t>Rosa dels vents</a:t>
            </a:r>
            <a:endParaRPr lang="en-US" sz="1400" dirty="0"/>
          </a:p>
        </p:txBody>
      </p:sp>
      <p:sp>
        <p:nvSpPr>
          <p:cNvPr id="30" name="Text 27"/>
          <p:cNvSpPr txBox="1"/>
          <p:nvPr/>
        </p:nvSpPr>
        <p:spPr>
          <a:xfrm>
            <a:off x="6080760" y="4983480"/>
            <a:ext cx="5242255" cy="868680"/>
          </a:xfrm>
          <a:prstGeom prst="rect">
            <a:avLst/>
          </a:prstGeom>
          <a:noFill/>
          <a:ln/>
        </p:spPr>
        <p:txBody>
          <a:bodyPr wrap="square" lIns="0" tIns="0" rIns="0" bIns="0" rtlCol="0" anchor="t"/>
          <a:lstStyle/>
          <a:p>
            <a:pPr indent="0" marL="0">
              <a:buNone/>
            </a:pPr>
            <a:r>
              <a:rPr lang="en-US" sz="1650" dirty="0">
                <a:solidFill>
                  <a:srgbClr val="202124"/>
                </a:solidFill>
                <a:latin typeface="Roboto" pitchFamily="34" charset="0"/>
                <a:ea typeface="Roboto" pitchFamily="34" charset="-122"/>
                <a:cs typeface="Roboto" pitchFamily="34" charset="-120"/>
              </a:rPr>
              <a:t>Junts formen la rosa dels vents, el dibuix amb 8 puntes que veus a molts mapes. Altres mapes només porten una fletxa que indica el nord.</a:t>
            </a:r>
            <a:endParaRPr lang="en-US" sz="16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1</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Saps que…? Els noms dels vents</a:t>
            </a:r>
            <a:endParaRPr lang="en-US" sz="2800" dirty="0"/>
          </a:p>
        </p:txBody>
      </p:sp>
      <p:sp>
        <p:nvSpPr>
          <p:cNvPr id="5" name="Vent Mestral"/>
          <p:cNvSpPr/>
          <p:nvPr/>
        </p:nvSpPr>
        <p:spPr>
          <a:xfrm>
            <a:off x="548640" y="1371600"/>
            <a:ext cx="1926336" cy="1453896"/>
          </a:xfrm>
          <a:prstGeom prst="roundRect">
            <a:avLst>
              <a:gd name="adj" fmla="val 6918"/>
            </a:avLst>
          </a:prstGeom>
          <a:solidFill>
            <a:srgbClr val="FFFFFF"/>
          </a:solidFill>
          <a:ln w="12700">
            <a:solidFill>
              <a:srgbClr val="DADCE0"/>
            </a:solidFill>
            <a:prstDash val="solid"/>
          </a:ln>
        </p:spPr>
      </p:sp>
      <p:sp>
        <p:nvSpPr>
          <p:cNvPr id="6" name="Text 4"/>
          <p:cNvSpPr txBox="1"/>
          <p:nvPr/>
        </p:nvSpPr>
        <p:spPr>
          <a:xfrm>
            <a:off x="731520" y="1517904"/>
            <a:ext cx="822960" cy="411480"/>
          </a:xfrm>
          <a:prstGeom prst="rect">
            <a:avLst/>
          </a:prstGeom>
          <a:noFill/>
          <a:ln/>
        </p:spPr>
        <p:txBody>
          <a:bodyPr wrap="square" lIns="0" tIns="0" rIns="0" bIns="0" rtlCol="0" anchor="t"/>
          <a:lstStyle/>
          <a:p>
            <a:pPr indent="0" marL="0">
              <a:buNone/>
            </a:pPr>
            <a:r>
              <a:rPr lang="en-US" sz="2000" b="1" dirty="0">
                <a:solidFill>
                  <a:srgbClr val="188038"/>
                </a:solidFill>
                <a:latin typeface="Roboto" pitchFamily="34" charset="0"/>
                <a:ea typeface="Roboto" pitchFamily="34" charset="-122"/>
                <a:cs typeface="Roboto" pitchFamily="34" charset="-120"/>
              </a:rPr>
              <a:t>NO</a:t>
            </a:r>
            <a:endParaRPr lang="en-US" sz="2000" dirty="0"/>
          </a:p>
        </p:txBody>
      </p:sp>
      <p:pic>
        <p:nvPicPr>
          <p:cNvPr id="7" name="Icona TbArrowDownRight" descr="/home/claude/p857/build/img/ic/TbArrowDownRight-g.png">    </p:cNvPr>
          <p:cNvPicPr>
            <a:picLocks noChangeAspect="1"/>
          </p:cNvPicPr>
          <p:nvPr/>
        </p:nvPicPr>
        <p:blipFill>
          <a:blip r:embed="rId1"/>
          <a:stretch>
            <a:fillRect/>
          </a:stretch>
        </p:blipFill>
        <p:spPr>
          <a:xfrm>
            <a:off x="1908048" y="1517904"/>
            <a:ext cx="402336" cy="402336"/>
          </a:xfrm>
          <a:prstGeom prst="rect">
            <a:avLst/>
          </a:prstGeom>
        </p:spPr>
      </p:pic>
      <p:sp>
        <p:nvSpPr>
          <p:cNvPr id="8" name="Text 5"/>
          <p:cNvSpPr txBox="1"/>
          <p:nvPr/>
        </p:nvSpPr>
        <p:spPr>
          <a:xfrm>
            <a:off x="731520" y="2221992"/>
            <a:ext cx="1652016" cy="438912"/>
          </a:xfrm>
          <a:prstGeom prst="rect">
            <a:avLst/>
          </a:prstGeom>
          <a:noFill/>
          <a:ln/>
        </p:spPr>
        <p:txBody>
          <a:bodyPr wrap="square" lIns="0" tIns="0" rIns="0" bIns="0" rtlCol="0" anchor="t"/>
          <a:lstStyle/>
          <a:p>
            <a:pPr indent="0" marL="0">
              <a:buNone/>
            </a:pPr>
            <a:r>
              <a:rPr lang="en-US" sz="1850" dirty="0">
                <a:solidFill>
                  <a:srgbClr val="202124"/>
                </a:solidFill>
                <a:latin typeface="Roboto" pitchFamily="34" charset="0"/>
                <a:ea typeface="Roboto" pitchFamily="34" charset="-122"/>
                <a:cs typeface="Roboto" pitchFamily="34" charset="-120"/>
              </a:rPr>
              <a:t>Mestral</a:t>
            </a:r>
            <a:endParaRPr lang="en-US" sz="1850" dirty="0"/>
          </a:p>
        </p:txBody>
      </p:sp>
      <p:sp>
        <p:nvSpPr>
          <p:cNvPr id="9" name="Vent Tramuntana"/>
          <p:cNvSpPr/>
          <p:nvPr/>
        </p:nvSpPr>
        <p:spPr>
          <a:xfrm>
            <a:off x="2602992" y="1371600"/>
            <a:ext cx="1926336" cy="1453896"/>
          </a:xfrm>
          <a:prstGeom prst="roundRect">
            <a:avLst>
              <a:gd name="adj" fmla="val 6918"/>
            </a:avLst>
          </a:prstGeom>
          <a:solidFill>
            <a:srgbClr val="E6F4EA"/>
          </a:solidFill>
          <a:ln/>
        </p:spPr>
      </p:sp>
      <p:sp>
        <p:nvSpPr>
          <p:cNvPr id="10" name="Text 7"/>
          <p:cNvSpPr txBox="1"/>
          <p:nvPr/>
        </p:nvSpPr>
        <p:spPr>
          <a:xfrm>
            <a:off x="2785872" y="1517904"/>
            <a:ext cx="822960" cy="411480"/>
          </a:xfrm>
          <a:prstGeom prst="rect">
            <a:avLst/>
          </a:prstGeom>
          <a:noFill/>
          <a:ln/>
        </p:spPr>
        <p:txBody>
          <a:bodyPr wrap="square" lIns="0" tIns="0" rIns="0" bIns="0" rtlCol="0" anchor="t"/>
          <a:lstStyle/>
          <a:p>
            <a:pPr indent="0" marL="0">
              <a:buNone/>
            </a:pPr>
            <a:r>
              <a:rPr lang="en-US" sz="2000" b="1" dirty="0">
                <a:solidFill>
                  <a:srgbClr val="188038"/>
                </a:solidFill>
                <a:latin typeface="Roboto" pitchFamily="34" charset="0"/>
                <a:ea typeface="Roboto" pitchFamily="34" charset="-122"/>
                <a:cs typeface="Roboto" pitchFamily="34" charset="-120"/>
              </a:rPr>
              <a:t>N</a:t>
            </a:r>
            <a:endParaRPr lang="en-US" sz="2000" dirty="0"/>
          </a:p>
        </p:txBody>
      </p:sp>
      <p:pic>
        <p:nvPicPr>
          <p:cNvPr id="11" name="Icona TbArrowDown" descr="/home/claude/p857/build/img/ic/TbArrowDown-g.png">    </p:cNvPr>
          <p:cNvPicPr>
            <a:picLocks noChangeAspect="1"/>
          </p:cNvPicPr>
          <p:nvPr/>
        </p:nvPicPr>
        <p:blipFill>
          <a:blip r:embed="rId2"/>
          <a:stretch>
            <a:fillRect/>
          </a:stretch>
        </p:blipFill>
        <p:spPr>
          <a:xfrm>
            <a:off x="3962400" y="1517904"/>
            <a:ext cx="402336" cy="402336"/>
          </a:xfrm>
          <a:prstGeom prst="rect">
            <a:avLst/>
          </a:prstGeom>
        </p:spPr>
      </p:pic>
      <p:sp>
        <p:nvSpPr>
          <p:cNvPr id="12" name="Text 8"/>
          <p:cNvSpPr txBox="1"/>
          <p:nvPr/>
        </p:nvSpPr>
        <p:spPr>
          <a:xfrm>
            <a:off x="2785872" y="2221992"/>
            <a:ext cx="1652016" cy="438912"/>
          </a:xfrm>
          <a:prstGeom prst="rect">
            <a:avLst/>
          </a:prstGeom>
          <a:noFill/>
          <a:ln/>
        </p:spPr>
        <p:txBody>
          <a:bodyPr wrap="square" lIns="0" tIns="0" rIns="0" bIns="0" rtlCol="0" anchor="t"/>
          <a:lstStyle/>
          <a:p>
            <a:pPr indent="0" marL="0">
              <a:buNone/>
            </a:pPr>
            <a:r>
              <a:rPr lang="en-US" sz="1850" b="1" dirty="0">
                <a:solidFill>
                  <a:srgbClr val="202124"/>
                </a:solidFill>
                <a:latin typeface="Roboto" pitchFamily="34" charset="0"/>
                <a:ea typeface="Roboto" pitchFamily="34" charset="-122"/>
                <a:cs typeface="Roboto" pitchFamily="34" charset="-120"/>
              </a:rPr>
              <a:t>Tramuntana</a:t>
            </a:r>
            <a:endParaRPr lang="en-US" sz="1850" dirty="0"/>
          </a:p>
        </p:txBody>
      </p:sp>
      <p:sp>
        <p:nvSpPr>
          <p:cNvPr id="13" name="Vent Gregal"/>
          <p:cNvSpPr/>
          <p:nvPr/>
        </p:nvSpPr>
        <p:spPr>
          <a:xfrm>
            <a:off x="4657344" y="1371600"/>
            <a:ext cx="1926336" cy="1453896"/>
          </a:xfrm>
          <a:prstGeom prst="roundRect">
            <a:avLst>
              <a:gd name="adj" fmla="val 6918"/>
            </a:avLst>
          </a:prstGeom>
          <a:solidFill>
            <a:srgbClr val="FFFFFF"/>
          </a:solidFill>
          <a:ln w="12700">
            <a:solidFill>
              <a:srgbClr val="DADCE0"/>
            </a:solidFill>
            <a:prstDash val="solid"/>
          </a:ln>
        </p:spPr>
      </p:sp>
      <p:sp>
        <p:nvSpPr>
          <p:cNvPr id="14" name="Text 10"/>
          <p:cNvSpPr txBox="1"/>
          <p:nvPr/>
        </p:nvSpPr>
        <p:spPr>
          <a:xfrm>
            <a:off x="4840224" y="1517904"/>
            <a:ext cx="822960" cy="411480"/>
          </a:xfrm>
          <a:prstGeom prst="rect">
            <a:avLst/>
          </a:prstGeom>
          <a:noFill/>
          <a:ln/>
        </p:spPr>
        <p:txBody>
          <a:bodyPr wrap="square" lIns="0" tIns="0" rIns="0" bIns="0" rtlCol="0" anchor="t"/>
          <a:lstStyle/>
          <a:p>
            <a:pPr indent="0" marL="0">
              <a:buNone/>
            </a:pPr>
            <a:r>
              <a:rPr lang="en-US" sz="2000" b="1" dirty="0">
                <a:solidFill>
                  <a:srgbClr val="188038"/>
                </a:solidFill>
                <a:latin typeface="Roboto" pitchFamily="34" charset="0"/>
                <a:ea typeface="Roboto" pitchFamily="34" charset="-122"/>
                <a:cs typeface="Roboto" pitchFamily="34" charset="-120"/>
              </a:rPr>
              <a:t>NE</a:t>
            </a:r>
            <a:endParaRPr lang="en-US" sz="2000" dirty="0"/>
          </a:p>
        </p:txBody>
      </p:sp>
      <p:pic>
        <p:nvPicPr>
          <p:cNvPr id="15" name="Icona TbArrowDownLeft" descr="/home/claude/p857/build/img/ic/TbArrowDownLeft-g.png">    </p:cNvPr>
          <p:cNvPicPr>
            <a:picLocks noChangeAspect="1"/>
          </p:cNvPicPr>
          <p:nvPr/>
        </p:nvPicPr>
        <p:blipFill>
          <a:blip r:embed="rId3"/>
          <a:stretch>
            <a:fillRect/>
          </a:stretch>
        </p:blipFill>
        <p:spPr>
          <a:xfrm>
            <a:off x="6016752" y="1517904"/>
            <a:ext cx="402336" cy="402336"/>
          </a:xfrm>
          <a:prstGeom prst="rect">
            <a:avLst/>
          </a:prstGeom>
        </p:spPr>
      </p:pic>
      <p:sp>
        <p:nvSpPr>
          <p:cNvPr id="16" name="Text 11"/>
          <p:cNvSpPr txBox="1"/>
          <p:nvPr/>
        </p:nvSpPr>
        <p:spPr>
          <a:xfrm>
            <a:off x="4840224" y="2221992"/>
            <a:ext cx="1652016" cy="438912"/>
          </a:xfrm>
          <a:prstGeom prst="rect">
            <a:avLst/>
          </a:prstGeom>
          <a:noFill/>
          <a:ln/>
        </p:spPr>
        <p:txBody>
          <a:bodyPr wrap="square" lIns="0" tIns="0" rIns="0" bIns="0" rtlCol="0" anchor="t"/>
          <a:lstStyle/>
          <a:p>
            <a:pPr indent="0" marL="0">
              <a:buNone/>
            </a:pPr>
            <a:r>
              <a:rPr lang="en-US" sz="1850" dirty="0">
                <a:solidFill>
                  <a:srgbClr val="202124"/>
                </a:solidFill>
                <a:latin typeface="Roboto" pitchFamily="34" charset="0"/>
                <a:ea typeface="Roboto" pitchFamily="34" charset="-122"/>
                <a:cs typeface="Roboto" pitchFamily="34" charset="-120"/>
              </a:rPr>
              <a:t>Gregal</a:t>
            </a:r>
            <a:endParaRPr lang="en-US" sz="1850" dirty="0"/>
          </a:p>
        </p:txBody>
      </p:sp>
      <p:sp>
        <p:nvSpPr>
          <p:cNvPr id="17" name="Vent Ponent"/>
          <p:cNvSpPr/>
          <p:nvPr/>
        </p:nvSpPr>
        <p:spPr>
          <a:xfrm>
            <a:off x="548640" y="2953512"/>
            <a:ext cx="1926336" cy="1453896"/>
          </a:xfrm>
          <a:prstGeom prst="roundRect">
            <a:avLst>
              <a:gd name="adj" fmla="val 6918"/>
            </a:avLst>
          </a:prstGeom>
          <a:solidFill>
            <a:srgbClr val="E6F4EA"/>
          </a:solidFill>
          <a:ln/>
        </p:spPr>
      </p:sp>
      <p:sp>
        <p:nvSpPr>
          <p:cNvPr id="18" name="Text 13"/>
          <p:cNvSpPr txBox="1"/>
          <p:nvPr/>
        </p:nvSpPr>
        <p:spPr>
          <a:xfrm>
            <a:off x="731520" y="3099816"/>
            <a:ext cx="822960" cy="411480"/>
          </a:xfrm>
          <a:prstGeom prst="rect">
            <a:avLst/>
          </a:prstGeom>
          <a:noFill/>
          <a:ln/>
        </p:spPr>
        <p:txBody>
          <a:bodyPr wrap="square" lIns="0" tIns="0" rIns="0" bIns="0" rtlCol="0" anchor="t"/>
          <a:lstStyle/>
          <a:p>
            <a:pPr indent="0" marL="0">
              <a:buNone/>
            </a:pPr>
            <a:r>
              <a:rPr lang="en-US" sz="2000" b="1" dirty="0">
                <a:solidFill>
                  <a:srgbClr val="188038"/>
                </a:solidFill>
                <a:latin typeface="Roboto" pitchFamily="34" charset="0"/>
                <a:ea typeface="Roboto" pitchFamily="34" charset="-122"/>
                <a:cs typeface="Roboto" pitchFamily="34" charset="-120"/>
              </a:rPr>
              <a:t>O</a:t>
            </a:r>
            <a:endParaRPr lang="en-US" sz="2000" dirty="0"/>
          </a:p>
        </p:txBody>
      </p:sp>
      <p:pic>
        <p:nvPicPr>
          <p:cNvPr id="19" name="Icona TbArrowRight" descr="/home/claude/p857/build/img/ic/TbArrowRight-g.png">    </p:cNvPr>
          <p:cNvPicPr>
            <a:picLocks noChangeAspect="1"/>
          </p:cNvPicPr>
          <p:nvPr/>
        </p:nvPicPr>
        <p:blipFill>
          <a:blip r:embed="rId4"/>
          <a:stretch>
            <a:fillRect/>
          </a:stretch>
        </p:blipFill>
        <p:spPr>
          <a:xfrm>
            <a:off x="1908048" y="3099816"/>
            <a:ext cx="402336" cy="402336"/>
          </a:xfrm>
          <a:prstGeom prst="rect">
            <a:avLst/>
          </a:prstGeom>
        </p:spPr>
      </p:pic>
      <p:sp>
        <p:nvSpPr>
          <p:cNvPr id="20" name="Text 14"/>
          <p:cNvSpPr txBox="1"/>
          <p:nvPr/>
        </p:nvSpPr>
        <p:spPr>
          <a:xfrm>
            <a:off x="731520" y="3803904"/>
            <a:ext cx="1652016" cy="438912"/>
          </a:xfrm>
          <a:prstGeom prst="rect">
            <a:avLst/>
          </a:prstGeom>
          <a:noFill/>
          <a:ln/>
        </p:spPr>
        <p:txBody>
          <a:bodyPr wrap="square" lIns="0" tIns="0" rIns="0" bIns="0" rtlCol="0" anchor="t"/>
          <a:lstStyle/>
          <a:p>
            <a:pPr indent="0" marL="0">
              <a:buNone/>
            </a:pPr>
            <a:r>
              <a:rPr lang="en-US" sz="1850" b="1" dirty="0">
                <a:solidFill>
                  <a:srgbClr val="202124"/>
                </a:solidFill>
                <a:latin typeface="Roboto" pitchFamily="34" charset="0"/>
                <a:ea typeface="Roboto" pitchFamily="34" charset="-122"/>
                <a:cs typeface="Roboto" pitchFamily="34" charset="-120"/>
              </a:rPr>
              <a:t>Ponent</a:t>
            </a:r>
            <a:endParaRPr lang="en-US" sz="1850" dirty="0"/>
          </a:p>
        </p:txBody>
      </p:sp>
      <p:sp>
        <p:nvSpPr>
          <p:cNvPr id="21" name="Centre"/>
          <p:cNvSpPr/>
          <p:nvPr/>
        </p:nvSpPr>
        <p:spPr>
          <a:xfrm>
            <a:off x="2602992" y="2953512"/>
            <a:ext cx="1926336" cy="1453896"/>
          </a:xfrm>
          <a:prstGeom prst="roundRect">
            <a:avLst>
              <a:gd name="adj" fmla="val 6918"/>
            </a:avLst>
          </a:prstGeom>
          <a:solidFill>
            <a:srgbClr val="188038"/>
          </a:solidFill>
          <a:ln/>
        </p:spPr>
      </p:sp>
      <p:pic>
        <p:nvPicPr>
          <p:cNvPr id="22" name="Icona TbWind" descr="/home/claude/p857/build/img/ic/TbWind-w.png">    </p:cNvPr>
          <p:cNvPicPr>
            <a:picLocks noChangeAspect="1"/>
          </p:cNvPicPr>
          <p:nvPr/>
        </p:nvPicPr>
        <p:blipFill>
          <a:blip r:embed="rId5"/>
          <a:stretch>
            <a:fillRect/>
          </a:stretch>
        </p:blipFill>
        <p:spPr>
          <a:xfrm>
            <a:off x="3200400" y="3227832"/>
            <a:ext cx="731520" cy="731520"/>
          </a:xfrm>
          <a:prstGeom prst="rect">
            <a:avLst/>
          </a:prstGeom>
        </p:spPr>
      </p:pic>
      <p:sp>
        <p:nvSpPr>
          <p:cNvPr id="23" name="Text 16"/>
          <p:cNvSpPr txBox="1"/>
          <p:nvPr/>
        </p:nvSpPr>
        <p:spPr>
          <a:xfrm>
            <a:off x="2602992" y="3959352"/>
            <a:ext cx="1926336" cy="365760"/>
          </a:xfrm>
          <a:prstGeom prst="rect">
            <a:avLst/>
          </a:prstGeom>
          <a:noFill/>
          <a:ln/>
        </p:spPr>
        <p:txBody>
          <a:bodyPr wrap="square" lIns="0" tIns="0" rIns="0" bIns="0" rtlCol="0" anchor="t"/>
          <a:lstStyle/>
          <a:p>
            <a:pPr algn="ctr" indent="0" marL="0">
              <a:buNone/>
            </a:pPr>
            <a:r>
              <a:rPr lang="en-US" sz="1500" b="1" dirty="0">
                <a:solidFill>
                  <a:srgbClr val="FFFFFF"/>
                </a:solidFill>
                <a:latin typeface="Roboto" pitchFamily="34" charset="0"/>
                <a:ea typeface="Roboto" pitchFamily="34" charset="-122"/>
                <a:cs typeface="Roboto" pitchFamily="34" charset="-120"/>
              </a:rPr>
              <a:t>D'on bufa?</a:t>
            </a:r>
            <a:endParaRPr lang="en-US" sz="1500" dirty="0"/>
          </a:p>
        </p:txBody>
      </p:sp>
      <p:sp>
        <p:nvSpPr>
          <p:cNvPr id="24" name="Vent Llevant"/>
          <p:cNvSpPr/>
          <p:nvPr/>
        </p:nvSpPr>
        <p:spPr>
          <a:xfrm>
            <a:off x="4657344" y="2953512"/>
            <a:ext cx="1926336" cy="1453896"/>
          </a:xfrm>
          <a:prstGeom prst="roundRect">
            <a:avLst>
              <a:gd name="adj" fmla="val 6918"/>
            </a:avLst>
          </a:prstGeom>
          <a:solidFill>
            <a:srgbClr val="E6F4EA"/>
          </a:solidFill>
          <a:ln/>
        </p:spPr>
      </p:sp>
      <p:sp>
        <p:nvSpPr>
          <p:cNvPr id="25" name="Text 18"/>
          <p:cNvSpPr txBox="1"/>
          <p:nvPr/>
        </p:nvSpPr>
        <p:spPr>
          <a:xfrm>
            <a:off x="4840224" y="3099816"/>
            <a:ext cx="822960" cy="411480"/>
          </a:xfrm>
          <a:prstGeom prst="rect">
            <a:avLst/>
          </a:prstGeom>
          <a:noFill/>
          <a:ln/>
        </p:spPr>
        <p:txBody>
          <a:bodyPr wrap="square" lIns="0" tIns="0" rIns="0" bIns="0" rtlCol="0" anchor="t"/>
          <a:lstStyle/>
          <a:p>
            <a:pPr indent="0" marL="0">
              <a:buNone/>
            </a:pPr>
            <a:r>
              <a:rPr lang="en-US" sz="2000" b="1" dirty="0">
                <a:solidFill>
                  <a:srgbClr val="188038"/>
                </a:solidFill>
                <a:latin typeface="Roboto" pitchFamily="34" charset="0"/>
                <a:ea typeface="Roboto" pitchFamily="34" charset="-122"/>
                <a:cs typeface="Roboto" pitchFamily="34" charset="-120"/>
              </a:rPr>
              <a:t>E</a:t>
            </a:r>
            <a:endParaRPr lang="en-US" sz="2000" dirty="0"/>
          </a:p>
        </p:txBody>
      </p:sp>
      <p:pic>
        <p:nvPicPr>
          <p:cNvPr id="26" name="Icona TbArrowLeft" descr="/home/claude/p857/build/img/ic/TbArrowLeft-g.png">    </p:cNvPr>
          <p:cNvPicPr>
            <a:picLocks noChangeAspect="1"/>
          </p:cNvPicPr>
          <p:nvPr/>
        </p:nvPicPr>
        <p:blipFill>
          <a:blip r:embed="rId6"/>
          <a:stretch>
            <a:fillRect/>
          </a:stretch>
        </p:blipFill>
        <p:spPr>
          <a:xfrm>
            <a:off x="6016752" y="3099816"/>
            <a:ext cx="402336" cy="402336"/>
          </a:xfrm>
          <a:prstGeom prst="rect">
            <a:avLst/>
          </a:prstGeom>
        </p:spPr>
      </p:pic>
      <p:sp>
        <p:nvSpPr>
          <p:cNvPr id="27" name="Text 19"/>
          <p:cNvSpPr txBox="1"/>
          <p:nvPr/>
        </p:nvSpPr>
        <p:spPr>
          <a:xfrm>
            <a:off x="4840224" y="3803904"/>
            <a:ext cx="1652016" cy="438912"/>
          </a:xfrm>
          <a:prstGeom prst="rect">
            <a:avLst/>
          </a:prstGeom>
          <a:noFill/>
          <a:ln/>
        </p:spPr>
        <p:txBody>
          <a:bodyPr wrap="square" lIns="0" tIns="0" rIns="0" bIns="0" rtlCol="0" anchor="t"/>
          <a:lstStyle/>
          <a:p>
            <a:pPr indent="0" marL="0">
              <a:buNone/>
            </a:pPr>
            <a:r>
              <a:rPr lang="en-US" sz="1850" b="1" dirty="0">
                <a:solidFill>
                  <a:srgbClr val="202124"/>
                </a:solidFill>
                <a:latin typeface="Roboto" pitchFamily="34" charset="0"/>
                <a:ea typeface="Roboto" pitchFamily="34" charset="-122"/>
                <a:cs typeface="Roboto" pitchFamily="34" charset="-120"/>
              </a:rPr>
              <a:t>Llevant</a:t>
            </a:r>
            <a:endParaRPr lang="en-US" sz="1850" dirty="0"/>
          </a:p>
        </p:txBody>
      </p:sp>
      <p:sp>
        <p:nvSpPr>
          <p:cNvPr id="28" name="Vent Garbí"/>
          <p:cNvSpPr/>
          <p:nvPr/>
        </p:nvSpPr>
        <p:spPr>
          <a:xfrm>
            <a:off x="548640" y="4535424"/>
            <a:ext cx="1926336" cy="1453896"/>
          </a:xfrm>
          <a:prstGeom prst="roundRect">
            <a:avLst>
              <a:gd name="adj" fmla="val 6918"/>
            </a:avLst>
          </a:prstGeom>
          <a:solidFill>
            <a:srgbClr val="FFFFFF"/>
          </a:solidFill>
          <a:ln w="12700">
            <a:solidFill>
              <a:srgbClr val="DADCE0"/>
            </a:solidFill>
            <a:prstDash val="solid"/>
          </a:ln>
        </p:spPr>
      </p:sp>
      <p:sp>
        <p:nvSpPr>
          <p:cNvPr id="29" name="Text 21"/>
          <p:cNvSpPr txBox="1"/>
          <p:nvPr/>
        </p:nvSpPr>
        <p:spPr>
          <a:xfrm>
            <a:off x="731520" y="4681728"/>
            <a:ext cx="822960" cy="411480"/>
          </a:xfrm>
          <a:prstGeom prst="rect">
            <a:avLst/>
          </a:prstGeom>
          <a:noFill/>
          <a:ln/>
        </p:spPr>
        <p:txBody>
          <a:bodyPr wrap="square" lIns="0" tIns="0" rIns="0" bIns="0" rtlCol="0" anchor="t"/>
          <a:lstStyle/>
          <a:p>
            <a:pPr indent="0" marL="0">
              <a:buNone/>
            </a:pPr>
            <a:r>
              <a:rPr lang="en-US" sz="2000" b="1" dirty="0">
                <a:solidFill>
                  <a:srgbClr val="188038"/>
                </a:solidFill>
                <a:latin typeface="Roboto" pitchFamily="34" charset="0"/>
                <a:ea typeface="Roboto" pitchFamily="34" charset="-122"/>
                <a:cs typeface="Roboto" pitchFamily="34" charset="-120"/>
              </a:rPr>
              <a:t>SO</a:t>
            </a:r>
            <a:endParaRPr lang="en-US" sz="2000" dirty="0"/>
          </a:p>
        </p:txBody>
      </p:sp>
      <p:pic>
        <p:nvPicPr>
          <p:cNvPr id="30" name="Icona TbArrowUpRight" descr="/home/claude/p857/build/img/ic/TbArrowUpRight-g.png">    </p:cNvPr>
          <p:cNvPicPr>
            <a:picLocks noChangeAspect="1"/>
          </p:cNvPicPr>
          <p:nvPr/>
        </p:nvPicPr>
        <p:blipFill>
          <a:blip r:embed="rId7"/>
          <a:stretch>
            <a:fillRect/>
          </a:stretch>
        </p:blipFill>
        <p:spPr>
          <a:xfrm>
            <a:off x="1908048" y="4681728"/>
            <a:ext cx="402336" cy="402336"/>
          </a:xfrm>
          <a:prstGeom prst="rect">
            <a:avLst/>
          </a:prstGeom>
        </p:spPr>
      </p:pic>
      <p:sp>
        <p:nvSpPr>
          <p:cNvPr id="31" name="Text 22"/>
          <p:cNvSpPr txBox="1"/>
          <p:nvPr/>
        </p:nvSpPr>
        <p:spPr>
          <a:xfrm>
            <a:off x="731520" y="5385816"/>
            <a:ext cx="1652016" cy="438912"/>
          </a:xfrm>
          <a:prstGeom prst="rect">
            <a:avLst/>
          </a:prstGeom>
          <a:noFill/>
          <a:ln/>
        </p:spPr>
        <p:txBody>
          <a:bodyPr wrap="square" lIns="0" tIns="0" rIns="0" bIns="0" rtlCol="0" anchor="t"/>
          <a:lstStyle/>
          <a:p>
            <a:pPr indent="0" marL="0">
              <a:buNone/>
            </a:pPr>
            <a:r>
              <a:rPr lang="en-US" sz="1850" dirty="0">
                <a:solidFill>
                  <a:srgbClr val="202124"/>
                </a:solidFill>
                <a:latin typeface="Roboto" pitchFamily="34" charset="0"/>
                <a:ea typeface="Roboto" pitchFamily="34" charset="-122"/>
                <a:cs typeface="Roboto" pitchFamily="34" charset="-120"/>
              </a:rPr>
              <a:t>Garbí</a:t>
            </a:r>
            <a:endParaRPr lang="en-US" sz="1850" dirty="0"/>
          </a:p>
        </p:txBody>
      </p:sp>
      <p:sp>
        <p:nvSpPr>
          <p:cNvPr id="32" name="Vent Migjorn"/>
          <p:cNvSpPr/>
          <p:nvPr/>
        </p:nvSpPr>
        <p:spPr>
          <a:xfrm>
            <a:off x="2602992" y="4535424"/>
            <a:ext cx="1926336" cy="1453896"/>
          </a:xfrm>
          <a:prstGeom prst="roundRect">
            <a:avLst>
              <a:gd name="adj" fmla="val 6918"/>
            </a:avLst>
          </a:prstGeom>
          <a:solidFill>
            <a:srgbClr val="E6F4EA"/>
          </a:solidFill>
          <a:ln/>
        </p:spPr>
      </p:sp>
      <p:sp>
        <p:nvSpPr>
          <p:cNvPr id="33" name="Text 24"/>
          <p:cNvSpPr txBox="1"/>
          <p:nvPr/>
        </p:nvSpPr>
        <p:spPr>
          <a:xfrm>
            <a:off x="2785872" y="4681728"/>
            <a:ext cx="822960" cy="411480"/>
          </a:xfrm>
          <a:prstGeom prst="rect">
            <a:avLst/>
          </a:prstGeom>
          <a:noFill/>
          <a:ln/>
        </p:spPr>
        <p:txBody>
          <a:bodyPr wrap="square" lIns="0" tIns="0" rIns="0" bIns="0" rtlCol="0" anchor="t"/>
          <a:lstStyle/>
          <a:p>
            <a:pPr indent="0" marL="0">
              <a:buNone/>
            </a:pPr>
            <a:r>
              <a:rPr lang="en-US" sz="2000" b="1" dirty="0">
                <a:solidFill>
                  <a:srgbClr val="188038"/>
                </a:solidFill>
                <a:latin typeface="Roboto" pitchFamily="34" charset="0"/>
                <a:ea typeface="Roboto" pitchFamily="34" charset="-122"/>
                <a:cs typeface="Roboto" pitchFamily="34" charset="-120"/>
              </a:rPr>
              <a:t>S</a:t>
            </a:r>
            <a:endParaRPr lang="en-US" sz="2000" dirty="0"/>
          </a:p>
        </p:txBody>
      </p:sp>
      <p:pic>
        <p:nvPicPr>
          <p:cNvPr id="34" name="Icona TbArrowUp" descr="/home/claude/p857/build/img/ic/TbArrowUp-g.png">    </p:cNvPr>
          <p:cNvPicPr>
            <a:picLocks noChangeAspect="1"/>
          </p:cNvPicPr>
          <p:nvPr/>
        </p:nvPicPr>
        <p:blipFill>
          <a:blip r:embed="rId8"/>
          <a:stretch>
            <a:fillRect/>
          </a:stretch>
        </p:blipFill>
        <p:spPr>
          <a:xfrm>
            <a:off x="3962400" y="4681728"/>
            <a:ext cx="402336" cy="402336"/>
          </a:xfrm>
          <a:prstGeom prst="rect">
            <a:avLst/>
          </a:prstGeom>
        </p:spPr>
      </p:pic>
      <p:sp>
        <p:nvSpPr>
          <p:cNvPr id="35" name="Text 25"/>
          <p:cNvSpPr txBox="1"/>
          <p:nvPr/>
        </p:nvSpPr>
        <p:spPr>
          <a:xfrm>
            <a:off x="2785872" y="5385816"/>
            <a:ext cx="1652016" cy="438912"/>
          </a:xfrm>
          <a:prstGeom prst="rect">
            <a:avLst/>
          </a:prstGeom>
          <a:noFill/>
          <a:ln/>
        </p:spPr>
        <p:txBody>
          <a:bodyPr wrap="square" lIns="0" tIns="0" rIns="0" bIns="0" rtlCol="0" anchor="t"/>
          <a:lstStyle/>
          <a:p>
            <a:pPr indent="0" marL="0">
              <a:buNone/>
            </a:pPr>
            <a:r>
              <a:rPr lang="en-US" sz="1850" b="1" dirty="0">
                <a:solidFill>
                  <a:srgbClr val="202124"/>
                </a:solidFill>
                <a:latin typeface="Roboto" pitchFamily="34" charset="0"/>
                <a:ea typeface="Roboto" pitchFamily="34" charset="-122"/>
                <a:cs typeface="Roboto" pitchFamily="34" charset="-120"/>
              </a:rPr>
              <a:t>Migjorn</a:t>
            </a:r>
            <a:endParaRPr lang="en-US" sz="1850" dirty="0"/>
          </a:p>
        </p:txBody>
      </p:sp>
      <p:sp>
        <p:nvSpPr>
          <p:cNvPr id="36" name="Vent Xaloc"/>
          <p:cNvSpPr/>
          <p:nvPr/>
        </p:nvSpPr>
        <p:spPr>
          <a:xfrm>
            <a:off x="4657344" y="4535424"/>
            <a:ext cx="1926336" cy="1453896"/>
          </a:xfrm>
          <a:prstGeom prst="roundRect">
            <a:avLst>
              <a:gd name="adj" fmla="val 6918"/>
            </a:avLst>
          </a:prstGeom>
          <a:solidFill>
            <a:srgbClr val="FFFFFF"/>
          </a:solidFill>
          <a:ln w="12700">
            <a:solidFill>
              <a:srgbClr val="DADCE0"/>
            </a:solidFill>
            <a:prstDash val="solid"/>
          </a:ln>
        </p:spPr>
      </p:sp>
      <p:sp>
        <p:nvSpPr>
          <p:cNvPr id="37" name="Text 27"/>
          <p:cNvSpPr txBox="1"/>
          <p:nvPr/>
        </p:nvSpPr>
        <p:spPr>
          <a:xfrm>
            <a:off x="4840224" y="4681728"/>
            <a:ext cx="822960" cy="411480"/>
          </a:xfrm>
          <a:prstGeom prst="rect">
            <a:avLst/>
          </a:prstGeom>
          <a:noFill/>
          <a:ln/>
        </p:spPr>
        <p:txBody>
          <a:bodyPr wrap="square" lIns="0" tIns="0" rIns="0" bIns="0" rtlCol="0" anchor="t"/>
          <a:lstStyle/>
          <a:p>
            <a:pPr indent="0" marL="0">
              <a:buNone/>
            </a:pPr>
            <a:r>
              <a:rPr lang="en-US" sz="2000" b="1" dirty="0">
                <a:solidFill>
                  <a:srgbClr val="188038"/>
                </a:solidFill>
                <a:latin typeface="Roboto" pitchFamily="34" charset="0"/>
                <a:ea typeface="Roboto" pitchFamily="34" charset="-122"/>
                <a:cs typeface="Roboto" pitchFamily="34" charset="-120"/>
              </a:rPr>
              <a:t>SE</a:t>
            </a:r>
            <a:endParaRPr lang="en-US" sz="2000" dirty="0"/>
          </a:p>
        </p:txBody>
      </p:sp>
      <p:pic>
        <p:nvPicPr>
          <p:cNvPr id="38" name="Icona TbArrowUpLeft" descr="/home/claude/p857/build/img/ic/TbArrowUpLeft-g.png">    </p:cNvPr>
          <p:cNvPicPr>
            <a:picLocks noChangeAspect="1"/>
          </p:cNvPicPr>
          <p:nvPr/>
        </p:nvPicPr>
        <p:blipFill>
          <a:blip r:embed="rId9"/>
          <a:stretch>
            <a:fillRect/>
          </a:stretch>
        </p:blipFill>
        <p:spPr>
          <a:xfrm>
            <a:off x="6016752" y="4681728"/>
            <a:ext cx="402336" cy="402336"/>
          </a:xfrm>
          <a:prstGeom prst="rect">
            <a:avLst/>
          </a:prstGeom>
        </p:spPr>
      </p:pic>
      <p:sp>
        <p:nvSpPr>
          <p:cNvPr id="39" name="Text 28"/>
          <p:cNvSpPr txBox="1"/>
          <p:nvPr/>
        </p:nvSpPr>
        <p:spPr>
          <a:xfrm>
            <a:off x="4840224" y="5385816"/>
            <a:ext cx="1652016" cy="438912"/>
          </a:xfrm>
          <a:prstGeom prst="rect">
            <a:avLst/>
          </a:prstGeom>
          <a:noFill/>
          <a:ln/>
        </p:spPr>
        <p:txBody>
          <a:bodyPr wrap="square" lIns="0" tIns="0" rIns="0" bIns="0" rtlCol="0" anchor="t"/>
          <a:lstStyle/>
          <a:p>
            <a:pPr indent="0" marL="0">
              <a:buNone/>
            </a:pPr>
            <a:r>
              <a:rPr lang="en-US" sz="1850" dirty="0">
                <a:solidFill>
                  <a:srgbClr val="202124"/>
                </a:solidFill>
                <a:latin typeface="Roboto" pitchFamily="34" charset="0"/>
                <a:ea typeface="Roboto" pitchFamily="34" charset="-122"/>
                <a:cs typeface="Roboto" pitchFamily="34" charset="-120"/>
              </a:rPr>
              <a:t>Xaloc</a:t>
            </a:r>
            <a:endParaRPr lang="en-US" sz="1850" dirty="0"/>
          </a:p>
        </p:txBody>
      </p:sp>
      <p:sp>
        <p:nvSpPr>
          <p:cNvPr id="40" name="Saps que…?"/>
          <p:cNvSpPr/>
          <p:nvPr/>
        </p:nvSpPr>
        <p:spPr>
          <a:xfrm>
            <a:off x="6903720" y="1371600"/>
            <a:ext cx="4739335" cy="2377440"/>
          </a:xfrm>
          <a:prstGeom prst="roundRect">
            <a:avLst>
              <a:gd name="adj" fmla="val 4231"/>
            </a:avLst>
          </a:prstGeom>
          <a:solidFill>
            <a:srgbClr val="E6F4EA"/>
          </a:solidFill>
          <a:ln/>
        </p:spPr>
      </p:sp>
      <p:sp>
        <p:nvSpPr>
          <p:cNvPr id="41" name="Text 30"/>
          <p:cNvSpPr txBox="1"/>
          <p:nvPr/>
        </p:nvSpPr>
        <p:spPr>
          <a:xfrm>
            <a:off x="7223760" y="1527048"/>
            <a:ext cx="4099255" cy="320040"/>
          </a:xfrm>
          <a:prstGeom prst="rect">
            <a:avLst/>
          </a:prstGeom>
          <a:noFill/>
          <a:ln/>
        </p:spPr>
        <p:txBody>
          <a:bodyPr wrap="square" lIns="0" tIns="0" rIns="0" bIns="0" rtlCol="0" anchor="t"/>
          <a:lstStyle/>
          <a:p>
            <a:pPr indent="0" marL="0">
              <a:buNone/>
            </a:pPr>
            <a:r>
              <a:rPr lang="en-US" sz="1400" b="1" dirty="0">
                <a:solidFill>
                  <a:srgbClr val="188038"/>
                </a:solidFill>
                <a:latin typeface="Roboto" pitchFamily="34" charset="0"/>
                <a:ea typeface="Roboto" pitchFamily="34" charset="-122"/>
                <a:cs typeface="Roboto" pitchFamily="34" charset="-120"/>
              </a:rPr>
              <a:t>Saps que…?</a:t>
            </a:r>
            <a:endParaRPr lang="en-US" sz="1400" dirty="0"/>
          </a:p>
        </p:txBody>
      </p:sp>
      <p:sp>
        <p:nvSpPr>
          <p:cNvPr id="42" name="Text 31"/>
          <p:cNvSpPr txBox="1"/>
          <p:nvPr/>
        </p:nvSpPr>
        <p:spPr>
          <a:xfrm>
            <a:off x="7223760" y="1874520"/>
            <a:ext cx="4099255" cy="1737360"/>
          </a:xfrm>
          <a:prstGeom prst="rect">
            <a:avLst/>
          </a:prstGeom>
          <a:noFill/>
          <a:ln/>
        </p:spPr>
        <p:txBody>
          <a:bodyPr wrap="square" lIns="0" tIns="0" rIns="0" bIns="0" rtlCol="0" anchor="t"/>
          <a:lstStyle/>
          <a:p>
            <a:pPr indent="0" marL="0">
              <a:buNone/>
            </a:pPr>
            <a:r>
              <a:rPr lang="en-US" sz="1800" dirty="0">
                <a:solidFill>
                  <a:srgbClr val="202124"/>
                </a:solidFill>
                <a:latin typeface="Roboto" pitchFamily="34" charset="0"/>
                <a:ea typeface="Roboto" pitchFamily="34" charset="-122"/>
                <a:cs typeface="Roboto" pitchFamily="34" charset="-120"/>
              </a:rPr>
              <a:t>Els mariners catalans de l'edat mitjana donaven nom a cada vent segons d'on bufava. Per això el dibuix es diu rosa dels vents.</a:t>
            </a:r>
            <a:endParaRPr lang="en-US" sz="1800" dirty="0"/>
          </a:p>
        </p:txBody>
      </p:sp>
      <p:sp>
        <p:nvSpPr>
          <p:cNvPr id="43" name="Fixa-t'hi"/>
          <p:cNvSpPr/>
          <p:nvPr/>
        </p:nvSpPr>
        <p:spPr>
          <a:xfrm>
            <a:off x="6903720" y="3977640"/>
            <a:ext cx="4739335" cy="2011680"/>
          </a:xfrm>
          <a:prstGeom prst="roundRect">
            <a:avLst>
              <a:gd name="adj" fmla="val 5000"/>
            </a:avLst>
          </a:prstGeom>
          <a:solidFill>
            <a:srgbClr val="F6F8FB"/>
          </a:solidFill>
          <a:ln/>
        </p:spPr>
      </p:sp>
      <p:sp>
        <p:nvSpPr>
          <p:cNvPr id="44" name="Text 33"/>
          <p:cNvSpPr txBox="1"/>
          <p:nvPr/>
        </p:nvSpPr>
        <p:spPr>
          <a:xfrm>
            <a:off x="7223760" y="4133088"/>
            <a:ext cx="4099255" cy="320040"/>
          </a:xfrm>
          <a:prstGeom prst="rect">
            <a:avLst/>
          </a:prstGeom>
          <a:noFill/>
          <a:ln/>
        </p:spPr>
        <p:txBody>
          <a:bodyPr wrap="square" lIns="0" tIns="0" rIns="0" bIns="0" rtlCol="0" anchor="t"/>
          <a:lstStyle/>
          <a:p>
            <a:pPr indent="0" marL="0">
              <a:buNone/>
            </a:pPr>
            <a:r>
              <a:rPr lang="en-US" sz="1400" b="1" dirty="0">
                <a:solidFill>
                  <a:srgbClr val="202124"/>
                </a:solidFill>
                <a:latin typeface="Roboto" pitchFamily="34" charset="0"/>
                <a:ea typeface="Roboto" pitchFamily="34" charset="-122"/>
                <a:cs typeface="Roboto" pitchFamily="34" charset="-120"/>
              </a:rPr>
              <a:t>Fixa-t'hi</a:t>
            </a:r>
            <a:endParaRPr lang="en-US" sz="1400" dirty="0"/>
          </a:p>
        </p:txBody>
      </p:sp>
      <p:sp>
        <p:nvSpPr>
          <p:cNvPr id="45" name="Text 34"/>
          <p:cNvSpPr txBox="1"/>
          <p:nvPr/>
        </p:nvSpPr>
        <p:spPr>
          <a:xfrm>
            <a:off x="7223760" y="4480560"/>
            <a:ext cx="4099255" cy="1371600"/>
          </a:xfrm>
          <a:prstGeom prst="rect">
            <a:avLst/>
          </a:prstGeom>
          <a:noFill/>
          <a:ln/>
        </p:spPr>
        <p:txBody>
          <a:bodyPr wrap="square" lIns="0" tIns="0" rIns="0" bIns="0" rtlCol="0" anchor="t"/>
          <a:lstStyle/>
          <a:p>
            <a:pPr indent="0" marL="0">
              <a:buNone/>
            </a:pPr>
            <a:r>
              <a:rPr lang="en-US" sz="1800" dirty="0">
                <a:solidFill>
                  <a:srgbClr val="5F6368"/>
                </a:solidFill>
                <a:latin typeface="Roboto" pitchFamily="34" charset="0"/>
                <a:ea typeface="Roboto" pitchFamily="34" charset="-122"/>
                <a:cs typeface="Roboto" pitchFamily="34" charset="-120"/>
              </a:rPr>
              <a:t>La tramuntana ve del nord. Per això la seva fletxa apunta cap al sud, cap on bufa.</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1</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Fes-ho tu. Orienta't al pati</a:t>
            </a:r>
            <a:endParaRPr lang="en-US" sz="2800" dirty="0"/>
          </a:p>
        </p:txBody>
      </p:sp>
      <p:sp>
        <p:nvSpPr>
          <p:cNvPr id="5" name="Pas 1"/>
          <p:cNvSpPr/>
          <p:nvPr/>
        </p:nvSpPr>
        <p:spPr>
          <a:xfrm>
            <a:off x="548640" y="1371600"/>
            <a:ext cx="3362858" cy="2926080"/>
          </a:xfrm>
          <a:prstGeom prst="roundRect">
            <a:avLst>
              <a:gd name="adj" fmla="val 3438"/>
            </a:avLst>
          </a:prstGeom>
          <a:solidFill>
            <a:srgbClr val="FFFFFF"/>
          </a:solidFill>
          <a:ln w="12700">
            <a:solidFill>
              <a:srgbClr val="DADCE0"/>
            </a:solidFill>
            <a:prstDash val="solid"/>
          </a:ln>
        </p:spPr>
      </p:sp>
      <p:sp>
        <p:nvSpPr>
          <p:cNvPr id="6" name="Cercle icona"/>
          <p:cNvSpPr/>
          <p:nvPr/>
        </p:nvSpPr>
        <p:spPr>
          <a:xfrm>
            <a:off x="804672" y="1627632"/>
            <a:ext cx="731520" cy="731520"/>
          </a:xfrm>
          <a:prstGeom prst="ellipse">
            <a:avLst/>
          </a:prstGeom>
          <a:solidFill>
            <a:srgbClr val="E6F4EA"/>
          </a:solidFill>
          <a:ln/>
        </p:spPr>
      </p:sp>
      <p:pic>
        <p:nvPicPr>
          <p:cNvPr id="7" name="Icona TbCompass" descr="/home/claude/p857/build/img/ic/TbCompass-g.png">    </p:cNvPr>
          <p:cNvPicPr>
            <a:picLocks noChangeAspect="1"/>
          </p:cNvPicPr>
          <p:nvPr/>
        </p:nvPicPr>
        <p:blipFill>
          <a:blip r:embed="rId1"/>
          <a:stretch>
            <a:fillRect/>
          </a:stretch>
        </p:blipFill>
        <p:spPr>
          <a:xfrm>
            <a:off x="965606" y="1788566"/>
            <a:ext cx="409651" cy="409651"/>
          </a:xfrm>
          <a:prstGeom prst="rect">
            <a:avLst/>
          </a:prstGeom>
        </p:spPr>
      </p:pic>
      <p:sp>
        <p:nvSpPr>
          <p:cNvPr id="8" name="Text 5"/>
          <p:cNvSpPr txBox="1"/>
          <p:nvPr/>
        </p:nvSpPr>
        <p:spPr>
          <a:xfrm>
            <a:off x="3225698" y="1627632"/>
            <a:ext cx="411480" cy="411480"/>
          </a:xfrm>
          <a:prstGeom prst="rect">
            <a:avLst/>
          </a:prstGeom>
          <a:noFill/>
          <a:ln/>
        </p:spPr>
        <p:txBody>
          <a:bodyPr wrap="square" lIns="0" tIns="0" rIns="0" bIns="0" rtlCol="0" anchor="t"/>
          <a:lstStyle/>
          <a:p>
            <a:pPr algn="r" indent="0" marL="0">
              <a:buNone/>
            </a:pPr>
            <a:r>
              <a:rPr lang="en-US" sz="2200" b="1" dirty="0">
                <a:solidFill>
                  <a:srgbClr val="DADCE0"/>
                </a:solidFill>
                <a:latin typeface="Roboto" pitchFamily="34" charset="0"/>
                <a:ea typeface="Roboto" pitchFamily="34" charset="-122"/>
                <a:cs typeface="Roboto" pitchFamily="34" charset="-120"/>
              </a:rPr>
              <a:t>1</a:t>
            </a:r>
            <a:endParaRPr lang="en-US" sz="2200" dirty="0"/>
          </a:p>
        </p:txBody>
      </p:sp>
      <p:sp>
        <p:nvSpPr>
          <p:cNvPr id="9" name="Text 6"/>
          <p:cNvSpPr txBox="1"/>
          <p:nvPr/>
        </p:nvSpPr>
        <p:spPr>
          <a:xfrm>
            <a:off x="804672" y="2514600"/>
            <a:ext cx="2850794" cy="333375"/>
          </a:xfrm>
          <a:prstGeom prst="rect">
            <a:avLst/>
          </a:prstGeom>
          <a:noFill/>
          <a:ln/>
        </p:spPr>
        <p:txBody>
          <a:bodyPr wrap="square" lIns="0" tIns="0" rIns="0" bIns="0" rtlCol="0" anchor="t"/>
          <a:lstStyle/>
          <a:p>
            <a:pPr indent="0" marL="0">
              <a:buNone/>
            </a:pPr>
            <a:r>
              <a:rPr lang="en-US" sz="2100" b="1" dirty="0">
                <a:solidFill>
                  <a:srgbClr val="188038"/>
                </a:solidFill>
                <a:latin typeface="Roboto" pitchFamily="34" charset="0"/>
                <a:ea typeface="Roboto" pitchFamily="34" charset="-122"/>
                <a:cs typeface="Roboto" pitchFamily="34" charset="-120"/>
              </a:rPr>
              <a:t>Troba el nord</a:t>
            </a:r>
            <a:endParaRPr lang="en-US" sz="2100" dirty="0"/>
          </a:p>
        </p:txBody>
      </p:sp>
      <p:sp>
        <p:nvSpPr>
          <p:cNvPr id="10" name="Text 7"/>
          <p:cNvSpPr txBox="1"/>
          <p:nvPr/>
        </p:nvSpPr>
        <p:spPr>
          <a:xfrm>
            <a:off x="804672" y="2911983"/>
            <a:ext cx="2850794" cy="1294257"/>
          </a:xfrm>
          <a:prstGeom prst="rect">
            <a:avLst/>
          </a:prstGeom>
          <a:noFill/>
          <a:ln/>
        </p:spPr>
        <p:txBody>
          <a:bodyPr wrap="square" lIns="0" tIns="0" rIns="0" bIns="0" rtlCol="0" anchor="t"/>
          <a:lstStyle/>
          <a:p>
            <a:pPr indent="0" marL="0">
              <a:buNone/>
            </a:pPr>
            <a:r>
              <a:rPr lang="en-US" sz="1950" dirty="0">
                <a:solidFill>
                  <a:srgbClr val="202124"/>
                </a:solidFill>
                <a:latin typeface="Roboto" pitchFamily="34" charset="0"/>
                <a:ea typeface="Roboto" pitchFamily="34" charset="-122"/>
                <a:cs typeface="Roboto" pitchFamily="34" charset="-120"/>
              </a:rPr>
              <a:t>Amb una brúixola o amb l'aplicació del mòbil.</a:t>
            </a:r>
            <a:endParaRPr lang="en-US" sz="1950" dirty="0"/>
          </a:p>
        </p:txBody>
      </p:sp>
      <p:sp>
        <p:nvSpPr>
          <p:cNvPr id="11" name="Fletxa"/>
          <p:cNvSpPr/>
          <p:nvPr/>
        </p:nvSpPr>
        <p:spPr>
          <a:xfrm>
            <a:off x="4071518" y="2697480"/>
            <a:ext cx="182880" cy="274320"/>
          </a:xfrm>
          <a:prstGeom prst="chevron">
            <a:avLst/>
          </a:prstGeom>
          <a:solidFill>
            <a:srgbClr val="188038"/>
          </a:solidFill>
          <a:ln/>
        </p:spPr>
      </p:sp>
      <p:sp>
        <p:nvSpPr>
          <p:cNvPr id="12" name="Pas 2"/>
          <p:cNvSpPr/>
          <p:nvPr/>
        </p:nvSpPr>
        <p:spPr>
          <a:xfrm>
            <a:off x="4414418" y="1371600"/>
            <a:ext cx="3362858" cy="2926080"/>
          </a:xfrm>
          <a:prstGeom prst="roundRect">
            <a:avLst>
              <a:gd name="adj" fmla="val 3438"/>
            </a:avLst>
          </a:prstGeom>
          <a:solidFill>
            <a:srgbClr val="FFFFFF"/>
          </a:solidFill>
          <a:ln w="12700">
            <a:solidFill>
              <a:srgbClr val="DADCE0"/>
            </a:solidFill>
            <a:prstDash val="solid"/>
          </a:ln>
        </p:spPr>
      </p:sp>
      <p:sp>
        <p:nvSpPr>
          <p:cNvPr id="13" name="Cercle icona"/>
          <p:cNvSpPr/>
          <p:nvPr/>
        </p:nvSpPr>
        <p:spPr>
          <a:xfrm>
            <a:off x="4670450" y="1627632"/>
            <a:ext cx="731520" cy="731520"/>
          </a:xfrm>
          <a:prstGeom prst="ellipse">
            <a:avLst/>
          </a:prstGeom>
          <a:solidFill>
            <a:srgbClr val="E6F4EA"/>
          </a:solidFill>
          <a:ln/>
        </p:spPr>
      </p:sp>
      <p:pic>
        <p:nvPicPr>
          <p:cNvPr id="14" name="Icona TbPencil" descr="/home/claude/p857/build/img/ic/TbPencil-g.png">    </p:cNvPr>
          <p:cNvPicPr>
            <a:picLocks noChangeAspect="1"/>
          </p:cNvPicPr>
          <p:nvPr/>
        </p:nvPicPr>
        <p:blipFill>
          <a:blip r:embed="rId2"/>
          <a:stretch>
            <a:fillRect/>
          </a:stretch>
        </p:blipFill>
        <p:spPr>
          <a:xfrm>
            <a:off x="4831385" y="1788566"/>
            <a:ext cx="409651" cy="409651"/>
          </a:xfrm>
          <a:prstGeom prst="rect">
            <a:avLst/>
          </a:prstGeom>
        </p:spPr>
      </p:pic>
      <p:sp>
        <p:nvSpPr>
          <p:cNvPr id="15" name="Text 11"/>
          <p:cNvSpPr txBox="1"/>
          <p:nvPr/>
        </p:nvSpPr>
        <p:spPr>
          <a:xfrm>
            <a:off x="7091477" y="1627632"/>
            <a:ext cx="411480" cy="411480"/>
          </a:xfrm>
          <a:prstGeom prst="rect">
            <a:avLst/>
          </a:prstGeom>
          <a:noFill/>
          <a:ln/>
        </p:spPr>
        <p:txBody>
          <a:bodyPr wrap="square" lIns="0" tIns="0" rIns="0" bIns="0" rtlCol="0" anchor="t"/>
          <a:lstStyle/>
          <a:p>
            <a:pPr algn="r" indent="0" marL="0">
              <a:buNone/>
            </a:pPr>
            <a:r>
              <a:rPr lang="en-US" sz="2200" b="1" dirty="0">
                <a:solidFill>
                  <a:srgbClr val="DADCE0"/>
                </a:solidFill>
                <a:latin typeface="Roboto" pitchFamily="34" charset="0"/>
                <a:ea typeface="Roboto" pitchFamily="34" charset="-122"/>
                <a:cs typeface="Roboto" pitchFamily="34" charset="-120"/>
              </a:rPr>
              <a:t>2</a:t>
            </a:r>
            <a:endParaRPr lang="en-US" sz="2200" dirty="0"/>
          </a:p>
        </p:txBody>
      </p:sp>
      <p:sp>
        <p:nvSpPr>
          <p:cNvPr id="16" name="Text 12"/>
          <p:cNvSpPr txBox="1"/>
          <p:nvPr/>
        </p:nvSpPr>
        <p:spPr>
          <a:xfrm>
            <a:off x="4670450" y="2514600"/>
            <a:ext cx="2850794" cy="666750"/>
          </a:xfrm>
          <a:prstGeom prst="rect">
            <a:avLst/>
          </a:prstGeom>
          <a:noFill/>
          <a:ln/>
        </p:spPr>
        <p:txBody>
          <a:bodyPr wrap="square" lIns="0" tIns="0" rIns="0" bIns="0" rtlCol="0" anchor="t"/>
          <a:lstStyle/>
          <a:p>
            <a:pPr indent="0" marL="0">
              <a:buNone/>
            </a:pPr>
            <a:r>
              <a:rPr lang="en-US" sz="2100" b="1" dirty="0">
                <a:solidFill>
                  <a:srgbClr val="188038"/>
                </a:solidFill>
                <a:latin typeface="Roboto" pitchFamily="34" charset="0"/>
                <a:ea typeface="Roboto" pitchFamily="34" charset="-122"/>
                <a:cs typeface="Roboto" pitchFamily="34" charset="-120"/>
              </a:rPr>
              <a:t>Marca els punts cardinals</a:t>
            </a:r>
            <a:endParaRPr lang="en-US" sz="2100" dirty="0"/>
          </a:p>
        </p:txBody>
      </p:sp>
      <p:sp>
        <p:nvSpPr>
          <p:cNvPr id="17" name="Text 13"/>
          <p:cNvSpPr txBox="1"/>
          <p:nvPr/>
        </p:nvSpPr>
        <p:spPr>
          <a:xfrm>
            <a:off x="4670450" y="3245358"/>
            <a:ext cx="2850794" cy="960882"/>
          </a:xfrm>
          <a:prstGeom prst="rect">
            <a:avLst/>
          </a:prstGeom>
          <a:noFill/>
          <a:ln/>
        </p:spPr>
        <p:txBody>
          <a:bodyPr wrap="square" lIns="0" tIns="0" rIns="0" bIns="0" rtlCol="0" anchor="t"/>
          <a:lstStyle/>
          <a:p>
            <a:pPr indent="0" marL="0">
              <a:buNone/>
            </a:pPr>
            <a:r>
              <a:rPr lang="en-US" sz="1950" dirty="0">
                <a:solidFill>
                  <a:srgbClr val="202124"/>
                </a:solidFill>
                <a:latin typeface="Roboto" pitchFamily="34" charset="0"/>
                <a:ea typeface="Roboto" pitchFamily="34" charset="-122"/>
                <a:cs typeface="Roboto" pitchFamily="34" charset="-120"/>
              </a:rPr>
              <a:t>Dibuixa'ls a terra amb guix.</a:t>
            </a:r>
            <a:endParaRPr lang="en-US" sz="1950" dirty="0"/>
          </a:p>
        </p:txBody>
      </p:sp>
      <p:sp>
        <p:nvSpPr>
          <p:cNvPr id="18" name="Fletxa"/>
          <p:cNvSpPr/>
          <p:nvPr/>
        </p:nvSpPr>
        <p:spPr>
          <a:xfrm>
            <a:off x="7937297" y="2697480"/>
            <a:ext cx="182880" cy="274320"/>
          </a:xfrm>
          <a:prstGeom prst="chevron">
            <a:avLst/>
          </a:prstGeom>
          <a:solidFill>
            <a:srgbClr val="188038"/>
          </a:solidFill>
          <a:ln/>
        </p:spPr>
      </p:sp>
      <p:sp>
        <p:nvSpPr>
          <p:cNvPr id="19" name="Pas 3"/>
          <p:cNvSpPr/>
          <p:nvPr/>
        </p:nvSpPr>
        <p:spPr>
          <a:xfrm>
            <a:off x="8280197" y="1371600"/>
            <a:ext cx="3362858" cy="2926080"/>
          </a:xfrm>
          <a:prstGeom prst="roundRect">
            <a:avLst>
              <a:gd name="adj" fmla="val 3438"/>
            </a:avLst>
          </a:prstGeom>
          <a:solidFill>
            <a:srgbClr val="FFFFFF"/>
          </a:solidFill>
          <a:ln w="12700">
            <a:solidFill>
              <a:srgbClr val="DADCE0"/>
            </a:solidFill>
            <a:prstDash val="solid"/>
          </a:ln>
        </p:spPr>
      </p:sp>
      <p:sp>
        <p:nvSpPr>
          <p:cNvPr id="20" name="Cercle icona"/>
          <p:cNvSpPr/>
          <p:nvPr/>
        </p:nvSpPr>
        <p:spPr>
          <a:xfrm>
            <a:off x="8536229" y="1627632"/>
            <a:ext cx="731520" cy="731520"/>
          </a:xfrm>
          <a:prstGeom prst="ellipse">
            <a:avLst/>
          </a:prstGeom>
          <a:solidFill>
            <a:srgbClr val="E6F4EA"/>
          </a:solidFill>
          <a:ln/>
        </p:spPr>
      </p:sp>
      <p:pic>
        <p:nvPicPr>
          <p:cNvPr id="21" name="Icona TbBuildingCommunity" descr="/home/claude/p857/build/img/ic/TbBuildingCommunity-g.png">    </p:cNvPr>
          <p:cNvPicPr>
            <a:picLocks noChangeAspect="1"/>
          </p:cNvPicPr>
          <p:nvPr/>
        </p:nvPicPr>
        <p:blipFill>
          <a:blip r:embed="rId3"/>
          <a:stretch>
            <a:fillRect/>
          </a:stretch>
        </p:blipFill>
        <p:spPr>
          <a:xfrm>
            <a:off x="8697163" y="1788566"/>
            <a:ext cx="409651" cy="409651"/>
          </a:xfrm>
          <a:prstGeom prst="rect">
            <a:avLst/>
          </a:prstGeom>
        </p:spPr>
      </p:pic>
      <p:sp>
        <p:nvSpPr>
          <p:cNvPr id="22" name="Text 17"/>
          <p:cNvSpPr txBox="1"/>
          <p:nvPr/>
        </p:nvSpPr>
        <p:spPr>
          <a:xfrm>
            <a:off x="10957255" y="1627632"/>
            <a:ext cx="411480" cy="411480"/>
          </a:xfrm>
          <a:prstGeom prst="rect">
            <a:avLst/>
          </a:prstGeom>
          <a:noFill/>
          <a:ln/>
        </p:spPr>
        <p:txBody>
          <a:bodyPr wrap="square" lIns="0" tIns="0" rIns="0" bIns="0" rtlCol="0" anchor="t"/>
          <a:lstStyle/>
          <a:p>
            <a:pPr algn="r" indent="0" marL="0">
              <a:buNone/>
            </a:pPr>
            <a:r>
              <a:rPr lang="en-US" sz="2200" b="1" dirty="0">
                <a:solidFill>
                  <a:srgbClr val="DADCE0"/>
                </a:solidFill>
                <a:latin typeface="Roboto" pitchFamily="34" charset="0"/>
                <a:ea typeface="Roboto" pitchFamily="34" charset="-122"/>
                <a:cs typeface="Roboto" pitchFamily="34" charset="-120"/>
              </a:rPr>
              <a:t>3</a:t>
            </a:r>
            <a:endParaRPr lang="en-US" sz="2200" dirty="0"/>
          </a:p>
        </p:txBody>
      </p:sp>
      <p:sp>
        <p:nvSpPr>
          <p:cNvPr id="23" name="Text 18"/>
          <p:cNvSpPr txBox="1"/>
          <p:nvPr/>
        </p:nvSpPr>
        <p:spPr>
          <a:xfrm>
            <a:off x="8536229" y="2514600"/>
            <a:ext cx="2850794" cy="333375"/>
          </a:xfrm>
          <a:prstGeom prst="rect">
            <a:avLst/>
          </a:prstGeom>
          <a:noFill/>
          <a:ln/>
        </p:spPr>
        <p:txBody>
          <a:bodyPr wrap="square" lIns="0" tIns="0" rIns="0" bIns="0" rtlCol="0" anchor="t"/>
          <a:lstStyle/>
          <a:p>
            <a:pPr indent="0" marL="0">
              <a:buNone/>
            </a:pPr>
            <a:r>
              <a:rPr lang="en-US" sz="2100" b="1" dirty="0">
                <a:solidFill>
                  <a:srgbClr val="188038"/>
                </a:solidFill>
                <a:latin typeface="Roboto" pitchFamily="34" charset="0"/>
                <a:ea typeface="Roboto" pitchFamily="34" charset="-122"/>
                <a:cs typeface="Roboto" pitchFamily="34" charset="-120"/>
              </a:rPr>
              <a:t>Assenyala</a:t>
            </a:r>
            <a:endParaRPr lang="en-US" sz="2100" dirty="0"/>
          </a:p>
        </p:txBody>
      </p:sp>
      <p:sp>
        <p:nvSpPr>
          <p:cNvPr id="24" name="Text 19"/>
          <p:cNvSpPr txBox="1"/>
          <p:nvPr/>
        </p:nvSpPr>
        <p:spPr>
          <a:xfrm>
            <a:off x="8536229" y="2911983"/>
            <a:ext cx="2850794" cy="1294257"/>
          </a:xfrm>
          <a:prstGeom prst="rect">
            <a:avLst/>
          </a:prstGeom>
          <a:noFill/>
          <a:ln/>
        </p:spPr>
        <p:txBody>
          <a:bodyPr wrap="square" lIns="0" tIns="0" rIns="0" bIns="0" rtlCol="0" anchor="t"/>
          <a:lstStyle/>
          <a:p>
            <a:pPr indent="0" marL="0">
              <a:buNone/>
            </a:pPr>
            <a:r>
              <a:rPr lang="en-US" sz="1950" dirty="0">
                <a:solidFill>
                  <a:srgbClr val="202124"/>
                </a:solidFill>
                <a:latin typeface="Roboto" pitchFamily="34" charset="0"/>
                <a:ea typeface="Roboto" pitchFamily="34" charset="-122"/>
                <a:cs typeface="Roboto" pitchFamily="34" charset="-120"/>
              </a:rPr>
              <a:t>Un edifici o una muntanya que coneguis. Cap a quin punt cardinal és?</a:t>
            </a:r>
            <a:endParaRPr lang="en-US" sz="1950" dirty="0"/>
          </a:p>
        </p:txBody>
      </p:sp>
      <p:sp>
        <p:nvSpPr>
          <p:cNvPr id="25" name="Si no tens brúixola"/>
          <p:cNvSpPr/>
          <p:nvPr/>
        </p:nvSpPr>
        <p:spPr>
          <a:xfrm>
            <a:off x="548640" y="4526280"/>
            <a:ext cx="11094415" cy="1463040"/>
          </a:xfrm>
          <a:prstGeom prst="roundRect">
            <a:avLst>
              <a:gd name="adj" fmla="val 6875"/>
            </a:avLst>
          </a:prstGeom>
          <a:solidFill>
            <a:srgbClr val="F6F8FB"/>
          </a:solidFill>
          <a:ln/>
        </p:spPr>
      </p:sp>
      <p:sp>
        <p:nvSpPr>
          <p:cNvPr id="26" name="Text 21"/>
          <p:cNvSpPr txBox="1"/>
          <p:nvPr/>
        </p:nvSpPr>
        <p:spPr>
          <a:xfrm>
            <a:off x="868680" y="4681728"/>
            <a:ext cx="10454335" cy="320040"/>
          </a:xfrm>
          <a:prstGeom prst="rect">
            <a:avLst/>
          </a:prstGeom>
          <a:noFill/>
          <a:ln/>
        </p:spPr>
        <p:txBody>
          <a:bodyPr wrap="square" lIns="0" tIns="0" rIns="0" bIns="0" rtlCol="0" anchor="t"/>
          <a:lstStyle/>
          <a:p>
            <a:pPr indent="0" marL="0">
              <a:buNone/>
            </a:pPr>
            <a:r>
              <a:rPr lang="en-US" sz="1400" b="1" dirty="0">
                <a:solidFill>
                  <a:srgbClr val="202124"/>
                </a:solidFill>
                <a:latin typeface="Roboto" pitchFamily="34" charset="0"/>
                <a:ea typeface="Roboto" pitchFamily="34" charset="-122"/>
                <a:cs typeface="Roboto" pitchFamily="34" charset="-120"/>
              </a:rPr>
              <a:t>Si no tens brúixola</a:t>
            </a:r>
            <a:endParaRPr lang="en-US" sz="1400" dirty="0"/>
          </a:p>
        </p:txBody>
      </p:sp>
      <p:sp>
        <p:nvSpPr>
          <p:cNvPr id="27" name="Text 22"/>
          <p:cNvSpPr txBox="1"/>
          <p:nvPr/>
        </p:nvSpPr>
        <p:spPr>
          <a:xfrm>
            <a:off x="868680" y="5029200"/>
            <a:ext cx="10454335" cy="822960"/>
          </a:xfrm>
          <a:prstGeom prst="rect">
            <a:avLst/>
          </a:prstGeom>
          <a:noFill/>
          <a:ln/>
        </p:spPr>
        <p:txBody>
          <a:bodyPr wrap="square" lIns="0" tIns="0" rIns="0" bIns="0" rtlCol="0" anchor="t"/>
          <a:lstStyle/>
          <a:p>
            <a:pPr indent="0" marL="0">
              <a:buNone/>
            </a:pPr>
            <a:r>
              <a:rPr lang="en-US" sz="1950" dirty="0">
                <a:solidFill>
                  <a:srgbClr val="5F6368"/>
                </a:solidFill>
                <a:latin typeface="Roboto" pitchFamily="34" charset="0"/>
                <a:ea typeface="Roboto" pitchFamily="34" charset="-122"/>
                <a:cs typeface="Roboto" pitchFamily="34" charset="-120"/>
              </a:rPr>
              <a:t>Al migdia solar, el Sol és al sud. A Catalunya és cap a la una amb l'horari d'hivern i cap a les dues amb l'horari d'estiu.</a:t>
            </a:r>
            <a:endParaRPr lang="en-US" sz="19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1</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Comprova-ho</a:t>
            </a:r>
            <a:endParaRPr lang="en-US" sz="2800" dirty="0"/>
          </a:p>
        </p:txBody>
      </p:sp>
      <p:sp>
        <p:nvSpPr>
          <p:cNvPr id="5" name="Text 3"/>
          <p:cNvSpPr txBox="1"/>
          <p:nvPr/>
        </p:nvSpPr>
        <p:spPr>
          <a:xfrm>
            <a:off x="548640" y="1371600"/>
            <a:ext cx="3657600" cy="320040"/>
          </a:xfrm>
          <a:prstGeom prst="rect">
            <a:avLst/>
          </a:prstGeom>
          <a:noFill/>
          <a:ln/>
        </p:spPr>
        <p:txBody>
          <a:bodyPr wrap="square" lIns="0" tIns="0" rIns="0" bIns="0" rtlCol="0" anchor="t"/>
          <a:lstStyle/>
          <a:p>
            <a:pPr indent="0" marL="0">
              <a:buNone/>
            </a:pPr>
            <a:r>
              <a:rPr lang="en-US" sz="1400" b="1" dirty="0">
                <a:solidFill>
                  <a:srgbClr val="5F6368"/>
                </a:solidFill>
                <a:latin typeface="Roboto" pitchFamily="34" charset="0"/>
                <a:ea typeface="Roboto" pitchFamily="34" charset="-122"/>
                <a:cs typeface="Roboto" pitchFamily="34" charset="-120"/>
              </a:rPr>
              <a:t>Paraules clau</a:t>
            </a:r>
            <a:endParaRPr lang="en-US" sz="1400" dirty="0"/>
          </a:p>
        </p:txBody>
      </p:sp>
      <p:sp>
        <p:nvSpPr>
          <p:cNvPr id="6" name="Etiqueta Punts cardinals"/>
          <p:cNvSpPr/>
          <p:nvPr/>
        </p:nvSpPr>
        <p:spPr>
          <a:xfrm>
            <a:off x="548640" y="1755648"/>
            <a:ext cx="1819656" cy="384048"/>
          </a:xfrm>
          <a:prstGeom prst="roundRect">
            <a:avLst>
              <a:gd name="adj" fmla="val 50000"/>
            </a:avLst>
          </a:prstGeom>
          <a:solidFill>
            <a:srgbClr val="E6F4EA"/>
          </a:solidFill>
          <a:ln/>
        </p:spPr>
      </p:sp>
      <p:sp>
        <p:nvSpPr>
          <p:cNvPr id="7" name="Text 5"/>
          <p:cNvSpPr txBox="1"/>
          <p:nvPr/>
        </p:nvSpPr>
        <p:spPr>
          <a:xfrm>
            <a:off x="548640" y="1755648"/>
            <a:ext cx="1819656"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Punts cardinals</a:t>
            </a:r>
            <a:endParaRPr lang="en-US" sz="1500" dirty="0"/>
          </a:p>
        </p:txBody>
      </p:sp>
      <p:sp>
        <p:nvSpPr>
          <p:cNvPr id="8" name="Etiqueta Orientar-se"/>
          <p:cNvSpPr/>
          <p:nvPr/>
        </p:nvSpPr>
        <p:spPr>
          <a:xfrm>
            <a:off x="2478024" y="1755648"/>
            <a:ext cx="1417320" cy="384048"/>
          </a:xfrm>
          <a:prstGeom prst="roundRect">
            <a:avLst>
              <a:gd name="adj" fmla="val 50000"/>
            </a:avLst>
          </a:prstGeom>
          <a:solidFill>
            <a:srgbClr val="E6F4EA"/>
          </a:solidFill>
          <a:ln/>
        </p:spPr>
      </p:sp>
      <p:sp>
        <p:nvSpPr>
          <p:cNvPr id="9" name="Text 7"/>
          <p:cNvSpPr txBox="1"/>
          <p:nvPr/>
        </p:nvSpPr>
        <p:spPr>
          <a:xfrm>
            <a:off x="2478024" y="1755648"/>
            <a:ext cx="1417320"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Orientar-se</a:t>
            </a:r>
            <a:endParaRPr lang="en-US" sz="1500" dirty="0"/>
          </a:p>
        </p:txBody>
      </p:sp>
      <p:sp>
        <p:nvSpPr>
          <p:cNvPr id="10" name="Etiqueta Brúixola"/>
          <p:cNvSpPr/>
          <p:nvPr/>
        </p:nvSpPr>
        <p:spPr>
          <a:xfrm>
            <a:off x="4005072" y="1755648"/>
            <a:ext cx="1115568" cy="384048"/>
          </a:xfrm>
          <a:prstGeom prst="roundRect">
            <a:avLst>
              <a:gd name="adj" fmla="val 50000"/>
            </a:avLst>
          </a:prstGeom>
          <a:solidFill>
            <a:srgbClr val="E6F4EA"/>
          </a:solidFill>
          <a:ln/>
        </p:spPr>
      </p:sp>
      <p:sp>
        <p:nvSpPr>
          <p:cNvPr id="11" name="Text 9"/>
          <p:cNvSpPr txBox="1"/>
          <p:nvPr/>
        </p:nvSpPr>
        <p:spPr>
          <a:xfrm>
            <a:off x="4005072" y="1755648"/>
            <a:ext cx="1115568"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Brúixola</a:t>
            </a:r>
            <a:endParaRPr lang="en-US" sz="1500" dirty="0"/>
          </a:p>
        </p:txBody>
      </p:sp>
      <p:sp>
        <p:nvSpPr>
          <p:cNvPr id="12" name="Etiqueta Nord magnètic"/>
          <p:cNvSpPr/>
          <p:nvPr/>
        </p:nvSpPr>
        <p:spPr>
          <a:xfrm>
            <a:off x="5230368" y="1755648"/>
            <a:ext cx="1618488" cy="384048"/>
          </a:xfrm>
          <a:prstGeom prst="roundRect">
            <a:avLst>
              <a:gd name="adj" fmla="val 50000"/>
            </a:avLst>
          </a:prstGeom>
          <a:solidFill>
            <a:srgbClr val="E6F4EA"/>
          </a:solidFill>
          <a:ln/>
        </p:spPr>
      </p:sp>
      <p:sp>
        <p:nvSpPr>
          <p:cNvPr id="13" name="Text 11"/>
          <p:cNvSpPr txBox="1"/>
          <p:nvPr/>
        </p:nvSpPr>
        <p:spPr>
          <a:xfrm>
            <a:off x="5230368" y="1755648"/>
            <a:ext cx="1618488"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Nord magnètic</a:t>
            </a:r>
            <a:endParaRPr lang="en-US" sz="1500" dirty="0"/>
          </a:p>
        </p:txBody>
      </p:sp>
      <p:sp>
        <p:nvSpPr>
          <p:cNvPr id="14" name="Etiqueta Col·laterals"/>
          <p:cNvSpPr/>
          <p:nvPr/>
        </p:nvSpPr>
        <p:spPr>
          <a:xfrm>
            <a:off x="6958584" y="1755648"/>
            <a:ext cx="1517904" cy="384048"/>
          </a:xfrm>
          <a:prstGeom prst="roundRect">
            <a:avLst>
              <a:gd name="adj" fmla="val 50000"/>
            </a:avLst>
          </a:prstGeom>
          <a:solidFill>
            <a:srgbClr val="E6F4EA"/>
          </a:solidFill>
          <a:ln/>
        </p:spPr>
      </p:sp>
      <p:sp>
        <p:nvSpPr>
          <p:cNvPr id="15" name="Text 13"/>
          <p:cNvSpPr txBox="1"/>
          <p:nvPr/>
        </p:nvSpPr>
        <p:spPr>
          <a:xfrm>
            <a:off x="6958584" y="1755648"/>
            <a:ext cx="1517904"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Col·laterals</a:t>
            </a:r>
            <a:endParaRPr lang="en-US" sz="1500" dirty="0"/>
          </a:p>
        </p:txBody>
      </p:sp>
      <p:sp>
        <p:nvSpPr>
          <p:cNvPr id="16" name="Etiqueta Rosa dels vents"/>
          <p:cNvSpPr/>
          <p:nvPr/>
        </p:nvSpPr>
        <p:spPr>
          <a:xfrm>
            <a:off x="8586216" y="1755648"/>
            <a:ext cx="1819656" cy="384048"/>
          </a:xfrm>
          <a:prstGeom prst="roundRect">
            <a:avLst>
              <a:gd name="adj" fmla="val 50000"/>
            </a:avLst>
          </a:prstGeom>
          <a:solidFill>
            <a:srgbClr val="E6F4EA"/>
          </a:solidFill>
          <a:ln/>
        </p:spPr>
      </p:sp>
      <p:sp>
        <p:nvSpPr>
          <p:cNvPr id="17" name="Text 15"/>
          <p:cNvSpPr txBox="1"/>
          <p:nvPr/>
        </p:nvSpPr>
        <p:spPr>
          <a:xfrm>
            <a:off x="8586216" y="1755648"/>
            <a:ext cx="1819656"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Rosa dels vents</a:t>
            </a:r>
            <a:endParaRPr lang="en-US" sz="1500" dirty="0"/>
          </a:p>
        </p:txBody>
      </p:sp>
      <p:sp>
        <p:nvSpPr>
          <p:cNvPr id="18" name="Pregunta 1"/>
          <p:cNvSpPr/>
          <p:nvPr/>
        </p:nvSpPr>
        <p:spPr>
          <a:xfrm>
            <a:off x="548640" y="2514600"/>
            <a:ext cx="11094415" cy="960120"/>
          </a:xfrm>
          <a:prstGeom prst="roundRect">
            <a:avLst>
              <a:gd name="adj" fmla="val 10476"/>
            </a:avLst>
          </a:prstGeom>
          <a:solidFill>
            <a:srgbClr val="FFFFFF"/>
          </a:solidFill>
          <a:ln w="12700">
            <a:solidFill>
              <a:srgbClr val="DADCE0"/>
            </a:solidFill>
            <a:prstDash val="solid"/>
          </a:ln>
        </p:spPr>
      </p:sp>
      <p:sp>
        <p:nvSpPr>
          <p:cNvPr id="19" name="Número 1"/>
          <p:cNvSpPr/>
          <p:nvPr/>
        </p:nvSpPr>
        <p:spPr>
          <a:xfrm>
            <a:off x="822960" y="2766060"/>
            <a:ext cx="457200" cy="457200"/>
          </a:xfrm>
          <a:prstGeom prst="ellipse">
            <a:avLst/>
          </a:prstGeom>
          <a:solidFill>
            <a:srgbClr val="188038"/>
          </a:solidFill>
          <a:ln/>
        </p:spPr>
      </p:sp>
      <p:sp>
        <p:nvSpPr>
          <p:cNvPr id="20" name="Text 18"/>
          <p:cNvSpPr txBox="1"/>
          <p:nvPr/>
        </p:nvSpPr>
        <p:spPr>
          <a:xfrm>
            <a:off x="822960" y="276606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Roboto" pitchFamily="34" charset="0"/>
                <a:ea typeface="Roboto" pitchFamily="34" charset="-122"/>
                <a:cs typeface="Roboto" pitchFamily="34" charset="-120"/>
              </a:rPr>
              <a:t>1</a:t>
            </a:r>
            <a:endParaRPr lang="en-US" sz="1700" dirty="0"/>
          </a:p>
        </p:txBody>
      </p:sp>
      <p:sp>
        <p:nvSpPr>
          <p:cNvPr id="21" name="Text 19"/>
          <p:cNvSpPr txBox="1"/>
          <p:nvPr/>
        </p:nvSpPr>
        <p:spPr>
          <a:xfrm>
            <a:off x="1508760" y="2514600"/>
            <a:ext cx="9905695" cy="960120"/>
          </a:xfrm>
          <a:prstGeom prst="rect">
            <a:avLst/>
          </a:prstGeom>
          <a:noFill/>
          <a:ln/>
        </p:spPr>
        <p:txBody>
          <a:bodyPr wrap="square" lIns="0" tIns="0" rIns="0" bIns="0" rtlCol="0" anchor="ctr"/>
          <a:lstStyle/>
          <a:p>
            <a:pPr indent="0" marL="0">
              <a:buNone/>
            </a:pPr>
            <a:r>
              <a:rPr lang="en-US" sz="2000" dirty="0">
                <a:solidFill>
                  <a:srgbClr val="202124"/>
                </a:solidFill>
                <a:latin typeface="Roboto" pitchFamily="34" charset="0"/>
                <a:ea typeface="Roboto" pitchFamily="34" charset="-122"/>
                <a:cs typeface="Roboto" pitchFamily="34" charset="-120"/>
              </a:rPr>
              <a:t>Quins són els quatre punts cardinals?</a:t>
            </a:r>
            <a:endParaRPr lang="en-US" sz="2000" dirty="0"/>
          </a:p>
        </p:txBody>
      </p:sp>
      <p:sp>
        <p:nvSpPr>
          <p:cNvPr id="22" name="Pregunta 2"/>
          <p:cNvSpPr/>
          <p:nvPr/>
        </p:nvSpPr>
        <p:spPr>
          <a:xfrm>
            <a:off x="548640" y="3657600"/>
            <a:ext cx="11094415" cy="960120"/>
          </a:xfrm>
          <a:prstGeom prst="roundRect">
            <a:avLst>
              <a:gd name="adj" fmla="val 10476"/>
            </a:avLst>
          </a:prstGeom>
          <a:solidFill>
            <a:srgbClr val="FFFFFF"/>
          </a:solidFill>
          <a:ln w="12700">
            <a:solidFill>
              <a:srgbClr val="DADCE0"/>
            </a:solidFill>
            <a:prstDash val="solid"/>
          </a:ln>
        </p:spPr>
      </p:sp>
      <p:sp>
        <p:nvSpPr>
          <p:cNvPr id="23" name="Número 2"/>
          <p:cNvSpPr/>
          <p:nvPr/>
        </p:nvSpPr>
        <p:spPr>
          <a:xfrm>
            <a:off x="822960" y="3909060"/>
            <a:ext cx="457200" cy="457200"/>
          </a:xfrm>
          <a:prstGeom prst="ellipse">
            <a:avLst/>
          </a:prstGeom>
          <a:solidFill>
            <a:srgbClr val="188038"/>
          </a:solidFill>
          <a:ln/>
        </p:spPr>
      </p:sp>
      <p:sp>
        <p:nvSpPr>
          <p:cNvPr id="24" name="Text 22"/>
          <p:cNvSpPr txBox="1"/>
          <p:nvPr/>
        </p:nvSpPr>
        <p:spPr>
          <a:xfrm>
            <a:off x="822960" y="390906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Roboto" pitchFamily="34" charset="0"/>
                <a:ea typeface="Roboto" pitchFamily="34" charset="-122"/>
                <a:cs typeface="Roboto" pitchFamily="34" charset="-120"/>
              </a:rPr>
              <a:t>2</a:t>
            </a:r>
            <a:endParaRPr lang="en-US" sz="1700" dirty="0"/>
          </a:p>
        </p:txBody>
      </p:sp>
      <p:sp>
        <p:nvSpPr>
          <p:cNvPr id="25" name="Text 23"/>
          <p:cNvSpPr txBox="1"/>
          <p:nvPr/>
        </p:nvSpPr>
        <p:spPr>
          <a:xfrm>
            <a:off x="1508760" y="3657600"/>
            <a:ext cx="9905695" cy="960120"/>
          </a:xfrm>
          <a:prstGeom prst="rect">
            <a:avLst/>
          </a:prstGeom>
          <a:noFill/>
          <a:ln/>
        </p:spPr>
        <p:txBody>
          <a:bodyPr wrap="square" lIns="0" tIns="0" rIns="0" bIns="0" rtlCol="0" anchor="ctr"/>
          <a:lstStyle/>
          <a:p>
            <a:pPr indent="0" marL="0">
              <a:buNone/>
            </a:pPr>
            <a:r>
              <a:rPr lang="en-US" sz="2000" dirty="0">
                <a:solidFill>
                  <a:srgbClr val="202124"/>
                </a:solidFill>
                <a:latin typeface="Roboto" pitchFamily="34" charset="0"/>
                <a:ea typeface="Roboto" pitchFamily="34" charset="-122"/>
                <a:cs typeface="Roboto" pitchFamily="34" charset="-120"/>
              </a:rPr>
              <a:t>Són les 9 del matí i tens el Sol al davant. Cap a quin punt cardinal mires?</a:t>
            </a:r>
            <a:endParaRPr lang="en-US" sz="2000" dirty="0"/>
          </a:p>
        </p:txBody>
      </p:sp>
      <p:sp>
        <p:nvSpPr>
          <p:cNvPr id="26" name="Pregunta 3"/>
          <p:cNvSpPr/>
          <p:nvPr/>
        </p:nvSpPr>
        <p:spPr>
          <a:xfrm>
            <a:off x="548640" y="4800600"/>
            <a:ext cx="11094415" cy="960120"/>
          </a:xfrm>
          <a:prstGeom prst="roundRect">
            <a:avLst>
              <a:gd name="adj" fmla="val 10476"/>
            </a:avLst>
          </a:prstGeom>
          <a:solidFill>
            <a:srgbClr val="FFFFFF"/>
          </a:solidFill>
          <a:ln w="12700">
            <a:solidFill>
              <a:srgbClr val="DADCE0"/>
            </a:solidFill>
            <a:prstDash val="solid"/>
          </a:ln>
        </p:spPr>
      </p:sp>
      <p:sp>
        <p:nvSpPr>
          <p:cNvPr id="27" name="Número 3"/>
          <p:cNvSpPr/>
          <p:nvPr/>
        </p:nvSpPr>
        <p:spPr>
          <a:xfrm>
            <a:off x="822960" y="5052060"/>
            <a:ext cx="457200" cy="457200"/>
          </a:xfrm>
          <a:prstGeom prst="ellipse">
            <a:avLst/>
          </a:prstGeom>
          <a:solidFill>
            <a:srgbClr val="188038"/>
          </a:solidFill>
          <a:ln/>
        </p:spPr>
      </p:sp>
      <p:sp>
        <p:nvSpPr>
          <p:cNvPr id="28" name="Text 26"/>
          <p:cNvSpPr txBox="1"/>
          <p:nvPr/>
        </p:nvSpPr>
        <p:spPr>
          <a:xfrm>
            <a:off x="822960" y="505206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Roboto" pitchFamily="34" charset="0"/>
                <a:ea typeface="Roboto" pitchFamily="34" charset="-122"/>
                <a:cs typeface="Roboto" pitchFamily="34" charset="-120"/>
              </a:rPr>
              <a:t>3</a:t>
            </a:r>
            <a:endParaRPr lang="en-US" sz="1700" dirty="0"/>
          </a:p>
        </p:txBody>
      </p:sp>
      <p:sp>
        <p:nvSpPr>
          <p:cNvPr id="29" name="Text 27"/>
          <p:cNvSpPr txBox="1"/>
          <p:nvPr/>
        </p:nvSpPr>
        <p:spPr>
          <a:xfrm>
            <a:off x="1508760" y="4800600"/>
            <a:ext cx="9905695" cy="960120"/>
          </a:xfrm>
          <a:prstGeom prst="rect">
            <a:avLst/>
          </a:prstGeom>
          <a:noFill/>
          <a:ln/>
        </p:spPr>
        <p:txBody>
          <a:bodyPr wrap="square" lIns="0" tIns="0" rIns="0" bIns="0" rtlCol="0" anchor="ctr"/>
          <a:lstStyle/>
          <a:p>
            <a:pPr indent="0" marL="0">
              <a:buNone/>
            </a:pPr>
            <a:r>
              <a:rPr lang="en-US" sz="2000" dirty="0">
                <a:solidFill>
                  <a:srgbClr val="202124"/>
                </a:solidFill>
                <a:latin typeface="Roboto" pitchFamily="34" charset="0"/>
                <a:ea typeface="Roboto" pitchFamily="34" charset="-122"/>
                <a:cs typeface="Roboto" pitchFamily="34" charset="-120"/>
              </a:rPr>
              <a:t>Quin punt col·lateral hi ha entre el sud i l'oest?</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Capçalera"/>
          <p:cNvSpPr/>
          <p:nvPr/>
        </p:nvSpPr>
        <p:spPr>
          <a:xfrm>
            <a:off x="548640" y="548640"/>
            <a:ext cx="6720840" cy="3657600"/>
          </a:xfrm>
          <a:prstGeom prst="roundRect">
            <a:avLst>
              <a:gd name="adj" fmla="val 2750"/>
            </a:avLst>
          </a:prstGeom>
          <a:solidFill>
            <a:srgbClr val="188038"/>
          </a:solidFill>
          <a:ln/>
        </p:spPr>
      </p:sp>
      <p:pic>
        <p:nvPicPr>
          <p:cNvPr id="3" name="Il·lustració d'una rosa dels vents i un rellotge de sorra" descr="/home/claude/p857/build/hero-crop.png">    </p:cNvPr>
          <p:cNvPicPr>
            <a:picLocks noChangeAspect="1"/>
          </p:cNvPicPr>
          <p:nvPr/>
        </p:nvPicPr>
        <p:blipFill>
          <a:blip r:embed="rId1"/>
          <a:stretch>
            <a:fillRect/>
          </a:stretch>
        </p:blipFill>
        <p:spPr>
          <a:xfrm>
            <a:off x="3794760" y="2296090"/>
            <a:ext cx="3291840" cy="1891862"/>
          </a:xfrm>
          <a:prstGeom prst="rect">
            <a:avLst/>
          </a:prstGeom>
        </p:spPr>
      </p:pic>
      <p:sp>
        <p:nvSpPr>
          <p:cNvPr id="4" name="Etiqueta Apartat 2"/>
          <p:cNvSpPr/>
          <p:nvPr/>
        </p:nvSpPr>
        <p:spPr>
          <a:xfrm>
            <a:off x="960120" y="896112"/>
            <a:ext cx="1035101" cy="310896"/>
          </a:xfrm>
          <a:prstGeom prst="roundRect">
            <a:avLst>
              <a:gd name="adj" fmla="val 50000"/>
            </a:avLst>
          </a:prstGeom>
          <a:solidFill>
            <a:srgbClr val="FFFFFF">
              <a:alpha val="18000"/>
            </a:srgbClr>
          </a:solidFill>
          <a:ln/>
        </p:spPr>
      </p:sp>
      <p:sp>
        <p:nvSpPr>
          <p:cNvPr id="5" name="Text 2"/>
          <p:cNvSpPr txBox="1"/>
          <p:nvPr/>
        </p:nvSpPr>
        <p:spPr>
          <a:xfrm>
            <a:off x="960120" y="896112"/>
            <a:ext cx="1035101" cy="310896"/>
          </a:xfrm>
          <a:prstGeom prst="rect">
            <a:avLst/>
          </a:prstGeom>
          <a:noFill/>
          <a:ln/>
        </p:spPr>
        <p:txBody>
          <a:bodyPr wrap="square" lIns="0" tIns="0" rIns="0" bIns="0" rtlCol="0" anchor="ctr"/>
          <a:lstStyle/>
          <a:p>
            <a:pPr algn="ctr" indent="0" marL="0">
              <a:buNone/>
            </a:pPr>
            <a:r>
              <a:rPr lang="en-US" sz="1250" dirty="0">
                <a:solidFill>
                  <a:srgbClr val="FFFFFF"/>
                </a:solidFill>
                <a:latin typeface="Roboto" pitchFamily="34" charset="0"/>
                <a:ea typeface="Roboto" pitchFamily="34" charset="-122"/>
                <a:cs typeface="Roboto" pitchFamily="34" charset="-120"/>
              </a:rPr>
              <a:t>Apartat 2</a:t>
            </a:r>
            <a:endParaRPr lang="en-US" sz="1250" dirty="0"/>
          </a:p>
        </p:txBody>
      </p:sp>
      <p:sp>
        <p:nvSpPr>
          <p:cNvPr id="6" name="Text 3"/>
          <p:cNvSpPr txBox="1"/>
          <p:nvPr/>
        </p:nvSpPr>
        <p:spPr>
          <a:xfrm>
            <a:off x="960120" y="1371600"/>
            <a:ext cx="5760720" cy="1280160"/>
          </a:xfrm>
          <a:prstGeom prst="rect">
            <a:avLst/>
          </a:prstGeom>
          <a:noFill/>
          <a:ln/>
        </p:spPr>
        <p:txBody>
          <a:bodyPr wrap="square" lIns="0" tIns="0" rIns="0" bIns="0" rtlCol="0" anchor="t"/>
          <a:lstStyle/>
          <a:p>
            <a:pPr indent="0" marL="0">
              <a:lnSpc>
                <a:spcPct val="95000"/>
              </a:lnSpc>
              <a:buNone/>
            </a:pPr>
            <a:r>
              <a:rPr lang="en-US" sz="3800" b="1" dirty="0">
                <a:solidFill>
                  <a:srgbClr val="FFFFFF"/>
                </a:solidFill>
                <a:latin typeface="Roboto" pitchFamily="34" charset="0"/>
                <a:ea typeface="Roboto" pitchFamily="34" charset="-122"/>
                <a:cs typeface="Roboto" pitchFamily="34" charset="-120"/>
              </a:rPr>
              <a:t>Les coordenades geogràfiques</a:t>
            </a:r>
            <a:endParaRPr lang="en-US" sz="3800" dirty="0"/>
          </a:p>
        </p:txBody>
      </p:sp>
      <p:sp>
        <p:nvSpPr>
          <p:cNvPr id="7" name="Pregunta guia"/>
          <p:cNvSpPr/>
          <p:nvPr/>
        </p:nvSpPr>
        <p:spPr>
          <a:xfrm>
            <a:off x="548640" y="4389120"/>
            <a:ext cx="6720840" cy="1645920"/>
          </a:xfrm>
          <a:prstGeom prst="roundRect">
            <a:avLst>
              <a:gd name="adj" fmla="val 6111"/>
            </a:avLst>
          </a:prstGeom>
          <a:solidFill>
            <a:srgbClr val="F6F8FB"/>
          </a:solidFill>
          <a:ln/>
        </p:spPr>
      </p:sp>
      <p:sp>
        <p:nvSpPr>
          <p:cNvPr id="8" name="Text 5"/>
          <p:cNvSpPr txBox="1"/>
          <p:nvPr/>
        </p:nvSpPr>
        <p:spPr>
          <a:xfrm>
            <a:off x="914400" y="4590288"/>
            <a:ext cx="4572000" cy="320040"/>
          </a:xfrm>
          <a:prstGeom prst="rect">
            <a:avLst/>
          </a:prstGeom>
          <a:noFill/>
          <a:ln/>
        </p:spPr>
        <p:txBody>
          <a:bodyPr wrap="square" lIns="0" tIns="0" rIns="0" bIns="0" rtlCol="0" anchor="t"/>
          <a:lstStyle/>
          <a:p>
            <a:pPr indent="0" marL="0">
              <a:buNone/>
            </a:pPr>
            <a:r>
              <a:rPr lang="en-US" sz="1300" b="1" dirty="0">
                <a:solidFill>
                  <a:srgbClr val="188038"/>
                </a:solidFill>
                <a:latin typeface="Roboto" pitchFamily="34" charset="0"/>
                <a:ea typeface="Roboto" pitchFamily="34" charset="-122"/>
                <a:cs typeface="Roboto" pitchFamily="34" charset="-120"/>
              </a:rPr>
              <a:t>Pregunta guia</a:t>
            </a:r>
            <a:endParaRPr lang="en-US" sz="1300" dirty="0"/>
          </a:p>
        </p:txBody>
      </p:sp>
      <p:sp>
        <p:nvSpPr>
          <p:cNvPr id="9" name="Text 6"/>
          <p:cNvSpPr txBox="1"/>
          <p:nvPr/>
        </p:nvSpPr>
        <p:spPr>
          <a:xfrm>
            <a:off x="914400" y="4937760"/>
            <a:ext cx="6035040" cy="914400"/>
          </a:xfrm>
          <a:prstGeom prst="rect">
            <a:avLst/>
          </a:prstGeom>
          <a:noFill/>
          <a:ln/>
        </p:spPr>
        <p:txBody>
          <a:bodyPr wrap="square" lIns="0" tIns="0" rIns="0" bIns="0" rtlCol="0" anchor="t"/>
          <a:lstStyle/>
          <a:p>
            <a:pPr indent="0" marL="0">
              <a:buNone/>
            </a:pPr>
            <a:r>
              <a:rPr lang="en-US" sz="1900" dirty="0">
                <a:solidFill>
                  <a:srgbClr val="5F6368"/>
                </a:solidFill>
                <a:latin typeface="Roboto" pitchFamily="34" charset="0"/>
                <a:ea typeface="Roboto" pitchFamily="34" charset="-122"/>
                <a:cs typeface="Roboto" pitchFamily="34" charset="-120"/>
              </a:rPr>
              <a:t>Com podries dir a algú on ets, si fossis al mig de l'oceà i no hi hagués cap carrer ni cap poble a prop?</a:t>
            </a:r>
            <a:endParaRPr lang="en-US" sz="1900" dirty="0"/>
          </a:p>
        </p:txBody>
      </p:sp>
      <p:sp>
        <p:nvSpPr>
          <p:cNvPr id="10" name="Fons Les coordenades geogràfiques"/>
          <p:cNvSpPr/>
          <p:nvPr/>
        </p:nvSpPr>
        <p:spPr>
          <a:xfrm>
            <a:off x="7635240" y="608076"/>
            <a:ext cx="4007815" cy="4572000"/>
          </a:xfrm>
          <a:prstGeom prst="roundRect">
            <a:avLst>
              <a:gd name="adj" fmla="val 2510"/>
            </a:avLst>
          </a:prstGeom>
          <a:solidFill>
            <a:srgbClr val="F6F8FB"/>
          </a:solidFill>
          <a:ln/>
        </p:spPr>
      </p:sp>
      <p:pic>
        <p:nvPicPr>
          <p:cNvPr id="11" name="Les coordenades geogràfiques" descr="/home/claude/p857/build/img/meridia.jpg">    </p:cNvPr>
          <p:cNvPicPr>
            <a:picLocks noChangeAspect="1"/>
          </p:cNvPicPr>
          <p:nvPr/>
        </p:nvPicPr>
        <p:blipFill>
          <a:blip r:embed="rId2"/>
          <a:stretch>
            <a:fillRect/>
          </a:stretch>
        </p:blipFill>
        <p:spPr>
          <a:xfrm>
            <a:off x="8114386" y="608076"/>
            <a:ext cx="3049524" cy="4572000"/>
          </a:xfrm>
          <a:prstGeom prst="rect">
            <a:avLst/>
          </a:prstGeom>
        </p:spPr>
      </p:pic>
      <p:sp>
        <p:nvSpPr>
          <p:cNvPr id="12" name="Text 8"/>
          <p:cNvSpPr txBox="1"/>
          <p:nvPr/>
        </p:nvSpPr>
        <p:spPr>
          <a:xfrm>
            <a:off x="7635240" y="5289804"/>
            <a:ext cx="4007815" cy="685800"/>
          </a:xfrm>
          <a:prstGeom prst="rect">
            <a:avLst/>
          </a:prstGeom>
          <a:noFill/>
          <a:ln/>
        </p:spPr>
        <p:txBody>
          <a:bodyPr wrap="square" lIns="0" tIns="0" rIns="0" bIns="0" rtlCol="0" anchor="t"/>
          <a:lstStyle/>
          <a:p>
            <a:pPr indent="0" marL="0">
              <a:buNone/>
            </a:pPr>
            <a:r>
              <a:rPr lang="en-US" sz="1000" dirty="0">
                <a:solidFill>
                  <a:srgbClr val="5F6368"/>
                </a:solidFill>
                <a:latin typeface="Roboto" pitchFamily="34" charset="0"/>
                <a:ea typeface="Roboto" pitchFamily="34" charset="-122"/>
                <a:cs typeface="Roboto" pitchFamily="34" charset="-120"/>
              </a:rPr>
              <a:t>El meridià de Greenwich, a Londres. La franja vermella de la façana de l'Observatori Reial marca la longitud 0°. Foto: Mike Peel, Wikimedia Commons, CC BY-SA 4.0.</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2</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Una graella imaginària</a:t>
            </a:r>
            <a:endParaRPr lang="en-US" sz="2800" dirty="0"/>
          </a:p>
        </p:txBody>
      </p:sp>
      <p:sp>
        <p:nvSpPr>
          <p:cNvPr id="5" name="Text 3"/>
          <p:cNvSpPr txBox="1"/>
          <p:nvPr/>
        </p:nvSpPr>
        <p:spPr>
          <a:xfrm>
            <a:off x="548640" y="1371600"/>
            <a:ext cx="11094415" cy="594360"/>
          </a:xfrm>
          <a:prstGeom prst="rect">
            <a:avLst/>
          </a:prstGeom>
          <a:noFill/>
          <a:ln/>
        </p:spPr>
        <p:txBody>
          <a:bodyPr wrap="square" lIns="0" tIns="0" rIns="0" bIns="0" rtlCol="0" anchor="t"/>
          <a:lstStyle/>
          <a:p>
            <a:pPr indent="0" marL="0">
              <a:buNone/>
            </a:pPr>
            <a:r>
              <a:rPr lang="en-US" sz="1800" dirty="0">
                <a:solidFill>
                  <a:srgbClr val="202124"/>
                </a:solidFill>
                <a:latin typeface="Roboto" pitchFamily="34" charset="0"/>
                <a:ea typeface="Roboto" pitchFamily="34" charset="-122"/>
                <a:cs typeface="Roboto" pitchFamily="34" charset="-120"/>
              </a:rPr>
              <a:t>Per dir exactament on és un lloc no n'hi ha prou amb «al nord-est». Necessitem un sistema més precís, les coordenades geogràfiques. Funcionen com una graella de línies imaginàries.</a:t>
            </a:r>
            <a:endParaRPr lang="en-US" sz="1800" dirty="0"/>
          </a:p>
        </p:txBody>
      </p:sp>
      <p:sp>
        <p:nvSpPr>
          <p:cNvPr id="6" name="Fons Paral·lels i meridians"/>
          <p:cNvSpPr/>
          <p:nvPr/>
        </p:nvSpPr>
        <p:spPr>
          <a:xfrm>
            <a:off x="548640" y="2148840"/>
            <a:ext cx="6309360" cy="3429000"/>
          </a:xfrm>
          <a:prstGeom prst="roundRect">
            <a:avLst>
              <a:gd name="adj" fmla="val 2933"/>
            </a:avLst>
          </a:prstGeom>
          <a:solidFill>
            <a:srgbClr val="F6F8FB"/>
          </a:solidFill>
          <a:ln/>
        </p:spPr>
      </p:sp>
      <p:pic>
        <p:nvPicPr>
          <p:cNvPr id="7" name="Paral·lels i meridians" descr="/home/claude/p857/build/img/linies.png">    </p:cNvPr>
          <p:cNvPicPr>
            <a:picLocks noChangeAspect="1"/>
          </p:cNvPicPr>
          <p:nvPr/>
        </p:nvPicPr>
        <p:blipFill>
          <a:blip r:embed="rId1"/>
          <a:stretch>
            <a:fillRect/>
          </a:stretch>
        </p:blipFill>
        <p:spPr>
          <a:xfrm>
            <a:off x="673799" y="2148840"/>
            <a:ext cx="6059043" cy="3429000"/>
          </a:xfrm>
          <a:prstGeom prst="rect">
            <a:avLst/>
          </a:prstGeom>
        </p:spPr>
      </p:pic>
      <p:sp>
        <p:nvSpPr>
          <p:cNvPr id="8" name="Text 5"/>
          <p:cNvSpPr txBox="1"/>
          <p:nvPr/>
        </p:nvSpPr>
        <p:spPr>
          <a:xfrm>
            <a:off x="548640" y="5650992"/>
            <a:ext cx="6309360" cy="457200"/>
          </a:xfrm>
          <a:prstGeom prst="rect">
            <a:avLst/>
          </a:prstGeom>
          <a:noFill/>
          <a:ln/>
        </p:spPr>
        <p:txBody>
          <a:bodyPr wrap="square" lIns="0" tIns="0" rIns="0" bIns="0" rtlCol="0" anchor="t"/>
          <a:lstStyle/>
          <a:p>
            <a:pPr indent="0" marL="0">
              <a:buNone/>
            </a:pPr>
            <a:r>
              <a:rPr lang="en-US" sz="1000" dirty="0">
                <a:solidFill>
                  <a:srgbClr val="5F6368"/>
                </a:solidFill>
                <a:latin typeface="Roboto" pitchFamily="34" charset="0"/>
                <a:ea typeface="Roboto" pitchFamily="34" charset="-122"/>
                <a:cs typeface="Roboto" pitchFamily="34" charset="-120"/>
              </a:rPr>
              <a:t>Paral·lels i meridians. En vermell, les dues línies de referència, l'equador i el meridià de Greenwich. Gràfic: professordesocials.cat, CC BY-SA 4.0.</a:t>
            </a:r>
            <a:endParaRPr lang="en-US" sz="1000" dirty="0"/>
          </a:p>
        </p:txBody>
      </p:sp>
      <p:sp>
        <p:nvSpPr>
          <p:cNvPr id="9" name="Targeta Els paral·lels"/>
          <p:cNvSpPr/>
          <p:nvPr/>
        </p:nvSpPr>
        <p:spPr>
          <a:xfrm>
            <a:off x="7178040" y="2148840"/>
            <a:ext cx="4465015" cy="1805940"/>
          </a:xfrm>
          <a:prstGeom prst="roundRect">
            <a:avLst>
              <a:gd name="adj" fmla="val 5570"/>
            </a:avLst>
          </a:prstGeom>
          <a:solidFill>
            <a:srgbClr val="FFFFFF"/>
          </a:solidFill>
          <a:ln w="12700">
            <a:solidFill>
              <a:srgbClr val="DADCE0"/>
            </a:solidFill>
            <a:prstDash val="solid"/>
          </a:ln>
        </p:spPr>
      </p:sp>
      <p:sp>
        <p:nvSpPr>
          <p:cNvPr id="10" name="Text 7"/>
          <p:cNvSpPr txBox="1"/>
          <p:nvPr/>
        </p:nvSpPr>
        <p:spPr>
          <a:xfrm>
            <a:off x="7406640" y="2331720"/>
            <a:ext cx="4007815" cy="304800"/>
          </a:xfrm>
          <a:prstGeom prst="rect">
            <a:avLst/>
          </a:prstGeom>
          <a:noFill/>
          <a:ln/>
        </p:spPr>
        <p:txBody>
          <a:bodyPr wrap="square" lIns="0" tIns="0" rIns="0" bIns="0" rtlCol="0" anchor="t"/>
          <a:lstStyle/>
          <a:p>
            <a:pPr indent="0" marL="0">
              <a:buNone/>
            </a:pPr>
            <a:r>
              <a:rPr lang="en-US" sz="2000" b="1" dirty="0">
                <a:solidFill>
                  <a:srgbClr val="188038"/>
                </a:solidFill>
                <a:latin typeface="Roboto" pitchFamily="34" charset="0"/>
                <a:ea typeface="Roboto" pitchFamily="34" charset="-122"/>
                <a:cs typeface="Roboto" pitchFamily="34" charset="-120"/>
              </a:rPr>
              <a:t>Els paral·lels</a:t>
            </a:r>
            <a:endParaRPr lang="en-US" sz="2000" dirty="0"/>
          </a:p>
        </p:txBody>
      </p:sp>
      <p:sp>
        <p:nvSpPr>
          <p:cNvPr id="11" name="Text 8"/>
          <p:cNvSpPr txBox="1"/>
          <p:nvPr/>
        </p:nvSpPr>
        <p:spPr>
          <a:xfrm>
            <a:off x="7406640" y="2746248"/>
            <a:ext cx="4007815" cy="1089660"/>
          </a:xfrm>
          <a:prstGeom prst="rect">
            <a:avLst/>
          </a:prstGeom>
          <a:noFill/>
          <a:ln/>
        </p:spPr>
        <p:txBody>
          <a:bodyPr wrap="square" lIns="0" tIns="0" rIns="0" bIns="0" rtlCol="0" anchor="t"/>
          <a:lstStyle/>
          <a:p>
            <a:pPr indent="0" marL="0">
              <a:buNone/>
            </a:pPr>
            <a:r>
              <a:rPr lang="en-US" sz="1650" dirty="0">
                <a:solidFill>
                  <a:srgbClr val="202124"/>
                </a:solidFill>
                <a:latin typeface="Roboto" pitchFamily="34" charset="0"/>
                <a:ea typeface="Roboto" pitchFamily="34" charset="-122"/>
                <a:cs typeface="Roboto" pitchFamily="34" charset="-120"/>
              </a:rPr>
              <a:t>Cercles paral·lels a l'equador. L'equador divideix la Terra en dos hemisferis, el nord i el sud.</a:t>
            </a:r>
            <a:endParaRPr lang="en-US" sz="1650" dirty="0"/>
          </a:p>
        </p:txBody>
      </p:sp>
      <p:sp>
        <p:nvSpPr>
          <p:cNvPr id="12" name="Targeta Els meridians"/>
          <p:cNvSpPr/>
          <p:nvPr/>
        </p:nvSpPr>
        <p:spPr>
          <a:xfrm>
            <a:off x="7178040" y="4183380"/>
            <a:ext cx="4465015" cy="1805940"/>
          </a:xfrm>
          <a:prstGeom prst="roundRect">
            <a:avLst>
              <a:gd name="adj" fmla="val 5570"/>
            </a:avLst>
          </a:prstGeom>
          <a:solidFill>
            <a:srgbClr val="FFFFFF"/>
          </a:solidFill>
          <a:ln w="12700">
            <a:solidFill>
              <a:srgbClr val="DADCE0"/>
            </a:solidFill>
            <a:prstDash val="solid"/>
          </a:ln>
        </p:spPr>
      </p:sp>
      <p:sp>
        <p:nvSpPr>
          <p:cNvPr id="13" name="Text 10"/>
          <p:cNvSpPr txBox="1"/>
          <p:nvPr/>
        </p:nvSpPr>
        <p:spPr>
          <a:xfrm>
            <a:off x="7406640" y="4366260"/>
            <a:ext cx="4007815" cy="304800"/>
          </a:xfrm>
          <a:prstGeom prst="rect">
            <a:avLst/>
          </a:prstGeom>
          <a:noFill/>
          <a:ln/>
        </p:spPr>
        <p:txBody>
          <a:bodyPr wrap="square" lIns="0" tIns="0" rIns="0" bIns="0" rtlCol="0" anchor="t"/>
          <a:lstStyle/>
          <a:p>
            <a:pPr indent="0" marL="0">
              <a:buNone/>
            </a:pPr>
            <a:r>
              <a:rPr lang="en-US" sz="2000" b="1" dirty="0">
                <a:solidFill>
                  <a:srgbClr val="188038"/>
                </a:solidFill>
                <a:latin typeface="Roboto" pitchFamily="34" charset="0"/>
                <a:ea typeface="Roboto" pitchFamily="34" charset="-122"/>
                <a:cs typeface="Roboto" pitchFamily="34" charset="-120"/>
              </a:rPr>
              <a:t>Els meridians</a:t>
            </a:r>
            <a:endParaRPr lang="en-US" sz="2000" dirty="0"/>
          </a:p>
        </p:txBody>
      </p:sp>
      <p:sp>
        <p:nvSpPr>
          <p:cNvPr id="14" name="Text 11"/>
          <p:cNvSpPr txBox="1"/>
          <p:nvPr/>
        </p:nvSpPr>
        <p:spPr>
          <a:xfrm>
            <a:off x="7406640" y="4780788"/>
            <a:ext cx="4007815" cy="1089660"/>
          </a:xfrm>
          <a:prstGeom prst="rect">
            <a:avLst/>
          </a:prstGeom>
          <a:noFill/>
          <a:ln/>
        </p:spPr>
        <p:txBody>
          <a:bodyPr wrap="square" lIns="0" tIns="0" rIns="0" bIns="0" rtlCol="0" anchor="t"/>
          <a:lstStyle/>
          <a:p>
            <a:pPr indent="0" marL="0">
              <a:buNone/>
            </a:pPr>
            <a:r>
              <a:rPr lang="en-US" sz="1650" dirty="0">
                <a:solidFill>
                  <a:srgbClr val="202124"/>
                </a:solidFill>
                <a:latin typeface="Roboto" pitchFamily="34" charset="0"/>
                <a:ea typeface="Roboto" pitchFamily="34" charset="-122"/>
                <a:cs typeface="Roboto" pitchFamily="34" charset="-120"/>
              </a:rPr>
              <a:t>Línies que van del pol Nord al pol Sud. El de Greenwich, que passa per Londres, divideix la Terra en l'hemisferi est i l'hemisferi oest.</a:t>
            </a:r>
            <a:endParaRPr lang="en-US" sz="16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2</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Latitud i longitud</a:t>
            </a:r>
            <a:endParaRPr lang="en-US" sz="2800" dirty="0"/>
          </a:p>
        </p:txBody>
      </p:sp>
      <p:sp>
        <p:nvSpPr>
          <p:cNvPr id="5" name="Text 3"/>
          <p:cNvSpPr txBox="1"/>
          <p:nvPr/>
        </p:nvSpPr>
        <p:spPr>
          <a:xfrm>
            <a:off x="548640" y="1371600"/>
            <a:ext cx="11094415" cy="457200"/>
          </a:xfrm>
          <a:prstGeom prst="rect">
            <a:avLst/>
          </a:prstGeom>
          <a:noFill/>
          <a:ln/>
        </p:spPr>
        <p:txBody>
          <a:bodyPr wrap="square" lIns="0" tIns="0" rIns="0" bIns="0" rtlCol="0" anchor="t"/>
          <a:lstStyle/>
          <a:p>
            <a:pPr indent="0" marL="0">
              <a:buNone/>
            </a:pPr>
            <a:r>
              <a:rPr lang="en-US" sz="1800" dirty="0">
                <a:solidFill>
                  <a:srgbClr val="202124"/>
                </a:solidFill>
                <a:latin typeface="Roboto" pitchFamily="34" charset="0"/>
                <a:ea typeface="Roboto" pitchFamily="34" charset="-122"/>
                <a:cs typeface="Roboto" pitchFamily="34" charset="-120"/>
              </a:rPr>
              <a:t>Cada lloc té dues coordenades, que es mesuren en graus (°).</a:t>
            </a:r>
            <a:endParaRPr lang="en-US" sz="1800" dirty="0"/>
          </a:p>
        </p:txBody>
      </p:sp>
      <p:sp>
        <p:nvSpPr>
          <p:cNvPr id="6" name="Targeta Latitud"/>
          <p:cNvSpPr/>
          <p:nvPr/>
        </p:nvSpPr>
        <p:spPr>
          <a:xfrm>
            <a:off x="548640" y="1920240"/>
            <a:ext cx="5410048" cy="2606040"/>
          </a:xfrm>
          <a:prstGeom prst="roundRect">
            <a:avLst>
              <a:gd name="adj" fmla="val 3860"/>
            </a:avLst>
          </a:prstGeom>
          <a:solidFill>
            <a:srgbClr val="FFFFFF"/>
          </a:solidFill>
          <a:ln w="12700">
            <a:solidFill>
              <a:srgbClr val="DADCE0"/>
            </a:solidFill>
            <a:prstDash val="solid"/>
          </a:ln>
        </p:spPr>
      </p:sp>
      <p:sp>
        <p:nvSpPr>
          <p:cNvPr id="7" name="Cercle icona"/>
          <p:cNvSpPr/>
          <p:nvPr/>
        </p:nvSpPr>
        <p:spPr>
          <a:xfrm>
            <a:off x="777240" y="2148840"/>
            <a:ext cx="548640" cy="548640"/>
          </a:xfrm>
          <a:prstGeom prst="ellipse">
            <a:avLst/>
          </a:prstGeom>
          <a:solidFill>
            <a:srgbClr val="E6F4EA"/>
          </a:solidFill>
          <a:ln/>
        </p:spPr>
      </p:sp>
      <p:pic>
        <p:nvPicPr>
          <p:cNvPr id="8" name="Icona TbArrowsVertical" descr="/home/claude/p857/build/img/ic/TbArrowsVertical-g.png">    </p:cNvPr>
          <p:cNvPicPr>
            <a:picLocks noChangeAspect="1"/>
          </p:cNvPicPr>
          <p:nvPr/>
        </p:nvPicPr>
        <p:blipFill>
          <a:blip r:embed="rId1"/>
          <a:stretch>
            <a:fillRect/>
          </a:stretch>
        </p:blipFill>
        <p:spPr>
          <a:xfrm>
            <a:off x="897941" y="2269541"/>
            <a:ext cx="307238" cy="307238"/>
          </a:xfrm>
          <a:prstGeom prst="rect">
            <a:avLst/>
          </a:prstGeom>
        </p:spPr>
      </p:pic>
      <p:sp>
        <p:nvSpPr>
          <p:cNvPr id="9" name="Text 6"/>
          <p:cNvSpPr txBox="1"/>
          <p:nvPr/>
        </p:nvSpPr>
        <p:spPr>
          <a:xfrm>
            <a:off x="1463040" y="2148840"/>
            <a:ext cx="4312768" cy="548640"/>
          </a:xfrm>
          <a:prstGeom prst="rect">
            <a:avLst/>
          </a:prstGeom>
          <a:noFill/>
          <a:ln/>
        </p:spPr>
        <p:txBody>
          <a:bodyPr wrap="square" lIns="0" tIns="0" rIns="0" bIns="0" rtlCol="0" anchor="ctr"/>
          <a:lstStyle/>
          <a:p>
            <a:pPr indent="0" marL="0">
              <a:buNone/>
            </a:pPr>
            <a:r>
              <a:rPr lang="en-US" sz="1600" b="1" dirty="0">
                <a:solidFill>
                  <a:srgbClr val="5F6368"/>
                </a:solidFill>
                <a:latin typeface="Roboto" pitchFamily="34" charset="0"/>
                <a:ea typeface="Roboto" pitchFamily="34" charset="-122"/>
                <a:cs typeface="Roboto" pitchFamily="34" charset="-120"/>
              </a:rPr>
              <a:t>Latitud</a:t>
            </a:r>
            <a:endParaRPr lang="en-US" sz="1600" dirty="0"/>
          </a:p>
        </p:txBody>
      </p:sp>
      <p:sp>
        <p:nvSpPr>
          <p:cNvPr id="10" name="Text 7"/>
          <p:cNvSpPr txBox="1"/>
          <p:nvPr/>
        </p:nvSpPr>
        <p:spPr>
          <a:xfrm>
            <a:off x="777240" y="2834640"/>
            <a:ext cx="4952848" cy="960120"/>
          </a:xfrm>
          <a:prstGeom prst="rect">
            <a:avLst/>
          </a:prstGeom>
          <a:noFill/>
          <a:ln/>
        </p:spPr>
        <p:txBody>
          <a:bodyPr wrap="square" lIns="0" tIns="0" rIns="0" bIns="0" rtlCol="0" anchor="ctr"/>
          <a:lstStyle/>
          <a:p>
            <a:pPr indent="0" marL="0">
              <a:buNone/>
            </a:pPr>
            <a:r>
              <a:rPr lang="en-US" sz="3400" b="1" dirty="0">
                <a:solidFill>
                  <a:srgbClr val="188038"/>
                </a:solidFill>
                <a:latin typeface="Roboto" pitchFamily="34" charset="0"/>
                <a:ea typeface="Roboto" pitchFamily="34" charset="-122"/>
                <a:cs typeface="Roboto" pitchFamily="34" charset="-120"/>
              </a:rPr>
              <a:t>De 0° a 90°</a:t>
            </a:r>
            <a:endParaRPr lang="en-US" sz="3400" dirty="0"/>
          </a:p>
        </p:txBody>
      </p:sp>
      <p:sp>
        <p:nvSpPr>
          <p:cNvPr id="11" name="Text 8"/>
          <p:cNvSpPr txBox="1"/>
          <p:nvPr/>
        </p:nvSpPr>
        <p:spPr>
          <a:xfrm>
            <a:off x="777240" y="3840480"/>
            <a:ext cx="4952848" cy="548640"/>
          </a:xfrm>
          <a:prstGeom prst="rect">
            <a:avLst/>
          </a:prstGeom>
          <a:noFill/>
          <a:ln/>
        </p:spPr>
        <p:txBody>
          <a:bodyPr wrap="square" lIns="0" tIns="0" rIns="0" bIns="0" rtlCol="0" anchor="t"/>
          <a:lstStyle/>
          <a:p>
            <a:pPr indent="0" marL="0">
              <a:buNone/>
            </a:pPr>
            <a:r>
              <a:rPr lang="en-US" sz="1800" dirty="0">
                <a:solidFill>
                  <a:srgbClr val="202124"/>
                </a:solidFill>
                <a:latin typeface="Roboto" pitchFamily="34" charset="0"/>
                <a:ea typeface="Roboto" pitchFamily="34" charset="-122"/>
                <a:cs typeface="Roboto" pitchFamily="34" charset="-120"/>
              </a:rPr>
              <a:t>A quants graus està un lloc al nord o al sud de l'equador.</a:t>
            </a:r>
            <a:endParaRPr lang="en-US" sz="1800" dirty="0"/>
          </a:p>
        </p:txBody>
      </p:sp>
      <p:sp>
        <p:nvSpPr>
          <p:cNvPr id="12" name="Targeta Longitud"/>
          <p:cNvSpPr/>
          <p:nvPr/>
        </p:nvSpPr>
        <p:spPr>
          <a:xfrm>
            <a:off x="6233008" y="1920240"/>
            <a:ext cx="5410048" cy="2606040"/>
          </a:xfrm>
          <a:prstGeom prst="roundRect">
            <a:avLst>
              <a:gd name="adj" fmla="val 3860"/>
            </a:avLst>
          </a:prstGeom>
          <a:solidFill>
            <a:srgbClr val="188038"/>
          </a:solidFill>
          <a:ln/>
        </p:spPr>
      </p:sp>
      <p:sp>
        <p:nvSpPr>
          <p:cNvPr id="13" name="Cercle icona"/>
          <p:cNvSpPr/>
          <p:nvPr/>
        </p:nvSpPr>
        <p:spPr>
          <a:xfrm>
            <a:off x="6461608" y="2148840"/>
            <a:ext cx="548640" cy="548640"/>
          </a:xfrm>
          <a:prstGeom prst="ellipse">
            <a:avLst/>
          </a:prstGeom>
          <a:solidFill>
            <a:srgbClr val="FFFFFF"/>
          </a:solidFill>
          <a:ln/>
        </p:spPr>
      </p:sp>
      <p:pic>
        <p:nvPicPr>
          <p:cNvPr id="14" name="Icona TbArrowsHorizontal" descr="/home/claude/p857/build/img/ic/TbArrowsHorizontal-g.png">    </p:cNvPr>
          <p:cNvPicPr>
            <a:picLocks noChangeAspect="1"/>
          </p:cNvPicPr>
          <p:nvPr/>
        </p:nvPicPr>
        <p:blipFill>
          <a:blip r:embed="rId2"/>
          <a:stretch>
            <a:fillRect/>
          </a:stretch>
        </p:blipFill>
        <p:spPr>
          <a:xfrm>
            <a:off x="6582308" y="2269541"/>
            <a:ext cx="307238" cy="307238"/>
          </a:xfrm>
          <a:prstGeom prst="rect">
            <a:avLst/>
          </a:prstGeom>
        </p:spPr>
      </p:pic>
      <p:sp>
        <p:nvSpPr>
          <p:cNvPr id="15" name="Text 11"/>
          <p:cNvSpPr txBox="1"/>
          <p:nvPr/>
        </p:nvSpPr>
        <p:spPr>
          <a:xfrm>
            <a:off x="7147408" y="2148840"/>
            <a:ext cx="4312768" cy="548640"/>
          </a:xfrm>
          <a:prstGeom prst="rect">
            <a:avLst/>
          </a:prstGeom>
          <a:noFill/>
          <a:ln/>
        </p:spPr>
        <p:txBody>
          <a:bodyPr wrap="square" lIns="0" tIns="0" rIns="0" bIns="0" rtlCol="0" anchor="ctr"/>
          <a:lstStyle/>
          <a:p>
            <a:pPr indent="0" marL="0">
              <a:buNone/>
            </a:pPr>
            <a:r>
              <a:rPr lang="en-US" sz="1600" b="1" dirty="0">
                <a:solidFill>
                  <a:srgbClr val="FFFFFF"/>
                </a:solidFill>
                <a:latin typeface="Roboto" pitchFamily="34" charset="0"/>
                <a:ea typeface="Roboto" pitchFamily="34" charset="-122"/>
                <a:cs typeface="Roboto" pitchFamily="34" charset="-120"/>
              </a:rPr>
              <a:t>Longitud</a:t>
            </a:r>
            <a:endParaRPr lang="en-US" sz="1600" dirty="0"/>
          </a:p>
        </p:txBody>
      </p:sp>
      <p:sp>
        <p:nvSpPr>
          <p:cNvPr id="16" name="Text 12"/>
          <p:cNvSpPr txBox="1"/>
          <p:nvPr/>
        </p:nvSpPr>
        <p:spPr>
          <a:xfrm>
            <a:off x="6461608" y="2834640"/>
            <a:ext cx="4952848" cy="960120"/>
          </a:xfrm>
          <a:prstGeom prst="rect">
            <a:avLst/>
          </a:prstGeom>
          <a:noFill/>
          <a:ln/>
        </p:spPr>
        <p:txBody>
          <a:bodyPr wrap="square" lIns="0" tIns="0" rIns="0" bIns="0" rtlCol="0" anchor="ctr"/>
          <a:lstStyle/>
          <a:p>
            <a:pPr indent="0" marL="0">
              <a:buNone/>
            </a:pPr>
            <a:r>
              <a:rPr lang="en-US" sz="3400" b="1" dirty="0">
                <a:solidFill>
                  <a:srgbClr val="FFFFFF"/>
                </a:solidFill>
                <a:latin typeface="Roboto" pitchFamily="34" charset="0"/>
                <a:ea typeface="Roboto" pitchFamily="34" charset="-122"/>
                <a:cs typeface="Roboto" pitchFamily="34" charset="-120"/>
              </a:rPr>
              <a:t>De 0° a 180°</a:t>
            </a:r>
            <a:endParaRPr lang="en-US" sz="3400" dirty="0"/>
          </a:p>
        </p:txBody>
      </p:sp>
      <p:sp>
        <p:nvSpPr>
          <p:cNvPr id="17" name="Text 13"/>
          <p:cNvSpPr txBox="1"/>
          <p:nvPr/>
        </p:nvSpPr>
        <p:spPr>
          <a:xfrm>
            <a:off x="6461608" y="3840480"/>
            <a:ext cx="4952848" cy="548640"/>
          </a:xfrm>
          <a:prstGeom prst="rect">
            <a:avLst/>
          </a:prstGeom>
          <a:noFill/>
          <a:ln/>
        </p:spPr>
        <p:txBody>
          <a:bodyPr wrap="square" lIns="0" tIns="0" rIns="0" bIns="0" rtlCol="0" anchor="t"/>
          <a:lstStyle/>
          <a:p>
            <a:pPr indent="0" marL="0">
              <a:buNone/>
            </a:pPr>
            <a:r>
              <a:rPr lang="en-US" sz="1800" dirty="0">
                <a:solidFill>
                  <a:srgbClr val="FFFFFF"/>
                </a:solidFill>
                <a:latin typeface="Roboto" pitchFamily="34" charset="0"/>
                <a:ea typeface="Roboto" pitchFamily="34" charset="-122"/>
                <a:cs typeface="Roboto" pitchFamily="34" charset="-120"/>
              </a:rPr>
              <a:t>A quants graus està a l'est o a l'oest de Greenwich.</a:t>
            </a:r>
            <a:endParaRPr lang="en-US" sz="1800" dirty="0"/>
          </a:p>
        </p:txBody>
      </p:sp>
      <p:sp>
        <p:nvSpPr>
          <p:cNvPr id="18" name="Encara més precisos"/>
          <p:cNvSpPr/>
          <p:nvPr/>
        </p:nvSpPr>
        <p:spPr>
          <a:xfrm>
            <a:off x="548640" y="4754880"/>
            <a:ext cx="5410048" cy="1234440"/>
          </a:xfrm>
          <a:prstGeom prst="roundRect">
            <a:avLst>
              <a:gd name="adj" fmla="val 8148"/>
            </a:avLst>
          </a:prstGeom>
          <a:solidFill>
            <a:srgbClr val="F6F8FB"/>
          </a:solidFill>
          <a:ln/>
        </p:spPr>
      </p:sp>
      <p:sp>
        <p:nvSpPr>
          <p:cNvPr id="19" name="Text 15"/>
          <p:cNvSpPr txBox="1"/>
          <p:nvPr/>
        </p:nvSpPr>
        <p:spPr>
          <a:xfrm>
            <a:off x="868680" y="4910328"/>
            <a:ext cx="4769968" cy="320040"/>
          </a:xfrm>
          <a:prstGeom prst="rect">
            <a:avLst/>
          </a:prstGeom>
          <a:noFill/>
          <a:ln/>
        </p:spPr>
        <p:txBody>
          <a:bodyPr wrap="square" lIns="0" tIns="0" rIns="0" bIns="0" rtlCol="0" anchor="t"/>
          <a:lstStyle/>
          <a:p>
            <a:pPr indent="0" marL="0">
              <a:buNone/>
            </a:pPr>
            <a:r>
              <a:rPr lang="en-US" sz="1400" b="1" dirty="0">
                <a:solidFill>
                  <a:srgbClr val="202124"/>
                </a:solidFill>
                <a:latin typeface="Roboto" pitchFamily="34" charset="0"/>
                <a:ea typeface="Roboto" pitchFamily="34" charset="-122"/>
                <a:cs typeface="Roboto" pitchFamily="34" charset="-120"/>
              </a:rPr>
              <a:t>Encara més precisos</a:t>
            </a:r>
            <a:endParaRPr lang="en-US" sz="1400" dirty="0"/>
          </a:p>
        </p:txBody>
      </p:sp>
      <p:sp>
        <p:nvSpPr>
          <p:cNvPr id="20" name="Text 16"/>
          <p:cNvSpPr txBox="1"/>
          <p:nvPr/>
        </p:nvSpPr>
        <p:spPr>
          <a:xfrm>
            <a:off x="868680" y="5257800"/>
            <a:ext cx="4769968" cy="594360"/>
          </a:xfrm>
          <a:prstGeom prst="rect">
            <a:avLst/>
          </a:prstGeom>
          <a:noFill/>
          <a:ln/>
        </p:spPr>
        <p:txBody>
          <a:bodyPr wrap="square" lIns="0" tIns="0" rIns="0" bIns="0" rtlCol="0" anchor="t"/>
          <a:lstStyle/>
          <a:p>
            <a:pPr indent="0" marL="0">
              <a:buNone/>
            </a:pPr>
            <a:r>
              <a:rPr lang="en-US" sz="1600" dirty="0">
                <a:solidFill>
                  <a:srgbClr val="5F6368"/>
                </a:solidFill>
                <a:latin typeface="Roboto" pitchFamily="34" charset="0"/>
                <a:ea typeface="Roboto" pitchFamily="34" charset="-122"/>
                <a:cs typeface="Roboto" pitchFamily="34" charset="-120"/>
              </a:rPr>
              <a:t>Cada grau es divideix en 60 minuts (′), i cada minut en 60 segons (″), com les hores del rellotge.</a:t>
            </a:r>
            <a:endParaRPr lang="en-US" sz="1600" dirty="0"/>
          </a:p>
        </p:txBody>
      </p:sp>
      <p:sp>
        <p:nvSpPr>
          <p:cNvPr id="21" name="Paraula clau · Coordenades geogràfiques"/>
          <p:cNvSpPr/>
          <p:nvPr/>
        </p:nvSpPr>
        <p:spPr>
          <a:xfrm>
            <a:off x="6233008" y="4754880"/>
            <a:ext cx="5410048" cy="1234440"/>
          </a:xfrm>
          <a:prstGeom prst="roundRect">
            <a:avLst>
              <a:gd name="adj" fmla="val 8148"/>
            </a:avLst>
          </a:prstGeom>
          <a:solidFill>
            <a:srgbClr val="E6F4EA"/>
          </a:solidFill>
          <a:ln/>
        </p:spPr>
      </p:sp>
      <p:sp>
        <p:nvSpPr>
          <p:cNvPr id="22" name="Text 18"/>
          <p:cNvSpPr txBox="1"/>
          <p:nvPr/>
        </p:nvSpPr>
        <p:spPr>
          <a:xfrm>
            <a:off x="6553048" y="4910328"/>
            <a:ext cx="4769968" cy="320040"/>
          </a:xfrm>
          <a:prstGeom prst="rect">
            <a:avLst/>
          </a:prstGeom>
          <a:noFill/>
          <a:ln/>
        </p:spPr>
        <p:txBody>
          <a:bodyPr wrap="square" lIns="0" tIns="0" rIns="0" bIns="0" rtlCol="0" anchor="t"/>
          <a:lstStyle/>
          <a:p>
            <a:pPr indent="0" marL="0">
              <a:buNone/>
            </a:pPr>
            <a:r>
              <a:rPr lang="en-US" sz="1400" b="1" dirty="0">
                <a:solidFill>
                  <a:srgbClr val="188038"/>
                </a:solidFill>
                <a:latin typeface="Roboto" pitchFamily="34" charset="0"/>
                <a:ea typeface="Roboto" pitchFamily="34" charset="-122"/>
                <a:cs typeface="Roboto" pitchFamily="34" charset="-120"/>
              </a:rPr>
              <a:t>Paraula clau · Coordenades geogràfiques</a:t>
            </a:r>
            <a:endParaRPr lang="en-US" sz="1400" dirty="0"/>
          </a:p>
        </p:txBody>
      </p:sp>
      <p:sp>
        <p:nvSpPr>
          <p:cNvPr id="23" name="Text 19"/>
          <p:cNvSpPr txBox="1"/>
          <p:nvPr/>
        </p:nvSpPr>
        <p:spPr>
          <a:xfrm>
            <a:off x="6553048" y="5257800"/>
            <a:ext cx="4769968" cy="594360"/>
          </a:xfrm>
          <a:prstGeom prst="rect">
            <a:avLst/>
          </a:prstGeom>
          <a:noFill/>
          <a:ln/>
        </p:spPr>
        <p:txBody>
          <a:bodyPr wrap="square" lIns="0" tIns="0" rIns="0" bIns="0" rtlCol="0" anchor="t"/>
          <a:lstStyle/>
          <a:p>
            <a:pPr indent="0" marL="0">
              <a:buNone/>
            </a:pPr>
            <a:r>
              <a:rPr lang="en-US" sz="1600" dirty="0">
                <a:solidFill>
                  <a:srgbClr val="202124"/>
                </a:solidFill>
                <a:latin typeface="Roboto" pitchFamily="34" charset="0"/>
                <a:ea typeface="Roboto" pitchFamily="34" charset="-122"/>
                <a:cs typeface="Roboto" pitchFamily="34" charset="-120"/>
              </a:rPr>
              <a:t>Parella de valors, la latitud i la longitud, que diuen exactament on és un punt de la Terra.</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2</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El món en una graella</a:t>
            </a:r>
            <a:endParaRPr lang="en-US" sz="2800" dirty="0"/>
          </a:p>
        </p:txBody>
      </p:sp>
      <p:sp>
        <p:nvSpPr>
          <p:cNvPr id="5" name="Fons El món en una graella"/>
          <p:cNvSpPr/>
          <p:nvPr/>
        </p:nvSpPr>
        <p:spPr>
          <a:xfrm>
            <a:off x="548640" y="1371600"/>
            <a:ext cx="7863840" cy="3456633"/>
          </a:xfrm>
          <a:prstGeom prst="roundRect">
            <a:avLst>
              <a:gd name="adj" fmla="val 2910"/>
            </a:avLst>
          </a:prstGeom>
          <a:solidFill>
            <a:srgbClr val="F6F8FB"/>
          </a:solidFill>
          <a:ln/>
        </p:spPr>
      </p:sp>
      <p:pic>
        <p:nvPicPr>
          <p:cNvPr id="6" name="El món en una graella" descr="/home/claude/p857/build/img/graella.png">    </p:cNvPr>
          <p:cNvPicPr>
            <a:picLocks noChangeAspect="1"/>
          </p:cNvPicPr>
          <p:nvPr/>
        </p:nvPicPr>
        <p:blipFill>
          <a:blip r:embed="rId1"/>
          <a:stretch>
            <a:fillRect/>
          </a:stretch>
        </p:blipFill>
        <p:spPr>
          <a:xfrm>
            <a:off x="548640" y="1371600"/>
            <a:ext cx="7863840" cy="3456633"/>
          </a:xfrm>
          <a:prstGeom prst="rect">
            <a:avLst/>
          </a:prstGeom>
        </p:spPr>
      </p:pic>
      <p:sp>
        <p:nvSpPr>
          <p:cNvPr id="7" name="Text 4"/>
          <p:cNvSpPr txBox="1"/>
          <p:nvPr/>
        </p:nvSpPr>
        <p:spPr>
          <a:xfrm>
            <a:off x="548640" y="4901385"/>
            <a:ext cx="7863840" cy="457200"/>
          </a:xfrm>
          <a:prstGeom prst="rect">
            <a:avLst/>
          </a:prstGeom>
          <a:noFill/>
          <a:ln/>
        </p:spPr>
        <p:txBody>
          <a:bodyPr wrap="square" lIns="0" tIns="0" rIns="0" bIns="0" rtlCol="0" anchor="t"/>
          <a:lstStyle/>
          <a:p>
            <a:pPr indent="0" marL="0">
              <a:buNone/>
            </a:pPr>
            <a:r>
              <a:rPr lang="en-US" sz="1000" dirty="0">
                <a:solidFill>
                  <a:srgbClr val="5F6368"/>
                </a:solidFill>
                <a:latin typeface="Roboto" pitchFamily="34" charset="0"/>
                <a:ea typeface="Roboto" pitchFamily="34" charset="-122"/>
                <a:cs typeface="Roboto" pitchFamily="34" charset="-120"/>
              </a:rPr>
              <a:t>El món en una graella. Cada línia blava són 30°. Mapa: professordesocials.cat, CC BY-SA 4.0. Base cartogràfica: Natural Earth (domini públic).</a:t>
            </a:r>
            <a:endParaRPr lang="en-US" sz="1000" dirty="0"/>
          </a:p>
        </p:txBody>
      </p:sp>
      <p:sp>
        <p:nvSpPr>
          <p:cNvPr id="8" name="Quatre hemisferis"/>
          <p:cNvSpPr/>
          <p:nvPr/>
        </p:nvSpPr>
        <p:spPr>
          <a:xfrm>
            <a:off x="8732520" y="1371600"/>
            <a:ext cx="2910535" cy="1965960"/>
          </a:xfrm>
          <a:prstGeom prst="roundRect">
            <a:avLst>
              <a:gd name="adj" fmla="val 5116"/>
            </a:avLst>
          </a:prstGeom>
          <a:solidFill>
            <a:srgbClr val="E6F4EA"/>
          </a:solidFill>
          <a:ln/>
        </p:spPr>
      </p:sp>
      <p:sp>
        <p:nvSpPr>
          <p:cNvPr id="9" name="Text 6"/>
          <p:cNvSpPr txBox="1"/>
          <p:nvPr/>
        </p:nvSpPr>
        <p:spPr>
          <a:xfrm>
            <a:off x="9052560" y="1527048"/>
            <a:ext cx="2270455" cy="320040"/>
          </a:xfrm>
          <a:prstGeom prst="rect">
            <a:avLst/>
          </a:prstGeom>
          <a:noFill/>
          <a:ln/>
        </p:spPr>
        <p:txBody>
          <a:bodyPr wrap="square" lIns="0" tIns="0" rIns="0" bIns="0" rtlCol="0" anchor="t"/>
          <a:lstStyle/>
          <a:p>
            <a:pPr indent="0" marL="0">
              <a:buNone/>
            </a:pPr>
            <a:r>
              <a:rPr lang="en-US" sz="1400" b="1" dirty="0">
                <a:solidFill>
                  <a:srgbClr val="188038"/>
                </a:solidFill>
                <a:latin typeface="Roboto" pitchFamily="34" charset="0"/>
                <a:ea typeface="Roboto" pitchFamily="34" charset="-122"/>
                <a:cs typeface="Roboto" pitchFamily="34" charset="-120"/>
              </a:rPr>
              <a:t>Quatre hemisferis</a:t>
            </a:r>
            <a:endParaRPr lang="en-US" sz="1400" dirty="0"/>
          </a:p>
        </p:txBody>
      </p:sp>
      <p:sp>
        <p:nvSpPr>
          <p:cNvPr id="10" name="Text 7"/>
          <p:cNvSpPr txBox="1"/>
          <p:nvPr/>
        </p:nvSpPr>
        <p:spPr>
          <a:xfrm>
            <a:off x="9052560" y="1874520"/>
            <a:ext cx="2270455" cy="1325880"/>
          </a:xfrm>
          <a:prstGeom prst="rect">
            <a:avLst/>
          </a:prstGeom>
          <a:noFill/>
          <a:ln/>
        </p:spPr>
        <p:txBody>
          <a:bodyPr wrap="square" lIns="0" tIns="0" rIns="0" bIns="0" rtlCol="0" anchor="t"/>
          <a:lstStyle/>
          <a:p>
            <a:pPr indent="0" marL="0">
              <a:buNone/>
            </a:pPr>
            <a:r>
              <a:rPr lang="en-US" sz="1700" dirty="0">
                <a:solidFill>
                  <a:srgbClr val="202124"/>
                </a:solidFill>
                <a:latin typeface="Roboto" pitchFamily="34" charset="0"/>
                <a:ea typeface="Roboto" pitchFamily="34" charset="-122"/>
                <a:cs typeface="Roboto" pitchFamily="34" charset="-120"/>
              </a:rPr>
              <a:t>L'equador i el meridià de Greenwich, en vermell, separen els quatre hemisferis.</a:t>
            </a:r>
            <a:endParaRPr lang="en-US" sz="1700" dirty="0"/>
          </a:p>
        </p:txBody>
      </p:sp>
      <p:sp>
        <p:nvSpPr>
          <p:cNvPr id="11" name="Fixa-t'hi"/>
          <p:cNvSpPr/>
          <p:nvPr/>
        </p:nvSpPr>
        <p:spPr>
          <a:xfrm>
            <a:off x="8732520" y="3566160"/>
            <a:ext cx="2910535" cy="1691640"/>
          </a:xfrm>
          <a:prstGeom prst="roundRect">
            <a:avLst>
              <a:gd name="adj" fmla="val 5946"/>
            </a:avLst>
          </a:prstGeom>
          <a:solidFill>
            <a:srgbClr val="F6F8FB"/>
          </a:solidFill>
          <a:ln/>
        </p:spPr>
      </p:sp>
      <p:sp>
        <p:nvSpPr>
          <p:cNvPr id="12" name="Text 9"/>
          <p:cNvSpPr txBox="1"/>
          <p:nvPr/>
        </p:nvSpPr>
        <p:spPr>
          <a:xfrm>
            <a:off x="9052560" y="3721608"/>
            <a:ext cx="2270455" cy="320040"/>
          </a:xfrm>
          <a:prstGeom prst="rect">
            <a:avLst/>
          </a:prstGeom>
          <a:noFill/>
          <a:ln/>
        </p:spPr>
        <p:txBody>
          <a:bodyPr wrap="square" lIns="0" tIns="0" rIns="0" bIns="0" rtlCol="0" anchor="t"/>
          <a:lstStyle/>
          <a:p>
            <a:pPr indent="0" marL="0">
              <a:buNone/>
            </a:pPr>
            <a:r>
              <a:rPr lang="en-US" sz="1400" b="1" dirty="0">
                <a:solidFill>
                  <a:srgbClr val="202124"/>
                </a:solidFill>
                <a:latin typeface="Roboto" pitchFamily="34" charset="0"/>
                <a:ea typeface="Roboto" pitchFamily="34" charset="-122"/>
                <a:cs typeface="Roboto" pitchFamily="34" charset="-120"/>
              </a:rPr>
              <a:t>Fixa-t'hi</a:t>
            </a:r>
            <a:endParaRPr lang="en-US" sz="1400" dirty="0"/>
          </a:p>
        </p:txBody>
      </p:sp>
      <p:sp>
        <p:nvSpPr>
          <p:cNvPr id="13" name="Text 10"/>
          <p:cNvSpPr txBox="1"/>
          <p:nvPr/>
        </p:nvSpPr>
        <p:spPr>
          <a:xfrm>
            <a:off x="9052560" y="4069080"/>
            <a:ext cx="2270455" cy="1051560"/>
          </a:xfrm>
          <a:prstGeom prst="rect">
            <a:avLst/>
          </a:prstGeom>
          <a:noFill/>
          <a:ln/>
        </p:spPr>
        <p:txBody>
          <a:bodyPr wrap="square" lIns="0" tIns="0" rIns="0" bIns="0" rtlCol="0" anchor="t"/>
          <a:lstStyle/>
          <a:p>
            <a:pPr indent="0" marL="0">
              <a:buNone/>
            </a:pPr>
            <a:r>
              <a:rPr lang="en-US" sz="1700" dirty="0">
                <a:solidFill>
                  <a:srgbClr val="5F6368"/>
                </a:solidFill>
                <a:latin typeface="Roboto" pitchFamily="34" charset="0"/>
                <a:ea typeface="Roboto" pitchFamily="34" charset="-122"/>
                <a:cs typeface="Roboto" pitchFamily="34" charset="-120"/>
              </a:rPr>
              <a:t>Barcelona i Nova York són gairebé a la mateixa latitud, uns 41° N.</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2</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Saps que…? El meridià zero</a:t>
            </a:r>
            <a:endParaRPr lang="en-US" sz="2800" dirty="0"/>
          </a:p>
        </p:txBody>
      </p:sp>
      <p:sp>
        <p:nvSpPr>
          <p:cNvPr id="5" name="Fons El meridià de Greenwich travessa la península Ibèrica"/>
          <p:cNvSpPr/>
          <p:nvPr/>
        </p:nvSpPr>
        <p:spPr>
          <a:xfrm>
            <a:off x="548640" y="1371600"/>
            <a:ext cx="5669280" cy="4114800"/>
          </a:xfrm>
          <a:prstGeom prst="roundRect">
            <a:avLst>
              <a:gd name="adj" fmla="val 2444"/>
            </a:avLst>
          </a:prstGeom>
          <a:solidFill>
            <a:srgbClr val="F6F8FB"/>
          </a:solidFill>
          <a:ln/>
        </p:spPr>
      </p:sp>
      <p:pic>
        <p:nvPicPr>
          <p:cNvPr id="6" name="El meridià de Greenwich travessa la península Ibèrica" descr="/home/claude/p857/build/img/greenwich.png">    </p:cNvPr>
          <p:cNvPicPr>
            <a:picLocks noChangeAspect="1"/>
          </p:cNvPicPr>
          <p:nvPr/>
        </p:nvPicPr>
        <p:blipFill>
          <a:blip r:embed="rId1"/>
          <a:stretch>
            <a:fillRect/>
          </a:stretch>
        </p:blipFill>
        <p:spPr>
          <a:xfrm>
            <a:off x="556412" y="1371600"/>
            <a:ext cx="5653735" cy="4114800"/>
          </a:xfrm>
          <a:prstGeom prst="rect">
            <a:avLst/>
          </a:prstGeom>
        </p:spPr>
      </p:pic>
      <p:sp>
        <p:nvSpPr>
          <p:cNvPr id="7" name="Text 4"/>
          <p:cNvSpPr txBox="1"/>
          <p:nvPr/>
        </p:nvSpPr>
        <p:spPr>
          <a:xfrm>
            <a:off x="548640" y="5559552"/>
            <a:ext cx="5669280" cy="457200"/>
          </a:xfrm>
          <a:prstGeom prst="rect">
            <a:avLst/>
          </a:prstGeom>
          <a:noFill/>
          <a:ln/>
        </p:spPr>
        <p:txBody>
          <a:bodyPr wrap="square" lIns="0" tIns="0" rIns="0" bIns="0" rtlCol="0" anchor="t"/>
          <a:lstStyle/>
          <a:p>
            <a:pPr indent="0" marL="0">
              <a:buNone/>
            </a:pPr>
            <a:r>
              <a:rPr lang="en-US" sz="1000" dirty="0">
                <a:solidFill>
                  <a:srgbClr val="5F6368"/>
                </a:solidFill>
                <a:latin typeface="Roboto" pitchFamily="34" charset="0"/>
                <a:ea typeface="Roboto" pitchFamily="34" charset="-122"/>
                <a:cs typeface="Roboto" pitchFamily="34" charset="-120"/>
              </a:rPr>
              <a:t>El meridià de Greenwich travessa la península Ibèrica. Mapa: professordesocials.cat, CC BY-SA 4.0. Base cartogràfica: Natural Earth (domini públic).</a:t>
            </a:r>
            <a:endParaRPr lang="en-US" sz="1000" dirty="0"/>
          </a:p>
        </p:txBody>
      </p:sp>
      <p:sp>
        <p:nvSpPr>
          <p:cNvPr id="8" name="Línia del temps"/>
          <p:cNvSpPr/>
          <p:nvPr/>
        </p:nvSpPr>
        <p:spPr>
          <a:xfrm>
            <a:off x="6638544" y="1554480"/>
            <a:ext cx="0" cy="1600200"/>
          </a:xfrm>
          <a:prstGeom prst="line">
            <a:avLst/>
          </a:prstGeom>
          <a:noFill/>
          <a:ln w="31750">
            <a:solidFill>
              <a:srgbClr val="DADCE0"/>
            </a:solidFill>
            <a:prstDash val="solid"/>
          </a:ln>
        </p:spPr>
      </p:sp>
      <p:sp>
        <p:nvSpPr>
          <p:cNvPr id="9" name="Fita Abans"/>
          <p:cNvSpPr/>
          <p:nvPr/>
        </p:nvSpPr>
        <p:spPr>
          <a:xfrm>
            <a:off x="6537960" y="1453896"/>
            <a:ext cx="201168" cy="201168"/>
          </a:xfrm>
          <a:prstGeom prst="ellipse">
            <a:avLst/>
          </a:prstGeom>
          <a:solidFill>
            <a:srgbClr val="FFFFFF"/>
          </a:solidFill>
          <a:ln w="28575">
            <a:solidFill>
              <a:srgbClr val="188038"/>
            </a:solidFill>
            <a:prstDash val="solid"/>
          </a:ln>
        </p:spPr>
      </p:sp>
      <p:sp>
        <p:nvSpPr>
          <p:cNvPr id="10" name="Text 7"/>
          <p:cNvSpPr txBox="1"/>
          <p:nvPr/>
        </p:nvSpPr>
        <p:spPr>
          <a:xfrm>
            <a:off x="6922008" y="1417320"/>
            <a:ext cx="960120" cy="292608"/>
          </a:xfrm>
          <a:prstGeom prst="rect">
            <a:avLst/>
          </a:prstGeom>
          <a:noFill/>
          <a:ln/>
        </p:spPr>
        <p:txBody>
          <a:bodyPr wrap="square" lIns="0" tIns="0" rIns="0" bIns="0" rtlCol="0" anchor="t"/>
          <a:lstStyle/>
          <a:p>
            <a:pPr indent="0" marL="0">
              <a:buNone/>
            </a:pPr>
            <a:r>
              <a:rPr lang="en-US" sz="1650" b="1" dirty="0">
                <a:solidFill>
                  <a:srgbClr val="188038"/>
                </a:solidFill>
                <a:latin typeface="Roboto" pitchFamily="34" charset="0"/>
                <a:ea typeface="Roboto" pitchFamily="34" charset="-122"/>
                <a:cs typeface="Roboto" pitchFamily="34" charset="-120"/>
              </a:rPr>
              <a:t>Abans</a:t>
            </a:r>
            <a:endParaRPr lang="en-US" sz="1650" dirty="0"/>
          </a:p>
        </p:txBody>
      </p:sp>
      <p:sp>
        <p:nvSpPr>
          <p:cNvPr id="11" name="Text 8"/>
          <p:cNvSpPr txBox="1"/>
          <p:nvPr/>
        </p:nvSpPr>
        <p:spPr>
          <a:xfrm>
            <a:off x="7882128" y="1417320"/>
            <a:ext cx="3760927" cy="1554480"/>
          </a:xfrm>
          <a:prstGeom prst="rect">
            <a:avLst/>
          </a:prstGeom>
          <a:noFill/>
          <a:ln/>
        </p:spPr>
        <p:txBody>
          <a:bodyPr wrap="square" lIns="0" tIns="0" rIns="0" bIns="0" rtlCol="0" anchor="t"/>
          <a:lstStyle/>
          <a:p>
            <a:pPr indent="0" marL="0">
              <a:buNone/>
            </a:pPr>
            <a:r>
              <a:rPr lang="en-US" sz="1650" dirty="0">
                <a:solidFill>
                  <a:srgbClr val="202124"/>
                </a:solidFill>
                <a:latin typeface="Roboto" pitchFamily="34" charset="0"/>
                <a:ea typeface="Roboto" pitchFamily="34" charset="-122"/>
                <a:cs typeface="Roboto" pitchFamily="34" charset="-120"/>
              </a:rPr>
              <a:t>Cada país feia servir el seu meridià, com el de París o el de Cadis. Però la majoria de vaixells ja navegaven amb cartes de Greenwich.</a:t>
            </a:r>
            <a:endParaRPr lang="en-US" sz="1650" dirty="0"/>
          </a:p>
        </p:txBody>
      </p:sp>
      <p:sp>
        <p:nvSpPr>
          <p:cNvPr id="12" name="Fita 1884"/>
          <p:cNvSpPr/>
          <p:nvPr/>
        </p:nvSpPr>
        <p:spPr>
          <a:xfrm>
            <a:off x="6537960" y="3054096"/>
            <a:ext cx="201168" cy="201168"/>
          </a:xfrm>
          <a:prstGeom prst="ellipse">
            <a:avLst/>
          </a:prstGeom>
          <a:solidFill>
            <a:srgbClr val="188038"/>
          </a:solidFill>
          <a:ln w="28575">
            <a:solidFill>
              <a:srgbClr val="188038"/>
            </a:solidFill>
            <a:prstDash val="solid"/>
          </a:ln>
        </p:spPr>
      </p:sp>
      <p:sp>
        <p:nvSpPr>
          <p:cNvPr id="13" name="Text 10"/>
          <p:cNvSpPr txBox="1"/>
          <p:nvPr/>
        </p:nvSpPr>
        <p:spPr>
          <a:xfrm>
            <a:off x="6922008" y="3017520"/>
            <a:ext cx="960120" cy="292608"/>
          </a:xfrm>
          <a:prstGeom prst="rect">
            <a:avLst/>
          </a:prstGeom>
          <a:noFill/>
          <a:ln/>
        </p:spPr>
        <p:txBody>
          <a:bodyPr wrap="square" lIns="0" tIns="0" rIns="0" bIns="0" rtlCol="0" anchor="t"/>
          <a:lstStyle/>
          <a:p>
            <a:pPr indent="0" marL="0">
              <a:buNone/>
            </a:pPr>
            <a:r>
              <a:rPr lang="en-US" sz="1650" b="1" dirty="0">
                <a:solidFill>
                  <a:srgbClr val="188038"/>
                </a:solidFill>
                <a:latin typeface="Roboto" pitchFamily="34" charset="0"/>
                <a:ea typeface="Roboto" pitchFamily="34" charset="-122"/>
                <a:cs typeface="Roboto" pitchFamily="34" charset="-120"/>
              </a:rPr>
              <a:t>1884</a:t>
            </a:r>
            <a:endParaRPr lang="en-US" sz="1650" dirty="0"/>
          </a:p>
        </p:txBody>
      </p:sp>
      <p:sp>
        <p:nvSpPr>
          <p:cNvPr id="14" name="Text 11"/>
          <p:cNvSpPr txBox="1"/>
          <p:nvPr/>
        </p:nvSpPr>
        <p:spPr>
          <a:xfrm>
            <a:off x="7882128" y="3017520"/>
            <a:ext cx="3760927" cy="1554480"/>
          </a:xfrm>
          <a:prstGeom prst="rect">
            <a:avLst/>
          </a:prstGeom>
          <a:noFill/>
          <a:ln/>
        </p:spPr>
        <p:txBody>
          <a:bodyPr wrap="square" lIns="0" tIns="0" rIns="0" bIns="0" rtlCol="0" anchor="t"/>
          <a:lstStyle/>
          <a:p>
            <a:pPr indent="0" marL="0">
              <a:buNone/>
            </a:pPr>
            <a:r>
              <a:rPr lang="en-US" sz="1650" dirty="0">
                <a:solidFill>
                  <a:srgbClr val="202124"/>
                </a:solidFill>
                <a:latin typeface="Roboto" pitchFamily="34" charset="0"/>
                <a:ea typeface="Roboto" pitchFamily="34" charset="-122"/>
                <a:cs typeface="Roboto" pitchFamily="34" charset="-120"/>
              </a:rPr>
              <a:t>Una conferència internacional a Washington tria Greenwich com a meridià zero.</a:t>
            </a:r>
            <a:endParaRPr lang="en-US" sz="1650" dirty="0"/>
          </a:p>
        </p:txBody>
      </p:sp>
      <p:sp>
        <p:nvSpPr>
          <p:cNvPr id="15" name="A la península"/>
          <p:cNvSpPr/>
          <p:nvPr/>
        </p:nvSpPr>
        <p:spPr>
          <a:xfrm>
            <a:off x="6537960" y="4434840"/>
            <a:ext cx="5105095" cy="1554480"/>
          </a:xfrm>
          <a:prstGeom prst="roundRect">
            <a:avLst>
              <a:gd name="adj" fmla="val 6471"/>
            </a:avLst>
          </a:prstGeom>
          <a:solidFill>
            <a:srgbClr val="E6F4EA"/>
          </a:solidFill>
          <a:ln/>
        </p:spPr>
      </p:sp>
      <p:sp>
        <p:nvSpPr>
          <p:cNvPr id="16" name="Text 13"/>
          <p:cNvSpPr txBox="1"/>
          <p:nvPr/>
        </p:nvSpPr>
        <p:spPr>
          <a:xfrm>
            <a:off x="6858000" y="4590288"/>
            <a:ext cx="4465015" cy="320040"/>
          </a:xfrm>
          <a:prstGeom prst="rect">
            <a:avLst/>
          </a:prstGeom>
          <a:noFill/>
          <a:ln/>
        </p:spPr>
        <p:txBody>
          <a:bodyPr wrap="square" lIns="0" tIns="0" rIns="0" bIns="0" rtlCol="0" anchor="t"/>
          <a:lstStyle/>
          <a:p>
            <a:pPr indent="0" marL="0">
              <a:buNone/>
            </a:pPr>
            <a:r>
              <a:rPr lang="en-US" sz="1400" b="1" dirty="0">
                <a:solidFill>
                  <a:srgbClr val="188038"/>
                </a:solidFill>
                <a:latin typeface="Roboto" pitchFamily="34" charset="0"/>
                <a:ea typeface="Roboto" pitchFamily="34" charset="-122"/>
                <a:cs typeface="Roboto" pitchFamily="34" charset="-120"/>
              </a:rPr>
              <a:t>A la península</a:t>
            </a:r>
            <a:endParaRPr lang="en-US" sz="1400" dirty="0"/>
          </a:p>
        </p:txBody>
      </p:sp>
      <p:sp>
        <p:nvSpPr>
          <p:cNvPr id="17" name="Text 14"/>
          <p:cNvSpPr txBox="1"/>
          <p:nvPr/>
        </p:nvSpPr>
        <p:spPr>
          <a:xfrm>
            <a:off x="6858000" y="4937760"/>
            <a:ext cx="4465015" cy="914400"/>
          </a:xfrm>
          <a:prstGeom prst="rect">
            <a:avLst/>
          </a:prstGeom>
          <a:noFill/>
          <a:ln/>
        </p:spPr>
        <p:txBody>
          <a:bodyPr wrap="square" lIns="0" tIns="0" rIns="0" bIns="0" rtlCol="0" anchor="t"/>
          <a:lstStyle/>
          <a:p>
            <a:pPr indent="0" marL="0">
              <a:buNone/>
            </a:pPr>
            <a:r>
              <a:rPr lang="en-US" sz="1700" dirty="0">
                <a:solidFill>
                  <a:srgbClr val="202124"/>
                </a:solidFill>
                <a:latin typeface="Roboto" pitchFamily="34" charset="0"/>
                <a:ea typeface="Roboto" pitchFamily="34" charset="-122"/>
                <a:cs typeface="Roboto" pitchFamily="34" charset="-120"/>
              </a:rPr>
              <a:t>El meridià de Greenwich passa per l'Aragó i el País Valencià, per exemple pel Grau de Castelló.</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2</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Un exemple, Barcelona</a:t>
            </a:r>
            <a:endParaRPr lang="en-US" sz="2800" dirty="0"/>
          </a:p>
        </p:txBody>
      </p:sp>
      <p:sp>
        <p:nvSpPr>
          <p:cNvPr id="5" name="Fons Catalunya en la graella de coordenades"/>
          <p:cNvSpPr/>
          <p:nvPr/>
        </p:nvSpPr>
        <p:spPr>
          <a:xfrm>
            <a:off x="548640" y="1371600"/>
            <a:ext cx="4846320" cy="4159931"/>
          </a:xfrm>
          <a:prstGeom prst="roundRect">
            <a:avLst>
              <a:gd name="adj" fmla="val 2418"/>
            </a:avLst>
          </a:prstGeom>
          <a:solidFill>
            <a:srgbClr val="F6F8FB"/>
          </a:solidFill>
          <a:ln/>
        </p:spPr>
      </p:sp>
      <p:pic>
        <p:nvPicPr>
          <p:cNvPr id="6" name="Catalunya en la graella de coordenades" descr="/home/claude/p857/build/img/catalunya.png">    </p:cNvPr>
          <p:cNvPicPr>
            <a:picLocks noChangeAspect="1"/>
          </p:cNvPicPr>
          <p:nvPr/>
        </p:nvPicPr>
        <p:blipFill>
          <a:blip r:embed="rId1"/>
          <a:stretch>
            <a:fillRect/>
          </a:stretch>
        </p:blipFill>
        <p:spPr>
          <a:xfrm>
            <a:off x="548640" y="1371600"/>
            <a:ext cx="4846320" cy="4159931"/>
          </a:xfrm>
          <a:prstGeom prst="rect">
            <a:avLst/>
          </a:prstGeom>
        </p:spPr>
      </p:pic>
      <p:sp>
        <p:nvSpPr>
          <p:cNvPr id="7" name="Text 4"/>
          <p:cNvSpPr txBox="1"/>
          <p:nvPr/>
        </p:nvSpPr>
        <p:spPr>
          <a:xfrm>
            <a:off x="548640" y="5604683"/>
            <a:ext cx="4846320" cy="502920"/>
          </a:xfrm>
          <a:prstGeom prst="rect">
            <a:avLst/>
          </a:prstGeom>
          <a:noFill/>
          <a:ln/>
        </p:spPr>
        <p:txBody>
          <a:bodyPr wrap="square" lIns="0" tIns="0" rIns="0" bIns="0" rtlCol="0" anchor="t"/>
          <a:lstStyle/>
          <a:p>
            <a:pPr indent="0" marL="0">
              <a:buNone/>
            </a:pPr>
            <a:r>
              <a:rPr lang="en-US" sz="1000" dirty="0">
                <a:solidFill>
                  <a:srgbClr val="5F6368"/>
                </a:solidFill>
                <a:latin typeface="Roboto" pitchFamily="34" charset="0"/>
                <a:ea typeface="Roboto" pitchFamily="34" charset="-122"/>
                <a:cs typeface="Roboto" pitchFamily="34" charset="-120"/>
              </a:rPr>
              <a:t>Catalunya en la graella de coordenades. La creu vermella és el punt 41° N, 2° E, que cau al mar. Mapa: professordesocials.cat, CC BY-SA 4.0. Base cartogràfica: IGN (CC BY 4.0) i Natural Earth (domini públic).</a:t>
            </a:r>
            <a:endParaRPr lang="en-US" sz="1000" dirty="0"/>
          </a:p>
        </p:txBody>
      </p:sp>
      <p:sp>
        <p:nvSpPr>
          <p:cNvPr id="8" name="Targeta Barcelona"/>
          <p:cNvSpPr/>
          <p:nvPr/>
        </p:nvSpPr>
        <p:spPr>
          <a:xfrm>
            <a:off x="5715000" y="1371600"/>
            <a:ext cx="5928055" cy="2514600"/>
          </a:xfrm>
          <a:prstGeom prst="roundRect">
            <a:avLst>
              <a:gd name="adj" fmla="val 4000"/>
            </a:avLst>
          </a:prstGeom>
          <a:solidFill>
            <a:srgbClr val="188038"/>
          </a:solidFill>
          <a:ln/>
        </p:spPr>
      </p:sp>
      <p:sp>
        <p:nvSpPr>
          <p:cNvPr id="9" name="Cercle icona"/>
          <p:cNvSpPr/>
          <p:nvPr/>
        </p:nvSpPr>
        <p:spPr>
          <a:xfrm>
            <a:off x="5943600" y="1600200"/>
            <a:ext cx="548640" cy="548640"/>
          </a:xfrm>
          <a:prstGeom prst="ellipse">
            <a:avLst/>
          </a:prstGeom>
          <a:solidFill>
            <a:srgbClr val="FFFFFF"/>
          </a:solidFill>
          <a:ln/>
        </p:spPr>
      </p:sp>
      <p:pic>
        <p:nvPicPr>
          <p:cNvPr id="10" name="Icona TbMapPin" descr="/home/claude/p857/build/img/ic/TbMapPin-g.png">    </p:cNvPr>
          <p:cNvPicPr>
            <a:picLocks noChangeAspect="1"/>
          </p:cNvPicPr>
          <p:nvPr/>
        </p:nvPicPr>
        <p:blipFill>
          <a:blip r:embed="rId2"/>
          <a:stretch>
            <a:fillRect/>
          </a:stretch>
        </p:blipFill>
        <p:spPr>
          <a:xfrm>
            <a:off x="6064301" y="1720901"/>
            <a:ext cx="307238" cy="307238"/>
          </a:xfrm>
          <a:prstGeom prst="rect">
            <a:avLst/>
          </a:prstGeom>
        </p:spPr>
      </p:pic>
      <p:sp>
        <p:nvSpPr>
          <p:cNvPr id="11" name="Text 7"/>
          <p:cNvSpPr txBox="1"/>
          <p:nvPr/>
        </p:nvSpPr>
        <p:spPr>
          <a:xfrm>
            <a:off x="6629400" y="1600200"/>
            <a:ext cx="4830775" cy="548640"/>
          </a:xfrm>
          <a:prstGeom prst="rect">
            <a:avLst/>
          </a:prstGeom>
          <a:noFill/>
          <a:ln/>
        </p:spPr>
        <p:txBody>
          <a:bodyPr wrap="square" lIns="0" tIns="0" rIns="0" bIns="0" rtlCol="0" anchor="ctr"/>
          <a:lstStyle/>
          <a:p>
            <a:pPr indent="0" marL="0">
              <a:buNone/>
            </a:pPr>
            <a:r>
              <a:rPr lang="en-US" sz="1600" b="1" dirty="0">
                <a:solidFill>
                  <a:srgbClr val="FFFFFF"/>
                </a:solidFill>
                <a:latin typeface="Roboto" pitchFamily="34" charset="0"/>
                <a:ea typeface="Roboto" pitchFamily="34" charset="-122"/>
                <a:cs typeface="Roboto" pitchFamily="34" charset="-120"/>
              </a:rPr>
              <a:t>Barcelona</a:t>
            </a:r>
            <a:endParaRPr lang="en-US" sz="1600" dirty="0"/>
          </a:p>
        </p:txBody>
      </p:sp>
      <p:sp>
        <p:nvSpPr>
          <p:cNvPr id="12" name="Text 8"/>
          <p:cNvSpPr txBox="1"/>
          <p:nvPr/>
        </p:nvSpPr>
        <p:spPr>
          <a:xfrm>
            <a:off x="5943600" y="2286000"/>
            <a:ext cx="5470855" cy="960120"/>
          </a:xfrm>
          <a:prstGeom prst="rect">
            <a:avLst/>
          </a:prstGeom>
          <a:noFill/>
          <a:ln/>
        </p:spPr>
        <p:txBody>
          <a:bodyPr wrap="square" lIns="0" tIns="0" rIns="0" bIns="0" rtlCol="0" anchor="ctr"/>
          <a:lstStyle/>
          <a:p>
            <a:pPr indent="0" marL="0">
              <a:buNone/>
            </a:pPr>
            <a:r>
              <a:rPr lang="en-US" sz="3000" b="1" dirty="0">
                <a:solidFill>
                  <a:srgbClr val="FFFFFF"/>
                </a:solidFill>
                <a:latin typeface="Roboto" pitchFamily="34" charset="0"/>
                <a:ea typeface="Roboto" pitchFamily="34" charset="-122"/>
                <a:cs typeface="Roboto" pitchFamily="34" charset="-120"/>
              </a:rPr>
              <a:t>41° 23′ N  ·  2° 10′ E</a:t>
            </a:r>
            <a:endParaRPr lang="en-US" sz="3000" dirty="0"/>
          </a:p>
        </p:txBody>
      </p:sp>
      <p:sp>
        <p:nvSpPr>
          <p:cNvPr id="13" name="Text 9"/>
          <p:cNvSpPr txBox="1"/>
          <p:nvPr/>
        </p:nvSpPr>
        <p:spPr>
          <a:xfrm>
            <a:off x="5943600" y="3291840"/>
            <a:ext cx="5470855" cy="457200"/>
          </a:xfrm>
          <a:prstGeom prst="rect">
            <a:avLst/>
          </a:prstGeom>
          <a:noFill/>
          <a:ln/>
        </p:spPr>
        <p:txBody>
          <a:bodyPr wrap="square" lIns="0" tIns="0" rIns="0" bIns="0" rtlCol="0" anchor="t"/>
          <a:lstStyle/>
          <a:p>
            <a:pPr indent="0" marL="0">
              <a:buNone/>
            </a:pPr>
            <a:r>
              <a:rPr lang="en-US" sz="1700" dirty="0">
                <a:solidFill>
                  <a:srgbClr val="FFFFFF"/>
                </a:solidFill>
                <a:latin typeface="Roboto" pitchFamily="34" charset="0"/>
                <a:ea typeface="Roboto" pitchFamily="34" charset="-122"/>
                <a:cs typeface="Roboto" pitchFamily="34" charset="-120"/>
              </a:rPr>
              <a:t>Si poses aquestes coordenades al GPS, t'hi porta directament.</a:t>
            </a:r>
            <a:endParaRPr lang="en-US" sz="1700" dirty="0"/>
          </a:p>
        </p:txBody>
      </p:sp>
      <p:sp>
        <p:nvSpPr>
          <p:cNvPr id="14" name="Compte amb arrodonir massa"/>
          <p:cNvSpPr/>
          <p:nvPr/>
        </p:nvSpPr>
        <p:spPr>
          <a:xfrm>
            <a:off x="5715000" y="4114800"/>
            <a:ext cx="5928055" cy="1874520"/>
          </a:xfrm>
          <a:prstGeom prst="roundRect">
            <a:avLst>
              <a:gd name="adj" fmla="val 5366"/>
            </a:avLst>
          </a:prstGeom>
          <a:solidFill>
            <a:srgbClr val="F6F8FB"/>
          </a:solidFill>
          <a:ln/>
        </p:spPr>
      </p:sp>
      <p:sp>
        <p:nvSpPr>
          <p:cNvPr id="15" name="Text 11"/>
          <p:cNvSpPr txBox="1"/>
          <p:nvPr/>
        </p:nvSpPr>
        <p:spPr>
          <a:xfrm>
            <a:off x="6035040" y="4270248"/>
            <a:ext cx="5287975" cy="320040"/>
          </a:xfrm>
          <a:prstGeom prst="rect">
            <a:avLst/>
          </a:prstGeom>
          <a:noFill/>
          <a:ln/>
        </p:spPr>
        <p:txBody>
          <a:bodyPr wrap="square" lIns="0" tIns="0" rIns="0" bIns="0" rtlCol="0" anchor="t"/>
          <a:lstStyle/>
          <a:p>
            <a:pPr indent="0" marL="0">
              <a:buNone/>
            </a:pPr>
            <a:r>
              <a:rPr lang="en-US" sz="1400" b="1" dirty="0">
                <a:solidFill>
                  <a:srgbClr val="202124"/>
                </a:solidFill>
                <a:latin typeface="Roboto" pitchFamily="34" charset="0"/>
                <a:ea typeface="Roboto" pitchFamily="34" charset="-122"/>
                <a:cs typeface="Roboto" pitchFamily="34" charset="-120"/>
              </a:rPr>
              <a:t>Compte amb arrodonir massa</a:t>
            </a:r>
            <a:endParaRPr lang="en-US" sz="1400" dirty="0"/>
          </a:p>
        </p:txBody>
      </p:sp>
      <p:sp>
        <p:nvSpPr>
          <p:cNvPr id="16" name="Text 12"/>
          <p:cNvSpPr txBox="1"/>
          <p:nvPr/>
        </p:nvSpPr>
        <p:spPr>
          <a:xfrm>
            <a:off x="6035040" y="4617720"/>
            <a:ext cx="5287975" cy="1234440"/>
          </a:xfrm>
          <a:prstGeom prst="rect">
            <a:avLst/>
          </a:prstGeom>
          <a:noFill/>
          <a:ln/>
        </p:spPr>
        <p:txBody>
          <a:bodyPr wrap="square" lIns="0" tIns="0" rIns="0" bIns="0" rtlCol="0" anchor="t"/>
          <a:lstStyle/>
          <a:p>
            <a:pPr indent="0" marL="0">
              <a:buNone/>
            </a:pPr>
            <a:r>
              <a:rPr lang="en-US" sz="1700" dirty="0">
                <a:solidFill>
                  <a:srgbClr val="5F6368"/>
                </a:solidFill>
                <a:latin typeface="Roboto" pitchFamily="34" charset="0"/>
                <a:ea typeface="Roboto" pitchFamily="34" charset="-122"/>
                <a:cs typeface="Roboto" pitchFamily="34" charset="-120"/>
              </a:rPr>
              <a:t>Si només hi poses els graus sencers, 41° N, 2° E, el GPS et portaria al mig del mar, a uns 30 km de la costa i a uns 45 km de Barcelona.</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2</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Comprova-ho</a:t>
            </a:r>
            <a:endParaRPr lang="en-US" sz="2800" dirty="0"/>
          </a:p>
        </p:txBody>
      </p:sp>
      <p:sp>
        <p:nvSpPr>
          <p:cNvPr id="5" name="Text 3"/>
          <p:cNvSpPr txBox="1"/>
          <p:nvPr/>
        </p:nvSpPr>
        <p:spPr>
          <a:xfrm>
            <a:off x="548640" y="1371600"/>
            <a:ext cx="3657600" cy="320040"/>
          </a:xfrm>
          <a:prstGeom prst="rect">
            <a:avLst/>
          </a:prstGeom>
          <a:noFill/>
          <a:ln/>
        </p:spPr>
        <p:txBody>
          <a:bodyPr wrap="square" lIns="0" tIns="0" rIns="0" bIns="0" rtlCol="0" anchor="t"/>
          <a:lstStyle/>
          <a:p>
            <a:pPr indent="0" marL="0">
              <a:buNone/>
            </a:pPr>
            <a:r>
              <a:rPr lang="en-US" sz="1400" b="1" dirty="0">
                <a:solidFill>
                  <a:srgbClr val="5F6368"/>
                </a:solidFill>
                <a:latin typeface="Roboto" pitchFamily="34" charset="0"/>
                <a:ea typeface="Roboto" pitchFamily="34" charset="-122"/>
                <a:cs typeface="Roboto" pitchFamily="34" charset="-120"/>
              </a:rPr>
              <a:t>Paraules clau</a:t>
            </a:r>
            <a:endParaRPr lang="en-US" sz="1400" dirty="0"/>
          </a:p>
        </p:txBody>
      </p:sp>
      <p:sp>
        <p:nvSpPr>
          <p:cNvPr id="6" name="Etiqueta Paral·lel"/>
          <p:cNvSpPr/>
          <p:nvPr/>
        </p:nvSpPr>
        <p:spPr>
          <a:xfrm>
            <a:off x="548640" y="1755648"/>
            <a:ext cx="1216152" cy="384048"/>
          </a:xfrm>
          <a:prstGeom prst="roundRect">
            <a:avLst>
              <a:gd name="adj" fmla="val 50000"/>
            </a:avLst>
          </a:prstGeom>
          <a:solidFill>
            <a:srgbClr val="E6F4EA"/>
          </a:solidFill>
          <a:ln/>
        </p:spPr>
      </p:sp>
      <p:sp>
        <p:nvSpPr>
          <p:cNvPr id="7" name="Text 5"/>
          <p:cNvSpPr txBox="1"/>
          <p:nvPr/>
        </p:nvSpPr>
        <p:spPr>
          <a:xfrm>
            <a:off x="548640" y="1755648"/>
            <a:ext cx="1216152"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Paral·lel</a:t>
            </a:r>
            <a:endParaRPr lang="en-US" sz="1500" dirty="0"/>
          </a:p>
        </p:txBody>
      </p:sp>
      <p:sp>
        <p:nvSpPr>
          <p:cNvPr id="8" name="Etiqueta Equador"/>
          <p:cNvSpPr/>
          <p:nvPr/>
        </p:nvSpPr>
        <p:spPr>
          <a:xfrm>
            <a:off x="1874520" y="1755648"/>
            <a:ext cx="1014984" cy="384048"/>
          </a:xfrm>
          <a:prstGeom prst="roundRect">
            <a:avLst>
              <a:gd name="adj" fmla="val 50000"/>
            </a:avLst>
          </a:prstGeom>
          <a:solidFill>
            <a:srgbClr val="E6F4EA"/>
          </a:solidFill>
          <a:ln/>
        </p:spPr>
      </p:sp>
      <p:sp>
        <p:nvSpPr>
          <p:cNvPr id="9" name="Text 7"/>
          <p:cNvSpPr txBox="1"/>
          <p:nvPr/>
        </p:nvSpPr>
        <p:spPr>
          <a:xfrm>
            <a:off x="1874520" y="1755648"/>
            <a:ext cx="1014984"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Equador</a:t>
            </a:r>
            <a:endParaRPr lang="en-US" sz="1500" dirty="0"/>
          </a:p>
        </p:txBody>
      </p:sp>
      <p:sp>
        <p:nvSpPr>
          <p:cNvPr id="10" name="Etiqueta Meridià"/>
          <p:cNvSpPr/>
          <p:nvPr/>
        </p:nvSpPr>
        <p:spPr>
          <a:xfrm>
            <a:off x="2999232" y="1755648"/>
            <a:ext cx="1014984" cy="384048"/>
          </a:xfrm>
          <a:prstGeom prst="roundRect">
            <a:avLst>
              <a:gd name="adj" fmla="val 50000"/>
            </a:avLst>
          </a:prstGeom>
          <a:solidFill>
            <a:srgbClr val="E6F4EA"/>
          </a:solidFill>
          <a:ln/>
        </p:spPr>
      </p:sp>
      <p:sp>
        <p:nvSpPr>
          <p:cNvPr id="11" name="Text 9"/>
          <p:cNvSpPr txBox="1"/>
          <p:nvPr/>
        </p:nvSpPr>
        <p:spPr>
          <a:xfrm>
            <a:off x="2999232" y="1755648"/>
            <a:ext cx="1014984"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Meridià</a:t>
            </a:r>
            <a:endParaRPr lang="en-US" sz="1500" dirty="0"/>
          </a:p>
        </p:txBody>
      </p:sp>
      <p:sp>
        <p:nvSpPr>
          <p:cNvPr id="12" name="Etiqueta Greenwich"/>
          <p:cNvSpPr/>
          <p:nvPr/>
        </p:nvSpPr>
        <p:spPr>
          <a:xfrm>
            <a:off x="4123944" y="1755648"/>
            <a:ext cx="1216152" cy="384048"/>
          </a:xfrm>
          <a:prstGeom prst="roundRect">
            <a:avLst>
              <a:gd name="adj" fmla="val 50000"/>
            </a:avLst>
          </a:prstGeom>
          <a:solidFill>
            <a:srgbClr val="E6F4EA"/>
          </a:solidFill>
          <a:ln/>
        </p:spPr>
      </p:sp>
      <p:sp>
        <p:nvSpPr>
          <p:cNvPr id="13" name="Text 11"/>
          <p:cNvSpPr txBox="1"/>
          <p:nvPr/>
        </p:nvSpPr>
        <p:spPr>
          <a:xfrm>
            <a:off x="4123944" y="1755648"/>
            <a:ext cx="1216152"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Greenwich</a:t>
            </a:r>
            <a:endParaRPr lang="en-US" sz="1500" dirty="0"/>
          </a:p>
        </p:txBody>
      </p:sp>
      <p:sp>
        <p:nvSpPr>
          <p:cNvPr id="14" name="Etiqueta Latitud"/>
          <p:cNvSpPr/>
          <p:nvPr/>
        </p:nvSpPr>
        <p:spPr>
          <a:xfrm>
            <a:off x="5449824" y="1755648"/>
            <a:ext cx="1014984" cy="384048"/>
          </a:xfrm>
          <a:prstGeom prst="roundRect">
            <a:avLst>
              <a:gd name="adj" fmla="val 50000"/>
            </a:avLst>
          </a:prstGeom>
          <a:solidFill>
            <a:srgbClr val="E6F4EA"/>
          </a:solidFill>
          <a:ln/>
        </p:spPr>
      </p:sp>
      <p:sp>
        <p:nvSpPr>
          <p:cNvPr id="15" name="Text 13"/>
          <p:cNvSpPr txBox="1"/>
          <p:nvPr/>
        </p:nvSpPr>
        <p:spPr>
          <a:xfrm>
            <a:off x="5449824" y="1755648"/>
            <a:ext cx="1014984"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Latitud</a:t>
            </a:r>
            <a:endParaRPr lang="en-US" sz="1500" dirty="0"/>
          </a:p>
        </p:txBody>
      </p:sp>
      <p:sp>
        <p:nvSpPr>
          <p:cNvPr id="16" name="Etiqueta Longitud"/>
          <p:cNvSpPr/>
          <p:nvPr/>
        </p:nvSpPr>
        <p:spPr>
          <a:xfrm>
            <a:off x="6574536" y="1755648"/>
            <a:ext cx="1115568" cy="384048"/>
          </a:xfrm>
          <a:prstGeom prst="roundRect">
            <a:avLst>
              <a:gd name="adj" fmla="val 50000"/>
            </a:avLst>
          </a:prstGeom>
          <a:solidFill>
            <a:srgbClr val="E6F4EA"/>
          </a:solidFill>
          <a:ln/>
        </p:spPr>
      </p:sp>
      <p:sp>
        <p:nvSpPr>
          <p:cNvPr id="17" name="Text 15"/>
          <p:cNvSpPr txBox="1"/>
          <p:nvPr/>
        </p:nvSpPr>
        <p:spPr>
          <a:xfrm>
            <a:off x="6574536" y="1755648"/>
            <a:ext cx="1115568"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Longitud</a:t>
            </a:r>
            <a:endParaRPr lang="en-US" sz="1500" dirty="0"/>
          </a:p>
        </p:txBody>
      </p:sp>
      <p:sp>
        <p:nvSpPr>
          <p:cNvPr id="18" name="Pregunta 1"/>
          <p:cNvSpPr/>
          <p:nvPr/>
        </p:nvSpPr>
        <p:spPr>
          <a:xfrm>
            <a:off x="548640" y="2514600"/>
            <a:ext cx="11094415" cy="960120"/>
          </a:xfrm>
          <a:prstGeom prst="roundRect">
            <a:avLst>
              <a:gd name="adj" fmla="val 10476"/>
            </a:avLst>
          </a:prstGeom>
          <a:solidFill>
            <a:srgbClr val="FFFFFF"/>
          </a:solidFill>
          <a:ln w="12700">
            <a:solidFill>
              <a:srgbClr val="DADCE0"/>
            </a:solidFill>
            <a:prstDash val="solid"/>
          </a:ln>
        </p:spPr>
      </p:sp>
      <p:sp>
        <p:nvSpPr>
          <p:cNvPr id="19" name="Número 1"/>
          <p:cNvSpPr/>
          <p:nvPr/>
        </p:nvSpPr>
        <p:spPr>
          <a:xfrm>
            <a:off x="822960" y="2766060"/>
            <a:ext cx="457200" cy="457200"/>
          </a:xfrm>
          <a:prstGeom prst="ellipse">
            <a:avLst/>
          </a:prstGeom>
          <a:solidFill>
            <a:srgbClr val="188038"/>
          </a:solidFill>
          <a:ln/>
        </p:spPr>
      </p:sp>
      <p:sp>
        <p:nvSpPr>
          <p:cNvPr id="20" name="Text 18"/>
          <p:cNvSpPr txBox="1"/>
          <p:nvPr/>
        </p:nvSpPr>
        <p:spPr>
          <a:xfrm>
            <a:off x="822960" y="276606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Roboto" pitchFamily="34" charset="0"/>
                <a:ea typeface="Roboto" pitchFamily="34" charset="-122"/>
                <a:cs typeface="Roboto" pitchFamily="34" charset="-120"/>
              </a:rPr>
              <a:t>1</a:t>
            </a:r>
            <a:endParaRPr lang="en-US" sz="1700" dirty="0"/>
          </a:p>
        </p:txBody>
      </p:sp>
      <p:sp>
        <p:nvSpPr>
          <p:cNvPr id="21" name="Text 19"/>
          <p:cNvSpPr txBox="1"/>
          <p:nvPr/>
        </p:nvSpPr>
        <p:spPr>
          <a:xfrm>
            <a:off x="1508760" y="2514600"/>
            <a:ext cx="9905695" cy="960120"/>
          </a:xfrm>
          <a:prstGeom prst="rect">
            <a:avLst/>
          </a:prstGeom>
          <a:noFill/>
          <a:ln/>
        </p:spPr>
        <p:txBody>
          <a:bodyPr wrap="square" lIns="0" tIns="0" rIns="0" bIns="0" rtlCol="0" anchor="ctr"/>
          <a:lstStyle/>
          <a:p>
            <a:pPr indent="0" marL="0">
              <a:buNone/>
            </a:pPr>
            <a:r>
              <a:rPr lang="en-US" sz="2000" dirty="0">
                <a:solidFill>
                  <a:srgbClr val="202124"/>
                </a:solidFill>
                <a:latin typeface="Roboto" pitchFamily="34" charset="0"/>
                <a:ea typeface="Roboto" pitchFamily="34" charset="-122"/>
                <a:cs typeface="Roboto" pitchFamily="34" charset="-120"/>
              </a:rPr>
              <a:t>Quina línia divideix la Terra en hemisferi nord i hemisferi sud?</a:t>
            </a:r>
            <a:endParaRPr lang="en-US" sz="2000" dirty="0"/>
          </a:p>
        </p:txBody>
      </p:sp>
      <p:sp>
        <p:nvSpPr>
          <p:cNvPr id="22" name="Pregunta 2"/>
          <p:cNvSpPr/>
          <p:nvPr/>
        </p:nvSpPr>
        <p:spPr>
          <a:xfrm>
            <a:off x="548640" y="3657600"/>
            <a:ext cx="11094415" cy="960120"/>
          </a:xfrm>
          <a:prstGeom prst="roundRect">
            <a:avLst>
              <a:gd name="adj" fmla="val 10476"/>
            </a:avLst>
          </a:prstGeom>
          <a:solidFill>
            <a:srgbClr val="FFFFFF"/>
          </a:solidFill>
          <a:ln w="12700">
            <a:solidFill>
              <a:srgbClr val="DADCE0"/>
            </a:solidFill>
            <a:prstDash val="solid"/>
          </a:ln>
        </p:spPr>
      </p:sp>
      <p:sp>
        <p:nvSpPr>
          <p:cNvPr id="23" name="Número 2"/>
          <p:cNvSpPr/>
          <p:nvPr/>
        </p:nvSpPr>
        <p:spPr>
          <a:xfrm>
            <a:off x="822960" y="3909060"/>
            <a:ext cx="457200" cy="457200"/>
          </a:xfrm>
          <a:prstGeom prst="ellipse">
            <a:avLst/>
          </a:prstGeom>
          <a:solidFill>
            <a:srgbClr val="188038"/>
          </a:solidFill>
          <a:ln/>
        </p:spPr>
      </p:sp>
      <p:sp>
        <p:nvSpPr>
          <p:cNvPr id="24" name="Text 22"/>
          <p:cNvSpPr txBox="1"/>
          <p:nvPr/>
        </p:nvSpPr>
        <p:spPr>
          <a:xfrm>
            <a:off x="822960" y="390906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Roboto" pitchFamily="34" charset="0"/>
                <a:ea typeface="Roboto" pitchFamily="34" charset="-122"/>
                <a:cs typeface="Roboto" pitchFamily="34" charset="-120"/>
              </a:rPr>
              <a:t>2</a:t>
            </a:r>
            <a:endParaRPr lang="en-US" sz="1700" dirty="0"/>
          </a:p>
        </p:txBody>
      </p:sp>
      <p:sp>
        <p:nvSpPr>
          <p:cNvPr id="25" name="Text 23"/>
          <p:cNvSpPr txBox="1"/>
          <p:nvPr/>
        </p:nvSpPr>
        <p:spPr>
          <a:xfrm>
            <a:off x="1508760" y="3657600"/>
            <a:ext cx="9905695" cy="960120"/>
          </a:xfrm>
          <a:prstGeom prst="rect">
            <a:avLst/>
          </a:prstGeom>
          <a:noFill/>
          <a:ln/>
        </p:spPr>
        <p:txBody>
          <a:bodyPr wrap="square" lIns="0" tIns="0" rIns="0" bIns="0" rtlCol="0" anchor="ctr"/>
          <a:lstStyle/>
          <a:p>
            <a:pPr indent="0" marL="0">
              <a:buNone/>
            </a:pPr>
            <a:r>
              <a:rPr lang="en-US" sz="2000" dirty="0">
                <a:solidFill>
                  <a:srgbClr val="202124"/>
                </a:solidFill>
                <a:latin typeface="Roboto" pitchFamily="34" charset="0"/>
                <a:ea typeface="Roboto" pitchFamily="34" charset="-122"/>
                <a:cs typeface="Roboto" pitchFamily="34" charset="-120"/>
              </a:rPr>
              <a:t>Una ciutat és a 60° S. És a prop de l'equador o d'un pol?</a:t>
            </a:r>
            <a:endParaRPr lang="en-US" sz="2000" dirty="0"/>
          </a:p>
        </p:txBody>
      </p:sp>
      <p:sp>
        <p:nvSpPr>
          <p:cNvPr id="26" name="Pregunta 3"/>
          <p:cNvSpPr/>
          <p:nvPr/>
        </p:nvSpPr>
        <p:spPr>
          <a:xfrm>
            <a:off x="548640" y="4800600"/>
            <a:ext cx="11094415" cy="960120"/>
          </a:xfrm>
          <a:prstGeom prst="roundRect">
            <a:avLst>
              <a:gd name="adj" fmla="val 10476"/>
            </a:avLst>
          </a:prstGeom>
          <a:solidFill>
            <a:srgbClr val="FFFFFF"/>
          </a:solidFill>
          <a:ln w="12700">
            <a:solidFill>
              <a:srgbClr val="DADCE0"/>
            </a:solidFill>
            <a:prstDash val="solid"/>
          </a:ln>
        </p:spPr>
      </p:sp>
      <p:sp>
        <p:nvSpPr>
          <p:cNvPr id="27" name="Número 3"/>
          <p:cNvSpPr/>
          <p:nvPr/>
        </p:nvSpPr>
        <p:spPr>
          <a:xfrm>
            <a:off x="822960" y="5052060"/>
            <a:ext cx="457200" cy="457200"/>
          </a:xfrm>
          <a:prstGeom prst="ellipse">
            <a:avLst/>
          </a:prstGeom>
          <a:solidFill>
            <a:srgbClr val="188038"/>
          </a:solidFill>
          <a:ln/>
        </p:spPr>
      </p:sp>
      <p:sp>
        <p:nvSpPr>
          <p:cNvPr id="28" name="Text 26"/>
          <p:cNvSpPr txBox="1"/>
          <p:nvPr/>
        </p:nvSpPr>
        <p:spPr>
          <a:xfrm>
            <a:off x="822960" y="505206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Roboto" pitchFamily="34" charset="0"/>
                <a:ea typeface="Roboto" pitchFamily="34" charset="-122"/>
                <a:cs typeface="Roboto" pitchFamily="34" charset="-120"/>
              </a:rPr>
              <a:t>3</a:t>
            </a:r>
            <a:endParaRPr lang="en-US" sz="1700" dirty="0"/>
          </a:p>
        </p:txBody>
      </p:sp>
      <p:sp>
        <p:nvSpPr>
          <p:cNvPr id="29" name="Text 27"/>
          <p:cNvSpPr txBox="1"/>
          <p:nvPr/>
        </p:nvSpPr>
        <p:spPr>
          <a:xfrm>
            <a:off x="1508760" y="4800600"/>
            <a:ext cx="9905695" cy="960120"/>
          </a:xfrm>
          <a:prstGeom prst="rect">
            <a:avLst/>
          </a:prstGeom>
          <a:noFill/>
          <a:ln/>
        </p:spPr>
        <p:txBody>
          <a:bodyPr wrap="square" lIns="0" tIns="0" rIns="0" bIns="0" rtlCol="0" anchor="ctr"/>
          <a:lstStyle/>
          <a:p>
            <a:pPr indent="0" marL="0">
              <a:buNone/>
            </a:pPr>
            <a:r>
              <a:rPr lang="en-US" sz="2000" dirty="0">
                <a:solidFill>
                  <a:srgbClr val="202124"/>
                </a:solidFill>
                <a:latin typeface="Roboto" pitchFamily="34" charset="0"/>
                <a:ea typeface="Roboto" pitchFamily="34" charset="-122"/>
                <a:cs typeface="Roboto" pitchFamily="34" charset="-120"/>
              </a:rPr>
              <a:t>Mira el mapa de Catalunya. Quina capital és gairebé sobre el paral·lel 42° N?</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Capçalera"/>
          <p:cNvSpPr/>
          <p:nvPr/>
        </p:nvSpPr>
        <p:spPr>
          <a:xfrm>
            <a:off x="548640" y="548640"/>
            <a:ext cx="6720840" cy="3657600"/>
          </a:xfrm>
          <a:prstGeom prst="roundRect">
            <a:avLst>
              <a:gd name="adj" fmla="val 2750"/>
            </a:avLst>
          </a:prstGeom>
          <a:solidFill>
            <a:srgbClr val="188038"/>
          </a:solidFill>
          <a:ln/>
        </p:spPr>
      </p:sp>
      <p:pic>
        <p:nvPicPr>
          <p:cNvPr id="3" name="Il·lustració d'una rosa dels vents i un rellotge de sorra" descr="/home/claude/p857/build/hero-crop.png">    </p:cNvPr>
          <p:cNvPicPr>
            <a:picLocks noChangeAspect="1"/>
          </p:cNvPicPr>
          <p:nvPr/>
        </p:nvPicPr>
        <p:blipFill>
          <a:blip r:embed="rId1"/>
          <a:stretch>
            <a:fillRect/>
          </a:stretch>
        </p:blipFill>
        <p:spPr>
          <a:xfrm>
            <a:off x="3794760" y="2296090"/>
            <a:ext cx="3291840" cy="1891862"/>
          </a:xfrm>
          <a:prstGeom prst="rect">
            <a:avLst/>
          </a:prstGeom>
        </p:spPr>
      </p:pic>
      <p:sp>
        <p:nvSpPr>
          <p:cNvPr id="4" name="Etiqueta Apartat 3"/>
          <p:cNvSpPr/>
          <p:nvPr/>
        </p:nvSpPr>
        <p:spPr>
          <a:xfrm>
            <a:off x="960120" y="896112"/>
            <a:ext cx="1035101" cy="310896"/>
          </a:xfrm>
          <a:prstGeom prst="roundRect">
            <a:avLst>
              <a:gd name="adj" fmla="val 50000"/>
            </a:avLst>
          </a:prstGeom>
          <a:solidFill>
            <a:srgbClr val="FFFFFF">
              <a:alpha val="18000"/>
            </a:srgbClr>
          </a:solidFill>
          <a:ln/>
        </p:spPr>
      </p:sp>
      <p:sp>
        <p:nvSpPr>
          <p:cNvPr id="5" name="Text 2"/>
          <p:cNvSpPr txBox="1"/>
          <p:nvPr/>
        </p:nvSpPr>
        <p:spPr>
          <a:xfrm>
            <a:off x="960120" y="896112"/>
            <a:ext cx="1035101" cy="310896"/>
          </a:xfrm>
          <a:prstGeom prst="rect">
            <a:avLst/>
          </a:prstGeom>
          <a:noFill/>
          <a:ln/>
        </p:spPr>
        <p:txBody>
          <a:bodyPr wrap="square" lIns="0" tIns="0" rIns="0" bIns="0" rtlCol="0" anchor="ctr"/>
          <a:lstStyle/>
          <a:p>
            <a:pPr algn="ctr" indent="0" marL="0">
              <a:buNone/>
            </a:pPr>
            <a:r>
              <a:rPr lang="en-US" sz="1250" dirty="0">
                <a:solidFill>
                  <a:srgbClr val="FFFFFF"/>
                </a:solidFill>
                <a:latin typeface="Roboto" pitchFamily="34" charset="0"/>
                <a:ea typeface="Roboto" pitchFamily="34" charset="-122"/>
                <a:cs typeface="Roboto" pitchFamily="34" charset="-120"/>
              </a:rPr>
              <a:t>Apartat 3</a:t>
            </a:r>
            <a:endParaRPr lang="en-US" sz="1250" dirty="0"/>
          </a:p>
        </p:txBody>
      </p:sp>
      <p:sp>
        <p:nvSpPr>
          <p:cNvPr id="6" name="Text 3"/>
          <p:cNvSpPr txBox="1"/>
          <p:nvPr/>
        </p:nvSpPr>
        <p:spPr>
          <a:xfrm>
            <a:off x="960120" y="1371600"/>
            <a:ext cx="5760720" cy="1280160"/>
          </a:xfrm>
          <a:prstGeom prst="rect">
            <a:avLst/>
          </a:prstGeom>
          <a:noFill/>
          <a:ln/>
        </p:spPr>
        <p:txBody>
          <a:bodyPr wrap="square" lIns="0" tIns="0" rIns="0" bIns="0" rtlCol="0" anchor="t"/>
          <a:lstStyle/>
          <a:p>
            <a:pPr indent="0" marL="0">
              <a:lnSpc>
                <a:spcPct val="95000"/>
              </a:lnSpc>
              <a:buNone/>
            </a:pPr>
            <a:r>
              <a:rPr lang="en-US" sz="3400" b="1" dirty="0">
                <a:solidFill>
                  <a:srgbClr val="FFFFFF"/>
                </a:solidFill>
                <a:latin typeface="Roboto" pitchFamily="34" charset="0"/>
                <a:ea typeface="Roboto" pitchFamily="34" charset="-122"/>
                <a:cs typeface="Roboto" pitchFamily="34" charset="-120"/>
              </a:rPr>
              <a:t>Els mapes. Del paper a la pantalla</a:t>
            </a:r>
            <a:endParaRPr lang="en-US" sz="3400" dirty="0"/>
          </a:p>
        </p:txBody>
      </p:sp>
      <p:sp>
        <p:nvSpPr>
          <p:cNvPr id="7" name="Pregunta guia"/>
          <p:cNvSpPr/>
          <p:nvPr/>
        </p:nvSpPr>
        <p:spPr>
          <a:xfrm>
            <a:off x="548640" y="4389120"/>
            <a:ext cx="6720840" cy="1645920"/>
          </a:xfrm>
          <a:prstGeom prst="roundRect">
            <a:avLst>
              <a:gd name="adj" fmla="val 6111"/>
            </a:avLst>
          </a:prstGeom>
          <a:solidFill>
            <a:srgbClr val="F6F8FB"/>
          </a:solidFill>
          <a:ln/>
        </p:spPr>
      </p:sp>
      <p:sp>
        <p:nvSpPr>
          <p:cNvPr id="8" name="Text 5"/>
          <p:cNvSpPr txBox="1"/>
          <p:nvPr/>
        </p:nvSpPr>
        <p:spPr>
          <a:xfrm>
            <a:off x="914400" y="4590288"/>
            <a:ext cx="4572000" cy="320040"/>
          </a:xfrm>
          <a:prstGeom prst="rect">
            <a:avLst/>
          </a:prstGeom>
          <a:noFill/>
          <a:ln/>
        </p:spPr>
        <p:txBody>
          <a:bodyPr wrap="square" lIns="0" tIns="0" rIns="0" bIns="0" rtlCol="0" anchor="t"/>
          <a:lstStyle/>
          <a:p>
            <a:pPr indent="0" marL="0">
              <a:buNone/>
            </a:pPr>
            <a:r>
              <a:rPr lang="en-US" sz="1300" b="1" dirty="0">
                <a:solidFill>
                  <a:srgbClr val="188038"/>
                </a:solidFill>
                <a:latin typeface="Roboto" pitchFamily="34" charset="0"/>
                <a:ea typeface="Roboto" pitchFamily="34" charset="-122"/>
                <a:cs typeface="Roboto" pitchFamily="34" charset="-120"/>
              </a:rPr>
              <a:t>Pregunta guia</a:t>
            </a:r>
            <a:endParaRPr lang="en-US" sz="1300" dirty="0"/>
          </a:p>
        </p:txBody>
      </p:sp>
      <p:sp>
        <p:nvSpPr>
          <p:cNvPr id="9" name="Text 6"/>
          <p:cNvSpPr txBox="1"/>
          <p:nvPr/>
        </p:nvSpPr>
        <p:spPr>
          <a:xfrm>
            <a:off x="914400" y="4937760"/>
            <a:ext cx="6035040" cy="914400"/>
          </a:xfrm>
          <a:prstGeom prst="rect">
            <a:avLst/>
          </a:prstGeom>
          <a:noFill/>
          <a:ln/>
        </p:spPr>
        <p:txBody>
          <a:bodyPr wrap="square" lIns="0" tIns="0" rIns="0" bIns="0" rtlCol="0" anchor="t"/>
          <a:lstStyle/>
          <a:p>
            <a:pPr indent="0" marL="0">
              <a:buNone/>
            </a:pPr>
            <a:r>
              <a:rPr lang="en-US" sz="1900" dirty="0">
                <a:solidFill>
                  <a:srgbClr val="5F6368"/>
                </a:solidFill>
                <a:latin typeface="Roboto" pitchFamily="34" charset="0"/>
                <a:ea typeface="Roboto" pitchFamily="34" charset="-122"/>
                <a:cs typeface="Roboto" pitchFamily="34" charset="-120"/>
              </a:rPr>
              <a:t>Com pot cabre tot Catalunya en un full de paper, i com saps quants quilòmetres hi ha de veritat entre dos pobles?</a:t>
            </a:r>
            <a:endParaRPr lang="en-US" sz="1900" dirty="0"/>
          </a:p>
        </p:txBody>
      </p:sp>
      <p:sp>
        <p:nvSpPr>
          <p:cNvPr id="10" name="Fons Els mapes. Del paper a la pantalla"/>
          <p:cNvSpPr/>
          <p:nvPr/>
        </p:nvSpPr>
        <p:spPr>
          <a:xfrm>
            <a:off x="7635240" y="1558138"/>
            <a:ext cx="4007815" cy="2671877"/>
          </a:xfrm>
          <a:prstGeom prst="roundRect">
            <a:avLst>
              <a:gd name="adj" fmla="val 3765"/>
            </a:avLst>
          </a:prstGeom>
          <a:solidFill>
            <a:srgbClr val="F6F8FB"/>
          </a:solidFill>
          <a:ln/>
        </p:spPr>
      </p:sp>
      <p:pic>
        <p:nvPicPr>
          <p:cNvPr id="11" name="Els mapes. Del paper a la pantalla" descr="/home/claude/p857/build/img/orto.jpg">    </p:cNvPr>
          <p:cNvPicPr>
            <a:picLocks noChangeAspect="1"/>
          </p:cNvPicPr>
          <p:nvPr/>
        </p:nvPicPr>
        <p:blipFill>
          <a:blip r:embed="rId2"/>
          <a:stretch>
            <a:fillRect/>
          </a:stretch>
        </p:blipFill>
        <p:spPr>
          <a:xfrm>
            <a:off x="7635240" y="1558138"/>
            <a:ext cx="4007815" cy="2671877"/>
          </a:xfrm>
          <a:prstGeom prst="rect">
            <a:avLst/>
          </a:prstGeom>
        </p:spPr>
      </p:pic>
      <p:sp>
        <p:nvSpPr>
          <p:cNvPr id="12" name="Text 8"/>
          <p:cNvSpPr txBox="1"/>
          <p:nvPr/>
        </p:nvSpPr>
        <p:spPr>
          <a:xfrm>
            <a:off x="7635240" y="4339742"/>
            <a:ext cx="4007815" cy="685800"/>
          </a:xfrm>
          <a:prstGeom prst="rect">
            <a:avLst/>
          </a:prstGeom>
          <a:noFill/>
          <a:ln/>
        </p:spPr>
        <p:txBody>
          <a:bodyPr wrap="square" lIns="0" tIns="0" rIns="0" bIns="0" rtlCol="0" anchor="t"/>
          <a:lstStyle/>
          <a:p>
            <a:pPr indent="0" marL="0">
              <a:buNone/>
            </a:pPr>
            <a:r>
              <a:rPr lang="en-US" sz="1000" dirty="0">
                <a:solidFill>
                  <a:srgbClr val="5F6368"/>
                </a:solidFill>
                <a:latin typeface="Roboto" pitchFamily="34" charset="0"/>
                <a:ea typeface="Roboto" pitchFamily="34" charset="-122"/>
                <a:cs typeface="Roboto" pitchFamily="34" charset="-120"/>
              </a:rPr>
              <a:t>Montserrat en una ortofoto. Ortofoto de Catalunya de l'Institut Cartogràfic i Geològic de Catalunya (ICGC), CC BY 4.0.</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3</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Un mapa de fa més de sis segles</a:t>
            </a:r>
            <a:endParaRPr lang="en-US" sz="2800" dirty="0"/>
          </a:p>
        </p:txBody>
      </p:sp>
      <p:sp>
        <p:nvSpPr>
          <p:cNvPr id="5" name="Fons L'Atles Català (cap al 1375), fulls d'Europa i la Mediterrània"/>
          <p:cNvSpPr/>
          <p:nvPr/>
        </p:nvSpPr>
        <p:spPr>
          <a:xfrm>
            <a:off x="548640" y="1371600"/>
            <a:ext cx="6766560" cy="4359897"/>
          </a:xfrm>
          <a:prstGeom prst="roundRect">
            <a:avLst>
              <a:gd name="adj" fmla="val 2307"/>
            </a:avLst>
          </a:prstGeom>
          <a:solidFill>
            <a:srgbClr val="F6F8FB"/>
          </a:solidFill>
          <a:ln/>
        </p:spPr>
      </p:sp>
      <p:pic>
        <p:nvPicPr>
          <p:cNvPr id="6" name="L'Atles Català (cap al 1375), fulls d'Europa i la Mediterrània" descr="/home/claude/p857/build/img/atles.jpg">    </p:cNvPr>
          <p:cNvPicPr>
            <a:picLocks noChangeAspect="1"/>
          </p:cNvPicPr>
          <p:nvPr/>
        </p:nvPicPr>
        <p:blipFill>
          <a:blip r:embed="rId1"/>
          <a:stretch>
            <a:fillRect/>
          </a:stretch>
        </p:blipFill>
        <p:spPr>
          <a:xfrm>
            <a:off x="548640" y="1371600"/>
            <a:ext cx="6766560" cy="4359897"/>
          </a:xfrm>
          <a:prstGeom prst="rect">
            <a:avLst/>
          </a:prstGeom>
        </p:spPr>
      </p:pic>
      <p:sp>
        <p:nvSpPr>
          <p:cNvPr id="7" name="Text 4"/>
          <p:cNvSpPr txBox="1"/>
          <p:nvPr/>
        </p:nvSpPr>
        <p:spPr>
          <a:xfrm>
            <a:off x="548640" y="5804649"/>
            <a:ext cx="6766560" cy="320040"/>
          </a:xfrm>
          <a:prstGeom prst="rect">
            <a:avLst/>
          </a:prstGeom>
          <a:noFill/>
          <a:ln/>
        </p:spPr>
        <p:txBody>
          <a:bodyPr wrap="square" lIns="0" tIns="0" rIns="0" bIns="0" rtlCol="0" anchor="t"/>
          <a:lstStyle/>
          <a:p>
            <a:pPr indent="0" marL="0">
              <a:buNone/>
            </a:pPr>
            <a:r>
              <a:rPr lang="en-US" sz="1000" dirty="0">
                <a:solidFill>
                  <a:srgbClr val="5F6368"/>
                </a:solidFill>
                <a:latin typeface="Roboto" pitchFamily="34" charset="0"/>
                <a:ea typeface="Roboto" pitchFamily="34" charset="-122"/>
                <a:cs typeface="Roboto" pitchFamily="34" charset="-120"/>
              </a:rPr>
              <a:t>L'Atles Català (cap al 1375), fulls d'Europa i la Mediterrània. Es conserva a la Biblioteca Nacional de França. Mapa: Cresques Abraham, Wikimedia Commons, domini públic.</a:t>
            </a:r>
            <a:endParaRPr lang="en-US" sz="1000" dirty="0"/>
          </a:p>
        </p:txBody>
      </p:sp>
      <p:sp>
        <p:nvSpPr>
          <p:cNvPr id="8" name="Etiqueta Mallorca · cap al 1375"/>
          <p:cNvSpPr/>
          <p:nvPr/>
        </p:nvSpPr>
        <p:spPr>
          <a:xfrm>
            <a:off x="7635240" y="1371600"/>
            <a:ext cx="2221992" cy="347472"/>
          </a:xfrm>
          <a:prstGeom prst="roundRect">
            <a:avLst>
              <a:gd name="adj" fmla="val 50000"/>
            </a:avLst>
          </a:prstGeom>
          <a:solidFill>
            <a:srgbClr val="E6F4EA"/>
          </a:solidFill>
          <a:ln/>
        </p:spPr>
      </p:sp>
      <p:sp>
        <p:nvSpPr>
          <p:cNvPr id="9" name="Text 6"/>
          <p:cNvSpPr txBox="1"/>
          <p:nvPr/>
        </p:nvSpPr>
        <p:spPr>
          <a:xfrm>
            <a:off x="7635240" y="1371600"/>
            <a:ext cx="2221992" cy="347472"/>
          </a:xfrm>
          <a:prstGeom prst="rect">
            <a:avLst/>
          </a:prstGeom>
          <a:noFill/>
          <a:ln/>
        </p:spPr>
        <p:txBody>
          <a:bodyPr wrap="square" lIns="0" tIns="0" rIns="0" bIns="0" rtlCol="0" anchor="ctr"/>
          <a:lstStyle/>
          <a:p>
            <a:pPr algn="ctr" indent="0" marL="0">
              <a:buNone/>
            </a:pPr>
            <a:r>
              <a:rPr lang="en-US" sz="1300" b="1" dirty="0">
                <a:solidFill>
                  <a:srgbClr val="188038"/>
                </a:solidFill>
                <a:latin typeface="Roboto" pitchFamily="34" charset="0"/>
                <a:ea typeface="Roboto" pitchFamily="34" charset="-122"/>
                <a:cs typeface="Roboto" pitchFamily="34" charset="-120"/>
              </a:rPr>
              <a:t>Mallorca · cap al 1375</a:t>
            </a:r>
            <a:endParaRPr lang="en-US" sz="1300" dirty="0"/>
          </a:p>
        </p:txBody>
      </p:sp>
      <p:sp>
        <p:nvSpPr>
          <p:cNvPr id="10" name="Cercle icona"/>
          <p:cNvSpPr/>
          <p:nvPr/>
        </p:nvSpPr>
        <p:spPr>
          <a:xfrm>
            <a:off x="7635240" y="2002536"/>
            <a:ext cx="457200" cy="457200"/>
          </a:xfrm>
          <a:prstGeom prst="ellipse">
            <a:avLst/>
          </a:prstGeom>
          <a:solidFill>
            <a:srgbClr val="E6F4EA"/>
          </a:solidFill>
          <a:ln/>
        </p:spPr>
      </p:sp>
      <p:pic>
        <p:nvPicPr>
          <p:cNvPr id="11" name="Icona TbUser" descr="/home/claude/p857/build/img/ic/TbUser-g.png">    </p:cNvPr>
          <p:cNvPicPr>
            <a:picLocks noChangeAspect="1"/>
          </p:cNvPicPr>
          <p:nvPr/>
        </p:nvPicPr>
        <p:blipFill>
          <a:blip r:embed="rId2"/>
          <a:stretch>
            <a:fillRect/>
          </a:stretch>
        </p:blipFill>
        <p:spPr>
          <a:xfrm>
            <a:off x="7735824" y="2103120"/>
            <a:ext cx="256032" cy="256032"/>
          </a:xfrm>
          <a:prstGeom prst="rect">
            <a:avLst/>
          </a:prstGeom>
        </p:spPr>
      </p:pic>
      <p:sp>
        <p:nvSpPr>
          <p:cNvPr id="12" name="Text 8"/>
          <p:cNvSpPr txBox="1"/>
          <p:nvPr/>
        </p:nvSpPr>
        <p:spPr>
          <a:xfrm>
            <a:off x="8293608" y="1874520"/>
            <a:ext cx="3349447" cy="822960"/>
          </a:xfrm>
          <a:prstGeom prst="rect">
            <a:avLst/>
          </a:prstGeom>
          <a:noFill/>
          <a:ln/>
        </p:spPr>
        <p:txBody>
          <a:bodyPr wrap="square" lIns="0" tIns="0" rIns="0" bIns="0" rtlCol="0" anchor="ctr"/>
          <a:lstStyle/>
          <a:p>
            <a:pPr indent="0" marL="0">
              <a:buNone/>
            </a:pPr>
            <a:r>
              <a:rPr lang="en-US" sz="1550" b="1" dirty="0">
                <a:solidFill>
                  <a:srgbClr val="202124"/>
                </a:solidFill>
                <a:latin typeface="Roboto" pitchFamily="34" charset="0"/>
                <a:ea typeface="Roboto" pitchFamily="34" charset="-122"/>
                <a:cs typeface="Roboto" pitchFamily="34" charset="-120"/>
              </a:rPr>
              <a:t>Cresques Abraham. </a:t>
            </a:r>
            <a:pPr indent="0" marL="0">
              <a:buNone/>
            </a:pPr>
            <a:r>
              <a:rPr lang="en-US" sz="1550" dirty="0">
                <a:solidFill>
                  <a:srgbClr val="202124"/>
                </a:solidFill>
                <a:latin typeface="Roboto" pitchFamily="34" charset="0"/>
                <a:ea typeface="Roboto" pitchFamily="34" charset="-122"/>
                <a:cs typeface="Roboto" pitchFamily="34" charset="-120"/>
              </a:rPr>
              <a:t>L'Atles s'atribueix a aquest cartògraf jueu.</a:t>
            </a:r>
            <a:endParaRPr lang="en-US" sz="1550" dirty="0"/>
          </a:p>
        </p:txBody>
      </p:sp>
      <p:sp>
        <p:nvSpPr>
          <p:cNvPr id="13" name="Cercle icona"/>
          <p:cNvSpPr/>
          <p:nvPr/>
        </p:nvSpPr>
        <p:spPr>
          <a:xfrm>
            <a:off x="7635240" y="2916936"/>
            <a:ext cx="457200" cy="457200"/>
          </a:xfrm>
          <a:prstGeom prst="ellipse">
            <a:avLst/>
          </a:prstGeom>
          <a:solidFill>
            <a:srgbClr val="E6F4EA"/>
          </a:solidFill>
          <a:ln/>
        </p:spPr>
      </p:sp>
      <p:pic>
        <p:nvPicPr>
          <p:cNvPr id="14" name="Icona TbRoute" descr="/home/claude/p857/build/img/ic/TbRoute-g.png">    </p:cNvPr>
          <p:cNvPicPr>
            <a:picLocks noChangeAspect="1"/>
          </p:cNvPicPr>
          <p:nvPr/>
        </p:nvPicPr>
        <p:blipFill>
          <a:blip r:embed="rId3"/>
          <a:stretch>
            <a:fillRect/>
          </a:stretch>
        </p:blipFill>
        <p:spPr>
          <a:xfrm>
            <a:off x="7735824" y="3017520"/>
            <a:ext cx="256032" cy="256032"/>
          </a:xfrm>
          <a:prstGeom prst="rect">
            <a:avLst/>
          </a:prstGeom>
        </p:spPr>
      </p:pic>
      <p:sp>
        <p:nvSpPr>
          <p:cNvPr id="15" name="Text 10"/>
          <p:cNvSpPr txBox="1"/>
          <p:nvPr/>
        </p:nvSpPr>
        <p:spPr>
          <a:xfrm>
            <a:off x="8293608" y="2788920"/>
            <a:ext cx="3349447" cy="822960"/>
          </a:xfrm>
          <a:prstGeom prst="rect">
            <a:avLst/>
          </a:prstGeom>
          <a:noFill/>
          <a:ln/>
        </p:spPr>
        <p:txBody>
          <a:bodyPr wrap="square" lIns="0" tIns="0" rIns="0" bIns="0" rtlCol="0" anchor="ctr"/>
          <a:lstStyle/>
          <a:p>
            <a:pPr indent="0" marL="0">
              <a:buNone/>
            </a:pPr>
            <a:r>
              <a:rPr lang="en-US" sz="1550" b="1" dirty="0">
                <a:solidFill>
                  <a:srgbClr val="202124"/>
                </a:solidFill>
                <a:latin typeface="Roboto" pitchFamily="34" charset="0"/>
                <a:ea typeface="Roboto" pitchFamily="34" charset="-122"/>
                <a:cs typeface="Roboto" pitchFamily="34" charset="-120"/>
              </a:rPr>
              <a:t>Les línies que es creuen </a:t>
            </a:r>
            <a:pPr indent="0" marL="0">
              <a:buNone/>
            </a:pPr>
            <a:r>
              <a:rPr lang="en-US" sz="1550" dirty="0">
                <a:solidFill>
                  <a:srgbClr val="202124"/>
                </a:solidFill>
                <a:latin typeface="Roboto" pitchFamily="34" charset="0"/>
                <a:ea typeface="Roboto" pitchFamily="34" charset="-122"/>
                <a:cs typeface="Roboto" pitchFamily="34" charset="-120"/>
              </a:rPr>
              <a:t>són rumbs per navegar.</a:t>
            </a:r>
            <a:endParaRPr lang="en-US" sz="1550" dirty="0"/>
          </a:p>
        </p:txBody>
      </p:sp>
      <p:sp>
        <p:nvSpPr>
          <p:cNvPr id="16" name="Cercle icona"/>
          <p:cNvSpPr/>
          <p:nvPr/>
        </p:nvSpPr>
        <p:spPr>
          <a:xfrm>
            <a:off x="7635240" y="3831336"/>
            <a:ext cx="457200" cy="457200"/>
          </a:xfrm>
          <a:prstGeom prst="ellipse">
            <a:avLst/>
          </a:prstGeom>
          <a:solidFill>
            <a:srgbClr val="E6F4EA"/>
          </a:solidFill>
          <a:ln/>
        </p:spPr>
      </p:sp>
      <p:pic>
        <p:nvPicPr>
          <p:cNvPr id="17" name="Icona TbCompass" descr="/home/claude/p857/build/img/ic/TbCompass-g.png">    </p:cNvPr>
          <p:cNvPicPr>
            <a:picLocks noChangeAspect="1"/>
          </p:cNvPicPr>
          <p:nvPr/>
        </p:nvPicPr>
        <p:blipFill>
          <a:blip r:embed="rId4"/>
          <a:stretch>
            <a:fillRect/>
          </a:stretch>
        </p:blipFill>
        <p:spPr>
          <a:xfrm>
            <a:off x="7735824" y="3931920"/>
            <a:ext cx="256032" cy="256032"/>
          </a:xfrm>
          <a:prstGeom prst="rect">
            <a:avLst/>
          </a:prstGeom>
        </p:spPr>
      </p:pic>
      <p:sp>
        <p:nvSpPr>
          <p:cNvPr id="18" name="Text 12"/>
          <p:cNvSpPr txBox="1"/>
          <p:nvPr/>
        </p:nvSpPr>
        <p:spPr>
          <a:xfrm>
            <a:off x="8293608" y="3703320"/>
            <a:ext cx="3349447" cy="822960"/>
          </a:xfrm>
          <a:prstGeom prst="rect">
            <a:avLst/>
          </a:prstGeom>
          <a:noFill/>
          <a:ln/>
        </p:spPr>
        <p:txBody>
          <a:bodyPr wrap="square" lIns="0" tIns="0" rIns="0" bIns="0" rtlCol="0" anchor="ctr"/>
          <a:lstStyle/>
          <a:p>
            <a:pPr indent="0" marL="0">
              <a:buNone/>
            </a:pPr>
            <a:r>
              <a:rPr lang="en-US" sz="1550" b="1" dirty="0">
                <a:solidFill>
                  <a:srgbClr val="202124"/>
                </a:solidFill>
                <a:latin typeface="Roboto" pitchFamily="34" charset="0"/>
                <a:ea typeface="Roboto" pitchFamily="34" charset="-122"/>
                <a:cs typeface="Roboto" pitchFamily="34" charset="-120"/>
              </a:rPr>
              <a:t>A l'esquerra, </a:t>
            </a:r>
            <a:pPr indent="0" marL="0">
              <a:buNone/>
            </a:pPr>
            <a:r>
              <a:rPr lang="en-US" sz="1550" dirty="0">
                <a:solidFill>
                  <a:srgbClr val="202124"/>
                </a:solidFill>
                <a:latin typeface="Roboto" pitchFamily="34" charset="0"/>
                <a:ea typeface="Roboto" pitchFamily="34" charset="-122"/>
                <a:cs typeface="Roboto" pitchFamily="34" charset="-120"/>
              </a:rPr>
              <a:t>una de les primeres roses dels vents dibuixades en un mapa.</a:t>
            </a:r>
            <a:endParaRPr lang="en-US" sz="1550" dirty="0"/>
          </a:p>
        </p:txBody>
      </p:sp>
      <p:sp>
        <p:nvSpPr>
          <p:cNvPr id="19" name="Pensa-hi"/>
          <p:cNvSpPr/>
          <p:nvPr/>
        </p:nvSpPr>
        <p:spPr>
          <a:xfrm>
            <a:off x="7635240" y="4754880"/>
            <a:ext cx="4007815" cy="1234440"/>
          </a:xfrm>
          <a:prstGeom prst="roundRect">
            <a:avLst>
              <a:gd name="adj" fmla="val 8148"/>
            </a:avLst>
          </a:prstGeom>
          <a:solidFill>
            <a:srgbClr val="F6F8FB"/>
          </a:solidFill>
          <a:ln/>
        </p:spPr>
      </p:sp>
      <p:sp>
        <p:nvSpPr>
          <p:cNvPr id="20" name="Text 14"/>
          <p:cNvSpPr txBox="1"/>
          <p:nvPr/>
        </p:nvSpPr>
        <p:spPr>
          <a:xfrm>
            <a:off x="7955280" y="4910328"/>
            <a:ext cx="3367735" cy="320040"/>
          </a:xfrm>
          <a:prstGeom prst="rect">
            <a:avLst/>
          </a:prstGeom>
          <a:noFill/>
          <a:ln/>
        </p:spPr>
        <p:txBody>
          <a:bodyPr wrap="square" lIns="0" tIns="0" rIns="0" bIns="0" rtlCol="0" anchor="t"/>
          <a:lstStyle/>
          <a:p>
            <a:pPr indent="0" marL="0">
              <a:buNone/>
            </a:pPr>
            <a:r>
              <a:rPr lang="en-US" sz="1400" b="1" dirty="0">
                <a:solidFill>
                  <a:srgbClr val="202124"/>
                </a:solidFill>
                <a:latin typeface="Roboto" pitchFamily="34" charset="0"/>
                <a:ea typeface="Roboto" pitchFamily="34" charset="-122"/>
                <a:cs typeface="Roboto" pitchFamily="34" charset="-120"/>
              </a:rPr>
              <a:t>Pensa-hi</a:t>
            </a:r>
            <a:endParaRPr lang="en-US" sz="1400" dirty="0"/>
          </a:p>
        </p:txBody>
      </p:sp>
      <p:sp>
        <p:nvSpPr>
          <p:cNvPr id="21" name="Text 15"/>
          <p:cNvSpPr txBox="1"/>
          <p:nvPr/>
        </p:nvSpPr>
        <p:spPr>
          <a:xfrm>
            <a:off x="7955280" y="5257800"/>
            <a:ext cx="3367735" cy="594360"/>
          </a:xfrm>
          <a:prstGeom prst="rect">
            <a:avLst/>
          </a:prstGeom>
          <a:noFill/>
          <a:ln/>
        </p:spPr>
        <p:txBody>
          <a:bodyPr wrap="square" lIns="0" tIns="0" rIns="0" bIns="0" rtlCol="0" anchor="t"/>
          <a:lstStyle/>
          <a:p>
            <a:pPr indent="0" marL="0">
              <a:buNone/>
            </a:pPr>
            <a:r>
              <a:rPr lang="en-US" sz="1600" dirty="0">
                <a:solidFill>
                  <a:srgbClr val="5F6368"/>
                </a:solidFill>
                <a:latin typeface="Roboto" pitchFamily="34" charset="0"/>
                <a:ea typeface="Roboto" pitchFamily="34" charset="-122"/>
                <a:cs typeface="Roboto" pitchFamily="34" charset="-120"/>
              </a:rPr>
              <a:t>En què s'assembla i en què es diferencia d'un mapa d'ara?</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3</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Què és un mapa i quins tipus hi ha</a:t>
            </a:r>
            <a:endParaRPr lang="en-US" sz="2800" dirty="0"/>
          </a:p>
        </p:txBody>
      </p:sp>
      <p:sp>
        <p:nvSpPr>
          <p:cNvPr id="5" name="Paraula clau · Mapa"/>
          <p:cNvSpPr/>
          <p:nvPr/>
        </p:nvSpPr>
        <p:spPr>
          <a:xfrm>
            <a:off x="548640" y="1371600"/>
            <a:ext cx="11094415" cy="1188720"/>
          </a:xfrm>
          <a:prstGeom prst="roundRect">
            <a:avLst>
              <a:gd name="adj" fmla="val 8462"/>
            </a:avLst>
          </a:prstGeom>
          <a:solidFill>
            <a:srgbClr val="E6F4EA"/>
          </a:solidFill>
          <a:ln/>
        </p:spPr>
      </p:sp>
      <p:sp>
        <p:nvSpPr>
          <p:cNvPr id="6" name="Text 4"/>
          <p:cNvSpPr txBox="1"/>
          <p:nvPr/>
        </p:nvSpPr>
        <p:spPr>
          <a:xfrm>
            <a:off x="868680" y="1527048"/>
            <a:ext cx="10454335" cy="320040"/>
          </a:xfrm>
          <a:prstGeom prst="rect">
            <a:avLst/>
          </a:prstGeom>
          <a:noFill/>
          <a:ln/>
        </p:spPr>
        <p:txBody>
          <a:bodyPr wrap="square" lIns="0" tIns="0" rIns="0" bIns="0" rtlCol="0" anchor="t"/>
          <a:lstStyle/>
          <a:p>
            <a:pPr indent="0" marL="0">
              <a:buNone/>
            </a:pPr>
            <a:r>
              <a:rPr lang="en-US" sz="1400" b="1" dirty="0">
                <a:solidFill>
                  <a:srgbClr val="188038"/>
                </a:solidFill>
                <a:latin typeface="Roboto" pitchFamily="34" charset="0"/>
                <a:ea typeface="Roboto" pitchFamily="34" charset="-122"/>
                <a:cs typeface="Roboto" pitchFamily="34" charset="-120"/>
              </a:rPr>
              <a:t>Paraula clau · Mapa</a:t>
            </a:r>
            <a:endParaRPr lang="en-US" sz="1400" dirty="0"/>
          </a:p>
        </p:txBody>
      </p:sp>
      <p:sp>
        <p:nvSpPr>
          <p:cNvPr id="7" name="Text 5"/>
          <p:cNvSpPr txBox="1"/>
          <p:nvPr/>
        </p:nvSpPr>
        <p:spPr>
          <a:xfrm>
            <a:off x="868680" y="1874520"/>
            <a:ext cx="10454335" cy="548640"/>
          </a:xfrm>
          <a:prstGeom prst="rect">
            <a:avLst/>
          </a:prstGeom>
          <a:noFill/>
          <a:ln/>
        </p:spPr>
        <p:txBody>
          <a:bodyPr wrap="square" lIns="0" tIns="0" rIns="0" bIns="0" rtlCol="0" anchor="t"/>
          <a:lstStyle/>
          <a:p>
            <a:pPr indent="0" marL="0">
              <a:buNone/>
            </a:pPr>
            <a:r>
              <a:rPr lang="en-US" sz="1700" dirty="0">
                <a:solidFill>
                  <a:srgbClr val="202124"/>
                </a:solidFill>
                <a:latin typeface="Roboto" pitchFamily="34" charset="0"/>
                <a:ea typeface="Roboto" pitchFamily="34" charset="-122"/>
                <a:cs typeface="Roboto" pitchFamily="34" charset="-120"/>
              </a:rPr>
              <a:t>Representació plana i reduïda d'un territori. Sempre és més petit que la realitat i només hi surt el que interessa, així que cal saber-lo llegir.</a:t>
            </a:r>
            <a:endParaRPr lang="en-US" sz="1700" dirty="0"/>
          </a:p>
        </p:txBody>
      </p:sp>
      <p:sp>
        <p:nvSpPr>
          <p:cNvPr id="8" name="Targeta Físics"/>
          <p:cNvSpPr/>
          <p:nvPr/>
        </p:nvSpPr>
        <p:spPr>
          <a:xfrm>
            <a:off x="548640" y="2788920"/>
            <a:ext cx="2602154" cy="3200400"/>
          </a:xfrm>
          <a:prstGeom prst="roundRect">
            <a:avLst>
              <a:gd name="adj" fmla="val 3865"/>
            </a:avLst>
          </a:prstGeom>
          <a:solidFill>
            <a:srgbClr val="FFFFFF"/>
          </a:solidFill>
          <a:ln w="12700">
            <a:solidFill>
              <a:srgbClr val="DADCE0"/>
            </a:solidFill>
            <a:prstDash val="solid"/>
          </a:ln>
        </p:spPr>
      </p:sp>
      <p:sp>
        <p:nvSpPr>
          <p:cNvPr id="9" name="Cercle icona"/>
          <p:cNvSpPr/>
          <p:nvPr/>
        </p:nvSpPr>
        <p:spPr>
          <a:xfrm>
            <a:off x="777240" y="3017520"/>
            <a:ext cx="594360" cy="594360"/>
          </a:xfrm>
          <a:prstGeom prst="ellipse">
            <a:avLst/>
          </a:prstGeom>
          <a:solidFill>
            <a:srgbClr val="E6F4EA"/>
          </a:solidFill>
          <a:ln/>
        </p:spPr>
      </p:sp>
      <p:pic>
        <p:nvPicPr>
          <p:cNvPr id="10" name="Icona TbMountain" descr="/home/claude/p857/build/img/ic/TbMountain-g.png">    </p:cNvPr>
          <p:cNvPicPr>
            <a:picLocks noChangeAspect="1"/>
          </p:cNvPicPr>
          <p:nvPr/>
        </p:nvPicPr>
        <p:blipFill>
          <a:blip r:embed="rId1"/>
          <a:stretch>
            <a:fillRect/>
          </a:stretch>
        </p:blipFill>
        <p:spPr>
          <a:xfrm>
            <a:off x="907999" y="3148279"/>
            <a:ext cx="332842" cy="332842"/>
          </a:xfrm>
          <a:prstGeom prst="rect">
            <a:avLst/>
          </a:prstGeom>
        </p:spPr>
      </p:pic>
      <p:sp>
        <p:nvSpPr>
          <p:cNvPr id="11" name="Text 8"/>
          <p:cNvSpPr txBox="1"/>
          <p:nvPr/>
        </p:nvSpPr>
        <p:spPr>
          <a:xfrm>
            <a:off x="777240" y="3749040"/>
            <a:ext cx="2144954" cy="289560"/>
          </a:xfrm>
          <a:prstGeom prst="rect">
            <a:avLst/>
          </a:prstGeom>
          <a:noFill/>
          <a:ln/>
        </p:spPr>
        <p:txBody>
          <a:bodyPr wrap="square" lIns="0" tIns="0" rIns="0" bIns="0" rtlCol="0" anchor="t"/>
          <a:lstStyle/>
          <a:p>
            <a:pPr indent="0" marL="0">
              <a:buNone/>
            </a:pPr>
            <a:r>
              <a:rPr lang="en-US" sz="1900" b="1" dirty="0">
                <a:solidFill>
                  <a:srgbClr val="188038"/>
                </a:solidFill>
                <a:latin typeface="Roboto" pitchFamily="34" charset="0"/>
                <a:ea typeface="Roboto" pitchFamily="34" charset="-122"/>
                <a:cs typeface="Roboto" pitchFamily="34" charset="-120"/>
              </a:rPr>
              <a:t>Físics</a:t>
            </a:r>
            <a:endParaRPr lang="en-US" sz="1900" dirty="0"/>
          </a:p>
        </p:txBody>
      </p:sp>
      <p:sp>
        <p:nvSpPr>
          <p:cNvPr id="12" name="Text 9"/>
          <p:cNvSpPr txBox="1"/>
          <p:nvPr/>
        </p:nvSpPr>
        <p:spPr>
          <a:xfrm>
            <a:off x="777240" y="4130040"/>
            <a:ext cx="2144954" cy="1722120"/>
          </a:xfrm>
          <a:prstGeom prst="rect">
            <a:avLst/>
          </a:prstGeom>
          <a:noFill/>
          <a:ln/>
        </p:spPr>
        <p:txBody>
          <a:bodyPr wrap="square" lIns="0" tIns="0" rIns="0" bIns="0" rtlCol="0" anchor="t"/>
          <a:lstStyle/>
          <a:p>
            <a:pPr indent="0" marL="0">
              <a:buNone/>
            </a:pPr>
            <a:r>
              <a:rPr lang="en-US" sz="1550" dirty="0">
                <a:solidFill>
                  <a:srgbClr val="202124"/>
                </a:solidFill>
                <a:latin typeface="Roboto" pitchFamily="34" charset="0"/>
                <a:ea typeface="Roboto" pitchFamily="34" charset="-122"/>
                <a:cs typeface="Roboto" pitchFamily="34" charset="-120"/>
              </a:rPr>
              <a:t>Mostren el relleu (muntanyes, rius, mars). Solen ser verds i marrons, i blaus per a l'aigua.</a:t>
            </a:r>
            <a:endParaRPr lang="en-US" sz="1550" dirty="0"/>
          </a:p>
        </p:txBody>
      </p:sp>
      <p:sp>
        <p:nvSpPr>
          <p:cNvPr id="13" name="Targeta Polítics"/>
          <p:cNvSpPr/>
          <p:nvPr/>
        </p:nvSpPr>
        <p:spPr>
          <a:xfrm>
            <a:off x="3379394" y="2788920"/>
            <a:ext cx="2602154" cy="3200400"/>
          </a:xfrm>
          <a:prstGeom prst="roundRect">
            <a:avLst>
              <a:gd name="adj" fmla="val 3865"/>
            </a:avLst>
          </a:prstGeom>
          <a:solidFill>
            <a:srgbClr val="FFFFFF"/>
          </a:solidFill>
          <a:ln w="12700">
            <a:solidFill>
              <a:srgbClr val="DADCE0"/>
            </a:solidFill>
            <a:prstDash val="solid"/>
          </a:ln>
        </p:spPr>
      </p:sp>
      <p:sp>
        <p:nvSpPr>
          <p:cNvPr id="14" name="Cercle icona"/>
          <p:cNvSpPr/>
          <p:nvPr/>
        </p:nvSpPr>
        <p:spPr>
          <a:xfrm>
            <a:off x="3607994" y="3017520"/>
            <a:ext cx="594360" cy="594360"/>
          </a:xfrm>
          <a:prstGeom prst="ellipse">
            <a:avLst/>
          </a:prstGeom>
          <a:solidFill>
            <a:srgbClr val="E6F4EA"/>
          </a:solidFill>
          <a:ln/>
        </p:spPr>
      </p:sp>
      <p:pic>
        <p:nvPicPr>
          <p:cNvPr id="15" name="Icona TbFlag" descr="/home/claude/p857/build/img/ic/TbFlag-g.png">    </p:cNvPr>
          <p:cNvPicPr>
            <a:picLocks noChangeAspect="1"/>
          </p:cNvPicPr>
          <p:nvPr/>
        </p:nvPicPr>
        <p:blipFill>
          <a:blip r:embed="rId2"/>
          <a:stretch>
            <a:fillRect/>
          </a:stretch>
        </p:blipFill>
        <p:spPr>
          <a:xfrm>
            <a:off x="3738753" y="3148279"/>
            <a:ext cx="332842" cy="332842"/>
          </a:xfrm>
          <a:prstGeom prst="rect">
            <a:avLst/>
          </a:prstGeom>
        </p:spPr>
      </p:pic>
      <p:sp>
        <p:nvSpPr>
          <p:cNvPr id="16" name="Text 12"/>
          <p:cNvSpPr txBox="1"/>
          <p:nvPr/>
        </p:nvSpPr>
        <p:spPr>
          <a:xfrm>
            <a:off x="3607994" y="3749040"/>
            <a:ext cx="2144954" cy="289560"/>
          </a:xfrm>
          <a:prstGeom prst="rect">
            <a:avLst/>
          </a:prstGeom>
          <a:noFill/>
          <a:ln/>
        </p:spPr>
        <p:txBody>
          <a:bodyPr wrap="square" lIns="0" tIns="0" rIns="0" bIns="0" rtlCol="0" anchor="t"/>
          <a:lstStyle/>
          <a:p>
            <a:pPr indent="0" marL="0">
              <a:buNone/>
            </a:pPr>
            <a:r>
              <a:rPr lang="en-US" sz="1900" b="1" dirty="0">
                <a:solidFill>
                  <a:srgbClr val="188038"/>
                </a:solidFill>
                <a:latin typeface="Roboto" pitchFamily="34" charset="0"/>
                <a:ea typeface="Roboto" pitchFamily="34" charset="-122"/>
                <a:cs typeface="Roboto" pitchFamily="34" charset="-120"/>
              </a:rPr>
              <a:t>Polítics</a:t>
            </a:r>
            <a:endParaRPr lang="en-US" sz="1900" dirty="0"/>
          </a:p>
        </p:txBody>
      </p:sp>
      <p:sp>
        <p:nvSpPr>
          <p:cNvPr id="17" name="Text 13"/>
          <p:cNvSpPr txBox="1"/>
          <p:nvPr/>
        </p:nvSpPr>
        <p:spPr>
          <a:xfrm>
            <a:off x="3607994" y="4130040"/>
            <a:ext cx="2144954" cy="1722120"/>
          </a:xfrm>
          <a:prstGeom prst="rect">
            <a:avLst/>
          </a:prstGeom>
          <a:noFill/>
          <a:ln/>
        </p:spPr>
        <p:txBody>
          <a:bodyPr wrap="square" lIns="0" tIns="0" rIns="0" bIns="0" rtlCol="0" anchor="t"/>
          <a:lstStyle/>
          <a:p>
            <a:pPr indent="0" marL="0">
              <a:buNone/>
            </a:pPr>
            <a:r>
              <a:rPr lang="en-US" sz="1550" dirty="0">
                <a:solidFill>
                  <a:srgbClr val="202124"/>
                </a:solidFill>
                <a:latin typeface="Roboto" pitchFamily="34" charset="0"/>
                <a:ea typeface="Roboto" pitchFamily="34" charset="-122"/>
                <a:cs typeface="Roboto" pitchFamily="34" charset="-120"/>
              </a:rPr>
              <a:t>Mostren les fronteres entre estats, províncies o municipis. Cada zona té un color diferent.</a:t>
            </a:r>
            <a:endParaRPr lang="en-US" sz="1550" dirty="0"/>
          </a:p>
        </p:txBody>
      </p:sp>
      <p:sp>
        <p:nvSpPr>
          <p:cNvPr id="18" name="Targeta Temàtics"/>
          <p:cNvSpPr/>
          <p:nvPr/>
        </p:nvSpPr>
        <p:spPr>
          <a:xfrm>
            <a:off x="6210148" y="2788920"/>
            <a:ext cx="2602154" cy="3200400"/>
          </a:xfrm>
          <a:prstGeom prst="roundRect">
            <a:avLst>
              <a:gd name="adj" fmla="val 3865"/>
            </a:avLst>
          </a:prstGeom>
          <a:solidFill>
            <a:srgbClr val="FFFFFF"/>
          </a:solidFill>
          <a:ln w="12700">
            <a:solidFill>
              <a:srgbClr val="DADCE0"/>
            </a:solidFill>
            <a:prstDash val="solid"/>
          </a:ln>
        </p:spPr>
      </p:sp>
      <p:sp>
        <p:nvSpPr>
          <p:cNvPr id="19" name="Cercle icona"/>
          <p:cNvSpPr/>
          <p:nvPr/>
        </p:nvSpPr>
        <p:spPr>
          <a:xfrm>
            <a:off x="6438748" y="3017520"/>
            <a:ext cx="594360" cy="594360"/>
          </a:xfrm>
          <a:prstGeom prst="ellipse">
            <a:avLst/>
          </a:prstGeom>
          <a:solidFill>
            <a:srgbClr val="E6F4EA"/>
          </a:solidFill>
          <a:ln/>
        </p:spPr>
      </p:sp>
      <p:pic>
        <p:nvPicPr>
          <p:cNvPr id="20" name="Icona TbChartPie" descr="/home/claude/p857/build/img/ic/TbChartPie-g.png">    </p:cNvPr>
          <p:cNvPicPr>
            <a:picLocks noChangeAspect="1"/>
          </p:cNvPicPr>
          <p:nvPr/>
        </p:nvPicPr>
        <p:blipFill>
          <a:blip r:embed="rId3"/>
          <a:stretch>
            <a:fillRect/>
          </a:stretch>
        </p:blipFill>
        <p:spPr>
          <a:xfrm>
            <a:off x="6569507" y="3148279"/>
            <a:ext cx="332842" cy="332842"/>
          </a:xfrm>
          <a:prstGeom prst="rect">
            <a:avLst/>
          </a:prstGeom>
        </p:spPr>
      </p:pic>
      <p:sp>
        <p:nvSpPr>
          <p:cNvPr id="21" name="Text 16"/>
          <p:cNvSpPr txBox="1"/>
          <p:nvPr/>
        </p:nvSpPr>
        <p:spPr>
          <a:xfrm>
            <a:off x="6438748" y="3749040"/>
            <a:ext cx="2144954" cy="289560"/>
          </a:xfrm>
          <a:prstGeom prst="rect">
            <a:avLst/>
          </a:prstGeom>
          <a:noFill/>
          <a:ln/>
        </p:spPr>
        <p:txBody>
          <a:bodyPr wrap="square" lIns="0" tIns="0" rIns="0" bIns="0" rtlCol="0" anchor="t"/>
          <a:lstStyle/>
          <a:p>
            <a:pPr indent="0" marL="0">
              <a:buNone/>
            </a:pPr>
            <a:r>
              <a:rPr lang="en-US" sz="1900" b="1" dirty="0">
                <a:solidFill>
                  <a:srgbClr val="188038"/>
                </a:solidFill>
                <a:latin typeface="Roboto" pitchFamily="34" charset="0"/>
                <a:ea typeface="Roboto" pitchFamily="34" charset="-122"/>
                <a:cs typeface="Roboto" pitchFamily="34" charset="-120"/>
              </a:rPr>
              <a:t>Temàtics</a:t>
            </a:r>
            <a:endParaRPr lang="en-US" sz="1900" dirty="0"/>
          </a:p>
        </p:txBody>
      </p:sp>
      <p:sp>
        <p:nvSpPr>
          <p:cNvPr id="22" name="Text 17"/>
          <p:cNvSpPr txBox="1"/>
          <p:nvPr/>
        </p:nvSpPr>
        <p:spPr>
          <a:xfrm>
            <a:off x="6438748" y="4130040"/>
            <a:ext cx="2144954" cy="1722120"/>
          </a:xfrm>
          <a:prstGeom prst="rect">
            <a:avLst/>
          </a:prstGeom>
          <a:noFill/>
          <a:ln/>
        </p:spPr>
        <p:txBody>
          <a:bodyPr wrap="square" lIns="0" tIns="0" rIns="0" bIns="0" rtlCol="0" anchor="t"/>
          <a:lstStyle/>
          <a:p>
            <a:pPr indent="0" marL="0">
              <a:buNone/>
            </a:pPr>
            <a:r>
              <a:rPr lang="en-US" sz="1550" dirty="0">
                <a:solidFill>
                  <a:srgbClr val="202124"/>
                </a:solidFill>
                <a:latin typeface="Roboto" pitchFamily="34" charset="0"/>
                <a:ea typeface="Roboto" pitchFamily="34" charset="-122"/>
                <a:cs typeface="Roboto" pitchFamily="34" charset="-120"/>
              </a:rPr>
              <a:t>Mostren un tema concret, com el clima, la població, els transports o l'economia.</a:t>
            </a:r>
            <a:endParaRPr lang="en-US" sz="1550" dirty="0"/>
          </a:p>
        </p:txBody>
      </p:sp>
      <p:sp>
        <p:nvSpPr>
          <p:cNvPr id="23" name="Targeta Topogràfic"/>
          <p:cNvSpPr/>
          <p:nvPr/>
        </p:nvSpPr>
        <p:spPr>
          <a:xfrm>
            <a:off x="9040901" y="2788920"/>
            <a:ext cx="2602154" cy="3200400"/>
          </a:xfrm>
          <a:prstGeom prst="roundRect">
            <a:avLst>
              <a:gd name="adj" fmla="val 3865"/>
            </a:avLst>
          </a:prstGeom>
          <a:solidFill>
            <a:srgbClr val="188038"/>
          </a:solidFill>
          <a:ln/>
        </p:spPr>
      </p:sp>
      <p:sp>
        <p:nvSpPr>
          <p:cNvPr id="24" name="Cercle icona"/>
          <p:cNvSpPr/>
          <p:nvPr/>
        </p:nvSpPr>
        <p:spPr>
          <a:xfrm>
            <a:off x="9269501" y="3017520"/>
            <a:ext cx="594360" cy="594360"/>
          </a:xfrm>
          <a:prstGeom prst="ellipse">
            <a:avLst/>
          </a:prstGeom>
          <a:solidFill>
            <a:srgbClr val="FFFFFF"/>
          </a:solidFill>
          <a:ln/>
        </p:spPr>
      </p:sp>
      <p:pic>
        <p:nvPicPr>
          <p:cNvPr id="25" name="Icona TbTrekking" descr="/home/claude/p857/build/img/ic/TbTrekking-g.png">    </p:cNvPr>
          <p:cNvPicPr>
            <a:picLocks noChangeAspect="1"/>
          </p:cNvPicPr>
          <p:nvPr/>
        </p:nvPicPr>
        <p:blipFill>
          <a:blip r:embed="rId4"/>
          <a:stretch>
            <a:fillRect/>
          </a:stretch>
        </p:blipFill>
        <p:spPr>
          <a:xfrm>
            <a:off x="9400261" y="3148279"/>
            <a:ext cx="332842" cy="332842"/>
          </a:xfrm>
          <a:prstGeom prst="rect">
            <a:avLst/>
          </a:prstGeom>
        </p:spPr>
      </p:pic>
      <p:sp>
        <p:nvSpPr>
          <p:cNvPr id="26" name="Text 20"/>
          <p:cNvSpPr txBox="1"/>
          <p:nvPr/>
        </p:nvSpPr>
        <p:spPr>
          <a:xfrm>
            <a:off x="9269501" y="3749040"/>
            <a:ext cx="2144954" cy="289560"/>
          </a:xfrm>
          <a:prstGeom prst="rect">
            <a:avLst/>
          </a:prstGeom>
          <a:noFill/>
          <a:ln/>
        </p:spPr>
        <p:txBody>
          <a:bodyPr wrap="square" lIns="0" tIns="0" rIns="0" bIns="0" rtlCol="0" anchor="t"/>
          <a:lstStyle/>
          <a:p>
            <a:pPr indent="0" marL="0">
              <a:buNone/>
            </a:pPr>
            <a:r>
              <a:rPr lang="en-US" sz="1900" b="1" dirty="0">
                <a:solidFill>
                  <a:srgbClr val="FFFFFF"/>
                </a:solidFill>
                <a:latin typeface="Roboto" pitchFamily="34" charset="0"/>
                <a:ea typeface="Roboto" pitchFamily="34" charset="-122"/>
                <a:cs typeface="Roboto" pitchFamily="34" charset="-120"/>
              </a:rPr>
              <a:t>Topogràfic</a:t>
            </a:r>
            <a:endParaRPr lang="en-US" sz="1900" dirty="0"/>
          </a:p>
        </p:txBody>
      </p:sp>
      <p:sp>
        <p:nvSpPr>
          <p:cNvPr id="27" name="Text 21"/>
          <p:cNvSpPr txBox="1"/>
          <p:nvPr/>
        </p:nvSpPr>
        <p:spPr>
          <a:xfrm>
            <a:off x="9269501" y="4130040"/>
            <a:ext cx="2144954" cy="1722120"/>
          </a:xfrm>
          <a:prstGeom prst="rect">
            <a:avLst/>
          </a:prstGeom>
          <a:noFill/>
          <a:ln/>
        </p:spPr>
        <p:txBody>
          <a:bodyPr wrap="square" lIns="0" tIns="0" rIns="0" bIns="0" rtlCol="0" anchor="t"/>
          <a:lstStyle/>
          <a:p>
            <a:pPr indent="0" marL="0">
              <a:buNone/>
            </a:pPr>
            <a:r>
              <a:rPr lang="en-US" sz="1550" dirty="0">
                <a:solidFill>
                  <a:srgbClr val="FFFFFF"/>
                </a:solidFill>
                <a:latin typeface="Roboto" pitchFamily="34" charset="0"/>
                <a:ea typeface="Roboto" pitchFamily="34" charset="-122"/>
                <a:cs typeface="Roboto" pitchFamily="34" charset="-120"/>
              </a:rPr>
              <a:t>El dels excursionistes. Hi surten amb molt de detall el relleu, els rius, els camins, les cases i els pobles.</a:t>
            </a:r>
            <a:endParaRPr lang="en-US" sz="15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3</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L'escala</a:t>
            </a:r>
            <a:endParaRPr lang="en-US" sz="2800" dirty="0"/>
          </a:p>
        </p:txBody>
      </p:sp>
      <p:sp>
        <p:nvSpPr>
          <p:cNvPr id="5" name="Text 3"/>
          <p:cNvSpPr txBox="1"/>
          <p:nvPr/>
        </p:nvSpPr>
        <p:spPr>
          <a:xfrm>
            <a:off x="548640" y="1371600"/>
            <a:ext cx="11094415" cy="594360"/>
          </a:xfrm>
          <a:prstGeom prst="rect">
            <a:avLst/>
          </a:prstGeom>
          <a:noFill/>
          <a:ln/>
        </p:spPr>
        <p:txBody>
          <a:bodyPr wrap="square" lIns="0" tIns="0" rIns="0" bIns="0" rtlCol="0" anchor="t"/>
          <a:lstStyle/>
          <a:p>
            <a:pPr indent="0" marL="0">
              <a:buNone/>
            </a:pPr>
            <a:r>
              <a:rPr lang="en-US" sz="1800" dirty="0">
                <a:solidFill>
                  <a:srgbClr val="202124"/>
                </a:solidFill>
                <a:latin typeface="Roboto" pitchFamily="34" charset="0"/>
                <a:ea typeface="Roboto" pitchFamily="34" charset="-122"/>
                <a:cs typeface="Roboto" pitchFamily="34" charset="-120"/>
              </a:rPr>
              <a:t>L'escala ens diu quantes vegades més petit és el mapa que la realitat. Hi ha dues maneres d'expressar-la.</a:t>
            </a:r>
            <a:endParaRPr lang="en-US" sz="1800" dirty="0"/>
          </a:p>
        </p:txBody>
      </p:sp>
      <p:sp>
        <p:nvSpPr>
          <p:cNvPr id="6" name="Targeta Escala numèrica"/>
          <p:cNvSpPr/>
          <p:nvPr/>
        </p:nvSpPr>
        <p:spPr>
          <a:xfrm>
            <a:off x="548640" y="2148840"/>
            <a:ext cx="4572000" cy="1805940"/>
          </a:xfrm>
          <a:prstGeom prst="roundRect">
            <a:avLst>
              <a:gd name="adj" fmla="val 5570"/>
            </a:avLst>
          </a:prstGeom>
          <a:solidFill>
            <a:srgbClr val="FFFFFF"/>
          </a:solidFill>
          <a:ln w="12700">
            <a:solidFill>
              <a:srgbClr val="DADCE0"/>
            </a:solidFill>
            <a:prstDash val="solid"/>
          </a:ln>
        </p:spPr>
      </p:sp>
      <p:sp>
        <p:nvSpPr>
          <p:cNvPr id="7" name="Cercle icona"/>
          <p:cNvSpPr/>
          <p:nvPr/>
        </p:nvSpPr>
        <p:spPr>
          <a:xfrm>
            <a:off x="777240" y="2377440"/>
            <a:ext cx="548640" cy="548640"/>
          </a:xfrm>
          <a:prstGeom prst="ellipse">
            <a:avLst/>
          </a:prstGeom>
          <a:solidFill>
            <a:srgbClr val="E6F4EA"/>
          </a:solidFill>
          <a:ln/>
        </p:spPr>
      </p:sp>
      <p:pic>
        <p:nvPicPr>
          <p:cNvPr id="8" name="Icona TbCalculator" descr="/home/claude/p857/build/img/ic/TbCalculator-g.png">    </p:cNvPr>
          <p:cNvPicPr>
            <a:picLocks noChangeAspect="1"/>
          </p:cNvPicPr>
          <p:nvPr/>
        </p:nvPicPr>
        <p:blipFill>
          <a:blip r:embed="rId1"/>
          <a:stretch>
            <a:fillRect/>
          </a:stretch>
        </p:blipFill>
        <p:spPr>
          <a:xfrm>
            <a:off x="897941" y="2498141"/>
            <a:ext cx="307238" cy="307238"/>
          </a:xfrm>
          <a:prstGeom prst="rect">
            <a:avLst/>
          </a:prstGeom>
        </p:spPr>
      </p:pic>
      <p:sp>
        <p:nvSpPr>
          <p:cNvPr id="9" name="Text 6"/>
          <p:cNvSpPr txBox="1"/>
          <p:nvPr/>
        </p:nvSpPr>
        <p:spPr>
          <a:xfrm>
            <a:off x="1463040" y="2377440"/>
            <a:ext cx="3429000" cy="548640"/>
          </a:xfrm>
          <a:prstGeom prst="rect">
            <a:avLst/>
          </a:prstGeom>
          <a:noFill/>
          <a:ln/>
        </p:spPr>
        <p:txBody>
          <a:bodyPr wrap="square" lIns="0" tIns="0" rIns="0" bIns="0" rtlCol="0" anchor="ctr"/>
          <a:lstStyle/>
          <a:p>
            <a:pPr indent="0" marL="0">
              <a:buNone/>
            </a:pPr>
            <a:r>
              <a:rPr lang="en-US" sz="1900" b="1" dirty="0">
                <a:solidFill>
                  <a:srgbClr val="188038"/>
                </a:solidFill>
                <a:latin typeface="Roboto" pitchFamily="34" charset="0"/>
                <a:ea typeface="Roboto" pitchFamily="34" charset="-122"/>
                <a:cs typeface="Roboto" pitchFamily="34" charset="-120"/>
              </a:rPr>
              <a:t>Escala numèrica</a:t>
            </a:r>
            <a:endParaRPr lang="en-US" sz="1900" dirty="0"/>
          </a:p>
        </p:txBody>
      </p:sp>
      <p:sp>
        <p:nvSpPr>
          <p:cNvPr id="10" name="Text 7"/>
          <p:cNvSpPr txBox="1"/>
          <p:nvPr/>
        </p:nvSpPr>
        <p:spPr>
          <a:xfrm>
            <a:off x="777240" y="3063240"/>
            <a:ext cx="4114800" cy="754380"/>
          </a:xfrm>
          <a:prstGeom prst="rect">
            <a:avLst/>
          </a:prstGeom>
          <a:noFill/>
          <a:ln/>
        </p:spPr>
        <p:txBody>
          <a:bodyPr wrap="square" lIns="0" tIns="0" rIns="0" bIns="0" rtlCol="0" anchor="t"/>
          <a:lstStyle/>
          <a:p>
            <a:pPr indent="0" marL="0">
              <a:buNone/>
            </a:pPr>
            <a:r>
              <a:rPr lang="en-US" sz="1650" dirty="0">
                <a:solidFill>
                  <a:srgbClr val="202124"/>
                </a:solidFill>
                <a:latin typeface="Roboto" pitchFamily="34" charset="0"/>
                <a:ea typeface="Roboto" pitchFamily="34" charset="-122"/>
                <a:cs typeface="Roboto" pitchFamily="34" charset="-120"/>
              </a:rPr>
              <a:t>Per exemple, 1:50.000. Vol dir que 1 cm al mapa equival a 50.000 cm reals, és a dir, 500 metres.</a:t>
            </a:r>
            <a:endParaRPr lang="en-US" sz="1650" dirty="0"/>
          </a:p>
        </p:txBody>
      </p:sp>
      <p:sp>
        <p:nvSpPr>
          <p:cNvPr id="11" name="Targeta Escala gràfica"/>
          <p:cNvSpPr/>
          <p:nvPr/>
        </p:nvSpPr>
        <p:spPr>
          <a:xfrm>
            <a:off x="548640" y="4183380"/>
            <a:ext cx="4572000" cy="1805940"/>
          </a:xfrm>
          <a:prstGeom prst="roundRect">
            <a:avLst>
              <a:gd name="adj" fmla="val 5570"/>
            </a:avLst>
          </a:prstGeom>
          <a:solidFill>
            <a:srgbClr val="FFFFFF"/>
          </a:solidFill>
          <a:ln w="12700">
            <a:solidFill>
              <a:srgbClr val="DADCE0"/>
            </a:solidFill>
            <a:prstDash val="solid"/>
          </a:ln>
        </p:spPr>
      </p:sp>
      <p:sp>
        <p:nvSpPr>
          <p:cNvPr id="12" name="Cercle icona"/>
          <p:cNvSpPr/>
          <p:nvPr/>
        </p:nvSpPr>
        <p:spPr>
          <a:xfrm>
            <a:off x="777240" y="4411980"/>
            <a:ext cx="548640" cy="548640"/>
          </a:xfrm>
          <a:prstGeom prst="ellipse">
            <a:avLst/>
          </a:prstGeom>
          <a:solidFill>
            <a:srgbClr val="E6F4EA"/>
          </a:solidFill>
          <a:ln/>
        </p:spPr>
      </p:sp>
      <p:pic>
        <p:nvPicPr>
          <p:cNvPr id="13" name="Icona TbRuler" descr="/home/claude/p857/build/img/ic/TbRuler-g.png">    </p:cNvPr>
          <p:cNvPicPr>
            <a:picLocks noChangeAspect="1"/>
          </p:cNvPicPr>
          <p:nvPr/>
        </p:nvPicPr>
        <p:blipFill>
          <a:blip r:embed="rId2"/>
          <a:stretch>
            <a:fillRect/>
          </a:stretch>
        </p:blipFill>
        <p:spPr>
          <a:xfrm>
            <a:off x="897941" y="4532681"/>
            <a:ext cx="307238" cy="307238"/>
          </a:xfrm>
          <a:prstGeom prst="rect">
            <a:avLst/>
          </a:prstGeom>
        </p:spPr>
      </p:pic>
      <p:sp>
        <p:nvSpPr>
          <p:cNvPr id="14" name="Text 10"/>
          <p:cNvSpPr txBox="1"/>
          <p:nvPr/>
        </p:nvSpPr>
        <p:spPr>
          <a:xfrm>
            <a:off x="1463040" y="4411980"/>
            <a:ext cx="3429000" cy="548640"/>
          </a:xfrm>
          <a:prstGeom prst="rect">
            <a:avLst/>
          </a:prstGeom>
          <a:noFill/>
          <a:ln/>
        </p:spPr>
        <p:txBody>
          <a:bodyPr wrap="square" lIns="0" tIns="0" rIns="0" bIns="0" rtlCol="0" anchor="ctr"/>
          <a:lstStyle/>
          <a:p>
            <a:pPr indent="0" marL="0">
              <a:buNone/>
            </a:pPr>
            <a:r>
              <a:rPr lang="en-US" sz="1900" b="1" dirty="0">
                <a:solidFill>
                  <a:srgbClr val="188038"/>
                </a:solidFill>
                <a:latin typeface="Roboto" pitchFamily="34" charset="0"/>
                <a:ea typeface="Roboto" pitchFamily="34" charset="-122"/>
                <a:cs typeface="Roboto" pitchFamily="34" charset="-120"/>
              </a:rPr>
              <a:t>Escala gràfica</a:t>
            </a:r>
            <a:endParaRPr lang="en-US" sz="1900" dirty="0"/>
          </a:p>
        </p:txBody>
      </p:sp>
      <p:sp>
        <p:nvSpPr>
          <p:cNvPr id="15" name="Text 11"/>
          <p:cNvSpPr txBox="1"/>
          <p:nvPr/>
        </p:nvSpPr>
        <p:spPr>
          <a:xfrm>
            <a:off x="777240" y="5097780"/>
            <a:ext cx="4114800" cy="754380"/>
          </a:xfrm>
          <a:prstGeom prst="rect">
            <a:avLst/>
          </a:prstGeom>
          <a:noFill/>
          <a:ln/>
        </p:spPr>
        <p:txBody>
          <a:bodyPr wrap="square" lIns="0" tIns="0" rIns="0" bIns="0" rtlCol="0" anchor="t"/>
          <a:lstStyle/>
          <a:p>
            <a:pPr indent="0" marL="0">
              <a:buNone/>
            </a:pPr>
            <a:r>
              <a:rPr lang="en-US" sz="1650" dirty="0">
                <a:solidFill>
                  <a:srgbClr val="202124"/>
                </a:solidFill>
                <a:latin typeface="Roboto" pitchFamily="34" charset="0"/>
                <a:ea typeface="Roboto" pitchFamily="34" charset="-122"/>
                <a:cs typeface="Roboto" pitchFamily="34" charset="-120"/>
              </a:rPr>
              <a:t>Una barreta amb mesures que pots utilitzar com a regle.</a:t>
            </a:r>
            <a:endParaRPr lang="en-US" sz="1650" dirty="0"/>
          </a:p>
        </p:txBody>
      </p:sp>
      <p:sp>
        <p:nvSpPr>
          <p:cNvPr id="16" name="Fons Com es llegeix una escala"/>
          <p:cNvSpPr/>
          <p:nvPr/>
        </p:nvSpPr>
        <p:spPr>
          <a:xfrm>
            <a:off x="5440680" y="2148840"/>
            <a:ext cx="6202375" cy="2103120"/>
          </a:xfrm>
          <a:prstGeom prst="roundRect">
            <a:avLst>
              <a:gd name="adj" fmla="val 4783"/>
            </a:avLst>
          </a:prstGeom>
          <a:solidFill>
            <a:srgbClr val="F6F8FB"/>
          </a:solidFill>
          <a:ln/>
        </p:spPr>
      </p:sp>
      <p:pic>
        <p:nvPicPr>
          <p:cNvPr id="17" name="Com es llegeix una escala" descr="/home/claude/p857/build/img/escala.png">    </p:cNvPr>
          <p:cNvPicPr>
            <a:picLocks noChangeAspect="1"/>
          </p:cNvPicPr>
          <p:nvPr/>
        </p:nvPicPr>
        <p:blipFill>
          <a:blip r:embed="rId3"/>
          <a:stretch>
            <a:fillRect/>
          </a:stretch>
        </p:blipFill>
        <p:spPr>
          <a:xfrm>
            <a:off x="5479725" y="2148840"/>
            <a:ext cx="6124285" cy="2103120"/>
          </a:xfrm>
          <a:prstGeom prst="rect">
            <a:avLst/>
          </a:prstGeom>
        </p:spPr>
      </p:pic>
      <p:sp>
        <p:nvSpPr>
          <p:cNvPr id="18" name="Text 13"/>
          <p:cNvSpPr txBox="1"/>
          <p:nvPr/>
        </p:nvSpPr>
        <p:spPr>
          <a:xfrm>
            <a:off x="5440680" y="4325112"/>
            <a:ext cx="6202375" cy="457200"/>
          </a:xfrm>
          <a:prstGeom prst="rect">
            <a:avLst/>
          </a:prstGeom>
          <a:noFill/>
          <a:ln/>
        </p:spPr>
        <p:txBody>
          <a:bodyPr wrap="square" lIns="0" tIns="0" rIns="0" bIns="0" rtlCol="0" anchor="t"/>
          <a:lstStyle/>
          <a:p>
            <a:pPr indent="0" marL="0">
              <a:buNone/>
            </a:pPr>
            <a:r>
              <a:rPr lang="en-US" sz="1000" dirty="0">
                <a:solidFill>
                  <a:srgbClr val="5F6368"/>
                </a:solidFill>
                <a:latin typeface="Roboto" pitchFamily="34" charset="0"/>
                <a:ea typeface="Roboto" pitchFamily="34" charset="-122"/>
                <a:cs typeface="Roboto" pitchFamily="34" charset="-120"/>
              </a:rPr>
              <a:t>Com es llegeix una escala. A escala 1:50.000, cada centímetre del mapa són 500 metres reals. Gràfic: professordesocials.cat, CC BY-SA 4.0.</a:t>
            </a:r>
            <a:endParaRPr lang="en-US" sz="1000" dirty="0"/>
          </a:p>
        </p:txBody>
      </p:sp>
      <p:sp>
        <p:nvSpPr>
          <p:cNvPr id="19" name="Paraula clau · Escala"/>
          <p:cNvSpPr/>
          <p:nvPr/>
        </p:nvSpPr>
        <p:spPr>
          <a:xfrm>
            <a:off x="5440680" y="4800600"/>
            <a:ext cx="6202375" cy="1188720"/>
          </a:xfrm>
          <a:prstGeom prst="roundRect">
            <a:avLst>
              <a:gd name="adj" fmla="val 8462"/>
            </a:avLst>
          </a:prstGeom>
          <a:solidFill>
            <a:srgbClr val="E6F4EA"/>
          </a:solidFill>
          <a:ln/>
        </p:spPr>
      </p:sp>
      <p:sp>
        <p:nvSpPr>
          <p:cNvPr id="20" name="Text 15"/>
          <p:cNvSpPr txBox="1"/>
          <p:nvPr/>
        </p:nvSpPr>
        <p:spPr>
          <a:xfrm>
            <a:off x="5760720" y="4956048"/>
            <a:ext cx="5562295" cy="320040"/>
          </a:xfrm>
          <a:prstGeom prst="rect">
            <a:avLst/>
          </a:prstGeom>
          <a:noFill/>
          <a:ln/>
        </p:spPr>
        <p:txBody>
          <a:bodyPr wrap="square" lIns="0" tIns="0" rIns="0" bIns="0" rtlCol="0" anchor="t"/>
          <a:lstStyle/>
          <a:p>
            <a:pPr indent="0" marL="0">
              <a:buNone/>
            </a:pPr>
            <a:r>
              <a:rPr lang="en-US" sz="1400" b="1" dirty="0">
                <a:solidFill>
                  <a:srgbClr val="188038"/>
                </a:solidFill>
                <a:latin typeface="Roboto" pitchFamily="34" charset="0"/>
                <a:ea typeface="Roboto" pitchFamily="34" charset="-122"/>
                <a:cs typeface="Roboto" pitchFamily="34" charset="-120"/>
              </a:rPr>
              <a:t>Paraula clau · Escala</a:t>
            </a:r>
            <a:endParaRPr lang="en-US" sz="1400" dirty="0"/>
          </a:p>
        </p:txBody>
      </p:sp>
      <p:sp>
        <p:nvSpPr>
          <p:cNvPr id="21" name="Text 16"/>
          <p:cNvSpPr txBox="1"/>
          <p:nvPr/>
        </p:nvSpPr>
        <p:spPr>
          <a:xfrm>
            <a:off x="5760720" y="5303520"/>
            <a:ext cx="5562295" cy="548640"/>
          </a:xfrm>
          <a:prstGeom prst="rect">
            <a:avLst/>
          </a:prstGeom>
          <a:noFill/>
          <a:ln/>
        </p:spPr>
        <p:txBody>
          <a:bodyPr wrap="square" lIns="0" tIns="0" rIns="0" bIns="0" rtlCol="0" anchor="t"/>
          <a:lstStyle/>
          <a:p>
            <a:pPr indent="0" marL="0">
              <a:buNone/>
            </a:pPr>
            <a:r>
              <a:rPr lang="en-US" sz="1700" dirty="0">
                <a:solidFill>
                  <a:srgbClr val="202124"/>
                </a:solidFill>
                <a:latin typeface="Roboto" pitchFamily="34" charset="0"/>
                <a:ea typeface="Roboto" pitchFamily="34" charset="-122"/>
                <a:cs typeface="Roboto" pitchFamily="34" charset="-120"/>
              </a:rPr>
              <a:t>Relació entre una distància al mapa i la distància real que representa.</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3</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Escala gran o escala petita?</a:t>
            </a:r>
            <a:endParaRPr lang="en-US" sz="2800" dirty="0"/>
          </a:p>
        </p:txBody>
      </p:sp>
      <p:sp>
        <p:nvSpPr>
          <p:cNvPr id="5" name="Compte, que aquí les paraules enganyen"/>
          <p:cNvSpPr/>
          <p:nvPr/>
        </p:nvSpPr>
        <p:spPr>
          <a:xfrm>
            <a:off x="548640" y="1371600"/>
            <a:ext cx="11094415" cy="1097280"/>
          </a:xfrm>
          <a:prstGeom prst="roundRect">
            <a:avLst>
              <a:gd name="adj" fmla="val 9167"/>
            </a:avLst>
          </a:prstGeom>
          <a:solidFill>
            <a:srgbClr val="E6F4EA"/>
          </a:solidFill>
          <a:ln/>
        </p:spPr>
      </p:sp>
      <p:sp>
        <p:nvSpPr>
          <p:cNvPr id="6" name="Text 4"/>
          <p:cNvSpPr txBox="1"/>
          <p:nvPr/>
        </p:nvSpPr>
        <p:spPr>
          <a:xfrm>
            <a:off x="868680" y="1527048"/>
            <a:ext cx="10454335" cy="320040"/>
          </a:xfrm>
          <a:prstGeom prst="rect">
            <a:avLst/>
          </a:prstGeom>
          <a:noFill/>
          <a:ln/>
        </p:spPr>
        <p:txBody>
          <a:bodyPr wrap="square" lIns="0" tIns="0" rIns="0" bIns="0" rtlCol="0" anchor="t"/>
          <a:lstStyle/>
          <a:p>
            <a:pPr indent="0" marL="0">
              <a:buNone/>
            </a:pPr>
            <a:r>
              <a:rPr lang="en-US" sz="1400" b="1" dirty="0">
                <a:solidFill>
                  <a:srgbClr val="188038"/>
                </a:solidFill>
                <a:latin typeface="Roboto" pitchFamily="34" charset="0"/>
                <a:ea typeface="Roboto" pitchFamily="34" charset="-122"/>
                <a:cs typeface="Roboto" pitchFamily="34" charset="-120"/>
              </a:rPr>
              <a:t>Compte, que aquí les paraules enganyen</a:t>
            </a:r>
            <a:endParaRPr lang="en-US" sz="1400" dirty="0"/>
          </a:p>
        </p:txBody>
      </p:sp>
      <p:sp>
        <p:nvSpPr>
          <p:cNvPr id="7" name="Text 5"/>
          <p:cNvSpPr txBox="1"/>
          <p:nvPr/>
        </p:nvSpPr>
        <p:spPr>
          <a:xfrm>
            <a:off x="868680" y="1874520"/>
            <a:ext cx="10454335" cy="457200"/>
          </a:xfrm>
          <a:prstGeom prst="rect">
            <a:avLst/>
          </a:prstGeom>
          <a:noFill/>
          <a:ln/>
        </p:spPr>
        <p:txBody>
          <a:bodyPr wrap="square" lIns="0" tIns="0" rIns="0" bIns="0" rtlCol="0" anchor="t"/>
          <a:lstStyle/>
          <a:p>
            <a:pPr indent="0" marL="0">
              <a:buNone/>
            </a:pPr>
            <a:r>
              <a:rPr lang="en-US" sz="1800" dirty="0">
                <a:solidFill>
                  <a:srgbClr val="202124"/>
                </a:solidFill>
                <a:latin typeface="Roboto" pitchFamily="34" charset="0"/>
                <a:ea typeface="Roboto" pitchFamily="34" charset="-122"/>
                <a:cs typeface="Roboto" pitchFamily="34" charset="-120"/>
              </a:rPr>
              <a:t>Com més petit és el número de sota, més gran és l'escala.</a:t>
            </a:r>
            <a:endParaRPr lang="en-US" sz="18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2697480"/>
          <a:ext cx="11094415" cy="914400"/>
        </p:xfrm>
        <a:graphic>
          <a:graphicData uri="http://schemas.openxmlformats.org/drawingml/2006/table">
            <a:tbl>
              <a:tblPr/>
              <a:tblGrid>
                <a:gridCol w="3108960"/>
                <a:gridCol w="3291840"/>
                <a:gridCol w="4693615"/>
              </a:tblGrid>
              <a:tr h="457200">
                <a:tc>
                  <a:txBody>
                    <a:bodyPr/>
                    <a:lstStyle/>
                    <a:p>
                      <a:pPr indent="0" marL="0">
                        <a:buNone/>
                      </a:pPr>
                      <a:r>
                        <a:rPr lang="en-US" sz="1600" b="1" dirty="0">
                          <a:solidFill>
                            <a:srgbClr val="FFFFFF"/>
                          </a:solidFill>
                          <a:latin typeface="Roboto" pitchFamily="34" charset="0"/>
                          <a:ea typeface="Roboto" pitchFamily="34" charset="-122"/>
                          <a:cs typeface="Roboto" pitchFamily="34" charset="-120"/>
                        </a:rPr>
                        <a:t>Escala</a:t>
                      </a:r>
                      <a:endParaRPr lang="en-US" sz="1600" dirty="0">
                        <a:latin typeface="Roboto" charset="0"/>
                        <a:ea typeface="Roboto" charset="0"/>
                        <a:cs typeface="Roboto" charset="0"/>
                      </a:endParaRPr>
                    </a:p>
                  </a:txBody>
                  <a:tcPr marL="127000" marR="1270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188038"/>
                    </a:solidFill>
                  </a:tcPr>
                </a:tc>
                <a:tc>
                  <a:txBody>
                    <a:bodyPr/>
                    <a:lstStyle/>
                    <a:p>
                      <a:pPr indent="0" marL="0">
                        <a:buNone/>
                      </a:pPr>
                      <a:r>
                        <a:rPr lang="en-US" sz="1600" b="1" dirty="0">
                          <a:solidFill>
                            <a:srgbClr val="FFFFFF"/>
                          </a:solidFill>
                          <a:latin typeface="Roboto" pitchFamily="34" charset="0"/>
                          <a:ea typeface="Roboto" pitchFamily="34" charset="-122"/>
                          <a:cs typeface="Roboto" pitchFamily="34" charset="-120"/>
                        </a:rPr>
                        <a:t>Què hi cap en un full DIN A4</a:t>
                      </a:r>
                      <a:endParaRPr lang="en-US" sz="1600" dirty="0">
                        <a:latin typeface="Roboto" charset="0"/>
                        <a:ea typeface="Roboto" charset="0"/>
                        <a:cs typeface="Roboto" charset="0"/>
                      </a:endParaRPr>
                    </a:p>
                  </a:txBody>
                  <a:tcPr marL="127000" marR="1270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188038"/>
                    </a:solidFill>
                  </a:tcPr>
                </a:tc>
                <a:tc>
                  <a:txBody>
                    <a:bodyPr/>
                    <a:lstStyle/>
                    <a:p>
                      <a:pPr indent="0" marL="0">
                        <a:buNone/>
                      </a:pPr>
                      <a:r>
                        <a:rPr lang="en-US" sz="1600" b="1" dirty="0">
                          <a:solidFill>
                            <a:srgbClr val="FFFFFF"/>
                          </a:solidFill>
                          <a:latin typeface="Roboto" pitchFamily="34" charset="0"/>
                          <a:ea typeface="Roboto" pitchFamily="34" charset="-122"/>
                          <a:cs typeface="Roboto" pitchFamily="34" charset="-120"/>
                        </a:rPr>
                        <a:t>Què s'hi veu</a:t>
                      </a:r>
                      <a:endParaRPr lang="en-US" sz="1600" dirty="0">
                        <a:latin typeface="Roboto" charset="0"/>
                        <a:ea typeface="Roboto" charset="0"/>
                        <a:cs typeface="Roboto" charset="0"/>
                      </a:endParaRPr>
                    </a:p>
                  </a:txBody>
                  <a:tcPr marL="127000" marR="1270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188038"/>
                    </a:solidFill>
                  </a:tcPr>
                </a:tc>
              </a:tr>
              <a:tr h="713232">
                <a:tc>
                  <a:txBody>
                    <a:bodyPr/>
                    <a:lstStyle/>
                    <a:p>
                      <a:pPr indent="0" marL="0">
                        <a:buNone/>
                      </a:pPr>
                      <a:r>
                        <a:rPr lang="en-US" sz="1700" b="1" dirty="0">
                          <a:solidFill>
                            <a:srgbClr val="188038"/>
                          </a:solidFill>
                          <a:latin typeface="Roboto" pitchFamily="34" charset="0"/>
                          <a:ea typeface="Roboto" pitchFamily="34" charset="-122"/>
                          <a:cs typeface="Roboto" pitchFamily="34" charset="-120"/>
                        </a:rPr>
                        <a:t>1:5.000 (gran)</a:t>
                      </a:r>
                      <a:endParaRPr lang="en-US" sz="1700" dirty="0">
                        <a:latin typeface="Roboto" charset="0"/>
                        <a:ea typeface="Roboto" charset="0"/>
                        <a:cs typeface="Roboto" charset="0"/>
                      </a:endParaRPr>
                    </a:p>
                  </a:txBody>
                  <a:tcPr marL="635000" marR="1016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E6F4EA"/>
                    </a:solidFill>
                  </a:tcPr>
                </a:tc>
                <a:tc>
                  <a:txBody>
                    <a:bodyPr/>
                    <a:lstStyle/>
                    <a:p>
                      <a:pPr indent="0" marL="0">
                        <a:buNone/>
                      </a:pPr>
                      <a:r>
                        <a:rPr lang="en-US" sz="1700" dirty="0">
                          <a:solidFill>
                            <a:srgbClr val="202124"/>
                          </a:solidFill>
                          <a:latin typeface="Roboto" pitchFamily="34" charset="0"/>
                          <a:ea typeface="Roboto" pitchFamily="34" charset="-122"/>
                          <a:cs typeface="Roboto" pitchFamily="34" charset="-120"/>
                        </a:rPr>
                        <a:t>Un barri</a:t>
                      </a:r>
                      <a:endParaRPr lang="en-US" sz="1700" dirty="0">
                        <a:latin typeface="Roboto" charset="0"/>
                        <a:ea typeface="Roboto" charset="0"/>
                        <a:cs typeface="Roboto" charset="0"/>
                      </a:endParaRPr>
                    </a:p>
                  </a:txBody>
                  <a:tcPr marL="127000" marR="1270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tcPr>
                </a:tc>
                <a:tc>
                  <a:txBody>
                    <a:bodyPr/>
                    <a:lstStyle/>
                    <a:p>
                      <a:pPr indent="0" marL="0">
                        <a:buNone/>
                      </a:pPr>
                      <a:r>
                        <a:rPr lang="en-US" sz="1700" dirty="0">
                          <a:solidFill>
                            <a:srgbClr val="202124"/>
                          </a:solidFill>
                          <a:latin typeface="Roboto" pitchFamily="34" charset="0"/>
                          <a:ea typeface="Roboto" pitchFamily="34" charset="-122"/>
                          <a:cs typeface="Roboto" pitchFamily="34" charset="-120"/>
                        </a:rPr>
                        <a:t>Els carrers, les places i fins i tot les cases</a:t>
                      </a:r>
                      <a:endParaRPr lang="en-US" sz="1700" dirty="0">
                        <a:latin typeface="Roboto" charset="0"/>
                        <a:ea typeface="Roboto" charset="0"/>
                        <a:cs typeface="Roboto" charset="0"/>
                      </a:endParaRPr>
                    </a:p>
                  </a:txBody>
                  <a:tcPr marL="127000" marR="1270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tcPr>
                </a:tc>
              </a:tr>
              <a:tr h="713232">
                <a:tc>
                  <a:txBody>
                    <a:bodyPr/>
                    <a:lstStyle/>
                    <a:p>
                      <a:pPr indent="0" marL="0">
                        <a:buNone/>
                      </a:pPr>
                      <a:r>
                        <a:rPr lang="en-US" sz="1700" b="1" dirty="0">
                          <a:solidFill>
                            <a:srgbClr val="188038"/>
                          </a:solidFill>
                          <a:latin typeface="Roboto" pitchFamily="34" charset="0"/>
                          <a:ea typeface="Roboto" pitchFamily="34" charset="-122"/>
                          <a:cs typeface="Roboto" pitchFamily="34" charset="-120"/>
                        </a:rPr>
                        <a:t>1:25.000</a:t>
                      </a:r>
                      <a:endParaRPr lang="en-US" sz="1700" dirty="0">
                        <a:latin typeface="Roboto" charset="0"/>
                        <a:ea typeface="Roboto" charset="0"/>
                        <a:cs typeface="Roboto" charset="0"/>
                      </a:endParaRPr>
                    </a:p>
                  </a:txBody>
                  <a:tcPr marL="635000" marR="1016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E6F4EA"/>
                    </a:solidFill>
                  </a:tcPr>
                </a:tc>
                <a:tc>
                  <a:txBody>
                    <a:bodyPr/>
                    <a:lstStyle/>
                    <a:p>
                      <a:pPr indent="0" marL="0">
                        <a:buNone/>
                      </a:pPr>
                      <a:r>
                        <a:rPr lang="en-US" sz="1700" dirty="0">
                          <a:solidFill>
                            <a:srgbClr val="202124"/>
                          </a:solidFill>
                          <a:latin typeface="Roboto" pitchFamily="34" charset="0"/>
                          <a:ea typeface="Roboto" pitchFamily="34" charset="-122"/>
                          <a:cs typeface="Roboto" pitchFamily="34" charset="-120"/>
                        </a:rPr>
                        <a:t>Una zona per anar d'excursió</a:t>
                      </a:r>
                      <a:endParaRPr lang="en-US" sz="1700" dirty="0">
                        <a:latin typeface="Roboto" charset="0"/>
                        <a:ea typeface="Roboto" charset="0"/>
                        <a:cs typeface="Roboto" charset="0"/>
                      </a:endParaRPr>
                    </a:p>
                  </a:txBody>
                  <a:tcPr marL="127000" marR="1270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tcPr>
                </a:tc>
                <a:tc>
                  <a:txBody>
                    <a:bodyPr/>
                    <a:lstStyle/>
                    <a:p>
                      <a:pPr indent="0" marL="0">
                        <a:buNone/>
                      </a:pPr>
                      <a:r>
                        <a:rPr lang="en-US" sz="1700" dirty="0">
                          <a:solidFill>
                            <a:srgbClr val="202124"/>
                          </a:solidFill>
                          <a:latin typeface="Roboto" pitchFamily="34" charset="0"/>
                          <a:ea typeface="Roboto" pitchFamily="34" charset="-122"/>
                          <a:cs typeface="Roboto" pitchFamily="34" charset="-120"/>
                        </a:rPr>
                        <a:t>Els camins, les fonts i les masies</a:t>
                      </a:r>
                      <a:endParaRPr lang="en-US" sz="1700" dirty="0">
                        <a:latin typeface="Roboto" charset="0"/>
                        <a:ea typeface="Roboto" charset="0"/>
                        <a:cs typeface="Roboto" charset="0"/>
                      </a:endParaRPr>
                    </a:p>
                  </a:txBody>
                  <a:tcPr marL="127000" marR="1270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tcPr>
                </a:tc>
              </a:tr>
              <a:tr h="713232">
                <a:tc>
                  <a:txBody>
                    <a:bodyPr/>
                    <a:lstStyle/>
                    <a:p>
                      <a:pPr indent="0" marL="0">
                        <a:buNone/>
                      </a:pPr>
                      <a:r>
                        <a:rPr lang="en-US" sz="1700" b="1" dirty="0">
                          <a:solidFill>
                            <a:srgbClr val="188038"/>
                          </a:solidFill>
                          <a:latin typeface="Roboto" pitchFamily="34" charset="0"/>
                          <a:ea typeface="Roboto" pitchFamily="34" charset="-122"/>
                          <a:cs typeface="Roboto" pitchFamily="34" charset="-120"/>
                        </a:rPr>
                        <a:t>1:2.000.000</a:t>
                      </a:r>
                      <a:endParaRPr lang="en-US" sz="1700" dirty="0">
                        <a:latin typeface="Roboto" charset="0"/>
                        <a:ea typeface="Roboto" charset="0"/>
                        <a:cs typeface="Roboto" charset="0"/>
                      </a:endParaRPr>
                    </a:p>
                  </a:txBody>
                  <a:tcPr marL="635000" marR="1016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E6F4EA"/>
                    </a:solidFill>
                  </a:tcPr>
                </a:tc>
                <a:tc>
                  <a:txBody>
                    <a:bodyPr/>
                    <a:lstStyle/>
                    <a:p>
                      <a:pPr indent="0" marL="0">
                        <a:buNone/>
                      </a:pPr>
                      <a:r>
                        <a:rPr lang="en-US" sz="1700" dirty="0">
                          <a:solidFill>
                            <a:srgbClr val="202124"/>
                          </a:solidFill>
                          <a:latin typeface="Roboto" pitchFamily="34" charset="0"/>
                          <a:ea typeface="Roboto" pitchFamily="34" charset="-122"/>
                          <a:cs typeface="Roboto" pitchFamily="34" charset="-120"/>
                        </a:rPr>
                        <a:t>Tot Catalunya</a:t>
                      </a:r>
                      <a:endParaRPr lang="en-US" sz="1700" dirty="0">
                        <a:latin typeface="Roboto" charset="0"/>
                        <a:ea typeface="Roboto" charset="0"/>
                        <a:cs typeface="Roboto" charset="0"/>
                      </a:endParaRPr>
                    </a:p>
                  </a:txBody>
                  <a:tcPr marL="127000" marR="1270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tcPr>
                </a:tc>
                <a:tc>
                  <a:txBody>
                    <a:bodyPr/>
                    <a:lstStyle/>
                    <a:p>
                      <a:pPr indent="0" marL="0">
                        <a:buNone/>
                      </a:pPr>
                      <a:r>
                        <a:rPr lang="en-US" sz="1700" dirty="0">
                          <a:solidFill>
                            <a:srgbClr val="202124"/>
                          </a:solidFill>
                          <a:latin typeface="Roboto" pitchFamily="34" charset="0"/>
                          <a:ea typeface="Roboto" pitchFamily="34" charset="-122"/>
                          <a:cs typeface="Roboto" pitchFamily="34" charset="-120"/>
                        </a:rPr>
                        <a:t>Les ciutats, els rius i les carreteres principals</a:t>
                      </a:r>
                      <a:endParaRPr lang="en-US" sz="1700" dirty="0">
                        <a:latin typeface="Roboto" charset="0"/>
                        <a:ea typeface="Roboto" charset="0"/>
                        <a:cs typeface="Roboto" charset="0"/>
                      </a:endParaRPr>
                    </a:p>
                  </a:txBody>
                  <a:tcPr marL="127000" marR="1270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tcPr>
                </a:tc>
              </a:tr>
              <a:tr h="713232">
                <a:tc>
                  <a:txBody>
                    <a:bodyPr/>
                    <a:lstStyle/>
                    <a:p>
                      <a:pPr indent="0" marL="0">
                        <a:buNone/>
                      </a:pPr>
                      <a:r>
                        <a:rPr lang="en-US" sz="1700" b="1" dirty="0">
                          <a:solidFill>
                            <a:srgbClr val="188038"/>
                          </a:solidFill>
                          <a:latin typeface="Roboto" pitchFamily="34" charset="0"/>
                          <a:ea typeface="Roboto" pitchFamily="34" charset="-122"/>
                          <a:cs typeface="Roboto" pitchFamily="34" charset="-120"/>
                        </a:rPr>
                        <a:t>1:150.000.000 (petita)</a:t>
                      </a:r>
                      <a:endParaRPr lang="en-US" sz="1700" dirty="0">
                        <a:latin typeface="Roboto" charset="0"/>
                        <a:ea typeface="Roboto" charset="0"/>
                        <a:cs typeface="Roboto" charset="0"/>
                      </a:endParaRPr>
                    </a:p>
                  </a:txBody>
                  <a:tcPr marL="635000" marR="1016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E6F4EA"/>
                    </a:solidFill>
                  </a:tcPr>
                </a:tc>
                <a:tc>
                  <a:txBody>
                    <a:bodyPr/>
                    <a:lstStyle/>
                    <a:p>
                      <a:pPr indent="0" marL="0">
                        <a:buNone/>
                      </a:pPr>
                      <a:r>
                        <a:rPr lang="en-US" sz="1700" dirty="0">
                          <a:solidFill>
                            <a:srgbClr val="202124"/>
                          </a:solidFill>
                          <a:latin typeface="Roboto" pitchFamily="34" charset="0"/>
                          <a:ea typeface="Roboto" pitchFamily="34" charset="-122"/>
                          <a:cs typeface="Roboto" pitchFamily="34" charset="-120"/>
                        </a:rPr>
                        <a:t>Tot el món</a:t>
                      </a:r>
                      <a:endParaRPr lang="en-US" sz="1700" dirty="0">
                        <a:latin typeface="Roboto" charset="0"/>
                        <a:ea typeface="Roboto" charset="0"/>
                        <a:cs typeface="Roboto" charset="0"/>
                      </a:endParaRPr>
                    </a:p>
                  </a:txBody>
                  <a:tcPr marL="127000" marR="1270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tcPr>
                </a:tc>
                <a:tc>
                  <a:txBody>
                    <a:bodyPr/>
                    <a:lstStyle/>
                    <a:p>
                      <a:pPr indent="0" marL="0">
                        <a:buNone/>
                      </a:pPr>
                      <a:r>
                        <a:rPr lang="en-US" sz="1700" dirty="0">
                          <a:solidFill>
                            <a:srgbClr val="202124"/>
                          </a:solidFill>
                          <a:latin typeface="Roboto" pitchFamily="34" charset="0"/>
                          <a:ea typeface="Roboto" pitchFamily="34" charset="-122"/>
                          <a:cs typeface="Roboto" pitchFamily="34" charset="-120"/>
                        </a:rPr>
                        <a:t>Els continents, els oceans i els països</a:t>
                      </a:r>
                      <a:endParaRPr lang="en-US" sz="1700" dirty="0">
                        <a:latin typeface="Roboto" charset="0"/>
                        <a:ea typeface="Roboto" charset="0"/>
                        <a:cs typeface="Roboto" charset="0"/>
                      </a:endParaRPr>
                    </a:p>
                  </a:txBody>
                  <a:tcPr marL="127000" marR="1270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tcPr>
                </a:tc>
              </a:tr>
            </a:tbl>
          </a:graphicData>
        </a:graphic>
      </p:graphicFrame>
      <p:pic>
        <p:nvPicPr>
          <p:cNvPr id="9" name="Icona TbHome" descr="/home/claude/p857/build/img/ic/TbHome-g.png">    </p:cNvPr>
          <p:cNvPicPr>
            <a:picLocks noChangeAspect="1"/>
          </p:cNvPicPr>
          <p:nvPr/>
        </p:nvPicPr>
        <p:blipFill>
          <a:blip r:embed="rId1"/>
          <a:stretch>
            <a:fillRect/>
          </a:stretch>
        </p:blipFill>
        <p:spPr>
          <a:xfrm>
            <a:off x="658368" y="3337560"/>
            <a:ext cx="347472" cy="347472"/>
          </a:xfrm>
          <a:prstGeom prst="rect">
            <a:avLst/>
          </a:prstGeom>
        </p:spPr>
      </p:pic>
      <p:pic>
        <p:nvPicPr>
          <p:cNvPr id="10" name="Icona TbTrekking" descr="/home/claude/p857/build/img/ic/TbTrekking-g.png">    </p:cNvPr>
          <p:cNvPicPr>
            <a:picLocks noChangeAspect="1"/>
          </p:cNvPicPr>
          <p:nvPr/>
        </p:nvPicPr>
        <p:blipFill>
          <a:blip r:embed="rId2"/>
          <a:stretch>
            <a:fillRect/>
          </a:stretch>
        </p:blipFill>
        <p:spPr>
          <a:xfrm>
            <a:off x="658368" y="4050792"/>
            <a:ext cx="347472" cy="347472"/>
          </a:xfrm>
          <a:prstGeom prst="rect">
            <a:avLst/>
          </a:prstGeom>
        </p:spPr>
      </p:pic>
      <p:pic>
        <p:nvPicPr>
          <p:cNvPr id="11" name="Icona TbMap" descr="/home/claude/p857/build/img/ic/TbMap-g.png">    </p:cNvPr>
          <p:cNvPicPr>
            <a:picLocks noChangeAspect="1"/>
          </p:cNvPicPr>
          <p:nvPr/>
        </p:nvPicPr>
        <p:blipFill>
          <a:blip r:embed="rId3"/>
          <a:stretch>
            <a:fillRect/>
          </a:stretch>
        </p:blipFill>
        <p:spPr>
          <a:xfrm>
            <a:off x="658368" y="4764024"/>
            <a:ext cx="347472" cy="347472"/>
          </a:xfrm>
          <a:prstGeom prst="rect">
            <a:avLst/>
          </a:prstGeom>
        </p:spPr>
      </p:pic>
      <p:pic>
        <p:nvPicPr>
          <p:cNvPr id="12" name="Icona TbWorld" descr="/home/claude/p857/build/img/ic/TbWorld-g.png">    </p:cNvPr>
          <p:cNvPicPr>
            <a:picLocks noChangeAspect="1"/>
          </p:cNvPicPr>
          <p:nvPr/>
        </p:nvPicPr>
        <p:blipFill>
          <a:blip r:embed="rId4"/>
          <a:stretch>
            <a:fillRect/>
          </a:stretch>
        </p:blipFill>
        <p:spPr>
          <a:xfrm>
            <a:off x="658368" y="5477256"/>
            <a:ext cx="347472" cy="347472"/>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3</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Els elements d'un bon mapa</a:t>
            </a:r>
            <a:endParaRPr lang="en-US" sz="2800" dirty="0"/>
          </a:p>
        </p:txBody>
      </p:sp>
      <p:sp>
        <p:nvSpPr>
          <p:cNvPr id="5" name="Fons Aquest mapa inventat té títol, llegenda, escala i orientació"/>
          <p:cNvSpPr/>
          <p:nvPr/>
        </p:nvSpPr>
        <p:spPr>
          <a:xfrm>
            <a:off x="548640" y="1371600"/>
            <a:ext cx="6949440" cy="3215845"/>
          </a:xfrm>
          <a:prstGeom prst="roundRect">
            <a:avLst>
              <a:gd name="adj" fmla="val 3128"/>
            </a:avLst>
          </a:prstGeom>
          <a:solidFill>
            <a:srgbClr val="F6F8FB"/>
          </a:solidFill>
          <a:ln/>
        </p:spPr>
      </p:sp>
      <p:pic>
        <p:nvPicPr>
          <p:cNvPr id="6" name="Aquest mapa inventat té títol, llegenda, escala i orientació" descr="/home/claude/p857/build/img/simbols.png">    </p:cNvPr>
          <p:cNvPicPr>
            <a:picLocks noChangeAspect="1"/>
          </p:cNvPicPr>
          <p:nvPr/>
        </p:nvPicPr>
        <p:blipFill>
          <a:blip r:embed="rId1"/>
          <a:stretch>
            <a:fillRect/>
          </a:stretch>
        </p:blipFill>
        <p:spPr>
          <a:xfrm>
            <a:off x="548640" y="1371600"/>
            <a:ext cx="6949440" cy="3215845"/>
          </a:xfrm>
          <a:prstGeom prst="rect">
            <a:avLst/>
          </a:prstGeom>
        </p:spPr>
      </p:pic>
      <p:sp>
        <p:nvSpPr>
          <p:cNvPr id="7" name="Text 4"/>
          <p:cNvSpPr txBox="1"/>
          <p:nvPr/>
        </p:nvSpPr>
        <p:spPr>
          <a:xfrm>
            <a:off x="548640" y="4660597"/>
            <a:ext cx="6949440" cy="320040"/>
          </a:xfrm>
          <a:prstGeom prst="rect">
            <a:avLst/>
          </a:prstGeom>
          <a:noFill/>
          <a:ln/>
        </p:spPr>
        <p:txBody>
          <a:bodyPr wrap="square" lIns="0" tIns="0" rIns="0" bIns="0" rtlCol="0" anchor="t"/>
          <a:lstStyle/>
          <a:p>
            <a:pPr indent="0" marL="0">
              <a:buNone/>
            </a:pPr>
            <a:r>
              <a:rPr lang="en-US" sz="1000" dirty="0">
                <a:solidFill>
                  <a:srgbClr val="5F6368"/>
                </a:solidFill>
                <a:latin typeface="Roboto" pitchFamily="34" charset="0"/>
                <a:ea typeface="Roboto" pitchFamily="34" charset="-122"/>
                <a:cs typeface="Roboto" pitchFamily="34" charset="-120"/>
              </a:rPr>
              <a:t>Aquest mapa inventat té títol, llegenda, escala i orientació. Dibuix: professordesocials.cat, CC BY-SA 4.0.</a:t>
            </a:r>
            <a:endParaRPr lang="en-US" sz="1000" dirty="0"/>
          </a:p>
        </p:txBody>
      </p:sp>
      <p:sp>
        <p:nvSpPr>
          <p:cNvPr id="8" name="Cercle icona"/>
          <p:cNvSpPr/>
          <p:nvPr/>
        </p:nvSpPr>
        <p:spPr>
          <a:xfrm>
            <a:off x="7818120" y="1591056"/>
            <a:ext cx="502920" cy="502920"/>
          </a:xfrm>
          <a:prstGeom prst="ellipse">
            <a:avLst/>
          </a:prstGeom>
          <a:solidFill>
            <a:srgbClr val="E6F4EA"/>
          </a:solidFill>
          <a:ln/>
        </p:spPr>
      </p:sp>
      <p:pic>
        <p:nvPicPr>
          <p:cNvPr id="9" name="Icona TbHeading" descr="/home/claude/p857/build/img/ic/TbHeading-g.png">    </p:cNvPr>
          <p:cNvPicPr>
            <a:picLocks noChangeAspect="1"/>
          </p:cNvPicPr>
          <p:nvPr/>
        </p:nvPicPr>
        <p:blipFill>
          <a:blip r:embed="rId2"/>
          <a:stretch>
            <a:fillRect/>
          </a:stretch>
        </p:blipFill>
        <p:spPr>
          <a:xfrm>
            <a:off x="7928762" y="1701698"/>
            <a:ext cx="281635" cy="281635"/>
          </a:xfrm>
          <a:prstGeom prst="rect">
            <a:avLst/>
          </a:prstGeom>
        </p:spPr>
      </p:pic>
      <p:sp>
        <p:nvSpPr>
          <p:cNvPr id="10" name="Text 6"/>
          <p:cNvSpPr txBox="1"/>
          <p:nvPr/>
        </p:nvSpPr>
        <p:spPr>
          <a:xfrm>
            <a:off x="8522208" y="1371600"/>
            <a:ext cx="3120847" cy="1051560"/>
          </a:xfrm>
          <a:prstGeom prst="rect">
            <a:avLst/>
          </a:prstGeom>
          <a:noFill/>
          <a:ln/>
        </p:spPr>
        <p:txBody>
          <a:bodyPr wrap="square" lIns="0" tIns="0" rIns="0" bIns="0" rtlCol="0" anchor="ctr"/>
          <a:lstStyle/>
          <a:p>
            <a:pPr indent="0" marL="0">
              <a:buNone/>
            </a:pPr>
            <a:r>
              <a:rPr lang="en-US" sz="1650" b="1" dirty="0">
                <a:solidFill>
                  <a:srgbClr val="202124"/>
                </a:solidFill>
                <a:latin typeface="Roboto" pitchFamily="34" charset="0"/>
                <a:ea typeface="Roboto" pitchFamily="34" charset="-122"/>
                <a:cs typeface="Roboto" pitchFamily="34" charset="-120"/>
              </a:rPr>
              <a:t>Títol. </a:t>
            </a:r>
            <a:pPr indent="0" marL="0">
              <a:buNone/>
            </a:pPr>
            <a:r>
              <a:rPr lang="en-US" sz="1650" dirty="0">
                <a:solidFill>
                  <a:srgbClr val="202124"/>
                </a:solidFill>
                <a:latin typeface="Roboto" pitchFamily="34" charset="0"/>
                <a:ea typeface="Roboto" pitchFamily="34" charset="-122"/>
                <a:cs typeface="Roboto" pitchFamily="34" charset="-120"/>
              </a:rPr>
              <a:t>Diu què representa el mapa.</a:t>
            </a:r>
            <a:endParaRPr lang="en-US" sz="1650" dirty="0"/>
          </a:p>
        </p:txBody>
      </p:sp>
      <p:sp>
        <p:nvSpPr>
          <p:cNvPr id="11" name="Cercle icona"/>
          <p:cNvSpPr/>
          <p:nvPr/>
        </p:nvSpPr>
        <p:spPr>
          <a:xfrm>
            <a:off x="7818120" y="2734056"/>
            <a:ext cx="502920" cy="502920"/>
          </a:xfrm>
          <a:prstGeom prst="ellipse">
            <a:avLst/>
          </a:prstGeom>
          <a:solidFill>
            <a:srgbClr val="E6F4EA"/>
          </a:solidFill>
          <a:ln/>
        </p:spPr>
      </p:sp>
      <p:pic>
        <p:nvPicPr>
          <p:cNvPr id="12" name="Icona TbList" descr="/home/claude/p857/build/img/ic/TbList-g.png">    </p:cNvPr>
          <p:cNvPicPr>
            <a:picLocks noChangeAspect="1"/>
          </p:cNvPicPr>
          <p:nvPr/>
        </p:nvPicPr>
        <p:blipFill>
          <a:blip r:embed="rId3"/>
          <a:stretch>
            <a:fillRect/>
          </a:stretch>
        </p:blipFill>
        <p:spPr>
          <a:xfrm>
            <a:off x="7928762" y="2844698"/>
            <a:ext cx="281635" cy="281635"/>
          </a:xfrm>
          <a:prstGeom prst="rect">
            <a:avLst/>
          </a:prstGeom>
        </p:spPr>
      </p:pic>
      <p:sp>
        <p:nvSpPr>
          <p:cNvPr id="13" name="Text 8"/>
          <p:cNvSpPr txBox="1"/>
          <p:nvPr/>
        </p:nvSpPr>
        <p:spPr>
          <a:xfrm>
            <a:off x="8522208" y="2514600"/>
            <a:ext cx="3120847" cy="1051560"/>
          </a:xfrm>
          <a:prstGeom prst="rect">
            <a:avLst/>
          </a:prstGeom>
          <a:noFill/>
          <a:ln/>
        </p:spPr>
        <p:txBody>
          <a:bodyPr wrap="square" lIns="0" tIns="0" rIns="0" bIns="0" rtlCol="0" anchor="ctr"/>
          <a:lstStyle/>
          <a:p>
            <a:pPr indent="0" marL="0">
              <a:buNone/>
            </a:pPr>
            <a:r>
              <a:rPr lang="en-US" sz="1650" b="1" dirty="0">
                <a:solidFill>
                  <a:srgbClr val="202124"/>
                </a:solidFill>
                <a:latin typeface="Roboto" pitchFamily="34" charset="0"/>
                <a:ea typeface="Roboto" pitchFamily="34" charset="-122"/>
                <a:cs typeface="Roboto" pitchFamily="34" charset="-120"/>
              </a:rPr>
              <a:t>Llegenda. </a:t>
            </a:r>
            <a:pPr indent="0" marL="0">
              <a:buNone/>
            </a:pPr>
            <a:r>
              <a:rPr lang="en-US" sz="1650" dirty="0">
                <a:solidFill>
                  <a:srgbClr val="202124"/>
                </a:solidFill>
                <a:latin typeface="Roboto" pitchFamily="34" charset="0"/>
                <a:ea typeface="Roboto" pitchFamily="34" charset="-122"/>
                <a:cs typeface="Roboto" pitchFamily="34" charset="-120"/>
              </a:rPr>
              <a:t>Explica què vol dir cada color, símbol i línia.</a:t>
            </a:r>
            <a:endParaRPr lang="en-US" sz="1650" dirty="0"/>
          </a:p>
        </p:txBody>
      </p:sp>
      <p:sp>
        <p:nvSpPr>
          <p:cNvPr id="14" name="Cercle icona"/>
          <p:cNvSpPr/>
          <p:nvPr/>
        </p:nvSpPr>
        <p:spPr>
          <a:xfrm>
            <a:off x="7818120" y="3877056"/>
            <a:ext cx="502920" cy="502920"/>
          </a:xfrm>
          <a:prstGeom prst="ellipse">
            <a:avLst/>
          </a:prstGeom>
          <a:solidFill>
            <a:srgbClr val="E6F4EA"/>
          </a:solidFill>
          <a:ln/>
        </p:spPr>
      </p:sp>
      <p:pic>
        <p:nvPicPr>
          <p:cNvPr id="15" name="Icona TbRuler" descr="/home/claude/p857/build/img/ic/TbRuler-g.png">    </p:cNvPr>
          <p:cNvPicPr>
            <a:picLocks noChangeAspect="1"/>
          </p:cNvPicPr>
          <p:nvPr/>
        </p:nvPicPr>
        <p:blipFill>
          <a:blip r:embed="rId4"/>
          <a:stretch>
            <a:fillRect/>
          </a:stretch>
        </p:blipFill>
        <p:spPr>
          <a:xfrm>
            <a:off x="7928762" y="3987698"/>
            <a:ext cx="281635" cy="281635"/>
          </a:xfrm>
          <a:prstGeom prst="rect">
            <a:avLst/>
          </a:prstGeom>
        </p:spPr>
      </p:pic>
      <p:sp>
        <p:nvSpPr>
          <p:cNvPr id="16" name="Text 10"/>
          <p:cNvSpPr txBox="1"/>
          <p:nvPr/>
        </p:nvSpPr>
        <p:spPr>
          <a:xfrm>
            <a:off x="8522208" y="3657600"/>
            <a:ext cx="3120847" cy="1051560"/>
          </a:xfrm>
          <a:prstGeom prst="rect">
            <a:avLst/>
          </a:prstGeom>
          <a:noFill/>
          <a:ln/>
        </p:spPr>
        <p:txBody>
          <a:bodyPr wrap="square" lIns="0" tIns="0" rIns="0" bIns="0" rtlCol="0" anchor="ctr"/>
          <a:lstStyle/>
          <a:p>
            <a:pPr indent="0" marL="0">
              <a:buNone/>
            </a:pPr>
            <a:r>
              <a:rPr lang="en-US" sz="1650" b="1" dirty="0">
                <a:solidFill>
                  <a:srgbClr val="202124"/>
                </a:solidFill>
                <a:latin typeface="Roboto" pitchFamily="34" charset="0"/>
                <a:ea typeface="Roboto" pitchFamily="34" charset="-122"/>
                <a:cs typeface="Roboto" pitchFamily="34" charset="-120"/>
              </a:rPr>
              <a:t>Escala. </a:t>
            </a:r>
            <a:pPr indent="0" marL="0">
              <a:buNone/>
            </a:pPr>
            <a:r>
              <a:rPr lang="en-US" sz="1650" dirty="0">
                <a:solidFill>
                  <a:srgbClr val="202124"/>
                </a:solidFill>
                <a:latin typeface="Roboto" pitchFamily="34" charset="0"/>
                <a:ea typeface="Roboto" pitchFamily="34" charset="-122"/>
                <a:cs typeface="Roboto" pitchFamily="34" charset="-120"/>
              </a:rPr>
              <a:t>Diu quantes vegades és més petit que la realitat.</a:t>
            </a:r>
            <a:endParaRPr lang="en-US" sz="1650" dirty="0"/>
          </a:p>
        </p:txBody>
      </p:sp>
      <p:sp>
        <p:nvSpPr>
          <p:cNvPr id="17" name="Cercle icona"/>
          <p:cNvSpPr/>
          <p:nvPr/>
        </p:nvSpPr>
        <p:spPr>
          <a:xfrm>
            <a:off x="7818120" y="5020056"/>
            <a:ext cx="502920" cy="502920"/>
          </a:xfrm>
          <a:prstGeom prst="ellipse">
            <a:avLst/>
          </a:prstGeom>
          <a:solidFill>
            <a:srgbClr val="E6F4EA"/>
          </a:solidFill>
          <a:ln/>
        </p:spPr>
      </p:sp>
      <p:pic>
        <p:nvPicPr>
          <p:cNvPr id="18" name="Icona TbCompass" descr="/home/claude/p857/build/img/ic/TbCompass-g.png">    </p:cNvPr>
          <p:cNvPicPr>
            <a:picLocks noChangeAspect="1"/>
          </p:cNvPicPr>
          <p:nvPr/>
        </p:nvPicPr>
        <p:blipFill>
          <a:blip r:embed="rId5"/>
          <a:stretch>
            <a:fillRect/>
          </a:stretch>
        </p:blipFill>
        <p:spPr>
          <a:xfrm>
            <a:off x="7928762" y="5130698"/>
            <a:ext cx="281635" cy="281635"/>
          </a:xfrm>
          <a:prstGeom prst="rect">
            <a:avLst/>
          </a:prstGeom>
        </p:spPr>
      </p:pic>
      <p:sp>
        <p:nvSpPr>
          <p:cNvPr id="19" name="Text 12"/>
          <p:cNvSpPr txBox="1"/>
          <p:nvPr/>
        </p:nvSpPr>
        <p:spPr>
          <a:xfrm>
            <a:off x="8522208" y="4800600"/>
            <a:ext cx="3120847" cy="1051560"/>
          </a:xfrm>
          <a:prstGeom prst="rect">
            <a:avLst/>
          </a:prstGeom>
          <a:noFill/>
          <a:ln/>
        </p:spPr>
        <p:txBody>
          <a:bodyPr wrap="square" lIns="0" tIns="0" rIns="0" bIns="0" rtlCol="0" anchor="ctr"/>
          <a:lstStyle/>
          <a:p>
            <a:pPr indent="0" marL="0">
              <a:buNone/>
            </a:pPr>
            <a:r>
              <a:rPr lang="en-US" sz="1650" b="1" dirty="0">
                <a:solidFill>
                  <a:srgbClr val="202124"/>
                </a:solidFill>
                <a:latin typeface="Roboto" pitchFamily="34" charset="0"/>
                <a:ea typeface="Roboto" pitchFamily="34" charset="-122"/>
                <a:cs typeface="Roboto" pitchFamily="34" charset="-120"/>
              </a:rPr>
              <a:t>Orientació. </a:t>
            </a:r>
            <a:pPr indent="0" marL="0">
              <a:buNone/>
            </a:pPr>
            <a:r>
              <a:rPr lang="en-US" sz="1650" dirty="0">
                <a:solidFill>
                  <a:srgbClr val="202124"/>
                </a:solidFill>
                <a:latin typeface="Roboto" pitchFamily="34" charset="0"/>
                <a:ea typeface="Roboto" pitchFamily="34" charset="-122"/>
                <a:cs typeface="Roboto" pitchFamily="34" charset="-120"/>
              </a:rPr>
              <a:t>La rosa dels vents o la fletxa del nord.</a:t>
            </a:r>
            <a:endParaRPr lang="en-US" sz="1650" dirty="0"/>
          </a:p>
        </p:txBody>
      </p:sp>
      <p:sp>
        <p:nvSpPr>
          <p:cNvPr id="20" name="Fes-ho tu"/>
          <p:cNvSpPr/>
          <p:nvPr/>
        </p:nvSpPr>
        <p:spPr>
          <a:xfrm>
            <a:off x="548640" y="5074920"/>
            <a:ext cx="6949440" cy="914400"/>
          </a:xfrm>
          <a:prstGeom prst="roundRect">
            <a:avLst>
              <a:gd name="adj" fmla="val 11000"/>
            </a:avLst>
          </a:prstGeom>
          <a:solidFill>
            <a:srgbClr val="F6F8FB"/>
          </a:solidFill>
          <a:ln/>
        </p:spPr>
      </p:sp>
      <p:sp>
        <p:nvSpPr>
          <p:cNvPr id="21" name="Text 14"/>
          <p:cNvSpPr txBox="1"/>
          <p:nvPr/>
        </p:nvSpPr>
        <p:spPr>
          <a:xfrm>
            <a:off x="868680" y="5230368"/>
            <a:ext cx="6309360" cy="320040"/>
          </a:xfrm>
          <a:prstGeom prst="rect">
            <a:avLst/>
          </a:prstGeom>
          <a:noFill/>
          <a:ln/>
        </p:spPr>
        <p:txBody>
          <a:bodyPr wrap="square" lIns="0" tIns="0" rIns="0" bIns="0" rtlCol="0" anchor="t"/>
          <a:lstStyle/>
          <a:p>
            <a:pPr indent="0" marL="0">
              <a:buNone/>
            </a:pPr>
            <a:r>
              <a:rPr lang="en-US" sz="1400" b="1" dirty="0">
                <a:solidFill>
                  <a:srgbClr val="202124"/>
                </a:solidFill>
                <a:latin typeface="Roboto" pitchFamily="34" charset="0"/>
                <a:ea typeface="Roboto" pitchFamily="34" charset="-122"/>
                <a:cs typeface="Roboto" pitchFamily="34" charset="-120"/>
              </a:rPr>
              <a:t>Fes-ho tu</a:t>
            </a:r>
            <a:endParaRPr lang="en-US" sz="1400" dirty="0"/>
          </a:p>
        </p:txBody>
      </p:sp>
      <p:sp>
        <p:nvSpPr>
          <p:cNvPr id="22" name="Text 15"/>
          <p:cNvSpPr txBox="1"/>
          <p:nvPr/>
        </p:nvSpPr>
        <p:spPr>
          <a:xfrm>
            <a:off x="868680" y="5577840"/>
            <a:ext cx="6309360" cy="274320"/>
          </a:xfrm>
          <a:prstGeom prst="rect">
            <a:avLst/>
          </a:prstGeom>
          <a:noFill/>
          <a:ln/>
        </p:spPr>
        <p:txBody>
          <a:bodyPr wrap="square" lIns="0" tIns="0" rIns="0" bIns="0" rtlCol="0" anchor="t"/>
          <a:lstStyle/>
          <a:p>
            <a:pPr indent="0" marL="0">
              <a:buNone/>
            </a:pPr>
            <a:r>
              <a:rPr lang="en-US" sz="1600" dirty="0">
                <a:solidFill>
                  <a:srgbClr val="5F6368"/>
                </a:solidFill>
                <a:latin typeface="Roboto" pitchFamily="34" charset="0"/>
                <a:ea typeface="Roboto" pitchFamily="34" charset="-122"/>
                <a:cs typeface="Roboto" pitchFamily="34" charset="-120"/>
              </a:rPr>
              <a:t>Quants símbols puntuals hi ha a la llegenda? I de superfície?</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3</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Tres tipus de símbols</a:t>
            </a:r>
            <a:endParaRPr lang="en-US" sz="2800" dirty="0"/>
          </a:p>
        </p:txBody>
      </p:sp>
      <p:sp>
        <p:nvSpPr>
          <p:cNvPr id="5" name="Text 3"/>
          <p:cNvSpPr txBox="1"/>
          <p:nvPr/>
        </p:nvSpPr>
        <p:spPr>
          <a:xfrm>
            <a:off x="548640" y="1371600"/>
            <a:ext cx="11094415" cy="457200"/>
          </a:xfrm>
          <a:prstGeom prst="rect">
            <a:avLst/>
          </a:prstGeom>
          <a:noFill/>
          <a:ln/>
        </p:spPr>
        <p:txBody>
          <a:bodyPr wrap="square" lIns="0" tIns="0" rIns="0" bIns="0" rtlCol="0" anchor="t"/>
          <a:lstStyle/>
          <a:p>
            <a:pPr indent="0" marL="0">
              <a:buNone/>
            </a:pPr>
            <a:r>
              <a:rPr lang="en-US" sz="1800" dirty="0">
                <a:solidFill>
                  <a:srgbClr val="202124"/>
                </a:solidFill>
                <a:latin typeface="Roboto" pitchFamily="34" charset="0"/>
                <a:ea typeface="Roboto" pitchFamily="34" charset="-122"/>
                <a:cs typeface="Roboto" pitchFamily="34" charset="-120"/>
              </a:rPr>
              <a:t>Segons la forma que tenen al mapa, els símbols poden ser de tres tipus.</a:t>
            </a:r>
            <a:endParaRPr lang="en-US" sz="1800" dirty="0"/>
          </a:p>
        </p:txBody>
      </p:sp>
      <p:sp>
        <p:nvSpPr>
          <p:cNvPr id="6" name="Puntuals"/>
          <p:cNvSpPr/>
          <p:nvPr/>
        </p:nvSpPr>
        <p:spPr>
          <a:xfrm>
            <a:off x="548640" y="1965960"/>
            <a:ext cx="3515258" cy="4023360"/>
          </a:xfrm>
          <a:prstGeom prst="roundRect">
            <a:avLst>
              <a:gd name="adj" fmla="val 2861"/>
            </a:avLst>
          </a:prstGeom>
          <a:solidFill>
            <a:srgbClr val="FFFFFF"/>
          </a:solidFill>
          <a:ln w="12700">
            <a:solidFill>
              <a:srgbClr val="DADCE0"/>
            </a:solidFill>
            <a:prstDash val="solid"/>
          </a:ln>
        </p:spPr>
      </p:sp>
      <p:sp>
        <p:nvSpPr>
          <p:cNvPr id="7" name="Exemple Puntuals"/>
          <p:cNvSpPr/>
          <p:nvPr/>
        </p:nvSpPr>
        <p:spPr>
          <a:xfrm>
            <a:off x="731520" y="2148840"/>
            <a:ext cx="3149498" cy="1417320"/>
          </a:xfrm>
          <a:prstGeom prst="roundRect">
            <a:avLst>
              <a:gd name="adj" fmla="val 7097"/>
            </a:avLst>
          </a:prstGeom>
          <a:solidFill>
            <a:srgbClr val="FBFAF6"/>
          </a:solidFill>
          <a:ln w="9525">
            <a:solidFill>
              <a:srgbClr val="DADCE0"/>
            </a:solidFill>
            <a:prstDash val="solid"/>
          </a:ln>
        </p:spPr>
      </p:sp>
      <p:sp>
        <p:nvSpPr>
          <p:cNvPr id="8" name="Poble"/>
          <p:cNvSpPr/>
          <p:nvPr/>
        </p:nvSpPr>
        <p:spPr>
          <a:xfrm>
            <a:off x="1363447" y="2702052"/>
            <a:ext cx="310896" cy="310896"/>
          </a:xfrm>
          <a:prstGeom prst="ellipse">
            <a:avLst/>
          </a:prstGeom>
          <a:solidFill>
            <a:srgbClr val="3C4043"/>
          </a:solidFill>
          <a:ln/>
        </p:spPr>
      </p:sp>
      <p:sp>
        <p:nvSpPr>
          <p:cNvPr id="9" name="Cim"/>
          <p:cNvSpPr/>
          <p:nvPr/>
        </p:nvSpPr>
        <p:spPr>
          <a:xfrm>
            <a:off x="2123389" y="2674620"/>
            <a:ext cx="365760" cy="329184"/>
          </a:xfrm>
          <a:prstGeom prst="triangle">
            <a:avLst/>
          </a:prstGeom>
          <a:solidFill>
            <a:srgbClr val="3C4043"/>
          </a:solidFill>
          <a:ln/>
        </p:spPr>
      </p:sp>
      <p:sp>
        <p:nvSpPr>
          <p:cNvPr id="10" name="Creu"/>
          <p:cNvSpPr/>
          <p:nvPr/>
        </p:nvSpPr>
        <p:spPr>
          <a:xfrm>
            <a:off x="3057068" y="2628900"/>
            <a:ext cx="73152" cy="457200"/>
          </a:xfrm>
          <a:prstGeom prst="rect">
            <a:avLst/>
          </a:prstGeom>
          <a:solidFill>
            <a:srgbClr val="3C4043"/>
          </a:solidFill>
          <a:ln/>
        </p:spPr>
      </p:sp>
      <p:sp>
        <p:nvSpPr>
          <p:cNvPr id="11" name="Creu"/>
          <p:cNvSpPr/>
          <p:nvPr/>
        </p:nvSpPr>
        <p:spPr>
          <a:xfrm>
            <a:off x="2938196" y="2747772"/>
            <a:ext cx="310896" cy="73152"/>
          </a:xfrm>
          <a:prstGeom prst="rect">
            <a:avLst/>
          </a:prstGeom>
          <a:solidFill>
            <a:srgbClr val="3C4043"/>
          </a:solidFill>
          <a:ln/>
        </p:spPr>
      </p:sp>
      <p:sp>
        <p:nvSpPr>
          <p:cNvPr id="12" name="Text 10"/>
          <p:cNvSpPr txBox="1"/>
          <p:nvPr/>
        </p:nvSpPr>
        <p:spPr>
          <a:xfrm>
            <a:off x="804672" y="3749040"/>
            <a:ext cx="3003194" cy="411480"/>
          </a:xfrm>
          <a:prstGeom prst="rect">
            <a:avLst/>
          </a:prstGeom>
          <a:noFill/>
          <a:ln/>
        </p:spPr>
        <p:txBody>
          <a:bodyPr wrap="square" lIns="0" tIns="0" rIns="0" bIns="0" rtlCol="0" anchor="t"/>
          <a:lstStyle/>
          <a:p>
            <a:pPr indent="0" marL="0">
              <a:buNone/>
            </a:pPr>
            <a:r>
              <a:rPr lang="en-US" sz="2100" b="1" dirty="0">
                <a:solidFill>
                  <a:srgbClr val="188038"/>
                </a:solidFill>
                <a:latin typeface="Roboto" pitchFamily="34" charset="0"/>
                <a:ea typeface="Roboto" pitchFamily="34" charset="-122"/>
                <a:cs typeface="Roboto" pitchFamily="34" charset="-120"/>
              </a:rPr>
              <a:t>Puntuals</a:t>
            </a:r>
            <a:endParaRPr lang="en-US" sz="2100" dirty="0"/>
          </a:p>
        </p:txBody>
      </p:sp>
      <p:sp>
        <p:nvSpPr>
          <p:cNvPr id="13" name="Text 11"/>
          <p:cNvSpPr txBox="1"/>
          <p:nvPr/>
        </p:nvSpPr>
        <p:spPr>
          <a:xfrm>
            <a:off x="804672" y="4251960"/>
            <a:ext cx="3003194" cy="1600200"/>
          </a:xfrm>
          <a:prstGeom prst="rect">
            <a:avLst/>
          </a:prstGeom>
          <a:noFill/>
          <a:ln/>
        </p:spPr>
        <p:txBody>
          <a:bodyPr wrap="square" lIns="0" tIns="0" rIns="0" bIns="0" rtlCol="0" anchor="t"/>
          <a:lstStyle/>
          <a:p>
            <a:pPr indent="0" marL="0">
              <a:buNone/>
            </a:pPr>
            <a:r>
              <a:rPr lang="en-US" sz="1800" dirty="0">
                <a:solidFill>
                  <a:srgbClr val="202124"/>
                </a:solidFill>
                <a:latin typeface="Roboto" pitchFamily="34" charset="0"/>
                <a:ea typeface="Roboto" pitchFamily="34" charset="-122"/>
                <a:cs typeface="Roboto" pitchFamily="34" charset="-120"/>
              </a:rPr>
              <a:t>Un punt o una icona, per a coses petites com un poble, una església o un cim.</a:t>
            </a:r>
            <a:endParaRPr lang="en-US" sz="1800" dirty="0"/>
          </a:p>
        </p:txBody>
      </p:sp>
      <p:sp>
        <p:nvSpPr>
          <p:cNvPr id="14" name="Lineals"/>
          <p:cNvSpPr/>
          <p:nvPr/>
        </p:nvSpPr>
        <p:spPr>
          <a:xfrm>
            <a:off x="4338218" y="1965960"/>
            <a:ext cx="3515258" cy="4023360"/>
          </a:xfrm>
          <a:prstGeom prst="roundRect">
            <a:avLst>
              <a:gd name="adj" fmla="val 2861"/>
            </a:avLst>
          </a:prstGeom>
          <a:solidFill>
            <a:srgbClr val="FFFFFF"/>
          </a:solidFill>
          <a:ln w="12700">
            <a:solidFill>
              <a:srgbClr val="DADCE0"/>
            </a:solidFill>
            <a:prstDash val="solid"/>
          </a:ln>
        </p:spPr>
      </p:sp>
      <p:sp>
        <p:nvSpPr>
          <p:cNvPr id="15" name="Exemple Lineals"/>
          <p:cNvSpPr/>
          <p:nvPr/>
        </p:nvSpPr>
        <p:spPr>
          <a:xfrm>
            <a:off x="4521098" y="2148840"/>
            <a:ext cx="3149498" cy="1417320"/>
          </a:xfrm>
          <a:prstGeom prst="roundRect">
            <a:avLst>
              <a:gd name="adj" fmla="val 7097"/>
            </a:avLst>
          </a:prstGeom>
          <a:solidFill>
            <a:srgbClr val="FBFAF6"/>
          </a:solidFill>
          <a:ln w="9525">
            <a:solidFill>
              <a:srgbClr val="DADCE0"/>
            </a:solidFill>
            <a:prstDash val="solid"/>
          </a:ln>
        </p:spPr>
      </p:sp>
      <p:sp>
        <p:nvSpPr>
          <p:cNvPr id="16" name="Riu"/>
          <p:cNvSpPr/>
          <p:nvPr/>
        </p:nvSpPr>
        <p:spPr>
          <a:xfrm>
            <a:off x="4795418" y="2514600"/>
            <a:ext cx="2600858" cy="182880"/>
          </a:xfrm>
          <a:prstGeom prst="line">
            <a:avLst/>
          </a:prstGeom>
          <a:noFill/>
          <a:ln w="50800">
            <a:solidFill>
              <a:srgbClr val="3B82C4"/>
            </a:solidFill>
            <a:prstDash val="solid"/>
          </a:ln>
        </p:spPr>
      </p:sp>
      <p:sp>
        <p:nvSpPr>
          <p:cNvPr id="17" name="Carretera"/>
          <p:cNvSpPr/>
          <p:nvPr/>
        </p:nvSpPr>
        <p:spPr>
          <a:xfrm>
            <a:off x="4795418" y="2880360"/>
            <a:ext cx="2600858" cy="0"/>
          </a:xfrm>
          <a:prstGeom prst="line">
            <a:avLst/>
          </a:prstGeom>
          <a:noFill/>
          <a:ln w="50800">
            <a:solidFill>
              <a:srgbClr val="D93025"/>
            </a:solidFill>
            <a:prstDash val="solid"/>
          </a:ln>
        </p:spPr>
      </p:sp>
      <p:sp>
        <p:nvSpPr>
          <p:cNvPr id="18" name="Camí"/>
          <p:cNvSpPr/>
          <p:nvPr/>
        </p:nvSpPr>
        <p:spPr>
          <a:xfrm flipV="1">
            <a:off x="4795418" y="3108960"/>
            <a:ext cx="2600858" cy="137160"/>
          </a:xfrm>
          <a:prstGeom prst="line">
            <a:avLst/>
          </a:prstGeom>
          <a:noFill/>
          <a:ln w="31750">
            <a:solidFill>
              <a:srgbClr val="8B4513"/>
            </a:solidFill>
            <a:prstDash val="dash"/>
          </a:ln>
        </p:spPr>
      </p:sp>
      <p:sp>
        <p:nvSpPr>
          <p:cNvPr id="19" name="Text 17"/>
          <p:cNvSpPr txBox="1"/>
          <p:nvPr/>
        </p:nvSpPr>
        <p:spPr>
          <a:xfrm>
            <a:off x="4594250" y="3749040"/>
            <a:ext cx="3003194" cy="411480"/>
          </a:xfrm>
          <a:prstGeom prst="rect">
            <a:avLst/>
          </a:prstGeom>
          <a:noFill/>
          <a:ln/>
        </p:spPr>
        <p:txBody>
          <a:bodyPr wrap="square" lIns="0" tIns="0" rIns="0" bIns="0" rtlCol="0" anchor="t"/>
          <a:lstStyle/>
          <a:p>
            <a:pPr indent="0" marL="0">
              <a:buNone/>
            </a:pPr>
            <a:r>
              <a:rPr lang="en-US" sz="2100" b="1" dirty="0">
                <a:solidFill>
                  <a:srgbClr val="188038"/>
                </a:solidFill>
                <a:latin typeface="Roboto" pitchFamily="34" charset="0"/>
                <a:ea typeface="Roboto" pitchFamily="34" charset="-122"/>
                <a:cs typeface="Roboto" pitchFamily="34" charset="-120"/>
              </a:rPr>
              <a:t>Lineals</a:t>
            </a:r>
            <a:endParaRPr lang="en-US" sz="2100" dirty="0"/>
          </a:p>
        </p:txBody>
      </p:sp>
      <p:sp>
        <p:nvSpPr>
          <p:cNvPr id="20" name="Text 18"/>
          <p:cNvSpPr txBox="1"/>
          <p:nvPr/>
        </p:nvSpPr>
        <p:spPr>
          <a:xfrm>
            <a:off x="4594250" y="4251960"/>
            <a:ext cx="3003194" cy="1600200"/>
          </a:xfrm>
          <a:prstGeom prst="rect">
            <a:avLst/>
          </a:prstGeom>
          <a:noFill/>
          <a:ln/>
        </p:spPr>
        <p:txBody>
          <a:bodyPr wrap="square" lIns="0" tIns="0" rIns="0" bIns="0" rtlCol="0" anchor="t"/>
          <a:lstStyle/>
          <a:p>
            <a:pPr indent="0" marL="0">
              <a:buNone/>
            </a:pPr>
            <a:r>
              <a:rPr lang="en-US" sz="1800" dirty="0">
                <a:solidFill>
                  <a:srgbClr val="202124"/>
                </a:solidFill>
                <a:latin typeface="Roboto" pitchFamily="34" charset="0"/>
                <a:ea typeface="Roboto" pitchFamily="34" charset="-122"/>
                <a:cs typeface="Roboto" pitchFamily="34" charset="-120"/>
              </a:rPr>
              <a:t>Una línia, per a coses llargues com un riu, una carretera o una frontera.</a:t>
            </a:r>
            <a:endParaRPr lang="en-US" sz="1800" dirty="0"/>
          </a:p>
        </p:txBody>
      </p:sp>
      <p:sp>
        <p:nvSpPr>
          <p:cNvPr id="21" name="De superfície"/>
          <p:cNvSpPr/>
          <p:nvPr/>
        </p:nvSpPr>
        <p:spPr>
          <a:xfrm>
            <a:off x="8127797" y="1965960"/>
            <a:ext cx="3515258" cy="4023360"/>
          </a:xfrm>
          <a:prstGeom prst="roundRect">
            <a:avLst>
              <a:gd name="adj" fmla="val 2861"/>
            </a:avLst>
          </a:prstGeom>
          <a:solidFill>
            <a:srgbClr val="FFFFFF"/>
          </a:solidFill>
          <a:ln w="12700">
            <a:solidFill>
              <a:srgbClr val="DADCE0"/>
            </a:solidFill>
            <a:prstDash val="solid"/>
          </a:ln>
        </p:spPr>
      </p:sp>
      <p:sp>
        <p:nvSpPr>
          <p:cNvPr id="22" name="Exemple De superfície"/>
          <p:cNvSpPr/>
          <p:nvPr/>
        </p:nvSpPr>
        <p:spPr>
          <a:xfrm>
            <a:off x="8310677" y="2148840"/>
            <a:ext cx="3149498" cy="1417320"/>
          </a:xfrm>
          <a:prstGeom prst="roundRect">
            <a:avLst>
              <a:gd name="adj" fmla="val 7097"/>
            </a:avLst>
          </a:prstGeom>
          <a:solidFill>
            <a:srgbClr val="FBFAF6"/>
          </a:solidFill>
          <a:ln w="9525">
            <a:solidFill>
              <a:srgbClr val="DADCE0"/>
            </a:solidFill>
            <a:prstDash val="solid"/>
          </a:ln>
        </p:spPr>
      </p:sp>
      <p:sp>
        <p:nvSpPr>
          <p:cNvPr id="23" name="Bosc"/>
          <p:cNvSpPr/>
          <p:nvPr/>
        </p:nvSpPr>
        <p:spPr>
          <a:xfrm>
            <a:off x="8584997" y="2423160"/>
            <a:ext cx="1417274" cy="868680"/>
          </a:xfrm>
          <a:prstGeom prst="roundRect">
            <a:avLst>
              <a:gd name="adj" fmla="val 31579"/>
            </a:avLst>
          </a:prstGeom>
          <a:solidFill>
            <a:srgbClr val="CFE8C9"/>
          </a:solidFill>
          <a:ln w="15875">
            <a:solidFill>
              <a:srgbClr val="7CB342"/>
            </a:solidFill>
            <a:prstDash val="solid"/>
          </a:ln>
        </p:spPr>
      </p:sp>
      <p:sp>
        <p:nvSpPr>
          <p:cNvPr id="24" name="Llac"/>
          <p:cNvSpPr/>
          <p:nvPr/>
        </p:nvSpPr>
        <p:spPr>
          <a:xfrm>
            <a:off x="10042901" y="2514600"/>
            <a:ext cx="1102324" cy="685800"/>
          </a:xfrm>
          <a:prstGeom prst="ellipse">
            <a:avLst/>
          </a:prstGeom>
          <a:solidFill>
            <a:srgbClr val="BBDDF7"/>
          </a:solidFill>
          <a:ln w="15875">
            <a:solidFill>
              <a:srgbClr val="3B82C4"/>
            </a:solidFill>
            <a:prstDash val="solid"/>
          </a:ln>
        </p:spPr>
      </p:sp>
      <p:sp>
        <p:nvSpPr>
          <p:cNvPr id="25" name="Text 23"/>
          <p:cNvSpPr txBox="1"/>
          <p:nvPr/>
        </p:nvSpPr>
        <p:spPr>
          <a:xfrm>
            <a:off x="8383829" y="3749040"/>
            <a:ext cx="3003194" cy="411480"/>
          </a:xfrm>
          <a:prstGeom prst="rect">
            <a:avLst/>
          </a:prstGeom>
          <a:noFill/>
          <a:ln/>
        </p:spPr>
        <p:txBody>
          <a:bodyPr wrap="square" lIns="0" tIns="0" rIns="0" bIns="0" rtlCol="0" anchor="t"/>
          <a:lstStyle/>
          <a:p>
            <a:pPr indent="0" marL="0">
              <a:buNone/>
            </a:pPr>
            <a:r>
              <a:rPr lang="en-US" sz="2100" b="1" dirty="0">
                <a:solidFill>
                  <a:srgbClr val="188038"/>
                </a:solidFill>
                <a:latin typeface="Roboto" pitchFamily="34" charset="0"/>
                <a:ea typeface="Roboto" pitchFamily="34" charset="-122"/>
                <a:cs typeface="Roboto" pitchFamily="34" charset="-120"/>
              </a:rPr>
              <a:t>De superfície</a:t>
            </a:r>
            <a:endParaRPr lang="en-US" sz="2100" dirty="0"/>
          </a:p>
        </p:txBody>
      </p:sp>
      <p:sp>
        <p:nvSpPr>
          <p:cNvPr id="26" name="Text 24"/>
          <p:cNvSpPr txBox="1"/>
          <p:nvPr/>
        </p:nvSpPr>
        <p:spPr>
          <a:xfrm>
            <a:off x="8383829" y="4251960"/>
            <a:ext cx="3003194" cy="1600200"/>
          </a:xfrm>
          <a:prstGeom prst="rect">
            <a:avLst/>
          </a:prstGeom>
          <a:noFill/>
          <a:ln/>
        </p:spPr>
        <p:txBody>
          <a:bodyPr wrap="square" lIns="0" tIns="0" rIns="0" bIns="0" rtlCol="0" anchor="t"/>
          <a:lstStyle/>
          <a:p>
            <a:pPr indent="0" marL="0">
              <a:buNone/>
            </a:pPr>
            <a:r>
              <a:rPr lang="en-US" sz="1800" dirty="0">
                <a:solidFill>
                  <a:srgbClr val="202124"/>
                </a:solidFill>
                <a:latin typeface="Roboto" pitchFamily="34" charset="0"/>
                <a:ea typeface="Roboto" pitchFamily="34" charset="-122"/>
                <a:cs typeface="Roboto" pitchFamily="34" charset="-120"/>
              </a:rPr>
              <a:t>Una zona pintada, per a coses que ocupen molt d'espai, com un bosc o un llac.</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3</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Comprova-ho. Escala i símbols</a:t>
            </a:r>
            <a:endParaRPr lang="en-US" sz="2800" dirty="0"/>
          </a:p>
        </p:txBody>
      </p:sp>
      <p:sp>
        <p:nvSpPr>
          <p:cNvPr id="5" name="Text 3"/>
          <p:cNvSpPr txBox="1"/>
          <p:nvPr/>
        </p:nvSpPr>
        <p:spPr>
          <a:xfrm>
            <a:off x="548640" y="1371600"/>
            <a:ext cx="3657600" cy="320040"/>
          </a:xfrm>
          <a:prstGeom prst="rect">
            <a:avLst/>
          </a:prstGeom>
          <a:noFill/>
          <a:ln/>
        </p:spPr>
        <p:txBody>
          <a:bodyPr wrap="square" lIns="0" tIns="0" rIns="0" bIns="0" rtlCol="0" anchor="t"/>
          <a:lstStyle/>
          <a:p>
            <a:pPr indent="0" marL="0">
              <a:buNone/>
            </a:pPr>
            <a:r>
              <a:rPr lang="en-US" sz="1400" b="1" dirty="0">
                <a:solidFill>
                  <a:srgbClr val="5F6368"/>
                </a:solidFill>
                <a:latin typeface="Roboto" pitchFamily="34" charset="0"/>
                <a:ea typeface="Roboto" pitchFamily="34" charset="-122"/>
                <a:cs typeface="Roboto" pitchFamily="34" charset="-120"/>
              </a:rPr>
              <a:t>Paraules clau</a:t>
            </a:r>
            <a:endParaRPr lang="en-US" sz="1400" dirty="0"/>
          </a:p>
        </p:txBody>
      </p:sp>
      <p:sp>
        <p:nvSpPr>
          <p:cNvPr id="6" name="Etiqueta Mapa"/>
          <p:cNvSpPr/>
          <p:nvPr/>
        </p:nvSpPr>
        <p:spPr>
          <a:xfrm>
            <a:off x="548640" y="1755648"/>
            <a:ext cx="713232" cy="384048"/>
          </a:xfrm>
          <a:prstGeom prst="roundRect">
            <a:avLst>
              <a:gd name="adj" fmla="val 50000"/>
            </a:avLst>
          </a:prstGeom>
          <a:solidFill>
            <a:srgbClr val="E6F4EA"/>
          </a:solidFill>
          <a:ln/>
        </p:spPr>
      </p:sp>
      <p:sp>
        <p:nvSpPr>
          <p:cNvPr id="7" name="Text 5"/>
          <p:cNvSpPr txBox="1"/>
          <p:nvPr/>
        </p:nvSpPr>
        <p:spPr>
          <a:xfrm>
            <a:off x="548640" y="1755648"/>
            <a:ext cx="713232"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Mapa</a:t>
            </a:r>
            <a:endParaRPr lang="en-US" sz="1500" dirty="0"/>
          </a:p>
        </p:txBody>
      </p:sp>
      <p:sp>
        <p:nvSpPr>
          <p:cNvPr id="8" name="Etiqueta Mapa físic"/>
          <p:cNvSpPr/>
          <p:nvPr/>
        </p:nvSpPr>
        <p:spPr>
          <a:xfrm>
            <a:off x="1371600" y="1755648"/>
            <a:ext cx="1316736" cy="384048"/>
          </a:xfrm>
          <a:prstGeom prst="roundRect">
            <a:avLst>
              <a:gd name="adj" fmla="val 50000"/>
            </a:avLst>
          </a:prstGeom>
          <a:solidFill>
            <a:srgbClr val="E6F4EA"/>
          </a:solidFill>
          <a:ln/>
        </p:spPr>
      </p:sp>
      <p:sp>
        <p:nvSpPr>
          <p:cNvPr id="9" name="Text 7"/>
          <p:cNvSpPr txBox="1"/>
          <p:nvPr/>
        </p:nvSpPr>
        <p:spPr>
          <a:xfrm>
            <a:off x="1371600" y="1755648"/>
            <a:ext cx="1316736"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Mapa físic</a:t>
            </a:r>
            <a:endParaRPr lang="en-US" sz="1500" dirty="0"/>
          </a:p>
        </p:txBody>
      </p:sp>
      <p:sp>
        <p:nvSpPr>
          <p:cNvPr id="10" name="Etiqueta Escala"/>
          <p:cNvSpPr/>
          <p:nvPr/>
        </p:nvSpPr>
        <p:spPr>
          <a:xfrm>
            <a:off x="2798064" y="1755648"/>
            <a:ext cx="914400" cy="384048"/>
          </a:xfrm>
          <a:prstGeom prst="roundRect">
            <a:avLst>
              <a:gd name="adj" fmla="val 50000"/>
            </a:avLst>
          </a:prstGeom>
          <a:solidFill>
            <a:srgbClr val="E6F4EA"/>
          </a:solidFill>
          <a:ln/>
        </p:spPr>
      </p:sp>
      <p:sp>
        <p:nvSpPr>
          <p:cNvPr id="11" name="Text 9"/>
          <p:cNvSpPr txBox="1"/>
          <p:nvPr/>
        </p:nvSpPr>
        <p:spPr>
          <a:xfrm>
            <a:off x="2798064" y="1755648"/>
            <a:ext cx="914400"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Escala</a:t>
            </a:r>
            <a:endParaRPr lang="en-US" sz="1500" dirty="0"/>
          </a:p>
        </p:txBody>
      </p:sp>
      <p:sp>
        <p:nvSpPr>
          <p:cNvPr id="12" name="Etiqueta Llegenda"/>
          <p:cNvSpPr/>
          <p:nvPr/>
        </p:nvSpPr>
        <p:spPr>
          <a:xfrm>
            <a:off x="3822192" y="1755648"/>
            <a:ext cx="1115568" cy="384048"/>
          </a:xfrm>
          <a:prstGeom prst="roundRect">
            <a:avLst>
              <a:gd name="adj" fmla="val 50000"/>
            </a:avLst>
          </a:prstGeom>
          <a:solidFill>
            <a:srgbClr val="E6F4EA"/>
          </a:solidFill>
          <a:ln/>
        </p:spPr>
      </p:sp>
      <p:sp>
        <p:nvSpPr>
          <p:cNvPr id="13" name="Text 11"/>
          <p:cNvSpPr txBox="1"/>
          <p:nvPr/>
        </p:nvSpPr>
        <p:spPr>
          <a:xfrm>
            <a:off x="3822192" y="1755648"/>
            <a:ext cx="1115568"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Llegenda</a:t>
            </a:r>
            <a:endParaRPr lang="en-US" sz="1500" dirty="0"/>
          </a:p>
        </p:txBody>
      </p:sp>
      <p:sp>
        <p:nvSpPr>
          <p:cNvPr id="14" name="Etiqueta Símbols"/>
          <p:cNvSpPr/>
          <p:nvPr/>
        </p:nvSpPr>
        <p:spPr>
          <a:xfrm>
            <a:off x="5047488" y="1755648"/>
            <a:ext cx="1014984" cy="384048"/>
          </a:xfrm>
          <a:prstGeom prst="roundRect">
            <a:avLst>
              <a:gd name="adj" fmla="val 50000"/>
            </a:avLst>
          </a:prstGeom>
          <a:solidFill>
            <a:srgbClr val="E6F4EA"/>
          </a:solidFill>
          <a:ln/>
        </p:spPr>
      </p:sp>
      <p:sp>
        <p:nvSpPr>
          <p:cNvPr id="15" name="Text 13"/>
          <p:cNvSpPr txBox="1"/>
          <p:nvPr/>
        </p:nvSpPr>
        <p:spPr>
          <a:xfrm>
            <a:off x="5047488" y="1755648"/>
            <a:ext cx="1014984"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Símbols</a:t>
            </a:r>
            <a:endParaRPr lang="en-US" sz="1500" dirty="0"/>
          </a:p>
        </p:txBody>
      </p:sp>
      <p:sp>
        <p:nvSpPr>
          <p:cNvPr id="16" name="Pregunta 1"/>
          <p:cNvSpPr/>
          <p:nvPr/>
        </p:nvSpPr>
        <p:spPr>
          <a:xfrm>
            <a:off x="548640" y="2514600"/>
            <a:ext cx="11094415" cy="777240"/>
          </a:xfrm>
          <a:prstGeom prst="roundRect">
            <a:avLst>
              <a:gd name="adj" fmla="val 12941"/>
            </a:avLst>
          </a:prstGeom>
          <a:solidFill>
            <a:srgbClr val="FFFFFF"/>
          </a:solidFill>
          <a:ln w="12700">
            <a:solidFill>
              <a:srgbClr val="DADCE0"/>
            </a:solidFill>
            <a:prstDash val="solid"/>
          </a:ln>
        </p:spPr>
      </p:sp>
      <p:sp>
        <p:nvSpPr>
          <p:cNvPr id="17" name="Número 1"/>
          <p:cNvSpPr/>
          <p:nvPr/>
        </p:nvSpPr>
        <p:spPr>
          <a:xfrm>
            <a:off x="822960" y="2674620"/>
            <a:ext cx="457200" cy="457200"/>
          </a:xfrm>
          <a:prstGeom prst="ellipse">
            <a:avLst/>
          </a:prstGeom>
          <a:solidFill>
            <a:srgbClr val="188038"/>
          </a:solidFill>
          <a:ln/>
        </p:spPr>
      </p:sp>
      <p:sp>
        <p:nvSpPr>
          <p:cNvPr id="18" name="Text 16"/>
          <p:cNvSpPr txBox="1"/>
          <p:nvPr/>
        </p:nvSpPr>
        <p:spPr>
          <a:xfrm>
            <a:off x="822960" y="267462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Roboto" pitchFamily="34" charset="0"/>
                <a:ea typeface="Roboto" pitchFamily="34" charset="-122"/>
                <a:cs typeface="Roboto" pitchFamily="34" charset="-120"/>
              </a:rPr>
              <a:t>1</a:t>
            </a:r>
            <a:endParaRPr lang="en-US" sz="1700" dirty="0"/>
          </a:p>
        </p:txBody>
      </p:sp>
      <p:sp>
        <p:nvSpPr>
          <p:cNvPr id="19" name="Text 17"/>
          <p:cNvSpPr txBox="1"/>
          <p:nvPr/>
        </p:nvSpPr>
        <p:spPr>
          <a:xfrm>
            <a:off x="1508760" y="2514600"/>
            <a:ext cx="9905695" cy="777240"/>
          </a:xfrm>
          <a:prstGeom prst="rect">
            <a:avLst/>
          </a:prstGeom>
          <a:noFill/>
          <a:ln/>
        </p:spPr>
        <p:txBody>
          <a:bodyPr wrap="square" lIns="0" tIns="0" rIns="0" bIns="0" rtlCol="0" anchor="ctr"/>
          <a:lstStyle/>
          <a:p>
            <a:pPr indent="0" marL="0">
              <a:buNone/>
            </a:pPr>
            <a:r>
              <a:rPr lang="en-US" sz="1900" dirty="0">
                <a:solidFill>
                  <a:srgbClr val="202124"/>
                </a:solidFill>
                <a:latin typeface="Roboto" pitchFamily="34" charset="0"/>
                <a:ea typeface="Roboto" pitchFamily="34" charset="-122"/>
                <a:cs typeface="Roboto" pitchFamily="34" charset="-120"/>
              </a:rPr>
              <a:t>Quin tipus de mapa faries servir per saber on són els Pirineus?</a:t>
            </a:r>
            <a:endParaRPr lang="en-US" sz="1900" dirty="0"/>
          </a:p>
        </p:txBody>
      </p:sp>
      <p:sp>
        <p:nvSpPr>
          <p:cNvPr id="20" name="Pregunta 2"/>
          <p:cNvSpPr/>
          <p:nvPr/>
        </p:nvSpPr>
        <p:spPr>
          <a:xfrm>
            <a:off x="548640" y="3429000"/>
            <a:ext cx="11094415" cy="777240"/>
          </a:xfrm>
          <a:prstGeom prst="roundRect">
            <a:avLst>
              <a:gd name="adj" fmla="val 12941"/>
            </a:avLst>
          </a:prstGeom>
          <a:solidFill>
            <a:srgbClr val="FFFFFF"/>
          </a:solidFill>
          <a:ln w="12700">
            <a:solidFill>
              <a:srgbClr val="DADCE0"/>
            </a:solidFill>
            <a:prstDash val="solid"/>
          </a:ln>
        </p:spPr>
      </p:sp>
      <p:sp>
        <p:nvSpPr>
          <p:cNvPr id="21" name="Número 2"/>
          <p:cNvSpPr/>
          <p:nvPr/>
        </p:nvSpPr>
        <p:spPr>
          <a:xfrm>
            <a:off x="822960" y="3589020"/>
            <a:ext cx="457200" cy="457200"/>
          </a:xfrm>
          <a:prstGeom prst="ellipse">
            <a:avLst/>
          </a:prstGeom>
          <a:solidFill>
            <a:srgbClr val="188038"/>
          </a:solidFill>
          <a:ln/>
        </p:spPr>
      </p:sp>
      <p:sp>
        <p:nvSpPr>
          <p:cNvPr id="22" name="Text 20"/>
          <p:cNvSpPr txBox="1"/>
          <p:nvPr/>
        </p:nvSpPr>
        <p:spPr>
          <a:xfrm>
            <a:off x="822960" y="358902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Roboto" pitchFamily="34" charset="0"/>
                <a:ea typeface="Roboto" pitchFamily="34" charset="-122"/>
                <a:cs typeface="Roboto" pitchFamily="34" charset="-120"/>
              </a:rPr>
              <a:t>2</a:t>
            </a:r>
            <a:endParaRPr lang="en-US" sz="1700" dirty="0"/>
          </a:p>
        </p:txBody>
      </p:sp>
      <p:sp>
        <p:nvSpPr>
          <p:cNvPr id="23" name="Text 21"/>
          <p:cNvSpPr txBox="1"/>
          <p:nvPr/>
        </p:nvSpPr>
        <p:spPr>
          <a:xfrm>
            <a:off x="1508760" y="3429000"/>
            <a:ext cx="9905695" cy="777240"/>
          </a:xfrm>
          <a:prstGeom prst="rect">
            <a:avLst/>
          </a:prstGeom>
          <a:noFill/>
          <a:ln/>
        </p:spPr>
        <p:txBody>
          <a:bodyPr wrap="square" lIns="0" tIns="0" rIns="0" bIns="0" rtlCol="0" anchor="ctr"/>
          <a:lstStyle/>
          <a:p>
            <a:pPr indent="0" marL="0">
              <a:buNone/>
            </a:pPr>
            <a:r>
              <a:rPr lang="en-US" sz="1900" dirty="0">
                <a:solidFill>
                  <a:srgbClr val="202124"/>
                </a:solidFill>
                <a:latin typeface="Roboto" pitchFamily="34" charset="0"/>
                <a:ea typeface="Roboto" pitchFamily="34" charset="-122"/>
                <a:cs typeface="Roboto" pitchFamily="34" charset="-120"/>
              </a:rPr>
              <a:t>En un mapa a 1:50.000, dos pobles són a 4 cm. Quina distància real hi ha?</a:t>
            </a:r>
            <a:endParaRPr lang="en-US" sz="1900" dirty="0"/>
          </a:p>
        </p:txBody>
      </p:sp>
      <p:sp>
        <p:nvSpPr>
          <p:cNvPr id="24" name="Pregunta 3"/>
          <p:cNvSpPr/>
          <p:nvPr/>
        </p:nvSpPr>
        <p:spPr>
          <a:xfrm>
            <a:off x="548640" y="4343400"/>
            <a:ext cx="11094415" cy="777240"/>
          </a:xfrm>
          <a:prstGeom prst="roundRect">
            <a:avLst>
              <a:gd name="adj" fmla="val 12941"/>
            </a:avLst>
          </a:prstGeom>
          <a:solidFill>
            <a:srgbClr val="FFFFFF"/>
          </a:solidFill>
          <a:ln w="12700">
            <a:solidFill>
              <a:srgbClr val="DADCE0"/>
            </a:solidFill>
            <a:prstDash val="solid"/>
          </a:ln>
        </p:spPr>
      </p:sp>
      <p:sp>
        <p:nvSpPr>
          <p:cNvPr id="25" name="Número 3"/>
          <p:cNvSpPr/>
          <p:nvPr/>
        </p:nvSpPr>
        <p:spPr>
          <a:xfrm>
            <a:off x="822960" y="4503420"/>
            <a:ext cx="457200" cy="457200"/>
          </a:xfrm>
          <a:prstGeom prst="ellipse">
            <a:avLst/>
          </a:prstGeom>
          <a:solidFill>
            <a:srgbClr val="188038"/>
          </a:solidFill>
          <a:ln/>
        </p:spPr>
      </p:sp>
      <p:sp>
        <p:nvSpPr>
          <p:cNvPr id="26" name="Text 24"/>
          <p:cNvSpPr txBox="1"/>
          <p:nvPr/>
        </p:nvSpPr>
        <p:spPr>
          <a:xfrm>
            <a:off x="822960" y="450342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Roboto" pitchFamily="34" charset="0"/>
                <a:ea typeface="Roboto" pitchFamily="34" charset="-122"/>
                <a:cs typeface="Roboto" pitchFamily="34" charset="-120"/>
              </a:rPr>
              <a:t>3</a:t>
            </a:r>
            <a:endParaRPr lang="en-US" sz="1700" dirty="0"/>
          </a:p>
        </p:txBody>
      </p:sp>
      <p:sp>
        <p:nvSpPr>
          <p:cNvPr id="27" name="Text 25"/>
          <p:cNvSpPr txBox="1"/>
          <p:nvPr/>
        </p:nvSpPr>
        <p:spPr>
          <a:xfrm>
            <a:off x="1508760" y="4343400"/>
            <a:ext cx="9905695" cy="777240"/>
          </a:xfrm>
          <a:prstGeom prst="rect">
            <a:avLst/>
          </a:prstGeom>
          <a:noFill/>
          <a:ln/>
        </p:spPr>
        <p:txBody>
          <a:bodyPr wrap="square" lIns="0" tIns="0" rIns="0" bIns="0" rtlCol="0" anchor="ctr"/>
          <a:lstStyle/>
          <a:p>
            <a:pPr indent="0" marL="0">
              <a:buNone/>
            </a:pPr>
            <a:r>
              <a:rPr lang="en-US" sz="1900" dirty="0">
                <a:solidFill>
                  <a:srgbClr val="202124"/>
                </a:solidFill>
                <a:latin typeface="Roboto" pitchFamily="34" charset="0"/>
                <a:ea typeface="Roboto" pitchFamily="34" charset="-122"/>
                <a:cs typeface="Roboto" pitchFamily="34" charset="-120"/>
              </a:rPr>
              <a:t>Quina escala és més gran, 1:5.000 o 1:2.000.000? Quin dels dos mapes mostra més detall?</a:t>
            </a:r>
            <a:endParaRPr lang="en-US" sz="1900" dirty="0"/>
          </a:p>
        </p:txBody>
      </p:sp>
      <p:sp>
        <p:nvSpPr>
          <p:cNvPr id="28" name="Pregunta 4"/>
          <p:cNvSpPr/>
          <p:nvPr/>
        </p:nvSpPr>
        <p:spPr>
          <a:xfrm>
            <a:off x="548640" y="5257800"/>
            <a:ext cx="11094415" cy="777240"/>
          </a:xfrm>
          <a:prstGeom prst="roundRect">
            <a:avLst>
              <a:gd name="adj" fmla="val 12941"/>
            </a:avLst>
          </a:prstGeom>
          <a:solidFill>
            <a:srgbClr val="FFFFFF"/>
          </a:solidFill>
          <a:ln w="12700">
            <a:solidFill>
              <a:srgbClr val="DADCE0"/>
            </a:solidFill>
            <a:prstDash val="solid"/>
          </a:ln>
        </p:spPr>
      </p:sp>
      <p:sp>
        <p:nvSpPr>
          <p:cNvPr id="29" name="Número 4"/>
          <p:cNvSpPr/>
          <p:nvPr/>
        </p:nvSpPr>
        <p:spPr>
          <a:xfrm>
            <a:off x="822960" y="5417820"/>
            <a:ext cx="457200" cy="457200"/>
          </a:xfrm>
          <a:prstGeom prst="ellipse">
            <a:avLst/>
          </a:prstGeom>
          <a:solidFill>
            <a:srgbClr val="188038"/>
          </a:solidFill>
          <a:ln/>
        </p:spPr>
      </p:sp>
      <p:sp>
        <p:nvSpPr>
          <p:cNvPr id="30" name="Text 28"/>
          <p:cNvSpPr txBox="1"/>
          <p:nvPr/>
        </p:nvSpPr>
        <p:spPr>
          <a:xfrm>
            <a:off x="822960" y="541782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Roboto" pitchFamily="34" charset="0"/>
                <a:ea typeface="Roboto" pitchFamily="34" charset="-122"/>
                <a:cs typeface="Roboto" pitchFamily="34" charset="-120"/>
              </a:rPr>
              <a:t>4</a:t>
            </a:r>
            <a:endParaRPr lang="en-US" sz="1700" dirty="0"/>
          </a:p>
        </p:txBody>
      </p:sp>
      <p:sp>
        <p:nvSpPr>
          <p:cNvPr id="31" name="Text 29"/>
          <p:cNvSpPr txBox="1"/>
          <p:nvPr/>
        </p:nvSpPr>
        <p:spPr>
          <a:xfrm>
            <a:off x="1508760" y="5257800"/>
            <a:ext cx="9905695" cy="777240"/>
          </a:xfrm>
          <a:prstGeom prst="rect">
            <a:avLst/>
          </a:prstGeom>
          <a:noFill/>
          <a:ln/>
        </p:spPr>
        <p:txBody>
          <a:bodyPr wrap="square" lIns="0" tIns="0" rIns="0" bIns="0" rtlCol="0" anchor="ctr"/>
          <a:lstStyle/>
          <a:p>
            <a:pPr indent="0" marL="0">
              <a:buNone/>
            </a:pPr>
            <a:r>
              <a:rPr lang="en-US" sz="1900" dirty="0">
                <a:solidFill>
                  <a:srgbClr val="202124"/>
                </a:solidFill>
                <a:latin typeface="Roboto" pitchFamily="34" charset="0"/>
                <a:ea typeface="Roboto" pitchFamily="34" charset="-122"/>
                <a:cs typeface="Roboto" pitchFamily="34" charset="-120"/>
              </a:rPr>
              <a:t>Un riu dibuixat amb una línia blava, quin tipus de símbol és? On comproves què vol dir?</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3</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Com es dibuixen les muntanyes?</a:t>
            </a:r>
            <a:endParaRPr lang="en-US" sz="2800" dirty="0"/>
          </a:p>
        </p:txBody>
      </p:sp>
      <p:sp>
        <p:nvSpPr>
          <p:cNvPr id="5" name="Text 3"/>
          <p:cNvSpPr txBox="1"/>
          <p:nvPr/>
        </p:nvSpPr>
        <p:spPr>
          <a:xfrm>
            <a:off x="548640" y="1371600"/>
            <a:ext cx="11094415" cy="594360"/>
          </a:xfrm>
          <a:prstGeom prst="rect">
            <a:avLst/>
          </a:prstGeom>
          <a:noFill/>
          <a:ln/>
        </p:spPr>
        <p:txBody>
          <a:bodyPr wrap="square" lIns="0" tIns="0" rIns="0" bIns="0" rtlCol="0" anchor="t"/>
          <a:lstStyle/>
          <a:p>
            <a:pPr indent="0" marL="0">
              <a:buNone/>
            </a:pPr>
            <a:r>
              <a:rPr lang="en-US" sz="1800" dirty="0">
                <a:solidFill>
                  <a:srgbClr val="202124"/>
                </a:solidFill>
                <a:latin typeface="Roboto" pitchFamily="34" charset="0"/>
                <a:ea typeface="Roboto" pitchFamily="34" charset="-122"/>
                <a:cs typeface="Roboto" pitchFamily="34" charset="-120"/>
              </a:rPr>
              <a:t>Imagina que talles una muntanya en llesques horitzontals de 100 metres i que la mires des de dalt. La vora de cada llesca és una corba de nivell.</a:t>
            </a:r>
            <a:endParaRPr lang="en-US" sz="1800" dirty="0"/>
          </a:p>
        </p:txBody>
      </p:sp>
      <p:sp>
        <p:nvSpPr>
          <p:cNvPr id="6" name="Fons De la muntanya al mapa"/>
          <p:cNvSpPr/>
          <p:nvPr/>
        </p:nvSpPr>
        <p:spPr>
          <a:xfrm>
            <a:off x="548640" y="2148840"/>
            <a:ext cx="6309360" cy="3502152"/>
          </a:xfrm>
          <a:prstGeom prst="roundRect">
            <a:avLst>
              <a:gd name="adj" fmla="val 2872"/>
            </a:avLst>
          </a:prstGeom>
          <a:solidFill>
            <a:srgbClr val="F6F8FB"/>
          </a:solidFill>
          <a:ln/>
        </p:spPr>
      </p:sp>
      <p:pic>
        <p:nvPicPr>
          <p:cNvPr id="7" name="De la muntanya al mapa" descr="/home/claude/p857/build/img/corbes.png">    </p:cNvPr>
          <p:cNvPicPr>
            <a:picLocks noChangeAspect="1"/>
          </p:cNvPicPr>
          <p:nvPr/>
        </p:nvPicPr>
        <p:blipFill>
          <a:blip r:embed="rId1"/>
          <a:stretch>
            <a:fillRect/>
          </a:stretch>
        </p:blipFill>
        <p:spPr>
          <a:xfrm>
            <a:off x="549632" y="2148840"/>
            <a:ext cx="6307376" cy="3502152"/>
          </a:xfrm>
          <a:prstGeom prst="rect">
            <a:avLst/>
          </a:prstGeom>
        </p:spPr>
      </p:pic>
      <p:sp>
        <p:nvSpPr>
          <p:cNvPr id="8" name="Text 5"/>
          <p:cNvSpPr txBox="1"/>
          <p:nvPr/>
        </p:nvSpPr>
        <p:spPr>
          <a:xfrm>
            <a:off x="548640" y="5724144"/>
            <a:ext cx="6309360" cy="320040"/>
          </a:xfrm>
          <a:prstGeom prst="rect">
            <a:avLst/>
          </a:prstGeom>
          <a:noFill/>
          <a:ln/>
        </p:spPr>
        <p:txBody>
          <a:bodyPr wrap="square" lIns="0" tIns="0" rIns="0" bIns="0" rtlCol="0" anchor="t"/>
          <a:lstStyle/>
          <a:p>
            <a:pPr indent="0" marL="0">
              <a:buNone/>
            </a:pPr>
            <a:r>
              <a:rPr lang="en-US" sz="1000" dirty="0">
                <a:solidFill>
                  <a:srgbClr val="5F6368"/>
                </a:solidFill>
                <a:latin typeface="Roboto" pitchFamily="34" charset="0"/>
                <a:ea typeface="Roboto" pitchFamily="34" charset="-122"/>
                <a:cs typeface="Roboto" pitchFamily="34" charset="-120"/>
              </a:rPr>
              <a:t>De la muntanya al mapa. A dalt, la muntanya vista de costat. A sota, vista des de dalt. Dibuix: professordesocials.cat, CC BY-SA 4.0.</a:t>
            </a:r>
            <a:endParaRPr lang="en-US" sz="1000" dirty="0"/>
          </a:p>
        </p:txBody>
      </p:sp>
      <p:sp>
        <p:nvSpPr>
          <p:cNvPr id="9" name="Cercle icona"/>
          <p:cNvSpPr/>
          <p:nvPr/>
        </p:nvSpPr>
        <p:spPr>
          <a:xfrm>
            <a:off x="7178040" y="2244852"/>
            <a:ext cx="475488" cy="475488"/>
          </a:xfrm>
          <a:prstGeom prst="ellipse">
            <a:avLst/>
          </a:prstGeom>
          <a:solidFill>
            <a:srgbClr val="E6F4EA"/>
          </a:solidFill>
          <a:ln/>
        </p:spPr>
      </p:sp>
      <p:pic>
        <p:nvPicPr>
          <p:cNvPr id="10" name="Icona TbStairsUp" descr="/home/claude/p857/build/img/ic/TbStairsUp-g.png">    </p:cNvPr>
          <p:cNvPicPr>
            <a:picLocks noChangeAspect="1"/>
          </p:cNvPicPr>
          <p:nvPr/>
        </p:nvPicPr>
        <p:blipFill>
          <a:blip r:embed="rId2"/>
          <a:stretch>
            <a:fillRect/>
          </a:stretch>
        </p:blipFill>
        <p:spPr>
          <a:xfrm>
            <a:off x="7282647" y="2349459"/>
            <a:ext cx="266273" cy="266273"/>
          </a:xfrm>
          <a:prstGeom prst="rect">
            <a:avLst/>
          </a:prstGeom>
        </p:spPr>
      </p:pic>
      <p:sp>
        <p:nvSpPr>
          <p:cNvPr id="11" name="Text 7"/>
          <p:cNvSpPr txBox="1"/>
          <p:nvPr/>
        </p:nvSpPr>
        <p:spPr>
          <a:xfrm>
            <a:off x="7854696" y="2148840"/>
            <a:ext cx="3788359" cy="777240"/>
          </a:xfrm>
          <a:prstGeom prst="rect">
            <a:avLst/>
          </a:prstGeom>
          <a:noFill/>
          <a:ln/>
        </p:spPr>
        <p:txBody>
          <a:bodyPr wrap="square" lIns="0" tIns="0" rIns="0" bIns="0" rtlCol="0" anchor="ctr"/>
          <a:lstStyle/>
          <a:p>
            <a:pPr indent="0" marL="0">
              <a:buNone/>
            </a:pPr>
            <a:r>
              <a:rPr lang="en-US" sz="1600" b="1" dirty="0">
                <a:solidFill>
                  <a:srgbClr val="202124"/>
                </a:solidFill>
                <a:latin typeface="Roboto" pitchFamily="34" charset="0"/>
                <a:ea typeface="Roboto" pitchFamily="34" charset="-122"/>
                <a:cs typeface="Roboto" pitchFamily="34" charset="-120"/>
              </a:rPr>
              <a:t>Corbes juntes. </a:t>
            </a:r>
            <a:pPr indent="0" marL="0">
              <a:buNone/>
            </a:pPr>
            <a:r>
              <a:rPr lang="en-US" sz="1600" dirty="0">
                <a:solidFill>
                  <a:srgbClr val="202124"/>
                </a:solidFill>
                <a:latin typeface="Roboto" pitchFamily="34" charset="0"/>
                <a:ea typeface="Roboto" pitchFamily="34" charset="-122"/>
                <a:cs typeface="Roboto" pitchFamily="34" charset="-120"/>
              </a:rPr>
              <a:t>El pendent és fort. Per allà costa molt pujar.</a:t>
            </a:r>
            <a:endParaRPr lang="en-US" sz="1600" dirty="0"/>
          </a:p>
        </p:txBody>
      </p:sp>
      <p:sp>
        <p:nvSpPr>
          <p:cNvPr id="12" name="Cercle icona"/>
          <p:cNvSpPr/>
          <p:nvPr/>
        </p:nvSpPr>
        <p:spPr>
          <a:xfrm>
            <a:off x="7178040" y="3113532"/>
            <a:ext cx="475488" cy="475488"/>
          </a:xfrm>
          <a:prstGeom prst="ellipse">
            <a:avLst/>
          </a:prstGeom>
          <a:solidFill>
            <a:srgbClr val="E6F4EA"/>
          </a:solidFill>
          <a:ln/>
        </p:spPr>
      </p:sp>
      <p:pic>
        <p:nvPicPr>
          <p:cNvPr id="13" name="Icona TbWalk" descr="/home/claude/p857/build/img/ic/TbWalk-g.png">    </p:cNvPr>
          <p:cNvPicPr>
            <a:picLocks noChangeAspect="1"/>
          </p:cNvPicPr>
          <p:nvPr/>
        </p:nvPicPr>
        <p:blipFill>
          <a:blip r:embed="rId3"/>
          <a:stretch>
            <a:fillRect/>
          </a:stretch>
        </p:blipFill>
        <p:spPr>
          <a:xfrm>
            <a:off x="7282647" y="3218139"/>
            <a:ext cx="266273" cy="266273"/>
          </a:xfrm>
          <a:prstGeom prst="rect">
            <a:avLst/>
          </a:prstGeom>
        </p:spPr>
      </p:pic>
      <p:sp>
        <p:nvSpPr>
          <p:cNvPr id="14" name="Text 9"/>
          <p:cNvSpPr txBox="1"/>
          <p:nvPr/>
        </p:nvSpPr>
        <p:spPr>
          <a:xfrm>
            <a:off x="7854696" y="3017520"/>
            <a:ext cx="3788359" cy="777240"/>
          </a:xfrm>
          <a:prstGeom prst="rect">
            <a:avLst/>
          </a:prstGeom>
          <a:noFill/>
          <a:ln/>
        </p:spPr>
        <p:txBody>
          <a:bodyPr wrap="square" lIns="0" tIns="0" rIns="0" bIns="0" rtlCol="0" anchor="ctr"/>
          <a:lstStyle/>
          <a:p>
            <a:pPr indent="0" marL="0">
              <a:buNone/>
            </a:pPr>
            <a:r>
              <a:rPr lang="en-US" sz="1600" b="1" dirty="0">
                <a:solidFill>
                  <a:srgbClr val="202124"/>
                </a:solidFill>
                <a:latin typeface="Roboto" pitchFamily="34" charset="0"/>
                <a:ea typeface="Roboto" pitchFamily="34" charset="-122"/>
                <a:cs typeface="Roboto" pitchFamily="34" charset="-120"/>
              </a:rPr>
              <a:t>Corbes separades. </a:t>
            </a:r>
            <a:pPr indent="0" marL="0">
              <a:buNone/>
            </a:pPr>
            <a:r>
              <a:rPr lang="en-US" sz="1600" dirty="0">
                <a:solidFill>
                  <a:srgbClr val="202124"/>
                </a:solidFill>
                <a:latin typeface="Roboto" pitchFamily="34" charset="0"/>
                <a:ea typeface="Roboto" pitchFamily="34" charset="-122"/>
                <a:cs typeface="Roboto" pitchFamily="34" charset="-120"/>
              </a:rPr>
              <a:t>El terreny és suau o gairebé pla.</a:t>
            </a:r>
            <a:endParaRPr lang="en-US" sz="1600" dirty="0"/>
          </a:p>
        </p:txBody>
      </p:sp>
      <p:sp>
        <p:nvSpPr>
          <p:cNvPr id="15" name="Cercle icona"/>
          <p:cNvSpPr/>
          <p:nvPr/>
        </p:nvSpPr>
        <p:spPr>
          <a:xfrm>
            <a:off x="7178040" y="3982212"/>
            <a:ext cx="475488" cy="475488"/>
          </a:xfrm>
          <a:prstGeom prst="ellipse">
            <a:avLst/>
          </a:prstGeom>
          <a:solidFill>
            <a:srgbClr val="E6F4EA"/>
          </a:solidFill>
          <a:ln/>
        </p:spPr>
      </p:sp>
      <p:pic>
        <p:nvPicPr>
          <p:cNvPr id="16" name="Icona TbMountain" descr="/home/claude/p857/build/img/ic/TbMountain-g.png">    </p:cNvPr>
          <p:cNvPicPr>
            <a:picLocks noChangeAspect="1"/>
          </p:cNvPicPr>
          <p:nvPr/>
        </p:nvPicPr>
        <p:blipFill>
          <a:blip r:embed="rId4"/>
          <a:stretch>
            <a:fillRect/>
          </a:stretch>
        </p:blipFill>
        <p:spPr>
          <a:xfrm>
            <a:off x="7282647" y="4086819"/>
            <a:ext cx="266273" cy="266273"/>
          </a:xfrm>
          <a:prstGeom prst="rect">
            <a:avLst/>
          </a:prstGeom>
        </p:spPr>
      </p:pic>
      <p:sp>
        <p:nvSpPr>
          <p:cNvPr id="17" name="Text 11"/>
          <p:cNvSpPr txBox="1"/>
          <p:nvPr/>
        </p:nvSpPr>
        <p:spPr>
          <a:xfrm>
            <a:off x="7854696" y="3886200"/>
            <a:ext cx="3788359" cy="777240"/>
          </a:xfrm>
          <a:prstGeom prst="rect">
            <a:avLst/>
          </a:prstGeom>
          <a:noFill/>
          <a:ln/>
        </p:spPr>
        <p:txBody>
          <a:bodyPr wrap="square" lIns="0" tIns="0" rIns="0" bIns="0" rtlCol="0" anchor="ctr"/>
          <a:lstStyle/>
          <a:p>
            <a:pPr indent="0" marL="0">
              <a:buNone/>
            </a:pPr>
            <a:r>
              <a:rPr lang="en-US" sz="1600" b="1" dirty="0">
                <a:solidFill>
                  <a:srgbClr val="202124"/>
                </a:solidFill>
                <a:latin typeface="Roboto" pitchFamily="34" charset="0"/>
                <a:ea typeface="Roboto" pitchFamily="34" charset="-122"/>
                <a:cs typeface="Roboto" pitchFamily="34" charset="-120"/>
              </a:rPr>
              <a:t>El cim </a:t>
            </a:r>
            <a:pPr indent="0" marL="0">
              <a:buNone/>
            </a:pPr>
            <a:r>
              <a:rPr lang="en-US" sz="1600" dirty="0">
                <a:solidFill>
                  <a:srgbClr val="202124"/>
                </a:solidFill>
                <a:latin typeface="Roboto" pitchFamily="34" charset="0"/>
                <a:ea typeface="Roboto" pitchFamily="34" charset="-122"/>
                <a:cs typeface="Roboto" pitchFamily="34" charset="-120"/>
              </a:rPr>
              <a:t>és dins de la corba més petita, al centre de totes.</a:t>
            </a:r>
            <a:endParaRPr lang="en-US" sz="1600" dirty="0"/>
          </a:p>
        </p:txBody>
      </p:sp>
      <p:sp>
        <p:nvSpPr>
          <p:cNvPr id="18" name="Paraula clau · Corba de nivell"/>
          <p:cNvSpPr/>
          <p:nvPr/>
        </p:nvSpPr>
        <p:spPr>
          <a:xfrm>
            <a:off x="7178040" y="4846320"/>
            <a:ext cx="4465015" cy="1143000"/>
          </a:xfrm>
          <a:prstGeom prst="roundRect">
            <a:avLst>
              <a:gd name="adj" fmla="val 8800"/>
            </a:avLst>
          </a:prstGeom>
          <a:solidFill>
            <a:srgbClr val="E6F4EA"/>
          </a:solidFill>
          <a:ln/>
        </p:spPr>
      </p:sp>
      <p:sp>
        <p:nvSpPr>
          <p:cNvPr id="19" name="Text 13"/>
          <p:cNvSpPr txBox="1"/>
          <p:nvPr/>
        </p:nvSpPr>
        <p:spPr>
          <a:xfrm>
            <a:off x="7498080" y="5001768"/>
            <a:ext cx="3824935" cy="320040"/>
          </a:xfrm>
          <a:prstGeom prst="rect">
            <a:avLst/>
          </a:prstGeom>
          <a:noFill/>
          <a:ln/>
        </p:spPr>
        <p:txBody>
          <a:bodyPr wrap="square" lIns="0" tIns="0" rIns="0" bIns="0" rtlCol="0" anchor="t"/>
          <a:lstStyle/>
          <a:p>
            <a:pPr indent="0" marL="0">
              <a:buNone/>
            </a:pPr>
            <a:r>
              <a:rPr lang="en-US" sz="1400" b="1" dirty="0">
                <a:solidFill>
                  <a:srgbClr val="188038"/>
                </a:solidFill>
                <a:latin typeface="Roboto" pitchFamily="34" charset="0"/>
                <a:ea typeface="Roboto" pitchFamily="34" charset="-122"/>
                <a:cs typeface="Roboto" pitchFamily="34" charset="-120"/>
              </a:rPr>
              <a:t>Paraula clau · Corba de nivell</a:t>
            </a:r>
            <a:endParaRPr lang="en-US" sz="1400" dirty="0"/>
          </a:p>
        </p:txBody>
      </p:sp>
      <p:sp>
        <p:nvSpPr>
          <p:cNvPr id="20" name="Text 14"/>
          <p:cNvSpPr txBox="1"/>
          <p:nvPr/>
        </p:nvSpPr>
        <p:spPr>
          <a:xfrm>
            <a:off x="7498080" y="5349240"/>
            <a:ext cx="3824935" cy="502920"/>
          </a:xfrm>
          <a:prstGeom prst="rect">
            <a:avLst/>
          </a:prstGeom>
          <a:noFill/>
          <a:ln/>
        </p:spPr>
        <p:txBody>
          <a:bodyPr wrap="square" lIns="0" tIns="0" rIns="0" bIns="0" rtlCol="0" anchor="t"/>
          <a:lstStyle/>
          <a:p>
            <a:pPr indent="0" marL="0">
              <a:buNone/>
            </a:pPr>
            <a:r>
              <a:rPr lang="en-US" sz="1600" dirty="0">
                <a:solidFill>
                  <a:srgbClr val="202124"/>
                </a:solidFill>
                <a:latin typeface="Roboto" pitchFamily="34" charset="0"/>
                <a:ea typeface="Roboto" pitchFamily="34" charset="-122"/>
                <a:cs typeface="Roboto" pitchFamily="34" charset="-120"/>
              </a:rPr>
              <a:t>Línia d'un mapa que uneix tots els punts que són a la mateixa altitud.</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3</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Per què tots els mapamundis deformen la Terra?</a:t>
            </a:r>
            <a:endParaRPr lang="en-US" sz="2800" dirty="0"/>
          </a:p>
        </p:txBody>
      </p:sp>
      <p:sp>
        <p:nvSpPr>
          <p:cNvPr id="5" name="Pas 1"/>
          <p:cNvSpPr/>
          <p:nvPr/>
        </p:nvSpPr>
        <p:spPr>
          <a:xfrm>
            <a:off x="548640" y="1371600"/>
            <a:ext cx="3362858" cy="3017520"/>
          </a:xfrm>
          <a:prstGeom prst="roundRect">
            <a:avLst>
              <a:gd name="adj" fmla="val 3333"/>
            </a:avLst>
          </a:prstGeom>
          <a:solidFill>
            <a:srgbClr val="FFFFFF"/>
          </a:solidFill>
          <a:ln w="12700">
            <a:solidFill>
              <a:srgbClr val="DADCE0"/>
            </a:solidFill>
            <a:prstDash val="solid"/>
          </a:ln>
        </p:spPr>
      </p:sp>
      <p:sp>
        <p:nvSpPr>
          <p:cNvPr id="6" name="Cercle icona"/>
          <p:cNvSpPr/>
          <p:nvPr/>
        </p:nvSpPr>
        <p:spPr>
          <a:xfrm>
            <a:off x="804672" y="1627632"/>
            <a:ext cx="685800" cy="685800"/>
          </a:xfrm>
          <a:prstGeom prst="ellipse">
            <a:avLst/>
          </a:prstGeom>
          <a:solidFill>
            <a:srgbClr val="E6F4EA"/>
          </a:solidFill>
          <a:ln/>
        </p:spPr>
      </p:sp>
      <p:pic>
        <p:nvPicPr>
          <p:cNvPr id="7" name="Icona TbWorld" descr="/home/claude/p857/build/img/ic/TbWorld-g.png">    </p:cNvPr>
          <p:cNvPicPr>
            <a:picLocks noChangeAspect="1"/>
          </p:cNvPicPr>
          <p:nvPr/>
        </p:nvPicPr>
        <p:blipFill>
          <a:blip r:embed="rId1"/>
          <a:stretch>
            <a:fillRect/>
          </a:stretch>
        </p:blipFill>
        <p:spPr>
          <a:xfrm>
            <a:off x="955548" y="1778508"/>
            <a:ext cx="384048" cy="384048"/>
          </a:xfrm>
          <a:prstGeom prst="rect">
            <a:avLst/>
          </a:prstGeom>
        </p:spPr>
      </p:pic>
      <p:sp>
        <p:nvSpPr>
          <p:cNvPr id="8" name="Text 5"/>
          <p:cNvSpPr txBox="1"/>
          <p:nvPr/>
        </p:nvSpPr>
        <p:spPr>
          <a:xfrm>
            <a:off x="3225698" y="1627632"/>
            <a:ext cx="411480" cy="411480"/>
          </a:xfrm>
          <a:prstGeom prst="rect">
            <a:avLst/>
          </a:prstGeom>
          <a:noFill/>
          <a:ln/>
        </p:spPr>
        <p:txBody>
          <a:bodyPr wrap="square" lIns="0" tIns="0" rIns="0" bIns="0" rtlCol="0" anchor="t"/>
          <a:lstStyle/>
          <a:p>
            <a:pPr algn="r" indent="0" marL="0">
              <a:buNone/>
            </a:pPr>
            <a:r>
              <a:rPr lang="en-US" sz="2200" b="1" dirty="0">
                <a:solidFill>
                  <a:srgbClr val="DADCE0"/>
                </a:solidFill>
                <a:latin typeface="Roboto" pitchFamily="34" charset="0"/>
                <a:ea typeface="Roboto" pitchFamily="34" charset="-122"/>
                <a:cs typeface="Roboto" pitchFamily="34" charset="-120"/>
              </a:rPr>
              <a:t>1</a:t>
            </a:r>
            <a:endParaRPr lang="en-US" sz="2200" dirty="0"/>
          </a:p>
        </p:txBody>
      </p:sp>
      <p:sp>
        <p:nvSpPr>
          <p:cNvPr id="9" name="Text 6"/>
          <p:cNvSpPr txBox="1"/>
          <p:nvPr/>
        </p:nvSpPr>
        <p:spPr>
          <a:xfrm>
            <a:off x="804672" y="2468880"/>
            <a:ext cx="2850794" cy="603250"/>
          </a:xfrm>
          <a:prstGeom prst="rect">
            <a:avLst/>
          </a:prstGeom>
          <a:noFill/>
          <a:ln/>
        </p:spPr>
        <p:txBody>
          <a:bodyPr wrap="square" lIns="0" tIns="0" rIns="0" bIns="0" rtlCol="0" anchor="t"/>
          <a:lstStyle/>
          <a:p>
            <a:pPr indent="0" marL="0">
              <a:buNone/>
            </a:pPr>
            <a:r>
              <a:rPr lang="en-US" sz="1900" b="1" dirty="0">
                <a:solidFill>
                  <a:srgbClr val="188038"/>
                </a:solidFill>
                <a:latin typeface="Roboto" pitchFamily="34" charset="0"/>
                <a:ea typeface="Roboto" pitchFamily="34" charset="-122"/>
                <a:cs typeface="Roboto" pitchFamily="34" charset="-120"/>
              </a:rPr>
              <a:t>La Terra és gairebé una esfera</a:t>
            </a:r>
            <a:endParaRPr lang="en-US" sz="1900" dirty="0"/>
          </a:p>
        </p:txBody>
      </p:sp>
      <p:sp>
        <p:nvSpPr>
          <p:cNvPr id="10" name="Text 7"/>
          <p:cNvSpPr txBox="1"/>
          <p:nvPr/>
        </p:nvSpPr>
        <p:spPr>
          <a:xfrm>
            <a:off x="804672" y="3136138"/>
            <a:ext cx="2850794" cy="1161542"/>
          </a:xfrm>
          <a:prstGeom prst="rect">
            <a:avLst/>
          </a:prstGeom>
          <a:noFill/>
          <a:ln/>
        </p:spPr>
        <p:txBody>
          <a:bodyPr wrap="square" lIns="0" tIns="0" rIns="0" bIns="0" rtlCol="0" anchor="t"/>
          <a:lstStyle/>
          <a:p>
            <a:pPr indent="0" marL="0">
              <a:buNone/>
            </a:pPr>
            <a:r>
              <a:rPr lang="en-US" sz="1700" dirty="0">
                <a:solidFill>
                  <a:srgbClr val="202124"/>
                </a:solidFill>
                <a:latin typeface="Roboto" pitchFamily="34" charset="0"/>
                <a:ea typeface="Roboto" pitchFamily="34" charset="-122"/>
                <a:cs typeface="Roboto" pitchFamily="34" charset="-120"/>
              </a:rPr>
              <a:t>I una esfera no es pot aplanar sense estirar-la o trencar-la.</a:t>
            </a:r>
            <a:endParaRPr lang="en-US" sz="1700" dirty="0"/>
          </a:p>
        </p:txBody>
      </p:sp>
      <p:sp>
        <p:nvSpPr>
          <p:cNvPr id="11" name="Fletxa"/>
          <p:cNvSpPr/>
          <p:nvPr/>
        </p:nvSpPr>
        <p:spPr>
          <a:xfrm>
            <a:off x="4071518" y="2743200"/>
            <a:ext cx="182880" cy="274320"/>
          </a:xfrm>
          <a:prstGeom prst="chevron">
            <a:avLst/>
          </a:prstGeom>
          <a:solidFill>
            <a:srgbClr val="188038"/>
          </a:solidFill>
          <a:ln/>
        </p:spPr>
      </p:sp>
      <p:sp>
        <p:nvSpPr>
          <p:cNvPr id="12" name="Pas 2"/>
          <p:cNvSpPr/>
          <p:nvPr/>
        </p:nvSpPr>
        <p:spPr>
          <a:xfrm>
            <a:off x="4414418" y="1371600"/>
            <a:ext cx="3362858" cy="3017520"/>
          </a:xfrm>
          <a:prstGeom prst="roundRect">
            <a:avLst>
              <a:gd name="adj" fmla="val 3333"/>
            </a:avLst>
          </a:prstGeom>
          <a:solidFill>
            <a:srgbClr val="FFFFFF"/>
          </a:solidFill>
          <a:ln w="12700">
            <a:solidFill>
              <a:srgbClr val="DADCE0"/>
            </a:solidFill>
            <a:prstDash val="solid"/>
          </a:ln>
        </p:spPr>
      </p:sp>
      <p:sp>
        <p:nvSpPr>
          <p:cNvPr id="13" name="Cercle icona"/>
          <p:cNvSpPr/>
          <p:nvPr/>
        </p:nvSpPr>
        <p:spPr>
          <a:xfrm>
            <a:off x="4670450" y="1627632"/>
            <a:ext cx="685800" cy="685800"/>
          </a:xfrm>
          <a:prstGeom prst="ellipse">
            <a:avLst/>
          </a:prstGeom>
          <a:solidFill>
            <a:srgbClr val="E6F4EA"/>
          </a:solidFill>
          <a:ln/>
        </p:spPr>
      </p:sp>
      <p:pic>
        <p:nvPicPr>
          <p:cNvPr id="14" name="Icona TbLemon" descr="/home/claude/p857/build/img/ic/TbLemon-g.png">    </p:cNvPr>
          <p:cNvPicPr>
            <a:picLocks noChangeAspect="1"/>
          </p:cNvPicPr>
          <p:nvPr/>
        </p:nvPicPr>
        <p:blipFill>
          <a:blip r:embed="rId2"/>
          <a:stretch>
            <a:fillRect/>
          </a:stretch>
        </p:blipFill>
        <p:spPr>
          <a:xfrm>
            <a:off x="4821326" y="1778508"/>
            <a:ext cx="384048" cy="384048"/>
          </a:xfrm>
          <a:prstGeom prst="rect">
            <a:avLst/>
          </a:prstGeom>
        </p:spPr>
      </p:pic>
      <p:sp>
        <p:nvSpPr>
          <p:cNvPr id="15" name="Text 11"/>
          <p:cNvSpPr txBox="1"/>
          <p:nvPr/>
        </p:nvSpPr>
        <p:spPr>
          <a:xfrm>
            <a:off x="7091477" y="1627632"/>
            <a:ext cx="411480" cy="411480"/>
          </a:xfrm>
          <a:prstGeom prst="rect">
            <a:avLst/>
          </a:prstGeom>
          <a:noFill/>
          <a:ln/>
        </p:spPr>
        <p:txBody>
          <a:bodyPr wrap="square" lIns="0" tIns="0" rIns="0" bIns="0" rtlCol="0" anchor="t"/>
          <a:lstStyle/>
          <a:p>
            <a:pPr algn="r" indent="0" marL="0">
              <a:buNone/>
            </a:pPr>
            <a:r>
              <a:rPr lang="en-US" sz="2200" b="1" dirty="0">
                <a:solidFill>
                  <a:srgbClr val="DADCE0"/>
                </a:solidFill>
                <a:latin typeface="Roboto" pitchFamily="34" charset="0"/>
                <a:ea typeface="Roboto" pitchFamily="34" charset="-122"/>
                <a:cs typeface="Roboto" pitchFamily="34" charset="-120"/>
              </a:rPr>
              <a:t>2</a:t>
            </a:r>
            <a:endParaRPr lang="en-US" sz="2200" dirty="0"/>
          </a:p>
        </p:txBody>
      </p:sp>
      <p:sp>
        <p:nvSpPr>
          <p:cNvPr id="16" name="Text 12"/>
          <p:cNvSpPr txBox="1"/>
          <p:nvPr/>
        </p:nvSpPr>
        <p:spPr>
          <a:xfrm>
            <a:off x="4670450" y="2468880"/>
            <a:ext cx="2850794" cy="603250"/>
          </a:xfrm>
          <a:prstGeom prst="rect">
            <a:avLst/>
          </a:prstGeom>
          <a:noFill/>
          <a:ln/>
        </p:spPr>
        <p:txBody>
          <a:bodyPr wrap="square" lIns="0" tIns="0" rIns="0" bIns="0" rtlCol="0" anchor="t"/>
          <a:lstStyle/>
          <a:p>
            <a:pPr indent="0" marL="0">
              <a:buNone/>
            </a:pPr>
            <a:r>
              <a:rPr lang="en-US" sz="1900" b="1" dirty="0">
                <a:solidFill>
                  <a:srgbClr val="188038"/>
                </a:solidFill>
                <a:latin typeface="Roboto" pitchFamily="34" charset="0"/>
                <a:ea typeface="Roboto" pitchFamily="34" charset="-122"/>
                <a:cs typeface="Roboto" pitchFamily="34" charset="-120"/>
              </a:rPr>
              <a:t>Prova-ho amb una taronja</a:t>
            </a:r>
            <a:endParaRPr lang="en-US" sz="1900" dirty="0"/>
          </a:p>
        </p:txBody>
      </p:sp>
      <p:sp>
        <p:nvSpPr>
          <p:cNvPr id="17" name="Text 13"/>
          <p:cNvSpPr txBox="1"/>
          <p:nvPr/>
        </p:nvSpPr>
        <p:spPr>
          <a:xfrm>
            <a:off x="4670450" y="3136138"/>
            <a:ext cx="2850794" cy="1161542"/>
          </a:xfrm>
          <a:prstGeom prst="rect">
            <a:avLst/>
          </a:prstGeom>
          <a:noFill/>
          <a:ln/>
        </p:spPr>
        <p:txBody>
          <a:bodyPr wrap="square" lIns="0" tIns="0" rIns="0" bIns="0" rtlCol="0" anchor="t"/>
          <a:lstStyle/>
          <a:p>
            <a:pPr indent="0" marL="0">
              <a:buNone/>
            </a:pPr>
            <a:r>
              <a:rPr lang="en-US" sz="1700" dirty="0">
                <a:solidFill>
                  <a:srgbClr val="202124"/>
                </a:solidFill>
                <a:latin typeface="Roboto" pitchFamily="34" charset="0"/>
                <a:ea typeface="Roboto" pitchFamily="34" charset="-122"/>
                <a:cs typeface="Roboto" pitchFamily="34" charset="-120"/>
              </a:rPr>
              <a:t>Aplana'n la pell sobre la taula i veuràs que s'esquinça.</a:t>
            </a:r>
            <a:endParaRPr lang="en-US" sz="1700" dirty="0"/>
          </a:p>
        </p:txBody>
      </p:sp>
      <p:sp>
        <p:nvSpPr>
          <p:cNvPr id="18" name="Fletxa"/>
          <p:cNvSpPr/>
          <p:nvPr/>
        </p:nvSpPr>
        <p:spPr>
          <a:xfrm>
            <a:off x="7937297" y="2743200"/>
            <a:ext cx="182880" cy="274320"/>
          </a:xfrm>
          <a:prstGeom prst="chevron">
            <a:avLst/>
          </a:prstGeom>
          <a:solidFill>
            <a:srgbClr val="188038"/>
          </a:solidFill>
          <a:ln/>
        </p:spPr>
      </p:sp>
      <p:sp>
        <p:nvSpPr>
          <p:cNvPr id="19" name="Pas 3"/>
          <p:cNvSpPr/>
          <p:nvPr/>
        </p:nvSpPr>
        <p:spPr>
          <a:xfrm>
            <a:off x="8280197" y="1371600"/>
            <a:ext cx="3362858" cy="3017520"/>
          </a:xfrm>
          <a:prstGeom prst="roundRect">
            <a:avLst>
              <a:gd name="adj" fmla="val 3333"/>
            </a:avLst>
          </a:prstGeom>
          <a:solidFill>
            <a:srgbClr val="FFFFFF"/>
          </a:solidFill>
          <a:ln w="12700">
            <a:solidFill>
              <a:srgbClr val="DADCE0"/>
            </a:solidFill>
            <a:prstDash val="solid"/>
          </a:ln>
        </p:spPr>
      </p:sp>
      <p:sp>
        <p:nvSpPr>
          <p:cNvPr id="20" name="Cercle icona"/>
          <p:cNvSpPr/>
          <p:nvPr/>
        </p:nvSpPr>
        <p:spPr>
          <a:xfrm>
            <a:off x="8536229" y="1627632"/>
            <a:ext cx="685800" cy="685800"/>
          </a:xfrm>
          <a:prstGeom prst="ellipse">
            <a:avLst/>
          </a:prstGeom>
          <a:solidFill>
            <a:srgbClr val="E6F4EA"/>
          </a:solidFill>
          <a:ln/>
        </p:spPr>
      </p:sp>
      <p:pic>
        <p:nvPicPr>
          <p:cNvPr id="21" name="Icona TbMap" descr="/home/claude/p857/build/img/ic/TbMap-g.png">    </p:cNvPr>
          <p:cNvPicPr>
            <a:picLocks noChangeAspect="1"/>
          </p:cNvPicPr>
          <p:nvPr/>
        </p:nvPicPr>
        <p:blipFill>
          <a:blip r:embed="rId3"/>
          <a:stretch>
            <a:fillRect/>
          </a:stretch>
        </p:blipFill>
        <p:spPr>
          <a:xfrm>
            <a:off x="8687105" y="1778508"/>
            <a:ext cx="384048" cy="384048"/>
          </a:xfrm>
          <a:prstGeom prst="rect">
            <a:avLst/>
          </a:prstGeom>
        </p:spPr>
      </p:pic>
      <p:sp>
        <p:nvSpPr>
          <p:cNvPr id="22" name="Text 17"/>
          <p:cNvSpPr txBox="1"/>
          <p:nvPr/>
        </p:nvSpPr>
        <p:spPr>
          <a:xfrm>
            <a:off x="10957255" y="1627632"/>
            <a:ext cx="411480" cy="411480"/>
          </a:xfrm>
          <a:prstGeom prst="rect">
            <a:avLst/>
          </a:prstGeom>
          <a:noFill/>
          <a:ln/>
        </p:spPr>
        <p:txBody>
          <a:bodyPr wrap="square" lIns="0" tIns="0" rIns="0" bIns="0" rtlCol="0" anchor="t"/>
          <a:lstStyle/>
          <a:p>
            <a:pPr algn="r" indent="0" marL="0">
              <a:buNone/>
            </a:pPr>
            <a:r>
              <a:rPr lang="en-US" sz="2200" b="1" dirty="0">
                <a:solidFill>
                  <a:srgbClr val="DADCE0"/>
                </a:solidFill>
                <a:latin typeface="Roboto" pitchFamily="34" charset="0"/>
                <a:ea typeface="Roboto" pitchFamily="34" charset="-122"/>
                <a:cs typeface="Roboto" pitchFamily="34" charset="-120"/>
              </a:rPr>
              <a:t>3</a:t>
            </a:r>
            <a:endParaRPr lang="en-US" sz="2200" dirty="0"/>
          </a:p>
        </p:txBody>
      </p:sp>
      <p:sp>
        <p:nvSpPr>
          <p:cNvPr id="23" name="Text 18"/>
          <p:cNvSpPr txBox="1"/>
          <p:nvPr/>
        </p:nvSpPr>
        <p:spPr>
          <a:xfrm>
            <a:off x="8536229" y="2468880"/>
            <a:ext cx="2850794" cy="603250"/>
          </a:xfrm>
          <a:prstGeom prst="rect">
            <a:avLst/>
          </a:prstGeom>
          <a:noFill/>
          <a:ln/>
        </p:spPr>
        <p:txBody>
          <a:bodyPr wrap="square" lIns="0" tIns="0" rIns="0" bIns="0" rtlCol="0" anchor="t"/>
          <a:lstStyle/>
          <a:p>
            <a:pPr indent="0" marL="0">
              <a:buNone/>
            </a:pPr>
            <a:r>
              <a:rPr lang="en-US" sz="1900" b="1" dirty="0">
                <a:solidFill>
                  <a:srgbClr val="188038"/>
                </a:solidFill>
                <a:latin typeface="Roboto" pitchFamily="34" charset="0"/>
                <a:ea typeface="Roboto" pitchFamily="34" charset="-122"/>
                <a:cs typeface="Roboto" pitchFamily="34" charset="-120"/>
              </a:rPr>
              <a:t>Sempre deformen alguna cosa</a:t>
            </a:r>
            <a:endParaRPr lang="en-US" sz="1900" dirty="0"/>
          </a:p>
        </p:txBody>
      </p:sp>
      <p:sp>
        <p:nvSpPr>
          <p:cNvPr id="24" name="Text 19"/>
          <p:cNvSpPr txBox="1"/>
          <p:nvPr/>
        </p:nvSpPr>
        <p:spPr>
          <a:xfrm>
            <a:off x="8536229" y="3136138"/>
            <a:ext cx="2850794" cy="1161542"/>
          </a:xfrm>
          <a:prstGeom prst="rect">
            <a:avLst/>
          </a:prstGeom>
          <a:noFill/>
          <a:ln/>
        </p:spPr>
        <p:txBody>
          <a:bodyPr wrap="square" lIns="0" tIns="0" rIns="0" bIns="0" rtlCol="0" anchor="t"/>
          <a:lstStyle/>
          <a:p>
            <a:pPr indent="0" marL="0">
              <a:buNone/>
            </a:pPr>
            <a:r>
              <a:rPr lang="en-US" sz="1700" dirty="0">
                <a:solidFill>
                  <a:srgbClr val="202124"/>
                </a:solidFill>
                <a:latin typeface="Roboto" pitchFamily="34" charset="0"/>
                <a:ea typeface="Roboto" pitchFamily="34" charset="-122"/>
                <a:cs typeface="Roboto" pitchFamily="34" charset="-120"/>
              </a:rPr>
              <a:t>Les formes, les mides o les distàncies.</a:t>
            </a:r>
            <a:endParaRPr lang="en-US" sz="1700" dirty="0"/>
          </a:p>
        </p:txBody>
      </p:sp>
      <p:sp>
        <p:nvSpPr>
          <p:cNvPr id="25" name="Paraula clau · Projecció"/>
          <p:cNvSpPr/>
          <p:nvPr/>
        </p:nvSpPr>
        <p:spPr>
          <a:xfrm>
            <a:off x="548640" y="4617720"/>
            <a:ext cx="11094415" cy="1371600"/>
          </a:xfrm>
          <a:prstGeom prst="roundRect">
            <a:avLst>
              <a:gd name="adj" fmla="val 7333"/>
            </a:avLst>
          </a:prstGeom>
          <a:solidFill>
            <a:srgbClr val="E6F4EA"/>
          </a:solidFill>
          <a:ln/>
        </p:spPr>
      </p:sp>
      <p:sp>
        <p:nvSpPr>
          <p:cNvPr id="26" name="Text 21"/>
          <p:cNvSpPr txBox="1"/>
          <p:nvPr/>
        </p:nvSpPr>
        <p:spPr>
          <a:xfrm>
            <a:off x="868680" y="4773168"/>
            <a:ext cx="10454335" cy="320040"/>
          </a:xfrm>
          <a:prstGeom prst="rect">
            <a:avLst/>
          </a:prstGeom>
          <a:noFill/>
          <a:ln/>
        </p:spPr>
        <p:txBody>
          <a:bodyPr wrap="square" lIns="0" tIns="0" rIns="0" bIns="0" rtlCol="0" anchor="t"/>
          <a:lstStyle/>
          <a:p>
            <a:pPr indent="0" marL="0">
              <a:buNone/>
            </a:pPr>
            <a:r>
              <a:rPr lang="en-US" sz="1400" b="1" dirty="0">
                <a:solidFill>
                  <a:srgbClr val="188038"/>
                </a:solidFill>
                <a:latin typeface="Roboto" pitchFamily="34" charset="0"/>
                <a:ea typeface="Roboto" pitchFamily="34" charset="-122"/>
                <a:cs typeface="Roboto" pitchFamily="34" charset="-120"/>
              </a:rPr>
              <a:t>Paraula clau · Projecció</a:t>
            </a:r>
            <a:endParaRPr lang="en-US" sz="1400" dirty="0"/>
          </a:p>
        </p:txBody>
      </p:sp>
      <p:sp>
        <p:nvSpPr>
          <p:cNvPr id="27" name="Text 22"/>
          <p:cNvSpPr txBox="1"/>
          <p:nvPr/>
        </p:nvSpPr>
        <p:spPr>
          <a:xfrm>
            <a:off x="868680" y="5120640"/>
            <a:ext cx="10454335" cy="731520"/>
          </a:xfrm>
          <a:prstGeom prst="rect">
            <a:avLst/>
          </a:prstGeom>
          <a:noFill/>
          <a:ln/>
        </p:spPr>
        <p:txBody>
          <a:bodyPr wrap="square" lIns="0" tIns="0" rIns="0" bIns="0" rtlCol="0" anchor="t"/>
          <a:lstStyle/>
          <a:p>
            <a:pPr indent="0" marL="0">
              <a:buNone/>
            </a:pPr>
            <a:r>
              <a:rPr lang="en-US" sz="1800" dirty="0">
                <a:solidFill>
                  <a:srgbClr val="202124"/>
                </a:solidFill>
                <a:latin typeface="Roboto" pitchFamily="34" charset="0"/>
                <a:ea typeface="Roboto" pitchFamily="34" charset="-122"/>
                <a:cs typeface="Roboto" pitchFamily="34" charset="-120"/>
              </a:rPr>
              <a:t>Manera de dibuixar en un pla la superfície de la Terra, que és corba. Totes les projeccions deformen alguna cosa.</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3</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La projecció de Mercator</a:t>
            </a:r>
            <a:endParaRPr lang="en-US" sz="2800" dirty="0"/>
          </a:p>
        </p:txBody>
      </p:sp>
      <p:sp>
        <p:nvSpPr>
          <p:cNvPr id="5" name="Fons La mateixa Terra, dues projeccions"/>
          <p:cNvSpPr/>
          <p:nvPr/>
        </p:nvSpPr>
        <p:spPr>
          <a:xfrm>
            <a:off x="548640" y="1371600"/>
            <a:ext cx="6583680" cy="3015886"/>
          </a:xfrm>
          <a:prstGeom prst="roundRect">
            <a:avLst>
              <a:gd name="adj" fmla="val 3335"/>
            </a:avLst>
          </a:prstGeom>
          <a:solidFill>
            <a:srgbClr val="F6F8FB"/>
          </a:solidFill>
          <a:ln/>
        </p:spPr>
      </p:sp>
      <p:pic>
        <p:nvPicPr>
          <p:cNvPr id="6" name="La mateixa Terra, dues projeccions" descr="/home/claude/p857/build/img/projeccions.png">    </p:cNvPr>
          <p:cNvPicPr>
            <a:picLocks noChangeAspect="1"/>
          </p:cNvPicPr>
          <p:nvPr/>
        </p:nvPicPr>
        <p:blipFill>
          <a:blip r:embed="rId1"/>
          <a:stretch>
            <a:fillRect/>
          </a:stretch>
        </p:blipFill>
        <p:spPr>
          <a:xfrm>
            <a:off x="548640" y="1371600"/>
            <a:ext cx="6583680" cy="3015886"/>
          </a:xfrm>
          <a:prstGeom prst="rect">
            <a:avLst/>
          </a:prstGeom>
        </p:spPr>
      </p:pic>
      <p:sp>
        <p:nvSpPr>
          <p:cNvPr id="7" name="Text 4"/>
          <p:cNvSpPr txBox="1"/>
          <p:nvPr/>
        </p:nvSpPr>
        <p:spPr>
          <a:xfrm>
            <a:off x="548640" y="4460638"/>
            <a:ext cx="6583680" cy="457200"/>
          </a:xfrm>
          <a:prstGeom prst="rect">
            <a:avLst/>
          </a:prstGeom>
          <a:noFill/>
          <a:ln/>
        </p:spPr>
        <p:txBody>
          <a:bodyPr wrap="square" lIns="0" tIns="0" rIns="0" bIns="0" rtlCol="0" anchor="t"/>
          <a:lstStyle/>
          <a:p>
            <a:pPr indent="0" marL="0">
              <a:buNone/>
            </a:pPr>
            <a:r>
              <a:rPr lang="en-US" sz="1000" dirty="0">
                <a:solidFill>
                  <a:srgbClr val="5F6368"/>
                </a:solidFill>
                <a:latin typeface="Roboto" pitchFamily="34" charset="0"/>
                <a:ea typeface="Roboto" pitchFamily="34" charset="-122"/>
                <a:cs typeface="Roboto" pitchFamily="34" charset="-120"/>
              </a:rPr>
              <a:t>La mateixa Terra, dues projeccions. A l'esquerra, la de Mercator. A la dreta, l'Equal Earth. En verd, Groenlàndia i l'Àfrica. Mapa: professordesocials.cat, CC BY-SA 4.0. Base cartogràfica: Natural Earth (domini públic).</a:t>
            </a:r>
            <a:endParaRPr lang="en-US" sz="1000" dirty="0"/>
          </a:p>
        </p:txBody>
      </p:sp>
      <p:sp>
        <p:nvSpPr>
          <p:cNvPr id="8" name="Mercator, 1569"/>
          <p:cNvSpPr/>
          <p:nvPr/>
        </p:nvSpPr>
        <p:spPr>
          <a:xfrm>
            <a:off x="548640" y="4892040"/>
            <a:ext cx="6583680" cy="1097280"/>
          </a:xfrm>
          <a:prstGeom prst="roundRect">
            <a:avLst>
              <a:gd name="adj" fmla="val 9167"/>
            </a:avLst>
          </a:prstGeom>
          <a:solidFill>
            <a:srgbClr val="E6F4EA"/>
          </a:solidFill>
          <a:ln/>
        </p:spPr>
      </p:sp>
      <p:sp>
        <p:nvSpPr>
          <p:cNvPr id="9" name="Text 6"/>
          <p:cNvSpPr txBox="1"/>
          <p:nvPr/>
        </p:nvSpPr>
        <p:spPr>
          <a:xfrm>
            <a:off x="868680" y="5047488"/>
            <a:ext cx="5943600" cy="320040"/>
          </a:xfrm>
          <a:prstGeom prst="rect">
            <a:avLst/>
          </a:prstGeom>
          <a:noFill/>
          <a:ln/>
        </p:spPr>
        <p:txBody>
          <a:bodyPr wrap="square" lIns="0" tIns="0" rIns="0" bIns="0" rtlCol="0" anchor="t"/>
          <a:lstStyle/>
          <a:p>
            <a:pPr indent="0" marL="0">
              <a:buNone/>
            </a:pPr>
            <a:r>
              <a:rPr lang="en-US" sz="1400" b="1" dirty="0">
                <a:solidFill>
                  <a:srgbClr val="188038"/>
                </a:solidFill>
                <a:latin typeface="Roboto" pitchFamily="34" charset="0"/>
                <a:ea typeface="Roboto" pitchFamily="34" charset="-122"/>
                <a:cs typeface="Roboto" pitchFamily="34" charset="-120"/>
              </a:rPr>
              <a:t>Mercator, 1569</a:t>
            </a:r>
            <a:endParaRPr lang="en-US" sz="1400" dirty="0"/>
          </a:p>
        </p:txBody>
      </p:sp>
      <p:sp>
        <p:nvSpPr>
          <p:cNvPr id="10" name="Text 7"/>
          <p:cNvSpPr txBox="1"/>
          <p:nvPr/>
        </p:nvSpPr>
        <p:spPr>
          <a:xfrm>
            <a:off x="868680" y="5394960"/>
            <a:ext cx="5943600" cy="457200"/>
          </a:xfrm>
          <a:prstGeom prst="rect">
            <a:avLst/>
          </a:prstGeom>
          <a:noFill/>
          <a:ln/>
        </p:spPr>
        <p:txBody>
          <a:bodyPr wrap="square" lIns="0" tIns="0" rIns="0" bIns="0" rtlCol="0" anchor="t"/>
          <a:lstStyle/>
          <a:p>
            <a:pPr indent="0" marL="0">
              <a:buNone/>
            </a:pPr>
            <a:r>
              <a:rPr lang="en-US" sz="1450" dirty="0">
                <a:solidFill>
                  <a:srgbClr val="202124"/>
                </a:solidFill>
                <a:latin typeface="Roboto" pitchFamily="34" charset="0"/>
                <a:ea typeface="Roboto" pitchFamily="34" charset="-122"/>
                <a:cs typeface="Roboto" pitchFamily="34" charset="-120"/>
              </a:rPr>
              <a:t>El cartògraf flamenc Gerard Mercator la va pensar per navegar. Una ruta amb el mateix rumb de la brúixola hi surt com una línia recta.</a:t>
            </a:r>
            <a:endParaRPr lang="en-US" sz="1450" dirty="0"/>
          </a:p>
        </p:txBody>
      </p:sp>
      <p:sp>
        <p:nvSpPr>
          <p:cNvPr id="11" name="Targeta L'Àfrica és unes"/>
          <p:cNvSpPr/>
          <p:nvPr/>
        </p:nvSpPr>
        <p:spPr>
          <a:xfrm>
            <a:off x="7452360" y="1371600"/>
            <a:ext cx="4190695" cy="2651760"/>
          </a:xfrm>
          <a:prstGeom prst="roundRect">
            <a:avLst>
              <a:gd name="adj" fmla="val 3793"/>
            </a:avLst>
          </a:prstGeom>
          <a:solidFill>
            <a:srgbClr val="188038"/>
          </a:solidFill>
          <a:ln/>
        </p:spPr>
      </p:sp>
      <p:sp>
        <p:nvSpPr>
          <p:cNvPr id="12" name="Cercle icona"/>
          <p:cNvSpPr/>
          <p:nvPr/>
        </p:nvSpPr>
        <p:spPr>
          <a:xfrm>
            <a:off x="7680960" y="1600200"/>
            <a:ext cx="548640" cy="548640"/>
          </a:xfrm>
          <a:prstGeom prst="ellipse">
            <a:avLst/>
          </a:prstGeom>
          <a:solidFill>
            <a:srgbClr val="FFFFFF"/>
          </a:solidFill>
          <a:ln/>
        </p:spPr>
      </p:sp>
      <p:pic>
        <p:nvPicPr>
          <p:cNvPr id="13" name="Icona TbScale" descr="/home/claude/p857/build/img/ic/TbScale-g.png">    </p:cNvPr>
          <p:cNvPicPr>
            <a:picLocks noChangeAspect="1"/>
          </p:cNvPicPr>
          <p:nvPr/>
        </p:nvPicPr>
        <p:blipFill>
          <a:blip r:embed="rId2"/>
          <a:stretch>
            <a:fillRect/>
          </a:stretch>
        </p:blipFill>
        <p:spPr>
          <a:xfrm>
            <a:off x="7801661" y="1720901"/>
            <a:ext cx="307238" cy="307238"/>
          </a:xfrm>
          <a:prstGeom prst="rect">
            <a:avLst/>
          </a:prstGeom>
        </p:spPr>
      </p:pic>
      <p:sp>
        <p:nvSpPr>
          <p:cNvPr id="14" name="Text 10"/>
          <p:cNvSpPr txBox="1"/>
          <p:nvPr/>
        </p:nvSpPr>
        <p:spPr>
          <a:xfrm>
            <a:off x="8366760" y="1600200"/>
            <a:ext cx="3093415" cy="548640"/>
          </a:xfrm>
          <a:prstGeom prst="rect">
            <a:avLst/>
          </a:prstGeom>
          <a:noFill/>
          <a:ln/>
        </p:spPr>
        <p:txBody>
          <a:bodyPr wrap="square" lIns="0" tIns="0" rIns="0" bIns="0" rtlCol="0" anchor="ctr"/>
          <a:lstStyle/>
          <a:p>
            <a:pPr indent="0" marL="0">
              <a:buNone/>
            </a:pPr>
            <a:r>
              <a:rPr lang="en-US" sz="1600" b="1" dirty="0">
                <a:solidFill>
                  <a:srgbClr val="FFFFFF"/>
                </a:solidFill>
                <a:latin typeface="Roboto" pitchFamily="34" charset="0"/>
                <a:ea typeface="Roboto" pitchFamily="34" charset="-122"/>
                <a:cs typeface="Roboto" pitchFamily="34" charset="-120"/>
              </a:rPr>
              <a:t>L'Àfrica és unes</a:t>
            </a:r>
            <a:endParaRPr lang="en-US" sz="1600" dirty="0"/>
          </a:p>
        </p:txBody>
      </p:sp>
      <p:sp>
        <p:nvSpPr>
          <p:cNvPr id="15" name="Text 11"/>
          <p:cNvSpPr txBox="1"/>
          <p:nvPr/>
        </p:nvSpPr>
        <p:spPr>
          <a:xfrm>
            <a:off x="7680960" y="2286000"/>
            <a:ext cx="3733495" cy="960120"/>
          </a:xfrm>
          <a:prstGeom prst="rect">
            <a:avLst/>
          </a:prstGeom>
          <a:noFill/>
          <a:ln/>
        </p:spPr>
        <p:txBody>
          <a:bodyPr wrap="square" lIns="0" tIns="0" rIns="0" bIns="0" rtlCol="0" anchor="ctr"/>
          <a:lstStyle/>
          <a:p>
            <a:pPr indent="0" marL="0">
              <a:buNone/>
            </a:pPr>
            <a:r>
              <a:rPr lang="en-US" sz="3400" b="1" dirty="0">
                <a:solidFill>
                  <a:srgbClr val="FFFFFF"/>
                </a:solidFill>
                <a:latin typeface="Roboto" pitchFamily="34" charset="0"/>
                <a:ea typeface="Roboto" pitchFamily="34" charset="-122"/>
                <a:cs typeface="Roboto" pitchFamily="34" charset="-120"/>
              </a:rPr>
              <a:t>14 vegades</a:t>
            </a:r>
            <a:endParaRPr lang="en-US" sz="3400" dirty="0"/>
          </a:p>
        </p:txBody>
      </p:sp>
      <p:sp>
        <p:nvSpPr>
          <p:cNvPr id="16" name="Text 12"/>
          <p:cNvSpPr txBox="1"/>
          <p:nvPr/>
        </p:nvSpPr>
        <p:spPr>
          <a:xfrm>
            <a:off x="7680960" y="3291840"/>
            <a:ext cx="3733495" cy="594360"/>
          </a:xfrm>
          <a:prstGeom prst="rect">
            <a:avLst/>
          </a:prstGeom>
          <a:noFill/>
          <a:ln/>
        </p:spPr>
        <p:txBody>
          <a:bodyPr wrap="square" lIns="0" tIns="0" rIns="0" bIns="0" rtlCol="0" anchor="t"/>
          <a:lstStyle/>
          <a:p>
            <a:pPr indent="0" marL="0">
              <a:buNone/>
            </a:pPr>
            <a:r>
              <a:rPr lang="en-US" sz="1700" dirty="0">
                <a:solidFill>
                  <a:srgbClr val="FFFFFF"/>
                </a:solidFill>
                <a:latin typeface="Roboto" pitchFamily="34" charset="0"/>
                <a:ea typeface="Roboto" pitchFamily="34" charset="-122"/>
                <a:cs typeface="Roboto" pitchFamily="34" charset="-120"/>
              </a:rPr>
              <a:t>més gran que Groenlàndia.</a:t>
            </a:r>
            <a:endParaRPr lang="en-US" sz="1700" dirty="0"/>
          </a:p>
        </p:txBody>
      </p:sp>
      <p:sp>
        <p:nvSpPr>
          <p:cNvPr id="17" name="El problema"/>
          <p:cNvSpPr/>
          <p:nvPr/>
        </p:nvSpPr>
        <p:spPr>
          <a:xfrm>
            <a:off x="7452360" y="4206240"/>
            <a:ext cx="4190695" cy="1783080"/>
          </a:xfrm>
          <a:prstGeom prst="roundRect">
            <a:avLst>
              <a:gd name="adj" fmla="val 5641"/>
            </a:avLst>
          </a:prstGeom>
          <a:solidFill>
            <a:srgbClr val="F6F8FB"/>
          </a:solidFill>
          <a:ln/>
        </p:spPr>
      </p:sp>
      <p:sp>
        <p:nvSpPr>
          <p:cNvPr id="18" name="Text 14"/>
          <p:cNvSpPr txBox="1"/>
          <p:nvPr/>
        </p:nvSpPr>
        <p:spPr>
          <a:xfrm>
            <a:off x="7772400" y="4361688"/>
            <a:ext cx="3550615" cy="320040"/>
          </a:xfrm>
          <a:prstGeom prst="rect">
            <a:avLst/>
          </a:prstGeom>
          <a:noFill/>
          <a:ln/>
        </p:spPr>
        <p:txBody>
          <a:bodyPr wrap="square" lIns="0" tIns="0" rIns="0" bIns="0" rtlCol="0" anchor="t"/>
          <a:lstStyle/>
          <a:p>
            <a:pPr indent="0" marL="0">
              <a:buNone/>
            </a:pPr>
            <a:r>
              <a:rPr lang="en-US" sz="1400" b="1" dirty="0">
                <a:solidFill>
                  <a:srgbClr val="202124"/>
                </a:solidFill>
                <a:latin typeface="Roboto" pitchFamily="34" charset="0"/>
                <a:ea typeface="Roboto" pitchFamily="34" charset="-122"/>
                <a:cs typeface="Roboto" pitchFamily="34" charset="-120"/>
              </a:rPr>
              <a:t>El problema</a:t>
            </a:r>
            <a:endParaRPr lang="en-US" sz="1400" dirty="0"/>
          </a:p>
        </p:txBody>
      </p:sp>
      <p:sp>
        <p:nvSpPr>
          <p:cNvPr id="19" name="Text 15"/>
          <p:cNvSpPr txBox="1"/>
          <p:nvPr/>
        </p:nvSpPr>
        <p:spPr>
          <a:xfrm>
            <a:off x="7772400" y="4709160"/>
            <a:ext cx="3550615" cy="1143000"/>
          </a:xfrm>
          <a:prstGeom prst="rect">
            <a:avLst/>
          </a:prstGeom>
          <a:noFill/>
          <a:ln/>
        </p:spPr>
        <p:txBody>
          <a:bodyPr wrap="square" lIns="0" tIns="0" rIns="0" bIns="0" rtlCol="0" anchor="t"/>
          <a:lstStyle/>
          <a:p>
            <a:pPr indent="0" marL="0">
              <a:buNone/>
            </a:pPr>
            <a:r>
              <a:rPr lang="en-US" sz="1600" dirty="0">
                <a:solidFill>
                  <a:srgbClr val="5F6368"/>
                </a:solidFill>
                <a:latin typeface="Roboto" pitchFamily="34" charset="0"/>
                <a:ea typeface="Roboto" pitchFamily="34" charset="-122"/>
                <a:cs typeface="Roboto" pitchFamily="34" charset="-120"/>
              </a:rPr>
              <a:t>Amplia molt les terres properes als pols, tant al nord com al sud. Per això Groenlàndia hi sembla tan gran com l'Àfrica.</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3</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Cap projecció és perfecta</a:t>
            </a:r>
            <a:endParaRPr lang="en-US" sz="2800" dirty="0"/>
          </a:p>
        </p:txBody>
      </p:sp>
      <p:sp>
        <p:nvSpPr>
          <p:cNvPr id="5" name="Targeta Mercator · 1569"/>
          <p:cNvSpPr/>
          <p:nvPr/>
        </p:nvSpPr>
        <p:spPr>
          <a:xfrm>
            <a:off x="548640" y="1371600"/>
            <a:ext cx="3515258" cy="3017520"/>
          </a:xfrm>
          <a:prstGeom prst="roundRect">
            <a:avLst>
              <a:gd name="adj" fmla="val 3333"/>
            </a:avLst>
          </a:prstGeom>
          <a:solidFill>
            <a:srgbClr val="FFFFFF"/>
          </a:solidFill>
          <a:ln w="12700">
            <a:solidFill>
              <a:srgbClr val="DADCE0"/>
            </a:solidFill>
            <a:prstDash val="solid"/>
          </a:ln>
        </p:spPr>
      </p:sp>
      <p:sp>
        <p:nvSpPr>
          <p:cNvPr id="6" name="Cercle icona"/>
          <p:cNvSpPr/>
          <p:nvPr/>
        </p:nvSpPr>
        <p:spPr>
          <a:xfrm>
            <a:off x="777240" y="1600200"/>
            <a:ext cx="640080" cy="640080"/>
          </a:xfrm>
          <a:prstGeom prst="ellipse">
            <a:avLst/>
          </a:prstGeom>
          <a:solidFill>
            <a:srgbClr val="E6F4EA"/>
          </a:solidFill>
          <a:ln/>
        </p:spPr>
      </p:sp>
      <p:pic>
        <p:nvPicPr>
          <p:cNvPr id="7" name="Icona TbCompass" descr="/home/claude/p857/build/img/ic/TbCompass-g.png">    </p:cNvPr>
          <p:cNvPicPr>
            <a:picLocks noChangeAspect="1"/>
          </p:cNvPicPr>
          <p:nvPr/>
        </p:nvPicPr>
        <p:blipFill>
          <a:blip r:embed="rId1"/>
          <a:stretch>
            <a:fillRect/>
          </a:stretch>
        </p:blipFill>
        <p:spPr>
          <a:xfrm>
            <a:off x="918058" y="1741018"/>
            <a:ext cx="358445" cy="358445"/>
          </a:xfrm>
          <a:prstGeom prst="rect">
            <a:avLst/>
          </a:prstGeom>
        </p:spPr>
      </p:pic>
      <p:sp>
        <p:nvSpPr>
          <p:cNvPr id="8" name="Text 5"/>
          <p:cNvSpPr txBox="1"/>
          <p:nvPr/>
        </p:nvSpPr>
        <p:spPr>
          <a:xfrm>
            <a:off x="1554480" y="1600200"/>
            <a:ext cx="2280818" cy="640080"/>
          </a:xfrm>
          <a:prstGeom prst="rect">
            <a:avLst/>
          </a:prstGeom>
          <a:noFill/>
          <a:ln/>
        </p:spPr>
        <p:txBody>
          <a:bodyPr wrap="square" lIns="0" tIns="0" rIns="0" bIns="0" rtlCol="0" anchor="ctr"/>
          <a:lstStyle/>
          <a:p>
            <a:pPr indent="0" marL="0">
              <a:buNone/>
            </a:pPr>
            <a:r>
              <a:rPr lang="en-US" sz="2000" b="1" dirty="0">
                <a:solidFill>
                  <a:srgbClr val="188038"/>
                </a:solidFill>
                <a:latin typeface="Roboto" pitchFamily="34" charset="0"/>
                <a:ea typeface="Roboto" pitchFamily="34" charset="-122"/>
                <a:cs typeface="Roboto" pitchFamily="34" charset="-120"/>
              </a:rPr>
              <a:t>Mercator · 1569</a:t>
            </a:r>
            <a:endParaRPr lang="en-US" sz="2000" dirty="0"/>
          </a:p>
        </p:txBody>
      </p:sp>
      <p:sp>
        <p:nvSpPr>
          <p:cNvPr id="9" name="Text 6"/>
          <p:cNvSpPr txBox="1"/>
          <p:nvPr/>
        </p:nvSpPr>
        <p:spPr>
          <a:xfrm>
            <a:off x="777240" y="2377440"/>
            <a:ext cx="3058058" cy="1874520"/>
          </a:xfrm>
          <a:prstGeom prst="rect">
            <a:avLst/>
          </a:prstGeom>
          <a:noFill/>
          <a:ln/>
        </p:spPr>
        <p:txBody>
          <a:bodyPr wrap="square" lIns="0" tIns="0" rIns="0" bIns="0" rtlCol="0" anchor="t"/>
          <a:lstStyle/>
          <a:p>
            <a:pPr indent="0" marL="0">
              <a:buNone/>
            </a:pPr>
            <a:r>
              <a:rPr lang="en-US" sz="1800" dirty="0">
                <a:solidFill>
                  <a:srgbClr val="202124"/>
                </a:solidFill>
                <a:latin typeface="Roboto" pitchFamily="34" charset="0"/>
                <a:ea typeface="Roboto" pitchFamily="34" charset="-122"/>
                <a:cs typeface="Roboto" pitchFamily="34" charset="-120"/>
              </a:rPr>
              <a:t>Per navegar. Amplia molt les terres properes als pols.</a:t>
            </a:r>
            <a:endParaRPr lang="en-US" sz="1800" dirty="0"/>
          </a:p>
        </p:txBody>
      </p:sp>
      <p:sp>
        <p:nvSpPr>
          <p:cNvPr id="10" name="Targeta Peters · 1973"/>
          <p:cNvSpPr/>
          <p:nvPr/>
        </p:nvSpPr>
        <p:spPr>
          <a:xfrm>
            <a:off x="4338218" y="1371600"/>
            <a:ext cx="3515258" cy="3017520"/>
          </a:xfrm>
          <a:prstGeom prst="roundRect">
            <a:avLst>
              <a:gd name="adj" fmla="val 3333"/>
            </a:avLst>
          </a:prstGeom>
          <a:solidFill>
            <a:srgbClr val="FFFFFF"/>
          </a:solidFill>
          <a:ln w="12700">
            <a:solidFill>
              <a:srgbClr val="DADCE0"/>
            </a:solidFill>
            <a:prstDash val="solid"/>
          </a:ln>
        </p:spPr>
      </p:sp>
      <p:sp>
        <p:nvSpPr>
          <p:cNvPr id="11" name="Cercle icona"/>
          <p:cNvSpPr/>
          <p:nvPr/>
        </p:nvSpPr>
        <p:spPr>
          <a:xfrm>
            <a:off x="4566818" y="1600200"/>
            <a:ext cx="640080" cy="640080"/>
          </a:xfrm>
          <a:prstGeom prst="ellipse">
            <a:avLst/>
          </a:prstGeom>
          <a:solidFill>
            <a:srgbClr val="E6F4EA"/>
          </a:solidFill>
          <a:ln/>
        </p:spPr>
      </p:sp>
      <p:pic>
        <p:nvPicPr>
          <p:cNvPr id="12" name="Icona TbMap" descr="/home/claude/p857/build/img/ic/TbMap-g.png">    </p:cNvPr>
          <p:cNvPicPr>
            <a:picLocks noChangeAspect="1"/>
          </p:cNvPicPr>
          <p:nvPr/>
        </p:nvPicPr>
        <p:blipFill>
          <a:blip r:embed="rId2"/>
          <a:stretch>
            <a:fillRect/>
          </a:stretch>
        </p:blipFill>
        <p:spPr>
          <a:xfrm>
            <a:off x="4707636" y="1741018"/>
            <a:ext cx="358445" cy="358445"/>
          </a:xfrm>
          <a:prstGeom prst="rect">
            <a:avLst/>
          </a:prstGeom>
        </p:spPr>
      </p:pic>
      <p:sp>
        <p:nvSpPr>
          <p:cNvPr id="13" name="Text 9"/>
          <p:cNvSpPr txBox="1"/>
          <p:nvPr/>
        </p:nvSpPr>
        <p:spPr>
          <a:xfrm>
            <a:off x="5344058" y="1600200"/>
            <a:ext cx="2280818" cy="640080"/>
          </a:xfrm>
          <a:prstGeom prst="rect">
            <a:avLst/>
          </a:prstGeom>
          <a:noFill/>
          <a:ln/>
        </p:spPr>
        <p:txBody>
          <a:bodyPr wrap="square" lIns="0" tIns="0" rIns="0" bIns="0" rtlCol="0" anchor="ctr"/>
          <a:lstStyle/>
          <a:p>
            <a:pPr indent="0" marL="0">
              <a:buNone/>
            </a:pPr>
            <a:r>
              <a:rPr lang="en-US" sz="2000" b="1" dirty="0">
                <a:solidFill>
                  <a:srgbClr val="188038"/>
                </a:solidFill>
                <a:latin typeface="Roboto" pitchFamily="34" charset="0"/>
                <a:ea typeface="Roboto" pitchFamily="34" charset="-122"/>
                <a:cs typeface="Roboto" pitchFamily="34" charset="-120"/>
              </a:rPr>
              <a:t>Peters · 1973</a:t>
            </a:r>
            <a:endParaRPr lang="en-US" sz="2000" dirty="0"/>
          </a:p>
        </p:txBody>
      </p:sp>
      <p:sp>
        <p:nvSpPr>
          <p:cNvPr id="14" name="Text 10"/>
          <p:cNvSpPr txBox="1"/>
          <p:nvPr/>
        </p:nvSpPr>
        <p:spPr>
          <a:xfrm>
            <a:off x="4566818" y="2377440"/>
            <a:ext cx="3058058" cy="1874520"/>
          </a:xfrm>
          <a:prstGeom prst="rect">
            <a:avLst/>
          </a:prstGeom>
          <a:noFill/>
          <a:ln/>
        </p:spPr>
        <p:txBody>
          <a:bodyPr wrap="square" lIns="0" tIns="0" rIns="0" bIns="0" rtlCol="0" anchor="t"/>
          <a:lstStyle/>
          <a:p>
            <a:pPr indent="0" marL="0">
              <a:buNone/>
            </a:pPr>
            <a:r>
              <a:rPr lang="en-US" sz="1800" dirty="0">
                <a:solidFill>
                  <a:srgbClr val="202124"/>
                </a:solidFill>
                <a:latin typeface="Roboto" pitchFamily="34" charset="0"/>
                <a:ea typeface="Roboto" pitchFamily="34" charset="-122"/>
                <a:cs typeface="Roboto" pitchFamily="34" charset="-120"/>
              </a:rPr>
              <a:t>Manté la mida real dels continents, però estira molt les terres properes a l'equador.</a:t>
            </a:r>
            <a:endParaRPr lang="en-US" sz="1800" dirty="0"/>
          </a:p>
        </p:txBody>
      </p:sp>
      <p:sp>
        <p:nvSpPr>
          <p:cNvPr id="15" name="Targeta Equal Earth · 2018"/>
          <p:cNvSpPr/>
          <p:nvPr/>
        </p:nvSpPr>
        <p:spPr>
          <a:xfrm>
            <a:off x="8127797" y="1371600"/>
            <a:ext cx="3515258" cy="3017520"/>
          </a:xfrm>
          <a:prstGeom prst="roundRect">
            <a:avLst>
              <a:gd name="adj" fmla="val 3333"/>
            </a:avLst>
          </a:prstGeom>
          <a:solidFill>
            <a:srgbClr val="188038"/>
          </a:solidFill>
          <a:ln/>
        </p:spPr>
      </p:sp>
      <p:sp>
        <p:nvSpPr>
          <p:cNvPr id="16" name="Cercle icona"/>
          <p:cNvSpPr/>
          <p:nvPr/>
        </p:nvSpPr>
        <p:spPr>
          <a:xfrm>
            <a:off x="8356397" y="1600200"/>
            <a:ext cx="640080" cy="640080"/>
          </a:xfrm>
          <a:prstGeom prst="ellipse">
            <a:avLst/>
          </a:prstGeom>
          <a:solidFill>
            <a:srgbClr val="FFFFFF"/>
          </a:solidFill>
          <a:ln/>
        </p:spPr>
      </p:sp>
      <p:pic>
        <p:nvPicPr>
          <p:cNvPr id="17" name="Icona TbWorld" descr="/home/claude/p857/build/img/ic/TbWorld-g.png">    </p:cNvPr>
          <p:cNvPicPr>
            <a:picLocks noChangeAspect="1"/>
          </p:cNvPicPr>
          <p:nvPr/>
        </p:nvPicPr>
        <p:blipFill>
          <a:blip r:embed="rId3"/>
          <a:stretch>
            <a:fillRect/>
          </a:stretch>
        </p:blipFill>
        <p:spPr>
          <a:xfrm>
            <a:off x="8497214" y="1741018"/>
            <a:ext cx="358445" cy="358445"/>
          </a:xfrm>
          <a:prstGeom prst="rect">
            <a:avLst/>
          </a:prstGeom>
        </p:spPr>
      </p:pic>
      <p:sp>
        <p:nvSpPr>
          <p:cNvPr id="18" name="Text 13"/>
          <p:cNvSpPr txBox="1"/>
          <p:nvPr/>
        </p:nvSpPr>
        <p:spPr>
          <a:xfrm>
            <a:off x="9133637" y="1600200"/>
            <a:ext cx="2280818" cy="640080"/>
          </a:xfrm>
          <a:prstGeom prst="rect">
            <a:avLst/>
          </a:prstGeom>
          <a:noFill/>
          <a:ln/>
        </p:spPr>
        <p:txBody>
          <a:bodyPr wrap="square" lIns="0" tIns="0" rIns="0" bIns="0" rtlCol="0" anchor="ctr"/>
          <a:lstStyle/>
          <a:p>
            <a:pPr indent="0" marL="0">
              <a:buNone/>
            </a:pPr>
            <a:r>
              <a:rPr lang="en-US" sz="2000" b="1" dirty="0">
                <a:solidFill>
                  <a:srgbClr val="FFFFFF"/>
                </a:solidFill>
                <a:latin typeface="Roboto" pitchFamily="34" charset="0"/>
                <a:ea typeface="Roboto" pitchFamily="34" charset="-122"/>
                <a:cs typeface="Roboto" pitchFamily="34" charset="-120"/>
              </a:rPr>
              <a:t>Equal Earth · 2018</a:t>
            </a:r>
            <a:endParaRPr lang="en-US" sz="2000" dirty="0"/>
          </a:p>
        </p:txBody>
      </p:sp>
      <p:sp>
        <p:nvSpPr>
          <p:cNvPr id="19" name="Text 14"/>
          <p:cNvSpPr txBox="1"/>
          <p:nvPr/>
        </p:nvSpPr>
        <p:spPr>
          <a:xfrm>
            <a:off x="8356397" y="2377440"/>
            <a:ext cx="3058058" cy="1874520"/>
          </a:xfrm>
          <a:prstGeom prst="rect">
            <a:avLst/>
          </a:prstGeom>
          <a:noFill/>
          <a:ln/>
        </p:spPr>
        <p:txBody>
          <a:bodyPr wrap="square" lIns="0" tIns="0" rIns="0" bIns="0" rtlCol="0" anchor="t"/>
          <a:lstStyle/>
          <a:p>
            <a:pPr indent="0" marL="0">
              <a:buNone/>
            </a:pPr>
            <a:r>
              <a:rPr lang="en-US" sz="1800" dirty="0">
                <a:solidFill>
                  <a:srgbClr val="FFFFFF"/>
                </a:solidFill>
                <a:latin typeface="Roboto" pitchFamily="34" charset="0"/>
                <a:ea typeface="Roboto" pitchFamily="34" charset="-122"/>
                <a:cs typeface="Roboto" pitchFamily="34" charset="-120"/>
              </a:rPr>
              <a:t>Manté la mida real dels continents i en deforma menys la forma.</a:t>
            </a:r>
            <a:endParaRPr lang="en-US" sz="1800" dirty="0"/>
          </a:p>
        </p:txBody>
      </p:sp>
      <p:sp>
        <p:nvSpPr>
          <p:cNvPr id="20" name="Cap projecció és perfecta"/>
          <p:cNvSpPr/>
          <p:nvPr/>
        </p:nvSpPr>
        <p:spPr>
          <a:xfrm>
            <a:off x="548640" y="4617720"/>
            <a:ext cx="11094415" cy="1371600"/>
          </a:xfrm>
          <a:prstGeom prst="roundRect">
            <a:avLst>
              <a:gd name="adj" fmla="val 7333"/>
            </a:avLst>
          </a:prstGeom>
          <a:solidFill>
            <a:srgbClr val="E6F4EA"/>
          </a:solidFill>
          <a:ln/>
        </p:spPr>
      </p:sp>
      <p:sp>
        <p:nvSpPr>
          <p:cNvPr id="21" name="Text 16"/>
          <p:cNvSpPr txBox="1"/>
          <p:nvPr/>
        </p:nvSpPr>
        <p:spPr>
          <a:xfrm>
            <a:off x="868680" y="4773168"/>
            <a:ext cx="10454335" cy="320040"/>
          </a:xfrm>
          <a:prstGeom prst="rect">
            <a:avLst/>
          </a:prstGeom>
          <a:noFill/>
          <a:ln/>
        </p:spPr>
        <p:txBody>
          <a:bodyPr wrap="square" lIns="0" tIns="0" rIns="0" bIns="0" rtlCol="0" anchor="t"/>
          <a:lstStyle/>
          <a:p>
            <a:pPr indent="0" marL="0">
              <a:buNone/>
            </a:pPr>
            <a:r>
              <a:rPr lang="en-US" sz="1400" b="1" dirty="0">
                <a:solidFill>
                  <a:srgbClr val="188038"/>
                </a:solidFill>
                <a:latin typeface="Roboto" pitchFamily="34" charset="0"/>
                <a:ea typeface="Roboto" pitchFamily="34" charset="-122"/>
                <a:cs typeface="Roboto" pitchFamily="34" charset="-120"/>
              </a:rPr>
              <a:t>Cap projecció és perfecta</a:t>
            </a:r>
            <a:endParaRPr lang="en-US" sz="1400" dirty="0"/>
          </a:p>
        </p:txBody>
      </p:sp>
      <p:sp>
        <p:nvSpPr>
          <p:cNvPr id="22" name="Text 17"/>
          <p:cNvSpPr txBox="1"/>
          <p:nvPr/>
        </p:nvSpPr>
        <p:spPr>
          <a:xfrm>
            <a:off x="868680" y="5120640"/>
            <a:ext cx="10454335" cy="731520"/>
          </a:xfrm>
          <a:prstGeom prst="rect">
            <a:avLst/>
          </a:prstGeom>
          <a:noFill/>
          <a:ln/>
        </p:spPr>
        <p:txBody>
          <a:bodyPr wrap="square" lIns="0" tIns="0" rIns="0" bIns="0" rtlCol="0" anchor="t"/>
          <a:lstStyle/>
          <a:p>
            <a:pPr indent="0" marL="0">
              <a:buNone/>
            </a:pPr>
            <a:r>
              <a:rPr lang="en-US" sz="2000" dirty="0">
                <a:solidFill>
                  <a:srgbClr val="202124"/>
                </a:solidFill>
                <a:latin typeface="Roboto" pitchFamily="34" charset="0"/>
                <a:ea typeface="Roboto" pitchFamily="34" charset="-122"/>
                <a:cs typeface="Roboto" pitchFamily="34" charset="-120"/>
              </a:rPr>
              <a:t>Cal triar-la segons per a què ha de servir el mapa.</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3</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Mapes d'avui. Ortofoto i mapa topogràfic</a:t>
            </a:r>
            <a:endParaRPr lang="en-US" sz="2800" dirty="0"/>
          </a:p>
        </p:txBody>
      </p:sp>
      <p:sp>
        <p:nvSpPr>
          <p:cNvPr id="5" name="Text 3"/>
          <p:cNvSpPr txBox="1"/>
          <p:nvPr/>
        </p:nvSpPr>
        <p:spPr>
          <a:xfrm>
            <a:off x="548640" y="1371600"/>
            <a:ext cx="11094415" cy="594360"/>
          </a:xfrm>
          <a:prstGeom prst="rect">
            <a:avLst/>
          </a:prstGeom>
          <a:noFill/>
          <a:ln/>
        </p:spPr>
        <p:txBody>
          <a:bodyPr wrap="square" lIns="0" tIns="0" rIns="0" bIns="0" rtlCol="0" anchor="t"/>
          <a:lstStyle/>
          <a:p>
            <a:pPr indent="0" marL="0">
              <a:buNone/>
            </a:pPr>
            <a:r>
              <a:rPr lang="en-US" sz="1800" dirty="0">
                <a:solidFill>
                  <a:srgbClr val="202124"/>
                </a:solidFill>
                <a:latin typeface="Roboto" pitchFamily="34" charset="0"/>
                <a:ea typeface="Roboto" pitchFamily="34" charset="-122"/>
                <a:cs typeface="Roboto" pitchFamily="34" charset="-120"/>
              </a:rPr>
              <a:t>Una ortofoto és una fotografia aèria corregida perquè tingui la mateixa escala a tota la imatge, com si fos un mapa. Per això s'hi poden mesurar distàncies.</a:t>
            </a:r>
            <a:endParaRPr lang="en-US" sz="1800" dirty="0"/>
          </a:p>
        </p:txBody>
      </p:sp>
      <p:sp>
        <p:nvSpPr>
          <p:cNvPr id="6" name="Etiqueta Ortofoto"/>
          <p:cNvSpPr/>
          <p:nvPr/>
        </p:nvSpPr>
        <p:spPr>
          <a:xfrm>
            <a:off x="548640" y="2011680"/>
            <a:ext cx="1042416" cy="347472"/>
          </a:xfrm>
          <a:prstGeom prst="roundRect">
            <a:avLst>
              <a:gd name="adj" fmla="val 50000"/>
            </a:avLst>
          </a:prstGeom>
          <a:solidFill>
            <a:srgbClr val="E6F4EA"/>
          </a:solidFill>
          <a:ln/>
        </p:spPr>
      </p:sp>
      <p:sp>
        <p:nvSpPr>
          <p:cNvPr id="7" name="Text 5"/>
          <p:cNvSpPr txBox="1"/>
          <p:nvPr/>
        </p:nvSpPr>
        <p:spPr>
          <a:xfrm>
            <a:off x="548640" y="2011680"/>
            <a:ext cx="1042416" cy="347472"/>
          </a:xfrm>
          <a:prstGeom prst="rect">
            <a:avLst/>
          </a:prstGeom>
          <a:noFill/>
          <a:ln/>
        </p:spPr>
        <p:txBody>
          <a:bodyPr wrap="square" lIns="0" tIns="0" rIns="0" bIns="0" rtlCol="0" anchor="ctr"/>
          <a:lstStyle/>
          <a:p>
            <a:pPr algn="ctr" indent="0" marL="0">
              <a:buNone/>
            </a:pPr>
            <a:r>
              <a:rPr lang="en-US" sz="1400" b="1" dirty="0">
                <a:solidFill>
                  <a:srgbClr val="188038"/>
                </a:solidFill>
                <a:latin typeface="Roboto" pitchFamily="34" charset="0"/>
                <a:ea typeface="Roboto" pitchFamily="34" charset="-122"/>
                <a:cs typeface="Roboto" pitchFamily="34" charset="-120"/>
              </a:rPr>
              <a:t>Ortofoto</a:t>
            </a:r>
            <a:endParaRPr lang="en-US" sz="1400" dirty="0"/>
          </a:p>
        </p:txBody>
      </p:sp>
      <p:sp>
        <p:nvSpPr>
          <p:cNvPr id="8" name="Fons Ortofoto"/>
          <p:cNvSpPr/>
          <p:nvPr/>
        </p:nvSpPr>
        <p:spPr>
          <a:xfrm>
            <a:off x="548640" y="2423160"/>
            <a:ext cx="5387188" cy="2834640"/>
          </a:xfrm>
          <a:prstGeom prst="roundRect">
            <a:avLst>
              <a:gd name="adj" fmla="val 3548"/>
            </a:avLst>
          </a:prstGeom>
          <a:solidFill>
            <a:srgbClr val="F6F8FB"/>
          </a:solidFill>
          <a:ln/>
        </p:spPr>
      </p:sp>
      <p:pic>
        <p:nvPicPr>
          <p:cNvPr id="9" name="Ortofoto" descr="/home/claude/p857/build/img/orto.jpg">    </p:cNvPr>
          <p:cNvPicPr>
            <a:picLocks noChangeAspect="1"/>
          </p:cNvPicPr>
          <p:nvPr/>
        </p:nvPicPr>
        <p:blipFill>
          <a:blip r:embed="rId1"/>
          <a:stretch>
            <a:fillRect/>
          </a:stretch>
        </p:blipFill>
        <p:spPr>
          <a:xfrm>
            <a:off x="1116254" y="2423160"/>
            <a:ext cx="4251960" cy="2834640"/>
          </a:xfrm>
          <a:prstGeom prst="rect">
            <a:avLst/>
          </a:prstGeom>
        </p:spPr>
      </p:pic>
      <p:sp>
        <p:nvSpPr>
          <p:cNvPr id="10" name="Text 7"/>
          <p:cNvSpPr txBox="1"/>
          <p:nvPr/>
        </p:nvSpPr>
        <p:spPr>
          <a:xfrm>
            <a:off x="548640" y="5330952"/>
            <a:ext cx="5387188" cy="457200"/>
          </a:xfrm>
          <a:prstGeom prst="rect">
            <a:avLst/>
          </a:prstGeom>
          <a:noFill/>
          <a:ln/>
        </p:spPr>
        <p:txBody>
          <a:bodyPr wrap="square" lIns="0" tIns="0" rIns="0" bIns="0" rtlCol="0" anchor="t"/>
          <a:lstStyle/>
          <a:p>
            <a:pPr indent="0" marL="0">
              <a:buNone/>
            </a:pPr>
            <a:r>
              <a:rPr lang="en-US" sz="1000" dirty="0">
                <a:solidFill>
                  <a:srgbClr val="5F6368"/>
                </a:solidFill>
                <a:latin typeface="Roboto" pitchFamily="34" charset="0"/>
                <a:ea typeface="Roboto" pitchFamily="34" charset="-122"/>
                <a:cs typeface="Roboto" pitchFamily="34" charset="-120"/>
              </a:rPr>
              <a:t>Montserrat en una ortofoto. Es veuen les roques, els boscos, les carreteres i els edificis del monestir tal com són. ICGC, CC BY 4.0.</a:t>
            </a:r>
            <a:endParaRPr lang="en-US" sz="1000" dirty="0"/>
          </a:p>
        </p:txBody>
      </p:sp>
      <p:sp>
        <p:nvSpPr>
          <p:cNvPr id="11" name="Etiqueta Mapa topogràfic"/>
          <p:cNvSpPr/>
          <p:nvPr/>
        </p:nvSpPr>
        <p:spPr>
          <a:xfrm>
            <a:off x="6255868" y="2011680"/>
            <a:ext cx="1682496" cy="347472"/>
          </a:xfrm>
          <a:prstGeom prst="roundRect">
            <a:avLst>
              <a:gd name="adj" fmla="val 50000"/>
            </a:avLst>
          </a:prstGeom>
          <a:solidFill>
            <a:srgbClr val="E6F4EA"/>
          </a:solidFill>
          <a:ln/>
        </p:spPr>
      </p:sp>
      <p:sp>
        <p:nvSpPr>
          <p:cNvPr id="12" name="Text 9"/>
          <p:cNvSpPr txBox="1"/>
          <p:nvPr/>
        </p:nvSpPr>
        <p:spPr>
          <a:xfrm>
            <a:off x="6255868" y="2011680"/>
            <a:ext cx="1682496" cy="347472"/>
          </a:xfrm>
          <a:prstGeom prst="rect">
            <a:avLst/>
          </a:prstGeom>
          <a:noFill/>
          <a:ln/>
        </p:spPr>
        <p:txBody>
          <a:bodyPr wrap="square" lIns="0" tIns="0" rIns="0" bIns="0" rtlCol="0" anchor="ctr"/>
          <a:lstStyle/>
          <a:p>
            <a:pPr algn="ctr" indent="0" marL="0">
              <a:buNone/>
            </a:pPr>
            <a:r>
              <a:rPr lang="en-US" sz="1400" b="1" dirty="0">
                <a:solidFill>
                  <a:srgbClr val="188038"/>
                </a:solidFill>
                <a:latin typeface="Roboto" pitchFamily="34" charset="0"/>
                <a:ea typeface="Roboto" pitchFamily="34" charset="-122"/>
                <a:cs typeface="Roboto" pitchFamily="34" charset="-120"/>
              </a:rPr>
              <a:t>Mapa topogràfic</a:t>
            </a:r>
            <a:endParaRPr lang="en-US" sz="1400" dirty="0"/>
          </a:p>
        </p:txBody>
      </p:sp>
      <p:sp>
        <p:nvSpPr>
          <p:cNvPr id="13" name="Fons Mapa topogràfic"/>
          <p:cNvSpPr/>
          <p:nvPr/>
        </p:nvSpPr>
        <p:spPr>
          <a:xfrm>
            <a:off x="6255868" y="2423160"/>
            <a:ext cx="5387188" cy="2834640"/>
          </a:xfrm>
          <a:prstGeom prst="roundRect">
            <a:avLst>
              <a:gd name="adj" fmla="val 3548"/>
            </a:avLst>
          </a:prstGeom>
          <a:solidFill>
            <a:srgbClr val="F6F8FB"/>
          </a:solidFill>
          <a:ln/>
        </p:spPr>
      </p:sp>
      <p:pic>
        <p:nvPicPr>
          <p:cNvPr id="14" name="Mapa topogràfic" descr="/home/claude/p857/build/img/topo.jpg">    </p:cNvPr>
          <p:cNvPicPr>
            <a:picLocks noChangeAspect="1"/>
          </p:cNvPicPr>
          <p:nvPr/>
        </p:nvPicPr>
        <p:blipFill>
          <a:blip r:embed="rId2"/>
          <a:stretch>
            <a:fillRect/>
          </a:stretch>
        </p:blipFill>
        <p:spPr>
          <a:xfrm>
            <a:off x="6823481" y="2423160"/>
            <a:ext cx="4251960" cy="2834640"/>
          </a:xfrm>
          <a:prstGeom prst="rect">
            <a:avLst/>
          </a:prstGeom>
        </p:spPr>
      </p:pic>
      <p:sp>
        <p:nvSpPr>
          <p:cNvPr id="15" name="Text 11"/>
          <p:cNvSpPr txBox="1"/>
          <p:nvPr/>
        </p:nvSpPr>
        <p:spPr>
          <a:xfrm>
            <a:off x="6255868" y="5330952"/>
            <a:ext cx="5387188" cy="457200"/>
          </a:xfrm>
          <a:prstGeom prst="rect">
            <a:avLst/>
          </a:prstGeom>
          <a:noFill/>
          <a:ln/>
        </p:spPr>
        <p:txBody>
          <a:bodyPr wrap="square" lIns="0" tIns="0" rIns="0" bIns="0" rtlCol="0" anchor="t"/>
          <a:lstStyle/>
          <a:p>
            <a:pPr indent="0" marL="0">
              <a:buNone/>
            </a:pPr>
            <a:r>
              <a:rPr lang="en-US" sz="1000" dirty="0">
                <a:solidFill>
                  <a:srgbClr val="5F6368"/>
                </a:solidFill>
                <a:latin typeface="Roboto" pitchFamily="34" charset="0"/>
                <a:ea typeface="Roboto" pitchFamily="34" charset="-122"/>
                <a:cs typeface="Roboto" pitchFamily="34" charset="-120"/>
              </a:rPr>
              <a:t>El mateix lloc en un mapa topogràfic, amb corbes de nivell i els noms dels cims, el monestir i els camins. ICGC, CC BY 4.0.</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3</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El GPS</a:t>
            </a:r>
            <a:endParaRPr lang="en-US" sz="2800" dirty="0"/>
          </a:p>
        </p:txBody>
      </p:sp>
      <p:sp>
        <p:nvSpPr>
          <p:cNvPr id="5" name="Targeta Satèl·lits a uns"/>
          <p:cNvSpPr/>
          <p:nvPr/>
        </p:nvSpPr>
        <p:spPr>
          <a:xfrm>
            <a:off x="548640" y="1371600"/>
            <a:ext cx="3515258" cy="2926080"/>
          </a:xfrm>
          <a:prstGeom prst="roundRect">
            <a:avLst>
              <a:gd name="adj" fmla="val 3438"/>
            </a:avLst>
          </a:prstGeom>
          <a:solidFill>
            <a:srgbClr val="FFFFFF"/>
          </a:solidFill>
          <a:ln w="12700">
            <a:solidFill>
              <a:srgbClr val="DADCE0"/>
            </a:solidFill>
            <a:prstDash val="solid"/>
          </a:ln>
        </p:spPr>
      </p:sp>
      <p:sp>
        <p:nvSpPr>
          <p:cNvPr id="6" name="Cercle icona"/>
          <p:cNvSpPr/>
          <p:nvPr/>
        </p:nvSpPr>
        <p:spPr>
          <a:xfrm>
            <a:off x="777240" y="1600200"/>
            <a:ext cx="548640" cy="548640"/>
          </a:xfrm>
          <a:prstGeom prst="ellipse">
            <a:avLst/>
          </a:prstGeom>
          <a:solidFill>
            <a:srgbClr val="E6F4EA"/>
          </a:solidFill>
          <a:ln/>
        </p:spPr>
      </p:sp>
      <p:pic>
        <p:nvPicPr>
          <p:cNvPr id="7" name="Icona TbSatellite" descr="/home/claude/p857/build/img/ic/TbSatellite-g.png">    </p:cNvPr>
          <p:cNvPicPr>
            <a:picLocks noChangeAspect="1"/>
          </p:cNvPicPr>
          <p:nvPr/>
        </p:nvPicPr>
        <p:blipFill>
          <a:blip r:embed="rId1"/>
          <a:stretch>
            <a:fillRect/>
          </a:stretch>
        </p:blipFill>
        <p:spPr>
          <a:xfrm>
            <a:off x="897941" y="1720901"/>
            <a:ext cx="307238" cy="307238"/>
          </a:xfrm>
          <a:prstGeom prst="rect">
            <a:avLst/>
          </a:prstGeom>
        </p:spPr>
      </p:pic>
      <p:sp>
        <p:nvSpPr>
          <p:cNvPr id="8" name="Text 5"/>
          <p:cNvSpPr txBox="1"/>
          <p:nvPr/>
        </p:nvSpPr>
        <p:spPr>
          <a:xfrm>
            <a:off x="1463040" y="1600200"/>
            <a:ext cx="2417978" cy="548640"/>
          </a:xfrm>
          <a:prstGeom prst="rect">
            <a:avLst/>
          </a:prstGeom>
          <a:noFill/>
          <a:ln/>
        </p:spPr>
        <p:txBody>
          <a:bodyPr wrap="square" lIns="0" tIns="0" rIns="0" bIns="0" rtlCol="0" anchor="ctr"/>
          <a:lstStyle/>
          <a:p>
            <a:pPr indent="0" marL="0">
              <a:buNone/>
            </a:pPr>
            <a:r>
              <a:rPr lang="en-US" sz="1600" b="1" dirty="0">
                <a:solidFill>
                  <a:srgbClr val="5F6368"/>
                </a:solidFill>
                <a:latin typeface="Roboto" pitchFamily="34" charset="0"/>
                <a:ea typeface="Roboto" pitchFamily="34" charset="-122"/>
                <a:cs typeface="Roboto" pitchFamily="34" charset="-120"/>
              </a:rPr>
              <a:t>Satèl·lits a uns</a:t>
            </a:r>
            <a:endParaRPr lang="en-US" sz="1600" dirty="0"/>
          </a:p>
        </p:txBody>
      </p:sp>
      <p:sp>
        <p:nvSpPr>
          <p:cNvPr id="9" name="Text 6"/>
          <p:cNvSpPr txBox="1"/>
          <p:nvPr/>
        </p:nvSpPr>
        <p:spPr>
          <a:xfrm>
            <a:off x="777240" y="2286000"/>
            <a:ext cx="3058058" cy="960120"/>
          </a:xfrm>
          <a:prstGeom prst="rect">
            <a:avLst/>
          </a:prstGeom>
          <a:noFill/>
          <a:ln/>
        </p:spPr>
        <p:txBody>
          <a:bodyPr wrap="square" lIns="0" tIns="0" rIns="0" bIns="0" rtlCol="0" anchor="ctr"/>
          <a:lstStyle/>
          <a:p>
            <a:pPr indent="0" marL="0">
              <a:buNone/>
            </a:pPr>
            <a:r>
              <a:rPr lang="en-US" sz="3000" b="1" dirty="0">
                <a:solidFill>
                  <a:srgbClr val="188038"/>
                </a:solidFill>
                <a:latin typeface="Roboto" pitchFamily="34" charset="0"/>
                <a:ea typeface="Roboto" pitchFamily="34" charset="-122"/>
                <a:cs typeface="Roboto" pitchFamily="34" charset="-120"/>
              </a:rPr>
              <a:t>20.000 km</a:t>
            </a:r>
            <a:endParaRPr lang="en-US" sz="3000" dirty="0"/>
          </a:p>
        </p:txBody>
      </p:sp>
      <p:sp>
        <p:nvSpPr>
          <p:cNvPr id="10" name="Text 7"/>
          <p:cNvSpPr txBox="1"/>
          <p:nvPr/>
        </p:nvSpPr>
        <p:spPr>
          <a:xfrm>
            <a:off x="777240" y="3291840"/>
            <a:ext cx="3058058" cy="868680"/>
          </a:xfrm>
          <a:prstGeom prst="rect">
            <a:avLst/>
          </a:prstGeom>
          <a:noFill/>
          <a:ln/>
        </p:spPr>
        <p:txBody>
          <a:bodyPr wrap="square" lIns="0" tIns="0" rIns="0" bIns="0" rtlCol="0" anchor="t"/>
          <a:lstStyle/>
          <a:p>
            <a:pPr indent="0" marL="0">
              <a:buNone/>
            </a:pPr>
            <a:r>
              <a:rPr lang="en-US" sz="1550" dirty="0">
                <a:solidFill>
                  <a:srgbClr val="202124"/>
                </a:solidFill>
                <a:latin typeface="Roboto" pitchFamily="34" charset="0"/>
                <a:ea typeface="Roboto" pitchFamily="34" charset="-122"/>
                <a:cs typeface="Roboto" pitchFamily="34" charset="-120"/>
              </a:rPr>
              <a:t>d'altura. Volten la Terra i envien senyals sense parar.</a:t>
            </a:r>
            <a:endParaRPr lang="en-US" sz="1550" dirty="0"/>
          </a:p>
        </p:txBody>
      </p:sp>
      <p:sp>
        <p:nvSpPr>
          <p:cNvPr id="11" name="Targeta El mòbil necessita"/>
          <p:cNvSpPr/>
          <p:nvPr/>
        </p:nvSpPr>
        <p:spPr>
          <a:xfrm>
            <a:off x="4338218" y="1371600"/>
            <a:ext cx="3515258" cy="2926080"/>
          </a:xfrm>
          <a:prstGeom prst="roundRect">
            <a:avLst>
              <a:gd name="adj" fmla="val 3438"/>
            </a:avLst>
          </a:prstGeom>
          <a:solidFill>
            <a:srgbClr val="188038"/>
          </a:solidFill>
          <a:ln/>
        </p:spPr>
      </p:sp>
      <p:sp>
        <p:nvSpPr>
          <p:cNvPr id="12" name="Cercle icona"/>
          <p:cNvSpPr/>
          <p:nvPr/>
        </p:nvSpPr>
        <p:spPr>
          <a:xfrm>
            <a:off x="4566818" y="1600200"/>
            <a:ext cx="548640" cy="548640"/>
          </a:xfrm>
          <a:prstGeom prst="ellipse">
            <a:avLst/>
          </a:prstGeom>
          <a:solidFill>
            <a:srgbClr val="FFFFFF"/>
          </a:solidFill>
          <a:ln/>
        </p:spPr>
      </p:sp>
      <p:pic>
        <p:nvPicPr>
          <p:cNvPr id="13" name="Icona TbDeviceMobile" descr="/home/claude/p857/build/img/ic/TbDeviceMobile-g.png">    </p:cNvPr>
          <p:cNvPicPr>
            <a:picLocks noChangeAspect="1"/>
          </p:cNvPicPr>
          <p:nvPr/>
        </p:nvPicPr>
        <p:blipFill>
          <a:blip r:embed="rId2"/>
          <a:stretch>
            <a:fillRect/>
          </a:stretch>
        </p:blipFill>
        <p:spPr>
          <a:xfrm>
            <a:off x="4687519" y="1720901"/>
            <a:ext cx="307238" cy="307238"/>
          </a:xfrm>
          <a:prstGeom prst="rect">
            <a:avLst/>
          </a:prstGeom>
        </p:spPr>
      </p:pic>
      <p:sp>
        <p:nvSpPr>
          <p:cNvPr id="14" name="Text 10"/>
          <p:cNvSpPr txBox="1"/>
          <p:nvPr/>
        </p:nvSpPr>
        <p:spPr>
          <a:xfrm>
            <a:off x="5252618" y="1600200"/>
            <a:ext cx="2417978" cy="548640"/>
          </a:xfrm>
          <a:prstGeom prst="rect">
            <a:avLst/>
          </a:prstGeom>
          <a:noFill/>
          <a:ln/>
        </p:spPr>
        <p:txBody>
          <a:bodyPr wrap="square" lIns="0" tIns="0" rIns="0" bIns="0" rtlCol="0" anchor="ctr"/>
          <a:lstStyle/>
          <a:p>
            <a:pPr indent="0" marL="0">
              <a:buNone/>
            </a:pPr>
            <a:r>
              <a:rPr lang="en-US" sz="1600" b="1" dirty="0">
                <a:solidFill>
                  <a:srgbClr val="FFFFFF"/>
                </a:solidFill>
                <a:latin typeface="Roboto" pitchFamily="34" charset="0"/>
                <a:ea typeface="Roboto" pitchFamily="34" charset="-122"/>
                <a:cs typeface="Roboto" pitchFamily="34" charset="-120"/>
              </a:rPr>
              <a:t>El mòbil necessita</a:t>
            </a:r>
            <a:endParaRPr lang="en-US" sz="1600" dirty="0"/>
          </a:p>
        </p:txBody>
      </p:sp>
      <p:sp>
        <p:nvSpPr>
          <p:cNvPr id="15" name="Text 11"/>
          <p:cNvSpPr txBox="1"/>
          <p:nvPr/>
        </p:nvSpPr>
        <p:spPr>
          <a:xfrm>
            <a:off x="4566818" y="2286000"/>
            <a:ext cx="3058058" cy="960120"/>
          </a:xfrm>
          <a:prstGeom prst="rect">
            <a:avLst/>
          </a:prstGeom>
          <a:noFill/>
          <a:ln/>
        </p:spPr>
        <p:txBody>
          <a:bodyPr wrap="square" lIns="0" tIns="0" rIns="0" bIns="0" rtlCol="0" anchor="ctr"/>
          <a:lstStyle/>
          <a:p>
            <a:pPr indent="0" marL="0">
              <a:buNone/>
            </a:pPr>
            <a:r>
              <a:rPr lang="en-US" sz="3000" b="1" dirty="0">
                <a:solidFill>
                  <a:srgbClr val="FFFFFF"/>
                </a:solidFill>
                <a:latin typeface="Roboto" pitchFamily="34" charset="0"/>
                <a:ea typeface="Roboto" pitchFamily="34" charset="-122"/>
                <a:cs typeface="Roboto" pitchFamily="34" charset="-120"/>
              </a:rPr>
              <a:t>Almenys 4</a:t>
            </a:r>
            <a:endParaRPr lang="en-US" sz="3000" dirty="0"/>
          </a:p>
        </p:txBody>
      </p:sp>
      <p:sp>
        <p:nvSpPr>
          <p:cNvPr id="16" name="Text 12"/>
          <p:cNvSpPr txBox="1"/>
          <p:nvPr/>
        </p:nvSpPr>
        <p:spPr>
          <a:xfrm>
            <a:off x="4566818" y="3291840"/>
            <a:ext cx="3058058" cy="868680"/>
          </a:xfrm>
          <a:prstGeom prst="rect">
            <a:avLst/>
          </a:prstGeom>
          <a:noFill/>
          <a:ln/>
        </p:spPr>
        <p:txBody>
          <a:bodyPr wrap="square" lIns="0" tIns="0" rIns="0" bIns="0" rtlCol="0" anchor="t"/>
          <a:lstStyle/>
          <a:p>
            <a:pPr indent="0" marL="0">
              <a:buNone/>
            </a:pPr>
            <a:r>
              <a:rPr lang="en-US" sz="1550" dirty="0">
                <a:solidFill>
                  <a:srgbClr val="FFFFFF"/>
                </a:solidFill>
                <a:latin typeface="Roboto" pitchFamily="34" charset="0"/>
                <a:ea typeface="Roboto" pitchFamily="34" charset="-122"/>
                <a:cs typeface="Roboto" pitchFamily="34" charset="-120"/>
              </a:rPr>
              <a:t>satèl·lits per calcular on ets.</a:t>
            </a:r>
            <a:endParaRPr lang="en-US" sz="1550" dirty="0"/>
          </a:p>
        </p:txBody>
      </p:sp>
      <p:sp>
        <p:nvSpPr>
          <p:cNvPr id="17" name="Targeta El sistema europeu"/>
          <p:cNvSpPr/>
          <p:nvPr/>
        </p:nvSpPr>
        <p:spPr>
          <a:xfrm>
            <a:off x="8127797" y="1371600"/>
            <a:ext cx="3515258" cy="2926080"/>
          </a:xfrm>
          <a:prstGeom prst="roundRect">
            <a:avLst>
              <a:gd name="adj" fmla="val 3438"/>
            </a:avLst>
          </a:prstGeom>
          <a:solidFill>
            <a:srgbClr val="FFFFFF"/>
          </a:solidFill>
          <a:ln w="12700">
            <a:solidFill>
              <a:srgbClr val="DADCE0"/>
            </a:solidFill>
            <a:prstDash val="solid"/>
          </a:ln>
        </p:spPr>
      </p:sp>
      <p:sp>
        <p:nvSpPr>
          <p:cNvPr id="18" name="Cercle icona"/>
          <p:cNvSpPr/>
          <p:nvPr/>
        </p:nvSpPr>
        <p:spPr>
          <a:xfrm>
            <a:off x="8356397" y="1600200"/>
            <a:ext cx="548640" cy="548640"/>
          </a:xfrm>
          <a:prstGeom prst="ellipse">
            <a:avLst/>
          </a:prstGeom>
          <a:solidFill>
            <a:srgbClr val="E6F4EA"/>
          </a:solidFill>
          <a:ln/>
        </p:spPr>
      </p:sp>
      <p:pic>
        <p:nvPicPr>
          <p:cNvPr id="19" name="Icona TbWorld" descr="/home/claude/p857/build/img/ic/TbWorld-g.png">    </p:cNvPr>
          <p:cNvPicPr>
            <a:picLocks noChangeAspect="1"/>
          </p:cNvPicPr>
          <p:nvPr/>
        </p:nvPicPr>
        <p:blipFill>
          <a:blip r:embed="rId3"/>
          <a:stretch>
            <a:fillRect/>
          </a:stretch>
        </p:blipFill>
        <p:spPr>
          <a:xfrm>
            <a:off x="8477098" y="1720901"/>
            <a:ext cx="307238" cy="307238"/>
          </a:xfrm>
          <a:prstGeom prst="rect">
            <a:avLst/>
          </a:prstGeom>
        </p:spPr>
      </p:pic>
      <p:sp>
        <p:nvSpPr>
          <p:cNvPr id="20" name="Text 15"/>
          <p:cNvSpPr txBox="1"/>
          <p:nvPr/>
        </p:nvSpPr>
        <p:spPr>
          <a:xfrm>
            <a:off x="9042197" y="1600200"/>
            <a:ext cx="2417978" cy="548640"/>
          </a:xfrm>
          <a:prstGeom prst="rect">
            <a:avLst/>
          </a:prstGeom>
          <a:noFill/>
          <a:ln/>
        </p:spPr>
        <p:txBody>
          <a:bodyPr wrap="square" lIns="0" tIns="0" rIns="0" bIns="0" rtlCol="0" anchor="ctr"/>
          <a:lstStyle/>
          <a:p>
            <a:pPr indent="0" marL="0">
              <a:buNone/>
            </a:pPr>
            <a:r>
              <a:rPr lang="en-US" sz="1600" b="1" dirty="0">
                <a:solidFill>
                  <a:srgbClr val="5F6368"/>
                </a:solidFill>
                <a:latin typeface="Roboto" pitchFamily="34" charset="0"/>
                <a:ea typeface="Roboto" pitchFamily="34" charset="-122"/>
                <a:cs typeface="Roboto" pitchFamily="34" charset="-120"/>
              </a:rPr>
              <a:t>El sistema europeu</a:t>
            </a:r>
            <a:endParaRPr lang="en-US" sz="1600" dirty="0"/>
          </a:p>
        </p:txBody>
      </p:sp>
      <p:sp>
        <p:nvSpPr>
          <p:cNvPr id="21" name="Text 16"/>
          <p:cNvSpPr txBox="1"/>
          <p:nvPr/>
        </p:nvSpPr>
        <p:spPr>
          <a:xfrm>
            <a:off x="8356397" y="2286000"/>
            <a:ext cx="3058058" cy="960120"/>
          </a:xfrm>
          <a:prstGeom prst="rect">
            <a:avLst/>
          </a:prstGeom>
          <a:noFill/>
          <a:ln/>
        </p:spPr>
        <p:txBody>
          <a:bodyPr wrap="square" lIns="0" tIns="0" rIns="0" bIns="0" rtlCol="0" anchor="ctr"/>
          <a:lstStyle/>
          <a:p>
            <a:pPr indent="0" marL="0">
              <a:buNone/>
            </a:pPr>
            <a:r>
              <a:rPr lang="en-US" sz="3000" b="1" dirty="0">
                <a:solidFill>
                  <a:srgbClr val="188038"/>
                </a:solidFill>
                <a:latin typeface="Roboto" pitchFamily="34" charset="0"/>
                <a:ea typeface="Roboto" pitchFamily="34" charset="-122"/>
                <a:cs typeface="Roboto" pitchFamily="34" charset="-120"/>
              </a:rPr>
              <a:t>Galileo</a:t>
            </a:r>
            <a:endParaRPr lang="en-US" sz="3000" dirty="0"/>
          </a:p>
        </p:txBody>
      </p:sp>
      <p:sp>
        <p:nvSpPr>
          <p:cNvPr id="22" name="Text 17"/>
          <p:cNvSpPr txBox="1"/>
          <p:nvPr/>
        </p:nvSpPr>
        <p:spPr>
          <a:xfrm>
            <a:off x="8356397" y="3291840"/>
            <a:ext cx="3058058" cy="868680"/>
          </a:xfrm>
          <a:prstGeom prst="rect">
            <a:avLst/>
          </a:prstGeom>
          <a:noFill/>
          <a:ln/>
        </p:spPr>
        <p:txBody>
          <a:bodyPr wrap="square" lIns="0" tIns="0" rIns="0" bIns="0" rtlCol="0" anchor="t"/>
          <a:lstStyle/>
          <a:p>
            <a:pPr indent="0" marL="0">
              <a:buNone/>
            </a:pPr>
            <a:r>
              <a:rPr lang="en-US" sz="1550" dirty="0">
                <a:solidFill>
                  <a:srgbClr val="202124"/>
                </a:solidFill>
                <a:latin typeface="Roboto" pitchFamily="34" charset="0"/>
                <a:ea typeface="Roboto" pitchFamily="34" charset="-122"/>
                <a:cs typeface="Roboto" pitchFamily="34" charset="-120"/>
              </a:rPr>
              <a:t>El GPS és dels Estats Units, però n'hi ha d'altres. Molts mòbils en fan servir diversos alhora.</a:t>
            </a:r>
            <a:endParaRPr lang="en-US" sz="1550" dirty="0"/>
          </a:p>
        </p:txBody>
      </p:sp>
      <p:sp>
        <p:nvSpPr>
          <p:cNvPr id="23" name="Saps que…?"/>
          <p:cNvSpPr/>
          <p:nvPr/>
        </p:nvSpPr>
        <p:spPr>
          <a:xfrm>
            <a:off x="548640" y="4526280"/>
            <a:ext cx="11094415" cy="1463040"/>
          </a:xfrm>
          <a:prstGeom prst="roundRect">
            <a:avLst>
              <a:gd name="adj" fmla="val 6875"/>
            </a:avLst>
          </a:prstGeom>
          <a:solidFill>
            <a:srgbClr val="E6F4EA"/>
          </a:solidFill>
          <a:ln/>
        </p:spPr>
      </p:sp>
      <p:sp>
        <p:nvSpPr>
          <p:cNvPr id="24" name="Text 19"/>
          <p:cNvSpPr txBox="1"/>
          <p:nvPr/>
        </p:nvSpPr>
        <p:spPr>
          <a:xfrm>
            <a:off x="868680" y="4681728"/>
            <a:ext cx="10454335" cy="320040"/>
          </a:xfrm>
          <a:prstGeom prst="rect">
            <a:avLst/>
          </a:prstGeom>
          <a:noFill/>
          <a:ln/>
        </p:spPr>
        <p:txBody>
          <a:bodyPr wrap="square" lIns="0" tIns="0" rIns="0" bIns="0" rtlCol="0" anchor="t"/>
          <a:lstStyle/>
          <a:p>
            <a:pPr indent="0" marL="0">
              <a:buNone/>
            </a:pPr>
            <a:r>
              <a:rPr lang="en-US" sz="1400" b="1" dirty="0">
                <a:solidFill>
                  <a:srgbClr val="188038"/>
                </a:solidFill>
                <a:latin typeface="Roboto" pitchFamily="34" charset="0"/>
                <a:ea typeface="Roboto" pitchFamily="34" charset="-122"/>
                <a:cs typeface="Roboto" pitchFamily="34" charset="-120"/>
              </a:rPr>
              <a:t>Saps que…?</a:t>
            </a:r>
            <a:endParaRPr lang="en-US" sz="1400" dirty="0"/>
          </a:p>
        </p:txBody>
      </p:sp>
      <p:sp>
        <p:nvSpPr>
          <p:cNvPr id="25" name="Text 20"/>
          <p:cNvSpPr txBox="1"/>
          <p:nvPr/>
        </p:nvSpPr>
        <p:spPr>
          <a:xfrm>
            <a:off x="868680" y="5029200"/>
            <a:ext cx="10454335" cy="822960"/>
          </a:xfrm>
          <a:prstGeom prst="rect">
            <a:avLst/>
          </a:prstGeom>
          <a:noFill/>
          <a:ln/>
        </p:spPr>
        <p:txBody>
          <a:bodyPr wrap="square" lIns="0" tIns="0" rIns="0" bIns="0" rtlCol="0" anchor="t"/>
          <a:lstStyle/>
          <a:p>
            <a:pPr indent="0" marL="0">
              <a:buNone/>
            </a:pPr>
            <a:r>
              <a:rPr lang="en-US" sz="1600" dirty="0">
                <a:solidFill>
                  <a:srgbClr val="202124"/>
                </a:solidFill>
                <a:latin typeface="Roboto" pitchFamily="34" charset="0"/>
                <a:ea typeface="Roboto" pitchFamily="34" charset="-122"/>
                <a:cs typeface="Roboto" pitchFamily="34" charset="-120"/>
              </a:rPr>
              <a:t>El GPS el va crear l'exèrcit dels Estats Units. Durant uns anys, el senyal que rebia la gent normal s'espatllava expressament perquè fos menys precís. El maig del 2000 el govern va deixar de fer-ho, i el GPS va passar a ser fins a deu vegades més precís per a tothom.</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3</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Els visors de mapes</a:t>
            </a:r>
            <a:endParaRPr lang="en-US" sz="2800" dirty="0"/>
          </a:p>
        </p:txBody>
      </p:sp>
      <p:sp>
        <p:nvSpPr>
          <p:cNvPr id="5" name="Capes"/>
          <p:cNvSpPr/>
          <p:nvPr/>
        </p:nvSpPr>
        <p:spPr>
          <a:xfrm>
            <a:off x="548640" y="1371600"/>
            <a:ext cx="5120640" cy="3246120"/>
          </a:xfrm>
          <a:prstGeom prst="roundRect">
            <a:avLst>
              <a:gd name="adj" fmla="val 3099"/>
            </a:avLst>
          </a:prstGeom>
          <a:solidFill>
            <a:srgbClr val="F6F8FB"/>
          </a:solidFill>
          <a:ln/>
        </p:spPr>
      </p:sp>
      <p:sp>
        <p:nvSpPr>
          <p:cNvPr id="6" name="Capa Noms dels llocs"/>
          <p:cNvSpPr/>
          <p:nvPr/>
        </p:nvSpPr>
        <p:spPr>
          <a:xfrm>
            <a:off x="822960" y="1554480"/>
            <a:ext cx="4242816" cy="621792"/>
          </a:xfrm>
          <a:prstGeom prst="roundRect">
            <a:avLst>
              <a:gd name="adj" fmla="val 16176"/>
            </a:avLst>
          </a:prstGeom>
          <a:solidFill>
            <a:srgbClr val="188038"/>
          </a:solidFill>
          <a:ln w="12700">
            <a:solidFill>
              <a:srgbClr val="188038"/>
            </a:solidFill>
            <a:prstDash val="solid"/>
          </a:ln>
        </p:spPr>
      </p:sp>
      <p:pic>
        <p:nvPicPr>
          <p:cNvPr id="7" name="Icona TbStack2" descr="/home/claude/p857/build/img/ic/TbStack2-w.png">    </p:cNvPr>
          <p:cNvPicPr>
            <a:picLocks noChangeAspect="1"/>
          </p:cNvPicPr>
          <p:nvPr/>
        </p:nvPicPr>
        <p:blipFill>
          <a:blip r:embed="rId1"/>
          <a:stretch>
            <a:fillRect/>
          </a:stretch>
        </p:blipFill>
        <p:spPr>
          <a:xfrm>
            <a:off x="1005840" y="1682496"/>
            <a:ext cx="365760" cy="365760"/>
          </a:xfrm>
          <a:prstGeom prst="rect">
            <a:avLst/>
          </a:prstGeom>
        </p:spPr>
      </p:pic>
      <p:sp>
        <p:nvSpPr>
          <p:cNvPr id="8" name="Text 5"/>
          <p:cNvSpPr txBox="1"/>
          <p:nvPr/>
        </p:nvSpPr>
        <p:spPr>
          <a:xfrm>
            <a:off x="1554480" y="1554480"/>
            <a:ext cx="2560320" cy="621792"/>
          </a:xfrm>
          <a:prstGeom prst="rect">
            <a:avLst/>
          </a:prstGeom>
          <a:noFill/>
          <a:ln/>
        </p:spPr>
        <p:txBody>
          <a:bodyPr wrap="square" lIns="0" tIns="0" rIns="0" bIns="0" rtlCol="0" anchor="ctr"/>
          <a:lstStyle/>
          <a:p>
            <a:pPr indent="0" marL="0">
              <a:buNone/>
            </a:pPr>
            <a:r>
              <a:rPr lang="en-US" sz="1700" b="1" dirty="0">
                <a:solidFill>
                  <a:srgbClr val="FFFFFF"/>
                </a:solidFill>
                <a:latin typeface="Roboto" pitchFamily="34" charset="0"/>
                <a:ea typeface="Roboto" pitchFamily="34" charset="-122"/>
                <a:cs typeface="Roboto" pitchFamily="34" charset="-120"/>
              </a:rPr>
              <a:t>Noms dels llocs</a:t>
            </a:r>
            <a:endParaRPr lang="en-US" sz="1700" dirty="0"/>
          </a:p>
        </p:txBody>
      </p:sp>
      <p:pic>
        <p:nvPicPr>
          <p:cNvPr id="9" name="Icona TbEye" descr="/home/claude/p857/build/img/ic/TbEye-w.png">    </p:cNvPr>
          <p:cNvPicPr>
            <a:picLocks noChangeAspect="1"/>
          </p:cNvPicPr>
          <p:nvPr/>
        </p:nvPicPr>
        <p:blipFill>
          <a:blip r:embed="rId2"/>
          <a:stretch>
            <a:fillRect/>
          </a:stretch>
        </p:blipFill>
        <p:spPr>
          <a:xfrm>
            <a:off x="4379976" y="1682496"/>
            <a:ext cx="365760" cy="365760"/>
          </a:xfrm>
          <a:prstGeom prst="rect">
            <a:avLst/>
          </a:prstGeom>
        </p:spPr>
      </p:pic>
      <p:sp>
        <p:nvSpPr>
          <p:cNvPr id="10" name="Capa Carrers"/>
          <p:cNvSpPr/>
          <p:nvPr/>
        </p:nvSpPr>
        <p:spPr>
          <a:xfrm>
            <a:off x="932688" y="2267712"/>
            <a:ext cx="4242816" cy="621792"/>
          </a:xfrm>
          <a:prstGeom prst="roundRect">
            <a:avLst>
              <a:gd name="adj" fmla="val 16176"/>
            </a:avLst>
          </a:prstGeom>
          <a:solidFill>
            <a:srgbClr val="FFFFFF"/>
          </a:solidFill>
          <a:ln w="12700">
            <a:solidFill>
              <a:srgbClr val="DADCE0"/>
            </a:solidFill>
            <a:prstDash val="solid"/>
          </a:ln>
        </p:spPr>
      </p:sp>
      <p:pic>
        <p:nvPicPr>
          <p:cNvPr id="11" name="Icona TbStack2" descr="/home/claude/p857/build/img/ic/TbStack2-k.png">    </p:cNvPr>
          <p:cNvPicPr>
            <a:picLocks noChangeAspect="1"/>
          </p:cNvPicPr>
          <p:nvPr/>
        </p:nvPicPr>
        <p:blipFill>
          <a:blip r:embed="rId3"/>
          <a:stretch>
            <a:fillRect/>
          </a:stretch>
        </p:blipFill>
        <p:spPr>
          <a:xfrm>
            <a:off x="1115568" y="2395728"/>
            <a:ext cx="365760" cy="365760"/>
          </a:xfrm>
          <a:prstGeom prst="rect">
            <a:avLst/>
          </a:prstGeom>
        </p:spPr>
      </p:pic>
      <p:sp>
        <p:nvSpPr>
          <p:cNvPr id="12" name="Text 7"/>
          <p:cNvSpPr txBox="1"/>
          <p:nvPr/>
        </p:nvSpPr>
        <p:spPr>
          <a:xfrm>
            <a:off x="1664208" y="2267712"/>
            <a:ext cx="2560320" cy="621792"/>
          </a:xfrm>
          <a:prstGeom prst="rect">
            <a:avLst/>
          </a:prstGeom>
          <a:noFill/>
          <a:ln/>
        </p:spPr>
        <p:txBody>
          <a:bodyPr wrap="square" lIns="0" tIns="0" rIns="0" bIns="0" rtlCol="0" anchor="ctr"/>
          <a:lstStyle/>
          <a:p>
            <a:pPr indent="0" marL="0">
              <a:buNone/>
            </a:pPr>
            <a:r>
              <a:rPr lang="en-US" sz="1700" b="1" dirty="0">
                <a:solidFill>
                  <a:srgbClr val="5F6368"/>
                </a:solidFill>
                <a:latin typeface="Roboto" pitchFamily="34" charset="0"/>
                <a:ea typeface="Roboto" pitchFamily="34" charset="-122"/>
                <a:cs typeface="Roboto" pitchFamily="34" charset="-120"/>
              </a:rPr>
              <a:t>Carrers</a:t>
            </a:r>
            <a:endParaRPr lang="en-US" sz="1700" dirty="0"/>
          </a:p>
        </p:txBody>
      </p:sp>
      <p:pic>
        <p:nvPicPr>
          <p:cNvPr id="13" name="Icona TbEyeOff" descr="/home/claude/p857/build/img/ic/TbEyeOff-k.png">    </p:cNvPr>
          <p:cNvPicPr>
            <a:picLocks noChangeAspect="1"/>
          </p:cNvPicPr>
          <p:nvPr/>
        </p:nvPicPr>
        <p:blipFill>
          <a:blip r:embed="rId4"/>
          <a:stretch>
            <a:fillRect/>
          </a:stretch>
        </p:blipFill>
        <p:spPr>
          <a:xfrm>
            <a:off x="4489704" y="2395728"/>
            <a:ext cx="365760" cy="365760"/>
          </a:xfrm>
          <a:prstGeom prst="rect">
            <a:avLst/>
          </a:prstGeom>
        </p:spPr>
      </p:pic>
      <p:sp>
        <p:nvSpPr>
          <p:cNvPr id="14" name="Capa Mapa topogràfic"/>
          <p:cNvSpPr/>
          <p:nvPr/>
        </p:nvSpPr>
        <p:spPr>
          <a:xfrm>
            <a:off x="1042416" y="2980944"/>
            <a:ext cx="4242816" cy="621792"/>
          </a:xfrm>
          <a:prstGeom prst="roundRect">
            <a:avLst>
              <a:gd name="adj" fmla="val 16176"/>
            </a:avLst>
          </a:prstGeom>
          <a:solidFill>
            <a:srgbClr val="FFFFFF"/>
          </a:solidFill>
          <a:ln w="12700">
            <a:solidFill>
              <a:srgbClr val="DADCE0"/>
            </a:solidFill>
            <a:prstDash val="solid"/>
          </a:ln>
        </p:spPr>
      </p:sp>
      <p:pic>
        <p:nvPicPr>
          <p:cNvPr id="15" name="Icona TbStack2" descr="/home/claude/p857/build/img/ic/TbStack2-k.png">    </p:cNvPr>
          <p:cNvPicPr>
            <a:picLocks noChangeAspect="1"/>
          </p:cNvPicPr>
          <p:nvPr/>
        </p:nvPicPr>
        <p:blipFill>
          <a:blip r:embed="rId5"/>
          <a:stretch>
            <a:fillRect/>
          </a:stretch>
        </p:blipFill>
        <p:spPr>
          <a:xfrm>
            <a:off x="1225296" y="3108960"/>
            <a:ext cx="365760" cy="365760"/>
          </a:xfrm>
          <a:prstGeom prst="rect">
            <a:avLst/>
          </a:prstGeom>
        </p:spPr>
      </p:pic>
      <p:sp>
        <p:nvSpPr>
          <p:cNvPr id="16" name="Text 9"/>
          <p:cNvSpPr txBox="1"/>
          <p:nvPr/>
        </p:nvSpPr>
        <p:spPr>
          <a:xfrm>
            <a:off x="1773936" y="2980944"/>
            <a:ext cx="2560320" cy="621792"/>
          </a:xfrm>
          <a:prstGeom prst="rect">
            <a:avLst/>
          </a:prstGeom>
          <a:noFill/>
          <a:ln/>
        </p:spPr>
        <p:txBody>
          <a:bodyPr wrap="square" lIns="0" tIns="0" rIns="0" bIns="0" rtlCol="0" anchor="ctr"/>
          <a:lstStyle/>
          <a:p>
            <a:pPr indent="0" marL="0">
              <a:buNone/>
            </a:pPr>
            <a:r>
              <a:rPr lang="en-US" sz="1700" b="1" dirty="0">
                <a:solidFill>
                  <a:srgbClr val="5F6368"/>
                </a:solidFill>
                <a:latin typeface="Roboto" pitchFamily="34" charset="0"/>
                <a:ea typeface="Roboto" pitchFamily="34" charset="-122"/>
                <a:cs typeface="Roboto" pitchFamily="34" charset="-120"/>
              </a:rPr>
              <a:t>Mapa topogràfic</a:t>
            </a:r>
            <a:endParaRPr lang="en-US" sz="1700" dirty="0"/>
          </a:p>
        </p:txBody>
      </p:sp>
      <p:pic>
        <p:nvPicPr>
          <p:cNvPr id="17" name="Icona TbEyeOff" descr="/home/claude/p857/build/img/ic/TbEyeOff-k.png">    </p:cNvPr>
          <p:cNvPicPr>
            <a:picLocks noChangeAspect="1"/>
          </p:cNvPicPr>
          <p:nvPr/>
        </p:nvPicPr>
        <p:blipFill>
          <a:blip r:embed="rId6"/>
          <a:stretch>
            <a:fillRect/>
          </a:stretch>
        </p:blipFill>
        <p:spPr>
          <a:xfrm>
            <a:off x="4599432" y="3108960"/>
            <a:ext cx="365760" cy="365760"/>
          </a:xfrm>
          <a:prstGeom prst="rect">
            <a:avLst/>
          </a:prstGeom>
        </p:spPr>
      </p:pic>
      <p:sp>
        <p:nvSpPr>
          <p:cNvPr id="18" name="Capa Ortofoto"/>
          <p:cNvSpPr/>
          <p:nvPr/>
        </p:nvSpPr>
        <p:spPr>
          <a:xfrm>
            <a:off x="1152144" y="3694176"/>
            <a:ext cx="4242816" cy="621792"/>
          </a:xfrm>
          <a:prstGeom prst="roundRect">
            <a:avLst>
              <a:gd name="adj" fmla="val 16176"/>
            </a:avLst>
          </a:prstGeom>
          <a:solidFill>
            <a:srgbClr val="188038"/>
          </a:solidFill>
          <a:ln w="12700">
            <a:solidFill>
              <a:srgbClr val="188038"/>
            </a:solidFill>
            <a:prstDash val="solid"/>
          </a:ln>
        </p:spPr>
      </p:sp>
      <p:pic>
        <p:nvPicPr>
          <p:cNvPr id="19" name="Icona TbStack2" descr="/home/claude/p857/build/img/ic/TbStack2-w.png">    </p:cNvPr>
          <p:cNvPicPr>
            <a:picLocks noChangeAspect="1"/>
          </p:cNvPicPr>
          <p:nvPr/>
        </p:nvPicPr>
        <p:blipFill>
          <a:blip r:embed="rId7"/>
          <a:stretch>
            <a:fillRect/>
          </a:stretch>
        </p:blipFill>
        <p:spPr>
          <a:xfrm>
            <a:off x="1335024" y="3822192"/>
            <a:ext cx="365760" cy="365760"/>
          </a:xfrm>
          <a:prstGeom prst="rect">
            <a:avLst/>
          </a:prstGeom>
        </p:spPr>
      </p:pic>
      <p:sp>
        <p:nvSpPr>
          <p:cNvPr id="20" name="Text 11"/>
          <p:cNvSpPr txBox="1"/>
          <p:nvPr/>
        </p:nvSpPr>
        <p:spPr>
          <a:xfrm>
            <a:off x="1883664" y="3694176"/>
            <a:ext cx="2560320" cy="621792"/>
          </a:xfrm>
          <a:prstGeom prst="rect">
            <a:avLst/>
          </a:prstGeom>
          <a:noFill/>
          <a:ln/>
        </p:spPr>
        <p:txBody>
          <a:bodyPr wrap="square" lIns="0" tIns="0" rIns="0" bIns="0" rtlCol="0" anchor="ctr"/>
          <a:lstStyle/>
          <a:p>
            <a:pPr indent="0" marL="0">
              <a:buNone/>
            </a:pPr>
            <a:r>
              <a:rPr lang="en-US" sz="1700" b="1" dirty="0">
                <a:solidFill>
                  <a:srgbClr val="FFFFFF"/>
                </a:solidFill>
                <a:latin typeface="Roboto" pitchFamily="34" charset="0"/>
                <a:ea typeface="Roboto" pitchFamily="34" charset="-122"/>
                <a:cs typeface="Roboto" pitchFamily="34" charset="-120"/>
              </a:rPr>
              <a:t>Ortofoto</a:t>
            </a:r>
            <a:endParaRPr lang="en-US" sz="1700" dirty="0"/>
          </a:p>
        </p:txBody>
      </p:sp>
      <p:pic>
        <p:nvPicPr>
          <p:cNvPr id="21" name="Icona TbEye" descr="/home/claude/p857/build/img/ic/TbEye-w.png">    </p:cNvPr>
          <p:cNvPicPr>
            <a:picLocks noChangeAspect="1"/>
          </p:cNvPicPr>
          <p:nvPr/>
        </p:nvPicPr>
        <p:blipFill>
          <a:blip r:embed="rId8"/>
          <a:stretch>
            <a:fillRect/>
          </a:stretch>
        </p:blipFill>
        <p:spPr>
          <a:xfrm>
            <a:off x="4709160" y="3822192"/>
            <a:ext cx="365760" cy="365760"/>
          </a:xfrm>
          <a:prstGeom prst="rect">
            <a:avLst/>
          </a:prstGeom>
        </p:spPr>
      </p:pic>
      <p:sp>
        <p:nvSpPr>
          <p:cNvPr id="22" name="Text 12"/>
          <p:cNvSpPr txBox="1"/>
          <p:nvPr/>
        </p:nvSpPr>
        <p:spPr>
          <a:xfrm>
            <a:off x="548640" y="4663440"/>
            <a:ext cx="5120640" cy="274320"/>
          </a:xfrm>
          <a:prstGeom prst="rect">
            <a:avLst/>
          </a:prstGeom>
          <a:noFill/>
          <a:ln/>
        </p:spPr>
        <p:txBody>
          <a:bodyPr wrap="square" lIns="0" tIns="0" rIns="0" bIns="0" rtlCol="0" anchor="t"/>
          <a:lstStyle/>
          <a:p>
            <a:pPr indent="0" marL="0">
              <a:buNone/>
            </a:pPr>
            <a:r>
              <a:rPr lang="en-US" sz="1000" dirty="0">
                <a:solidFill>
                  <a:srgbClr val="5F6368"/>
                </a:solidFill>
                <a:latin typeface="Roboto" pitchFamily="34" charset="0"/>
                <a:ea typeface="Roboto" pitchFamily="34" charset="-122"/>
                <a:cs typeface="Roboto" pitchFamily="34" charset="-120"/>
              </a:rPr>
              <a:t>Les capes d'un visor. Les verdes són enceses. Esquema: professordesocials.cat, CC BY-SA 4.0.</a:t>
            </a:r>
            <a:endParaRPr lang="en-US" sz="1000" dirty="0"/>
          </a:p>
        </p:txBody>
      </p:sp>
      <p:sp>
        <p:nvSpPr>
          <p:cNvPr id="23" name="Text 13"/>
          <p:cNvSpPr txBox="1"/>
          <p:nvPr/>
        </p:nvSpPr>
        <p:spPr>
          <a:xfrm>
            <a:off x="5989320" y="1371600"/>
            <a:ext cx="5653735" cy="777240"/>
          </a:xfrm>
          <a:prstGeom prst="rect">
            <a:avLst/>
          </a:prstGeom>
          <a:noFill/>
          <a:ln/>
        </p:spPr>
        <p:txBody>
          <a:bodyPr wrap="square" lIns="0" tIns="0" rIns="0" bIns="0" rtlCol="0" anchor="t"/>
          <a:lstStyle/>
          <a:p>
            <a:pPr indent="0" marL="0">
              <a:buNone/>
            </a:pPr>
            <a:r>
              <a:rPr lang="en-US" sz="1800" dirty="0">
                <a:solidFill>
                  <a:srgbClr val="202124"/>
                </a:solidFill>
                <a:latin typeface="Roboto" pitchFamily="34" charset="0"/>
                <a:ea typeface="Roboto" pitchFamily="34" charset="-122"/>
                <a:cs typeface="Roboto" pitchFamily="34" charset="-120"/>
              </a:rPr>
              <a:t>Un visor és un mapa a la pantalla, com Google Maps o el VISSIR de l'ICGC.</a:t>
            </a:r>
            <a:endParaRPr lang="en-US" sz="1800" dirty="0"/>
          </a:p>
        </p:txBody>
      </p:sp>
      <p:sp>
        <p:nvSpPr>
          <p:cNvPr id="24" name="Cercle icona"/>
          <p:cNvSpPr/>
          <p:nvPr/>
        </p:nvSpPr>
        <p:spPr>
          <a:xfrm>
            <a:off x="5989320" y="2290572"/>
            <a:ext cx="475488" cy="475488"/>
          </a:xfrm>
          <a:prstGeom prst="ellipse">
            <a:avLst/>
          </a:prstGeom>
          <a:solidFill>
            <a:srgbClr val="E6F4EA"/>
          </a:solidFill>
          <a:ln/>
        </p:spPr>
      </p:sp>
      <p:pic>
        <p:nvPicPr>
          <p:cNvPr id="25" name="Icona TbStack2" descr="/home/claude/p857/build/img/ic/TbStack2-g.png">    </p:cNvPr>
          <p:cNvPicPr>
            <a:picLocks noChangeAspect="1"/>
          </p:cNvPicPr>
          <p:nvPr/>
        </p:nvPicPr>
        <p:blipFill>
          <a:blip r:embed="rId9"/>
          <a:stretch>
            <a:fillRect/>
          </a:stretch>
        </p:blipFill>
        <p:spPr>
          <a:xfrm>
            <a:off x="6093927" y="2395179"/>
            <a:ext cx="266273" cy="266273"/>
          </a:xfrm>
          <a:prstGeom prst="rect">
            <a:avLst/>
          </a:prstGeom>
        </p:spPr>
      </p:pic>
      <p:sp>
        <p:nvSpPr>
          <p:cNvPr id="26" name="Text 15"/>
          <p:cNvSpPr txBox="1"/>
          <p:nvPr/>
        </p:nvSpPr>
        <p:spPr>
          <a:xfrm>
            <a:off x="6665976" y="2194560"/>
            <a:ext cx="4977079" cy="777240"/>
          </a:xfrm>
          <a:prstGeom prst="rect">
            <a:avLst/>
          </a:prstGeom>
          <a:noFill/>
          <a:ln/>
        </p:spPr>
        <p:txBody>
          <a:bodyPr wrap="square" lIns="0" tIns="0" rIns="0" bIns="0" rtlCol="0" anchor="ctr"/>
          <a:lstStyle/>
          <a:p>
            <a:pPr indent="0" marL="0">
              <a:buNone/>
            </a:pPr>
            <a:r>
              <a:rPr lang="en-US" sz="1700" b="1" dirty="0">
                <a:solidFill>
                  <a:srgbClr val="202124"/>
                </a:solidFill>
                <a:latin typeface="Roboto" pitchFamily="34" charset="0"/>
                <a:ea typeface="Roboto" pitchFamily="34" charset="-122"/>
                <a:cs typeface="Roboto" pitchFamily="34" charset="-120"/>
              </a:rPr>
              <a:t>Funciona per capes </a:t>
            </a:r>
            <a:pPr indent="0" marL="0">
              <a:buNone/>
            </a:pPr>
            <a:r>
              <a:rPr lang="en-US" sz="1700" dirty="0">
                <a:solidFill>
                  <a:srgbClr val="202124"/>
                </a:solidFill>
                <a:latin typeface="Roboto" pitchFamily="34" charset="0"/>
                <a:ea typeface="Roboto" pitchFamily="34" charset="-122"/>
                <a:cs typeface="Roboto" pitchFamily="34" charset="-120"/>
              </a:rPr>
              <a:t>que pots encendre o apagar.</a:t>
            </a:r>
            <a:endParaRPr lang="en-US" sz="1700" dirty="0"/>
          </a:p>
        </p:txBody>
      </p:sp>
      <p:sp>
        <p:nvSpPr>
          <p:cNvPr id="27" name="Cercle icona"/>
          <p:cNvSpPr/>
          <p:nvPr/>
        </p:nvSpPr>
        <p:spPr>
          <a:xfrm>
            <a:off x="5989320" y="3159252"/>
            <a:ext cx="475488" cy="475488"/>
          </a:xfrm>
          <a:prstGeom prst="ellipse">
            <a:avLst/>
          </a:prstGeom>
          <a:solidFill>
            <a:srgbClr val="E6F4EA"/>
          </a:solidFill>
          <a:ln/>
        </p:spPr>
      </p:sp>
      <p:pic>
        <p:nvPicPr>
          <p:cNvPr id="28" name="Icona TbRuler" descr="/home/claude/p857/build/img/ic/TbRuler-g.png">    </p:cNvPr>
          <p:cNvPicPr>
            <a:picLocks noChangeAspect="1"/>
          </p:cNvPicPr>
          <p:nvPr/>
        </p:nvPicPr>
        <p:blipFill>
          <a:blip r:embed="rId10"/>
          <a:stretch>
            <a:fillRect/>
          </a:stretch>
        </p:blipFill>
        <p:spPr>
          <a:xfrm>
            <a:off x="6093927" y="3263859"/>
            <a:ext cx="266273" cy="266273"/>
          </a:xfrm>
          <a:prstGeom prst="rect">
            <a:avLst/>
          </a:prstGeom>
        </p:spPr>
      </p:pic>
      <p:sp>
        <p:nvSpPr>
          <p:cNvPr id="29" name="Text 17"/>
          <p:cNvSpPr txBox="1"/>
          <p:nvPr/>
        </p:nvSpPr>
        <p:spPr>
          <a:xfrm>
            <a:off x="6665976" y="3063240"/>
            <a:ext cx="4977079" cy="777240"/>
          </a:xfrm>
          <a:prstGeom prst="rect">
            <a:avLst/>
          </a:prstGeom>
          <a:noFill/>
          <a:ln/>
        </p:spPr>
        <p:txBody>
          <a:bodyPr wrap="square" lIns="0" tIns="0" rIns="0" bIns="0" rtlCol="0" anchor="ctr"/>
          <a:lstStyle/>
          <a:p>
            <a:pPr indent="0" marL="0">
              <a:buNone/>
            </a:pPr>
            <a:r>
              <a:rPr lang="en-US" sz="1700" b="1" dirty="0">
                <a:solidFill>
                  <a:srgbClr val="202124"/>
                </a:solidFill>
                <a:latin typeface="Roboto" pitchFamily="34" charset="0"/>
                <a:ea typeface="Roboto" pitchFamily="34" charset="-122"/>
                <a:cs typeface="Roboto" pitchFamily="34" charset="-120"/>
              </a:rPr>
              <a:t>Pots mesurar </a:t>
            </a:r>
            <a:pPr indent="0" marL="0">
              <a:buNone/>
            </a:pPr>
            <a:r>
              <a:rPr lang="en-US" sz="1700" dirty="0">
                <a:solidFill>
                  <a:srgbClr val="202124"/>
                </a:solidFill>
                <a:latin typeface="Roboto" pitchFamily="34" charset="0"/>
                <a:ea typeface="Roboto" pitchFamily="34" charset="-122"/>
                <a:cs typeface="Roboto" pitchFamily="34" charset="-120"/>
              </a:rPr>
              <a:t>distàncies.</a:t>
            </a:r>
            <a:endParaRPr lang="en-US" sz="1700" dirty="0"/>
          </a:p>
        </p:txBody>
      </p:sp>
      <p:sp>
        <p:nvSpPr>
          <p:cNvPr id="30" name="Cercle icona"/>
          <p:cNvSpPr/>
          <p:nvPr/>
        </p:nvSpPr>
        <p:spPr>
          <a:xfrm>
            <a:off x="5989320" y="4027932"/>
            <a:ext cx="475488" cy="475488"/>
          </a:xfrm>
          <a:prstGeom prst="ellipse">
            <a:avLst/>
          </a:prstGeom>
          <a:solidFill>
            <a:srgbClr val="E6F4EA"/>
          </a:solidFill>
          <a:ln/>
        </p:spPr>
      </p:sp>
      <p:pic>
        <p:nvPicPr>
          <p:cNvPr id="31" name="Icona TbMapPin" descr="/home/claude/p857/build/img/ic/TbMapPin-g.png">    </p:cNvPr>
          <p:cNvPicPr>
            <a:picLocks noChangeAspect="1"/>
          </p:cNvPicPr>
          <p:nvPr/>
        </p:nvPicPr>
        <p:blipFill>
          <a:blip r:embed="rId11"/>
          <a:stretch>
            <a:fillRect/>
          </a:stretch>
        </p:blipFill>
        <p:spPr>
          <a:xfrm>
            <a:off x="6093927" y="4132539"/>
            <a:ext cx="266273" cy="266273"/>
          </a:xfrm>
          <a:prstGeom prst="rect">
            <a:avLst/>
          </a:prstGeom>
        </p:spPr>
      </p:pic>
      <p:sp>
        <p:nvSpPr>
          <p:cNvPr id="32" name="Text 19"/>
          <p:cNvSpPr txBox="1"/>
          <p:nvPr/>
        </p:nvSpPr>
        <p:spPr>
          <a:xfrm>
            <a:off x="6665976" y="3931920"/>
            <a:ext cx="4977079" cy="777240"/>
          </a:xfrm>
          <a:prstGeom prst="rect">
            <a:avLst/>
          </a:prstGeom>
          <a:noFill/>
          <a:ln/>
        </p:spPr>
        <p:txBody>
          <a:bodyPr wrap="square" lIns="0" tIns="0" rIns="0" bIns="0" rtlCol="0" anchor="ctr"/>
          <a:lstStyle/>
          <a:p>
            <a:pPr indent="0" marL="0">
              <a:buNone/>
            </a:pPr>
            <a:r>
              <a:rPr lang="en-US" sz="1700" b="1" dirty="0">
                <a:solidFill>
                  <a:srgbClr val="202124"/>
                </a:solidFill>
                <a:latin typeface="Roboto" pitchFamily="34" charset="0"/>
                <a:ea typeface="Roboto" pitchFamily="34" charset="-122"/>
                <a:cs typeface="Roboto" pitchFamily="34" charset="-120"/>
              </a:rPr>
              <a:t>En molts visors, </a:t>
            </a:r>
            <a:pPr indent="0" marL="0">
              <a:buNone/>
            </a:pPr>
            <a:r>
              <a:rPr lang="en-US" sz="1700" dirty="0">
                <a:solidFill>
                  <a:srgbClr val="202124"/>
                </a:solidFill>
                <a:latin typeface="Roboto" pitchFamily="34" charset="0"/>
                <a:ea typeface="Roboto" pitchFamily="34" charset="-122"/>
                <a:cs typeface="Roboto" pitchFamily="34" charset="-120"/>
              </a:rPr>
              <a:t>pots saber les coordenades de qualsevol punt.</a:t>
            </a:r>
            <a:endParaRPr lang="en-US" sz="1700" dirty="0"/>
          </a:p>
        </p:txBody>
      </p:sp>
      <p:sp>
        <p:nvSpPr>
          <p:cNvPr id="33" name="Paraula clau · TIG"/>
          <p:cNvSpPr/>
          <p:nvPr/>
        </p:nvSpPr>
        <p:spPr>
          <a:xfrm>
            <a:off x="548640" y="5029200"/>
            <a:ext cx="11094415" cy="960120"/>
          </a:xfrm>
          <a:prstGeom prst="roundRect">
            <a:avLst>
              <a:gd name="adj" fmla="val 10476"/>
            </a:avLst>
          </a:prstGeom>
          <a:solidFill>
            <a:srgbClr val="E6F4EA"/>
          </a:solidFill>
          <a:ln/>
        </p:spPr>
      </p:sp>
      <p:sp>
        <p:nvSpPr>
          <p:cNvPr id="34" name="Text 21"/>
          <p:cNvSpPr txBox="1"/>
          <p:nvPr/>
        </p:nvSpPr>
        <p:spPr>
          <a:xfrm>
            <a:off x="868680" y="5184648"/>
            <a:ext cx="10454335" cy="320040"/>
          </a:xfrm>
          <a:prstGeom prst="rect">
            <a:avLst/>
          </a:prstGeom>
          <a:noFill/>
          <a:ln/>
        </p:spPr>
        <p:txBody>
          <a:bodyPr wrap="square" lIns="0" tIns="0" rIns="0" bIns="0" rtlCol="0" anchor="t"/>
          <a:lstStyle/>
          <a:p>
            <a:pPr indent="0" marL="0">
              <a:buNone/>
            </a:pPr>
            <a:r>
              <a:rPr lang="en-US" sz="1400" b="1" dirty="0">
                <a:solidFill>
                  <a:srgbClr val="188038"/>
                </a:solidFill>
                <a:latin typeface="Roboto" pitchFamily="34" charset="0"/>
                <a:ea typeface="Roboto" pitchFamily="34" charset="-122"/>
                <a:cs typeface="Roboto" pitchFamily="34" charset="-120"/>
              </a:rPr>
              <a:t>Paraula clau · TIG</a:t>
            </a:r>
            <a:endParaRPr lang="en-US" sz="1400" dirty="0"/>
          </a:p>
        </p:txBody>
      </p:sp>
      <p:sp>
        <p:nvSpPr>
          <p:cNvPr id="35" name="Text 22"/>
          <p:cNvSpPr txBox="1"/>
          <p:nvPr/>
        </p:nvSpPr>
        <p:spPr>
          <a:xfrm>
            <a:off x="868680" y="5532120"/>
            <a:ext cx="10454335" cy="320040"/>
          </a:xfrm>
          <a:prstGeom prst="rect">
            <a:avLst/>
          </a:prstGeom>
          <a:noFill/>
          <a:ln/>
        </p:spPr>
        <p:txBody>
          <a:bodyPr wrap="square" lIns="0" tIns="0" rIns="0" bIns="0" rtlCol="0" anchor="t"/>
          <a:lstStyle/>
          <a:p>
            <a:pPr indent="0" marL="0">
              <a:buNone/>
            </a:pPr>
            <a:r>
              <a:rPr lang="en-US" sz="1450" dirty="0">
                <a:solidFill>
                  <a:srgbClr val="202124"/>
                </a:solidFill>
                <a:latin typeface="Roboto" pitchFamily="34" charset="0"/>
                <a:ea typeface="Roboto" pitchFamily="34" charset="-122"/>
                <a:cs typeface="Roboto" pitchFamily="34" charset="-120"/>
              </a:rPr>
              <a:t>Tecnologies de la informació geogràfica. Eines digitals per obtenir, guardar i mostrar informació del territori, com el GPS, les imatges de satèl·lit i els visors de mapes.</a:t>
            </a:r>
            <a:endParaRPr lang="en-US" sz="14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3</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Comprova-ho. Relleu, projeccions i TIG</a:t>
            </a:r>
            <a:endParaRPr lang="en-US" sz="2800" dirty="0"/>
          </a:p>
        </p:txBody>
      </p:sp>
      <p:sp>
        <p:nvSpPr>
          <p:cNvPr id="5" name="Text 3"/>
          <p:cNvSpPr txBox="1"/>
          <p:nvPr/>
        </p:nvSpPr>
        <p:spPr>
          <a:xfrm>
            <a:off x="548640" y="1371600"/>
            <a:ext cx="3657600" cy="320040"/>
          </a:xfrm>
          <a:prstGeom prst="rect">
            <a:avLst/>
          </a:prstGeom>
          <a:noFill/>
          <a:ln/>
        </p:spPr>
        <p:txBody>
          <a:bodyPr wrap="square" lIns="0" tIns="0" rIns="0" bIns="0" rtlCol="0" anchor="t"/>
          <a:lstStyle/>
          <a:p>
            <a:pPr indent="0" marL="0">
              <a:buNone/>
            </a:pPr>
            <a:r>
              <a:rPr lang="en-US" sz="1400" b="1" dirty="0">
                <a:solidFill>
                  <a:srgbClr val="5F6368"/>
                </a:solidFill>
                <a:latin typeface="Roboto" pitchFamily="34" charset="0"/>
                <a:ea typeface="Roboto" pitchFamily="34" charset="-122"/>
                <a:cs typeface="Roboto" pitchFamily="34" charset="-120"/>
              </a:rPr>
              <a:t>Paraules clau</a:t>
            </a:r>
            <a:endParaRPr lang="en-US" sz="1400" dirty="0"/>
          </a:p>
        </p:txBody>
      </p:sp>
      <p:sp>
        <p:nvSpPr>
          <p:cNvPr id="6" name="Etiqueta Corba de nivell"/>
          <p:cNvSpPr/>
          <p:nvPr/>
        </p:nvSpPr>
        <p:spPr>
          <a:xfrm>
            <a:off x="548640" y="1755648"/>
            <a:ext cx="1819656" cy="384048"/>
          </a:xfrm>
          <a:prstGeom prst="roundRect">
            <a:avLst>
              <a:gd name="adj" fmla="val 50000"/>
            </a:avLst>
          </a:prstGeom>
          <a:solidFill>
            <a:srgbClr val="E6F4EA"/>
          </a:solidFill>
          <a:ln/>
        </p:spPr>
      </p:sp>
      <p:sp>
        <p:nvSpPr>
          <p:cNvPr id="7" name="Text 5"/>
          <p:cNvSpPr txBox="1"/>
          <p:nvPr/>
        </p:nvSpPr>
        <p:spPr>
          <a:xfrm>
            <a:off x="548640" y="1755648"/>
            <a:ext cx="1819656"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Corba de nivell</a:t>
            </a:r>
            <a:endParaRPr lang="en-US" sz="1500" dirty="0"/>
          </a:p>
        </p:txBody>
      </p:sp>
      <p:sp>
        <p:nvSpPr>
          <p:cNvPr id="8" name="Etiqueta Projecció"/>
          <p:cNvSpPr/>
          <p:nvPr/>
        </p:nvSpPr>
        <p:spPr>
          <a:xfrm>
            <a:off x="2478024" y="1755648"/>
            <a:ext cx="1216152" cy="384048"/>
          </a:xfrm>
          <a:prstGeom prst="roundRect">
            <a:avLst>
              <a:gd name="adj" fmla="val 50000"/>
            </a:avLst>
          </a:prstGeom>
          <a:solidFill>
            <a:srgbClr val="E6F4EA"/>
          </a:solidFill>
          <a:ln/>
        </p:spPr>
      </p:sp>
      <p:sp>
        <p:nvSpPr>
          <p:cNvPr id="9" name="Text 7"/>
          <p:cNvSpPr txBox="1"/>
          <p:nvPr/>
        </p:nvSpPr>
        <p:spPr>
          <a:xfrm>
            <a:off x="2478024" y="1755648"/>
            <a:ext cx="1216152"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Projecció</a:t>
            </a:r>
            <a:endParaRPr lang="en-US" sz="1500" dirty="0"/>
          </a:p>
        </p:txBody>
      </p:sp>
      <p:sp>
        <p:nvSpPr>
          <p:cNvPr id="10" name="Etiqueta Ortofoto"/>
          <p:cNvSpPr/>
          <p:nvPr/>
        </p:nvSpPr>
        <p:spPr>
          <a:xfrm>
            <a:off x="3803904" y="1755648"/>
            <a:ext cx="1115568" cy="384048"/>
          </a:xfrm>
          <a:prstGeom prst="roundRect">
            <a:avLst>
              <a:gd name="adj" fmla="val 50000"/>
            </a:avLst>
          </a:prstGeom>
          <a:solidFill>
            <a:srgbClr val="E6F4EA"/>
          </a:solidFill>
          <a:ln/>
        </p:spPr>
      </p:sp>
      <p:sp>
        <p:nvSpPr>
          <p:cNvPr id="11" name="Text 9"/>
          <p:cNvSpPr txBox="1"/>
          <p:nvPr/>
        </p:nvSpPr>
        <p:spPr>
          <a:xfrm>
            <a:off x="3803904" y="1755648"/>
            <a:ext cx="1115568"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Ortofoto</a:t>
            </a:r>
            <a:endParaRPr lang="en-US" sz="1500" dirty="0"/>
          </a:p>
        </p:txBody>
      </p:sp>
      <p:sp>
        <p:nvSpPr>
          <p:cNvPr id="12" name="Etiqueta GPS"/>
          <p:cNvSpPr/>
          <p:nvPr/>
        </p:nvSpPr>
        <p:spPr>
          <a:xfrm>
            <a:off x="5029200" y="1755648"/>
            <a:ext cx="612648" cy="384048"/>
          </a:xfrm>
          <a:prstGeom prst="roundRect">
            <a:avLst>
              <a:gd name="adj" fmla="val 50000"/>
            </a:avLst>
          </a:prstGeom>
          <a:solidFill>
            <a:srgbClr val="E6F4EA"/>
          </a:solidFill>
          <a:ln/>
        </p:spPr>
      </p:sp>
      <p:sp>
        <p:nvSpPr>
          <p:cNvPr id="13" name="Text 11"/>
          <p:cNvSpPr txBox="1"/>
          <p:nvPr/>
        </p:nvSpPr>
        <p:spPr>
          <a:xfrm>
            <a:off x="5029200" y="1755648"/>
            <a:ext cx="612648"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GPS</a:t>
            </a:r>
            <a:endParaRPr lang="en-US" sz="1500" dirty="0"/>
          </a:p>
        </p:txBody>
      </p:sp>
      <p:sp>
        <p:nvSpPr>
          <p:cNvPr id="14" name="Etiqueta TIG"/>
          <p:cNvSpPr/>
          <p:nvPr/>
        </p:nvSpPr>
        <p:spPr>
          <a:xfrm>
            <a:off x="5751576" y="1755648"/>
            <a:ext cx="612648" cy="384048"/>
          </a:xfrm>
          <a:prstGeom prst="roundRect">
            <a:avLst>
              <a:gd name="adj" fmla="val 50000"/>
            </a:avLst>
          </a:prstGeom>
          <a:solidFill>
            <a:srgbClr val="E6F4EA"/>
          </a:solidFill>
          <a:ln/>
        </p:spPr>
      </p:sp>
      <p:sp>
        <p:nvSpPr>
          <p:cNvPr id="15" name="Text 13"/>
          <p:cNvSpPr txBox="1"/>
          <p:nvPr/>
        </p:nvSpPr>
        <p:spPr>
          <a:xfrm>
            <a:off x="5751576" y="1755648"/>
            <a:ext cx="612648"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TIG</a:t>
            </a:r>
            <a:endParaRPr lang="en-US" sz="1500" dirty="0"/>
          </a:p>
        </p:txBody>
      </p:sp>
      <p:sp>
        <p:nvSpPr>
          <p:cNvPr id="16" name="Pregunta 1"/>
          <p:cNvSpPr/>
          <p:nvPr/>
        </p:nvSpPr>
        <p:spPr>
          <a:xfrm>
            <a:off x="548640" y="2514600"/>
            <a:ext cx="11094415" cy="960120"/>
          </a:xfrm>
          <a:prstGeom prst="roundRect">
            <a:avLst>
              <a:gd name="adj" fmla="val 10476"/>
            </a:avLst>
          </a:prstGeom>
          <a:solidFill>
            <a:srgbClr val="FFFFFF"/>
          </a:solidFill>
          <a:ln w="12700">
            <a:solidFill>
              <a:srgbClr val="DADCE0"/>
            </a:solidFill>
            <a:prstDash val="solid"/>
          </a:ln>
        </p:spPr>
      </p:sp>
      <p:sp>
        <p:nvSpPr>
          <p:cNvPr id="17" name="Número 1"/>
          <p:cNvSpPr/>
          <p:nvPr/>
        </p:nvSpPr>
        <p:spPr>
          <a:xfrm>
            <a:off x="822960" y="2766060"/>
            <a:ext cx="457200" cy="457200"/>
          </a:xfrm>
          <a:prstGeom prst="ellipse">
            <a:avLst/>
          </a:prstGeom>
          <a:solidFill>
            <a:srgbClr val="188038"/>
          </a:solidFill>
          <a:ln/>
        </p:spPr>
      </p:sp>
      <p:sp>
        <p:nvSpPr>
          <p:cNvPr id="18" name="Text 16"/>
          <p:cNvSpPr txBox="1"/>
          <p:nvPr/>
        </p:nvSpPr>
        <p:spPr>
          <a:xfrm>
            <a:off x="822960" y="276606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Roboto" pitchFamily="34" charset="0"/>
                <a:ea typeface="Roboto" pitchFamily="34" charset="-122"/>
                <a:cs typeface="Roboto" pitchFamily="34" charset="-120"/>
              </a:rPr>
              <a:t>1</a:t>
            </a:r>
            <a:endParaRPr lang="en-US" sz="1700" dirty="0"/>
          </a:p>
        </p:txBody>
      </p:sp>
      <p:sp>
        <p:nvSpPr>
          <p:cNvPr id="19" name="Text 17"/>
          <p:cNvSpPr txBox="1"/>
          <p:nvPr/>
        </p:nvSpPr>
        <p:spPr>
          <a:xfrm>
            <a:off x="1508760" y="2514600"/>
            <a:ext cx="9905695" cy="960120"/>
          </a:xfrm>
          <a:prstGeom prst="rect">
            <a:avLst/>
          </a:prstGeom>
          <a:noFill/>
          <a:ln/>
        </p:spPr>
        <p:txBody>
          <a:bodyPr wrap="square" lIns="0" tIns="0" rIns="0" bIns="0" rtlCol="0" anchor="ctr"/>
          <a:lstStyle/>
          <a:p>
            <a:pPr indent="0" marL="0">
              <a:buNone/>
            </a:pPr>
            <a:r>
              <a:rPr lang="en-US" sz="2000" dirty="0">
                <a:solidFill>
                  <a:srgbClr val="202124"/>
                </a:solidFill>
                <a:latin typeface="Roboto" pitchFamily="34" charset="0"/>
                <a:ea typeface="Roboto" pitchFamily="34" charset="-122"/>
                <a:cs typeface="Roboto" pitchFamily="34" charset="-120"/>
              </a:rPr>
              <a:t>En un mapa topogràfic, les corbes d'una muntanya són molt juntes per un costat i separades per l'altre. Per quin costat costarà més pujar?</a:t>
            </a:r>
            <a:endParaRPr lang="en-US" sz="2000" dirty="0"/>
          </a:p>
        </p:txBody>
      </p:sp>
      <p:sp>
        <p:nvSpPr>
          <p:cNvPr id="20" name="Pregunta 2"/>
          <p:cNvSpPr/>
          <p:nvPr/>
        </p:nvSpPr>
        <p:spPr>
          <a:xfrm>
            <a:off x="548640" y="3657600"/>
            <a:ext cx="11094415" cy="960120"/>
          </a:xfrm>
          <a:prstGeom prst="roundRect">
            <a:avLst>
              <a:gd name="adj" fmla="val 10476"/>
            </a:avLst>
          </a:prstGeom>
          <a:solidFill>
            <a:srgbClr val="FFFFFF"/>
          </a:solidFill>
          <a:ln w="12700">
            <a:solidFill>
              <a:srgbClr val="DADCE0"/>
            </a:solidFill>
            <a:prstDash val="solid"/>
          </a:ln>
        </p:spPr>
      </p:sp>
      <p:sp>
        <p:nvSpPr>
          <p:cNvPr id="21" name="Número 2"/>
          <p:cNvSpPr/>
          <p:nvPr/>
        </p:nvSpPr>
        <p:spPr>
          <a:xfrm>
            <a:off x="822960" y="3909060"/>
            <a:ext cx="457200" cy="457200"/>
          </a:xfrm>
          <a:prstGeom prst="ellipse">
            <a:avLst/>
          </a:prstGeom>
          <a:solidFill>
            <a:srgbClr val="188038"/>
          </a:solidFill>
          <a:ln/>
        </p:spPr>
      </p:sp>
      <p:sp>
        <p:nvSpPr>
          <p:cNvPr id="22" name="Text 20"/>
          <p:cNvSpPr txBox="1"/>
          <p:nvPr/>
        </p:nvSpPr>
        <p:spPr>
          <a:xfrm>
            <a:off x="822960" y="390906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Roboto" pitchFamily="34" charset="0"/>
                <a:ea typeface="Roboto" pitchFamily="34" charset="-122"/>
                <a:cs typeface="Roboto" pitchFamily="34" charset="-120"/>
              </a:rPr>
              <a:t>2</a:t>
            </a:r>
            <a:endParaRPr lang="en-US" sz="1700" dirty="0"/>
          </a:p>
        </p:txBody>
      </p:sp>
      <p:sp>
        <p:nvSpPr>
          <p:cNvPr id="23" name="Text 21"/>
          <p:cNvSpPr txBox="1"/>
          <p:nvPr/>
        </p:nvSpPr>
        <p:spPr>
          <a:xfrm>
            <a:off x="1508760" y="3657600"/>
            <a:ext cx="9905695" cy="960120"/>
          </a:xfrm>
          <a:prstGeom prst="rect">
            <a:avLst/>
          </a:prstGeom>
          <a:noFill/>
          <a:ln/>
        </p:spPr>
        <p:txBody>
          <a:bodyPr wrap="square" lIns="0" tIns="0" rIns="0" bIns="0" rtlCol="0" anchor="ctr"/>
          <a:lstStyle/>
          <a:p>
            <a:pPr indent="0" marL="0">
              <a:buNone/>
            </a:pPr>
            <a:r>
              <a:rPr lang="en-US" sz="2000" dirty="0">
                <a:solidFill>
                  <a:srgbClr val="202124"/>
                </a:solidFill>
                <a:latin typeface="Roboto" pitchFamily="34" charset="0"/>
                <a:ea typeface="Roboto" pitchFamily="34" charset="-122"/>
                <a:cs typeface="Roboto" pitchFamily="34" charset="-120"/>
              </a:rPr>
              <a:t>Per què Groenlàndia sembla tan gran en molts mapamundis?</a:t>
            </a:r>
            <a:endParaRPr lang="en-US" sz="2000" dirty="0"/>
          </a:p>
        </p:txBody>
      </p:sp>
      <p:sp>
        <p:nvSpPr>
          <p:cNvPr id="24" name="Pregunta 3"/>
          <p:cNvSpPr/>
          <p:nvPr/>
        </p:nvSpPr>
        <p:spPr>
          <a:xfrm>
            <a:off x="548640" y="4800600"/>
            <a:ext cx="11094415" cy="960120"/>
          </a:xfrm>
          <a:prstGeom prst="roundRect">
            <a:avLst>
              <a:gd name="adj" fmla="val 10476"/>
            </a:avLst>
          </a:prstGeom>
          <a:solidFill>
            <a:srgbClr val="FFFFFF"/>
          </a:solidFill>
          <a:ln w="12700">
            <a:solidFill>
              <a:srgbClr val="DADCE0"/>
            </a:solidFill>
            <a:prstDash val="solid"/>
          </a:ln>
        </p:spPr>
      </p:sp>
      <p:sp>
        <p:nvSpPr>
          <p:cNvPr id="25" name="Número 3"/>
          <p:cNvSpPr/>
          <p:nvPr/>
        </p:nvSpPr>
        <p:spPr>
          <a:xfrm>
            <a:off x="822960" y="5052060"/>
            <a:ext cx="457200" cy="457200"/>
          </a:xfrm>
          <a:prstGeom prst="ellipse">
            <a:avLst/>
          </a:prstGeom>
          <a:solidFill>
            <a:srgbClr val="188038"/>
          </a:solidFill>
          <a:ln/>
        </p:spPr>
      </p:sp>
      <p:sp>
        <p:nvSpPr>
          <p:cNvPr id="26" name="Text 24"/>
          <p:cNvSpPr txBox="1"/>
          <p:nvPr/>
        </p:nvSpPr>
        <p:spPr>
          <a:xfrm>
            <a:off x="822960" y="505206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Roboto" pitchFamily="34" charset="0"/>
                <a:ea typeface="Roboto" pitchFamily="34" charset="-122"/>
                <a:cs typeface="Roboto" pitchFamily="34" charset="-120"/>
              </a:rPr>
              <a:t>3</a:t>
            </a:r>
            <a:endParaRPr lang="en-US" sz="1700" dirty="0"/>
          </a:p>
        </p:txBody>
      </p:sp>
      <p:sp>
        <p:nvSpPr>
          <p:cNvPr id="27" name="Text 25"/>
          <p:cNvSpPr txBox="1"/>
          <p:nvPr/>
        </p:nvSpPr>
        <p:spPr>
          <a:xfrm>
            <a:off x="1508760" y="4800600"/>
            <a:ext cx="9905695" cy="960120"/>
          </a:xfrm>
          <a:prstGeom prst="rect">
            <a:avLst/>
          </a:prstGeom>
          <a:noFill/>
          <a:ln/>
        </p:spPr>
        <p:txBody>
          <a:bodyPr wrap="square" lIns="0" tIns="0" rIns="0" bIns="0" rtlCol="0" anchor="ctr"/>
          <a:lstStyle/>
          <a:p>
            <a:pPr indent="0" marL="0">
              <a:buNone/>
            </a:pPr>
            <a:r>
              <a:rPr lang="en-US" sz="2000" dirty="0">
                <a:solidFill>
                  <a:srgbClr val="202124"/>
                </a:solidFill>
                <a:latin typeface="Roboto" pitchFamily="34" charset="0"/>
                <a:ea typeface="Roboto" pitchFamily="34" charset="-122"/>
                <a:cs typeface="Roboto" pitchFamily="34" charset="-120"/>
              </a:rPr>
              <a:t>Què necessita el mòbil per saber on ets amb el GPS?</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Capçalera"/>
          <p:cNvSpPr/>
          <p:nvPr/>
        </p:nvSpPr>
        <p:spPr>
          <a:xfrm>
            <a:off x="548640" y="548640"/>
            <a:ext cx="6720840" cy="3657600"/>
          </a:xfrm>
          <a:prstGeom prst="roundRect">
            <a:avLst>
              <a:gd name="adj" fmla="val 2750"/>
            </a:avLst>
          </a:prstGeom>
          <a:solidFill>
            <a:srgbClr val="188038"/>
          </a:solidFill>
          <a:ln/>
        </p:spPr>
      </p:sp>
      <p:pic>
        <p:nvPicPr>
          <p:cNvPr id="3" name="Il·lustració d'una rosa dels vents i un rellotge de sorra" descr="/home/claude/p857/build/hero-crop.png">    </p:cNvPr>
          <p:cNvPicPr>
            <a:picLocks noChangeAspect="1"/>
          </p:cNvPicPr>
          <p:nvPr/>
        </p:nvPicPr>
        <p:blipFill>
          <a:blip r:embed="rId1"/>
          <a:stretch>
            <a:fillRect/>
          </a:stretch>
        </p:blipFill>
        <p:spPr>
          <a:xfrm>
            <a:off x="3794760" y="2296090"/>
            <a:ext cx="3291840" cy="1891862"/>
          </a:xfrm>
          <a:prstGeom prst="rect">
            <a:avLst/>
          </a:prstGeom>
        </p:spPr>
      </p:pic>
      <p:sp>
        <p:nvSpPr>
          <p:cNvPr id="4" name="Etiqueta Apartat 4"/>
          <p:cNvSpPr/>
          <p:nvPr/>
        </p:nvSpPr>
        <p:spPr>
          <a:xfrm>
            <a:off x="960120" y="896112"/>
            <a:ext cx="1035101" cy="310896"/>
          </a:xfrm>
          <a:prstGeom prst="roundRect">
            <a:avLst>
              <a:gd name="adj" fmla="val 50000"/>
            </a:avLst>
          </a:prstGeom>
          <a:solidFill>
            <a:srgbClr val="FFFFFF">
              <a:alpha val="18000"/>
            </a:srgbClr>
          </a:solidFill>
          <a:ln/>
        </p:spPr>
      </p:sp>
      <p:sp>
        <p:nvSpPr>
          <p:cNvPr id="5" name="Text 2"/>
          <p:cNvSpPr txBox="1"/>
          <p:nvPr/>
        </p:nvSpPr>
        <p:spPr>
          <a:xfrm>
            <a:off x="960120" y="896112"/>
            <a:ext cx="1035101" cy="310896"/>
          </a:xfrm>
          <a:prstGeom prst="rect">
            <a:avLst/>
          </a:prstGeom>
          <a:noFill/>
          <a:ln/>
        </p:spPr>
        <p:txBody>
          <a:bodyPr wrap="square" lIns="0" tIns="0" rIns="0" bIns="0" rtlCol="0" anchor="ctr"/>
          <a:lstStyle/>
          <a:p>
            <a:pPr algn="ctr" indent="0" marL="0">
              <a:buNone/>
            </a:pPr>
            <a:r>
              <a:rPr lang="en-US" sz="1250" dirty="0">
                <a:solidFill>
                  <a:srgbClr val="FFFFFF"/>
                </a:solidFill>
                <a:latin typeface="Roboto" pitchFamily="34" charset="0"/>
                <a:ea typeface="Roboto" pitchFamily="34" charset="-122"/>
                <a:cs typeface="Roboto" pitchFamily="34" charset="-120"/>
              </a:rPr>
              <a:t>Apartat 4</a:t>
            </a:r>
            <a:endParaRPr lang="en-US" sz="1250" dirty="0"/>
          </a:p>
        </p:txBody>
      </p:sp>
      <p:sp>
        <p:nvSpPr>
          <p:cNvPr id="6" name="Text 3"/>
          <p:cNvSpPr txBox="1"/>
          <p:nvPr/>
        </p:nvSpPr>
        <p:spPr>
          <a:xfrm>
            <a:off x="960120" y="1371600"/>
            <a:ext cx="5760720" cy="1280160"/>
          </a:xfrm>
          <a:prstGeom prst="rect">
            <a:avLst/>
          </a:prstGeom>
          <a:noFill/>
          <a:ln/>
        </p:spPr>
        <p:txBody>
          <a:bodyPr wrap="square" lIns="0" tIns="0" rIns="0" bIns="0" rtlCol="0" anchor="t"/>
          <a:lstStyle/>
          <a:p>
            <a:pPr indent="0" marL="0">
              <a:lnSpc>
                <a:spcPct val="95000"/>
              </a:lnSpc>
              <a:buNone/>
            </a:pPr>
            <a:r>
              <a:rPr lang="en-US" sz="3800" b="1" dirty="0">
                <a:solidFill>
                  <a:srgbClr val="FFFFFF"/>
                </a:solidFill>
                <a:latin typeface="Roboto" pitchFamily="34" charset="0"/>
                <a:ea typeface="Roboto" pitchFamily="34" charset="-122"/>
                <a:cs typeface="Roboto" pitchFamily="34" charset="-120"/>
              </a:rPr>
              <a:t>Els moviments de la Terra</a:t>
            </a:r>
            <a:endParaRPr lang="en-US" sz="3800" dirty="0"/>
          </a:p>
        </p:txBody>
      </p:sp>
      <p:sp>
        <p:nvSpPr>
          <p:cNvPr id="7" name="Pregunta guia"/>
          <p:cNvSpPr/>
          <p:nvPr/>
        </p:nvSpPr>
        <p:spPr>
          <a:xfrm>
            <a:off x="548640" y="4389120"/>
            <a:ext cx="6720840" cy="1645920"/>
          </a:xfrm>
          <a:prstGeom prst="roundRect">
            <a:avLst>
              <a:gd name="adj" fmla="val 6111"/>
            </a:avLst>
          </a:prstGeom>
          <a:solidFill>
            <a:srgbClr val="F6F8FB"/>
          </a:solidFill>
          <a:ln/>
        </p:spPr>
      </p:sp>
      <p:sp>
        <p:nvSpPr>
          <p:cNvPr id="8" name="Text 5"/>
          <p:cNvSpPr txBox="1"/>
          <p:nvPr/>
        </p:nvSpPr>
        <p:spPr>
          <a:xfrm>
            <a:off x="914400" y="4590288"/>
            <a:ext cx="4572000" cy="320040"/>
          </a:xfrm>
          <a:prstGeom prst="rect">
            <a:avLst/>
          </a:prstGeom>
          <a:noFill/>
          <a:ln/>
        </p:spPr>
        <p:txBody>
          <a:bodyPr wrap="square" lIns="0" tIns="0" rIns="0" bIns="0" rtlCol="0" anchor="t"/>
          <a:lstStyle/>
          <a:p>
            <a:pPr indent="0" marL="0">
              <a:buNone/>
            </a:pPr>
            <a:r>
              <a:rPr lang="en-US" sz="1300" b="1" dirty="0">
                <a:solidFill>
                  <a:srgbClr val="188038"/>
                </a:solidFill>
                <a:latin typeface="Roboto" pitchFamily="34" charset="0"/>
                <a:ea typeface="Roboto" pitchFamily="34" charset="-122"/>
                <a:cs typeface="Roboto" pitchFamily="34" charset="-120"/>
              </a:rPr>
              <a:t>Pregunta guia</a:t>
            </a:r>
            <a:endParaRPr lang="en-US" sz="1300" dirty="0"/>
          </a:p>
        </p:txBody>
      </p:sp>
      <p:sp>
        <p:nvSpPr>
          <p:cNvPr id="9" name="Text 6"/>
          <p:cNvSpPr txBox="1"/>
          <p:nvPr/>
        </p:nvSpPr>
        <p:spPr>
          <a:xfrm>
            <a:off x="914400" y="4937760"/>
            <a:ext cx="6035040" cy="914400"/>
          </a:xfrm>
          <a:prstGeom prst="rect">
            <a:avLst/>
          </a:prstGeom>
          <a:noFill/>
          <a:ln/>
        </p:spPr>
        <p:txBody>
          <a:bodyPr wrap="square" lIns="0" tIns="0" rIns="0" bIns="0" rtlCol="0" anchor="t"/>
          <a:lstStyle/>
          <a:p>
            <a:pPr indent="0" marL="0">
              <a:buNone/>
            </a:pPr>
            <a:r>
              <a:rPr lang="en-US" sz="1900" dirty="0">
                <a:solidFill>
                  <a:srgbClr val="5F6368"/>
                </a:solidFill>
                <a:latin typeface="Roboto" pitchFamily="34" charset="0"/>
                <a:ea typeface="Roboto" pitchFamily="34" charset="-122"/>
                <a:cs typeface="Roboto" pitchFamily="34" charset="-120"/>
              </a:rPr>
              <a:t>Per què quan aquí és de dia a Tòquio ja és de nit, i per què quan aquí fa calor a l'Argentina fa fred?</a:t>
            </a:r>
            <a:endParaRPr lang="en-US" sz="1900" dirty="0"/>
          </a:p>
        </p:txBody>
      </p:sp>
      <p:sp>
        <p:nvSpPr>
          <p:cNvPr id="10" name="Fons Els moviments de la Terra"/>
          <p:cNvSpPr/>
          <p:nvPr/>
        </p:nvSpPr>
        <p:spPr>
          <a:xfrm>
            <a:off x="7635240" y="888162"/>
            <a:ext cx="4007815" cy="4011827"/>
          </a:xfrm>
          <a:prstGeom prst="roundRect">
            <a:avLst>
              <a:gd name="adj" fmla="val 2510"/>
            </a:avLst>
          </a:prstGeom>
          <a:solidFill>
            <a:srgbClr val="F6F8FB"/>
          </a:solidFill>
          <a:ln/>
        </p:spPr>
      </p:sp>
      <p:pic>
        <p:nvPicPr>
          <p:cNvPr id="11" name="Els moviments de la Terra" descr="/home/claude/p857/build/img/terra.jpg">    </p:cNvPr>
          <p:cNvPicPr>
            <a:picLocks noChangeAspect="1"/>
          </p:cNvPicPr>
          <p:nvPr/>
        </p:nvPicPr>
        <p:blipFill>
          <a:blip r:embed="rId2"/>
          <a:stretch>
            <a:fillRect/>
          </a:stretch>
        </p:blipFill>
        <p:spPr>
          <a:xfrm>
            <a:off x="7635240" y="888162"/>
            <a:ext cx="4007815" cy="4011827"/>
          </a:xfrm>
          <a:prstGeom prst="rect">
            <a:avLst/>
          </a:prstGeom>
        </p:spPr>
      </p:pic>
      <p:sp>
        <p:nvSpPr>
          <p:cNvPr id="12" name="Text 8"/>
          <p:cNvSpPr txBox="1"/>
          <p:nvPr/>
        </p:nvSpPr>
        <p:spPr>
          <a:xfrm>
            <a:off x="7635240" y="5009718"/>
            <a:ext cx="4007815" cy="685800"/>
          </a:xfrm>
          <a:prstGeom prst="rect">
            <a:avLst/>
          </a:prstGeom>
          <a:noFill/>
          <a:ln/>
        </p:spPr>
        <p:txBody>
          <a:bodyPr wrap="square" lIns="0" tIns="0" rIns="0" bIns="0" rtlCol="0" anchor="t"/>
          <a:lstStyle/>
          <a:p>
            <a:pPr indent="0" marL="0">
              <a:buNone/>
            </a:pPr>
            <a:r>
              <a:rPr lang="en-US" sz="1000" dirty="0">
                <a:solidFill>
                  <a:srgbClr val="5F6368"/>
                </a:solidFill>
                <a:latin typeface="Roboto" pitchFamily="34" charset="0"/>
                <a:ea typeface="Roboto" pitchFamily="34" charset="-122"/>
                <a:cs typeface="Roboto" pitchFamily="34" charset="-120"/>
              </a:rPr>
              <a:t>La Terra vista des de l'espai, el 7 de desembre de 1972, des de l'Apollo 17. És la famosa fotografia The Blue Marble. Foto: NASA, Wikimedia Commons, domini públic.</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4</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Dos moviments alhora</a:t>
            </a:r>
            <a:endParaRPr lang="en-US" sz="2800" dirty="0"/>
          </a:p>
        </p:txBody>
      </p:sp>
      <p:sp>
        <p:nvSpPr>
          <p:cNvPr id="5" name="Rotació"/>
          <p:cNvSpPr/>
          <p:nvPr/>
        </p:nvSpPr>
        <p:spPr>
          <a:xfrm>
            <a:off x="548640" y="1371600"/>
            <a:ext cx="5090008" cy="3017520"/>
          </a:xfrm>
          <a:prstGeom prst="roundRect">
            <a:avLst>
              <a:gd name="adj" fmla="val 3333"/>
            </a:avLst>
          </a:prstGeom>
          <a:solidFill>
            <a:srgbClr val="FFFFFF"/>
          </a:solidFill>
          <a:ln w="12700">
            <a:solidFill>
              <a:srgbClr val="DADCE0"/>
            </a:solidFill>
            <a:prstDash val="solid"/>
          </a:ln>
        </p:spPr>
      </p:sp>
      <p:sp>
        <p:nvSpPr>
          <p:cNvPr id="6" name="Cercle icona"/>
          <p:cNvSpPr/>
          <p:nvPr/>
        </p:nvSpPr>
        <p:spPr>
          <a:xfrm>
            <a:off x="822960" y="1645920"/>
            <a:ext cx="777240" cy="777240"/>
          </a:xfrm>
          <a:prstGeom prst="ellipse">
            <a:avLst/>
          </a:prstGeom>
          <a:solidFill>
            <a:srgbClr val="E6F4EA"/>
          </a:solidFill>
          <a:ln/>
        </p:spPr>
      </p:sp>
      <p:pic>
        <p:nvPicPr>
          <p:cNvPr id="7" name="Icona TbRotateClockwise" descr="/home/claude/p857/build/img/ic/TbRotateClockwise-g.png">    </p:cNvPr>
          <p:cNvPicPr>
            <a:picLocks noChangeAspect="1"/>
          </p:cNvPicPr>
          <p:nvPr/>
        </p:nvPicPr>
        <p:blipFill>
          <a:blip r:embed="rId1"/>
          <a:stretch>
            <a:fillRect/>
          </a:stretch>
        </p:blipFill>
        <p:spPr>
          <a:xfrm>
            <a:off x="993953" y="1816913"/>
            <a:ext cx="435254" cy="435254"/>
          </a:xfrm>
          <a:prstGeom prst="rect">
            <a:avLst/>
          </a:prstGeom>
        </p:spPr>
      </p:pic>
      <p:sp>
        <p:nvSpPr>
          <p:cNvPr id="8" name="Text 5"/>
          <p:cNvSpPr txBox="1"/>
          <p:nvPr/>
        </p:nvSpPr>
        <p:spPr>
          <a:xfrm>
            <a:off x="1828800" y="1645920"/>
            <a:ext cx="3626968" cy="777240"/>
          </a:xfrm>
          <a:prstGeom prst="rect">
            <a:avLst/>
          </a:prstGeom>
          <a:noFill/>
          <a:ln/>
        </p:spPr>
        <p:txBody>
          <a:bodyPr wrap="square" lIns="0" tIns="0" rIns="0" bIns="0" rtlCol="0" anchor="ctr"/>
          <a:lstStyle/>
          <a:p>
            <a:pPr indent="0" marL="0">
              <a:buNone/>
            </a:pPr>
            <a:r>
              <a:rPr lang="en-US" sz="2100" b="1" dirty="0">
                <a:solidFill>
                  <a:srgbClr val="188038"/>
                </a:solidFill>
                <a:latin typeface="Roboto" pitchFamily="34" charset="0"/>
                <a:ea typeface="Roboto" pitchFamily="34" charset="-122"/>
                <a:cs typeface="Roboto" pitchFamily="34" charset="-120"/>
              </a:rPr>
              <a:t>Rotació</a:t>
            </a:r>
            <a:endParaRPr lang="en-US" sz="2100" dirty="0"/>
          </a:p>
          <a:p>
            <a:pPr indent="0" marL="0">
              <a:buNone/>
            </a:pPr>
            <a:r>
              <a:rPr lang="en-US" sz="1600" dirty="0">
                <a:solidFill>
                  <a:srgbClr val="5F6368"/>
                </a:solidFill>
                <a:latin typeface="Roboto" pitchFamily="34" charset="0"/>
                <a:ea typeface="Roboto" pitchFamily="34" charset="-122"/>
                <a:cs typeface="Roboto" pitchFamily="34" charset="-120"/>
              </a:rPr>
              <a:t>Sobre si mateixa</a:t>
            </a:r>
            <a:endParaRPr lang="en-US" sz="2100" dirty="0"/>
          </a:p>
        </p:txBody>
      </p:sp>
      <p:sp>
        <p:nvSpPr>
          <p:cNvPr id="9" name="Text 6"/>
          <p:cNvSpPr txBox="1"/>
          <p:nvPr/>
        </p:nvSpPr>
        <p:spPr>
          <a:xfrm>
            <a:off x="822960" y="2651760"/>
            <a:ext cx="4541368" cy="1600200"/>
          </a:xfrm>
          <a:prstGeom prst="rect">
            <a:avLst/>
          </a:prstGeom>
          <a:noFill/>
          <a:ln/>
        </p:spPr>
        <p:txBody>
          <a:bodyPr wrap="square" lIns="0" tIns="0" rIns="0" bIns="0" rtlCol="0" anchor="t"/>
          <a:lstStyle/>
          <a:p>
            <a:pPr indent="0" marL="0">
              <a:buNone/>
            </a:pPr>
            <a:r>
              <a:rPr lang="en-US" sz="2000" dirty="0">
                <a:solidFill>
                  <a:srgbClr val="202124"/>
                </a:solidFill>
                <a:latin typeface="Roboto" pitchFamily="34" charset="0"/>
                <a:ea typeface="Roboto" pitchFamily="34" charset="-122"/>
                <a:cs typeface="Roboto" pitchFamily="34" charset="-120"/>
              </a:rPr>
              <a:t>Una volta dura 24 hores. Causa el dia i la nit.</a:t>
            </a:r>
            <a:endParaRPr lang="en-US" sz="2000" dirty="0"/>
          </a:p>
        </p:txBody>
      </p:sp>
      <p:sp>
        <p:nvSpPr>
          <p:cNvPr id="10" name="Translació"/>
          <p:cNvSpPr/>
          <p:nvPr/>
        </p:nvSpPr>
        <p:spPr>
          <a:xfrm>
            <a:off x="6553048" y="1371600"/>
            <a:ext cx="5090008" cy="3017520"/>
          </a:xfrm>
          <a:prstGeom prst="roundRect">
            <a:avLst>
              <a:gd name="adj" fmla="val 3333"/>
            </a:avLst>
          </a:prstGeom>
          <a:solidFill>
            <a:srgbClr val="188038"/>
          </a:solidFill>
          <a:ln/>
        </p:spPr>
      </p:sp>
      <p:sp>
        <p:nvSpPr>
          <p:cNvPr id="11" name="Cercle icona"/>
          <p:cNvSpPr/>
          <p:nvPr/>
        </p:nvSpPr>
        <p:spPr>
          <a:xfrm>
            <a:off x="6827368" y="1645920"/>
            <a:ext cx="777240" cy="777240"/>
          </a:xfrm>
          <a:prstGeom prst="ellipse">
            <a:avLst/>
          </a:prstGeom>
          <a:solidFill>
            <a:srgbClr val="FFFFFF"/>
          </a:solidFill>
          <a:ln/>
        </p:spPr>
      </p:sp>
      <p:pic>
        <p:nvPicPr>
          <p:cNvPr id="12" name="Icona TbPlanet" descr="/home/claude/p857/build/img/ic/TbPlanet-g.png">    </p:cNvPr>
          <p:cNvPicPr>
            <a:picLocks noChangeAspect="1"/>
          </p:cNvPicPr>
          <p:nvPr/>
        </p:nvPicPr>
        <p:blipFill>
          <a:blip r:embed="rId2"/>
          <a:stretch>
            <a:fillRect/>
          </a:stretch>
        </p:blipFill>
        <p:spPr>
          <a:xfrm>
            <a:off x="6998360" y="1816913"/>
            <a:ext cx="435254" cy="435254"/>
          </a:xfrm>
          <a:prstGeom prst="rect">
            <a:avLst/>
          </a:prstGeom>
        </p:spPr>
      </p:pic>
      <p:sp>
        <p:nvSpPr>
          <p:cNvPr id="13" name="Text 9"/>
          <p:cNvSpPr txBox="1"/>
          <p:nvPr/>
        </p:nvSpPr>
        <p:spPr>
          <a:xfrm>
            <a:off x="7833208" y="1645920"/>
            <a:ext cx="3626968" cy="777240"/>
          </a:xfrm>
          <a:prstGeom prst="rect">
            <a:avLst/>
          </a:prstGeom>
          <a:noFill/>
          <a:ln/>
        </p:spPr>
        <p:txBody>
          <a:bodyPr wrap="square" lIns="0" tIns="0" rIns="0" bIns="0" rtlCol="0" anchor="ctr"/>
          <a:lstStyle/>
          <a:p>
            <a:pPr indent="0" marL="0">
              <a:buNone/>
            </a:pPr>
            <a:r>
              <a:rPr lang="en-US" sz="2100" b="1" dirty="0">
                <a:solidFill>
                  <a:srgbClr val="FFFFFF"/>
                </a:solidFill>
                <a:latin typeface="Roboto" pitchFamily="34" charset="0"/>
                <a:ea typeface="Roboto" pitchFamily="34" charset="-122"/>
                <a:cs typeface="Roboto" pitchFamily="34" charset="-120"/>
              </a:rPr>
              <a:t>Translació</a:t>
            </a:r>
            <a:endParaRPr lang="en-US" sz="2100" dirty="0"/>
          </a:p>
          <a:p>
            <a:pPr indent="0" marL="0">
              <a:buNone/>
            </a:pPr>
            <a:r>
              <a:rPr lang="en-US" sz="1600" dirty="0">
                <a:solidFill>
                  <a:srgbClr val="FFFFFF"/>
                </a:solidFill>
                <a:latin typeface="Roboto" pitchFamily="34" charset="0"/>
                <a:ea typeface="Roboto" pitchFamily="34" charset="-122"/>
                <a:cs typeface="Roboto" pitchFamily="34" charset="-120"/>
              </a:rPr>
              <a:t>Al voltant del Sol</a:t>
            </a:r>
            <a:endParaRPr lang="en-US" sz="2100" dirty="0"/>
          </a:p>
        </p:txBody>
      </p:sp>
      <p:sp>
        <p:nvSpPr>
          <p:cNvPr id="14" name="Text 10"/>
          <p:cNvSpPr txBox="1"/>
          <p:nvPr/>
        </p:nvSpPr>
        <p:spPr>
          <a:xfrm>
            <a:off x="6827368" y="2651760"/>
            <a:ext cx="4541368" cy="1600200"/>
          </a:xfrm>
          <a:prstGeom prst="rect">
            <a:avLst/>
          </a:prstGeom>
          <a:noFill/>
          <a:ln/>
        </p:spPr>
        <p:txBody>
          <a:bodyPr wrap="square" lIns="0" tIns="0" rIns="0" bIns="0" rtlCol="0" anchor="t"/>
          <a:lstStyle/>
          <a:p>
            <a:pPr indent="0" marL="0">
              <a:buNone/>
            </a:pPr>
            <a:r>
              <a:rPr lang="en-US" sz="2000" dirty="0">
                <a:solidFill>
                  <a:srgbClr val="FFFFFF"/>
                </a:solidFill>
                <a:latin typeface="Roboto" pitchFamily="34" charset="0"/>
                <a:ea typeface="Roboto" pitchFamily="34" charset="-122"/>
                <a:cs typeface="Roboto" pitchFamily="34" charset="-120"/>
              </a:rPr>
              <a:t>Una volta dura 365 dies (un any) i gairebé 6 hores més. Causa les estacions.</a:t>
            </a:r>
            <a:endParaRPr lang="en-US" sz="2000" dirty="0"/>
          </a:p>
        </p:txBody>
      </p:sp>
      <p:sp>
        <p:nvSpPr>
          <p:cNvPr id="15" name="Recordes la miniprova?"/>
          <p:cNvSpPr/>
          <p:nvPr/>
        </p:nvSpPr>
        <p:spPr>
          <a:xfrm>
            <a:off x="548640" y="4617720"/>
            <a:ext cx="11094415" cy="1371600"/>
          </a:xfrm>
          <a:prstGeom prst="roundRect">
            <a:avLst>
              <a:gd name="adj" fmla="val 7333"/>
            </a:avLst>
          </a:prstGeom>
          <a:solidFill>
            <a:srgbClr val="F6F8FB"/>
          </a:solidFill>
          <a:ln/>
        </p:spPr>
      </p:sp>
      <p:sp>
        <p:nvSpPr>
          <p:cNvPr id="16" name="Text 12"/>
          <p:cNvSpPr txBox="1"/>
          <p:nvPr/>
        </p:nvSpPr>
        <p:spPr>
          <a:xfrm>
            <a:off x="868680" y="4773168"/>
            <a:ext cx="10454335" cy="320040"/>
          </a:xfrm>
          <a:prstGeom prst="rect">
            <a:avLst/>
          </a:prstGeom>
          <a:noFill/>
          <a:ln/>
        </p:spPr>
        <p:txBody>
          <a:bodyPr wrap="square" lIns="0" tIns="0" rIns="0" bIns="0" rtlCol="0" anchor="t"/>
          <a:lstStyle/>
          <a:p>
            <a:pPr indent="0" marL="0">
              <a:buNone/>
            </a:pPr>
            <a:r>
              <a:rPr lang="en-US" sz="1400" b="1" dirty="0">
                <a:solidFill>
                  <a:srgbClr val="202124"/>
                </a:solidFill>
                <a:latin typeface="Roboto" pitchFamily="34" charset="0"/>
                <a:ea typeface="Roboto" pitchFamily="34" charset="-122"/>
                <a:cs typeface="Roboto" pitchFamily="34" charset="-120"/>
              </a:rPr>
              <a:t>Recordes la miniprova?</a:t>
            </a:r>
            <a:endParaRPr lang="en-US" sz="1400" dirty="0"/>
          </a:p>
        </p:txBody>
      </p:sp>
      <p:sp>
        <p:nvSpPr>
          <p:cNvPr id="17" name="Text 13"/>
          <p:cNvSpPr txBox="1"/>
          <p:nvPr/>
        </p:nvSpPr>
        <p:spPr>
          <a:xfrm>
            <a:off x="868680" y="5120640"/>
            <a:ext cx="10454335" cy="731520"/>
          </a:xfrm>
          <a:prstGeom prst="rect">
            <a:avLst/>
          </a:prstGeom>
          <a:noFill/>
          <a:ln/>
        </p:spPr>
        <p:txBody>
          <a:bodyPr wrap="square" lIns="0" tIns="0" rIns="0" bIns="0" rtlCol="0" anchor="t"/>
          <a:lstStyle/>
          <a:p>
            <a:pPr indent="0" marL="0">
              <a:buNone/>
            </a:pPr>
            <a:r>
              <a:rPr lang="en-US" sz="1800" dirty="0">
                <a:solidFill>
                  <a:srgbClr val="5F6368"/>
                </a:solidFill>
                <a:latin typeface="Roboto" pitchFamily="34" charset="0"/>
                <a:ea typeface="Roboto" pitchFamily="34" charset="-122"/>
                <a:cs typeface="Roboto" pitchFamily="34" charset="-120"/>
              </a:rPr>
              <a:t>«La Terra triga un dia a fer una volta al voltant del Sol» és fals. En un dia fa una volta sobre si mateixa.</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4</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La rotació, el dia i la nit</a:t>
            </a:r>
            <a:endParaRPr lang="en-US" sz="2800" dirty="0"/>
          </a:p>
        </p:txBody>
      </p:sp>
      <p:sp>
        <p:nvSpPr>
          <p:cNvPr id="5" name="Fons Rotació"/>
          <p:cNvSpPr/>
          <p:nvPr/>
        </p:nvSpPr>
        <p:spPr>
          <a:xfrm>
            <a:off x="548640" y="1371600"/>
            <a:ext cx="4023360" cy="4251960"/>
          </a:xfrm>
          <a:prstGeom prst="roundRect">
            <a:avLst>
              <a:gd name="adj" fmla="val 2500"/>
            </a:avLst>
          </a:prstGeom>
          <a:solidFill>
            <a:srgbClr val="F6F8FB"/>
          </a:solidFill>
          <a:ln/>
        </p:spPr>
      </p:sp>
      <p:pic>
        <p:nvPicPr>
          <p:cNvPr id="6" name="Rotació" descr="/home/claude/p857/build/img/rotacio.png">    </p:cNvPr>
          <p:cNvPicPr>
            <a:picLocks noChangeAspect="1"/>
          </p:cNvPicPr>
          <p:nvPr/>
        </p:nvPicPr>
        <p:blipFill>
          <a:blip r:embed="rId1"/>
          <a:stretch>
            <a:fillRect/>
          </a:stretch>
        </p:blipFill>
        <p:spPr>
          <a:xfrm>
            <a:off x="687332" y="1371600"/>
            <a:ext cx="3745977" cy="4251960"/>
          </a:xfrm>
          <a:prstGeom prst="rect">
            <a:avLst/>
          </a:prstGeom>
        </p:spPr>
      </p:pic>
      <p:sp>
        <p:nvSpPr>
          <p:cNvPr id="7" name="Text 4"/>
          <p:cNvSpPr txBox="1"/>
          <p:nvPr/>
        </p:nvSpPr>
        <p:spPr>
          <a:xfrm>
            <a:off x="548640" y="5696712"/>
            <a:ext cx="4023360" cy="320040"/>
          </a:xfrm>
          <a:prstGeom prst="rect">
            <a:avLst/>
          </a:prstGeom>
          <a:noFill/>
          <a:ln/>
        </p:spPr>
        <p:txBody>
          <a:bodyPr wrap="square" lIns="0" tIns="0" rIns="0" bIns="0" rtlCol="0" anchor="t"/>
          <a:lstStyle/>
          <a:p>
            <a:pPr indent="0" marL="0">
              <a:buNone/>
            </a:pPr>
            <a:r>
              <a:rPr lang="en-US" sz="1000" dirty="0">
                <a:solidFill>
                  <a:srgbClr val="5F6368"/>
                </a:solidFill>
                <a:latin typeface="Roboto" pitchFamily="34" charset="0"/>
                <a:ea typeface="Roboto" pitchFamily="34" charset="-122"/>
                <a:cs typeface="Roboto" pitchFamily="34" charset="-120"/>
              </a:rPr>
              <a:t>Rotació. Una volta cada 24 hores. Gràfic: professordesocials.cat, CC BY-SA 4.0.</a:t>
            </a:r>
            <a:endParaRPr lang="en-US" sz="1000" dirty="0"/>
          </a:p>
        </p:txBody>
      </p:sp>
      <p:sp>
        <p:nvSpPr>
          <p:cNvPr id="8" name="Cercle icona"/>
          <p:cNvSpPr/>
          <p:nvPr/>
        </p:nvSpPr>
        <p:spPr>
          <a:xfrm>
            <a:off x="4892040" y="1499616"/>
            <a:ext cx="548640" cy="548640"/>
          </a:xfrm>
          <a:prstGeom prst="ellipse">
            <a:avLst/>
          </a:prstGeom>
          <a:solidFill>
            <a:srgbClr val="E6F4EA"/>
          </a:solidFill>
          <a:ln/>
        </p:spPr>
      </p:sp>
      <p:pic>
        <p:nvPicPr>
          <p:cNvPr id="9" name="Icona TbClock" descr="/home/claude/p857/build/img/ic/TbClock-g.png">    </p:cNvPr>
          <p:cNvPicPr>
            <a:picLocks noChangeAspect="1"/>
          </p:cNvPicPr>
          <p:nvPr/>
        </p:nvPicPr>
        <p:blipFill>
          <a:blip r:embed="rId2"/>
          <a:stretch>
            <a:fillRect/>
          </a:stretch>
        </p:blipFill>
        <p:spPr>
          <a:xfrm>
            <a:off x="5012741" y="1620317"/>
            <a:ext cx="307238" cy="307238"/>
          </a:xfrm>
          <a:prstGeom prst="rect">
            <a:avLst/>
          </a:prstGeom>
        </p:spPr>
      </p:pic>
      <p:sp>
        <p:nvSpPr>
          <p:cNvPr id="10" name="Text 6"/>
          <p:cNvSpPr txBox="1"/>
          <p:nvPr/>
        </p:nvSpPr>
        <p:spPr>
          <a:xfrm>
            <a:off x="5641848" y="1371600"/>
            <a:ext cx="6001207" cy="914400"/>
          </a:xfrm>
          <a:prstGeom prst="rect">
            <a:avLst/>
          </a:prstGeom>
          <a:noFill/>
          <a:ln/>
        </p:spPr>
        <p:txBody>
          <a:bodyPr wrap="square" lIns="0" tIns="0" rIns="0" bIns="0" rtlCol="0" anchor="ctr"/>
          <a:lstStyle/>
          <a:p>
            <a:pPr indent="0" marL="0">
              <a:buNone/>
            </a:pPr>
            <a:r>
              <a:rPr lang="en-US" sz="1800" b="1" dirty="0">
                <a:solidFill>
                  <a:srgbClr val="202124"/>
                </a:solidFill>
                <a:latin typeface="Roboto" pitchFamily="34" charset="0"/>
                <a:ea typeface="Roboto" pitchFamily="34" charset="-122"/>
                <a:cs typeface="Roboto" pitchFamily="34" charset="-120"/>
              </a:rPr>
              <a:t>Una volta dura 24 hores. </a:t>
            </a:r>
            <a:pPr indent="0" marL="0">
              <a:buNone/>
            </a:pPr>
            <a:r>
              <a:rPr lang="en-US" sz="1800" dirty="0">
                <a:solidFill>
                  <a:srgbClr val="202124"/>
                </a:solidFill>
                <a:latin typeface="Roboto" pitchFamily="34" charset="0"/>
                <a:ea typeface="Roboto" pitchFamily="34" charset="-122"/>
                <a:cs typeface="Roboto" pitchFamily="34" charset="-120"/>
              </a:rPr>
              <a:t>La Terra gira sobre si mateixa.</a:t>
            </a:r>
            <a:endParaRPr lang="en-US" sz="1800" dirty="0"/>
          </a:p>
        </p:txBody>
      </p:sp>
      <p:sp>
        <p:nvSpPr>
          <p:cNvPr id="11" name="Cercle icona"/>
          <p:cNvSpPr/>
          <p:nvPr/>
        </p:nvSpPr>
        <p:spPr>
          <a:xfrm>
            <a:off x="4892040" y="2505456"/>
            <a:ext cx="548640" cy="548640"/>
          </a:xfrm>
          <a:prstGeom prst="ellipse">
            <a:avLst/>
          </a:prstGeom>
          <a:solidFill>
            <a:srgbClr val="E6F4EA"/>
          </a:solidFill>
          <a:ln/>
        </p:spPr>
      </p:sp>
      <p:pic>
        <p:nvPicPr>
          <p:cNvPr id="12" name="Icona TbSun" descr="/home/claude/p857/build/img/ic/TbSun-g.png">    </p:cNvPr>
          <p:cNvPicPr>
            <a:picLocks noChangeAspect="1"/>
          </p:cNvPicPr>
          <p:nvPr/>
        </p:nvPicPr>
        <p:blipFill>
          <a:blip r:embed="rId3"/>
          <a:stretch>
            <a:fillRect/>
          </a:stretch>
        </p:blipFill>
        <p:spPr>
          <a:xfrm>
            <a:off x="5012741" y="2626157"/>
            <a:ext cx="307238" cy="307238"/>
          </a:xfrm>
          <a:prstGeom prst="rect">
            <a:avLst/>
          </a:prstGeom>
        </p:spPr>
      </p:pic>
      <p:sp>
        <p:nvSpPr>
          <p:cNvPr id="13" name="Text 8"/>
          <p:cNvSpPr txBox="1"/>
          <p:nvPr/>
        </p:nvSpPr>
        <p:spPr>
          <a:xfrm>
            <a:off x="5641848" y="2377440"/>
            <a:ext cx="6001207" cy="914400"/>
          </a:xfrm>
          <a:prstGeom prst="rect">
            <a:avLst/>
          </a:prstGeom>
          <a:noFill/>
          <a:ln/>
        </p:spPr>
        <p:txBody>
          <a:bodyPr wrap="square" lIns="0" tIns="0" rIns="0" bIns="0" rtlCol="0" anchor="ctr"/>
          <a:lstStyle/>
          <a:p>
            <a:pPr indent="0" marL="0">
              <a:buNone/>
            </a:pPr>
            <a:r>
              <a:rPr lang="en-US" sz="1800" b="1" dirty="0">
                <a:solidFill>
                  <a:srgbClr val="202124"/>
                </a:solidFill>
                <a:latin typeface="Roboto" pitchFamily="34" charset="0"/>
                <a:ea typeface="Roboto" pitchFamily="34" charset="-122"/>
                <a:cs typeface="Roboto" pitchFamily="34" charset="-120"/>
              </a:rPr>
              <a:t>La meitat que mira cap al Sol </a:t>
            </a:r>
            <a:pPr indent="0" marL="0">
              <a:buNone/>
            </a:pPr>
            <a:r>
              <a:rPr lang="en-US" sz="1800" dirty="0">
                <a:solidFill>
                  <a:srgbClr val="202124"/>
                </a:solidFill>
                <a:latin typeface="Roboto" pitchFamily="34" charset="0"/>
                <a:ea typeface="Roboto" pitchFamily="34" charset="-122"/>
                <a:cs typeface="Roboto" pitchFamily="34" charset="-120"/>
              </a:rPr>
              <a:t>és de dia, i l'altra meitat és de nit.</a:t>
            </a:r>
            <a:endParaRPr lang="en-US" sz="1800" dirty="0"/>
          </a:p>
        </p:txBody>
      </p:sp>
      <p:sp>
        <p:nvSpPr>
          <p:cNvPr id="14" name="Cercle icona"/>
          <p:cNvSpPr/>
          <p:nvPr/>
        </p:nvSpPr>
        <p:spPr>
          <a:xfrm>
            <a:off x="4892040" y="3511296"/>
            <a:ext cx="548640" cy="548640"/>
          </a:xfrm>
          <a:prstGeom prst="ellipse">
            <a:avLst/>
          </a:prstGeom>
          <a:solidFill>
            <a:srgbClr val="E6F4EA"/>
          </a:solidFill>
          <a:ln/>
        </p:spPr>
      </p:sp>
      <p:pic>
        <p:nvPicPr>
          <p:cNvPr id="15" name="Icona TbArrowRight" descr="/home/claude/p857/build/img/ic/TbArrowRight-g.png">    </p:cNvPr>
          <p:cNvPicPr>
            <a:picLocks noChangeAspect="1"/>
          </p:cNvPicPr>
          <p:nvPr/>
        </p:nvPicPr>
        <p:blipFill>
          <a:blip r:embed="rId4"/>
          <a:stretch>
            <a:fillRect/>
          </a:stretch>
        </p:blipFill>
        <p:spPr>
          <a:xfrm>
            <a:off x="5012741" y="3631997"/>
            <a:ext cx="307238" cy="307238"/>
          </a:xfrm>
          <a:prstGeom prst="rect">
            <a:avLst/>
          </a:prstGeom>
        </p:spPr>
      </p:pic>
      <p:sp>
        <p:nvSpPr>
          <p:cNvPr id="16" name="Text 10"/>
          <p:cNvSpPr txBox="1"/>
          <p:nvPr/>
        </p:nvSpPr>
        <p:spPr>
          <a:xfrm>
            <a:off x="5641848" y="3383280"/>
            <a:ext cx="6001207" cy="914400"/>
          </a:xfrm>
          <a:prstGeom prst="rect">
            <a:avLst/>
          </a:prstGeom>
          <a:noFill/>
          <a:ln/>
        </p:spPr>
        <p:txBody>
          <a:bodyPr wrap="square" lIns="0" tIns="0" rIns="0" bIns="0" rtlCol="0" anchor="ctr"/>
          <a:lstStyle/>
          <a:p>
            <a:pPr indent="0" marL="0">
              <a:buNone/>
            </a:pPr>
            <a:r>
              <a:rPr lang="en-US" sz="1800" b="1" dirty="0">
                <a:solidFill>
                  <a:srgbClr val="202124"/>
                </a:solidFill>
                <a:latin typeface="Roboto" pitchFamily="34" charset="0"/>
                <a:ea typeface="Roboto" pitchFamily="34" charset="-122"/>
                <a:cs typeface="Roboto" pitchFamily="34" charset="-120"/>
              </a:rPr>
              <a:t>Gira de l'oest cap a l'est. </a:t>
            </a:r>
            <a:pPr indent="0" marL="0">
              <a:buNone/>
            </a:pPr>
            <a:r>
              <a:rPr lang="en-US" sz="1800" dirty="0">
                <a:solidFill>
                  <a:srgbClr val="202124"/>
                </a:solidFill>
                <a:latin typeface="Roboto" pitchFamily="34" charset="0"/>
                <a:ea typeface="Roboto" pitchFamily="34" charset="-122"/>
                <a:cs typeface="Roboto" pitchFamily="34" charset="-120"/>
              </a:rPr>
              <a:t>Per això veiem el Sol sortir per l'est.</a:t>
            </a:r>
            <a:endParaRPr lang="en-US" sz="1800" dirty="0"/>
          </a:p>
        </p:txBody>
      </p:sp>
      <p:sp>
        <p:nvSpPr>
          <p:cNvPr id="17" name="Paraula clau · Rotació"/>
          <p:cNvSpPr/>
          <p:nvPr/>
        </p:nvSpPr>
        <p:spPr>
          <a:xfrm>
            <a:off x="4892040" y="4572000"/>
            <a:ext cx="6751015" cy="1417320"/>
          </a:xfrm>
          <a:prstGeom prst="roundRect">
            <a:avLst>
              <a:gd name="adj" fmla="val 7097"/>
            </a:avLst>
          </a:prstGeom>
          <a:solidFill>
            <a:srgbClr val="E6F4EA"/>
          </a:solidFill>
          <a:ln/>
        </p:spPr>
      </p:sp>
      <p:sp>
        <p:nvSpPr>
          <p:cNvPr id="18" name="Text 12"/>
          <p:cNvSpPr txBox="1"/>
          <p:nvPr/>
        </p:nvSpPr>
        <p:spPr>
          <a:xfrm>
            <a:off x="5212080" y="4727448"/>
            <a:ext cx="6110935" cy="320040"/>
          </a:xfrm>
          <a:prstGeom prst="rect">
            <a:avLst/>
          </a:prstGeom>
          <a:noFill/>
          <a:ln/>
        </p:spPr>
        <p:txBody>
          <a:bodyPr wrap="square" lIns="0" tIns="0" rIns="0" bIns="0" rtlCol="0" anchor="t"/>
          <a:lstStyle/>
          <a:p>
            <a:pPr indent="0" marL="0">
              <a:buNone/>
            </a:pPr>
            <a:r>
              <a:rPr lang="en-US" sz="1400" b="1" dirty="0">
                <a:solidFill>
                  <a:srgbClr val="188038"/>
                </a:solidFill>
                <a:latin typeface="Roboto" pitchFamily="34" charset="0"/>
                <a:ea typeface="Roboto" pitchFamily="34" charset="-122"/>
                <a:cs typeface="Roboto" pitchFamily="34" charset="-120"/>
              </a:rPr>
              <a:t>Paraula clau · Rotació</a:t>
            </a:r>
            <a:endParaRPr lang="en-US" sz="1400" dirty="0"/>
          </a:p>
        </p:txBody>
      </p:sp>
      <p:sp>
        <p:nvSpPr>
          <p:cNvPr id="19" name="Text 13"/>
          <p:cNvSpPr txBox="1"/>
          <p:nvPr/>
        </p:nvSpPr>
        <p:spPr>
          <a:xfrm>
            <a:off x="5212080" y="5074920"/>
            <a:ext cx="6110935" cy="777240"/>
          </a:xfrm>
          <a:prstGeom prst="rect">
            <a:avLst/>
          </a:prstGeom>
          <a:noFill/>
          <a:ln/>
        </p:spPr>
        <p:txBody>
          <a:bodyPr wrap="square" lIns="0" tIns="0" rIns="0" bIns="0" rtlCol="0" anchor="t"/>
          <a:lstStyle/>
          <a:p>
            <a:pPr indent="0" marL="0">
              <a:buNone/>
            </a:pPr>
            <a:r>
              <a:rPr lang="en-US" sz="1700" dirty="0">
                <a:solidFill>
                  <a:srgbClr val="202124"/>
                </a:solidFill>
                <a:latin typeface="Roboto" pitchFamily="34" charset="0"/>
                <a:ea typeface="Roboto" pitchFamily="34" charset="-122"/>
                <a:cs typeface="Roboto" pitchFamily="34" charset="-120"/>
              </a:rPr>
              <a:t>Moviment de la Terra sobre si mateixa, que dura 24 hores i causa el dia i la nit.</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4</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La translació</a:t>
            </a:r>
            <a:endParaRPr lang="en-US" sz="2800" dirty="0"/>
          </a:p>
        </p:txBody>
      </p:sp>
      <p:sp>
        <p:nvSpPr>
          <p:cNvPr id="5" name="Fons Translació"/>
          <p:cNvSpPr/>
          <p:nvPr/>
        </p:nvSpPr>
        <p:spPr>
          <a:xfrm>
            <a:off x="548640" y="1371600"/>
            <a:ext cx="4572000" cy="4343400"/>
          </a:xfrm>
          <a:prstGeom prst="roundRect">
            <a:avLst>
              <a:gd name="adj" fmla="val 2316"/>
            </a:avLst>
          </a:prstGeom>
          <a:solidFill>
            <a:srgbClr val="F6F8FB"/>
          </a:solidFill>
          <a:ln/>
        </p:spPr>
      </p:sp>
      <p:pic>
        <p:nvPicPr>
          <p:cNvPr id="6" name="Translació" descr="/home/claude/p857/build/img/translacio.png">    </p:cNvPr>
          <p:cNvPicPr>
            <a:picLocks noChangeAspect="1"/>
          </p:cNvPicPr>
          <p:nvPr/>
        </p:nvPicPr>
        <p:blipFill>
          <a:blip r:embed="rId1"/>
          <a:stretch>
            <a:fillRect/>
          </a:stretch>
        </p:blipFill>
        <p:spPr>
          <a:xfrm>
            <a:off x="565214" y="1371600"/>
            <a:ext cx="4538853" cy="4343400"/>
          </a:xfrm>
          <a:prstGeom prst="rect">
            <a:avLst/>
          </a:prstGeom>
        </p:spPr>
      </p:pic>
      <p:sp>
        <p:nvSpPr>
          <p:cNvPr id="7" name="Text 4"/>
          <p:cNvSpPr txBox="1"/>
          <p:nvPr/>
        </p:nvSpPr>
        <p:spPr>
          <a:xfrm>
            <a:off x="548640" y="5788152"/>
            <a:ext cx="4572000" cy="320040"/>
          </a:xfrm>
          <a:prstGeom prst="rect">
            <a:avLst/>
          </a:prstGeom>
          <a:noFill/>
          <a:ln/>
        </p:spPr>
        <p:txBody>
          <a:bodyPr wrap="square" lIns="0" tIns="0" rIns="0" bIns="0" rtlCol="0" anchor="t"/>
          <a:lstStyle/>
          <a:p>
            <a:pPr indent="0" marL="0">
              <a:buNone/>
            </a:pPr>
            <a:r>
              <a:rPr lang="en-US" sz="1000" dirty="0">
                <a:solidFill>
                  <a:srgbClr val="5F6368"/>
                </a:solidFill>
                <a:latin typeface="Roboto" pitchFamily="34" charset="0"/>
                <a:ea typeface="Roboto" pitchFamily="34" charset="-122"/>
                <a:cs typeface="Roboto" pitchFamily="34" charset="-120"/>
              </a:rPr>
              <a:t>Translació. Una volta al Sol cada any. Gràfic: professordesocials.cat, CC BY-SA 4.0.</a:t>
            </a:r>
            <a:endParaRPr lang="en-US" sz="1000" dirty="0"/>
          </a:p>
        </p:txBody>
      </p:sp>
      <p:sp>
        <p:nvSpPr>
          <p:cNvPr id="8" name="Targeta Una volta al Sol"/>
          <p:cNvSpPr/>
          <p:nvPr/>
        </p:nvSpPr>
        <p:spPr>
          <a:xfrm>
            <a:off x="5440680" y="1371600"/>
            <a:ext cx="2964028" cy="2743200"/>
          </a:xfrm>
          <a:prstGeom prst="roundRect">
            <a:avLst>
              <a:gd name="adj" fmla="val 3667"/>
            </a:avLst>
          </a:prstGeom>
          <a:solidFill>
            <a:srgbClr val="FFFFFF"/>
          </a:solidFill>
          <a:ln w="12700">
            <a:solidFill>
              <a:srgbClr val="DADCE0"/>
            </a:solidFill>
            <a:prstDash val="solid"/>
          </a:ln>
        </p:spPr>
      </p:sp>
      <p:sp>
        <p:nvSpPr>
          <p:cNvPr id="9" name="Cercle icona"/>
          <p:cNvSpPr/>
          <p:nvPr/>
        </p:nvSpPr>
        <p:spPr>
          <a:xfrm>
            <a:off x="5669280" y="1600200"/>
            <a:ext cx="548640" cy="548640"/>
          </a:xfrm>
          <a:prstGeom prst="ellipse">
            <a:avLst/>
          </a:prstGeom>
          <a:solidFill>
            <a:srgbClr val="E6F4EA"/>
          </a:solidFill>
          <a:ln/>
        </p:spPr>
      </p:sp>
      <p:pic>
        <p:nvPicPr>
          <p:cNvPr id="10" name="Icona TbPlanet" descr="/home/claude/p857/build/img/ic/TbPlanet-g.png">    </p:cNvPr>
          <p:cNvPicPr>
            <a:picLocks noChangeAspect="1"/>
          </p:cNvPicPr>
          <p:nvPr/>
        </p:nvPicPr>
        <p:blipFill>
          <a:blip r:embed="rId2"/>
          <a:stretch>
            <a:fillRect/>
          </a:stretch>
        </p:blipFill>
        <p:spPr>
          <a:xfrm>
            <a:off x="5789981" y="1720901"/>
            <a:ext cx="307238" cy="307238"/>
          </a:xfrm>
          <a:prstGeom prst="rect">
            <a:avLst/>
          </a:prstGeom>
        </p:spPr>
      </p:pic>
      <p:sp>
        <p:nvSpPr>
          <p:cNvPr id="11" name="Text 7"/>
          <p:cNvSpPr txBox="1"/>
          <p:nvPr/>
        </p:nvSpPr>
        <p:spPr>
          <a:xfrm>
            <a:off x="6355080" y="1600200"/>
            <a:ext cx="1866748" cy="548640"/>
          </a:xfrm>
          <a:prstGeom prst="rect">
            <a:avLst/>
          </a:prstGeom>
          <a:noFill/>
          <a:ln/>
        </p:spPr>
        <p:txBody>
          <a:bodyPr wrap="square" lIns="0" tIns="0" rIns="0" bIns="0" rtlCol="0" anchor="ctr"/>
          <a:lstStyle/>
          <a:p>
            <a:pPr indent="0" marL="0">
              <a:buNone/>
            </a:pPr>
            <a:r>
              <a:rPr lang="en-US" sz="1600" b="1" dirty="0">
                <a:solidFill>
                  <a:srgbClr val="5F6368"/>
                </a:solidFill>
                <a:latin typeface="Roboto" pitchFamily="34" charset="0"/>
                <a:ea typeface="Roboto" pitchFamily="34" charset="-122"/>
                <a:cs typeface="Roboto" pitchFamily="34" charset="-120"/>
              </a:rPr>
              <a:t>Una volta al Sol</a:t>
            </a:r>
            <a:endParaRPr lang="en-US" sz="1600" dirty="0"/>
          </a:p>
        </p:txBody>
      </p:sp>
      <p:sp>
        <p:nvSpPr>
          <p:cNvPr id="12" name="Text 8"/>
          <p:cNvSpPr txBox="1"/>
          <p:nvPr/>
        </p:nvSpPr>
        <p:spPr>
          <a:xfrm>
            <a:off x="5669280" y="2286000"/>
            <a:ext cx="2506828" cy="960120"/>
          </a:xfrm>
          <a:prstGeom prst="rect">
            <a:avLst/>
          </a:prstGeom>
          <a:noFill/>
          <a:ln/>
        </p:spPr>
        <p:txBody>
          <a:bodyPr wrap="square" lIns="0" tIns="0" rIns="0" bIns="0" rtlCol="0" anchor="ctr"/>
          <a:lstStyle/>
          <a:p>
            <a:pPr indent="0" marL="0">
              <a:buNone/>
            </a:pPr>
            <a:r>
              <a:rPr lang="en-US" sz="2800" b="1" dirty="0">
                <a:solidFill>
                  <a:srgbClr val="188038"/>
                </a:solidFill>
                <a:latin typeface="Roboto" pitchFamily="34" charset="0"/>
                <a:ea typeface="Roboto" pitchFamily="34" charset="-122"/>
                <a:cs typeface="Roboto" pitchFamily="34" charset="-120"/>
              </a:rPr>
              <a:t>365 dies</a:t>
            </a:r>
            <a:endParaRPr lang="en-US" sz="2800" dirty="0"/>
          </a:p>
        </p:txBody>
      </p:sp>
      <p:sp>
        <p:nvSpPr>
          <p:cNvPr id="13" name="Text 9"/>
          <p:cNvSpPr txBox="1"/>
          <p:nvPr/>
        </p:nvSpPr>
        <p:spPr>
          <a:xfrm>
            <a:off x="5669280" y="3291840"/>
            <a:ext cx="2506828" cy="685800"/>
          </a:xfrm>
          <a:prstGeom prst="rect">
            <a:avLst/>
          </a:prstGeom>
          <a:noFill/>
          <a:ln/>
        </p:spPr>
        <p:txBody>
          <a:bodyPr wrap="square" lIns="0" tIns="0" rIns="0" bIns="0" rtlCol="0" anchor="t"/>
          <a:lstStyle/>
          <a:p>
            <a:pPr indent="0" marL="0">
              <a:buNone/>
            </a:pPr>
            <a:r>
              <a:rPr lang="en-US" sz="1650" dirty="0">
                <a:solidFill>
                  <a:srgbClr val="202124"/>
                </a:solidFill>
                <a:latin typeface="Roboto" pitchFamily="34" charset="0"/>
                <a:ea typeface="Roboto" pitchFamily="34" charset="-122"/>
                <a:cs typeface="Roboto" pitchFamily="34" charset="-120"/>
              </a:rPr>
              <a:t>i gairebé 6 hores més. És un any.</a:t>
            </a:r>
            <a:endParaRPr lang="en-US" sz="1650" dirty="0"/>
          </a:p>
        </p:txBody>
      </p:sp>
      <p:sp>
        <p:nvSpPr>
          <p:cNvPr id="14" name="Targeta Cada quatre anys"/>
          <p:cNvSpPr/>
          <p:nvPr/>
        </p:nvSpPr>
        <p:spPr>
          <a:xfrm>
            <a:off x="8679028" y="1371600"/>
            <a:ext cx="2964028" cy="2743200"/>
          </a:xfrm>
          <a:prstGeom prst="roundRect">
            <a:avLst>
              <a:gd name="adj" fmla="val 3667"/>
            </a:avLst>
          </a:prstGeom>
          <a:solidFill>
            <a:srgbClr val="188038"/>
          </a:solidFill>
          <a:ln/>
        </p:spPr>
      </p:sp>
      <p:sp>
        <p:nvSpPr>
          <p:cNvPr id="15" name="Cercle icona"/>
          <p:cNvSpPr/>
          <p:nvPr/>
        </p:nvSpPr>
        <p:spPr>
          <a:xfrm>
            <a:off x="8907628" y="1600200"/>
            <a:ext cx="548640" cy="548640"/>
          </a:xfrm>
          <a:prstGeom prst="ellipse">
            <a:avLst/>
          </a:prstGeom>
          <a:solidFill>
            <a:srgbClr val="FFFFFF"/>
          </a:solidFill>
          <a:ln/>
        </p:spPr>
      </p:sp>
      <p:pic>
        <p:nvPicPr>
          <p:cNvPr id="16" name="Icona TbCalendarEvent" descr="/home/claude/p857/build/img/ic/TbCalendarEvent-g.png">    </p:cNvPr>
          <p:cNvPicPr>
            <a:picLocks noChangeAspect="1"/>
          </p:cNvPicPr>
          <p:nvPr/>
        </p:nvPicPr>
        <p:blipFill>
          <a:blip r:embed="rId3"/>
          <a:stretch>
            <a:fillRect/>
          </a:stretch>
        </p:blipFill>
        <p:spPr>
          <a:xfrm>
            <a:off x="9028328" y="1720901"/>
            <a:ext cx="307238" cy="307238"/>
          </a:xfrm>
          <a:prstGeom prst="rect">
            <a:avLst/>
          </a:prstGeom>
        </p:spPr>
      </p:pic>
      <p:sp>
        <p:nvSpPr>
          <p:cNvPr id="17" name="Text 12"/>
          <p:cNvSpPr txBox="1"/>
          <p:nvPr/>
        </p:nvSpPr>
        <p:spPr>
          <a:xfrm>
            <a:off x="9593428" y="1600200"/>
            <a:ext cx="1866748" cy="548640"/>
          </a:xfrm>
          <a:prstGeom prst="rect">
            <a:avLst/>
          </a:prstGeom>
          <a:noFill/>
          <a:ln/>
        </p:spPr>
        <p:txBody>
          <a:bodyPr wrap="square" lIns="0" tIns="0" rIns="0" bIns="0" rtlCol="0" anchor="ctr"/>
          <a:lstStyle/>
          <a:p>
            <a:pPr indent="0" marL="0">
              <a:buNone/>
            </a:pPr>
            <a:r>
              <a:rPr lang="en-US" sz="1600" b="1" dirty="0">
                <a:solidFill>
                  <a:srgbClr val="FFFFFF"/>
                </a:solidFill>
                <a:latin typeface="Roboto" pitchFamily="34" charset="0"/>
                <a:ea typeface="Roboto" pitchFamily="34" charset="-122"/>
                <a:cs typeface="Roboto" pitchFamily="34" charset="-120"/>
              </a:rPr>
              <a:t>Cada quatre anys</a:t>
            </a:r>
            <a:endParaRPr lang="en-US" sz="1600" dirty="0"/>
          </a:p>
        </p:txBody>
      </p:sp>
      <p:sp>
        <p:nvSpPr>
          <p:cNvPr id="18" name="Text 13"/>
          <p:cNvSpPr txBox="1"/>
          <p:nvPr/>
        </p:nvSpPr>
        <p:spPr>
          <a:xfrm>
            <a:off x="8907628" y="2286000"/>
            <a:ext cx="2506828" cy="960120"/>
          </a:xfrm>
          <a:prstGeom prst="rect">
            <a:avLst/>
          </a:prstGeom>
          <a:noFill/>
          <a:ln/>
        </p:spPr>
        <p:txBody>
          <a:bodyPr wrap="square" lIns="0" tIns="0" rIns="0" bIns="0" rtlCol="0" anchor="ctr"/>
          <a:lstStyle/>
          <a:p>
            <a:pPr indent="0" marL="0">
              <a:buNone/>
            </a:pPr>
            <a:r>
              <a:rPr lang="en-US" sz="2800" b="1" dirty="0">
                <a:solidFill>
                  <a:srgbClr val="FFFFFF"/>
                </a:solidFill>
                <a:latin typeface="Roboto" pitchFamily="34" charset="0"/>
                <a:ea typeface="Roboto" pitchFamily="34" charset="-122"/>
                <a:cs typeface="Roboto" pitchFamily="34" charset="-120"/>
              </a:rPr>
              <a:t>29 de febrer</a:t>
            </a:r>
            <a:endParaRPr lang="en-US" sz="2800" dirty="0"/>
          </a:p>
        </p:txBody>
      </p:sp>
      <p:sp>
        <p:nvSpPr>
          <p:cNvPr id="19" name="Text 14"/>
          <p:cNvSpPr txBox="1"/>
          <p:nvPr/>
        </p:nvSpPr>
        <p:spPr>
          <a:xfrm>
            <a:off x="8907628" y="3291840"/>
            <a:ext cx="2506828" cy="685800"/>
          </a:xfrm>
          <a:prstGeom prst="rect">
            <a:avLst/>
          </a:prstGeom>
          <a:noFill/>
          <a:ln/>
        </p:spPr>
        <p:txBody>
          <a:bodyPr wrap="square" lIns="0" tIns="0" rIns="0" bIns="0" rtlCol="0" anchor="t"/>
          <a:lstStyle/>
          <a:p>
            <a:pPr indent="0" marL="0">
              <a:buNone/>
            </a:pPr>
            <a:r>
              <a:rPr lang="en-US" sz="1650" dirty="0">
                <a:solidFill>
                  <a:srgbClr val="FFFFFF"/>
                </a:solidFill>
                <a:latin typeface="Roboto" pitchFamily="34" charset="0"/>
                <a:ea typeface="Roboto" pitchFamily="34" charset="-122"/>
                <a:cs typeface="Roboto" pitchFamily="34" charset="-120"/>
              </a:rPr>
              <a:t>Afegim un dia i tenim un any de traspàs.</a:t>
            </a:r>
            <a:endParaRPr lang="en-US" sz="1650" dirty="0"/>
          </a:p>
        </p:txBody>
      </p:sp>
      <p:sp>
        <p:nvSpPr>
          <p:cNvPr id="20" name="Paraula clau · Translació"/>
          <p:cNvSpPr/>
          <p:nvPr/>
        </p:nvSpPr>
        <p:spPr>
          <a:xfrm>
            <a:off x="5440680" y="4343400"/>
            <a:ext cx="6202375" cy="1645920"/>
          </a:xfrm>
          <a:prstGeom prst="roundRect">
            <a:avLst>
              <a:gd name="adj" fmla="val 6111"/>
            </a:avLst>
          </a:prstGeom>
          <a:solidFill>
            <a:srgbClr val="E6F4EA"/>
          </a:solidFill>
          <a:ln/>
        </p:spPr>
      </p:sp>
      <p:sp>
        <p:nvSpPr>
          <p:cNvPr id="21" name="Text 16"/>
          <p:cNvSpPr txBox="1"/>
          <p:nvPr/>
        </p:nvSpPr>
        <p:spPr>
          <a:xfrm>
            <a:off x="5760720" y="4498848"/>
            <a:ext cx="5562295" cy="320040"/>
          </a:xfrm>
          <a:prstGeom prst="rect">
            <a:avLst/>
          </a:prstGeom>
          <a:noFill/>
          <a:ln/>
        </p:spPr>
        <p:txBody>
          <a:bodyPr wrap="square" lIns="0" tIns="0" rIns="0" bIns="0" rtlCol="0" anchor="t"/>
          <a:lstStyle/>
          <a:p>
            <a:pPr indent="0" marL="0">
              <a:buNone/>
            </a:pPr>
            <a:r>
              <a:rPr lang="en-US" sz="1400" b="1" dirty="0">
                <a:solidFill>
                  <a:srgbClr val="188038"/>
                </a:solidFill>
                <a:latin typeface="Roboto" pitchFamily="34" charset="0"/>
                <a:ea typeface="Roboto" pitchFamily="34" charset="-122"/>
                <a:cs typeface="Roboto" pitchFamily="34" charset="-120"/>
              </a:rPr>
              <a:t>Paraula clau · Translació</a:t>
            </a:r>
            <a:endParaRPr lang="en-US" sz="1400" dirty="0"/>
          </a:p>
        </p:txBody>
      </p:sp>
      <p:sp>
        <p:nvSpPr>
          <p:cNvPr id="22" name="Text 17"/>
          <p:cNvSpPr txBox="1"/>
          <p:nvPr/>
        </p:nvSpPr>
        <p:spPr>
          <a:xfrm>
            <a:off x="5760720" y="4846320"/>
            <a:ext cx="5562295" cy="1005840"/>
          </a:xfrm>
          <a:prstGeom prst="rect">
            <a:avLst/>
          </a:prstGeom>
          <a:noFill/>
          <a:ln/>
        </p:spPr>
        <p:txBody>
          <a:bodyPr wrap="square" lIns="0" tIns="0" rIns="0" bIns="0" rtlCol="0" anchor="t"/>
          <a:lstStyle/>
          <a:p>
            <a:pPr indent="0" marL="0">
              <a:buNone/>
            </a:pPr>
            <a:r>
              <a:rPr lang="en-US" sz="1700" dirty="0">
                <a:solidFill>
                  <a:srgbClr val="202124"/>
                </a:solidFill>
                <a:latin typeface="Roboto" pitchFamily="34" charset="0"/>
                <a:ea typeface="Roboto" pitchFamily="34" charset="-122"/>
                <a:cs typeface="Roboto" pitchFamily="34" charset="-120"/>
              </a:rPr>
              <a:t>Moviment de la Terra al voltant del Sol, que dura un any i, juntament amb la inclinació de l'eix, provoca les estacions.</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4</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Per què hi ha estacions?</a:t>
            </a:r>
            <a:endParaRPr lang="en-US" sz="2800" dirty="0"/>
          </a:p>
        </p:txBody>
      </p:sp>
      <p:sp>
        <p:nvSpPr>
          <p:cNvPr id="5" name="Targeta L'eix està inclinat"/>
          <p:cNvSpPr/>
          <p:nvPr/>
        </p:nvSpPr>
        <p:spPr>
          <a:xfrm>
            <a:off x="548640" y="1371600"/>
            <a:ext cx="3515258" cy="3154680"/>
          </a:xfrm>
          <a:prstGeom prst="roundRect">
            <a:avLst>
              <a:gd name="adj" fmla="val 3188"/>
            </a:avLst>
          </a:prstGeom>
          <a:solidFill>
            <a:srgbClr val="FFFFFF"/>
          </a:solidFill>
          <a:ln w="12700">
            <a:solidFill>
              <a:srgbClr val="DADCE0"/>
            </a:solidFill>
            <a:prstDash val="solid"/>
          </a:ln>
        </p:spPr>
      </p:sp>
      <p:sp>
        <p:nvSpPr>
          <p:cNvPr id="6" name="Cercle icona"/>
          <p:cNvSpPr/>
          <p:nvPr/>
        </p:nvSpPr>
        <p:spPr>
          <a:xfrm>
            <a:off x="777240" y="1600200"/>
            <a:ext cx="640080" cy="640080"/>
          </a:xfrm>
          <a:prstGeom prst="ellipse">
            <a:avLst/>
          </a:prstGeom>
          <a:solidFill>
            <a:srgbClr val="E6F4EA"/>
          </a:solidFill>
          <a:ln/>
        </p:spPr>
      </p:sp>
      <p:pic>
        <p:nvPicPr>
          <p:cNvPr id="7" name="Icona TbAngle" descr="/home/claude/p857/build/img/ic/TbAngle-g.png">    </p:cNvPr>
          <p:cNvPicPr>
            <a:picLocks noChangeAspect="1"/>
          </p:cNvPicPr>
          <p:nvPr/>
        </p:nvPicPr>
        <p:blipFill>
          <a:blip r:embed="rId1"/>
          <a:stretch>
            <a:fillRect/>
          </a:stretch>
        </p:blipFill>
        <p:spPr>
          <a:xfrm>
            <a:off x="918058" y="1741018"/>
            <a:ext cx="358445" cy="358445"/>
          </a:xfrm>
          <a:prstGeom prst="rect">
            <a:avLst/>
          </a:prstGeom>
        </p:spPr>
      </p:pic>
      <p:sp>
        <p:nvSpPr>
          <p:cNvPr id="8" name="Text 5"/>
          <p:cNvSpPr txBox="1"/>
          <p:nvPr/>
        </p:nvSpPr>
        <p:spPr>
          <a:xfrm>
            <a:off x="1554480" y="1600200"/>
            <a:ext cx="2280818" cy="640080"/>
          </a:xfrm>
          <a:prstGeom prst="rect">
            <a:avLst/>
          </a:prstGeom>
          <a:noFill/>
          <a:ln/>
        </p:spPr>
        <p:txBody>
          <a:bodyPr wrap="square" lIns="0" tIns="0" rIns="0" bIns="0" rtlCol="0" anchor="ctr"/>
          <a:lstStyle/>
          <a:p>
            <a:pPr indent="0" marL="0">
              <a:buNone/>
            </a:pPr>
            <a:r>
              <a:rPr lang="en-US" sz="2000" b="1" dirty="0">
                <a:solidFill>
                  <a:srgbClr val="188038"/>
                </a:solidFill>
                <a:latin typeface="Roboto" pitchFamily="34" charset="0"/>
                <a:ea typeface="Roboto" pitchFamily="34" charset="-122"/>
                <a:cs typeface="Roboto" pitchFamily="34" charset="-120"/>
              </a:rPr>
              <a:t>L'eix està inclinat</a:t>
            </a:r>
            <a:endParaRPr lang="en-US" sz="2000" dirty="0"/>
          </a:p>
        </p:txBody>
      </p:sp>
      <p:sp>
        <p:nvSpPr>
          <p:cNvPr id="9" name="Text 6"/>
          <p:cNvSpPr txBox="1"/>
          <p:nvPr/>
        </p:nvSpPr>
        <p:spPr>
          <a:xfrm>
            <a:off x="777240" y="2377440"/>
            <a:ext cx="3058058" cy="2011680"/>
          </a:xfrm>
          <a:prstGeom prst="rect">
            <a:avLst/>
          </a:prstGeom>
          <a:noFill/>
          <a:ln/>
        </p:spPr>
        <p:txBody>
          <a:bodyPr wrap="square" lIns="0" tIns="0" rIns="0" bIns="0" rtlCol="0" anchor="t"/>
          <a:lstStyle/>
          <a:p>
            <a:pPr indent="0" marL="0">
              <a:buNone/>
            </a:pPr>
            <a:r>
              <a:rPr lang="en-US" sz="1750" dirty="0">
                <a:solidFill>
                  <a:srgbClr val="202124"/>
                </a:solidFill>
                <a:latin typeface="Roboto" pitchFamily="34" charset="0"/>
                <a:ea typeface="Roboto" pitchFamily="34" charset="-122"/>
                <a:cs typeface="Roboto" pitchFamily="34" charset="-120"/>
              </a:rPr>
              <a:t>Uns 23,5°, i sempre cap al mateix costat.</a:t>
            </a:r>
            <a:endParaRPr lang="en-US" sz="1750" dirty="0"/>
          </a:p>
        </p:txBody>
      </p:sp>
      <p:sp>
        <p:nvSpPr>
          <p:cNvPr id="10" name="Targeta Al juny"/>
          <p:cNvSpPr/>
          <p:nvPr/>
        </p:nvSpPr>
        <p:spPr>
          <a:xfrm>
            <a:off x="4338218" y="1371600"/>
            <a:ext cx="3515258" cy="3154680"/>
          </a:xfrm>
          <a:prstGeom prst="roundRect">
            <a:avLst>
              <a:gd name="adj" fmla="val 3188"/>
            </a:avLst>
          </a:prstGeom>
          <a:solidFill>
            <a:srgbClr val="188038"/>
          </a:solidFill>
          <a:ln/>
        </p:spPr>
      </p:sp>
      <p:sp>
        <p:nvSpPr>
          <p:cNvPr id="11" name="Cercle icona"/>
          <p:cNvSpPr/>
          <p:nvPr/>
        </p:nvSpPr>
        <p:spPr>
          <a:xfrm>
            <a:off x="4566818" y="1600200"/>
            <a:ext cx="640080" cy="640080"/>
          </a:xfrm>
          <a:prstGeom prst="ellipse">
            <a:avLst/>
          </a:prstGeom>
          <a:solidFill>
            <a:srgbClr val="FFFFFF"/>
          </a:solidFill>
          <a:ln/>
        </p:spPr>
      </p:sp>
      <p:pic>
        <p:nvPicPr>
          <p:cNvPr id="12" name="Icona TbSun" descr="/home/claude/p857/build/img/ic/TbSun-g.png">    </p:cNvPr>
          <p:cNvPicPr>
            <a:picLocks noChangeAspect="1"/>
          </p:cNvPicPr>
          <p:nvPr/>
        </p:nvPicPr>
        <p:blipFill>
          <a:blip r:embed="rId2"/>
          <a:stretch>
            <a:fillRect/>
          </a:stretch>
        </p:blipFill>
        <p:spPr>
          <a:xfrm>
            <a:off x="4707636" y="1741018"/>
            <a:ext cx="358445" cy="358445"/>
          </a:xfrm>
          <a:prstGeom prst="rect">
            <a:avLst/>
          </a:prstGeom>
        </p:spPr>
      </p:pic>
      <p:sp>
        <p:nvSpPr>
          <p:cNvPr id="13" name="Text 9"/>
          <p:cNvSpPr txBox="1"/>
          <p:nvPr/>
        </p:nvSpPr>
        <p:spPr>
          <a:xfrm>
            <a:off x="5344058" y="1600200"/>
            <a:ext cx="2280818" cy="640080"/>
          </a:xfrm>
          <a:prstGeom prst="rect">
            <a:avLst/>
          </a:prstGeom>
          <a:noFill/>
          <a:ln/>
        </p:spPr>
        <p:txBody>
          <a:bodyPr wrap="square" lIns="0" tIns="0" rIns="0" bIns="0" rtlCol="0" anchor="ctr"/>
          <a:lstStyle/>
          <a:p>
            <a:pPr indent="0" marL="0">
              <a:buNone/>
            </a:pPr>
            <a:r>
              <a:rPr lang="en-US" sz="2000" b="1" dirty="0">
                <a:solidFill>
                  <a:srgbClr val="FFFFFF"/>
                </a:solidFill>
                <a:latin typeface="Roboto" pitchFamily="34" charset="0"/>
                <a:ea typeface="Roboto" pitchFamily="34" charset="-122"/>
                <a:cs typeface="Roboto" pitchFamily="34" charset="-120"/>
              </a:rPr>
              <a:t>Al juny</a:t>
            </a:r>
            <a:endParaRPr lang="en-US" sz="2000" dirty="0"/>
          </a:p>
        </p:txBody>
      </p:sp>
      <p:sp>
        <p:nvSpPr>
          <p:cNvPr id="14" name="Text 10"/>
          <p:cNvSpPr txBox="1"/>
          <p:nvPr/>
        </p:nvSpPr>
        <p:spPr>
          <a:xfrm>
            <a:off x="4566818" y="2377440"/>
            <a:ext cx="3058058" cy="2011680"/>
          </a:xfrm>
          <a:prstGeom prst="rect">
            <a:avLst/>
          </a:prstGeom>
          <a:noFill/>
          <a:ln/>
        </p:spPr>
        <p:txBody>
          <a:bodyPr wrap="square" lIns="0" tIns="0" rIns="0" bIns="0" rtlCol="0" anchor="t"/>
          <a:lstStyle/>
          <a:p>
            <a:pPr indent="0" marL="0">
              <a:buNone/>
            </a:pPr>
            <a:r>
              <a:rPr lang="en-US" sz="1750" dirty="0">
                <a:solidFill>
                  <a:srgbClr val="FFFFFF"/>
                </a:solidFill>
                <a:latin typeface="Roboto" pitchFamily="34" charset="0"/>
                <a:ea typeface="Roboto" pitchFamily="34" charset="-122"/>
                <a:cs typeface="Roboto" pitchFamily="34" charset="-120"/>
              </a:rPr>
              <a:t>L'hemisferi nord s'inclina cap al Sol. Els raigs hi arriben més drets i els dies són més llargs. Hi és estiu.</a:t>
            </a:r>
            <a:endParaRPr lang="en-US" sz="1750" dirty="0"/>
          </a:p>
        </p:txBody>
      </p:sp>
      <p:sp>
        <p:nvSpPr>
          <p:cNvPr id="15" name="Targeta Al desembre"/>
          <p:cNvSpPr/>
          <p:nvPr/>
        </p:nvSpPr>
        <p:spPr>
          <a:xfrm>
            <a:off x="8127797" y="1371600"/>
            <a:ext cx="3515258" cy="3154680"/>
          </a:xfrm>
          <a:prstGeom prst="roundRect">
            <a:avLst>
              <a:gd name="adj" fmla="val 3188"/>
            </a:avLst>
          </a:prstGeom>
          <a:solidFill>
            <a:srgbClr val="FFFFFF"/>
          </a:solidFill>
          <a:ln w="12700">
            <a:solidFill>
              <a:srgbClr val="DADCE0"/>
            </a:solidFill>
            <a:prstDash val="solid"/>
          </a:ln>
        </p:spPr>
      </p:sp>
      <p:sp>
        <p:nvSpPr>
          <p:cNvPr id="16" name="Cercle icona"/>
          <p:cNvSpPr/>
          <p:nvPr/>
        </p:nvSpPr>
        <p:spPr>
          <a:xfrm>
            <a:off x="8356397" y="1600200"/>
            <a:ext cx="640080" cy="640080"/>
          </a:xfrm>
          <a:prstGeom prst="ellipse">
            <a:avLst/>
          </a:prstGeom>
          <a:solidFill>
            <a:srgbClr val="E6F4EA"/>
          </a:solidFill>
          <a:ln/>
        </p:spPr>
      </p:sp>
      <p:pic>
        <p:nvPicPr>
          <p:cNvPr id="17" name="Icona TbSnowflake" descr="/home/claude/p857/build/img/ic/TbSnowflake-g.png">    </p:cNvPr>
          <p:cNvPicPr>
            <a:picLocks noChangeAspect="1"/>
          </p:cNvPicPr>
          <p:nvPr/>
        </p:nvPicPr>
        <p:blipFill>
          <a:blip r:embed="rId3"/>
          <a:stretch>
            <a:fillRect/>
          </a:stretch>
        </p:blipFill>
        <p:spPr>
          <a:xfrm>
            <a:off x="8497214" y="1741018"/>
            <a:ext cx="358445" cy="358445"/>
          </a:xfrm>
          <a:prstGeom prst="rect">
            <a:avLst/>
          </a:prstGeom>
        </p:spPr>
      </p:pic>
      <p:sp>
        <p:nvSpPr>
          <p:cNvPr id="18" name="Text 13"/>
          <p:cNvSpPr txBox="1"/>
          <p:nvPr/>
        </p:nvSpPr>
        <p:spPr>
          <a:xfrm>
            <a:off x="9133637" y="1600200"/>
            <a:ext cx="2280818" cy="640080"/>
          </a:xfrm>
          <a:prstGeom prst="rect">
            <a:avLst/>
          </a:prstGeom>
          <a:noFill/>
          <a:ln/>
        </p:spPr>
        <p:txBody>
          <a:bodyPr wrap="square" lIns="0" tIns="0" rIns="0" bIns="0" rtlCol="0" anchor="ctr"/>
          <a:lstStyle/>
          <a:p>
            <a:pPr indent="0" marL="0">
              <a:buNone/>
            </a:pPr>
            <a:r>
              <a:rPr lang="en-US" sz="2000" b="1" dirty="0">
                <a:solidFill>
                  <a:srgbClr val="188038"/>
                </a:solidFill>
                <a:latin typeface="Roboto" pitchFamily="34" charset="0"/>
                <a:ea typeface="Roboto" pitchFamily="34" charset="-122"/>
                <a:cs typeface="Roboto" pitchFamily="34" charset="-120"/>
              </a:rPr>
              <a:t>Al desembre</a:t>
            </a:r>
            <a:endParaRPr lang="en-US" sz="2000" dirty="0"/>
          </a:p>
        </p:txBody>
      </p:sp>
      <p:sp>
        <p:nvSpPr>
          <p:cNvPr id="19" name="Text 14"/>
          <p:cNvSpPr txBox="1"/>
          <p:nvPr/>
        </p:nvSpPr>
        <p:spPr>
          <a:xfrm>
            <a:off x="8356397" y="2377440"/>
            <a:ext cx="3058058" cy="2011680"/>
          </a:xfrm>
          <a:prstGeom prst="rect">
            <a:avLst/>
          </a:prstGeom>
          <a:noFill/>
          <a:ln/>
        </p:spPr>
        <p:txBody>
          <a:bodyPr wrap="square" lIns="0" tIns="0" rIns="0" bIns="0" rtlCol="0" anchor="t"/>
          <a:lstStyle/>
          <a:p>
            <a:pPr indent="0" marL="0">
              <a:buNone/>
            </a:pPr>
            <a:r>
              <a:rPr lang="en-US" sz="1750" dirty="0">
                <a:solidFill>
                  <a:srgbClr val="202124"/>
                </a:solidFill>
                <a:latin typeface="Roboto" pitchFamily="34" charset="0"/>
                <a:ea typeface="Roboto" pitchFamily="34" charset="-122"/>
                <a:cs typeface="Roboto" pitchFamily="34" charset="-120"/>
              </a:rPr>
              <a:t>És al revés. A l'hemisferi nord és hivern i al sud, estiu.</a:t>
            </a:r>
            <a:endParaRPr lang="en-US" sz="1750" dirty="0"/>
          </a:p>
        </p:txBody>
      </p:sp>
      <p:sp>
        <p:nvSpPr>
          <p:cNvPr id="20" name="Compte"/>
          <p:cNvSpPr/>
          <p:nvPr/>
        </p:nvSpPr>
        <p:spPr>
          <a:xfrm>
            <a:off x="548640" y="4754880"/>
            <a:ext cx="11094415" cy="1234440"/>
          </a:xfrm>
          <a:prstGeom prst="roundRect">
            <a:avLst>
              <a:gd name="adj" fmla="val 8148"/>
            </a:avLst>
          </a:prstGeom>
          <a:solidFill>
            <a:srgbClr val="F6F8FB"/>
          </a:solidFill>
          <a:ln/>
        </p:spPr>
      </p:sp>
      <p:sp>
        <p:nvSpPr>
          <p:cNvPr id="21" name="Text 16"/>
          <p:cNvSpPr txBox="1"/>
          <p:nvPr/>
        </p:nvSpPr>
        <p:spPr>
          <a:xfrm>
            <a:off x="868680" y="4910328"/>
            <a:ext cx="10454335" cy="320040"/>
          </a:xfrm>
          <a:prstGeom prst="rect">
            <a:avLst/>
          </a:prstGeom>
          <a:noFill/>
          <a:ln/>
        </p:spPr>
        <p:txBody>
          <a:bodyPr wrap="square" lIns="0" tIns="0" rIns="0" bIns="0" rtlCol="0" anchor="t"/>
          <a:lstStyle/>
          <a:p>
            <a:pPr indent="0" marL="0">
              <a:buNone/>
            </a:pPr>
            <a:r>
              <a:rPr lang="en-US" sz="1400" b="1" dirty="0">
                <a:solidFill>
                  <a:srgbClr val="202124"/>
                </a:solidFill>
                <a:latin typeface="Roboto" pitchFamily="34" charset="0"/>
                <a:ea typeface="Roboto" pitchFamily="34" charset="-122"/>
                <a:cs typeface="Roboto" pitchFamily="34" charset="-120"/>
              </a:rPr>
              <a:t>Compte</a:t>
            </a:r>
            <a:endParaRPr lang="en-US" sz="1400" dirty="0"/>
          </a:p>
        </p:txBody>
      </p:sp>
      <p:sp>
        <p:nvSpPr>
          <p:cNvPr id="22" name="Text 17"/>
          <p:cNvSpPr txBox="1"/>
          <p:nvPr/>
        </p:nvSpPr>
        <p:spPr>
          <a:xfrm>
            <a:off x="868680" y="5257800"/>
            <a:ext cx="10454335" cy="594360"/>
          </a:xfrm>
          <a:prstGeom prst="rect">
            <a:avLst/>
          </a:prstGeom>
          <a:noFill/>
          <a:ln/>
        </p:spPr>
        <p:txBody>
          <a:bodyPr wrap="square" lIns="0" tIns="0" rIns="0" bIns="0" rtlCol="0" anchor="t"/>
          <a:lstStyle/>
          <a:p>
            <a:pPr indent="0" marL="0">
              <a:buNone/>
            </a:pPr>
            <a:r>
              <a:rPr lang="en-US" sz="1800" dirty="0">
                <a:solidFill>
                  <a:srgbClr val="5F6368"/>
                </a:solidFill>
                <a:latin typeface="Roboto" pitchFamily="34" charset="0"/>
                <a:ea typeface="Roboto" pitchFamily="34" charset="-122"/>
                <a:cs typeface="Roboto" pitchFamily="34" charset="-120"/>
              </a:rPr>
              <a:t>No és que la Terra s'acosti o s'allunyi del Sol. Les estacions existeixen perquè la Terra està inclinada.</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4</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Els fusos horaris</a:t>
            </a:r>
            <a:endParaRPr lang="en-US" sz="2800" dirty="0"/>
          </a:p>
        </p:txBody>
      </p:sp>
      <p:sp>
        <p:nvSpPr>
          <p:cNvPr id="5" name="Pas 1"/>
          <p:cNvSpPr/>
          <p:nvPr/>
        </p:nvSpPr>
        <p:spPr>
          <a:xfrm>
            <a:off x="548640" y="1371600"/>
            <a:ext cx="3362858" cy="2697480"/>
          </a:xfrm>
          <a:prstGeom prst="roundRect">
            <a:avLst>
              <a:gd name="adj" fmla="val 3729"/>
            </a:avLst>
          </a:prstGeom>
          <a:solidFill>
            <a:srgbClr val="FFFFFF"/>
          </a:solidFill>
          <a:ln w="12700">
            <a:solidFill>
              <a:srgbClr val="DADCE0"/>
            </a:solidFill>
            <a:prstDash val="solid"/>
          </a:ln>
        </p:spPr>
      </p:sp>
      <p:sp>
        <p:nvSpPr>
          <p:cNvPr id="6" name="Cercle icona"/>
          <p:cNvSpPr/>
          <p:nvPr/>
        </p:nvSpPr>
        <p:spPr>
          <a:xfrm>
            <a:off x="804672" y="1627632"/>
            <a:ext cx="685800" cy="685800"/>
          </a:xfrm>
          <a:prstGeom prst="ellipse">
            <a:avLst/>
          </a:prstGeom>
          <a:solidFill>
            <a:srgbClr val="E6F4EA"/>
          </a:solidFill>
          <a:ln/>
        </p:spPr>
      </p:sp>
      <p:pic>
        <p:nvPicPr>
          <p:cNvPr id="7" name="Icona TbRotateClockwise" descr="/home/claude/p857/build/img/ic/TbRotateClockwise-g.png">    </p:cNvPr>
          <p:cNvPicPr>
            <a:picLocks noChangeAspect="1"/>
          </p:cNvPicPr>
          <p:nvPr/>
        </p:nvPicPr>
        <p:blipFill>
          <a:blip r:embed="rId1"/>
          <a:stretch>
            <a:fillRect/>
          </a:stretch>
        </p:blipFill>
        <p:spPr>
          <a:xfrm>
            <a:off x="955548" y="1778508"/>
            <a:ext cx="384048" cy="384048"/>
          </a:xfrm>
          <a:prstGeom prst="rect">
            <a:avLst/>
          </a:prstGeom>
        </p:spPr>
      </p:pic>
      <p:sp>
        <p:nvSpPr>
          <p:cNvPr id="8" name="Text 5"/>
          <p:cNvSpPr txBox="1"/>
          <p:nvPr/>
        </p:nvSpPr>
        <p:spPr>
          <a:xfrm>
            <a:off x="3225698" y="1627632"/>
            <a:ext cx="411480" cy="411480"/>
          </a:xfrm>
          <a:prstGeom prst="rect">
            <a:avLst/>
          </a:prstGeom>
          <a:noFill/>
          <a:ln/>
        </p:spPr>
        <p:txBody>
          <a:bodyPr wrap="square" lIns="0" tIns="0" rIns="0" bIns="0" rtlCol="0" anchor="t"/>
          <a:lstStyle/>
          <a:p>
            <a:pPr algn="r" indent="0" marL="0">
              <a:buNone/>
            </a:pPr>
            <a:r>
              <a:rPr lang="en-US" sz="2200" b="1" dirty="0">
                <a:solidFill>
                  <a:srgbClr val="DADCE0"/>
                </a:solidFill>
                <a:latin typeface="Roboto" pitchFamily="34" charset="0"/>
                <a:ea typeface="Roboto" pitchFamily="34" charset="-122"/>
                <a:cs typeface="Roboto" pitchFamily="34" charset="-120"/>
              </a:rPr>
              <a:t>1</a:t>
            </a:r>
            <a:endParaRPr lang="en-US" sz="2200" dirty="0"/>
          </a:p>
        </p:txBody>
      </p:sp>
      <p:sp>
        <p:nvSpPr>
          <p:cNvPr id="9" name="Text 6"/>
          <p:cNvSpPr txBox="1"/>
          <p:nvPr/>
        </p:nvSpPr>
        <p:spPr>
          <a:xfrm>
            <a:off x="804672" y="2468880"/>
            <a:ext cx="2850794" cy="317500"/>
          </a:xfrm>
          <a:prstGeom prst="rect">
            <a:avLst/>
          </a:prstGeom>
          <a:noFill/>
          <a:ln/>
        </p:spPr>
        <p:txBody>
          <a:bodyPr wrap="square" lIns="0" tIns="0" rIns="0" bIns="0" rtlCol="0" anchor="t"/>
          <a:lstStyle/>
          <a:p>
            <a:pPr indent="0" marL="0">
              <a:buNone/>
            </a:pPr>
            <a:r>
              <a:rPr lang="en-US" sz="2000" b="1" dirty="0">
                <a:solidFill>
                  <a:srgbClr val="188038"/>
                </a:solidFill>
                <a:latin typeface="Roboto" pitchFamily="34" charset="0"/>
                <a:ea typeface="Roboto" pitchFamily="34" charset="-122"/>
                <a:cs typeface="Roboto" pitchFamily="34" charset="-120"/>
              </a:rPr>
              <a:t>360° en 24 hores</a:t>
            </a:r>
            <a:endParaRPr lang="en-US" sz="2000" dirty="0"/>
          </a:p>
        </p:txBody>
      </p:sp>
      <p:sp>
        <p:nvSpPr>
          <p:cNvPr id="10" name="Text 7"/>
          <p:cNvSpPr txBox="1"/>
          <p:nvPr/>
        </p:nvSpPr>
        <p:spPr>
          <a:xfrm>
            <a:off x="804672" y="2850388"/>
            <a:ext cx="2850794" cy="1127252"/>
          </a:xfrm>
          <a:prstGeom prst="rect">
            <a:avLst/>
          </a:prstGeom>
          <a:noFill/>
          <a:ln/>
        </p:spPr>
        <p:txBody>
          <a:bodyPr wrap="square" lIns="0" tIns="0" rIns="0" bIns="0" rtlCol="0" anchor="t"/>
          <a:lstStyle/>
          <a:p>
            <a:pPr indent="0" marL="0">
              <a:buNone/>
            </a:pPr>
            <a:r>
              <a:rPr lang="en-US" sz="1700" dirty="0">
                <a:solidFill>
                  <a:srgbClr val="202124"/>
                </a:solidFill>
                <a:latin typeface="Roboto" pitchFamily="34" charset="0"/>
                <a:ea typeface="Roboto" pitchFamily="34" charset="-122"/>
                <a:cs typeface="Roboto" pitchFamily="34" charset="-120"/>
              </a:rPr>
              <a:t>La Terra fa una volta sencera en un dia.</a:t>
            </a:r>
            <a:endParaRPr lang="en-US" sz="1700" dirty="0"/>
          </a:p>
        </p:txBody>
      </p:sp>
      <p:sp>
        <p:nvSpPr>
          <p:cNvPr id="11" name="Fletxa"/>
          <p:cNvSpPr/>
          <p:nvPr/>
        </p:nvSpPr>
        <p:spPr>
          <a:xfrm>
            <a:off x="4071518" y="2583180"/>
            <a:ext cx="182880" cy="274320"/>
          </a:xfrm>
          <a:prstGeom prst="chevron">
            <a:avLst/>
          </a:prstGeom>
          <a:solidFill>
            <a:srgbClr val="188038"/>
          </a:solidFill>
          <a:ln/>
        </p:spPr>
      </p:sp>
      <p:sp>
        <p:nvSpPr>
          <p:cNvPr id="12" name="Pas 2"/>
          <p:cNvSpPr/>
          <p:nvPr/>
        </p:nvSpPr>
        <p:spPr>
          <a:xfrm>
            <a:off x="4414418" y="1371600"/>
            <a:ext cx="3362858" cy="2697480"/>
          </a:xfrm>
          <a:prstGeom prst="roundRect">
            <a:avLst>
              <a:gd name="adj" fmla="val 3729"/>
            </a:avLst>
          </a:prstGeom>
          <a:solidFill>
            <a:srgbClr val="FFFFFF"/>
          </a:solidFill>
          <a:ln w="12700">
            <a:solidFill>
              <a:srgbClr val="DADCE0"/>
            </a:solidFill>
            <a:prstDash val="solid"/>
          </a:ln>
        </p:spPr>
      </p:sp>
      <p:sp>
        <p:nvSpPr>
          <p:cNvPr id="13" name="Cercle icona"/>
          <p:cNvSpPr/>
          <p:nvPr/>
        </p:nvSpPr>
        <p:spPr>
          <a:xfrm>
            <a:off x="4670450" y="1627632"/>
            <a:ext cx="685800" cy="685800"/>
          </a:xfrm>
          <a:prstGeom prst="ellipse">
            <a:avLst/>
          </a:prstGeom>
          <a:solidFill>
            <a:srgbClr val="E6F4EA"/>
          </a:solidFill>
          <a:ln/>
        </p:spPr>
      </p:sp>
      <p:pic>
        <p:nvPicPr>
          <p:cNvPr id="14" name="Icona TbClock" descr="/home/claude/p857/build/img/ic/TbClock-g.png">    </p:cNvPr>
          <p:cNvPicPr>
            <a:picLocks noChangeAspect="1"/>
          </p:cNvPicPr>
          <p:nvPr/>
        </p:nvPicPr>
        <p:blipFill>
          <a:blip r:embed="rId2"/>
          <a:stretch>
            <a:fillRect/>
          </a:stretch>
        </p:blipFill>
        <p:spPr>
          <a:xfrm>
            <a:off x="4821326" y="1778508"/>
            <a:ext cx="384048" cy="384048"/>
          </a:xfrm>
          <a:prstGeom prst="rect">
            <a:avLst/>
          </a:prstGeom>
        </p:spPr>
      </p:pic>
      <p:sp>
        <p:nvSpPr>
          <p:cNvPr id="15" name="Text 11"/>
          <p:cNvSpPr txBox="1"/>
          <p:nvPr/>
        </p:nvSpPr>
        <p:spPr>
          <a:xfrm>
            <a:off x="7091477" y="1627632"/>
            <a:ext cx="411480" cy="411480"/>
          </a:xfrm>
          <a:prstGeom prst="rect">
            <a:avLst/>
          </a:prstGeom>
          <a:noFill/>
          <a:ln/>
        </p:spPr>
        <p:txBody>
          <a:bodyPr wrap="square" lIns="0" tIns="0" rIns="0" bIns="0" rtlCol="0" anchor="t"/>
          <a:lstStyle/>
          <a:p>
            <a:pPr algn="r" indent="0" marL="0">
              <a:buNone/>
            </a:pPr>
            <a:r>
              <a:rPr lang="en-US" sz="2200" b="1" dirty="0">
                <a:solidFill>
                  <a:srgbClr val="DADCE0"/>
                </a:solidFill>
                <a:latin typeface="Roboto" pitchFamily="34" charset="0"/>
                <a:ea typeface="Roboto" pitchFamily="34" charset="-122"/>
                <a:cs typeface="Roboto" pitchFamily="34" charset="-120"/>
              </a:rPr>
              <a:t>2</a:t>
            </a:r>
            <a:endParaRPr lang="en-US" sz="2200" dirty="0"/>
          </a:p>
        </p:txBody>
      </p:sp>
      <p:sp>
        <p:nvSpPr>
          <p:cNvPr id="16" name="Text 12"/>
          <p:cNvSpPr txBox="1"/>
          <p:nvPr/>
        </p:nvSpPr>
        <p:spPr>
          <a:xfrm>
            <a:off x="4670450" y="2468880"/>
            <a:ext cx="2850794" cy="317500"/>
          </a:xfrm>
          <a:prstGeom prst="rect">
            <a:avLst/>
          </a:prstGeom>
          <a:noFill/>
          <a:ln/>
        </p:spPr>
        <p:txBody>
          <a:bodyPr wrap="square" lIns="0" tIns="0" rIns="0" bIns="0" rtlCol="0" anchor="t"/>
          <a:lstStyle/>
          <a:p>
            <a:pPr indent="0" marL="0">
              <a:buNone/>
            </a:pPr>
            <a:r>
              <a:rPr lang="en-US" sz="2000" b="1" dirty="0">
                <a:solidFill>
                  <a:srgbClr val="188038"/>
                </a:solidFill>
                <a:latin typeface="Roboto" pitchFamily="34" charset="0"/>
                <a:ea typeface="Roboto" pitchFamily="34" charset="-122"/>
                <a:cs typeface="Roboto" pitchFamily="34" charset="-120"/>
              </a:rPr>
              <a:t>Cada hora, 15°</a:t>
            </a:r>
            <a:endParaRPr lang="en-US" sz="2000" dirty="0"/>
          </a:p>
        </p:txBody>
      </p:sp>
      <p:sp>
        <p:nvSpPr>
          <p:cNvPr id="17" name="Text 13"/>
          <p:cNvSpPr txBox="1"/>
          <p:nvPr/>
        </p:nvSpPr>
        <p:spPr>
          <a:xfrm>
            <a:off x="4670450" y="2850388"/>
            <a:ext cx="2850794" cy="1127252"/>
          </a:xfrm>
          <a:prstGeom prst="rect">
            <a:avLst/>
          </a:prstGeom>
          <a:noFill/>
          <a:ln/>
        </p:spPr>
        <p:txBody>
          <a:bodyPr wrap="square" lIns="0" tIns="0" rIns="0" bIns="0" rtlCol="0" anchor="t"/>
          <a:lstStyle/>
          <a:p>
            <a:pPr indent="0" marL="0">
              <a:buNone/>
            </a:pPr>
            <a:r>
              <a:rPr lang="en-US" sz="1700" dirty="0">
                <a:solidFill>
                  <a:srgbClr val="202124"/>
                </a:solidFill>
                <a:latin typeface="Roboto" pitchFamily="34" charset="0"/>
                <a:ea typeface="Roboto" pitchFamily="34" charset="-122"/>
                <a:cs typeface="Roboto" pitchFamily="34" charset="-120"/>
              </a:rPr>
              <a:t>360 dividit entre 24 dona 15.</a:t>
            </a:r>
            <a:endParaRPr lang="en-US" sz="1700" dirty="0"/>
          </a:p>
        </p:txBody>
      </p:sp>
      <p:sp>
        <p:nvSpPr>
          <p:cNvPr id="18" name="Fletxa"/>
          <p:cNvSpPr/>
          <p:nvPr/>
        </p:nvSpPr>
        <p:spPr>
          <a:xfrm>
            <a:off x="7937297" y="2583180"/>
            <a:ext cx="182880" cy="274320"/>
          </a:xfrm>
          <a:prstGeom prst="chevron">
            <a:avLst/>
          </a:prstGeom>
          <a:solidFill>
            <a:srgbClr val="188038"/>
          </a:solidFill>
          <a:ln/>
        </p:spPr>
      </p:sp>
      <p:sp>
        <p:nvSpPr>
          <p:cNvPr id="19" name="Pas 3"/>
          <p:cNvSpPr/>
          <p:nvPr/>
        </p:nvSpPr>
        <p:spPr>
          <a:xfrm>
            <a:off x="8280197" y="1371600"/>
            <a:ext cx="3362858" cy="2697480"/>
          </a:xfrm>
          <a:prstGeom prst="roundRect">
            <a:avLst>
              <a:gd name="adj" fmla="val 3729"/>
            </a:avLst>
          </a:prstGeom>
          <a:solidFill>
            <a:srgbClr val="FFFFFF"/>
          </a:solidFill>
          <a:ln w="12700">
            <a:solidFill>
              <a:srgbClr val="DADCE0"/>
            </a:solidFill>
            <a:prstDash val="solid"/>
          </a:ln>
        </p:spPr>
      </p:sp>
      <p:sp>
        <p:nvSpPr>
          <p:cNvPr id="20" name="Cercle icona"/>
          <p:cNvSpPr/>
          <p:nvPr/>
        </p:nvSpPr>
        <p:spPr>
          <a:xfrm>
            <a:off x="8536229" y="1627632"/>
            <a:ext cx="685800" cy="685800"/>
          </a:xfrm>
          <a:prstGeom prst="ellipse">
            <a:avLst/>
          </a:prstGeom>
          <a:solidFill>
            <a:srgbClr val="E6F4EA"/>
          </a:solidFill>
          <a:ln/>
        </p:spPr>
      </p:sp>
      <p:pic>
        <p:nvPicPr>
          <p:cNvPr id="21" name="Icona TbWorld" descr="/home/claude/p857/build/img/ic/TbWorld-g.png">    </p:cNvPr>
          <p:cNvPicPr>
            <a:picLocks noChangeAspect="1"/>
          </p:cNvPicPr>
          <p:nvPr/>
        </p:nvPicPr>
        <p:blipFill>
          <a:blip r:embed="rId3"/>
          <a:stretch>
            <a:fillRect/>
          </a:stretch>
        </p:blipFill>
        <p:spPr>
          <a:xfrm>
            <a:off x="8687105" y="1778508"/>
            <a:ext cx="384048" cy="384048"/>
          </a:xfrm>
          <a:prstGeom prst="rect">
            <a:avLst/>
          </a:prstGeom>
        </p:spPr>
      </p:pic>
      <p:sp>
        <p:nvSpPr>
          <p:cNvPr id="22" name="Text 17"/>
          <p:cNvSpPr txBox="1"/>
          <p:nvPr/>
        </p:nvSpPr>
        <p:spPr>
          <a:xfrm>
            <a:off x="10957255" y="1627632"/>
            <a:ext cx="411480" cy="411480"/>
          </a:xfrm>
          <a:prstGeom prst="rect">
            <a:avLst/>
          </a:prstGeom>
          <a:noFill/>
          <a:ln/>
        </p:spPr>
        <p:txBody>
          <a:bodyPr wrap="square" lIns="0" tIns="0" rIns="0" bIns="0" rtlCol="0" anchor="t"/>
          <a:lstStyle/>
          <a:p>
            <a:pPr algn="r" indent="0" marL="0">
              <a:buNone/>
            </a:pPr>
            <a:r>
              <a:rPr lang="en-US" sz="2200" b="1" dirty="0">
                <a:solidFill>
                  <a:srgbClr val="DADCE0"/>
                </a:solidFill>
                <a:latin typeface="Roboto" pitchFamily="34" charset="0"/>
                <a:ea typeface="Roboto" pitchFamily="34" charset="-122"/>
                <a:cs typeface="Roboto" pitchFamily="34" charset="-120"/>
              </a:rPr>
              <a:t>3</a:t>
            </a:r>
            <a:endParaRPr lang="en-US" sz="2200" dirty="0"/>
          </a:p>
        </p:txBody>
      </p:sp>
      <p:sp>
        <p:nvSpPr>
          <p:cNvPr id="23" name="Text 18"/>
          <p:cNvSpPr txBox="1"/>
          <p:nvPr/>
        </p:nvSpPr>
        <p:spPr>
          <a:xfrm>
            <a:off x="8536229" y="2468880"/>
            <a:ext cx="2850794" cy="317500"/>
          </a:xfrm>
          <a:prstGeom prst="rect">
            <a:avLst/>
          </a:prstGeom>
          <a:noFill/>
          <a:ln/>
        </p:spPr>
        <p:txBody>
          <a:bodyPr wrap="square" lIns="0" tIns="0" rIns="0" bIns="0" rtlCol="0" anchor="t"/>
          <a:lstStyle/>
          <a:p>
            <a:pPr indent="0" marL="0">
              <a:buNone/>
            </a:pPr>
            <a:r>
              <a:rPr lang="en-US" sz="2000" b="1" dirty="0">
                <a:solidFill>
                  <a:srgbClr val="188038"/>
                </a:solidFill>
                <a:latin typeface="Roboto" pitchFamily="34" charset="0"/>
                <a:ea typeface="Roboto" pitchFamily="34" charset="-122"/>
                <a:cs typeface="Roboto" pitchFamily="34" charset="-120"/>
              </a:rPr>
              <a:t>24 fusos</a:t>
            </a:r>
            <a:endParaRPr lang="en-US" sz="2000" dirty="0"/>
          </a:p>
        </p:txBody>
      </p:sp>
      <p:sp>
        <p:nvSpPr>
          <p:cNvPr id="24" name="Text 19"/>
          <p:cNvSpPr txBox="1"/>
          <p:nvPr/>
        </p:nvSpPr>
        <p:spPr>
          <a:xfrm>
            <a:off x="8536229" y="2850388"/>
            <a:ext cx="2850794" cy="1127252"/>
          </a:xfrm>
          <a:prstGeom prst="rect">
            <a:avLst/>
          </a:prstGeom>
          <a:noFill/>
          <a:ln/>
        </p:spPr>
        <p:txBody>
          <a:bodyPr wrap="square" lIns="0" tIns="0" rIns="0" bIns="0" rtlCol="0" anchor="t"/>
          <a:lstStyle/>
          <a:p>
            <a:pPr indent="0" marL="0">
              <a:buNone/>
            </a:pPr>
            <a:r>
              <a:rPr lang="en-US" sz="1700" dirty="0">
                <a:solidFill>
                  <a:srgbClr val="202124"/>
                </a:solidFill>
                <a:latin typeface="Roboto" pitchFamily="34" charset="0"/>
                <a:ea typeface="Roboto" pitchFamily="34" charset="-122"/>
                <a:cs typeface="Roboto" pitchFamily="34" charset="-120"/>
              </a:rPr>
              <a:t>Per això el món es divideix en 24 fusos horaris.</a:t>
            </a:r>
            <a:endParaRPr lang="en-US" sz="1700" dirty="0"/>
          </a:p>
        </p:txBody>
      </p:sp>
      <p:sp>
        <p:nvSpPr>
          <p:cNvPr id="25" name="Paraula clau · Fus horari"/>
          <p:cNvSpPr/>
          <p:nvPr/>
        </p:nvSpPr>
        <p:spPr>
          <a:xfrm>
            <a:off x="548640" y="4297680"/>
            <a:ext cx="5410048" cy="1691640"/>
          </a:xfrm>
          <a:prstGeom prst="roundRect">
            <a:avLst>
              <a:gd name="adj" fmla="val 5946"/>
            </a:avLst>
          </a:prstGeom>
          <a:solidFill>
            <a:srgbClr val="E6F4EA"/>
          </a:solidFill>
          <a:ln/>
        </p:spPr>
      </p:sp>
      <p:sp>
        <p:nvSpPr>
          <p:cNvPr id="26" name="Text 21"/>
          <p:cNvSpPr txBox="1"/>
          <p:nvPr/>
        </p:nvSpPr>
        <p:spPr>
          <a:xfrm>
            <a:off x="868680" y="4453128"/>
            <a:ext cx="4769968" cy="320040"/>
          </a:xfrm>
          <a:prstGeom prst="rect">
            <a:avLst/>
          </a:prstGeom>
          <a:noFill/>
          <a:ln/>
        </p:spPr>
        <p:txBody>
          <a:bodyPr wrap="square" lIns="0" tIns="0" rIns="0" bIns="0" rtlCol="0" anchor="t"/>
          <a:lstStyle/>
          <a:p>
            <a:pPr indent="0" marL="0">
              <a:buNone/>
            </a:pPr>
            <a:r>
              <a:rPr lang="en-US" sz="1400" b="1" dirty="0">
                <a:solidFill>
                  <a:srgbClr val="188038"/>
                </a:solidFill>
                <a:latin typeface="Roboto" pitchFamily="34" charset="0"/>
                <a:ea typeface="Roboto" pitchFamily="34" charset="-122"/>
                <a:cs typeface="Roboto" pitchFamily="34" charset="-120"/>
              </a:rPr>
              <a:t>Paraula clau · Fus horari</a:t>
            </a:r>
            <a:endParaRPr lang="en-US" sz="1400" dirty="0"/>
          </a:p>
        </p:txBody>
      </p:sp>
      <p:sp>
        <p:nvSpPr>
          <p:cNvPr id="27" name="Text 22"/>
          <p:cNvSpPr txBox="1"/>
          <p:nvPr/>
        </p:nvSpPr>
        <p:spPr>
          <a:xfrm>
            <a:off x="868680" y="4800600"/>
            <a:ext cx="4769968" cy="1051560"/>
          </a:xfrm>
          <a:prstGeom prst="rect">
            <a:avLst/>
          </a:prstGeom>
          <a:noFill/>
          <a:ln/>
        </p:spPr>
        <p:txBody>
          <a:bodyPr wrap="square" lIns="0" tIns="0" rIns="0" bIns="0" rtlCol="0" anchor="t"/>
          <a:lstStyle/>
          <a:p>
            <a:pPr indent="0" marL="0">
              <a:buNone/>
            </a:pPr>
            <a:r>
              <a:rPr lang="en-US" sz="1700" dirty="0">
                <a:solidFill>
                  <a:srgbClr val="202124"/>
                </a:solidFill>
                <a:latin typeface="Roboto" pitchFamily="34" charset="0"/>
                <a:ea typeface="Roboto" pitchFamily="34" charset="-122"/>
                <a:cs typeface="Roboto" pitchFamily="34" charset="-120"/>
              </a:rPr>
              <a:t>Cadascuna de les 24 franges de 15° en què es divideix la Terra per calcular l'hora.</a:t>
            </a:r>
            <a:endParaRPr lang="en-US" sz="1700" dirty="0"/>
          </a:p>
        </p:txBody>
      </p:sp>
      <p:sp>
        <p:nvSpPr>
          <p:cNvPr id="28" name="A la pràctica"/>
          <p:cNvSpPr/>
          <p:nvPr/>
        </p:nvSpPr>
        <p:spPr>
          <a:xfrm>
            <a:off x="6233008" y="4297680"/>
            <a:ext cx="5410048" cy="1691640"/>
          </a:xfrm>
          <a:prstGeom prst="roundRect">
            <a:avLst>
              <a:gd name="adj" fmla="val 5946"/>
            </a:avLst>
          </a:prstGeom>
          <a:solidFill>
            <a:srgbClr val="F6F8FB"/>
          </a:solidFill>
          <a:ln/>
        </p:spPr>
      </p:sp>
      <p:sp>
        <p:nvSpPr>
          <p:cNvPr id="29" name="Text 24"/>
          <p:cNvSpPr txBox="1"/>
          <p:nvPr/>
        </p:nvSpPr>
        <p:spPr>
          <a:xfrm>
            <a:off x="6553048" y="4453128"/>
            <a:ext cx="4769968" cy="320040"/>
          </a:xfrm>
          <a:prstGeom prst="rect">
            <a:avLst/>
          </a:prstGeom>
          <a:noFill/>
          <a:ln/>
        </p:spPr>
        <p:txBody>
          <a:bodyPr wrap="square" lIns="0" tIns="0" rIns="0" bIns="0" rtlCol="0" anchor="t"/>
          <a:lstStyle/>
          <a:p>
            <a:pPr indent="0" marL="0">
              <a:buNone/>
            </a:pPr>
            <a:r>
              <a:rPr lang="en-US" sz="1400" b="1" dirty="0">
                <a:solidFill>
                  <a:srgbClr val="202124"/>
                </a:solidFill>
                <a:latin typeface="Roboto" pitchFamily="34" charset="0"/>
                <a:ea typeface="Roboto" pitchFamily="34" charset="-122"/>
                <a:cs typeface="Roboto" pitchFamily="34" charset="-120"/>
              </a:rPr>
              <a:t>A la pràctica</a:t>
            </a:r>
            <a:endParaRPr lang="en-US" sz="1400" dirty="0"/>
          </a:p>
        </p:txBody>
      </p:sp>
      <p:sp>
        <p:nvSpPr>
          <p:cNvPr id="30" name="Text 25"/>
          <p:cNvSpPr txBox="1"/>
          <p:nvPr/>
        </p:nvSpPr>
        <p:spPr>
          <a:xfrm>
            <a:off x="6553048" y="4800600"/>
            <a:ext cx="4769968" cy="1051560"/>
          </a:xfrm>
          <a:prstGeom prst="rect">
            <a:avLst/>
          </a:prstGeom>
          <a:noFill/>
          <a:ln/>
        </p:spPr>
        <p:txBody>
          <a:bodyPr wrap="square" lIns="0" tIns="0" rIns="0" bIns="0" rtlCol="0" anchor="t"/>
          <a:lstStyle/>
          <a:p>
            <a:pPr indent="0" marL="0">
              <a:buNone/>
            </a:pPr>
            <a:r>
              <a:rPr lang="en-US" sz="1700" dirty="0">
                <a:solidFill>
                  <a:srgbClr val="5F6368"/>
                </a:solidFill>
                <a:latin typeface="Roboto" pitchFamily="34" charset="0"/>
                <a:ea typeface="Roboto" pitchFamily="34" charset="-122"/>
                <a:cs typeface="Roboto" pitchFamily="34" charset="-120"/>
              </a:rPr>
              <a:t>Cada país tria la seva hora oficial, i les línies dels fusos fan ziga-zagues seguint les fronteres.</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4</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La mateixa hora, tres rellotges</a:t>
            </a:r>
            <a:endParaRPr lang="en-US" sz="2800" dirty="0"/>
          </a:p>
        </p:txBody>
      </p:sp>
      <p:sp>
        <p:nvSpPr>
          <p:cNvPr id="5" name="Text 3"/>
          <p:cNvSpPr txBox="1"/>
          <p:nvPr/>
        </p:nvSpPr>
        <p:spPr>
          <a:xfrm>
            <a:off x="548640" y="1371600"/>
            <a:ext cx="11094415" cy="365760"/>
          </a:xfrm>
          <a:prstGeom prst="rect">
            <a:avLst/>
          </a:prstGeom>
          <a:noFill/>
          <a:ln/>
        </p:spPr>
        <p:txBody>
          <a:bodyPr wrap="square" lIns="0" tIns="0" rIns="0" bIns="0" rtlCol="0" anchor="t"/>
          <a:lstStyle/>
          <a:p>
            <a:pPr indent="0" marL="0">
              <a:buNone/>
            </a:pPr>
            <a:r>
              <a:rPr lang="en-US" sz="1700" dirty="0">
                <a:solidFill>
                  <a:srgbClr val="5F6368"/>
                </a:solidFill>
                <a:latin typeface="Roboto" pitchFamily="34" charset="0"/>
                <a:ea typeface="Roboto" pitchFamily="34" charset="-122"/>
                <a:cs typeface="Roboto" pitchFamily="34" charset="-120"/>
              </a:rPr>
              <a:t>Exemple a l'hivern.</a:t>
            </a:r>
            <a:endParaRPr lang="en-US" sz="1700" dirty="0"/>
          </a:p>
        </p:txBody>
      </p:sp>
      <p:sp>
        <p:nvSpPr>
          <p:cNvPr id="6" name="Fons Tres rellotges"/>
          <p:cNvSpPr/>
          <p:nvPr/>
        </p:nvSpPr>
        <p:spPr>
          <a:xfrm>
            <a:off x="2712568" y="1783080"/>
            <a:ext cx="6766560" cy="2322884"/>
          </a:xfrm>
          <a:prstGeom prst="roundRect">
            <a:avLst>
              <a:gd name="adj" fmla="val 4330"/>
            </a:avLst>
          </a:prstGeom>
          <a:solidFill>
            <a:srgbClr val="F6F8FB"/>
          </a:solidFill>
          <a:ln/>
        </p:spPr>
      </p:sp>
      <p:pic>
        <p:nvPicPr>
          <p:cNvPr id="7" name="Tres rellotges" descr="/home/claude/p857/build/img/rellotges.png">    </p:cNvPr>
          <p:cNvPicPr>
            <a:picLocks noChangeAspect="1"/>
          </p:cNvPicPr>
          <p:nvPr/>
        </p:nvPicPr>
        <p:blipFill>
          <a:blip r:embed="rId1"/>
          <a:stretch>
            <a:fillRect/>
          </a:stretch>
        </p:blipFill>
        <p:spPr>
          <a:xfrm>
            <a:off x="2712568" y="1783080"/>
            <a:ext cx="6766560" cy="2322884"/>
          </a:xfrm>
          <a:prstGeom prst="rect">
            <a:avLst/>
          </a:prstGeom>
        </p:spPr>
      </p:pic>
      <p:sp>
        <p:nvSpPr>
          <p:cNvPr id="8" name="Text 5"/>
          <p:cNvSpPr txBox="1"/>
          <p:nvPr/>
        </p:nvSpPr>
        <p:spPr>
          <a:xfrm>
            <a:off x="2712568" y="4160828"/>
            <a:ext cx="6766560" cy="274320"/>
          </a:xfrm>
          <a:prstGeom prst="rect">
            <a:avLst/>
          </a:prstGeom>
          <a:noFill/>
          <a:ln/>
        </p:spPr>
        <p:txBody>
          <a:bodyPr wrap="square" lIns="0" tIns="0" rIns="0" bIns="0" rtlCol="0" anchor="t"/>
          <a:lstStyle/>
          <a:p>
            <a:pPr indent="0" marL="0">
              <a:buNone/>
            </a:pPr>
            <a:r>
              <a:rPr lang="en-US" sz="1000" dirty="0">
                <a:solidFill>
                  <a:srgbClr val="5F6368"/>
                </a:solidFill>
                <a:latin typeface="Roboto" pitchFamily="34" charset="0"/>
                <a:ea typeface="Roboto" pitchFamily="34" charset="-122"/>
                <a:cs typeface="Roboto" pitchFamily="34" charset="-120"/>
              </a:rPr>
              <a:t>La mateixa hora, tres rellotges. Gràfic: professordesocials.cat, CC BY-SA 4.0.</a:t>
            </a:r>
            <a:endParaRPr lang="en-US" sz="1000" dirty="0"/>
          </a:p>
        </p:txBody>
      </p:sp>
      <p:sp>
        <p:nvSpPr>
          <p:cNvPr id="9" name="Tòquio és a l'est"/>
          <p:cNvSpPr/>
          <p:nvPr/>
        </p:nvSpPr>
        <p:spPr>
          <a:xfrm>
            <a:off x="548640" y="4480560"/>
            <a:ext cx="3515258" cy="1508760"/>
          </a:xfrm>
          <a:prstGeom prst="roundRect">
            <a:avLst>
              <a:gd name="adj" fmla="val 6667"/>
            </a:avLst>
          </a:prstGeom>
          <a:solidFill>
            <a:srgbClr val="E6F4EA"/>
          </a:solidFill>
          <a:ln/>
        </p:spPr>
      </p:sp>
      <p:sp>
        <p:nvSpPr>
          <p:cNvPr id="10" name="Text 7"/>
          <p:cNvSpPr txBox="1"/>
          <p:nvPr/>
        </p:nvSpPr>
        <p:spPr>
          <a:xfrm>
            <a:off x="868680" y="4636008"/>
            <a:ext cx="2875178" cy="320040"/>
          </a:xfrm>
          <a:prstGeom prst="rect">
            <a:avLst/>
          </a:prstGeom>
          <a:noFill/>
          <a:ln/>
        </p:spPr>
        <p:txBody>
          <a:bodyPr wrap="square" lIns="0" tIns="0" rIns="0" bIns="0" rtlCol="0" anchor="t"/>
          <a:lstStyle/>
          <a:p>
            <a:pPr indent="0" marL="0">
              <a:buNone/>
            </a:pPr>
            <a:r>
              <a:rPr lang="en-US" sz="1400" b="1" dirty="0">
                <a:solidFill>
                  <a:srgbClr val="188038"/>
                </a:solidFill>
                <a:latin typeface="Roboto" pitchFamily="34" charset="0"/>
                <a:ea typeface="Roboto" pitchFamily="34" charset="-122"/>
                <a:cs typeface="Roboto" pitchFamily="34" charset="-120"/>
              </a:rPr>
              <a:t>Tòquio és a l'est</a:t>
            </a:r>
            <a:endParaRPr lang="en-US" sz="1400" dirty="0"/>
          </a:p>
        </p:txBody>
      </p:sp>
      <p:sp>
        <p:nvSpPr>
          <p:cNvPr id="11" name="Text 8"/>
          <p:cNvSpPr txBox="1"/>
          <p:nvPr/>
        </p:nvSpPr>
        <p:spPr>
          <a:xfrm>
            <a:off x="868680" y="4983480"/>
            <a:ext cx="2875178" cy="868680"/>
          </a:xfrm>
          <a:prstGeom prst="rect">
            <a:avLst/>
          </a:prstGeom>
          <a:noFill/>
          <a:ln/>
        </p:spPr>
        <p:txBody>
          <a:bodyPr wrap="square" lIns="0" tIns="0" rIns="0" bIns="0" rtlCol="0" anchor="t"/>
          <a:lstStyle/>
          <a:p>
            <a:pPr indent="0" marL="0">
              <a:buNone/>
            </a:pPr>
            <a:r>
              <a:rPr lang="en-US" sz="1650" dirty="0">
                <a:solidFill>
                  <a:srgbClr val="202124"/>
                </a:solidFill>
                <a:latin typeface="Roboto" pitchFamily="34" charset="0"/>
                <a:ea typeface="Roboto" pitchFamily="34" charset="-122"/>
                <a:cs typeface="Roboto" pitchFamily="34" charset="-120"/>
              </a:rPr>
              <a:t>El Sol hi surt abans. Per això hi és més tard.</a:t>
            </a:r>
            <a:endParaRPr lang="en-US" sz="1650" dirty="0"/>
          </a:p>
        </p:txBody>
      </p:sp>
      <p:sp>
        <p:nvSpPr>
          <p:cNvPr id="12" name="Nova York és a l'oest"/>
          <p:cNvSpPr/>
          <p:nvPr/>
        </p:nvSpPr>
        <p:spPr>
          <a:xfrm>
            <a:off x="4338218" y="4480560"/>
            <a:ext cx="3515258" cy="1508760"/>
          </a:xfrm>
          <a:prstGeom prst="roundRect">
            <a:avLst>
              <a:gd name="adj" fmla="val 6667"/>
            </a:avLst>
          </a:prstGeom>
          <a:solidFill>
            <a:srgbClr val="E6F4EA"/>
          </a:solidFill>
          <a:ln/>
        </p:spPr>
      </p:sp>
      <p:sp>
        <p:nvSpPr>
          <p:cNvPr id="13" name="Text 10"/>
          <p:cNvSpPr txBox="1"/>
          <p:nvPr/>
        </p:nvSpPr>
        <p:spPr>
          <a:xfrm>
            <a:off x="4658258" y="4636008"/>
            <a:ext cx="2875178" cy="320040"/>
          </a:xfrm>
          <a:prstGeom prst="rect">
            <a:avLst/>
          </a:prstGeom>
          <a:noFill/>
          <a:ln/>
        </p:spPr>
        <p:txBody>
          <a:bodyPr wrap="square" lIns="0" tIns="0" rIns="0" bIns="0" rtlCol="0" anchor="t"/>
          <a:lstStyle/>
          <a:p>
            <a:pPr indent="0" marL="0">
              <a:buNone/>
            </a:pPr>
            <a:r>
              <a:rPr lang="en-US" sz="1400" b="1" dirty="0">
                <a:solidFill>
                  <a:srgbClr val="188038"/>
                </a:solidFill>
                <a:latin typeface="Roboto" pitchFamily="34" charset="0"/>
                <a:ea typeface="Roboto" pitchFamily="34" charset="-122"/>
                <a:cs typeface="Roboto" pitchFamily="34" charset="-120"/>
              </a:rPr>
              <a:t>Nova York és a l'oest</a:t>
            </a:r>
            <a:endParaRPr lang="en-US" sz="1400" dirty="0"/>
          </a:p>
        </p:txBody>
      </p:sp>
      <p:sp>
        <p:nvSpPr>
          <p:cNvPr id="14" name="Text 11"/>
          <p:cNvSpPr txBox="1"/>
          <p:nvPr/>
        </p:nvSpPr>
        <p:spPr>
          <a:xfrm>
            <a:off x="4658258" y="4983480"/>
            <a:ext cx="2875178" cy="868680"/>
          </a:xfrm>
          <a:prstGeom prst="rect">
            <a:avLst/>
          </a:prstGeom>
          <a:noFill/>
          <a:ln/>
        </p:spPr>
        <p:txBody>
          <a:bodyPr wrap="square" lIns="0" tIns="0" rIns="0" bIns="0" rtlCol="0" anchor="t"/>
          <a:lstStyle/>
          <a:p>
            <a:pPr indent="0" marL="0">
              <a:buNone/>
            </a:pPr>
            <a:r>
              <a:rPr lang="en-US" sz="1650" dirty="0">
                <a:solidFill>
                  <a:srgbClr val="202124"/>
                </a:solidFill>
                <a:latin typeface="Roboto" pitchFamily="34" charset="0"/>
                <a:ea typeface="Roboto" pitchFamily="34" charset="-122"/>
                <a:cs typeface="Roboto" pitchFamily="34" charset="-120"/>
              </a:rPr>
              <a:t>Hi és més d'hora.</a:t>
            </a:r>
            <a:endParaRPr lang="en-US" sz="1650" dirty="0"/>
          </a:p>
        </p:txBody>
      </p:sp>
      <p:sp>
        <p:nvSpPr>
          <p:cNvPr id="15" name="I a l'estiu?"/>
          <p:cNvSpPr/>
          <p:nvPr/>
        </p:nvSpPr>
        <p:spPr>
          <a:xfrm>
            <a:off x="8127797" y="4480560"/>
            <a:ext cx="3515258" cy="1508760"/>
          </a:xfrm>
          <a:prstGeom prst="roundRect">
            <a:avLst>
              <a:gd name="adj" fmla="val 6667"/>
            </a:avLst>
          </a:prstGeom>
          <a:solidFill>
            <a:srgbClr val="F6F8FB"/>
          </a:solidFill>
          <a:ln/>
        </p:spPr>
      </p:sp>
      <p:sp>
        <p:nvSpPr>
          <p:cNvPr id="16" name="Text 13"/>
          <p:cNvSpPr txBox="1"/>
          <p:nvPr/>
        </p:nvSpPr>
        <p:spPr>
          <a:xfrm>
            <a:off x="8447837" y="4636008"/>
            <a:ext cx="2875178" cy="320040"/>
          </a:xfrm>
          <a:prstGeom prst="rect">
            <a:avLst/>
          </a:prstGeom>
          <a:noFill/>
          <a:ln/>
        </p:spPr>
        <p:txBody>
          <a:bodyPr wrap="square" lIns="0" tIns="0" rIns="0" bIns="0" rtlCol="0" anchor="t"/>
          <a:lstStyle/>
          <a:p>
            <a:pPr indent="0" marL="0">
              <a:buNone/>
            </a:pPr>
            <a:r>
              <a:rPr lang="en-US" sz="1400" b="1" dirty="0">
                <a:solidFill>
                  <a:srgbClr val="202124"/>
                </a:solidFill>
                <a:latin typeface="Roboto" pitchFamily="34" charset="0"/>
                <a:ea typeface="Roboto" pitchFamily="34" charset="-122"/>
                <a:cs typeface="Roboto" pitchFamily="34" charset="-120"/>
              </a:rPr>
              <a:t>I a l'estiu?</a:t>
            </a:r>
            <a:endParaRPr lang="en-US" sz="1400" dirty="0"/>
          </a:p>
        </p:txBody>
      </p:sp>
      <p:sp>
        <p:nvSpPr>
          <p:cNvPr id="17" name="Text 14"/>
          <p:cNvSpPr txBox="1"/>
          <p:nvPr/>
        </p:nvSpPr>
        <p:spPr>
          <a:xfrm>
            <a:off x="8447837" y="4983480"/>
            <a:ext cx="2875178" cy="868680"/>
          </a:xfrm>
          <a:prstGeom prst="rect">
            <a:avLst/>
          </a:prstGeom>
          <a:noFill/>
          <a:ln/>
        </p:spPr>
        <p:txBody>
          <a:bodyPr wrap="square" lIns="0" tIns="0" rIns="0" bIns="0" rtlCol="0" anchor="t"/>
          <a:lstStyle/>
          <a:p>
            <a:pPr indent="0" marL="0">
              <a:buNone/>
            </a:pPr>
            <a:r>
              <a:rPr lang="en-US" sz="1400" dirty="0">
                <a:solidFill>
                  <a:srgbClr val="5F6368"/>
                </a:solidFill>
                <a:latin typeface="Roboto" pitchFamily="34" charset="0"/>
                <a:ea typeface="Roboto" pitchFamily="34" charset="-122"/>
                <a:cs typeface="Roboto" pitchFamily="34" charset="-120"/>
              </a:rPr>
              <a:t>A Europa i als Estats Units s'avança el rellotge i al Japó no. A Tòquio, llavors, són les 7 del vespre.</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4</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Saps que…? L'hora de Catalunya</a:t>
            </a:r>
            <a:endParaRPr lang="en-US" sz="2800" dirty="0"/>
          </a:p>
        </p:txBody>
      </p:sp>
      <p:sp>
        <p:nvSpPr>
          <p:cNvPr id="5" name="Fons El meridià de Greenwich passa per la península"/>
          <p:cNvSpPr/>
          <p:nvPr/>
        </p:nvSpPr>
        <p:spPr>
          <a:xfrm>
            <a:off x="548640" y="1371600"/>
            <a:ext cx="5486400" cy="3993013"/>
          </a:xfrm>
          <a:prstGeom prst="roundRect">
            <a:avLst>
              <a:gd name="adj" fmla="val 2519"/>
            </a:avLst>
          </a:prstGeom>
          <a:solidFill>
            <a:srgbClr val="F6F8FB"/>
          </a:solidFill>
          <a:ln/>
        </p:spPr>
      </p:sp>
      <p:pic>
        <p:nvPicPr>
          <p:cNvPr id="6" name="El meridià de Greenwich passa per la península" descr="/home/claude/p857/build/img/greenwich.png">    </p:cNvPr>
          <p:cNvPicPr>
            <a:picLocks noChangeAspect="1"/>
          </p:cNvPicPr>
          <p:nvPr/>
        </p:nvPicPr>
        <p:blipFill>
          <a:blip r:embed="rId1"/>
          <a:stretch>
            <a:fillRect/>
          </a:stretch>
        </p:blipFill>
        <p:spPr>
          <a:xfrm>
            <a:off x="548640" y="1371600"/>
            <a:ext cx="5486400" cy="3993013"/>
          </a:xfrm>
          <a:prstGeom prst="rect">
            <a:avLst/>
          </a:prstGeom>
        </p:spPr>
      </p:pic>
      <p:sp>
        <p:nvSpPr>
          <p:cNvPr id="7" name="Text 4"/>
          <p:cNvSpPr txBox="1"/>
          <p:nvPr/>
        </p:nvSpPr>
        <p:spPr>
          <a:xfrm>
            <a:off x="548640" y="5437765"/>
            <a:ext cx="5486400" cy="457200"/>
          </a:xfrm>
          <a:prstGeom prst="rect">
            <a:avLst/>
          </a:prstGeom>
          <a:noFill/>
          <a:ln/>
        </p:spPr>
        <p:txBody>
          <a:bodyPr wrap="square" lIns="0" tIns="0" rIns="0" bIns="0" rtlCol="0" anchor="t"/>
          <a:lstStyle/>
          <a:p>
            <a:pPr indent="0" marL="0">
              <a:buNone/>
            </a:pPr>
            <a:r>
              <a:rPr lang="en-US" sz="1000" dirty="0">
                <a:solidFill>
                  <a:srgbClr val="5F6368"/>
                </a:solidFill>
                <a:latin typeface="Roboto" pitchFamily="34" charset="0"/>
                <a:ea typeface="Roboto" pitchFamily="34" charset="-122"/>
                <a:cs typeface="Roboto" pitchFamily="34" charset="-120"/>
              </a:rPr>
              <a:t>El meridià de Greenwich passa per la península. Mapa: professordesocials.cat, CC BY-SA 4.0. Base cartogràfica: Natural Earth (domini públic).</a:t>
            </a:r>
            <a:endParaRPr lang="en-US" sz="1000" dirty="0"/>
          </a:p>
        </p:txBody>
      </p:sp>
      <p:sp>
        <p:nvSpPr>
          <p:cNvPr id="8" name="Pel mapa"/>
          <p:cNvSpPr/>
          <p:nvPr/>
        </p:nvSpPr>
        <p:spPr>
          <a:xfrm>
            <a:off x="6355080" y="1371600"/>
            <a:ext cx="5287975" cy="1508760"/>
          </a:xfrm>
          <a:prstGeom prst="roundRect">
            <a:avLst>
              <a:gd name="adj" fmla="val 6667"/>
            </a:avLst>
          </a:prstGeom>
          <a:solidFill>
            <a:srgbClr val="E6F4EA"/>
          </a:solidFill>
          <a:ln/>
        </p:spPr>
      </p:sp>
      <p:sp>
        <p:nvSpPr>
          <p:cNvPr id="9" name="Text 6"/>
          <p:cNvSpPr txBox="1"/>
          <p:nvPr/>
        </p:nvSpPr>
        <p:spPr>
          <a:xfrm>
            <a:off x="6675120" y="1527048"/>
            <a:ext cx="4647895" cy="320040"/>
          </a:xfrm>
          <a:prstGeom prst="rect">
            <a:avLst/>
          </a:prstGeom>
          <a:noFill/>
          <a:ln/>
        </p:spPr>
        <p:txBody>
          <a:bodyPr wrap="square" lIns="0" tIns="0" rIns="0" bIns="0" rtlCol="0" anchor="t"/>
          <a:lstStyle/>
          <a:p>
            <a:pPr indent="0" marL="0">
              <a:buNone/>
            </a:pPr>
            <a:r>
              <a:rPr lang="en-US" sz="1400" b="1" dirty="0">
                <a:solidFill>
                  <a:srgbClr val="188038"/>
                </a:solidFill>
                <a:latin typeface="Roboto" pitchFamily="34" charset="0"/>
                <a:ea typeface="Roboto" pitchFamily="34" charset="-122"/>
                <a:cs typeface="Roboto" pitchFamily="34" charset="-120"/>
              </a:rPr>
              <a:t>Pel mapa</a:t>
            </a:r>
            <a:endParaRPr lang="en-US" sz="1400" dirty="0"/>
          </a:p>
        </p:txBody>
      </p:sp>
      <p:sp>
        <p:nvSpPr>
          <p:cNvPr id="10" name="Text 7"/>
          <p:cNvSpPr txBox="1"/>
          <p:nvPr/>
        </p:nvSpPr>
        <p:spPr>
          <a:xfrm>
            <a:off x="6675120" y="1874520"/>
            <a:ext cx="4647895" cy="868680"/>
          </a:xfrm>
          <a:prstGeom prst="rect">
            <a:avLst/>
          </a:prstGeom>
          <a:noFill/>
          <a:ln/>
        </p:spPr>
        <p:txBody>
          <a:bodyPr wrap="square" lIns="0" tIns="0" rIns="0" bIns="0" rtlCol="0" anchor="t"/>
          <a:lstStyle/>
          <a:p>
            <a:pPr indent="0" marL="0">
              <a:buNone/>
            </a:pPr>
            <a:r>
              <a:rPr lang="en-US" sz="1600" dirty="0">
                <a:solidFill>
                  <a:srgbClr val="202124"/>
                </a:solidFill>
                <a:latin typeface="Roboto" pitchFamily="34" charset="0"/>
                <a:ea typeface="Roboto" pitchFamily="34" charset="-122"/>
                <a:cs typeface="Roboto" pitchFamily="34" charset="-120"/>
              </a:rPr>
              <a:t>A Catalunya ens tocaria la mateixa hora que a Londres i Portugal, perquè el meridià de Greenwich passa per la península.</a:t>
            </a:r>
            <a:endParaRPr lang="en-US" sz="1600" dirty="0"/>
          </a:p>
        </p:txBody>
      </p:sp>
      <p:sp>
        <p:nvSpPr>
          <p:cNvPr id="11" name="Targeta Però des del"/>
          <p:cNvSpPr/>
          <p:nvPr/>
        </p:nvSpPr>
        <p:spPr>
          <a:xfrm>
            <a:off x="6355080" y="3063240"/>
            <a:ext cx="5287975" cy="2926080"/>
          </a:xfrm>
          <a:prstGeom prst="roundRect">
            <a:avLst>
              <a:gd name="adj" fmla="val 3438"/>
            </a:avLst>
          </a:prstGeom>
          <a:solidFill>
            <a:srgbClr val="188038"/>
          </a:solidFill>
          <a:ln/>
        </p:spPr>
      </p:sp>
      <p:sp>
        <p:nvSpPr>
          <p:cNvPr id="12" name="Cercle icona"/>
          <p:cNvSpPr/>
          <p:nvPr/>
        </p:nvSpPr>
        <p:spPr>
          <a:xfrm>
            <a:off x="6583680" y="3291840"/>
            <a:ext cx="548640" cy="548640"/>
          </a:xfrm>
          <a:prstGeom prst="ellipse">
            <a:avLst/>
          </a:prstGeom>
          <a:solidFill>
            <a:srgbClr val="FFFFFF"/>
          </a:solidFill>
          <a:ln/>
        </p:spPr>
      </p:sp>
      <p:pic>
        <p:nvPicPr>
          <p:cNvPr id="13" name="Icona TbCalendarTime" descr="/home/claude/p857/build/img/ic/TbCalendarTime-g.png">    </p:cNvPr>
          <p:cNvPicPr>
            <a:picLocks noChangeAspect="1"/>
          </p:cNvPicPr>
          <p:nvPr/>
        </p:nvPicPr>
        <p:blipFill>
          <a:blip r:embed="rId2"/>
          <a:stretch>
            <a:fillRect/>
          </a:stretch>
        </p:blipFill>
        <p:spPr>
          <a:xfrm>
            <a:off x="6704381" y="3412541"/>
            <a:ext cx="307238" cy="307238"/>
          </a:xfrm>
          <a:prstGeom prst="rect">
            <a:avLst/>
          </a:prstGeom>
        </p:spPr>
      </p:pic>
      <p:sp>
        <p:nvSpPr>
          <p:cNvPr id="14" name="Text 10"/>
          <p:cNvSpPr txBox="1"/>
          <p:nvPr/>
        </p:nvSpPr>
        <p:spPr>
          <a:xfrm>
            <a:off x="7269480" y="3291840"/>
            <a:ext cx="4190695" cy="548640"/>
          </a:xfrm>
          <a:prstGeom prst="rect">
            <a:avLst/>
          </a:prstGeom>
          <a:noFill/>
          <a:ln/>
        </p:spPr>
        <p:txBody>
          <a:bodyPr wrap="square" lIns="0" tIns="0" rIns="0" bIns="0" rtlCol="0" anchor="ctr"/>
          <a:lstStyle/>
          <a:p>
            <a:pPr indent="0" marL="0">
              <a:buNone/>
            </a:pPr>
            <a:r>
              <a:rPr lang="en-US" sz="1600" b="1" dirty="0">
                <a:solidFill>
                  <a:srgbClr val="FFFFFF"/>
                </a:solidFill>
                <a:latin typeface="Roboto" pitchFamily="34" charset="0"/>
                <a:ea typeface="Roboto" pitchFamily="34" charset="-122"/>
                <a:cs typeface="Roboto" pitchFamily="34" charset="-120"/>
              </a:rPr>
              <a:t>Però des del</a:t>
            </a:r>
            <a:endParaRPr lang="en-US" sz="1600" dirty="0"/>
          </a:p>
        </p:txBody>
      </p:sp>
      <p:sp>
        <p:nvSpPr>
          <p:cNvPr id="15" name="Text 11"/>
          <p:cNvSpPr txBox="1"/>
          <p:nvPr/>
        </p:nvSpPr>
        <p:spPr>
          <a:xfrm>
            <a:off x="6583680" y="3977640"/>
            <a:ext cx="4830775" cy="960120"/>
          </a:xfrm>
          <a:prstGeom prst="rect">
            <a:avLst/>
          </a:prstGeom>
          <a:noFill/>
          <a:ln/>
        </p:spPr>
        <p:txBody>
          <a:bodyPr wrap="square" lIns="0" tIns="0" rIns="0" bIns="0" rtlCol="0" anchor="ctr"/>
          <a:lstStyle/>
          <a:p>
            <a:pPr indent="0" marL="0">
              <a:buNone/>
            </a:pPr>
            <a:r>
              <a:rPr lang="en-US" sz="2600" b="1" dirty="0">
                <a:solidFill>
                  <a:srgbClr val="FFFFFF"/>
                </a:solidFill>
                <a:latin typeface="Roboto" pitchFamily="34" charset="0"/>
                <a:ea typeface="Roboto" pitchFamily="34" charset="-122"/>
                <a:cs typeface="Roboto" pitchFamily="34" charset="-120"/>
              </a:rPr>
              <a:t>16 de març de 1940</a:t>
            </a:r>
            <a:endParaRPr lang="en-US" sz="2600" dirty="0"/>
          </a:p>
        </p:txBody>
      </p:sp>
      <p:sp>
        <p:nvSpPr>
          <p:cNvPr id="16" name="Text 12"/>
          <p:cNvSpPr txBox="1"/>
          <p:nvPr/>
        </p:nvSpPr>
        <p:spPr>
          <a:xfrm>
            <a:off x="6583680" y="4983480"/>
            <a:ext cx="4830775" cy="868680"/>
          </a:xfrm>
          <a:prstGeom prst="rect">
            <a:avLst/>
          </a:prstGeom>
          <a:noFill/>
          <a:ln/>
        </p:spPr>
        <p:txBody>
          <a:bodyPr wrap="square" lIns="0" tIns="0" rIns="0" bIns="0" rtlCol="0" anchor="t"/>
          <a:lstStyle/>
          <a:p>
            <a:pPr indent="0" marL="0">
              <a:buNone/>
            </a:pPr>
            <a:r>
              <a:rPr lang="en-US" sz="1600" dirty="0">
                <a:solidFill>
                  <a:srgbClr val="FFFFFF"/>
                </a:solidFill>
                <a:latin typeface="Roboto" pitchFamily="34" charset="0"/>
                <a:ea typeface="Roboto" pitchFamily="34" charset="-122"/>
                <a:cs typeface="Roboto" pitchFamily="34" charset="-120"/>
              </a:rPr>
              <a:t>l'Estat espanyol fa servir l'hora de l'Europa central, una hora més.</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4</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Comprova-ho</a:t>
            </a:r>
            <a:endParaRPr lang="en-US" sz="2800" dirty="0"/>
          </a:p>
        </p:txBody>
      </p:sp>
      <p:sp>
        <p:nvSpPr>
          <p:cNvPr id="5" name="Text 3"/>
          <p:cNvSpPr txBox="1"/>
          <p:nvPr/>
        </p:nvSpPr>
        <p:spPr>
          <a:xfrm>
            <a:off x="548640" y="1371600"/>
            <a:ext cx="3657600" cy="320040"/>
          </a:xfrm>
          <a:prstGeom prst="rect">
            <a:avLst/>
          </a:prstGeom>
          <a:noFill/>
          <a:ln/>
        </p:spPr>
        <p:txBody>
          <a:bodyPr wrap="square" lIns="0" tIns="0" rIns="0" bIns="0" rtlCol="0" anchor="t"/>
          <a:lstStyle/>
          <a:p>
            <a:pPr indent="0" marL="0">
              <a:buNone/>
            </a:pPr>
            <a:r>
              <a:rPr lang="en-US" sz="1400" b="1" dirty="0">
                <a:solidFill>
                  <a:srgbClr val="5F6368"/>
                </a:solidFill>
                <a:latin typeface="Roboto" pitchFamily="34" charset="0"/>
                <a:ea typeface="Roboto" pitchFamily="34" charset="-122"/>
                <a:cs typeface="Roboto" pitchFamily="34" charset="-120"/>
              </a:rPr>
              <a:t>Paraules clau</a:t>
            </a:r>
            <a:endParaRPr lang="en-US" sz="1400" dirty="0"/>
          </a:p>
        </p:txBody>
      </p:sp>
      <p:sp>
        <p:nvSpPr>
          <p:cNvPr id="6" name="Etiqueta Rotació"/>
          <p:cNvSpPr/>
          <p:nvPr/>
        </p:nvSpPr>
        <p:spPr>
          <a:xfrm>
            <a:off x="548640" y="1755648"/>
            <a:ext cx="1014984" cy="384048"/>
          </a:xfrm>
          <a:prstGeom prst="roundRect">
            <a:avLst>
              <a:gd name="adj" fmla="val 50000"/>
            </a:avLst>
          </a:prstGeom>
          <a:solidFill>
            <a:srgbClr val="E6F4EA"/>
          </a:solidFill>
          <a:ln/>
        </p:spPr>
      </p:sp>
      <p:sp>
        <p:nvSpPr>
          <p:cNvPr id="7" name="Text 5"/>
          <p:cNvSpPr txBox="1"/>
          <p:nvPr/>
        </p:nvSpPr>
        <p:spPr>
          <a:xfrm>
            <a:off x="548640" y="1755648"/>
            <a:ext cx="1014984"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Rotació</a:t>
            </a:r>
            <a:endParaRPr lang="en-US" sz="1500" dirty="0"/>
          </a:p>
        </p:txBody>
      </p:sp>
      <p:sp>
        <p:nvSpPr>
          <p:cNvPr id="8" name="Etiqueta Translació"/>
          <p:cNvSpPr/>
          <p:nvPr/>
        </p:nvSpPr>
        <p:spPr>
          <a:xfrm>
            <a:off x="1673352" y="1755648"/>
            <a:ext cx="1316736" cy="384048"/>
          </a:xfrm>
          <a:prstGeom prst="roundRect">
            <a:avLst>
              <a:gd name="adj" fmla="val 50000"/>
            </a:avLst>
          </a:prstGeom>
          <a:solidFill>
            <a:srgbClr val="E6F4EA"/>
          </a:solidFill>
          <a:ln/>
        </p:spPr>
      </p:sp>
      <p:sp>
        <p:nvSpPr>
          <p:cNvPr id="9" name="Text 7"/>
          <p:cNvSpPr txBox="1"/>
          <p:nvPr/>
        </p:nvSpPr>
        <p:spPr>
          <a:xfrm>
            <a:off x="1673352" y="1755648"/>
            <a:ext cx="1316736"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Translació</a:t>
            </a:r>
            <a:endParaRPr lang="en-US" sz="1500" dirty="0"/>
          </a:p>
        </p:txBody>
      </p:sp>
      <p:sp>
        <p:nvSpPr>
          <p:cNvPr id="10" name="Etiqueta Estacions"/>
          <p:cNvSpPr/>
          <p:nvPr/>
        </p:nvSpPr>
        <p:spPr>
          <a:xfrm>
            <a:off x="3099816" y="1755648"/>
            <a:ext cx="1216152" cy="384048"/>
          </a:xfrm>
          <a:prstGeom prst="roundRect">
            <a:avLst>
              <a:gd name="adj" fmla="val 50000"/>
            </a:avLst>
          </a:prstGeom>
          <a:solidFill>
            <a:srgbClr val="E6F4EA"/>
          </a:solidFill>
          <a:ln/>
        </p:spPr>
      </p:sp>
      <p:sp>
        <p:nvSpPr>
          <p:cNvPr id="11" name="Text 9"/>
          <p:cNvSpPr txBox="1"/>
          <p:nvPr/>
        </p:nvSpPr>
        <p:spPr>
          <a:xfrm>
            <a:off x="3099816" y="1755648"/>
            <a:ext cx="1216152"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Estacions</a:t>
            </a:r>
            <a:endParaRPr lang="en-US" sz="1500" dirty="0"/>
          </a:p>
        </p:txBody>
      </p:sp>
      <p:sp>
        <p:nvSpPr>
          <p:cNvPr id="12" name="Etiqueta Any de traspàs"/>
          <p:cNvSpPr/>
          <p:nvPr/>
        </p:nvSpPr>
        <p:spPr>
          <a:xfrm>
            <a:off x="4425696" y="1755648"/>
            <a:ext cx="1719072" cy="384048"/>
          </a:xfrm>
          <a:prstGeom prst="roundRect">
            <a:avLst>
              <a:gd name="adj" fmla="val 50000"/>
            </a:avLst>
          </a:prstGeom>
          <a:solidFill>
            <a:srgbClr val="E6F4EA"/>
          </a:solidFill>
          <a:ln/>
        </p:spPr>
      </p:sp>
      <p:sp>
        <p:nvSpPr>
          <p:cNvPr id="13" name="Text 11"/>
          <p:cNvSpPr txBox="1"/>
          <p:nvPr/>
        </p:nvSpPr>
        <p:spPr>
          <a:xfrm>
            <a:off x="4425696" y="1755648"/>
            <a:ext cx="1719072"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Any de traspàs</a:t>
            </a:r>
            <a:endParaRPr lang="en-US" sz="1500" dirty="0"/>
          </a:p>
        </p:txBody>
      </p:sp>
      <p:sp>
        <p:nvSpPr>
          <p:cNvPr id="14" name="Etiqueta Fus horari"/>
          <p:cNvSpPr/>
          <p:nvPr/>
        </p:nvSpPr>
        <p:spPr>
          <a:xfrm>
            <a:off x="6254496" y="1755648"/>
            <a:ext cx="1316736" cy="384048"/>
          </a:xfrm>
          <a:prstGeom prst="roundRect">
            <a:avLst>
              <a:gd name="adj" fmla="val 50000"/>
            </a:avLst>
          </a:prstGeom>
          <a:solidFill>
            <a:srgbClr val="E6F4EA"/>
          </a:solidFill>
          <a:ln/>
        </p:spPr>
      </p:sp>
      <p:sp>
        <p:nvSpPr>
          <p:cNvPr id="15" name="Text 13"/>
          <p:cNvSpPr txBox="1"/>
          <p:nvPr/>
        </p:nvSpPr>
        <p:spPr>
          <a:xfrm>
            <a:off x="6254496" y="1755648"/>
            <a:ext cx="1316736"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Fus horari</a:t>
            </a:r>
            <a:endParaRPr lang="en-US" sz="1500" dirty="0"/>
          </a:p>
        </p:txBody>
      </p:sp>
      <p:sp>
        <p:nvSpPr>
          <p:cNvPr id="16" name="Pregunta 1"/>
          <p:cNvSpPr/>
          <p:nvPr/>
        </p:nvSpPr>
        <p:spPr>
          <a:xfrm>
            <a:off x="548640" y="2514600"/>
            <a:ext cx="11094415" cy="960120"/>
          </a:xfrm>
          <a:prstGeom prst="roundRect">
            <a:avLst>
              <a:gd name="adj" fmla="val 10476"/>
            </a:avLst>
          </a:prstGeom>
          <a:solidFill>
            <a:srgbClr val="FFFFFF"/>
          </a:solidFill>
          <a:ln w="12700">
            <a:solidFill>
              <a:srgbClr val="DADCE0"/>
            </a:solidFill>
            <a:prstDash val="solid"/>
          </a:ln>
        </p:spPr>
      </p:sp>
      <p:sp>
        <p:nvSpPr>
          <p:cNvPr id="17" name="Número 1"/>
          <p:cNvSpPr/>
          <p:nvPr/>
        </p:nvSpPr>
        <p:spPr>
          <a:xfrm>
            <a:off x="822960" y="2766060"/>
            <a:ext cx="457200" cy="457200"/>
          </a:xfrm>
          <a:prstGeom prst="ellipse">
            <a:avLst/>
          </a:prstGeom>
          <a:solidFill>
            <a:srgbClr val="188038"/>
          </a:solidFill>
          <a:ln/>
        </p:spPr>
      </p:sp>
      <p:sp>
        <p:nvSpPr>
          <p:cNvPr id="18" name="Text 16"/>
          <p:cNvSpPr txBox="1"/>
          <p:nvPr/>
        </p:nvSpPr>
        <p:spPr>
          <a:xfrm>
            <a:off x="822960" y="276606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Roboto" pitchFamily="34" charset="0"/>
                <a:ea typeface="Roboto" pitchFamily="34" charset="-122"/>
                <a:cs typeface="Roboto" pitchFamily="34" charset="-120"/>
              </a:rPr>
              <a:t>1</a:t>
            </a:r>
            <a:endParaRPr lang="en-US" sz="1700" dirty="0"/>
          </a:p>
        </p:txBody>
      </p:sp>
      <p:sp>
        <p:nvSpPr>
          <p:cNvPr id="19" name="Text 17"/>
          <p:cNvSpPr txBox="1"/>
          <p:nvPr/>
        </p:nvSpPr>
        <p:spPr>
          <a:xfrm>
            <a:off x="1508760" y="2514600"/>
            <a:ext cx="9905695" cy="960120"/>
          </a:xfrm>
          <a:prstGeom prst="rect">
            <a:avLst/>
          </a:prstGeom>
          <a:noFill/>
          <a:ln/>
        </p:spPr>
        <p:txBody>
          <a:bodyPr wrap="square" lIns="0" tIns="0" rIns="0" bIns="0" rtlCol="0" anchor="ctr"/>
          <a:lstStyle/>
          <a:p>
            <a:pPr indent="0" marL="0">
              <a:buNone/>
            </a:pPr>
            <a:r>
              <a:rPr lang="en-US" sz="2000" dirty="0">
                <a:solidFill>
                  <a:srgbClr val="202124"/>
                </a:solidFill>
                <a:latin typeface="Roboto" pitchFamily="34" charset="0"/>
                <a:ea typeface="Roboto" pitchFamily="34" charset="-122"/>
                <a:cs typeface="Roboto" pitchFamily="34" charset="-120"/>
              </a:rPr>
              <a:t>Quin moviment de la Terra provoca el dia i la nit?</a:t>
            </a:r>
            <a:endParaRPr lang="en-US" sz="2000" dirty="0"/>
          </a:p>
        </p:txBody>
      </p:sp>
      <p:sp>
        <p:nvSpPr>
          <p:cNvPr id="20" name="Pregunta 2"/>
          <p:cNvSpPr/>
          <p:nvPr/>
        </p:nvSpPr>
        <p:spPr>
          <a:xfrm>
            <a:off x="548640" y="3657600"/>
            <a:ext cx="11094415" cy="960120"/>
          </a:xfrm>
          <a:prstGeom prst="roundRect">
            <a:avLst>
              <a:gd name="adj" fmla="val 10476"/>
            </a:avLst>
          </a:prstGeom>
          <a:solidFill>
            <a:srgbClr val="FFFFFF"/>
          </a:solidFill>
          <a:ln w="12700">
            <a:solidFill>
              <a:srgbClr val="DADCE0"/>
            </a:solidFill>
            <a:prstDash val="solid"/>
          </a:ln>
        </p:spPr>
      </p:sp>
      <p:sp>
        <p:nvSpPr>
          <p:cNvPr id="21" name="Número 2"/>
          <p:cNvSpPr/>
          <p:nvPr/>
        </p:nvSpPr>
        <p:spPr>
          <a:xfrm>
            <a:off x="822960" y="3909060"/>
            <a:ext cx="457200" cy="457200"/>
          </a:xfrm>
          <a:prstGeom prst="ellipse">
            <a:avLst/>
          </a:prstGeom>
          <a:solidFill>
            <a:srgbClr val="188038"/>
          </a:solidFill>
          <a:ln/>
        </p:spPr>
      </p:sp>
      <p:sp>
        <p:nvSpPr>
          <p:cNvPr id="22" name="Text 20"/>
          <p:cNvSpPr txBox="1"/>
          <p:nvPr/>
        </p:nvSpPr>
        <p:spPr>
          <a:xfrm>
            <a:off x="822960" y="390906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Roboto" pitchFamily="34" charset="0"/>
                <a:ea typeface="Roboto" pitchFamily="34" charset="-122"/>
                <a:cs typeface="Roboto" pitchFamily="34" charset="-120"/>
              </a:rPr>
              <a:t>2</a:t>
            </a:r>
            <a:endParaRPr lang="en-US" sz="1700" dirty="0"/>
          </a:p>
        </p:txBody>
      </p:sp>
      <p:sp>
        <p:nvSpPr>
          <p:cNvPr id="23" name="Text 21"/>
          <p:cNvSpPr txBox="1"/>
          <p:nvPr/>
        </p:nvSpPr>
        <p:spPr>
          <a:xfrm>
            <a:off x="1508760" y="3657600"/>
            <a:ext cx="9905695" cy="960120"/>
          </a:xfrm>
          <a:prstGeom prst="rect">
            <a:avLst/>
          </a:prstGeom>
          <a:noFill/>
          <a:ln/>
        </p:spPr>
        <p:txBody>
          <a:bodyPr wrap="square" lIns="0" tIns="0" rIns="0" bIns="0" rtlCol="0" anchor="ctr"/>
          <a:lstStyle/>
          <a:p>
            <a:pPr indent="0" marL="0">
              <a:buNone/>
            </a:pPr>
            <a:r>
              <a:rPr lang="en-US" sz="2000" dirty="0">
                <a:solidFill>
                  <a:srgbClr val="202124"/>
                </a:solidFill>
                <a:latin typeface="Roboto" pitchFamily="34" charset="0"/>
                <a:ea typeface="Roboto" pitchFamily="34" charset="-122"/>
                <a:cs typeface="Roboto" pitchFamily="34" charset="-120"/>
              </a:rPr>
              <a:t>Per què hi ha estacions?</a:t>
            </a:r>
            <a:endParaRPr lang="en-US" sz="2000" dirty="0"/>
          </a:p>
        </p:txBody>
      </p:sp>
      <p:sp>
        <p:nvSpPr>
          <p:cNvPr id="24" name="Pregunta 3"/>
          <p:cNvSpPr/>
          <p:nvPr/>
        </p:nvSpPr>
        <p:spPr>
          <a:xfrm>
            <a:off x="548640" y="4800600"/>
            <a:ext cx="11094415" cy="960120"/>
          </a:xfrm>
          <a:prstGeom prst="roundRect">
            <a:avLst>
              <a:gd name="adj" fmla="val 10476"/>
            </a:avLst>
          </a:prstGeom>
          <a:solidFill>
            <a:srgbClr val="FFFFFF"/>
          </a:solidFill>
          <a:ln w="12700">
            <a:solidFill>
              <a:srgbClr val="DADCE0"/>
            </a:solidFill>
            <a:prstDash val="solid"/>
          </a:ln>
        </p:spPr>
      </p:sp>
      <p:sp>
        <p:nvSpPr>
          <p:cNvPr id="25" name="Número 3"/>
          <p:cNvSpPr/>
          <p:nvPr/>
        </p:nvSpPr>
        <p:spPr>
          <a:xfrm>
            <a:off x="822960" y="5052060"/>
            <a:ext cx="457200" cy="457200"/>
          </a:xfrm>
          <a:prstGeom prst="ellipse">
            <a:avLst/>
          </a:prstGeom>
          <a:solidFill>
            <a:srgbClr val="188038"/>
          </a:solidFill>
          <a:ln/>
        </p:spPr>
      </p:sp>
      <p:sp>
        <p:nvSpPr>
          <p:cNvPr id="26" name="Text 24"/>
          <p:cNvSpPr txBox="1"/>
          <p:nvPr/>
        </p:nvSpPr>
        <p:spPr>
          <a:xfrm>
            <a:off x="822960" y="505206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Roboto" pitchFamily="34" charset="0"/>
                <a:ea typeface="Roboto" pitchFamily="34" charset="-122"/>
                <a:cs typeface="Roboto" pitchFamily="34" charset="-120"/>
              </a:rPr>
              <a:t>3</a:t>
            </a:r>
            <a:endParaRPr lang="en-US" sz="1700" dirty="0"/>
          </a:p>
        </p:txBody>
      </p:sp>
      <p:sp>
        <p:nvSpPr>
          <p:cNvPr id="27" name="Text 25"/>
          <p:cNvSpPr txBox="1"/>
          <p:nvPr/>
        </p:nvSpPr>
        <p:spPr>
          <a:xfrm>
            <a:off x="1508760" y="4800600"/>
            <a:ext cx="9905695" cy="960120"/>
          </a:xfrm>
          <a:prstGeom prst="rect">
            <a:avLst/>
          </a:prstGeom>
          <a:noFill/>
          <a:ln/>
        </p:spPr>
        <p:txBody>
          <a:bodyPr wrap="square" lIns="0" tIns="0" rIns="0" bIns="0" rtlCol="0" anchor="ctr"/>
          <a:lstStyle/>
          <a:p>
            <a:pPr indent="0" marL="0">
              <a:buNone/>
            </a:pPr>
            <a:r>
              <a:rPr lang="en-US" sz="2000" dirty="0">
                <a:solidFill>
                  <a:srgbClr val="202124"/>
                </a:solidFill>
                <a:latin typeface="Roboto" pitchFamily="34" charset="0"/>
                <a:ea typeface="Roboto" pitchFamily="34" charset="-122"/>
                <a:cs typeface="Roboto" pitchFamily="34" charset="-120"/>
              </a:rPr>
              <a:t>Si a Barcelona són les 10 del matí a l'hivern, quina hora és a Tòquio?</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Capçalera"/>
          <p:cNvSpPr/>
          <p:nvPr/>
        </p:nvSpPr>
        <p:spPr>
          <a:xfrm>
            <a:off x="548640" y="548640"/>
            <a:ext cx="6720840" cy="3657600"/>
          </a:xfrm>
          <a:prstGeom prst="roundRect">
            <a:avLst>
              <a:gd name="adj" fmla="val 2750"/>
            </a:avLst>
          </a:prstGeom>
          <a:solidFill>
            <a:srgbClr val="188038"/>
          </a:solidFill>
          <a:ln/>
        </p:spPr>
      </p:sp>
      <p:pic>
        <p:nvPicPr>
          <p:cNvPr id="3" name="Il·lustració d'una rosa dels vents i un rellotge de sorra" descr="/home/claude/p857/build/hero-crop.png">    </p:cNvPr>
          <p:cNvPicPr>
            <a:picLocks noChangeAspect="1"/>
          </p:cNvPicPr>
          <p:nvPr/>
        </p:nvPicPr>
        <p:blipFill>
          <a:blip r:embed="rId1"/>
          <a:stretch>
            <a:fillRect/>
          </a:stretch>
        </p:blipFill>
        <p:spPr>
          <a:xfrm>
            <a:off x="3794760" y="2296090"/>
            <a:ext cx="3291840" cy="1891862"/>
          </a:xfrm>
          <a:prstGeom prst="rect">
            <a:avLst/>
          </a:prstGeom>
        </p:spPr>
      </p:pic>
      <p:sp>
        <p:nvSpPr>
          <p:cNvPr id="4" name="Etiqueta Apartat 5"/>
          <p:cNvSpPr/>
          <p:nvPr/>
        </p:nvSpPr>
        <p:spPr>
          <a:xfrm>
            <a:off x="960120" y="896112"/>
            <a:ext cx="1035101" cy="310896"/>
          </a:xfrm>
          <a:prstGeom prst="roundRect">
            <a:avLst>
              <a:gd name="adj" fmla="val 50000"/>
            </a:avLst>
          </a:prstGeom>
          <a:solidFill>
            <a:srgbClr val="FFFFFF">
              <a:alpha val="18000"/>
            </a:srgbClr>
          </a:solidFill>
          <a:ln/>
        </p:spPr>
      </p:sp>
      <p:sp>
        <p:nvSpPr>
          <p:cNvPr id="5" name="Text 2"/>
          <p:cNvSpPr txBox="1"/>
          <p:nvPr/>
        </p:nvSpPr>
        <p:spPr>
          <a:xfrm>
            <a:off x="960120" y="896112"/>
            <a:ext cx="1035101" cy="310896"/>
          </a:xfrm>
          <a:prstGeom prst="rect">
            <a:avLst/>
          </a:prstGeom>
          <a:noFill/>
          <a:ln/>
        </p:spPr>
        <p:txBody>
          <a:bodyPr wrap="square" lIns="0" tIns="0" rIns="0" bIns="0" rtlCol="0" anchor="ctr"/>
          <a:lstStyle/>
          <a:p>
            <a:pPr algn="ctr" indent="0" marL="0">
              <a:buNone/>
            </a:pPr>
            <a:r>
              <a:rPr lang="en-US" sz="1250" dirty="0">
                <a:solidFill>
                  <a:srgbClr val="FFFFFF"/>
                </a:solidFill>
                <a:latin typeface="Roboto" pitchFamily="34" charset="0"/>
                <a:ea typeface="Roboto" pitchFamily="34" charset="-122"/>
                <a:cs typeface="Roboto" pitchFamily="34" charset="-120"/>
              </a:rPr>
              <a:t>Apartat 5</a:t>
            </a:r>
            <a:endParaRPr lang="en-US" sz="1250" dirty="0"/>
          </a:p>
        </p:txBody>
      </p:sp>
      <p:sp>
        <p:nvSpPr>
          <p:cNvPr id="6" name="Text 3"/>
          <p:cNvSpPr txBox="1"/>
          <p:nvPr/>
        </p:nvSpPr>
        <p:spPr>
          <a:xfrm>
            <a:off x="960120" y="1371600"/>
            <a:ext cx="5760720" cy="1280160"/>
          </a:xfrm>
          <a:prstGeom prst="rect">
            <a:avLst/>
          </a:prstGeom>
          <a:noFill/>
          <a:ln/>
        </p:spPr>
        <p:txBody>
          <a:bodyPr wrap="square" lIns="0" tIns="0" rIns="0" bIns="0" rtlCol="0" anchor="t"/>
          <a:lstStyle/>
          <a:p>
            <a:pPr indent="0" marL="0">
              <a:lnSpc>
                <a:spcPct val="95000"/>
              </a:lnSpc>
              <a:buNone/>
            </a:pPr>
            <a:r>
              <a:rPr lang="en-US" sz="3400" b="1" dirty="0">
                <a:solidFill>
                  <a:srgbClr val="FFFFFF"/>
                </a:solidFill>
                <a:latin typeface="Roboto" pitchFamily="34" charset="0"/>
                <a:ea typeface="Roboto" pitchFamily="34" charset="-122"/>
                <a:cs typeface="Roboto" pitchFamily="34" charset="-120"/>
              </a:rPr>
              <a:t>Què és la història i per què l'estudiem</a:t>
            </a:r>
            <a:endParaRPr lang="en-US" sz="3400" dirty="0"/>
          </a:p>
        </p:txBody>
      </p:sp>
      <p:sp>
        <p:nvSpPr>
          <p:cNvPr id="7" name="Pregunta guia"/>
          <p:cNvSpPr/>
          <p:nvPr/>
        </p:nvSpPr>
        <p:spPr>
          <a:xfrm>
            <a:off x="548640" y="4389120"/>
            <a:ext cx="6720840" cy="1645920"/>
          </a:xfrm>
          <a:prstGeom prst="roundRect">
            <a:avLst>
              <a:gd name="adj" fmla="val 6111"/>
            </a:avLst>
          </a:prstGeom>
          <a:solidFill>
            <a:srgbClr val="F6F8FB"/>
          </a:solidFill>
          <a:ln/>
        </p:spPr>
      </p:sp>
      <p:sp>
        <p:nvSpPr>
          <p:cNvPr id="8" name="Text 5"/>
          <p:cNvSpPr txBox="1"/>
          <p:nvPr/>
        </p:nvSpPr>
        <p:spPr>
          <a:xfrm>
            <a:off x="914400" y="4590288"/>
            <a:ext cx="4572000" cy="320040"/>
          </a:xfrm>
          <a:prstGeom prst="rect">
            <a:avLst/>
          </a:prstGeom>
          <a:noFill/>
          <a:ln/>
        </p:spPr>
        <p:txBody>
          <a:bodyPr wrap="square" lIns="0" tIns="0" rIns="0" bIns="0" rtlCol="0" anchor="t"/>
          <a:lstStyle/>
          <a:p>
            <a:pPr indent="0" marL="0">
              <a:buNone/>
            </a:pPr>
            <a:r>
              <a:rPr lang="en-US" sz="1300" b="1" dirty="0">
                <a:solidFill>
                  <a:srgbClr val="188038"/>
                </a:solidFill>
                <a:latin typeface="Roboto" pitchFamily="34" charset="0"/>
                <a:ea typeface="Roboto" pitchFamily="34" charset="-122"/>
                <a:cs typeface="Roboto" pitchFamily="34" charset="-120"/>
              </a:rPr>
              <a:t>Pregunta guia</a:t>
            </a:r>
            <a:endParaRPr lang="en-US" sz="1300" dirty="0"/>
          </a:p>
        </p:txBody>
      </p:sp>
      <p:sp>
        <p:nvSpPr>
          <p:cNvPr id="9" name="Text 6"/>
          <p:cNvSpPr txBox="1"/>
          <p:nvPr/>
        </p:nvSpPr>
        <p:spPr>
          <a:xfrm>
            <a:off x="914400" y="4937760"/>
            <a:ext cx="6035040" cy="914400"/>
          </a:xfrm>
          <a:prstGeom prst="rect">
            <a:avLst/>
          </a:prstGeom>
          <a:noFill/>
          <a:ln/>
        </p:spPr>
        <p:txBody>
          <a:bodyPr wrap="square" lIns="0" tIns="0" rIns="0" bIns="0" rtlCol="0" anchor="t"/>
          <a:lstStyle/>
          <a:p>
            <a:pPr indent="0" marL="0">
              <a:buNone/>
            </a:pPr>
            <a:r>
              <a:rPr lang="en-US" sz="1900" dirty="0">
                <a:solidFill>
                  <a:srgbClr val="5F6368"/>
                </a:solidFill>
                <a:latin typeface="Roboto" pitchFamily="34" charset="0"/>
                <a:ea typeface="Roboto" pitchFamily="34" charset="-122"/>
                <a:cs typeface="Roboto" pitchFamily="34" charset="-120"/>
              </a:rPr>
              <a:t>Si la història ja ha passat, per què l'hem d'estudiar?</a:t>
            </a:r>
            <a:endParaRPr lang="en-US" sz="1900" dirty="0"/>
          </a:p>
        </p:txBody>
      </p:sp>
      <p:sp>
        <p:nvSpPr>
          <p:cNvPr id="10" name="Fons Què és la història i per què l'estudiem"/>
          <p:cNvSpPr/>
          <p:nvPr/>
        </p:nvSpPr>
        <p:spPr>
          <a:xfrm>
            <a:off x="7635240" y="853437"/>
            <a:ext cx="4007815" cy="4081278"/>
          </a:xfrm>
          <a:prstGeom prst="roundRect">
            <a:avLst>
              <a:gd name="adj" fmla="val 2510"/>
            </a:avLst>
          </a:prstGeom>
          <a:solidFill>
            <a:srgbClr val="F6F8FB"/>
          </a:solidFill>
          <a:ln/>
        </p:spPr>
      </p:sp>
      <p:pic>
        <p:nvPicPr>
          <p:cNvPr id="11" name="Què és la història i per què l'estudiem" descr="/home/claude/p857/build/img/segell.jpg">    </p:cNvPr>
          <p:cNvPicPr>
            <a:picLocks noChangeAspect="1"/>
          </p:cNvPicPr>
          <p:nvPr/>
        </p:nvPicPr>
        <p:blipFill>
          <a:blip r:embed="rId2"/>
          <a:stretch>
            <a:fillRect/>
          </a:stretch>
        </p:blipFill>
        <p:spPr>
          <a:xfrm>
            <a:off x="7635240" y="853437"/>
            <a:ext cx="4007815" cy="4081278"/>
          </a:xfrm>
          <a:prstGeom prst="rect">
            <a:avLst/>
          </a:prstGeom>
        </p:spPr>
      </p:pic>
      <p:sp>
        <p:nvSpPr>
          <p:cNvPr id="12" name="Text 8"/>
          <p:cNvSpPr txBox="1"/>
          <p:nvPr/>
        </p:nvSpPr>
        <p:spPr>
          <a:xfrm>
            <a:off x="7635240" y="5044443"/>
            <a:ext cx="4007815" cy="685800"/>
          </a:xfrm>
          <a:prstGeom prst="rect">
            <a:avLst/>
          </a:prstGeom>
          <a:noFill/>
          <a:ln/>
        </p:spPr>
        <p:txBody>
          <a:bodyPr wrap="square" lIns="0" tIns="0" rIns="0" bIns="0" rtlCol="0" anchor="t"/>
          <a:lstStyle/>
          <a:p>
            <a:pPr indent="0" marL="0">
              <a:buNone/>
            </a:pPr>
            <a:r>
              <a:rPr lang="en-US" sz="1000" dirty="0">
                <a:solidFill>
                  <a:srgbClr val="5F6368"/>
                </a:solidFill>
                <a:latin typeface="Roboto" pitchFamily="34" charset="0"/>
                <a:ea typeface="Roboto" pitchFamily="34" charset="-122"/>
                <a:cs typeface="Roboto" pitchFamily="34" charset="-120"/>
              </a:rPr>
              <a:t>Segell del comte Ramon Berenguer IV (1150). Dibuix del segle XIX fet a partir del segell original. Dibuix: Louis Blancard, Wikimedia Commons, domini públic.</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5</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Molt més que batalles i dates</a:t>
            </a:r>
            <a:endParaRPr lang="en-US" sz="2800" dirty="0"/>
          </a:p>
        </p:txBody>
      </p:sp>
      <p:sp>
        <p:nvSpPr>
          <p:cNvPr id="5" name="Text 3"/>
          <p:cNvSpPr txBox="1"/>
          <p:nvPr/>
        </p:nvSpPr>
        <p:spPr>
          <a:xfrm>
            <a:off x="548640" y="1371600"/>
            <a:ext cx="11094415" cy="594360"/>
          </a:xfrm>
          <a:prstGeom prst="rect">
            <a:avLst/>
          </a:prstGeom>
          <a:noFill/>
          <a:ln/>
        </p:spPr>
        <p:txBody>
          <a:bodyPr wrap="square" lIns="0" tIns="0" rIns="0" bIns="0" rtlCol="0" anchor="t"/>
          <a:lstStyle/>
          <a:p>
            <a:pPr indent="0" marL="0">
              <a:buNone/>
            </a:pPr>
            <a:r>
              <a:rPr lang="en-US" sz="1800" dirty="0">
                <a:solidFill>
                  <a:srgbClr val="202124"/>
                </a:solidFill>
                <a:latin typeface="Roboto" pitchFamily="34" charset="0"/>
                <a:ea typeface="Roboto" pitchFamily="34" charset="-122"/>
                <a:cs typeface="Roboto" pitchFamily="34" charset="-120"/>
              </a:rPr>
              <a:t>La història no és una col·lecció de batalles i dates. És la disciplina que estudia com han viscut les persones del passat.</a:t>
            </a:r>
            <a:endParaRPr lang="en-US" sz="1800" dirty="0"/>
          </a:p>
        </p:txBody>
      </p:sp>
      <p:sp>
        <p:nvSpPr>
          <p:cNvPr id="6" name="Rajola Com s'organitzaven"/>
          <p:cNvSpPr/>
          <p:nvPr/>
        </p:nvSpPr>
        <p:spPr>
          <a:xfrm>
            <a:off x="548640" y="2148840"/>
            <a:ext cx="3545738" cy="960120"/>
          </a:xfrm>
          <a:prstGeom prst="roundRect">
            <a:avLst>
              <a:gd name="adj" fmla="val 10476"/>
            </a:avLst>
          </a:prstGeom>
          <a:solidFill>
            <a:srgbClr val="FFFFFF"/>
          </a:solidFill>
          <a:ln w="12700">
            <a:solidFill>
              <a:srgbClr val="DADCE0"/>
            </a:solidFill>
            <a:prstDash val="solid"/>
          </a:ln>
        </p:spPr>
      </p:sp>
      <p:sp>
        <p:nvSpPr>
          <p:cNvPr id="7" name="Cercle icona"/>
          <p:cNvSpPr/>
          <p:nvPr/>
        </p:nvSpPr>
        <p:spPr>
          <a:xfrm>
            <a:off x="749808" y="2354580"/>
            <a:ext cx="548640" cy="548640"/>
          </a:xfrm>
          <a:prstGeom prst="ellipse">
            <a:avLst/>
          </a:prstGeom>
          <a:solidFill>
            <a:srgbClr val="E6F4EA"/>
          </a:solidFill>
          <a:ln/>
        </p:spPr>
      </p:sp>
      <p:pic>
        <p:nvPicPr>
          <p:cNvPr id="8" name="Icona TbUsersGroup" descr="/home/claude/p857/build/img/ic/TbUsersGroup-g.png">    </p:cNvPr>
          <p:cNvPicPr>
            <a:picLocks noChangeAspect="1"/>
          </p:cNvPicPr>
          <p:nvPr/>
        </p:nvPicPr>
        <p:blipFill>
          <a:blip r:embed="rId1"/>
          <a:stretch>
            <a:fillRect/>
          </a:stretch>
        </p:blipFill>
        <p:spPr>
          <a:xfrm>
            <a:off x="870509" y="2475281"/>
            <a:ext cx="307238" cy="307238"/>
          </a:xfrm>
          <a:prstGeom prst="rect">
            <a:avLst/>
          </a:prstGeom>
        </p:spPr>
      </p:pic>
      <p:sp>
        <p:nvSpPr>
          <p:cNvPr id="9" name="Text 6"/>
          <p:cNvSpPr txBox="1"/>
          <p:nvPr/>
        </p:nvSpPr>
        <p:spPr>
          <a:xfrm>
            <a:off x="1481328" y="2148840"/>
            <a:ext cx="2448458" cy="960120"/>
          </a:xfrm>
          <a:prstGeom prst="rect">
            <a:avLst/>
          </a:prstGeom>
          <a:noFill/>
          <a:ln/>
        </p:spPr>
        <p:txBody>
          <a:bodyPr wrap="square" lIns="0" tIns="0" rIns="0" bIns="0" rtlCol="0" anchor="ctr"/>
          <a:lstStyle/>
          <a:p>
            <a:pPr indent="0" marL="0">
              <a:buNone/>
            </a:pPr>
            <a:r>
              <a:rPr lang="en-US" sz="1900" b="1" dirty="0">
                <a:solidFill>
                  <a:srgbClr val="202124"/>
                </a:solidFill>
                <a:latin typeface="Roboto" pitchFamily="34" charset="0"/>
                <a:ea typeface="Roboto" pitchFamily="34" charset="-122"/>
                <a:cs typeface="Roboto" pitchFamily="34" charset="-120"/>
              </a:rPr>
              <a:t>Com s'organitzaven</a:t>
            </a:r>
            <a:endParaRPr lang="en-US" sz="1900" dirty="0"/>
          </a:p>
        </p:txBody>
      </p:sp>
      <p:sp>
        <p:nvSpPr>
          <p:cNvPr id="10" name="Rajola Què menjaven"/>
          <p:cNvSpPr/>
          <p:nvPr/>
        </p:nvSpPr>
        <p:spPr>
          <a:xfrm>
            <a:off x="4322978" y="2148840"/>
            <a:ext cx="3545738" cy="960120"/>
          </a:xfrm>
          <a:prstGeom prst="roundRect">
            <a:avLst>
              <a:gd name="adj" fmla="val 10476"/>
            </a:avLst>
          </a:prstGeom>
          <a:solidFill>
            <a:srgbClr val="FFFFFF"/>
          </a:solidFill>
          <a:ln w="12700">
            <a:solidFill>
              <a:srgbClr val="DADCE0"/>
            </a:solidFill>
            <a:prstDash val="solid"/>
          </a:ln>
        </p:spPr>
      </p:sp>
      <p:sp>
        <p:nvSpPr>
          <p:cNvPr id="11" name="Cercle icona"/>
          <p:cNvSpPr/>
          <p:nvPr/>
        </p:nvSpPr>
        <p:spPr>
          <a:xfrm>
            <a:off x="4524146" y="2354580"/>
            <a:ext cx="548640" cy="548640"/>
          </a:xfrm>
          <a:prstGeom prst="ellipse">
            <a:avLst/>
          </a:prstGeom>
          <a:solidFill>
            <a:srgbClr val="E6F4EA"/>
          </a:solidFill>
          <a:ln/>
        </p:spPr>
      </p:sp>
      <p:pic>
        <p:nvPicPr>
          <p:cNvPr id="12" name="Icona TbToolsKitchen2" descr="/home/claude/p857/build/img/ic/TbToolsKitchen2-g.png">    </p:cNvPr>
          <p:cNvPicPr>
            <a:picLocks noChangeAspect="1"/>
          </p:cNvPicPr>
          <p:nvPr/>
        </p:nvPicPr>
        <p:blipFill>
          <a:blip r:embed="rId2"/>
          <a:stretch>
            <a:fillRect/>
          </a:stretch>
        </p:blipFill>
        <p:spPr>
          <a:xfrm>
            <a:off x="4644847" y="2475281"/>
            <a:ext cx="307238" cy="307238"/>
          </a:xfrm>
          <a:prstGeom prst="rect">
            <a:avLst/>
          </a:prstGeom>
        </p:spPr>
      </p:pic>
      <p:sp>
        <p:nvSpPr>
          <p:cNvPr id="13" name="Text 9"/>
          <p:cNvSpPr txBox="1"/>
          <p:nvPr/>
        </p:nvSpPr>
        <p:spPr>
          <a:xfrm>
            <a:off x="5255666" y="2148840"/>
            <a:ext cx="2448458" cy="960120"/>
          </a:xfrm>
          <a:prstGeom prst="rect">
            <a:avLst/>
          </a:prstGeom>
          <a:noFill/>
          <a:ln/>
        </p:spPr>
        <p:txBody>
          <a:bodyPr wrap="square" lIns="0" tIns="0" rIns="0" bIns="0" rtlCol="0" anchor="ctr"/>
          <a:lstStyle/>
          <a:p>
            <a:pPr indent="0" marL="0">
              <a:buNone/>
            </a:pPr>
            <a:r>
              <a:rPr lang="en-US" sz="1900" b="1" dirty="0">
                <a:solidFill>
                  <a:srgbClr val="202124"/>
                </a:solidFill>
                <a:latin typeface="Roboto" pitchFamily="34" charset="0"/>
                <a:ea typeface="Roboto" pitchFamily="34" charset="-122"/>
                <a:cs typeface="Roboto" pitchFamily="34" charset="-120"/>
              </a:rPr>
              <a:t>Què menjaven</a:t>
            </a:r>
            <a:endParaRPr lang="en-US" sz="1900" dirty="0"/>
          </a:p>
        </p:txBody>
      </p:sp>
      <p:sp>
        <p:nvSpPr>
          <p:cNvPr id="14" name="Rajola Què creien"/>
          <p:cNvSpPr/>
          <p:nvPr/>
        </p:nvSpPr>
        <p:spPr>
          <a:xfrm>
            <a:off x="8097317" y="2148840"/>
            <a:ext cx="3545738" cy="960120"/>
          </a:xfrm>
          <a:prstGeom prst="roundRect">
            <a:avLst>
              <a:gd name="adj" fmla="val 10476"/>
            </a:avLst>
          </a:prstGeom>
          <a:solidFill>
            <a:srgbClr val="FFFFFF"/>
          </a:solidFill>
          <a:ln w="12700">
            <a:solidFill>
              <a:srgbClr val="DADCE0"/>
            </a:solidFill>
            <a:prstDash val="solid"/>
          </a:ln>
        </p:spPr>
      </p:sp>
      <p:sp>
        <p:nvSpPr>
          <p:cNvPr id="15" name="Cercle icona"/>
          <p:cNvSpPr/>
          <p:nvPr/>
        </p:nvSpPr>
        <p:spPr>
          <a:xfrm>
            <a:off x="8298485" y="2354580"/>
            <a:ext cx="548640" cy="548640"/>
          </a:xfrm>
          <a:prstGeom prst="ellipse">
            <a:avLst/>
          </a:prstGeom>
          <a:solidFill>
            <a:srgbClr val="E6F4EA"/>
          </a:solidFill>
          <a:ln/>
        </p:spPr>
      </p:sp>
      <p:pic>
        <p:nvPicPr>
          <p:cNvPr id="16" name="Icona TbSparkles" descr="/home/claude/p857/build/img/ic/TbSparkles-g.png">    </p:cNvPr>
          <p:cNvPicPr>
            <a:picLocks noChangeAspect="1"/>
          </p:cNvPicPr>
          <p:nvPr/>
        </p:nvPicPr>
        <p:blipFill>
          <a:blip r:embed="rId3"/>
          <a:stretch>
            <a:fillRect/>
          </a:stretch>
        </p:blipFill>
        <p:spPr>
          <a:xfrm>
            <a:off x="8419186" y="2475281"/>
            <a:ext cx="307238" cy="307238"/>
          </a:xfrm>
          <a:prstGeom prst="rect">
            <a:avLst/>
          </a:prstGeom>
        </p:spPr>
      </p:pic>
      <p:sp>
        <p:nvSpPr>
          <p:cNvPr id="17" name="Text 12"/>
          <p:cNvSpPr txBox="1"/>
          <p:nvPr/>
        </p:nvSpPr>
        <p:spPr>
          <a:xfrm>
            <a:off x="9030005" y="2148840"/>
            <a:ext cx="2448458" cy="960120"/>
          </a:xfrm>
          <a:prstGeom prst="rect">
            <a:avLst/>
          </a:prstGeom>
          <a:noFill/>
          <a:ln/>
        </p:spPr>
        <p:txBody>
          <a:bodyPr wrap="square" lIns="0" tIns="0" rIns="0" bIns="0" rtlCol="0" anchor="ctr"/>
          <a:lstStyle/>
          <a:p>
            <a:pPr indent="0" marL="0">
              <a:buNone/>
            </a:pPr>
            <a:r>
              <a:rPr lang="en-US" sz="1900" b="1" dirty="0">
                <a:solidFill>
                  <a:srgbClr val="202124"/>
                </a:solidFill>
                <a:latin typeface="Roboto" pitchFamily="34" charset="0"/>
                <a:ea typeface="Roboto" pitchFamily="34" charset="-122"/>
                <a:cs typeface="Roboto" pitchFamily="34" charset="-120"/>
              </a:rPr>
              <a:t>Què creien</a:t>
            </a:r>
            <a:endParaRPr lang="en-US" sz="1900" dirty="0"/>
          </a:p>
        </p:txBody>
      </p:sp>
      <p:sp>
        <p:nvSpPr>
          <p:cNvPr id="18" name="Rajola Com decidien"/>
          <p:cNvSpPr/>
          <p:nvPr/>
        </p:nvSpPr>
        <p:spPr>
          <a:xfrm>
            <a:off x="548640" y="3337560"/>
            <a:ext cx="3545738" cy="960120"/>
          </a:xfrm>
          <a:prstGeom prst="roundRect">
            <a:avLst>
              <a:gd name="adj" fmla="val 10476"/>
            </a:avLst>
          </a:prstGeom>
          <a:solidFill>
            <a:srgbClr val="FFFFFF"/>
          </a:solidFill>
          <a:ln w="12700">
            <a:solidFill>
              <a:srgbClr val="DADCE0"/>
            </a:solidFill>
            <a:prstDash val="solid"/>
          </a:ln>
        </p:spPr>
      </p:sp>
      <p:sp>
        <p:nvSpPr>
          <p:cNvPr id="19" name="Cercle icona"/>
          <p:cNvSpPr/>
          <p:nvPr/>
        </p:nvSpPr>
        <p:spPr>
          <a:xfrm>
            <a:off x="749808" y="3543300"/>
            <a:ext cx="548640" cy="548640"/>
          </a:xfrm>
          <a:prstGeom prst="ellipse">
            <a:avLst/>
          </a:prstGeom>
          <a:solidFill>
            <a:srgbClr val="E6F4EA"/>
          </a:solidFill>
          <a:ln/>
        </p:spPr>
      </p:sp>
      <p:pic>
        <p:nvPicPr>
          <p:cNvPr id="20" name="Icona TbScale" descr="/home/claude/p857/build/img/ic/TbScale-g.png">    </p:cNvPr>
          <p:cNvPicPr>
            <a:picLocks noChangeAspect="1"/>
          </p:cNvPicPr>
          <p:nvPr/>
        </p:nvPicPr>
        <p:blipFill>
          <a:blip r:embed="rId4"/>
          <a:stretch>
            <a:fillRect/>
          </a:stretch>
        </p:blipFill>
        <p:spPr>
          <a:xfrm>
            <a:off x="870509" y="3664001"/>
            <a:ext cx="307238" cy="307238"/>
          </a:xfrm>
          <a:prstGeom prst="rect">
            <a:avLst/>
          </a:prstGeom>
        </p:spPr>
      </p:pic>
      <p:sp>
        <p:nvSpPr>
          <p:cNvPr id="21" name="Text 15"/>
          <p:cNvSpPr txBox="1"/>
          <p:nvPr/>
        </p:nvSpPr>
        <p:spPr>
          <a:xfrm>
            <a:off x="1481328" y="3337560"/>
            <a:ext cx="2448458" cy="960120"/>
          </a:xfrm>
          <a:prstGeom prst="rect">
            <a:avLst/>
          </a:prstGeom>
          <a:noFill/>
          <a:ln/>
        </p:spPr>
        <p:txBody>
          <a:bodyPr wrap="square" lIns="0" tIns="0" rIns="0" bIns="0" rtlCol="0" anchor="ctr"/>
          <a:lstStyle/>
          <a:p>
            <a:pPr indent="0" marL="0">
              <a:buNone/>
            </a:pPr>
            <a:r>
              <a:rPr lang="en-US" sz="1900" b="1" dirty="0">
                <a:solidFill>
                  <a:srgbClr val="202124"/>
                </a:solidFill>
                <a:latin typeface="Roboto" pitchFamily="34" charset="0"/>
                <a:ea typeface="Roboto" pitchFamily="34" charset="-122"/>
                <a:cs typeface="Roboto" pitchFamily="34" charset="-120"/>
              </a:rPr>
              <a:t>Com decidien</a:t>
            </a:r>
            <a:endParaRPr lang="en-US" sz="1900" dirty="0"/>
          </a:p>
        </p:txBody>
      </p:sp>
      <p:sp>
        <p:nvSpPr>
          <p:cNvPr id="22" name="Rajola Què construïen"/>
          <p:cNvSpPr/>
          <p:nvPr/>
        </p:nvSpPr>
        <p:spPr>
          <a:xfrm>
            <a:off x="4322978" y="3337560"/>
            <a:ext cx="3545738" cy="960120"/>
          </a:xfrm>
          <a:prstGeom prst="roundRect">
            <a:avLst>
              <a:gd name="adj" fmla="val 10476"/>
            </a:avLst>
          </a:prstGeom>
          <a:solidFill>
            <a:srgbClr val="FFFFFF"/>
          </a:solidFill>
          <a:ln w="12700">
            <a:solidFill>
              <a:srgbClr val="DADCE0"/>
            </a:solidFill>
            <a:prstDash val="solid"/>
          </a:ln>
        </p:spPr>
      </p:sp>
      <p:sp>
        <p:nvSpPr>
          <p:cNvPr id="23" name="Cercle icona"/>
          <p:cNvSpPr/>
          <p:nvPr/>
        </p:nvSpPr>
        <p:spPr>
          <a:xfrm>
            <a:off x="4524146" y="3543300"/>
            <a:ext cx="548640" cy="548640"/>
          </a:xfrm>
          <a:prstGeom prst="ellipse">
            <a:avLst/>
          </a:prstGeom>
          <a:solidFill>
            <a:srgbClr val="E6F4EA"/>
          </a:solidFill>
          <a:ln/>
        </p:spPr>
      </p:sp>
      <p:pic>
        <p:nvPicPr>
          <p:cNvPr id="24" name="Icona TbBuildingCastle" descr="/home/claude/p857/build/img/ic/TbBuildingCastle-g.png">    </p:cNvPr>
          <p:cNvPicPr>
            <a:picLocks noChangeAspect="1"/>
          </p:cNvPicPr>
          <p:nvPr/>
        </p:nvPicPr>
        <p:blipFill>
          <a:blip r:embed="rId5"/>
          <a:stretch>
            <a:fillRect/>
          </a:stretch>
        </p:blipFill>
        <p:spPr>
          <a:xfrm>
            <a:off x="4644847" y="3664001"/>
            <a:ext cx="307238" cy="307238"/>
          </a:xfrm>
          <a:prstGeom prst="rect">
            <a:avLst/>
          </a:prstGeom>
        </p:spPr>
      </p:pic>
      <p:sp>
        <p:nvSpPr>
          <p:cNvPr id="25" name="Text 18"/>
          <p:cNvSpPr txBox="1"/>
          <p:nvPr/>
        </p:nvSpPr>
        <p:spPr>
          <a:xfrm>
            <a:off x="5255666" y="3337560"/>
            <a:ext cx="2448458" cy="960120"/>
          </a:xfrm>
          <a:prstGeom prst="rect">
            <a:avLst/>
          </a:prstGeom>
          <a:noFill/>
          <a:ln/>
        </p:spPr>
        <p:txBody>
          <a:bodyPr wrap="square" lIns="0" tIns="0" rIns="0" bIns="0" rtlCol="0" anchor="ctr"/>
          <a:lstStyle/>
          <a:p>
            <a:pPr indent="0" marL="0">
              <a:buNone/>
            </a:pPr>
            <a:r>
              <a:rPr lang="en-US" sz="1900" b="1" dirty="0">
                <a:solidFill>
                  <a:srgbClr val="202124"/>
                </a:solidFill>
                <a:latin typeface="Roboto" pitchFamily="34" charset="0"/>
                <a:ea typeface="Roboto" pitchFamily="34" charset="-122"/>
                <a:cs typeface="Roboto" pitchFamily="34" charset="-120"/>
              </a:rPr>
              <a:t>Què construïen</a:t>
            </a:r>
            <a:endParaRPr lang="en-US" sz="1900" dirty="0"/>
          </a:p>
        </p:txBody>
      </p:sp>
      <p:sp>
        <p:nvSpPr>
          <p:cNvPr id="26" name="Rajola Com es relacionaven"/>
          <p:cNvSpPr/>
          <p:nvPr/>
        </p:nvSpPr>
        <p:spPr>
          <a:xfrm>
            <a:off x="8097317" y="3337560"/>
            <a:ext cx="3545738" cy="960120"/>
          </a:xfrm>
          <a:prstGeom prst="roundRect">
            <a:avLst>
              <a:gd name="adj" fmla="val 10476"/>
            </a:avLst>
          </a:prstGeom>
          <a:solidFill>
            <a:srgbClr val="FFFFFF"/>
          </a:solidFill>
          <a:ln w="12700">
            <a:solidFill>
              <a:srgbClr val="DADCE0"/>
            </a:solidFill>
            <a:prstDash val="solid"/>
          </a:ln>
        </p:spPr>
      </p:sp>
      <p:sp>
        <p:nvSpPr>
          <p:cNvPr id="27" name="Cercle icona"/>
          <p:cNvSpPr/>
          <p:nvPr/>
        </p:nvSpPr>
        <p:spPr>
          <a:xfrm>
            <a:off x="8298485" y="3543300"/>
            <a:ext cx="548640" cy="548640"/>
          </a:xfrm>
          <a:prstGeom prst="ellipse">
            <a:avLst/>
          </a:prstGeom>
          <a:solidFill>
            <a:srgbClr val="E6F4EA"/>
          </a:solidFill>
          <a:ln/>
        </p:spPr>
      </p:sp>
      <p:pic>
        <p:nvPicPr>
          <p:cNvPr id="28" name="Icona TbMessages" descr="/home/claude/p857/build/img/ic/TbMessages-g.png">    </p:cNvPr>
          <p:cNvPicPr>
            <a:picLocks noChangeAspect="1"/>
          </p:cNvPicPr>
          <p:nvPr/>
        </p:nvPicPr>
        <p:blipFill>
          <a:blip r:embed="rId6"/>
          <a:stretch>
            <a:fillRect/>
          </a:stretch>
        </p:blipFill>
        <p:spPr>
          <a:xfrm>
            <a:off x="8419186" y="3664001"/>
            <a:ext cx="307238" cy="307238"/>
          </a:xfrm>
          <a:prstGeom prst="rect">
            <a:avLst/>
          </a:prstGeom>
        </p:spPr>
      </p:pic>
      <p:sp>
        <p:nvSpPr>
          <p:cNvPr id="29" name="Text 21"/>
          <p:cNvSpPr txBox="1"/>
          <p:nvPr/>
        </p:nvSpPr>
        <p:spPr>
          <a:xfrm>
            <a:off x="9030005" y="3337560"/>
            <a:ext cx="2448458" cy="960120"/>
          </a:xfrm>
          <a:prstGeom prst="rect">
            <a:avLst/>
          </a:prstGeom>
          <a:noFill/>
          <a:ln/>
        </p:spPr>
        <p:txBody>
          <a:bodyPr wrap="square" lIns="0" tIns="0" rIns="0" bIns="0" rtlCol="0" anchor="ctr"/>
          <a:lstStyle/>
          <a:p>
            <a:pPr indent="0" marL="0">
              <a:buNone/>
            </a:pPr>
            <a:r>
              <a:rPr lang="en-US" sz="1900" b="1" dirty="0">
                <a:solidFill>
                  <a:srgbClr val="202124"/>
                </a:solidFill>
                <a:latin typeface="Roboto" pitchFamily="34" charset="0"/>
                <a:ea typeface="Roboto" pitchFamily="34" charset="-122"/>
                <a:cs typeface="Roboto" pitchFamily="34" charset="-120"/>
              </a:rPr>
              <a:t>Com es relacionaven</a:t>
            </a:r>
            <a:endParaRPr lang="en-US" sz="1900" dirty="0"/>
          </a:p>
        </p:txBody>
      </p:sp>
      <p:sp>
        <p:nvSpPr>
          <p:cNvPr id="30" name="Paraula clau · Història"/>
          <p:cNvSpPr/>
          <p:nvPr/>
        </p:nvSpPr>
        <p:spPr>
          <a:xfrm>
            <a:off x="548640" y="4617720"/>
            <a:ext cx="11094415" cy="1371600"/>
          </a:xfrm>
          <a:prstGeom prst="roundRect">
            <a:avLst>
              <a:gd name="adj" fmla="val 7333"/>
            </a:avLst>
          </a:prstGeom>
          <a:solidFill>
            <a:srgbClr val="E6F4EA"/>
          </a:solidFill>
          <a:ln/>
        </p:spPr>
      </p:sp>
      <p:sp>
        <p:nvSpPr>
          <p:cNvPr id="31" name="Text 23"/>
          <p:cNvSpPr txBox="1"/>
          <p:nvPr/>
        </p:nvSpPr>
        <p:spPr>
          <a:xfrm>
            <a:off x="868680" y="4773168"/>
            <a:ext cx="10454335" cy="320040"/>
          </a:xfrm>
          <a:prstGeom prst="rect">
            <a:avLst/>
          </a:prstGeom>
          <a:noFill/>
          <a:ln/>
        </p:spPr>
        <p:txBody>
          <a:bodyPr wrap="square" lIns="0" tIns="0" rIns="0" bIns="0" rtlCol="0" anchor="t"/>
          <a:lstStyle/>
          <a:p>
            <a:pPr indent="0" marL="0">
              <a:buNone/>
            </a:pPr>
            <a:r>
              <a:rPr lang="en-US" sz="1400" b="1" dirty="0">
                <a:solidFill>
                  <a:srgbClr val="188038"/>
                </a:solidFill>
                <a:latin typeface="Roboto" pitchFamily="34" charset="0"/>
                <a:ea typeface="Roboto" pitchFamily="34" charset="-122"/>
                <a:cs typeface="Roboto" pitchFamily="34" charset="-120"/>
              </a:rPr>
              <a:t>Paraula clau · Història</a:t>
            </a:r>
            <a:endParaRPr lang="en-US" sz="1400" dirty="0"/>
          </a:p>
        </p:txBody>
      </p:sp>
      <p:sp>
        <p:nvSpPr>
          <p:cNvPr id="32" name="Text 24"/>
          <p:cNvSpPr txBox="1"/>
          <p:nvPr/>
        </p:nvSpPr>
        <p:spPr>
          <a:xfrm>
            <a:off x="868680" y="5120640"/>
            <a:ext cx="10454335" cy="731520"/>
          </a:xfrm>
          <a:prstGeom prst="rect">
            <a:avLst/>
          </a:prstGeom>
          <a:noFill/>
          <a:ln/>
        </p:spPr>
        <p:txBody>
          <a:bodyPr wrap="square" lIns="0" tIns="0" rIns="0" bIns="0" rtlCol="0" anchor="t"/>
          <a:lstStyle/>
          <a:p>
            <a:pPr indent="0" marL="0">
              <a:buNone/>
            </a:pPr>
            <a:r>
              <a:rPr lang="en-US" sz="1800" dirty="0">
                <a:solidFill>
                  <a:srgbClr val="202124"/>
                </a:solidFill>
                <a:latin typeface="Roboto" pitchFamily="34" charset="0"/>
                <a:ea typeface="Roboto" pitchFamily="34" charset="-122"/>
                <a:cs typeface="Roboto" pitchFamily="34" charset="-120"/>
              </a:rPr>
              <a:t>Disciplina que estudia, a partir de fonts, com han viscut les persones i les societats del passat.</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5</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Història, memòria i mite</a:t>
            </a:r>
            <a:endParaRPr lang="en-US" sz="2800" dirty="0"/>
          </a:p>
        </p:txBody>
      </p:sp>
      <p:sp>
        <p:nvSpPr>
          <p:cNvPr id="5" name="Text 3"/>
          <p:cNvSpPr txBox="1"/>
          <p:nvPr/>
        </p:nvSpPr>
        <p:spPr>
          <a:xfrm>
            <a:off x="548640" y="1371600"/>
            <a:ext cx="11094415" cy="457200"/>
          </a:xfrm>
          <a:prstGeom prst="rect">
            <a:avLst/>
          </a:prstGeom>
          <a:noFill/>
          <a:ln/>
        </p:spPr>
        <p:txBody>
          <a:bodyPr wrap="square" lIns="0" tIns="0" rIns="0" bIns="0" rtlCol="0" anchor="t"/>
          <a:lstStyle/>
          <a:p>
            <a:pPr indent="0" marL="0">
              <a:buNone/>
            </a:pPr>
            <a:r>
              <a:rPr lang="en-US" sz="1800" dirty="0">
                <a:solidFill>
                  <a:srgbClr val="202124"/>
                </a:solidFill>
                <a:latin typeface="Roboto" pitchFamily="34" charset="0"/>
                <a:ea typeface="Roboto" pitchFamily="34" charset="-122"/>
                <a:cs typeface="Roboto" pitchFamily="34" charset="-120"/>
              </a:rPr>
              <a:t>Hi ha altres maneres de mirar el passat, però no són el mateix que la història.</a:t>
            </a:r>
            <a:endParaRPr lang="en-US" sz="1800" dirty="0"/>
          </a:p>
        </p:txBody>
      </p:sp>
      <p:sp>
        <p:nvSpPr>
          <p:cNvPr id="6" name="Targeta La memòria"/>
          <p:cNvSpPr/>
          <p:nvPr/>
        </p:nvSpPr>
        <p:spPr>
          <a:xfrm>
            <a:off x="548640" y="1965960"/>
            <a:ext cx="3515258" cy="4023360"/>
          </a:xfrm>
          <a:prstGeom prst="roundRect">
            <a:avLst>
              <a:gd name="adj" fmla="val 2861"/>
            </a:avLst>
          </a:prstGeom>
          <a:solidFill>
            <a:srgbClr val="FFFFFF"/>
          </a:solidFill>
          <a:ln w="12700">
            <a:solidFill>
              <a:srgbClr val="DADCE0"/>
            </a:solidFill>
            <a:prstDash val="solid"/>
          </a:ln>
        </p:spPr>
      </p:sp>
      <p:sp>
        <p:nvSpPr>
          <p:cNvPr id="7" name="Cercle icona"/>
          <p:cNvSpPr/>
          <p:nvPr/>
        </p:nvSpPr>
        <p:spPr>
          <a:xfrm>
            <a:off x="777240" y="2194560"/>
            <a:ext cx="685800" cy="685800"/>
          </a:xfrm>
          <a:prstGeom prst="ellipse">
            <a:avLst/>
          </a:prstGeom>
          <a:solidFill>
            <a:srgbClr val="E6F4EA"/>
          </a:solidFill>
          <a:ln/>
        </p:spPr>
      </p:sp>
      <p:pic>
        <p:nvPicPr>
          <p:cNvPr id="8" name="Icona TbBrain" descr="/home/claude/p857/build/img/ic/TbBrain-g.png">    </p:cNvPr>
          <p:cNvPicPr>
            <a:picLocks noChangeAspect="1"/>
          </p:cNvPicPr>
          <p:nvPr/>
        </p:nvPicPr>
        <p:blipFill>
          <a:blip r:embed="rId1"/>
          <a:stretch>
            <a:fillRect/>
          </a:stretch>
        </p:blipFill>
        <p:spPr>
          <a:xfrm>
            <a:off x="928116" y="2345436"/>
            <a:ext cx="384048" cy="384048"/>
          </a:xfrm>
          <a:prstGeom prst="rect">
            <a:avLst/>
          </a:prstGeom>
        </p:spPr>
      </p:pic>
      <p:sp>
        <p:nvSpPr>
          <p:cNvPr id="9" name="Text 6"/>
          <p:cNvSpPr txBox="1"/>
          <p:nvPr/>
        </p:nvSpPr>
        <p:spPr>
          <a:xfrm>
            <a:off x="1600200" y="2194560"/>
            <a:ext cx="2235098" cy="685800"/>
          </a:xfrm>
          <a:prstGeom prst="rect">
            <a:avLst/>
          </a:prstGeom>
          <a:noFill/>
          <a:ln/>
        </p:spPr>
        <p:txBody>
          <a:bodyPr wrap="square" lIns="0" tIns="0" rIns="0" bIns="0" rtlCol="0" anchor="ctr"/>
          <a:lstStyle/>
          <a:p>
            <a:pPr indent="0" marL="0">
              <a:buNone/>
            </a:pPr>
            <a:r>
              <a:rPr lang="en-US" sz="2100" b="1" dirty="0">
                <a:solidFill>
                  <a:srgbClr val="188038"/>
                </a:solidFill>
                <a:latin typeface="Roboto" pitchFamily="34" charset="0"/>
                <a:ea typeface="Roboto" pitchFamily="34" charset="-122"/>
                <a:cs typeface="Roboto" pitchFamily="34" charset="-120"/>
              </a:rPr>
              <a:t>La memòria</a:t>
            </a:r>
            <a:endParaRPr lang="en-US" sz="2100" dirty="0"/>
          </a:p>
        </p:txBody>
      </p:sp>
      <p:sp>
        <p:nvSpPr>
          <p:cNvPr id="10" name="Text 7"/>
          <p:cNvSpPr txBox="1"/>
          <p:nvPr/>
        </p:nvSpPr>
        <p:spPr>
          <a:xfrm>
            <a:off x="777240" y="3017520"/>
            <a:ext cx="3058058" cy="2834640"/>
          </a:xfrm>
          <a:prstGeom prst="rect">
            <a:avLst/>
          </a:prstGeom>
          <a:noFill/>
          <a:ln/>
        </p:spPr>
        <p:txBody>
          <a:bodyPr wrap="square" lIns="0" tIns="0" rIns="0" bIns="0" rtlCol="0" anchor="t"/>
          <a:lstStyle/>
          <a:p>
            <a:pPr indent="0" marL="0">
              <a:buNone/>
            </a:pPr>
            <a:r>
              <a:rPr lang="en-US" sz="1800" dirty="0">
                <a:solidFill>
                  <a:srgbClr val="202124"/>
                </a:solidFill>
                <a:latin typeface="Roboto" pitchFamily="34" charset="0"/>
                <a:ea typeface="Roboto" pitchFamily="34" charset="-122"/>
                <a:cs typeface="Roboto" pitchFamily="34" charset="-120"/>
              </a:rPr>
              <a:t>El que recorda cada persona, cada família o cada poble. És molt valuosa, però pot oblidar coses, barrejar-les o explicar-les només des del seu punt de vista.</a:t>
            </a:r>
            <a:endParaRPr lang="en-US" sz="1800" dirty="0"/>
          </a:p>
        </p:txBody>
      </p:sp>
      <p:sp>
        <p:nvSpPr>
          <p:cNvPr id="11" name="Targeta El mite"/>
          <p:cNvSpPr/>
          <p:nvPr/>
        </p:nvSpPr>
        <p:spPr>
          <a:xfrm>
            <a:off x="4338218" y="1965960"/>
            <a:ext cx="3515258" cy="4023360"/>
          </a:xfrm>
          <a:prstGeom prst="roundRect">
            <a:avLst>
              <a:gd name="adj" fmla="val 2861"/>
            </a:avLst>
          </a:prstGeom>
          <a:solidFill>
            <a:srgbClr val="FFFFFF"/>
          </a:solidFill>
          <a:ln w="12700">
            <a:solidFill>
              <a:srgbClr val="DADCE0"/>
            </a:solidFill>
            <a:prstDash val="solid"/>
          </a:ln>
        </p:spPr>
      </p:sp>
      <p:sp>
        <p:nvSpPr>
          <p:cNvPr id="12" name="Cercle icona"/>
          <p:cNvSpPr/>
          <p:nvPr/>
        </p:nvSpPr>
        <p:spPr>
          <a:xfrm>
            <a:off x="4566818" y="2194560"/>
            <a:ext cx="685800" cy="685800"/>
          </a:xfrm>
          <a:prstGeom prst="ellipse">
            <a:avLst/>
          </a:prstGeom>
          <a:solidFill>
            <a:srgbClr val="E6F4EA"/>
          </a:solidFill>
          <a:ln/>
        </p:spPr>
      </p:sp>
      <p:pic>
        <p:nvPicPr>
          <p:cNvPr id="13" name="Icona TbBook" descr="/home/claude/p857/build/img/ic/TbBook-g.png">    </p:cNvPr>
          <p:cNvPicPr>
            <a:picLocks noChangeAspect="1"/>
          </p:cNvPicPr>
          <p:nvPr/>
        </p:nvPicPr>
        <p:blipFill>
          <a:blip r:embed="rId2"/>
          <a:stretch>
            <a:fillRect/>
          </a:stretch>
        </p:blipFill>
        <p:spPr>
          <a:xfrm>
            <a:off x="4717694" y="2345436"/>
            <a:ext cx="384048" cy="384048"/>
          </a:xfrm>
          <a:prstGeom prst="rect">
            <a:avLst/>
          </a:prstGeom>
        </p:spPr>
      </p:pic>
      <p:sp>
        <p:nvSpPr>
          <p:cNvPr id="14" name="Text 10"/>
          <p:cNvSpPr txBox="1"/>
          <p:nvPr/>
        </p:nvSpPr>
        <p:spPr>
          <a:xfrm>
            <a:off x="5389778" y="2194560"/>
            <a:ext cx="2235098" cy="685800"/>
          </a:xfrm>
          <a:prstGeom prst="rect">
            <a:avLst/>
          </a:prstGeom>
          <a:noFill/>
          <a:ln/>
        </p:spPr>
        <p:txBody>
          <a:bodyPr wrap="square" lIns="0" tIns="0" rIns="0" bIns="0" rtlCol="0" anchor="ctr"/>
          <a:lstStyle/>
          <a:p>
            <a:pPr indent="0" marL="0">
              <a:buNone/>
            </a:pPr>
            <a:r>
              <a:rPr lang="en-US" sz="2100" b="1" dirty="0">
                <a:solidFill>
                  <a:srgbClr val="188038"/>
                </a:solidFill>
                <a:latin typeface="Roboto" pitchFamily="34" charset="0"/>
                <a:ea typeface="Roboto" pitchFamily="34" charset="-122"/>
                <a:cs typeface="Roboto" pitchFamily="34" charset="-120"/>
              </a:rPr>
              <a:t>El mite</a:t>
            </a:r>
            <a:endParaRPr lang="en-US" sz="2100" dirty="0"/>
          </a:p>
        </p:txBody>
      </p:sp>
      <p:sp>
        <p:nvSpPr>
          <p:cNvPr id="15" name="Text 11"/>
          <p:cNvSpPr txBox="1"/>
          <p:nvPr/>
        </p:nvSpPr>
        <p:spPr>
          <a:xfrm>
            <a:off x="4566818" y="3017520"/>
            <a:ext cx="3058058" cy="2834640"/>
          </a:xfrm>
          <a:prstGeom prst="rect">
            <a:avLst/>
          </a:prstGeom>
          <a:noFill/>
          <a:ln/>
        </p:spPr>
        <p:txBody>
          <a:bodyPr wrap="square" lIns="0" tIns="0" rIns="0" bIns="0" rtlCol="0" anchor="t"/>
          <a:lstStyle/>
          <a:p>
            <a:pPr indent="0" marL="0">
              <a:buNone/>
            </a:pPr>
            <a:r>
              <a:rPr lang="en-US" sz="1800" dirty="0">
                <a:solidFill>
                  <a:srgbClr val="202124"/>
                </a:solidFill>
                <a:latin typeface="Roboto" pitchFamily="34" charset="0"/>
                <a:ea typeface="Roboto" pitchFamily="34" charset="-122"/>
                <a:cs typeface="Roboto" pitchFamily="34" charset="-120"/>
              </a:rPr>
              <a:t>Una història tradicional que explica els orígens d'un poble o d'un costum. Passa de generació en generació, però no es basa en proves.</a:t>
            </a:r>
            <a:endParaRPr lang="en-US" sz="1800" dirty="0"/>
          </a:p>
        </p:txBody>
      </p:sp>
      <p:sp>
        <p:nvSpPr>
          <p:cNvPr id="16" name="Targeta La història"/>
          <p:cNvSpPr/>
          <p:nvPr/>
        </p:nvSpPr>
        <p:spPr>
          <a:xfrm>
            <a:off x="8127797" y="1965960"/>
            <a:ext cx="3515258" cy="4023360"/>
          </a:xfrm>
          <a:prstGeom prst="roundRect">
            <a:avLst>
              <a:gd name="adj" fmla="val 2861"/>
            </a:avLst>
          </a:prstGeom>
          <a:solidFill>
            <a:srgbClr val="188038"/>
          </a:solidFill>
          <a:ln/>
        </p:spPr>
      </p:sp>
      <p:sp>
        <p:nvSpPr>
          <p:cNvPr id="17" name="Cercle icona"/>
          <p:cNvSpPr/>
          <p:nvPr/>
        </p:nvSpPr>
        <p:spPr>
          <a:xfrm>
            <a:off x="8356397" y="2194560"/>
            <a:ext cx="685800" cy="685800"/>
          </a:xfrm>
          <a:prstGeom prst="ellipse">
            <a:avLst/>
          </a:prstGeom>
          <a:solidFill>
            <a:srgbClr val="FFFFFF"/>
          </a:solidFill>
          <a:ln/>
        </p:spPr>
      </p:sp>
      <p:pic>
        <p:nvPicPr>
          <p:cNvPr id="18" name="Icona TbSearch" descr="/home/claude/p857/build/img/ic/TbSearch-g.png">    </p:cNvPr>
          <p:cNvPicPr>
            <a:picLocks noChangeAspect="1"/>
          </p:cNvPicPr>
          <p:nvPr/>
        </p:nvPicPr>
        <p:blipFill>
          <a:blip r:embed="rId3"/>
          <a:stretch>
            <a:fillRect/>
          </a:stretch>
        </p:blipFill>
        <p:spPr>
          <a:xfrm>
            <a:off x="8507273" y="2345436"/>
            <a:ext cx="384048" cy="384048"/>
          </a:xfrm>
          <a:prstGeom prst="rect">
            <a:avLst/>
          </a:prstGeom>
        </p:spPr>
      </p:pic>
      <p:sp>
        <p:nvSpPr>
          <p:cNvPr id="19" name="Text 14"/>
          <p:cNvSpPr txBox="1"/>
          <p:nvPr/>
        </p:nvSpPr>
        <p:spPr>
          <a:xfrm>
            <a:off x="9179357" y="2194560"/>
            <a:ext cx="2235098" cy="685800"/>
          </a:xfrm>
          <a:prstGeom prst="rect">
            <a:avLst/>
          </a:prstGeom>
          <a:noFill/>
          <a:ln/>
        </p:spPr>
        <p:txBody>
          <a:bodyPr wrap="square" lIns="0" tIns="0" rIns="0" bIns="0" rtlCol="0" anchor="ctr"/>
          <a:lstStyle/>
          <a:p>
            <a:pPr indent="0" marL="0">
              <a:buNone/>
            </a:pPr>
            <a:r>
              <a:rPr lang="en-US" sz="2100" b="1" dirty="0">
                <a:solidFill>
                  <a:srgbClr val="FFFFFF"/>
                </a:solidFill>
                <a:latin typeface="Roboto" pitchFamily="34" charset="0"/>
                <a:ea typeface="Roboto" pitchFamily="34" charset="-122"/>
                <a:cs typeface="Roboto" pitchFamily="34" charset="-120"/>
              </a:rPr>
              <a:t>La història</a:t>
            </a:r>
            <a:endParaRPr lang="en-US" sz="2100" dirty="0"/>
          </a:p>
        </p:txBody>
      </p:sp>
      <p:sp>
        <p:nvSpPr>
          <p:cNvPr id="20" name="Text 15"/>
          <p:cNvSpPr txBox="1"/>
          <p:nvPr/>
        </p:nvSpPr>
        <p:spPr>
          <a:xfrm>
            <a:off x="8356397" y="3017520"/>
            <a:ext cx="3058058" cy="2834640"/>
          </a:xfrm>
          <a:prstGeom prst="rect">
            <a:avLst/>
          </a:prstGeom>
          <a:noFill/>
          <a:ln/>
        </p:spPr>
        <p:txBody>
          <a:bodyPr wrap="square" lIns="0" tIns="0" rIns="0" bIns="0" rtlCol="0" anchor="t"/>
          <a:lstStyle/>
          <a:p>
            <a:pPr indent="0" marL="0">
              <a:buNone/>
            </a:pPr>
            <a:r>
              <a:rPr lang="en-US" sz="1800" dirty="0">
                <a:solidFill>
                  <a:srgbClr val="FFFFFF"/>
                </a:solidFill>
                <a:latin typeface="Roboto" pitchFamily="34" charset="0"/>
                <a:ea typeface="Roboto" pitchFamily="34" charset="-122"/>
                <a:cs typeface="Roboto" pitchFamily="34" charset="-120"/>
              </a:rPr>
              <a:t>Fa preguntes, busca proves en les fonts i les compara abans de treure conclusions.</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5</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Un mite català. Les quatre barres</a:t>
            </a:r>
            <a:endParaRPr lang="en-US" sz="2800" dirty="0"/>
          </a:p>
        </p:txBody>
      </p:sp>
      <p:sp>
        <p:nvSpPr>
          <p:cNvPr id="5" name="Pas 1"/>
          <p:cNvSpPr/>
          <p:nvPr/>
        </p:nvSpPr>
        <p:spPr>
          <a:xfrm>
            <a:off x="548640" y="1371600"/>
            <a:ext cx="3362858" cy="3200400"/>
          </a:xfrm>
          <a:prstGeom prst="roundRect">
            <a:avLst>
              <a:gd name="adj" fmla="val 3143"/>
            </a:avLst>
          </a:prstGeom>
          <a:solidFill>
            <a:srgbClr val="FFFFFF"/>
          </a:solidFill>
          <a:ln w="12700">
            <a:solidFill>
              <a:srgbClr val="DADCE0"/>
            </a:solidFill>
            <a:prstDash val="solid"/>
          </a:ln>
        </p:spPr>
      </p:sp>
      <p:sp>
        <p:nvSpPr>
          <p:cNvPr id="6" name="Cercle icona"/>
          <p:cNvSpPr/>
          <p:nvPr/>
        </p:nvSpPr>
        <p:spPr>
          <a:xfrm>
            <a:off x="804672" y="1627632"/>
            <a:ext cx="685800" cy="685800"/>
          </a:xfrm>
          <a:prstGeom prst="ellipse">
            <a:avLst/>
          </a:prstGeom>
          <a:solidFill>
            <a:srgbClr val="E6F4EA"/>
          </a:solidFill>
          <a:ln/>
        </p:spPr>
      </p:sp>
      <p:pic>
        <p:nvPicPr>
          <p:cNvPr id="7" name="Icona TbSword" descr="/home/claude/p857/build/img/ic/TbSword-g.png">    </p:cNvPr>
          <p:cNvPicPr>
            <a:picLocks noChangeAspect="1"/>
          </p:cNvPicPr>
          <p:nvPr/>
        </p:nvPicPr>
        <p:blipFill>
          <a:blip r:embed="rId1"/>
          <a:stretch>
            <a:fillRect/>
          </a:stretch>
        </p:blipFill>
        <p:spPr>
          <a:xfrm>
            <a:off x="955548" y="1778508"/>
            <a:ext cx="384048" cy="384048"/>
          </a:xfrm>
          <a:prstGeom prst="rect">
            <a:avLst/>
          </a:prstGeom>
        </p:spPr>
      </p:pic>
      <p:sp>
        <p:nvSpPr>
          <p:cNvPr id="8" name="Text 5"/>
          <p:cNvSpPr txBox="1"/>
          <p:nvPr/>
        </p:nvSpPr>
        <p:spPr>
          <a:xfrm>
            <a:off x="3225698" y="1627632"/>
            <a:ext cx="411480" cy="411480"/>
          </a:xfrm>
          <a:prstGeom prst="rect">
            <a:avLst/>
          </a:prstGeom>
          <a:noFill/>
          <a:ln/>
        </p:spPr>
        <p:txBody>
          <a:bodyPr wrap="square" lIns="0" tIns="0" rIns="0" bIns="0" rtlCol="0" anchor="t"/>
          <a:lstStyle/>
          <a:p>
            <a:pPr algn="r" indent="0" marL="0">
              <a:buNone/>
            </a:pPr>
            <a:r>
              <a:rPr lang="en-US" sz="2200" b="1" dirty="0">
                <a:solidFill>
                  <a:srgbClr val="DADCE0"/>
                </a:solidFill>
                <a:latin typeface="Roboto" pitchFamily="34" charset="0"/>
                <a:ea typeface="Roboto" pitchFamily="34" charset="-122"/>
                <a:cs typeface="Roboto" pitchFamily="34" charset="-120"/>
              </a:rPr>
              <a:t>1</a:t>
            </a:r>
            <a:endParaRPr lang="en-US" sz="2200" dirty="0"/>
          </a:p>
        </p:txBody>
      </p:sp>
      <p:sp>
        <p:nvSpPr>
          <p:cNvPr id="9" name="Text 6"/>
          <p:cNvSpPr txBox="1"/>
          <p:nvPr/>
        </p:nvSpPr>
        <p:spPr>
          <a:xfrm>
            <a:off x="804672" y="2468880"/>
            <a:ext cx="2850794" cy="317500"/>
          </a:xfrm>
          <a:prstGeom prst="rect">
            <a:avLst/>
          </a:prstGeom>
          <a:noFill/>
          <a:ln/>
        </p:spPr>
        <p:txBody>
          <a:bodyPr wrap="square" lIns="0" tIns="0" rIns="0" bIns="0" rtlCol="0" anchor="t"/>
          <a:lstStyle/>
          <a:p>
            <a:pPr indent="0" marL="0">
              <a:buNone/>
            </a:pPr>
            <a:r>
              <a:rPr lang="en-US" sz="2000" b="1" dirty="0">
                <a:solidFill>
                  <a:srgbClr val="188038"/>
                </a:solidFill>
                <a:latin typeface="Roboto" pitchFamily="34" charset="0"/>
                <a:ea typeface="Roboto" pitchFamily="34" charset="-122"/>
                <a:cs typeface="Roboto" pitchFamily="34" charset="-120"/>
              </a:rPr>
              <a:t>Guifré, ferit</a:t>
            </a:r>
            <a:endParaRPr lang="en-US" sz="2000" dirty="0"/>
          </a:p>
        </p:txBody>
      </p:sp>
      <p:sp>
        <p:nvSpPr>
          <p:cNvPr id="10" name="Text 7"/>
          <p:cNvSpPr txBox="1"/>
          <p:nvPr/>
        </p:nvSpPr>
        <p:spPr>
          <a:xfrm>
            <a:off x="804672" y="2850388"/>
            <a:ext cx="2850794" cy="1630172"/>
          </a:xfrm>
          <a:prstGeom prst="rect">
            <a:avLst/>
          </a:prstGeom>
          <a:noFill/>
          <a:ln/>
        </p:spPr>
        <p:txBody>
          <a:bodyPr wrap="square" lIns="0" tIns="0" rIns="0" bIns="0" rtlCol="0" anchor="t"/>
          <a:lstStyle/>
          <a:p>
            <a:pPr indent="0" marL="0">
              <a:buNone/>
            </a:pPr>
            <a:r>
              <a:rPr lang="en-US" sz="1750" dirty="0">
                <a:solidFill>
                  <a:srgbClr val="202124"/>
                </a:solidFill>
                <a:latin typeface="Roboto" pitchFamily="34" charset="0"/>
                <a:ea typeface="Roboto" pitchFamily="34" charset="-122"/>
                <a:cs typeface="Roboto" pitchFamily="34" charset="-120"/>
              </a:rPr>
              <a:t>Segons la llegenda, el comte Guifré el Pilós va ser ferit en una batalla en què ajudava l'emperador dels francs.</a:t>
            </a:r>
            <a:endParaRPr lang="en-US" sz="1750" dirty="0"/>
          </a:p>
        </p:txBody>
      </p:sp>
      <p:sp>
        <p:nvSpPr>
          <p:cNvPr id="11" name="Fletxa"/>
          <p:cNvSpPr/>
          <p:nvPr/>
        </p:nvSpPr>
        <p:spPr>
          <a:xfrm>
            <a:off x="4071518" y="2834640"/>
            <a:ext cx="182880" cy="274320"/>
          </a:xfrm>
          <a:prstGeom prst="chevron">
            <a:avLst/>
          </a:prstGeom>
          <a:solidFill>
            <a:srgbClr val="188038"/>
          </a:solidFill>
          <a:ln/>
        </p:spPr>
      </p:sp>
      <p:sp>
        <p:nvSpPr>
          <p:cNvPr id="12" name="Pas 2"/>
          <p:cNvSpPr/>
          <p:nvPr/>
        </p:nvSpPr>
        <p:spPr>
          <a:xfrm>
            <a:off x="4414418" y="1371600"/>
            <a:ext cx="3362858" cy="3200400"/>
          </a:xfrm>
          <a:prstGeom prst="roundRect">
            <a:avLst>
              <a:gd name="adj" fmla="val 3143"/>
            </a:avLst>
          </a:prstGeom>
          <a:solidFill>
            <a:srgbClr val="FFFFFF"/>
          </a:solidFill>
          <a:ln w="12700">
            <a:solidFill>
              <a:srgbClr val="DADCE0"/>
            </a:solidFill>
            <a:prstDash val="solid"/>
          </a:ln>
        </p:spPr>
      </p:sp>
      <p:sp>
        <p:nvSpPr>
          <p:cNvPr id="13" name="Cercle icona"/>
          <p:cNvSpPr/>
          <p:nvPr/>
        </p:nvSpPr>
        <p:spPr>
          <a:xfrm>
            <a:off x="4670450" y="1627632"/>
            <a:ext cx="685800" cy="685800"/>
          </a:xfrm>
          <a:prstGeom prst="ellipse">
            <a:avLst/>
          </a:prstGeom>
          <a:solidFill>
            <a:srgbClr val="E6F4EA"/>
          </a:solidFill>
          <a:ln/>
        </p:spPr>
      </p:sp>
      <p:pic>
        <p:nvPicPr>
          <p:cNvPr id="14" name="Icona TbHandFinger" descr="/home/claude/p857/build/img/ic/TbHandFinger-g.png">    </p:cNvPr>
          <p:cNvPicPr>
            <a:picLocks noChangeAspect="1"/>
          </p:cNvPicPr>
          <p:nvPr/>
        </p:nvPicPr>
        <p:blipFill>
          <a:blip r:embed="rId2"/>
          <a:stretch>
            <a:fillRect/>
          </a:stretch>
        </p:blipFill>
        <p:spPr>
          <a:xfrm>
            <a:off x="4821326" y="1778508"/>
            <a:ext cx="384048" cy="384048"/>
          </a:xfrm>
          <a:prstGeom prst="rect">
            <a:avLst/>
          </a:prstGeom>
        </p:spPr>
      </p:pic>
      <p:sp>
        <p:nvSpPr>
          <p:cNvPr id="15" name="Text 11"/>
          <p:cNvSpPr txBox="1"/>
          <p:nvPr/>
        </p:nvSpPr>
        <p:spPr>
          <a:xfrm>
            <a:off x="7091477" y="1627632"/>
            <a:ext cx="411480" cy="411480"/>
          </a:xfrm>
          <a:prstGeom prst="rect">
            <a:avLst/>
          </a:prstGeom>
          <a:noFill/>
          <a:ln/>
        </p:spPr>
        <p:txBody>
          <a:bodyPr wrap="square" lIns="0" tIns="0" rIns="0" bIns="0" rtlCol="0" anchor="t"/>
          <a:lstStyle/>
          <a:p>
            <a:pPr algn="r" indent="0" marL="0">
              <a:buNone/>
            </a:pPr>
            <a:r>
              <a:rPr lang="en-US" sz="2200" b="1" dirty="0">
                <a:solidFill>
                  <a:srgbClr val="DADCE0"/>
                </a:solidFill>
                <a:latin typeface="Roboto" pitchFamily="34" charset="0"/>
                <a:ea typeface="Roboto" pitchFamily="34" charset="-122"/>
                <a:cs typeface="Roboto" pitchFamily="34" charset="-120"/>
              </a:rPr>
              <a:t>2</a:t>
            </a:r>
            <a:endParaRPr lang="en-US" sz="2200" dirty="0"/>
          </a:p>
        </p:txBody>
      </p:sp>
      <p:sp>
        <p:nvSpPr>
          <p:cNvPr id="16" name="Text 12"/>
          <p:cNvSpPr txBox="1"/>
          <p:nvPr/>
        </p:nvSpPr>
        <p:spPr>
          <a:xfrm>
            <a:off x="4670450" y="2468880"/>
            <a:ext cx="2850794" cy="317500"/>
          </a:xfrm>
          <a:prstGeom prst="rect">
            <a:avLst/>
          </a:prstGeom>
          <a:noFill/>
          <a:ln/>
        </p:spPr>
        <p:txBody>
          <a:bodyPr wrap="square" lIns="0" tIns="0" rIns="0" bIns="0" rtlCol="0" anchor="t"/>
          <a:lstStyle/>
          <a:p>
            <a:pPr indent="0" marL="0">
              <a:buNone/>
            </a:pPr>
            <a:r>
              <a:rPr lang="en-US" sz="2000" b="1" dirty="0">
                <a:solidFill>
                  <a:srgbClr val="188038"/>
                </a:solidFill>
                <a:latin typeface="Roboto" pitchFamily="34" charset="0"/>
                <a:ea typeface="Roboto" pitchFamily="34" charset="-122"/>
                <a:cs typeface="Roboto" pitchFamily="34" charset="-120"/>
              </a:rPr>
              <a:t>Els dits a la sang</a:t>
            </a:r>
            <a:endParaRPr lang="en-US" sz="2000" dirty="0"/>
          </a:p>
        </p:txBody>
      </p:sp>
      <p:sp>
        <p:nvSpPr>
          <p:cNvPr id="17" name="Text 13"/>
          <p:cNvSpPr txBox="1"/>
          <p:nvPr/>
        </p:nvSpPr>
        <p:spPr>
          <a:xfrm>
            <a:off x="4670450" y="2850388"/>
            <a:ext cx="2850794" cy="1630172"/>
          </a:xfrm>
          <a:prstGeom prst="rect">
            <a:avLst/>
          </a:prstGeom>
          <a:noFill/>
          <a:ln/>
        </p:spPr>
        <p:txBody>
          <a:bodyPr wrap="square" lIns="0" tIns="0" rIns="0" bIns="0" rtlCol="0" anchor="t"/>
          <a:lstStyle/>
          <a:p>
            <a:pPr indent="0" marL="0">
              <a:buNone/>
            </a:pPr>
            <a:r>
              <a:rPr lang="en-US" sz="1750" dirty="0">
                <a:solidFill>
                  <a:srgbClr val="202124"/>
                </a:solidFill>
                <a:latin typeface="Roboto" pitchFamily="34" charset="0"/>
                <a:ea typeface="Roboto" pitchFamily="34" charset="-122"/>
                <a:cs typeface="Roboto" pitchFamily="34" charset="-120"/>
              </a:rPr>
              <a:t>L'emperador va mullar els dits a la sang de les ferides.</a:t>
            </a:r>
            <a:endParaRPr lang="en-US" sz="1750" dirty="0"/>
          </a:p>
        </p:txBody>
      </p:sp>
      <p:sp>
        <p:nvSpPr>
          <p:cNvPr id="18" name="Fletxa"/>
          <p:cNvSpPr/>
          <p:nvPr/>
        </p:nvSpPr>
        <p:spPr>
          <a:xfrm>
            <a:off x="7937297" y="2834640"/>
            <a:ext cx="182880" cy="274320"/>
          </a:xfrm>
          <a:prstGeom prst="chevron">
            <a:avLst/>
          </a:prstGeom>
          <a:solidFill>
            <a:srgbClr val="188038"/>
          </a:solidFill>
          <a:ln/>
        </p:spPr>
      </p:sp>
      <p:sp>
        <p:nvSpPr>
          <p:cNvPr id="19" name="Pas 3"/>
          <p:cNvSpPr/>
          <p:nvPr/>
        </p:nvSpPr>
        <p:spPr>
          <a:xfrm>
            <a:off x="8280197" y="1371600"/>
            <a:ext cx="3362858" cy="3200400"/>
          </a:xfrm>
          <a:prstGeom prst="roundRect">
            <a:avLst>
              <a:gd name="adj" fmla="val 3143"/>
            </a:avLst>
          </a:prstGeom>
          <a:solidFill>
            <a:srgbClr val="FFFFFF"/>
          </a:solidFill>
          <a:ln w="12700">
            <a:solidFill>
              <a:srgbClr val="DADCE0"/>
            </a:solidFill>
            <a:prstDash val="solid"/>
          </a:ln>
        </p:spPr>
      </p:sp>
      <p:sp>
        <p:nvSpPr>
          <p:cNvPr id="20" name="Cercle icona"/>
          <p:cNvSpPr/>
          <p:nvPr/>
        </p:nvSpPr>
        <p:spPr>
          <a:xfrm>
            <a:off x="8536229" y="1627632"/>
            <a:ext cx="685800" cy="685800"/>
          </a:xfrm>
          <a:prstGeom prst="ellipse">
            <a:avLst/>
          </a:prstGeom>
          <a:solidFill>
            <a:srgbClr val="E6F4EA"/>
          </a:solidFill>
          <a:ln/>
        </p:spPr>
      </p:sp>
      <p:pic>
        <p:nvPicPr>
          <p:cNvPr id="21" name="Icona TbShield" descr="/home/claude/p857/build/img/ic/TbShield-g.png">    </p:cNvPr>
          <p:cNvPicPr>
            <a:picLocks noChangeAspect="1"/>
          </p:cNvPicPr>
          <p:nvPr/>
        </p:nvPicPr>
        <p:blipFill>
          <a:blip r:embed="rId3"/>
          <a:stretch>
            <a:fillRect/>
          </a:stretch>
        </p:blipFill>
        <p:spPr>
          <a:xfrm>
            <a:off x="8687105" y="1778508"/>
            <a:ext cx="384048" cy="384048"/>
          </a:xfrm>
          <a:prstGeom prst="rect">
            <a:avLst/>
          </a:prstGeom>
        </p:spPr>
      </p:pic>
      <p:sp>
        <p:nvSpPr>
          <p:cNvPr id="22" name="Text 17"/>
          <p:cNvSpPr txBox="1"/>
          <p:nvPr/>
        </p:nvSpPr>
        <p:spPr>
          <a:xfrm>
            <a:off x="10957255" y="1627632"/>
            <a:ext cx="411480" cy="411480"/>
          </a:xfrm>
          <a:prstGeom prst="rect">
            <a:avLst/>
          </a:prstGeom>
          <a:noFill/>
          <a:ln/>
        </p:spPr>
        <p:txBody>
          <a:bodyPr wrap="square" lIns="0" tIns="0" rIns="0" bIns="0" rtlCol="0" anchor="t"/>
          <a:lstStyle/>
          <a:p>
            <a:pPr algn="r" indent="0" marL="0">
              <a:buNone/>
            </a:pPr>
            <a:r>
              <a:rPr lang="en-US" sz="2200" b="1" dirty="0">
                <a:solidFill>
                  <a:srgbClr val="DADCE0"/>
                </a:solidFill>
                <a:latin typeface="Roboto" pitchFamily="34" charset="0"/>
                <a:ea typeface="Roboto" pitchFamily="34" charset="-122"/>
                <a:cs typeface="Roboto" pitchFamily="34" charset="-120"/>
              </a:rPr>
              <a:t>3</a:t>
            </a:r>
            <a:endParaRPr lang="en-US" sz="2200" dirty="0"/>
          </a:p>
        </p:txBody>
      </p:sp>
      <p:sp>
        <p:nvSpPr>
          <p:cNvPr id="23" name="Text 18"/>
          <p:cNvSpPr txBox="1"/>
          <p:nvPr/>
        </p:nvSpPr>
        <p:spPr>
          <a:xfrm>
            <a:off x="8536229" y="2468880"/>
            <a:ext cx="2850794" cy="317500"/>
          </a:xfrm>
          <a:prstGeom prst="rect">
            <a:avLst/>
          </a:prstGeom>
          <a:noFill/>
          <a:ln/>
        </p:spPr>
        <p:txBody>
          <a:bodyPr wrap="square" lIns="0" tIns="0" rIns="0" bIns="0" rtlCol="0" anchor="t"/>
          <a:lstStyle/>
          <a:p>
            <a:pPr indent="0" marL="0">
              <a:buNone/>
            </a:pPr>
            <a:r>
              <a:rPr lang="en-US" sz="2000" b="1" dirty="0">
                <a:solidFill>
                  <a:srgbClr val="188038"/>
                </a:solidFill>
                <a:latin typeface="Roboto" pitchFamily="34" charset="0"/>
                <a:ea typeface="Roboto" pitchFamily="34" charset="-122"/>
                <a:cs typeface="Roboto" pitchFamily="34" charset="-120"/>
              </a:rPr>
              <a:t>L'escut daurat</a:t>
            </a:r>
            <a:endParaRPr lang="en-US" sz="2000" dirty="0"/>
          </a:p>
        </p:txBody>
      </p:sp>
      <p:sp>
        <p:nvSpPr>
          <p:cNvPr id="24" name="Text 19"/>
          <p:cNvSpPr txBox="1"/>
          <p:nvPr/>
        </p:nvSpPr>
        <p:spPr>
          <a:xfrm>
            <a:off x="8536229" y="2850388"/>
            <a:ext cx="2850794" cy="1630172"/>
          </a:xfrm>
          <a:prstGeom prst="rect">
            <a:avLst/>
          </a:prstGeom>
          <a:noFill/>
          <a:ln/>
        </p:spPr>
        <p:txBody>
          <a:bodyPr wrap="square" lIns="0" tIns="0" rIns="0" bIns="0" rtlCol="0" anchor="t"/>
          <a:lstStyle/>
          <a:p>
            <a:pPr indent="0" marL="0">
              <a:buNone/>
            </a:pPr>
            <a:r>
              <a:rPr lang="en-US" sz="1750" dirty="0">
                <a:solidFill>
                  <a:srgbClr val="202124"/>
                </a:solidFill>
                <a:latin typeface="Roboto" pitchFamily="34" charset="0"/>
                <a:ea typeface="Roboto" pitchFamily="34" charset="-122"/>
                <a:cs typeface="Roboto" pitchFamily="34" charset="-120"/>
              </a:rPr>
              <a:t>Els va passar per l'escut daurat del comte. Així haurien nascut les quatre barres vermelles.</a:t>
            </a:r>
            <a:endParaRPr lang="en-US" sz="1750" dirty="0"/>
          </a:p>
        </p:txBody>
      </p:sp>
      <p:sp>
        <p:nvSpPr>
          <p:cNvPr id="25" name="Però és un mite"/>
          <p:cNvSpPr/>
          <p:nvPr/>
        </p:nvSpPr>
        <p:spPr>
          <a:xfrm>
            <a:off x="548640" y="4800600"/>
            <a:ext cx="11094415" cy="1188720"/>
          </a:xfrm>
          <a:prstGeom prst="roundRect">
            <a:avLst>
              <a:gd name="adj" fmla="val 8462"/>
            </a:avLst>
          </a:prstGeom>
          <a:solidFill>
            <a:srgbClr val="F6F8FB"/>
          </a:solidFill>
          <a:ln/>
        </p:spPr>
      </p:sp>
      <p:sp>
        <p:nvSpPr>
          <p:cNvPr id="26" name="Text 21"/>
          <p:cNvSpPr txBox="1"/>
          <p:nvPr/>
        </p:nvSpPr>
        <p:spPr>
          <a:xfrm>
            <a:off x="868680" y="4956048"/>
            <a:ext cx="10454335" cy="320040"/>
          </a:xfrm>
          <a:prstGeom prst="rect">
            <a:avLst/>
          </a:prstGeom>
          <a:noFill/>
          <a:ln/>
        </p:spPr>
        <p:txBody>
          <a:bodyPr wrap="square" lIns="0" tIns="0" rIns="0" bIns="0" rtlCol="0" anchor="t"/>
          <a:lstStyle/>
          <a:p>
            <a:pPr indent="0" marL="0">
              <a:buNone/>
            </a:pPr>
            <a:r>
              <a:rPr lang="en-US" sz="1400" b="1" dirty="0">
                <a:solidFill>
                  <a:srgbClr val="202124"/>
                </a:solidFill>
                <a:latin typeface="Roboto" pitchFamily="34" charset="0"/>
                <a:ea typeface="Roboto" pitchFamily="34" charset="-122"/>
                <a:cs typeface="Roboto" pitchFamily="34" charset="-120"/>
              </a:rPr>
              <a:t>Però és un mite</a:t>
            </a:r>
            <a:endParaRPr lang="en-US" sz="1400" dirty="0"/>
          </a:p>
        </p:txBody>
      </p:sp>
      <p:sp>
        <p:nvSpPr>
          <p:cNvPr id="27" name="Text 22"/>
          <p:cNvSpPr txBox="1"/>
          <p:nvPr/>
        </p:nvSpPr>
        <p:spPr>
          <a:xfrm>
            <a:off x="868680" y="5303520"/>
            <a:ext cx="10454335" cy="548640"/>
          </a:xfrm>
          <a:prstGeom prst="rect">
            <a:avLst/>
          </a:prstGeom>
          <a:noFill/>
          <a:ln/>
        </p:spPr>
        <p:txBody>
          <a:bodyPr wrap="square" lIns="0" tIns="0" rIns="0" bIns="0" rtlCol="0" anchor="t"/>
          <a:lstStyle/>
          <a:p>
            <a:pPr indent="0" marL="0">
              <a:buNone/>
            </a:pPr>
            <a:r>
              <a:rPr lang="en-US" sz="1900" dirty="0">
                <a:solidFill>
                  <a:srgbClr val="5F6368"/>
                </a:solidFill>
                <a:latin typeface="Roboto" pitchFamily="34" charset="0"/>
                <a:ea typeface="Roboto" pitchFamily="34" charset="-122"/>
                <a:cs typeface="Roboto" pitchFamily="34" charset="-120"/>
              </a:rPr>
              <a:t>Els historiadors saben que no va passar així. Ho demostren tres pistes.</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5</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Tres pistes contra la llegenda</a:t>
            </a:r>
            <a:endParaRPr lang="en-US" sz="2800" dirty="0"/>
          </a:p>
        </p:txBody>
      </p:sp>
      <p:sp>
        <p:nvSpPr>
          <p:cNvPr id="5" name="Targeta Es va escriure"/>
          <p:cNvSpPr/>
          <p:nvPr/>
        </p:nvSpPr>
        <p:spPr>
          <a:xfrm>
            <a:off x="548640" y="1371600"/>
            <a:ext cx="3515258" cy="3154680"/>
          </a:xfrm>
          <a:prstGeom prst="roundRect">
            <a:avLst>
              <a:gd name="adj" fmla="val 3188"/>
            </a:avLst>
          </a:prstGeom>
          <a:solidFill>
            <a:srgbClr val="FFFFFF"/>
          </a:solidFill>
          <a:ln w="12700">
            <a:solidFill>
              <a:srgbClr val="DADCE0"/>
            </a:solidFill>
            <a:prstDash val="solid"/>
          </a:ln>
        </p:spPr>
      </p:sp>
      <p:sp>
        <p:nvSpPr>
          <p:cNvPr id="6" name="Cercle icona"/>
          <p:cNvSpPr/>
          <p:nvPr/>
        </p:nvSpPr>
        <p:spPr>
          <a:xfrm>
            <a:off x="777240" y="1600200"/>
            <a:ext cx="548640" cy="548640"/>
          </a:xfrm>
          <a:prstGeom prst="ellipse">
            <a:avLst/>
          </a:prstGeom>
          <a:solidFill>
            <a:srgbClr val="E6F4EA"/>
          </a:solidFill>
          <a:ln/>
        </p:spPr>
      </p:sp>
      <p:pic>
        <p:nvPicPr>
          <p:cNvPr id="7" name="Icona TbWriting" descr="/home/claude/p857/build/img/ic/TbWriting-g.png">    </p:cNvPr>
          <p:cNvPicPr>
            <a:picLocks noChangeAspect="1"/>
          </p:cNvPicPr>
          <p:nvPr/>
        </p:nvPicPr>
        <p:blipFill>
          <a:blip r:embed="rId1"/>
          <a:stretch>
            <a:fillRect/>
          </a:stretch>
        </p:blipFill>
        <p:spPr>
          <a:xfrm>
            <a:off x="897941" y="1720901"/>
            <a:ext cx="307238" cy="307238"/>
          </a:xfrm>
          <a:prstGeom prst="rect">
            <a:avLst/>
          </a:prstGeom>
        </p:spPr>
      </p:pic>
      <p:sp>
        <p:nvSpPr>
          <p:cNvPr id="8" name="Text 5"/>
          <p:cNvSpPr txBox="1"/>
          <p:nvPr/>
        </p:nvSpPr>
        <p:spPr>
          <a:xfrm>
            <a:off x="1463040" y="1600200"/>
            <a:ext cx="2417978" cy="548640"/>
          </a:xfrm>
          <a:prstGeom prst="rect">
            <a:avLst/>
          </a:prstGeom>
          <a:noFill/>
          <a:ln/>
        </p:spPr>
        <p:txBody>
          <a:bodyPr wrap="square" lIns="0" tIns="0" rIns="0" bIns="0" rtlCol="0" anchor="ctr"/>
          <a:lstStyle/>
          <a:p>
            <a:pPr indent="0" marL="0">
              <a:buNone/>
            </a:pPr>
            <a:r>
              <a:rPr lang="en-US" sz="1600" b="1" dirty="0">
                <a:solidFill>
                  <a:srgbClr val="5F6368"/>
                </a:solidFill>
                <a:latin typeface="Roboto" pitchFamily="34" charset="0"/>
                <a:ea typeface="Roboto" pitchFamily="34" charset="-122"/>
                <a:cs typeface="Roboto" pitchFamily="34" charset="-120"/>
              </a:rPr>
              <a:t>Es va escriure</a:t>
            </a:r>
            <a:endParaRPr lang="en-US" sz="1600" dirty="0"/>
          </a:p>
        </p:txBody>
      </p:sp>
      <p:sp>
        <p:nvSpPr>
          <p:cNvPr id="9" name="Text 6"/>
          <p:cNvSpPr txBox="1"/>
          <p:nvPr/>
        </p:nvSpPr>
        <p:spPr>
          <a:xfrm>
            <a:off x="777240" y="2286000"/>
            <a:ext cx="3058058" cy="960120"/>
          </a:xfrm>
          <a:prstGeom prst="rect">
            <a:avLst/>
          </a:prstGeom>
          <a:noFill/>
          <a:ln/>
        </p:spPr>
        <p:txBody>
          <a:bodyPr wrap="square" lIns="0" tIns="0" rIns="0" bIns="0" rtlCol="0" anchor="ctr"/>
          <a:lstStyle/>
          <a:p>
            <a:pPr indent="0" marL="0">
              <a:buNone/>
            </a:pPr>
            <a:r>
              <a:rPr lang="en-US" sz="3000" b="1" dirty="0">
                <a:solidFill>
                  <a:srgbClr val="188038"/>
                </a:solidFill>
                <a:latin typeface="Roboto" pitchFamily="34" charset="0"/>
                <a:ea typeface="Roboto" pitchFamily="34" charset="-122"/>
                <a:cs typeface="Roboto" pitchFamily="34" charset="-120"/>
              </a:rPr>
              <a:t>Cap al 1550</a:t>
            </a:r>
            <a:endParaRPr lang="en-US" sz="3000" dirty="0"/>
          </a:p>
        </p:txBody>
      </p:sp>
      <p:sp>
        <p:nvSpPr>
          <p:cNvPr id="10" name="Text 7"/>
          <p:cNvSpPr txBox="1"/>
          <p:nvPr/>
        </p:nvSpPr>
        <p:spPr>
          <a:xfrm>
            <a:off x="777240" y="3291840"/>
            <a:ext cx="3058058" cy="1097280"/>
          </a:xfrm>
          <a:prstGeom prst="rect">
            <a:avLst/>
          </a:prstGeom>
          <a:noFill/>
          <a:ln/>
        </p:spPr>
        <p:txBody>
          <a:bodyPr wrap="square" lIns="0" tIns="0" rIns="0" bIns="0" rtlCol="0" anchor="t"/>
          <a:lstStyle/>
          <a:p>
            <a:pPr indent="0" marL="0">
              <a:buNone/>
            </a:pPr>
            <a:r>
              <a:rPr lang="en-US" sz="1650" dirty="0">
                <a:solidFill>
                  <a:srgbClr val="202124"/>
                </a:solidFill>
                <a:latin typeface="Roboto" pitchFamily="34" charset="0"/>
                <a:ea typeface="Roboto" pitchFamily="34" charset="-122"/>
                <a:cs typeface="Roboto" pitchFamily="34" charset="-120"/>
              </a:rPr>
              <a:t>Més de 650 anys després de la mort de Guifré, l'any 897.</a:t>
            </a:r>
            <a:endParaRPr lang="en-US" sz="1650" dirty="0"/>
          </a:p>
        </p:txBody>
      </p:sp>
      <p:sp>
        <p:nvSpPr>
          <p:cNvPr id="11" name="Targeta L'emperador va morir"/>
          <p:cNvSpPr/>
          <p:nvPr/>
        </p:nvSpPr>
        <p:spPr>
          <a:xfrm>
            <a:off x="4338218" y="1371600"/>
            <a:ext cx="3515258" cy="3154680"/>
          </a:xfrm>
          <a:prstGeom prst="roundRect">
            <a:avLst>
              <a:gd name="adj" fmla="val 3188"/>
            </a:avLst>
          </a:prstGeom>
          <a:solidFill>
            <a:srgbClr val="FFFFFF"/>
          </a:solidFill>
          <a:ln w="12700">
            <a:solidFill>
              <a:srgbClr val="DADCE0"/>
            </a:solidFill>
            <a:prstDash val="solid"/>
          </a:ln>
        </p:spPr>
      </p:sp>
      <p:sp>
        <p:nvSpPr>
          <p:cNvPr id="12" name="Cercle icona"/>
          <p:cNvSpPr/>
          <p:nvPr/>
        </p:nvSpPr>
        <p:spPr>
          <a:xfrm>
            <a:off x="4566818" y="1600200"/>
            <a:ext cx="548640" cy="548640"/>
          </a:xfrm>
          <a:prstGeom prst="ellipse">
            <a:avLst/>
          </a:prstGeom>
          <a:solidFill>
            <a:srgbClr val="E6F4EA"/>
          </a:solidFill>
          <a:ln/>
        </p:spPr>
      </p:sp>
      <p:pic>
        <p:nvPicPr>
          <p:cNvPr id="13" name="Icona TbCrown" descr="/home/claude/p857/build/img/ic/TbCrown-g.png">    </p:cNvPr>
          <p:cNvPicPr>
            <a:picLocks noChangeAspect="1"/>
          </p:cNvPicPr>
          <p:nvPr/>
        </p:nvPicPr>
        <p:blipFill>
          <a:blip r:embed="rId2"/>
          <a:stretch>
            <a:fillRect/>
          </a:stretch>
        </p:blipFill>
        <p:spPr>
          <a:xfrm>
            <a:off x="4687519" y="1720901"/>
            <a:ext cx="307238" cy="307238"/>
          </a:xfrm>
          <a:prstGeom prst="rect">
            <a:avLst/>
          </a:prstGeom>
        </p:spPr>
      </p:pic>
      <p:sp>
        <p:nvSpPr>
          <p:cNvPr id="14" name="Text 10"/>
          <p:cNvSpPr txBox="1"/>
          <p:nvPr/>
        </p:nvSpPr>
        <p:spPr>
          <a:xfrm>
            <a:off x="5252618" y="1600200"/>
            <a:ext cx="2417978" cy="548640"/>
          </a:xfrm>
          <a:prstGeom prst="rect">
            <a:avLst/>
          </a:prstGeom>
          <a:noFill/>
          <a:ln/>
        </p:spPr>
        <p:txBody>
          <a:bodyPr wrap="square" lIns="0" tIns="0" rIns="0" bIns="0" rtlCol="0" anchor="ctr"/>
          <a:lstStyle/>
          <a:p>
            <a:pPr indent="0" marL="0">
              <a:buNone/>
            </a:pPr>
            <a:r>
              <a:rPr lang="en-US" sz="1600" b="1" dirty="0">
                <a:solidFill>
                  <a:srgbClr val="5F6368"/>
                </a:solidFill>
                <a:latin typeface="Roboto" pitchFamily="34" charset="0"/>
                <a:ea typeface="Roboto" pitchFamily="34" charset="-122"/>
                <a:cs typeface="Roboto" pitchFamily="34" charset="-120"/>
              </a:rPr>
              <a:t>L'emperador va morir</a:t>
            </a:r>
            <a:endParaRPr lang="en-US" sz="1600" dirty="0"/>
          </a:p>
        </p:txBody>
      </p:sp>
      <p:sp>
        <p:nvSpPr>
          <p:cNvPr id="15" name="Text 11"/>
          <p:cNvSpPr txBox="1"/>
          <p:nvPr/>
        </p:nvSpPr>
        <p:spPr>
          <a:xfrm>
            <a:off x="4566818" y="2286000"/>
            <a:ext cx="3058058" cy="960120"/>
          </a:xfrm>
          <a:prstGeom prst="rect">
            <a:avLst/>
          </a:prstGeom>
          <a:noFill/>
          <a:ln/>
        </p:spPr>
        <p:txBody>
          <a:bodyPr wrap="square" lIns="0" tIns="0" rIns="0" bIns="0" rtlCol="0" anchor="ctr"/>
          <a:lstStyle/>
          <a:p>
            <a:pPr indent="0" marL="0">
              <a:buNone/>
            </a:pPr>
            <a:r>
              <a:rPr lang="en-US" sz="3000" b="1" dirty="0">
                <a:solidFill>
                  <a:srgbClr val="188038"/>
                </a:solidFill>
                <a:latin typeface="Roboto" pitchFamily="34" charset="0"/>
                <a:ea typeface="Roboto" pitchFamily="34" charset="-122"/>
                <a:cs typeface="Roboto" pitchFamily="34" charset="-120"/>
              </a:rPr>
              <a:t>El 840</a:t>
            </a:r>
            <a:endParaRPr lang="en-US" sz="3000" dirty="0"/>
          </a:p>
        </p:txBody>
      </p:sp>
      <p:sp>
        <p:nvSpPr>
          <p:cNvPr id="16" name="Text 12"/>
          <p:cNvSpPr txBox="1"/>
          <p:nvPr/>
        </p:nvSpPr>
        <p:spPr>
          <a:xfrm>
            <a:off x="4566818" y="3291840"/>
            <a:ext cx="3058058" cy="1097280"/>
          </a:xfrm>
          <a:prstGeom prst="rect">
            <a:avLst/>
          </a:prstGeom>
          <a:noFill/>
          <a:ln/>
        </p:spPr>
        <p:txBody>
          <a:bodyPr wrap="square" lIns="0" tIns="0" rIns="0" bIns="0" rtlCol="0" anchor="t"/>
          <a:lstStyle/>
          <a:p>
            <a:pPr indent="0" marL="0">
              <a:buNone/>
            </a:pPr>
            <a:r>
              <a:rPr lang="en-US" sz="1650" dirty="0">
                <a:solidFill>
                  <a:srgbClr val="202124"/>
                </a:solidFill>
                <a:latin typeface="Roboto" pitchFamily="34" charset="0"/>
                <a:ea typeface="Roboto" pitchFamily="34" charset="-122"/>
                <a:cs typeface="Roboto" pitchFamily="34" charset="-120"/>
              </a:rPr>
              <a:t>Era Lluís el Piadós, el de la versió més coneguda. Guifré tot just havia nascut.</a:t>
            </a:r>
            <a:endParaRPr lang="en-US" sz="1650" dirty="0"/>
          </a:p>
        </p:txBody>
      </p:sp>
      <p:sp>
        <p:nvSpPr>
          <p:cNvPr id="17" name="Targeta Els escuts d'armes"/>
          <p:cNvSpPr/>
          <p:nvPr/>
        </p:nvSpPr>
        <p:spPr>
          <a:xfrm>
            <a:off x="8127797" y="1371600"/>
            <a:ext cx="3515258" cy="3154680"/>
          </a:xfrm>
          <a:prstGeom prst="roundRect">
            <a:avLst>
              <a:gd name="adj" fmla="val 3188"/>
            </a:avLst>
          </a:prstGeom>
          <a:solidFill>
            <a:srgbClr val="188038"/>
          </a:solidFill>
          <a:ln/>
        </p:spPr>
      </p:sp>
      <p:sp>
        <p:nvSpPr>
          <p:cNvPr id="18" name="Cercle icona"/>
          <p:cNvSpPr/>
          <p:nvPr/>
        </p:nvSpPr>
        <p:spPr>
          <a:xfrm>
            <a:off x="8356397" y="1600200"/>
            <a:ext cx="548640" cy="548640"/>
          </a:xfrm>
          <a:prstGeom prst="ellipse">
            <a:avLst/>
          </a:prstGeom>
          <a:solidFill>
            <a:srgbClr val="FFFFFF"/>
          </a:solidFill>
          <a:ln/>
        </p:spPr>
      </p:sp>
      <p:pic>
        <p:nvPicPr>
          <p:cNvPr id="19" name="Icona TbShield" descr="/home/claude/p857/build/img/ic/TbShield-g.png">    </p:cNvPr>
          <p:cNvPicPr>
            <a:picLocks noChangeAspect="1"/>
          </p:cNvPicPr>
          <p:nvPr/>
        </p:nvPicPr>
        <p:blipFill>
          <a:blip r:embed="rId3"/>
          <a:stretch>
            <a:fillRect/>
          </a:stretch>
        </p:blipFill>
        <p:spPr>
          <a:xfrm>
            <a:off x="8477098" y="1720901"/>
            <a:ext cx="307238" cy="307238"/>
          </a:xfrm>
          <a:prstGeom prst="rect">
            <a:avLst/>
          </a:prstGeom>
        </p:spPr>
      </p:pic>
      <p:sp>
        <p:nvSpPr>
          <p:cNvPr id="20" name="Text 15"/>
          <p:cNvSpPr txBox="1"/>
          <p:nvPr/>
        </p:nvSpPr>
        <p:spPr>
          <a:xfrm>
            <a:off x="9042197" y="1600200"/>
            <a:ext cx="2417978" cy="548640"/>
          </a:xfrm>
          <a:prstGeom prst="rect">
            <a:avLst/>
          </a:prstGeom>
          <a:noFill/>
          <a:ln/>
        </p:spPr>
        <p:txBody>
          <a:bodyPr wrap="square" lIns="0" tIns="0" rIns="0" bIns="0" rtlCol="0" anchor="ctr"/>
          <a:lstStyle/>
          <a:p>
            <a:pPr indent="0" marL="0">
              <a:buNone/>
            </a:pPr>
            <a:r>
              <a:rPr lang="en-US" sz="1600" b="1" dirty="0">
                <a:solidFill>
                  <a:srgbClr val="FFFFFF"/>
                </a:solidFill>
                <a:latin typeface="Roboto" pitchFamily="34" charset="0"/>
                <a:ea typeface="Roboto" pitchFamily="34" charset="-122"/>
                <a:cs typeface="Roboto" pitchFamily="34" charset="-120"/>
              </a:rPr>
              <a:t>Els escuts d'armes</a:t>
            </a:r>
            <a:endParaRPr lang="en-US" sz="1600" dirty="0"/>
          </a:p>
        </p:txBody>
      </p:sp>
      <p:sp>
        <p:nvSpPr>
          <p:cNvPr id="21" name="Text 16"/>
          <p:cNvSpPr txBox="1"/>
          <p:nvPr/>
        </p:nvSpPr>
        <p:spPr>
          <a:xfrm>
            <a:off x="8356397" y="2286000"/>
            <a:ext cx="3058058" cy="960120"/>
          </a:xfrm>
          <a:prstGeom prst="rect">
            <a:avLst/>
          </a:prstGeom>
          <a:noFill/>
          <a:ln/>
        </p:spPr>
        <p:txBody>
          <a:bodyPr wrap="square" lIns="0" tIns="0" rIns="0" bIns="0" rtlCol="0" anchor="ctr"/>
          <a:lstStyle/>
          <a:p>
            <a:pPr indent="0" marL="0">
              <a:buNone/>
            </a:pPr>
            <a:r>
              <a:rPr lang="en-US" sz="3000" b="1" dirty="0">
                <a:solidFill>
                  <a:srgbClr val="FFFFFF"/>
                </a:solidFill>
                <a:latin typeface="Roboto" pitchFamily="34" charset="0"/>
                <a:ea typeface="Roboto" pitchFamily="34" charset="-122"/>
                <a:cs typeface="Roboto" pitchFamily="34" charset="-120"/>
              </a:rPr>
              <a:t>Segle XII</a:t>
            </a:r>
            <a:endParaRPr lang="en-US" sz="3000" dirty="0"/>
          </a:p>
        </p:txBody>
      </p:sp>
      <p:sp>
        <p:nvSpPr>
          <p:cNvPr id="22" name="Text 17"/>
          <p:cNvSpPr txBox="1"/>
          <p:nvPr/>
        </p:nvSpPr>
        <p:spPr>
          <a:xfrm>
            <a:off x="8356397" y="3291840"/>
            <a:ext cx="3058058" cy="1097280"/>
          </a:xfrm>
          <a:prstGeom prst="rect">
            <a:avLst/>
          </a:prstGeom>
          <a:noFill/>
          <a:ln/>
        </p:spPr>
        <p:txBody>
          <a:bodyPr wrap="square" lIns="0" tIns="0" rIns="0" bIns="0" rtlCol="0" anchor="t"/>
          <a:lstStyle/>
          <a:p>
            <a:pPr indent="0" marL="0">
              <a:buNone/>
            </a:pPr>
            <a:r>
              <a:rPr lang="en-US" sz="1650" dirty="0">
                <a:solidFill>
                  <a:srgbClr val="FFFFFF"/>
                </a:solidFill>
                <a:latin typeface="Roboto" pitchFamily="34" charset="0"/>
                <a:ea typeface="Roboto" pitchFamily="34" charset="-122"/>
                <a:cs typeface="Roboto" pitchFamily="34" charset="-120"/>
              </a:rPr>
              <a:t>No apareixen fins llavors. En temps de Guifré encara no existien.</a:t>
            </a:r>
            <a:endParaRPr lang="en-US" sz="1650" dirty="0"/>
          </a:p>
        </p:txBody>
      </p:sp>
      <p:sp>
        <p:nvSpPr>
          <p:cNvPr id="23" name="Anacronisme"/>
          <p:cNvSpPr/>
          <p:nvPr/>
        </p:nvSpPr>
        <p:spPr>
          <a:xfrm>
            <a:off x="548640" y="4754880"/>
            <a:ext cx="11094415" cy="1234440"/>
          </a:xfrm>
          <a:prstGeom prst="roundRect">
            <a:avLst>
              <a:gd name="adj" fmla="val 8148"/>
            </a:avLst>
          </a:prstGeom>
          <a:solidFill>
            <a:srgbClr val="E6F4EA"/>
          </a:solidFill>
          <a:ln/>
        </p:spPr>
      </p:sp>
      <p:sp>
        <p:nvSpPr>
          <p:cNvPr id="24" name="Text 19"/>
          <p:cNvSpPr txBox="1"/>
          <p:nvPr/>
        </p:nvSpPr>
        <p:spPr>
          <a:xfrm>
            <a:off x="868680" y="4910328"/>
            <a:ext cx="10454335" cy="320040"/>
          </a:xfrm>
          <a:prstGeom prst="rect">
            <a:avLst/>
          </a:prstGeom>
          <a:noFill/>
          <a:ln/>
        </p:spPr>
        <p:txBody>
          <a:bodyPr wrap="square" lIns="0" tIns="0" rIns="0" bIns="0" rtlCol="0" anchor="t"/>
          <a:lstStyle/>
          <a:p>
            <a:pPr indent="0" marL="0">
              <a:buNone/>
            </a:pPr>
            <a:r>
              <a:rPr lang="en-US" sz="1400" b="1" dirty="0">
                <a:solidFill>
                  <a:srgbClr val="188038"/>
                </a:solidFill>
                <a:latin typeface="Roboto" pitchFamily="34" charset="0"/>
                <a:ea typeface="Roboto" pitchFamily="34" charset="-122"/>
                <a:cs typeface="Roboto" pitchFamily="34" charset="-120"/>
              </a:rPr>
              <a:t>Anacronisme</a:t>
            </a:r>
            <a:endParaRPr lang="en-US" sz="1400" dirty="0"/>
          </a:p>
        </p:txBody>
      </p:sp>
      <p:sp>
        <p:nvSpPr>
          <p:cNvPr id="25" name="Text 20"/>
          <p:cNvSpPr txBox="1"/>
          <p:nvPr/>
        </p:nvSpPr>
        <p:spPr>
          <a:xfrm>
            <a:off x="868680" y="5257800"/>
            <a:ext cx="10454335" cy="594360"/>
          </a:xfrm>
          <a:prstGeom prst="rect">
            <a:avLst/>
          </a:prstGeom>
          <a:noFill/>
          <a:ln/>
        </p:spPr>
        <p:txBody>
          <a:bodyPr wrap="square" lIns="0" tIns="0" rIns="0" bIns="0" rtlCol="0" anchor="t"/>
          <a:lstStyle/>
          <a:p>
            <a:pPr indent="0" marL="0">
              <a:buNone/>
            </a:pPr>
            <a:r>
              <a:rPr lang="en-US" sz="1800" dirty="0">
                <a:solidFill>
                  <a:srgbClr val="202124"/>
                </a:solidFill>
                <a:latin typeface="Roboto" pitchFamily="34" charset="0"/>
                <a:ea typeface="Roboto" pitchFamily="34" charset="-122"/>
                <a:cs typeface="Roboto" pitchFamily="34" charset="-120"/>
              </a:rPr>
              <a:t>Quan una història posa una cosa en una època que no li toca, diem que hi ha un anacronisme.</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5</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El testimoni més antic</a:t>
            </a:r>
            <a:endParaRPr lang="en-US" sz="2800" dirty="0"/>
          </a:p>
        </p:txBody>
      </p:sp>
      <p:sp>
        <p:nvSpPr>
          <p:cNvPr id="5" name="Fons Segell del comte Ramon Berenguer IV (1150)"/>
          <p:cNvSpPr/>
          <p:nvPr/>
        </p:nvSpPr>
        <p:spPr>
          <a:xfrm>
            <a:off x="548640" y="1371600"/>
            <a:ext cx="4297680" cy="4206240"/>
          </a:xfrm>
          <a:prstGeom prst="roundRect">
            <a:avLst>
              <a:gd name="adj" fmla="val 2391"/>
            </a:avLst>
          </a:prstGeom>
          <a:solidFill>
            <a:srgbClr val="F6F8FB"/>
          </a:solidFill>
          <a:ln/>
        </p:spPr>
      </p:sp>
      <p:pic>
        <p:nvPicPr>
          <p:cNvPr id="6" name="Segell del comte Ramon Berenguer IV (1150)" descr="/home/claude/p857/build/img/segell.jpg">    </p:cNvPr>
          <p:cNvPicPr>
            <a:picLocks noChangeAspect="1"/>
          </p:cNvPicPr>
          <p:nvPr/>
        </p:nvPicPr>
        <p:blipFill>
          <a:blip r:embed="rId1"/>
          <a:stretch>
            <a:fillRect/>
          </a:stretch>
        </p:blipFill>
        <p:spPr>
          <a:xfrm>
            <a:off x="632216" y="1371600"/>
            <a:ext cx="4130528" cy="4206240"/>
          </a:xfrm>
          <a:prstGeom prst="rect">
            <a:avLst/>
          </a:prstGeom>
        </p:spPr>
      </p:pic>
      <p:sp>
        <p:nvSpPr>
          <p:cNvPr id="7" name="Text 4"/>
          <p:cNvSpPr txBox="1"/>
          <p:nvPr/>
        </p:nvSpPr>
        <p:spPr>
          <a:xfrm>
            <a:off x="548640" y="5650992"/>
            <a:ext cx="4297680" cy="320040"/>
          </a:xfrm>
          <a:prstGeom prst="rect">
            <a:avLst/>
          </a:prstGeom>
          <a:noFill/>
          <a:ln/>
        </p:spPr>
        <p:txBody>
          <a:bodyPr wrap="square" lIns="0" tIns="0" rIns="0" bIns="0" rtlCol="0" anchor="t"/>
          <a:lstStyle/>
          <a:p>
            <a:pPr indent="0" marL="0">
              <a:buNone/>
            </a:pPr>
            <a:r>
              <a:rPr lang="en-US" sz="1000" dirty="0">
                <a:solidFill>
                  <a:srgbClr val="5F6368"/>
                </a:solidFill>
                <a:latin typeface="Roboto" pitchFamily="34" charset="0"/>
                <a:ea typeface="Roboto" pitchFamily="34" charset="-122"/>
                <a:cs typeface="Roboto" pitchFamily="34" charset="-120"/>
              </a:rPr>
              <a:t>Segell del comte Ramon Berenguer IV (1150). Dibuix: Louis Blancard, Wikimedia Commons, domini públic.</a:t>
            </a:r>
            <a:endParaRPr lang="en-US" sz="1000" dirty="0"/>
          </a:p>
        </p:txBody>
      </p:sp>
      <p:sp>
        <p:nvSpPr>
          <p:cNvPr id="8" name="Targeta Segell de Ramon Berenguer IV"/>
          <p:cNvSpPr/>
          <p:nvPr/>
        </p:nvSpPr>
        <p:spPr>
          <a:xfrm>
            <a:off x="5166360" y="1371600"/>
            <a:ext cx="6476695" cy="2743200"/>
          </a:xfrm>
          <a:prstGeom prst="roundRect">
            <a:avLst>
              <a:gd name="adj" fmla="val 3667"/>
            </a:avLst>
          </a:prstGeom>
          <a:solidFill>
            <a:srgbClr val="188038"/>
          </a:solidFill>
          <a:ln/>
        </p:spPr>
      </p:sp>
      <p:sp>
        <p:nvSpPr>
          <p:cNvPr id="9" name="Cercle icona"/>
          <p:cNvSpPr/>
          <p:nvPr/>
        </p:nvSpPr>
        <p:spPr>
          <a:xfrm>
            <a:off x="5394960" y="1600200"/>
            <a:ext cx="548640" cy="548640"/>
          </a:xfrm>
          <a:prstGeom prst="ellipse">
            <a:avLst/>
          </a:prstGeom>
          <a:solidFill>
            <a:srgbClr val="FFFFFF"/>
          </a:solidFill>
          <a:ln/>
        </p:spPr>
      </p:sp>
      <p:pic>
        <p:nvPicPr>
          <p:cNvPr id="10" name="Icona TbCalendar" descr="/home/claude/p857/build/img/ic/TbCalendar-g.png">    </p:cNvPr>
          <p:cNvPicPr>
            <a:picLocks noChangeAspect="1"/>
          </p:cNvPicPr>
          <p:nvPr/>
        </p:nvPicPr>
        <p:blipFill>
          <a:blip r:embed="rId2"/>
          <a:stretch>
            <a:fillRect/>
          </a:stretch>
        </p:blipFill>
        <p:spPr>
          <a:xfrm>
            <a:off x="5515661" y="1720901"/>
            <a:ext cx="307238" cy="307238"/>
          </a:xfrm>
          <a:prstGeom prst="rect">
            <a:avLst/>
          </a:prstGeom>
        </p:spPr>
      </p:pic>
      <p:sp>
        <p:nvSpPr>
          <p:cNvPr id="11" name="Text 7"/>
          <p:cNvSpPr txBox="1"/>
          <p:nvPr/>
        </p:nvSpPr>
        <p:spPr>
          <a:xfrm>
            <a:off x="6080760" y="1600200"/>
            <a:ext cx="5379415" cy="548640"/>
          </a:xfrm>
          <a:prstGeom prst="rect">
            <a:avLst/>
          </a:prstGeom>
          <a:noFill/>
          <a:ln/>
        </p:spPr>
        <p:txBody>
          <a:bodyPr wrap="square" lIns="0" tIns="0" rIns="0" bIns="0" rtlCol="0" anchor="ctr"/>
          <a:lstStyle/>
          <a:p>
            <a:pPr indent="0" marL="0">
              <a:buNone/>
            </a:pPr>
            <a:r>
              <a:rPr lang="en-US" sz="1600" b="1" dirty="0">
                <a:solidFill>
                  <a:srgbClr val="FFFFFF"/>
                </a:solidFill>
                <a:latin typeface="Roboto" pitchFamily="34" charset="0"/>
                <a:ea typeface="Roboto" pitchFamily="34" charset="-122"/>
                <a:cs typeface="Roboto" pitchFamily="34" charset="-120"/>
              </a:rPr>
              <a:t>Segell de Ramon Berenguer IV</a:t>
            </a:r>
            <a:endParaRPr lang="en-US" sz="1600" dirty="0"/>
          </a:p>
        </p:txBody>
      </p:sp>
      <p:sp>
        <p:nvSpPr>
          <p:cNvPr id="12" name="Text 8"/>
          <p:cNvSpPr txBox="1"/>
          <p:nvPr/>
        </p:nvSpPr>
        <p:spPr>
          <a:xfrm>
            <a:off x="5394960" y="2286000"/>
            <a:ext cx="6019495" cy="960120"/>
          </a:xfrm>
          <a:prstGeom prst="rect">
            <a:avLst/>
          </a:prstGeom>
          <a:noFill/>
          <a:ln/>
        </p:spPr>
        <p:txBody>
          <a:bodyPr wrap="square" lIns="0" tIns="0" rIns="0" bIns="0" rtlCol="0" anchor="ctr"/>
          <a:lstStyle/>
          <a:p>
            <a:pPr indent="0" marL="0">
              <a:buNone/>
            </a:pPr>
            <a:r>
              <a:rPr lang="en-US" sz="3400" b="1" dirty="0">
                <a:solidFill>
                  <a:srgbClr val="FFFFFF"/>
                </a:solidFill>
                <a:latin typeface="Roboto" pitchFamily="34" charset="0"/>
                <a:ea typeface="Roboto" pitchFamily="34" charset="-122"/>
                <a:cs typeface="Roboto" pitchFamily="34" charset="-120"/>
              </a:rPr>
              <a:t>1150</a:t>
            </a:r>
            <a:endParaRPr lang="en-US" sz="3400" dirty="0"/>
          </a:p>
        </p:txBody>
      </p:sp>
      <p:sp>
        <p:nvSpPr>
          <p:cNvPr id="13" name="Text 9"/>
          <p:cNvSpPr txBox="1"/>
          <p:nvPr/>
        </p:nvSpPr>
        <p:spPr>
          <a:xfrm>
            <a:off x="5394960" y="3291840"/>
            <a:ext cx="6019495" cy="685800"/>
          </a:xfrm>
          <a:prstGeom prst="rect">
            <a:avLst/>
          </a:prstGeom>
          <a:noFill/>
          <a:ln/>
        </p:spPr>
        <p:txBody>
          <a:bodyPr wrap="square" lIns="0" tIns="0" rIns="0" bIns="0" rtlCol="0" anchor="t"/>
          <a:lstStyle/>
          <a:p>
            <a:pPr indent="0" marL="0">
              <a:buNone/>
            </a:pPr>
            <a:r>
              <a:rPr lang="en-US" sz="1650" dirty="0">
                <a:solidFill>
                  <a:srgbClr val="FFFFFF"/>
                </a:solidFill>
                <a:latin typeface="Roboto" pitchFamily="34" charset="0"/>
                <a:ea typeface="Roboto" pitchFamily="34" charset="-122"/>
                <a:cs typeface="Roboto" pitchFamily="34" charset="-120"/>
              </a:rPr>
              <a:t>El cavaller porta un escut amb pals. És el testimoni més antic ben datat dels pals que avui anomenem les quatre barres.</a:t>
            </a:r>
            <a:endParaRPr lang="en-US" sz="1650" dirty="0"/>
          </a:p>
        </p:txBody>
      </p:sp>
      <p:sp>
        <p:nvSpPr>
          <p:cNvPr id="14" name="Paraula clau · Mite"/>
          <p:cNvSpPr/>
          <p:nvPr/>
        </p:nvSpPr>
        <p:spPr>
          <a:xfrm>
            <a:off x="5166360" y="4343400"/>
            <a:ext cx="6476695" cy="1645920"/>
          </a:xfrm>
          <a:prstGeom prst="roundRect">
            <a:avLst>
              <a:gd name="adj" fmla="val 6111"/>
            </a:avLst>
          </a:prstGeom>
          <a:solidFill>
            <a:srgbClr val="E6F4EA"/>
          </a:solidFill>
          <a:ln/>
        </p:spPr>
      </p:sp>
      <p:sp>
        <p:nvSpPr>
          <p:cNvPr id="15" name="Text 11"/>
          <p:cNvSpPr txBox="1"/>
          <p:nvPr/>
        </p:nvSpPr>
        <p:spPr>
          <a:xfrm>
            <a:off x="5486400" y="4498848"/>
            <a:ext cx="5836615" cy="320040"/>
          </a:xfrm>
          <a:prstGeom prst="rect">
            <a:avLst/>
          </a:prstGeom>
          <a:noFill/>
          <a:ln/>
        </p:spPr>
        <p:txBody>
          <a:bodyPr wrap="square" lIns="0" tIns="0" rIns="0" bIns="0" rtlCol="0" anchor="t"/>
          <a:lstStyle/>
          <a:p>
            <a:pPr indent="0" marL="0">
              <a:buNone/>
            </a:pPr>
            <a:r>
              <a:rPr lang="en-US" sz="1400" b="1" dirty="0">
                <a:solidFill>
                  <a:srgbClr val="188038"/>
                </a:solidFill>
                <a:latin typeface="Roboto" pitchFamily="34" charset="0"/>
                <a:ea typeface="Roboto" pitchFamily="34" charset="-122"/>
                <a:cs typeface="Roboto" pitchFamily="34" charset="-120"/>
              </a:rPr>
              <a:t>Paraula clau · Mite</a:t>
            </a:r>
            <a:endParaRPr lang="en-US" sz="1400" dirty="0"/>
          </a:p>
        </p:txBody>
      </p:sp>
      <p:sp>
        <p:nvSpPr>
          <p:cNvPr id="16" name="Text 12"/>
          <p:cNvSpPr txBox="1"/>
          <p:nvPr/>
        </p:nvSpPr>
        <p:spPr>
          <a:xfrm>
            <a:off x="5486400" y="4846320"/>
            <a:ext cx="5836615" cy="1005840"/>
          </a:xfrm>
          <a:prstGeom prst="rect">
            <a:avLst/>
          </a:prstGeom>
          <a:noFill/>
          <a:ln/>
        </p:spPr>
        <p:txBody>
          <a:bodyPr wrap="square" lIns="0" tIns="0" rIns="0" bIns="0" rtlCol="0" anchor="t"/>
          <a:lstStyle/>
          <a:p>
            <a:pPr indent="0" marL="0">
              <a:buNone/>
            </a:pPr>
            <a:r>
              <a:rPr lang="en-US" sz="1700" dirty="0">
                <a:solidFill>
                  <a:srgbClr val="202124"/>
                </a:solidFill>
                <a:latin typeface="Roboto" pitchFamily="34" charset="0"/>
                <a:ea typeface="Roboto" pitchFamily="34" charset="-122"/>
                <a:cs typeface="Roboto" pitchFamily="34" charset="-120"/>
              </a:rPr>
              <a:t>Història tradicional que explica els orígens d'un poble o d'un costum i que no es basa en proves.</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5</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Per què estudiem història?</a:t>
            </a:r>
            <a:endParaRPr lang="en-US" sz="2800" dirty="0"/>
          </a:p>
        </p:txBody>
      </p:sp>
      <p:sp>
        <p:nvSpPr>
          <p:cNvPr id="5" name="Targeta Per entendre el present"/>
          <p:cNvSpPr/>
          <p:nvPr/>
        </p:nvSpPr>
        <p:spPr>
          <a:xfrm>
            <a:off x="548640" y="1371600"/>
            <a:ext cx="5410048" cy="2834640"/>
          </a:xfrm>
          <a:prstGeom prst="roundRect">
            <a:avLst>
              <a:gd name="adj" fmla="val 3548"/>
            </a:avLst>
          </a:prstGeom>
          <a:solidFill>
            <a:srgbClr val="FFFFFF"/>
          </a:solidFill>
          <a:ln w="12700">
            <a:solidFill>
              <a:srgbClr val="DADCE0"/>
            </a:solidFill>
            <a:prstDash val="solid"/>
          </a:ln>
        </p:spPr>
      </p:sp>
      <p:sp>
        <p:nvSpPr>
          <p:cNvPr id="6" name="Cercle icona"/>
          <p:cNvSpPr/>
          <p:nvPr/>
        </p:nvSpPr>
        <p:spPr>
          <a:xfrm>
            <a:off x="777240" y="1600200"/>
            <a:ext cx="685800" cy="685800"/>
          </a:xfrm>
          <a:prstGeom prst="ellipse">
            <a:avLst/>
          </a:prstGeom>
          <a:solidFill>
            <a:srgbClr val="E6F4EA"/>
          </a:solidFill>
          <a:ln/>
        </p:spPr>
      </p:sp>
      <p:pic>
        <p:nvPicPr>
          <p:cNvPr id="7" name="Icona TbBulb" descr="/home/claude/p857/build/img/ic/TbBulb-g.png">    </p:cNvPr>
          <p:cNvPicPr>
            <a:picLocks noChangeAspect="1"/>
          </p:cNvPicPr>
          <p:nvPr/>
        </p:nvPicPr>
        <p:blipFill>
          <a:blip r:embed="rId1"/>
          <a:stretch>
            <a:fillRect/>
          </a:stretch>
        </p:blipFill>
        <p:spPr>
          <a:xfrm>
            <a:off x="928116" y="1751076"/>
            <a:ext cx="384048" cy="384048"/>
          </a:xfrm>
          <a:prstGeom prst="rect">
            <a:avLst/>
          </a:prstGeom>
        </p:spPr>
      </p:pic>
      <p:sp>
        <p:nvSpPr>
          <p:cNvPr id="8" name="Text 5"/>
          <p:cNvSpPr txBox="1"/>
          <p:nvPr/>
        </p:nvSpPr>
        <p:spPr>
          <a:xfrm>
            <a:off x="1600200" y="1600200"/>
            <a:ext cx="4129888" cy="685800"/>
          </a:xfrm>
          <a:prstGeom prst="rect">
            <a:avLst/>
          </a:prstGeom>
          <a:noFill/>
          <a:ln/>
        </p:spPr>
        <p:txBody>
          <a:bodyPr wrap="square" lIns="0" tIns="0" rIns="0" bIns="0" rtlCol="0" anchor="ctr"/>
          <a:lstStyle/>
          <a:p>
            <a:pPr indent="0" marL="0">
              <a:buNone/>
            </a:pPr>
            <a:r>
              <a:rPr lang="en-US" sz="2100" b="1" dirty="0">
                <a:solidFill>
                  <a:srgbClr val="188038"/>
                </a:solidFill>
                <a:latin typeface="Roboto" pitchFamily="34" charset="0"/>
                <a:ea typeface="Roboto" pitchFamily="34" charset="-122"/>
                <a:cs typeface="Roboto" pitchFamily="34" charset="-120"/>
              </a:rPr>
              <a:t>Per entendre el present</a:t>
            </a:r>
            <a:endParaRPr lang="en-US" sz="2100" dirty="0"/>
          </a:p>
        </p:txBody>
      </p:sp>
      <p:sp>
        <p:nvSpPr>
          <p:cNvPr id="9" name="Text 6"/>
          <p:cNvSpPr txBox="1"/>
          <p:nvPr/>
        </p:nvSpPr>
        <p:spPr>
          <a:xfrm>
            <a:off x="777240" y="2423160"/>
            <a:ext cx="4952848" cy="1645920"/>
          </a:xfrm>
          <a:prstGeom prst="rect">
            <a:avLst/>
          </a:prstGeom>
          <a:noFill/>
          <a:ln/>
        </p:spPr>
        <p:txBody>
          <a:bodyPr wrap="square" lIns="0" tIns="0" rIns="0" bIns="0" rtlCol="0" anchor="t"/>
          <a:lstStyle/>
          <a:p>
            <a:pPr indent="0" marL="0">
              <a:buNone/>
            </a:pPr>
            <a:r>
              <a:rPr lang="en-US" sz="1750" dirty="0">
                <a:solidFill>
                  <a:srgbClr val="202124"/>
                </a:solidFill>
                <a:latin typeface="Roboto" pitchFamily="34" charset="0"/>
                <a:ea typeface="Roboto" pitchFamily="34" charset="-122"/>
                <a:cs typeface="Roboto" pitchFamily="34" charset="-120"/>
              </a:rPr>
              <a:t>Coses que avui ens semblen normals (la democràcia, el calendari, la idea d'igualtat) tenen un origen històric. Sense conèixer-lo, no entenem res.</a:t>
            </a:r>
            <a:endParaRPr lang="en-US" sz="1750" dirty="0"/>
          </a:p>
        </p:txBody>
      </p:sp>
      <p:sp>
        <p:nvSpPr>
          <p:cNvPr id="10" name="Targeta Per no repetir errors"/>
          <p:cNvSpPr/>
          <p:nvPr/>
        </p:nvSpPr>
        <p:spPr>
          <a:xfrm>
            <a:off x="6233008" y="1371600"/>
            <a:ext cx="5410048" cy="2834640"/>
          </a:xfrm>
          <a:prstGeom prst="roundRect">
            <a:avLst>
              <a:gd name="adj" fmla="val 3548"/>
            </a:avLst>
          </a:prstGeom>
          <a:solidFill>
            <a:srgbClr val="FFFFFF"/>
          </a:solidFill>
          <a:ln w="12700">
            <a:solidFill>
              <a:srgbClr val="DADCE0"/>
            </a:solidFill>
            <a:prstDash val="solid"/>
          </a:ln>
        </p:spPr>
      </p:sp>
      <p:sp>
        <p:nvSpPr>
          <p:cNvPr id="11" name="Cercle icona"/>
          <p:cNvSpPr/>
          <p:nvPr/>
        </p:nvSpPr>
        <p:spPr>
          <a:xfrm>
            <a:off x="6461608" y="1600200"/>
            <a:ext cx="685800" cy="685800"/>
          </a:xfrm>
          <a:prstGeom prst="ellipse">
            <a:avLst/>
          </a:prstGeom>
          <a:solidFill>
            <a:srgbClr val="E6F4EA"/>
          </a:solidFill>
          <a:ln/>
        </p:spPr>
      </p:sp>
      <p:pic>
        <p:nvPicPr>
          <p:cNvPr id="12" name="Icona TbAlertTriangle" descr="/home/claude/p857/build/img/ic/TbAlertTriangle-g.png">    </p:cNvPr>
          <p:cNvPicPr>
            <a:picLocks noChangeAspect="1"/>
          </p:cNvPicPr>
          <p:nvPr/>
        </p:nvPicPr>
        <p:blipFill>
          <a:blip r:embed="rId2"/>
          <a:stretch>
            <a:fillRect/>
          </a:stretch>
        </p:blipFill>
        <p:spPr>
          <a:xfrm>
            <a:off x="6612484" y="1751076"/>
            <a:ext cx="384048" cy="384048"/>
          </a:xfrm>
          <a:prstGeom prst="rect">
            <a:avLst/>
          </a:prstGeom>
        </p:spPr>
      </p:pic>
      <p:sp>
        <p:nvSpPr>
          <p:cNvPr id="13" name="Text 9"/>
          <p:cNvSpPr txBox="1"/>
          <p:nvPr/>
        </p:nvSpPr>
        <p:spPr>
          <a:xfrm>
            <a:off x="7284568" y="1600200"/>
            <a:ext cx="4129888" cy="685800"/>
          </a:xfrm>
          <a:prstGeom prst="rect">
            <a:avLst/>
          </a:prstGeom>
          <a:noFill/>
          <a:ln/>
        </p:spPr>
        <p:txBody>
          <a:bodyPr wrap="square" lIns="0" tIns="0" rIns="0" bIns="0" rtlCol="0" anchor="ctr"/>
          <a:lstStyle/>
          <a:p>
            <a:pPr indent="0" marL="0">
              <a:buNone/>
            </a:pPr>
            <a:r>
              <a:rPr lang="en-US" sz="2100" b="1" dirty="0">
                <a:solidFill>
                  <a:srgbClr val="188038"/>
                </a:solidFill>
                <a:latin typeface="Roboto" pitchFamily="34" charset="0"/>
                <a:ea typeface="Roboto" pitchFamily="34" charset="-122"/>
                <a:cs typeface="Roboto" pitchFamily="34" charset="-120"/>
              </a:rPr>
              <a:t>Per no repetir errors</a:t>
            </a:r>
            <a:endParaRPr lang="en-US" sz="2100" dirty="0"/>
          </a:p>
        </p:txBody>
      </p:sp>
      <p:sp>
        <p:nvSpPr>
          <p:cNvPr id="14" name="Text 10"/>
          <p:cNvSpPr txBox="1"/>
          <p:nvPr/>
        </p:nvSpPr>
        <p:spPr>
          <a:xfrm>
            <a:off x="6461608" y="2423160"/>
            <a:ext cx="4952848" cy="1645920"/>
          </a:xfrm>
          <a:prstGeom prst="rect">
            <a:avLst/>
          </a:prstGeom>
          <a:noFill/>
          <a:ln/>
        </p:spPr>
        <p:txBody>
          <a:bodyPr wrap="square" lIns="0" tIns="0" rIns="0" bIns="0" rtlCol="0" anchor="t"/>
          <a:lstStyle/>
          <a:p>
            <a:pPr indent="0" marL="0">
              <a:buNone/>
            </a:pPr>
            <a:r>
              <a:rPr lang="en-US" sz="1750" dirty="0">
                <a:solidFill>
                  <a:srgbClr val="202124"/>
                </a:solidFill>
                <a:latin typeface="Roboto" pitchFamily="34" charset="0"/>
                <a:ea typeface="Roboto" pitchFamily="34" charset="-122"/>
                <a:cs typeface="Roboto" pitchFamily="34" charset="-120"/>
              </a:rPr>
              <a:t>Les societats que han viscut conflictes, guerres o injustícies han deixat lliçons. Estudiar-les ens ajuda a no caure als mateixos paranys.</a:t>
            </a:r>
            <a:endParaRPr lang="en-US" sz="1750" dirty="0"/>
          </a:p>
        </p:txBody>
      </p:sp>
      <p:sp>
        <p:nvSpPr>
          <p:cNvPr id="15" name="Saps que…?"/>
          <p:cNvSpPr/>
          <p:nvPr/>
        </p:nvSpPr>
        <p:spPr>
          <a:xfrm>
            <a:off x="548640" y="4434840"/>
            <a:ext cx="11094415" cy="1554480"/>
          </a:xfrm>
          <a:prstGeom prst="roundRect">
            <a:avLst>
              <a:gd name="adj" fmla="val 6471"/>
            </a:avLst>
          </a:prstGeom>
          <a:solidFill>
            <a:srgbClr val="E6F4EA"/>
          </a:solidFill>
          <a:ln/>
        </p:spPr>
      </p:sp>
      <p:sp>
        <p:nvSpPr>
          <p:cNvPr id="16" name="Text 12"/>
          <p:cNvSpPr txBox="1"/>
          <p:nvPr/>
        </p:nvSpPr>
        <p:spPr>
          <a:xfrm>
            <a:off x="868680" y="4590288"/>
            <a:ext cx="10454335" cy="320040"/>
          </a:xfrm>
          <a:prstGeom prst="rect">
            <a:avLst/>
          </a:prstGeom>
          <a:noFill/>
          <a:ln/>
        </p:spPr>
        <p:txBody>
          <a:bodyPr wrap="square" lIns="0" tIns="0" rIns="0" bIns="0" rtlCol="0" anchor="t"/>
          <a:lstStyle/>
          <a:p>
            <a:pPr indent="0" marL="0">
              <a:buNone/>
            </a:pPr>
            <a:r>
              <a:rPr lang="en-US" sz="1400" b="1" dirty="0">
                <a:solidFill>
                  <a:srgbClr val="188038"/>
                </a:solidFill>
                <a:latin typeface="Roboto" pitchFamily="34" charset="0"/>
                <a:ea typeface="Roboto" pitchFamily="34" charset="-122"/>
                <a:cs typeface="Roboto" pitchFamily="34" charset="-120"/>
              </a:rPr>
              <a:t>Saps que…?</a:t>
            </a:r>
            <a:endParaRPr lang="en-US" sz="1400" dirty="0"/>
          </a:p>
        </p:txBody>
      </p:sp>
      <p:sp>
        <p:nvSpPr>
          <p:cNvPr id="17" name="Text 13"/>
          <p:cNvSpPr txBox="1"/>
          <p:nvPr/>
        </p:nvSpPr>
        <p:spPr>
          <a:xfrm>
            <a:off x="868680" y="4937760"/>
            <a:ext cx="10454335" cy="914400"/>
          </a:xfrm>
          <a:prstGeom prst="rect">
            <a:avLst/>
          </a:prstGeom>
          <a:noFill/>
          <a:ln/>
        </p:spPr>
        <p:txBody>
          <a:bodyPr wrap="square" lIns="0" tIns="0" rIns="0" bIns="0" rtlCol="0" anchor="t"/>
          <a:lstStyle/>
          <a:p>
            <a:pPr indent="0" marL="0">
              <a:buNone/>
            </a:pPr>
            <a:r>
              <a:rPr lang="en-US" sz="1650" dirty="0">
                <a:solidFill>
                  <a:srgbClr val="202124"/>
                </a:solidFill>
                <a:latin typeface="Roboto" pitchFamily="34" charset="0"/>
                <a:ea typeface="Roboto" pitchFamily="34" charset="-122"/>
                <a:cs typeface="Roboto" pitchFamily="34" charset="-120"/>
              </a:rPr>
              <a:t>La paraula història ve del grec historia, que volia dir «investigació» o «recerca». L'historiador grec Heròdot la va fer servir fa uns 2.500 anys per explicar les seves indagacions. Fer història sempre ha volgut dir fer preguntes i buscar respostes.</a:t>
            </a:r>
            <a:endParaRPr lang="en-US" sz="16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5</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Comprova-ho</a:t>
            </a:r>
            <a:endParaRPr lang="en-US" sz="2800" dirty="0"/>
          </a:p>
        </p:txBody>
      </p:sp>
      <p:sp>
        <p:nvSpPr>
          <p:cNvPr id="5" name="Text 3"/>
          <p:cNvSpPr txBox="1"/>
          <p:nvPr/>
        </p:nvSpPr>
        <p:spPr>
          <a:xfrm>
            <a:off x="548640" y="1371600"/>
            <a:ext cx="3657600" cy="320040"/>
          </a:xfrm>
          <a:prstGeom prst="rect">
            <a:avLst/>
          </a:prstGeom>
          <a:noFill/>
          <a:ln/>
        </p:spPr>
        <p:txBody>
          <a:bodyPr wrap="square" lIns="0" tIns="0" rIns="0" bIns="0" rtlCol="0" anchor="t"/>
          <a:lstStyle/>
          <a:p>
            <a:pPr indent="0" marL="0">
              <a:buNone/>
            </a:pPr>
            <a:r>
              <a:rPr lang="en-US" sz="1400" b="1" dirty="0">
                <a:solidFill>
                  <a:srgbClr val="5F6368"/>
                </a:solidFill>
                <a:latin typeface="Roboto" pitchFamily="34" charset="0"/>
                <a:ea typeface="Roboto" pitchFamily="34" charset="-122"/>
                <a:cs typeface="Roboto" pitchFamily="34" charset="-120"/>
              </a:rPr>
              <a:t>Paraules clau</a:t>
            </a:r>
            <a:endParaRPr lang="en-US" sz="1400" dirty="0"/>
          </a:p>
        </p:txBody>
      </p:sp>
      <p:sp>
        <p:nvSpPr>
          <p:cNvPr id="6" name="Etiqueta Història"/>
          <p:cNvSpPr/>
          <p:nvPr/>
        </p:nvSpPr>
        <p:spPr>
          <a:xfrm>
            <a:off x="548640" y="1755648"/>
            <a:ext cx="1115568" cy="384048"/>
          </a:xfrm>
          <a:prstGeom prst="roundRect">
            <a:avLst>
              <a:gd name="adj" fmla="val 50000"/>
            </a:avLst>
          </a:prstGeom>
          <a:solidFill>
            <a:srgbClr val="E6F4EA"/>
          </a:solidFill>
          <a:ln/>
        </p:spPr>
      </p:sp>
      <p:sp>
        <p:nvSpPr>
          <p:cNvPr id="7" name="Text 5"/>
          <p:cNvSpPr txBox="1"/>
          <p:nvPr/>
        </p:nvSpPr>
        <p:spPr>
          <a:xfrm>
            <a:off x="548640" y="1755648"/>
            <a:ext cx="1115568"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Història</a:t>
            </a:r>
            <a:endParaRPr lang="en-US" sz="1500" dirty="0"/>
          </a:p>
        </p:txBody>
      </p:sp>
      <p:sp>
        <p:nvSpPr>
          <p:cNvPr id="8" name="Etiqueta Memòria"/>
          <p:cNvSpPr/>
          <p:nvPr/>
        </p:nvSpPr>
        <p:spPr>
          <a:xfrm>
            <a:off x="1773936" y="1755648"/>
            <a:ext cx="1014984" cy="384048"/>
          </a:xfrm>
          <a:prstGeom prst="roundRect">
            <a:avLst>
              <a:gd name="adj" fmla="val 50000"/>
            </a:avLst>
          </a:prstGeom>
          <a:solidFill>
            <a:srgbClr val="E6F4EA"/>
          </a:solidFill>
          <a:ln/>
        </p:spPr>
      </p:sp>
      <p:sp>
        <p:nvSpPr>
          <p:cNvPr id="9" name="Text 7"/>
          <p:cNvSpPr txBox="1"/>
          <p:nvPr/>
        </p:nvSpPr>
        <p:spPr>
          <a:xfrm>
            <a:off x="1773936" y="1755648"/>
            <a:ext cx="1014984"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Memòria</a:t>
            </a:r>
            <a:endParaRPr lang="en-US" sz="1500" dirty="0"/>
          </a:p>
        </p:txBody>
      </p:sp>
      <p:sp>
        <p:nvSpPr>
          <p:cNvPr id="10" name="Etiqueta Mite"/>
          <p:cNvSpPr/>
          <p:nvPr/>
        </p:nvSpPr>
        <p:spPr>
          <a:xfrm>
            <a:off x="2898648" y="1755648"/>
            <a:ext cx="713232" cy="384048"/>
          </a:xfrm>
          <a:prstGeom prst="roundRect">
            <a:avLst>
              <a:gd name="adj" fmla="val 50000"/>
            </a:avLst>
          </a:prstGeom>
          <a:solidFill>
            <a:srgbClr val="E6F4EA"/>
          </a:solidFill>
          <a:ln/>
        </p:spPr>
      </p:sp>
      <p:sp>
        <p:nvSpPr>
          <p:cNvPr id="11" name="Text 9"/>
          <p:cNvSpPr txBox="1"/>
          <p:nvPr/>
        </p:nvSpPr>
        <p:spPr>
          <a:xfrm>
            <a:off x="2898648" y="1755648"/>
            <a:ext cx="713232"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Mite</a:t>
            </a:r>
            <a:endParaRPr lang="en-US" sz="1500" dirty="0"/>
          </a:p>
        </p:txBody>
      </p:sp>
      <p:sp>
        <p:nvSpPr>
          <p:cNvPr id="12" name="Etiqueta Anacronisme"/>
          <p:cNvSpPr/>
          <p:nvPr/>
        </p:nvSpPr>
        <p:spPr>
          <a:xfrm>
            <a:off x="3721608" y="1755648"/>
            <a:ext cx="1417320" cy="384048"/>
          </a:xfrm>
          <a:prstGeom prst="roundRect">
            <a:avLst>
              <a:gd name="adj" fmla="val 50000"/>
            </a:avLst>
          </a:prstGeom>
          <a:solidFill>
            <a:srgbClr val="E6F4EA"/>
          </a:solidFill>
          <a:ln/>
        </p:spPr>
      </p:sp>
      <p:sp>
        <p:nvSpPr>
          <p:cNvPr id="13" name="Text 11"/>
          <p:cNvSpPr txBox="1"/>
          <p:nvPr/>
        </p:nvSpPr>
        <p:spPr>
          <a:xfrm>
            <a:off x="3721608" y="1755648"/>
            <a:ext cx="1417320"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Anacronisme</a:t>
            </a:r>
            <a:endParaRPr lang="en-US" sz="1500" dirty="0"/>
          </a:p>
        </p:txBody>
      </p:sp>
      <p:sp>
        <p:nvSpPr>
          <p:cNvPr id="14" name="Pregunta 1"/>
          <p:cNvSpPr/>
          <p:nvPr/>
        </p:nvSpPr>
        <p:spPr>
          <a:xfrm>
            <a:off x="548640" y="2514600"/>
            <a:ext cx="5410048" cy="960120"/>
          </a:xfrm>
          <a:prstGeom prst="roundRect">
            <a:avLst>
              <a:gd name="adj" fmla="val 10476"/>
            </a:avLst>
          </a:prstGeom>
          <a:solidFill>
            <a:srgbClr val="FFFFFF"/>
          </a:solidFill>
          <a:ln w="12700">
            <a:solidFill>
              <a:srgbClr val="DADCE0"/>
            </a:solidFill>
            <a:prstDash val="solid"/>
          </a:ln>
        </p:spPr>
      </p:sp>
      <p:sp>
        <p:nvSpPr>
          <p:cNvPr id="15" name="Número 1"/>
          <p:cNvSpPr/>
          <p:nvPr/>
        </p:nvSpPr>
        <p:spPr>
          <a:xfrm>
            <a:off x="822960" y="2766060"/>
            <a:ext cx="457200" cy="457200"/>
          </a:xfrm>
          <a:prstGeom prst="ellipse">
            <a:avLst/>
          </a:prstGeom>
          <a:solidFill>
            <a:srgbClr val="188038"/>
          </a:solidFill>
          <a:ln/>
        </p:spPr>
      </p:sp>
      <p:sp>
        <p:nvSpPr>
          <p:cNvPr id="16" name="Text 14"/>
          <p:cNvSpPr txBox="1"/>
          <p:nvPr/>
        </p:nvSpPr>
        <p:spPr>
          <a:xfrm>
            <a:off x="822960" y="276606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Roboto" pitchFamily="34" charset="0"/>
                <a:ea typeface="Roboto" pitchFamily="34" charset="-122"/>
                <a:cs typeface="Roboto" pitchFamily="34" charset="-120"/>
              </a:rPr>
              <a:t>1</a:t>
            </a:r>
            <a:endParaRPr lang="en-US" sz="1700" dirty="0"/>
          </a:p>
        </p:txBody>
      </p:sp>
      <p:sp>
        <p:nvSpPr>
          <p:cNvPr id="17" name="Text 15"/>
          <p:cNvSpPr txBox="1"/>
          <p:nvPr/>
        </p:nvSpPr>
        <p:spPr>
          <a:xfrm>
            <a:off x="1508760" y="2514600"/>
            <a:ext cx="4221328" cy="960120"/>
          </a:xfrm>
          <a:prstGeom prst="rect">
            <a:avLst/>
          </a:prstGeom>
          <a:noFill/>
          <a:ln/>
        </p:spPr>
        <p:txBody>
          <a:bodyPr wrap="square" lIns="0" tIns="0" rIns="0" bIns="0" rtlCol="0" anchor="ctr"/>
          <a:lstStyle/>
          <a:p>
            <a:pPr indent="0" marL="0">
              <a:buNone/>
            </a:pPr>
            <a:r>
              <a:rPr lang="en-US" sz="1700" dirty="0">
                <a:solidFill>
                  <a:srgbClr val="202124"/>
                </a:solidFill>
                <a:latin typeface="Roboto" pitchFamily="34" charset="0"/>
                <a:ea typeface="Roboto" pitchFamily="34" charset="-122"/>
                <a:cs typeface="Roboto" pitchFamily="34" charset="-120"/>
              </a:rPr>
              <a:t>Què estudia la història?</a:t>
            </a:r>
            <a:endParaRPr lang="en-US" sz="1700" dirty="0"/>
          </a:p>
        </p:txBody>
      </p:sp>
      <p:sp>
        <p:nvSpPr>
          <p:cNvPr id="18" name="Pregunta 2"/>
          <p:cNvSpPr/>
          <p:nvPr/>
        </p:nvSpPr>
        <p:spPr>
          <a:xfrm>
            <a:off x="6233008" y="2514600"/>
            <a:ext cx="5410048" cy="960120"/>
          </a:xfrm>
          <a:prstGeom prst="roundRect">
            <a:avLst>
              <a:gd name="adj" fmla="val 10476"/>
            </a:avLst>
          </a:prstGeom>
          <a:solidFill>
            <a:srgbClr val="FFFFFF"/>
          </a:solidFill>
          <a:ln w="12700">
            <a:solidFill>
              <a:srgbClr val="DADCE0"/>
            </a:solidFill>
            <a:prstDash val="solid"/>
          </a:ln>
        </p:spPr>
      </p:sp>
      <p:sp>
        <p:nvSpPr>
          <p:cNvPr id="19" name="Número 2"/>
          <p:cNvSpPr/>
          <p:nvPr/>
        </p:nvSpPr>
        <p:spPr>
          <a:xfrm>
            <a:off x="6507328" y="2766060"/>
            <a:ext cx="457200" cy="457200"/>
          </a:xfrm>
          <a:prstGeom prst="ellipse">
            <a:avLst/>
          </a:prstGeom>
          <a:solidFill>
            <a:srgbClr val="188038"/>
          </a:solidFill>
          <a:ln/>
        </p:spPr>
      </p:sp>
      <p:sp>
        <p:nvSpPr>
          <p:cNvPr id="20" name="Text 18"/>
          <p:cNvSpPr txBox="1"/>
          <p:nvPr/>
        </p:nvSpPr>
        <p:spPr>
          <a:xfrm>
            <a:off x="6507328" y="276606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Roboto" pitchFamily="34" charset="0"/>
                <a:ea typeface="Roboto" pitchFamily="34" charset="-122"/>
                <a:cs typeface="Roboto" pitchFamily="34" charset="-120"/>
              </a:rPr>
              <a:t>2</a:t>
            </a:r>
            <a:endParaRPr lang="en-US" sz="1700" dirty="0"/>
          </a:p>
        </p:txBody>
      </p:sp>
      <p:sp>
        <p:nvSpPr>
          <p:cNvPr id="21" name="Text 19"/>
          <p:cNvSpPr txBox="1"/>
          <p:nvPr/>
        </p:nvSpPr>
        <p:spPr>
          <a:xfrm>
            <a:off x="7193128" y="2514600"/>
            <a:ext cx="4221328" cy="960120"/>
          </a:xfrm>
          <a:prstGeom prst="rect">
            <a:avLst/>
          </a:prstGeom>
          <a:noFill/>
          <a:ln/>
        </p:spPr>
        <p:txBody>
          <a:bodyPr wrap="square" lIns="0" tIns="0" rIns="0" bIns="0" rtlCol="0" anchor="ctr"/>
          <a:lstStyle/>
          <a:p>
            <a:pPr indent="0" marL="0">
              <a:buNone/>
            </a:pPr>
            <a:r>
              <a:rPr lang="en-US" sz="1700" dirty="0">
                <a:solidFill>
                  <a:srgbClr val="202124"/>
                </a:solidFill>
                <a:latin typeface="Roboto" pitchFamily="34" charset="0"/>
                <a:ea typeface="Roboto" pitchFamily="34" charset="-122"/>
                <a:cs typeface="Roboto" pitchFamily="34" charset="-120"/>
              </a:rPr>
              <a:t>Quina diferència hi ha entre la història i la memòria?</a:t>
            </a:r>
            <a:endParaRPr lang="en-US" sz="1700" dirty="0"/>
          </a:p>
        </p:txBody>
      </p:sp>
      <p:sp>
        <p:nvSpPr>
          <p:cNvPr id="22" name="Pregunta 3"/>
          <p:cNvSpPr/>
          <p:nvPr/>
        </p:nvSpPr>
        <p:spPr>
          <a:xfrm>
            <a:off x="548640" y="3675888"/>
            <a:ext cx="5410048" cy="960120"/>
          </a:xfrm>
          <a:prstGeom prst="roundRect">
            <a:avLst>
              <a:gd name="adj" fmla="val 10476"/>
            </a:avLst>
          </a:prstGeom>
          <a:solidFill>
            <a:srgbClr val="FFFFFF"/>
          </a:solidFill>
          <a:ln w="12700">
            <a:solidFill>
              <a:srgbClr val="DADCE0"/>
            </a:solidFill>
            <a:prstDash val="solid"/>
          </a:ln>
        </p:spPr>
      </p:sp>
      <p:sp>
        <p:nvSpPr>
          <p:cNvPr id="23" name="Número 3"/>
          <p:cNvSpPr/>
          <p:nvPr/>
        </p:nvSpPr>
        <p:spPr>
          <a:xfrm>
            <a:off x="822960" y="3927348"/>
            <a:ext cx="457200" cy="457200"/>
          </a:xfrm>
          <a:prstGeom prst="ellipse">
            <a:avLst/>
          </a:prstGeom>
          <a:solidFill>
            <a:srgbClr val="188038"/>
          </a:solidFill>
          <a:ln/>
        </p:spPr>
      </p:sp>
      <p:sp>
        <p:nvSpPr>
          <p:cNvPr id="24" name="Text 22"/>
          <p:cNvSpPr txBox="1"/>
          <p:nvPr/>
        </p:nvSpPr>
        <p:spPr>
          <a:xfrm>
            <a:off x="822960" y="3927348"/>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Roboto" pitchFamily="34" charset="0"/>
                <a:ea typeface="Roboto" pitchFamily="34" charset="-122"/>
                <a:cs typeface="Roboto" pitchFamily="34" charset="-120"/>
              </a:rPr>
              <a:t>3</a:t>
            </a:r>
            <a:endParaRPr lang="en-US" sz="1700" dirty="0"/>
          </a:p>
        </p:txBody>
      </p:sp>
      <p:sp>
        <p:nvSpPr>
          <p:cNvPr id="25" name="Text 23"/>
          <p:cNvSpPr txBox="1"/>
          <p:nvPr/>
        </p:nvSpPr>
        <p:spPr>
          <a:xfrm>
            <a:off x="1508760" y="3675888"/>
            <a:ext cx="4221328" cy="960120"/>
          </a:xfrm>
          <a:prstGeom prst="rect">
            <a:avLst/>
          </a:prstGeom>
          <a:noFill/>
          <a:ln/>
        </p:spPr>
        <p:txBody>
          <a:bodyPr wrap="square" lIns="0" tIns="0" rIns="0" bIns="0" rtlCol="0" anchor="ctr"/>
          <a:lstStyle/>
          <a:p>
            <a:pPr indent="0" marL="0">
              <a:buNone/>
            </a:pPr>
            <a:r>
              <a:rPr lang="en-US" sz="1700" dirty="0">
                <a:solidFill>
                  <a:srgbClr val="202124"/>
                </a:solidFill>
                <a:latin typeface="Roboto" pitchFamily="34" charset="0"/>
                <a:ea typeface="Roboto" pitchFamily="34" charset="-122"/>
                <a:cs typeface="Roboto" pitchFamily="34" charset="-120"/>
              </a:rPr>
              <a:t>Digues els dos motius per estudiar història.</a:t>
            </a:r>
            <a:endParaRPr lang="en-US" sz="1700" dirty="0"/>
          </a:p>
        </p:txBody>
      </p:sp>
      <p:sp>
        <p:nvSpPr>
          <p:cNvPr id="26" name="Pregunta 4"/>
          <p:cNvSpPr/>
          <p:nvPr/>
        </p:nvSpPr>
        <p:spPr>
          <a:xfrm>
            <a:off x="6233008" y="3675888"/>
            <a:ext cx="5410048" cy="960120"/>
          </a:xfrm>
          <a:prstGeom prst="roundRect">
            <a:avLst>
              <a:gd name="adj" fmla="val 10476"/>
            </a:avLst>
          </a:prstGeom>
          <a:solidFill>
            <a:srgbClr val="FFFFFF"/>
          </a:solidFill>
          <a:ln w="12700">
            <a:solidFill>
              <a:srgbClr val="DADCE0"/>
            </a:solidFill>
            <a:prstDash val="solid"/>
          </a:ln>
        </p:spPr>
      </p:sp>
      <p:sp>
        <p:nvSpPr>
          <p:cNvPr id="27" name="Número 4"/>
          <p:cNvSpPr/>
          <p:nvPr/>
        </p:nvSpPr>
        <p:spPr>
          <a:xfrm>
            <a:off x="6507328" y="3927348"/>
            <a:ext cx="457200" cy="457200"/>
          </a:xfrm>
          <a:prstGeom prst="ellipse">
            <a:avLst/>
          </a:prstGeom>
          <a:solidFill>
            <a:srgbClr val="188038"/>
          </a:solidFill>
          <a:ln/>
        </p:spPr>
      </p:sp>
      <p:sp>
        <p:nvSpPr>
          <p:cNvPr id="28" name="Text 26"/>
          <p:cNvSpPr txBox="1"/>
          <p:nvPr/>
        </p:nvSpPr>
        <p:spPr>
          <a:xfrm>
            <a:off x="6507328" y="3927348"/>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Roboto" pitchFamily="34" charset="0"/>
                <a:ea typeface="Roboto" pitchFamily="34" charset="-122"/>
                <a:cs typeface="Roboto" pitchFamily="34" charset="-120"/>
              </a:rPr>
              <a:t>4</a:t>
            </a:r>
            <a:endParaRPr lang="en-US" sz="1700" dirty="0"/>
          </a:p>
        </p:txBody>
      </p:sp>
      <p:sp>
        <p:nvSpPr>
          <p:cNvPr id="29" name="Text 27"/>
          <p:cNvSpPr txBox="1"/>
          <p:nvPr/>
        </p:nvSpPr>
        <p:spPr>
          <a:xfrm>
            <a:off x="7193128" y="3675888"/>
            <a:ext cx="4221328" cy="960120"/>
          </a:xfrm>
          <a:prstGeom prst="rect">
            <a:avLst/>
          </a:prstGeom>
          <a:noFill/>
          <a:ln/>
        </p:spPr>
        <p:txBody>
          <a:bodyPr wrap="square" lIns="0" tIns="0" rIns="0" bIns="0" rtlCol="0" anchor="ctr"/>
          <a:lstStyle/>
          <a:p>
            <a:pPr indent="0" marL="0">
              <a:buNone/>
            </a:pPr>
            <a:r>
              <a:rPr lang="en-US" sz="1700" dirty="0">
                <a:solidFill>
                  <a:srgbClr val="202124"/>
                </a:solidFill>
                <a:latin typeface="Roboto" pitchFamily="34" charset="0"/>
                <a:ea typeface="Roboto" pitchFamily="34" charset="-122"/>
                <a:cs typeface="Roboto" pitchFamily="34" charset="-120"/>
              </a:rPr>
              <a:t>Què és un mite? Posa'n un exemple.</a:t>
            </a:r>
            <a:endParaRPr lang="en-US" sz="1700" dirty="0"/>
          </a:p>
        </p:txBody>
      </p:sp>
      <p:sp>
        <p:nvSpPr>
          <p:cNvPr id="30" name="Pregunta 5"/>
          <p:cNvSpPr/>
          <p:nvPr/>
        </p:nvSpPr>
        <p:spPr>
          <a:xfrm>
            <a:off x="548640" y="4837176"/>
            <a:ext cx="5410048" cy="960120"/>
          </a:xfrm>
          <a:prstGeom prst="roundRect">
            <a:avLst>
              <a:gd name="adj" fmla="val 10476"/>
            </a:avLst>
          </a:prstGeom>
          <a:solidFill>
            <a:srgbClr val="FFFFFF"/>
          </a:solidFill>
          <a:ln w="12700">
            <a:solidFill>
              <a:srgbClr val="DADCE0"/>
            </a:solidFill>
            <a:prstDash val="solid"/>
          </a:ln>
        </p:spPr>
      </p:sp>
      <p:sp>
        <p:nvSpPr>
          <p:cNvPr id="31" name="Número 5"/>
          <p:cNvSpPr/>
          <p:nvPr/>
        </p:nvSpPr>
        <p:spPr>
          <a:xfrm>
            <a:off x="822960" y="5088636"/>
            <a:ext cx="457200" cy="457200"/>
          </a:xfrm>
          <a:prstGeom prst="ellipse">
            <a:avLst/>
          </a:prstGeom>
          <a:solidFill>
            <a:srgbClr val="188038"/>
          </a:solidFill>
          <a:ln/>
        </p:spPr>
      </p:sp>
      <p:sp>
        <p:nvSpPr>
          <p:cNvPr id="32" name="Text 30"/>
          <p:cNvSpPr txBox="1"/>
          <p:nvPr/>
        </p:nvSpPr>
        <p:spPr>
          <a:xfrm>
            <a:off x="822960" y="5088636"/>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Roboto" pitchFamily="34" charset="0"/>
                <a:ea typeface="Roboto" pitchFamily="34" charset="-122"/>
                <a:cs typeface="Roboto" pitchFamily="34" charset="-120"/>
              </a:rPr>
              <a:t>5</a:t>
            </a:r>
            <a:endParaRPr lang="en-US" sz="1700" dirty="0"/>
          </a:p>
        </p:txBody>
      </p:sp>
      <p:sp>
        <p:nvSpPr>
          <p:cNvPr id="33" name="Text 31"/>
          <p:cNvSpPr txBox="1"/>
          <p:nvPr/>
        </p:nvSpPr>
        <p:spPr>
          <a:xfrm>
            <a:off x="1508760" y="4837176"/>
            <a:ext cx="4221328" cy="960120"/>
          </a:xfrm>
          <a:prstGeom prst="rect">
            <a:avLst/>
          </a:prstGeom>
          <a:noFill/>
          <a:ln/>
        </p:spPr>
        <p:txBody>
          <a:bodyPr wrap="square" lIns="0" tIns="0" rIns="0" bIns="0" rtlCol="0" anchor="ctr"/>
          <a:lstStyle/>
          <a:p>
            <a:pPr indent="0" marL="0">
              <a:buNone/>
            </a:pPr>
            <a:r>
              <a:rPr lang="en-US" sz="1700" dirty="0">
                <a:solidFill>
                  <a:srgbClr val="202124"/>
                </a:solidFill>
                <a:latin typeface="Roboto" pitchFamily="34" charset="0"/>
                <a:ea typeface="Roboto" pitchFamily="34" charset="-122"/>
                <a:cs typeface="Roboto" pitchFamily="34" charset="-120"/>
              </a:rPr>
              <a:t>Digues dues pistes que demostren que la llegenda de les quatre barres no va passar així.</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Capçalera"/>
          <p:cNvSpPr/>
          <p:nvPr/>
        </p:nvSpPr>
        <p:spPr>
          <a:xfrm>
            <a:off x="548640" y="548640"/>
            <a:ext cx="6720840" cy="3657600"/>
          </a:xfrm>
          <a:prstGeom prst="roundRect">
            <a:avLst>
              <a:gd name="adj" fmla="val 2750"/>
            </a:avLst>
          </a:prstGeom>
          <a:solidFill>
            <a:srgbClr val="188038"/>
          </a:solidFill>
          <a:ln/>
        </p:spPr>
      </p:sp>
      <p:pic>
        <p:nvPicPr>
          <p:cNvPr id="3" name="Il·lustració d'una rosa dels vents i un rellotge de sorra" descr="/home/claude/p857/build/hero-crop.png">    </p:cNvPr>
          <p:cNvPicPr>
            <a:picLocks noChangeAspect="1"/>
          </p:cNvPicPr>
          <p:nvPr/>
        </p:nvPicPr>
        <p:blipFill>
          <a:blip r:embed="rId1"/>
          <a:stretch>
            <a:fillRect/>
          </a:stretch>
        </p:blipFill>
        <p:spPr>
          <a:xfrm>
            <a:off x="3794760" y="2296090"/>
            <a:ext cx="3291840" cy="1891862"/>
          </a:xfrm>
          <a:prstGeom prst="rect">
            <a:avLst/>
          </a:prstGeom>
        </p:spPr>
      </p:pic>
      <p:sp>
        <p:nvSpPr>
          <p:cNvPr id="4" name="Etiqueta Apartat 6"/>
          <p:cNvSpPr/>
          <p:nvPr/>
        </p:nvSpPr>
        <p:spPr>
          <a:xfrm>
            <a:off x="960120" y="896112"/>
            <a:ext cx="1035101" cy="310896"/>
          </a:xfrm>
          <a:prstGeom prst="roundRect">
            <a:avLst>
              <a:gd name="adj" fmla="val 50000"/>
            </a:avLst>
          </a:prstGeom>
          <a:solidFill>
            <a:srgbClr val="FFFFFF">
              <a:alpha val="18000"/>
            </a:srgbClr>
          </a:solidFill>
          <a:ln/>
        </p:spPr>
      </p:sp>
      <p:sp>
        <p:nvSpPr>
          <p:cNvPr id="5" name="Text 2"/>
          <p:cNvSpPr txBox="1"/>
          <p:nvPr/>
        </p:nvSpPr>
        <p:spPr>
          <a:xfrm>
            <a:off x="960120" y="896112"/>
            <a:ext cx="1035101" cy="310896"/>
          </a:xfrm>
          <a:prstGeom prst="rect">
            <a:avLst/>
          </a:prstGeom>
          <a:noFill/>
          <a:ln/>
        </p:spPr>
        <p:txBody>
          <a:bodyPr wrap="square" lIns="0" tIns="0" rIns="0" bIns="0" rtlCol="0" anchor="ctr"/>
          <a:lstStyle/>
          <a:p>
            <a:pPr algn="ctr" indent="0" marL="0">
              <a:buNone/>
            </a:pPr>
            <a:r>
              <a:rPr lang="en-US" sz="1250" dirty="0">
                <a:solidFill>
                  <a:srgbClr val="FFFFFF"/>
                </a:solidFill>
                <a:latin typeface="Roboto" pitchFamily="34" charset="0"/>
                <a:ea typeface="Roboto" pitchFamily="34" charset="-122"/>
                <a:cs typeface="Roboto" pitchFamily="34" charset="-120"/>
              </a:rPr>
              <a:t>Apartat 6</a:t>
            </a:r>
            <a:endParaRPr lang="en-US" sz="1250" dirty="0"/>
          </a:p>
        </p:txBody>
      </p:sp>
      <p:sp>
        <p:nvSpPr>
          <p:cNvPr id="6" name="Text 3"/>
          <p:cNvSpPr txBox="1"/>
          <p:nvPr/>
        </p:nvSpPr>
        <p:spPr>
          <a:xfrm>
            <a:off x="960120" y="1371600"/>
            <a:ext cx="5760720" cy="1280160"/>
          </a:xfrm>
          <a:prstGeom prst="rect">
            <a:avLst/>
          </a:prstGeom>
          <a:noFill/>
          <a:ln/>
        </p:spPr>
        <p:txBody>
          <a:bodyPr wrap="square" lIns="0" tIns="0" rIns="0" bIns="0" rtlCol="0" anchor="t"/>
          <a:lstStyle/>
          <a:p>
            <a:pPr indent="0" marL="0">
              <a:lnSpc>
                <a:spcPct val="95000"/>
              </a:lnSpc>
              <a:buNone/>
            </a:pPr>
            <a:r>
              <a:rPr lang="en-US" sz="3000" b="1" dirty="0">
                <a:solidFill>
                  <a:srgbClr val="FFFFFF"/>
                </a:solidFill>
                <a:latin typeface="Roboto" pitchFamily="34" charset="0"/>
                <a:ea typeface="Roboto" pitchFamily="34" charset="-122"/>
                <a:cs typeface="Roboto" pitchFamily="34" charset="-120"/>
              </a:rPr>
              <a:t>Com sabem què va passar? Les fonts històriques</a:t>
            </a:r>
            <a:endParaRPr lang="en-US" sz="3000" dirty="0"/>
          </a:p>
        </p:txBody>
      </p:sp>
      <p:sp>
        <p:nvSpPr>
          <p:cNvPr id="7" name="Pregunta guia"/>
          <p:cNvSpPr/>
          <p:nvPr/>
        </p:nvSpPr>
        <p:spPr>
          <a:xfrm>
            <a:off x="548640" y="4389120"/>
            <a:ext cx="6720840" cy="1645920"/>
          </a:xfrm>
          <a:prstGeom prst="roundRect">
            <a:avLst>
              <a:gd name="adj" fmla="val 6111"/>
            </a:avLst>
          </a:prstGeom>
          <a:solidFill>
            <a:srgbClr val="F6F8FB"/>
          </a:solidFill>
          <a:ln/>
        </p:spPr>
      </p:sp>
      <p:sp>
        <p:nvSpPr>
          <p:cNvPr id="8" name="Text 5"/>
          <p:cNvSpPr txBox="1"/>
          <p:nvPr/>
        </p:nvSpPr>
        <p:spPr>
          <a:xfrm>
            <a:off x="914400" y="4590288"/>
            <a:ext cx="4572000" cy="320040"/>
          </a:xfrm>
          <a:prstGeom prst="rect">
            <a:avLst/>
          </a:prstGeom>
          <a:noFill/>
          <a:ln/>
        </p:spPr>
        <p:txBody>
          <a:bodyPr wrap="square" lIns="0" tIns="0" rIns="0" bIns="0" rtlCol="0" anchor="t"/>
          <a:lstStyle/>
          <a:p>
            <a:pPr indent="0" marL="0">
              <a:buNone/>
            </a:pPr>
            <a:r>
              <a:rPr lang="en-US" sz="1300" b="1" dirty="0">
                <a:solidFill>
                  <a:srgbClr val="188038"/>
                </a:solidFill>
                <a:latin typeface="Roboto" pitchFamily="34" charset="0"/>
                <a:ea typeface="Roboto" pitchFamily="34" charset="-122"/>
                <a:cs typeface="Roboto" pitchFamily="34" charset="-120"/>
              </a:rPr>
              <a:t>Pregunta guia</a:t>
            </a:r>
            <a:endParaRPr lang="en-US" sz="1300" dirty="0"/>
          </a:p>
        </p:txBody>
      </p:sp>
      <p:sp>
        <p:nvSpPr>
          <p:cNvPr id="9" name="Text 6"/>
          <p:cNvSpPr txBox="1"/>
          <p:nvPr/>
        </p:nvSpPr>
        <p:spPr>
          <a:xfrm>
            <a:off x="914400" y="4937760"/>
            <a:ext cx="6035040" cy="914400"/>
          </a:xfrm>
          <a:prstGeom prst="rect">
            <a:avLst/>
          </a:prstGeom>
          <a:noFill/>
          <a:ln/>
        </p:spPr>
        <p:txBody>
          <a:bodyPr wrap="square" lIns="0" tIns="0" rIns="0" bIns="0" rtlCol="0" anchor="t"/>
          <a:lstStyle/>
          <a:p>
            <a:pPr indent="0" marL="0">
              <a:buNone/>
            </a:pPr>
            <a:r>
              <a:rPr lang="en-US" sz="1900" dirty="0">
                <a:solidFill>
                  <a:srgbClr val="5F6368"/>
                </a:solidFill>
                <a:latin typeface="Roboto" pitchFamily="34" charset="0"/>
                <a:ea typeface="Roboto" pitchFamily="34" charset="-122"/>
                <a:cs typeface="Roboto" pitchFamily="34" charset="-120"/>
              </a:rPr>
              <a:t>Ningú no pot entrevistar un egipci de fa 4.000 anys. Llavors, com ho sabem, tot el que expliquen els llibres?</a:t>
            </a:r>
            <a:endParaRPr lang="en-US" sz="1900" dirty="0"/>
          </a:p>
        </p:txBody>
      </p:sp>
      <p:sp>
        <p:nvSpPr>
          <p:cNvPr id="10" name="Fons Com sabem què va passar? Les fonts històriques"/>
          <p:cNvSpPr/>
          <p:nvPr/>
        </p:nvSpPr>
        <p:spPr>
          <a:xfrm>
            <a:off x="7635240" y="608076"/>
            <a:ext cx="4007815" cy="4572000"/>
          </a:xfrm>
          <a:prstGeom prst="roundRect">
            <a:avLst>
              <a:gd name="adj" fmla="val 2510"/>
            </a:avLst>
          </a:prstGeom>
          <a:solidFill>
            <a:srgbClr val="F6F8FB"/>
          </a:solidFill>
          <a:ln/>
        </p:spPr>
      </p:sp>
      <p:pic>
        <p:nvPicPr>
          <p:cNvPr id="11" name="Com sabem què va passar? Les fonts històriques" descr="/home/claude/p857/build/img/rosetta.jpg">    </p:cNvPr>
          <p:cNvPicPr>
            <a:picLocks noChangeAspect="1"/>
          </p:cNvPicPr>
          <p:nvPr/>
        </p:nvPicPr>
        <p:blipFill>
          <a:blip r:embed="rId2"/>
          <a:stretch>
            <a:fillRect/>
          </a:stretch>
        </p:blipFill>
        <p:spPr>
          <a:xfrm>
            <a:off x="7684618" y="608076"/>
            <a:ext cx="3909060" cy="4572000"/>
          </a:xfrm>
          <a:prstGeom prst="rect">
            <a:avLst/>
          </a:prstGeom>
        </p:spPr>
      </p:pic>
      <p:sp>
        <p:nvSpPr>
          <p:cNvPr id="12" name="Text 8"/>
          <p:cNvSpPr txBox="1"/>
          <p:nvPr/>
        </p:nvSpPr>
        <p:spPr>
          <a:xfrm>
            <a:off x="7635240" y="5289804"/>
            <a:ext cx="4007815" cy="685800"/>
          </a:xfrm>
          <a:prstGeom prst="rect">
            <a:avLst/>
          </a:prstGeom>
          <a:noFill/>
          <a:ln/>
        </p:spPr>
        <p:txBody>
          <a:bodyPr wrap="square" lIns="0" tIns="0" rIns="0" bIns="0" rtlCol="0" anchor="t"/>
          <a:lstStyle/>
          <a:p>
            <a:pPr indent="0" marL="0">
              <a:buNone/>
            </a:pPr>
            <a:r>
              <a:rPr lang="en-US" sz="1000" dirty="0">
                <a:solidFill>
                  <a:srgbClr val="5F6368"/>
                </a:solidFill>
                <a:latin typeface="Roboto" pitchFamily="34" charset="0"/>
                <a:ea typeface="Roboto" pitchFamily="34" charset="-122"/>
                <a:cs typeface="Roboto" pitchFamily="34" charset="-120"/>
              </a:rPr>
              <a:t>La pedra de Rosetta (196 aC). Museu Britànic, Londres. Foto: Hans Hillewaert, Wikimedia Commons, CC BY-SA 4.0.</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6</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Fonts primàries i secundàries</a:t>
            </a:r>
            <a:endParaRPr lang="en-US" sz="2800" dirty="0"/>
          </a:p>
        </p:txBody>
      </p:sp>
      <p:sp>
        <p:nvSpPr>
          <p:cNvPr id="5" name="Text 3"/>
          <p:cNvSpPr txBox="1"/>
          <p:nvPr/>
        </p:nvSpPr>
        <p:spPr>
          <a:xfrm>
            <a:off x="548640" y="1371600"/>
            <a:ext cx="11094415" cy="594360"/>
          </a:xfrm>
          <a:prstGeom prst="rect">
            <a:avLst/>
          </a:prstGeom>
          <a:noFill/>
          <a:ln/>
        </p:spPr>
        <p:txBody>
          <a:bodyPr wrap="square" lIns="0" tIns="0" rIns="0" bIns="0" rtlCol="0" anchor="t"/>
          <a:lstStyle/>
          <a:p>
            <a:pPr indent="0" marL="0">
              <a:buNone/>
            </a:pPr>
            <a:r>
              <a:rPr lang="en-US" sz="1800" dirty="0">
                <a:solidFill>
                  <a:srgbClr val="202124"/>
                </a:solidFill>
                <a:latin typeface="Roboto" pitchFamily="34" charset="0"/>
                <a:ea typeface="Roboto" pitchFamily="34" charset="-122"/>
                <a:cs typeface="Roboto" pitchFamily="34" charset="-120"/>
              </a:rPr>
              <a:t>Les fonts històriques són tot allò que ens han deixat les persones del passat. Hi ha dos grans tipus.</a:t>
            </a:r>
            <a:endParaRPr lang="en-US" sz="1800" dirty="0"/>
          </a:p>
        </p:txBody>
      </p:sp>
      <p:sp>
        <p:nvSpPr>
          <p:cNvPr id="6" name="Targeta Fonts primàries"/>
          <p:cNvSpPr/>
          <p:nvPr/>
        </p:nvSpPr>
        <p:spPr>
          <a:xfrm>
            <a:off x="548640" y="2103120"/>
            <a:ext cx="5410048" cy="2697480"/>
          </a:xfrm>
          <a:prstGeom prst="roundRect">
            <a:avLst>
              <a:gd name="adj" fmla="val 3729"/>
            </a:avLst>
          </a:prstGeom>
          <a:solidFill>
            <a:srgbClr val="188038"/>
          </a:solidFill>
          <a:ln/>
        </p:spPr>
      </p:sp>
      <p:sp>
        <p:nvSpPr>
          <p:cNvPr id="7" name="Cercle icona"/>
          <p:cNvSpPr/>
          <p:nvPr/>
        </p:nvSpPr>
        <p:spPr>
          <a:xfrm>
            <a:off x="777240" y="2331720"/>
            <a:ext cx="640080" cy="640080"/>
          </a:xfrm>
          <a:prstGeom prst="ellipse">
            <a:avLst/>
          </a:prstGeom>
          <a:solidFill>
            <a:srgbClr val="FFFFFF"/>
          </a:solidFill>
          <a:ln/>
        </p:spPr>
      </p:sp>
      <p:pic>
        <p:nvPicPr>
          <p:cNvPr id="8" name="Icona TbScript" descr="/home/claude/p857/build/img/ic/TbScript-g.png">    </p:cNvPr>
          <p:cNvPicPr>
            <a:picLocks noChangeAspect="1"/>
          </p:cNvPicPr>
          <p:nvPr/>
        </p:nvPicPr>
        <p:blipFill>
          <a:blip r:embed="rId1"/>
          <a:stretch>
            <a:fillRect/>
          </a:stretch>
        </p:blipFill>
        <p:spPr>
          <a:xfrm>
            <a:off x="918058" y="2472538"/>
            <a:ext cx="358445" cy="358445"/>
          </a:xfrm>
          <a:prstGeom prst="rect">
            <a:avLst/>
          </a:prstGeom>
        </p:spPr>
      </p:pic>
      <p:sp>
        <p:nvSpPr>
          <p:cNvPr id="9" name="Text 6"/>
          <p:cNvSpPr txBox="1"/>
          <p:nvPr/>
        </p:nvSpPr>
        <p:spPr>
          <a:xfrm>
            <a:off x="1554480" y="2331720"/>
            <a:ext cx="4175608" cy="640080"/>
          </a:xfrm>
          <a:prstGeom prst="rect">
            <a:avLst/>
          </a:prstGeom>
          <a:noFill/>
          <a:ln/>
        </p:spPr>
        <p:txBody>
          <a:bodyPr wrap="square" lIns="0" tIns="0" rIns="0" bIns="0" rtlCol="0" anchor="ctr"/>
          <a:lstStyle/>
          <a:p>
            <a:pPr indent="0" marL="0">
              <a:buNone/>
            </a:pPr>
            <a:r>
              <a:rPr lang="en-US" sz="2100" b="1" dirty="0">
                <a:solidFill>
                  <a:srgbClr val="FFFFFF"/>
                </a:solidFill>
                <a:latin typeface="Roboto" pitchFamily="34" charset="0"/>
                <a:ea typeface="Roboto" pitchFamily="34" charset="-122"/>
                <a:cs typeface="Roboto" pitchFamily="34" charset="-120"/>
              </a:rPr>
              <a:t>Fonts primàries</a:t>
            </a:r>
            <a:endParaRPr lang="en-US" sz="2100" dirty="0"/>
          </a:p>
        </p:txBody>
      </p:sp>
      <p:sp>
        <p:nvSpPr>
          <p:cNvPr id="10" name="Text 7"/>
          <p:cNvSpPr txBox="1"/>
          <p:nvPr/>
        </p:nvSpPr>
        <p:spPr>
          <a:xfrm>
            <a:off x="777240" y="3108960"/>
            <a:ext cx="4952848" cy="1554480"/>
          </a:xfrm>
          <a:prstGeom prst="rect">
            <a:avLst/>
          </a:prstGeom>
          <a:noFill/>
          <a:ln/>
        </p:spPr>
        <p:txBody>
          <a:bodyPr wrap="square" lIns="0" tIns="0" rIns="0" bIns="0" rtlCol="0" anchor="t"/>
          <a:lstStyle/>
          <a:p>
            <a:pPr indent="0" marL="0">
              <a:buNone/>
            </a:pPr>
            <a:r>
              <a:rPr lang="en-US" sz="1700" dirty="0">
                <a:solidFill>
                  <a:srgbClr val="FFFFFF"/>
                </a:solidFill>
                <a:latin typeface="Roboto" pitchFamily="34" charset="0"/>
                <a:ea typeface="Roboto" pitchFamily="34" charset="-122"/>
                <a:cs typeface="Roboto" pitchFamily="34" charset="-120"/>
              </a:rPr>
              <a:t>Les originals, fetes en el moment dels fets. Una tauleta cuneïforme de fa 4.000 anys, una espasa romana, una carta escrita per una dona romana fa uns 1.900 anys o una foto de la Guerra Civil.</a:t>
            </a:r>
            <a:endParaRPr lang="en-US" sz="1700" dirty="0"/>
          </a:p>
        </p:txBody>
      </p:sp>
      <p:sp>
        <p:nvSpPr>
          <p:cNvPr id="11" name="Targeta Fonts secundàries"/>
          <p:cNvSpPr/>
          <p:nvPr/>
        </p:nvSpPr>
        <p:spPr>
          <a:xfrm>
            <a:off x="6233008" y="2103120"/>
            <a:ext cx="5410048" cy="2697480"/>
          </a:xfrm>
          <a:prstGeom prst="roundRect">
            <a:avLst>
              <a:gd name="adj" fmla="val 3729"/>
            </a:avLst>
          </a:prstGeom>
          <a:solidFill>
            <a:srgbClr val="FFFFFF"/>
          </a:solidFill>
          <a:ln w="12700">
            <a:solidFill>
              <a:srgbClr val="DADCE0"/>
            </a:solidFill>
            <a:prstDash val="solid"/>
          </a:ln>
        </p:spPr>
      </p:sp>
      <p:sp>
        <p:nvSpPr>
          <p:cNvPr id="12" name="Cercle icona"/>
          <p:cNvSpPr/>
          <p:nvPr/>
        </p:nvSpPr>
        <p:spPr>
          <a:xfrm>
            <a:off x="6461608" y="2331720"/>
            <a:ext cx="640080" cy="640080"/>
          </a:xfrm>
          <a:prstGeom prst="ellipse">
            <a:avLst/>
          </a:prstGeom>
          <a:solidFill>
            <a:srgbClr val="E6F4EA"/>
          </a:solidFill>
          <a:ln/>
        </p:spPr>
      </p:sp>
      <p:pic>
        <p:nvPicPr>
          <p:cNvPr id="13" name="Icona TbBook" descr="/home/claude/p857/build/img/ic/TbBook-g.png">    </p:cNvPr>
          <p:cNvPicPr>
            <a:picLocks noChangeAspect="1"/>
          </p:cNvPicPr>
          <p:nvPr/>
        </p:nvPicPr>
        <p:blipFill>
          <a:blip r:embed="rId2"/>
          <a:stretch>
            <a:fillRect/>
          </a:stretch>
        </p:blipFill>
        <p:spPr>
          <a:xfrm>
            <a:off x="6602425" y="2472538"/>
            <a:ext cx="358445" cy="358445"/>
          </a:xfrm>
          <a:prstGeom prst="rect">
            <a:avLst/>
          </a:prstGeom>
        </p:spPr>
      </p:pic>
      <p:sp>
        <p:nvSpPr>
          <p:cNvPr id="14" name="Text 10"/>
          <p:cNvSpPr txBox="1"/>
          <p:nvPr/>
        </p:nvSpPr>
        <p:spPr>
          <a:xfrm>
            <a:off x="7238848" y="2331720"/>
            <a:ext cx="4175608" cy="640080"/>
          </a:xfrm>
          <a:prstGeom prst="rect">
            <a:avLst/>
          </a:prstGeom>
          <a:noFill/>
          <a:ln/>
        </p:spPr>
        <p:txBody>
          <a:bodyPr wrap="square" lIns="0" tIns="0" rIns="0" bIns="0" rtlCol="0" anchor="ctr"/>
          <a:lstStyle/>
          <a:p>
            <a:pPr indent="0" marL="0">
              <a:buNone/>
            </a:pPr>
            <a:r>
              <a:rPr lang="en-US" sz="2100" b="1" dirty="0">
                <a:solidFill>
                  <a:srgbClr val="188038"/>
                </a:solidFill>
                <a:latin typeface="Roboto" pitchFamily="34" charset="0"/>
                <a:ea typeface="Roboto" pitchFamily="34" charset="-122"/>
                <a:cs typeface="Roboto" pitchFamily="34" charset="-120"/>
              </a:rPr>
              <a:t>Fonts secundàries</a:t>
            </a:r>
            <a:endParaRPr lang="en-US" sz="2100" dirty="0"/>
          </a:p>
        </p:txBody>
      </p:sp>
      <p:sp>
        <p:nvSpPr>
          <p:cNvPr id="15" name="Text 11"/>
          <p:cNvSpPr txBox="1"/>
          <p:nvPr/>
        </p:nvSpPr>
        <p:spPr>
          <a:xfrm>
            <a:off x="6461608" y="3108960"/>
            <a:ext cx="4952848" cy="1554480"/>
          </a:xfrm>
          <a:prstGeom prst="rect">
            <a:avLst/>
          </a:prstGeom>
          <a:noFill/>
          <a:ln/>
        </p:spPr>
        <p:txBody>
          <a:bodyPr wrap="square" lIns="0" tIns="0" rIns="0" bIns="0" rtlCol="0" anchor="t"/>
          <a:lstStyle/>
          <a:p>
            <a:pPr indent="0" marL="0">
              <a:buNone/>
            </a:pPr>
            <a:r>
              <a:rPr lang="en-US" sz="1700" dirty="0">
                <a:solidFill>
                  <a:srgbClr val="202124"/>
                </a:solidFill>
                <a:latin typeface="Roboto" pitchFamily="34" charset="0"/>
                <a:ea typeface="Roboto" pitchFamily="34" charset="-122"/>
                <a:cs typeface="Roboto" pitchFamily="34" charset="-120"/>
              </a:rPr>
              <a:t>Les que algú ha escrit després explicant els fets. El teu llibre de text, una pel·lícula històrica o una conferència sobre la Revolució Francesa.</a:t>
            </a:r>
            <a:endParaRPr lang="en-US" sz="1700" dirty="0"/>
          </a:p>
        </p:txBody>
      </p:sp>
      <p:sp>
        <p:nvSpPr>
          <p:cNvPr id="16" name="Paraula clau · Font primària"/>
          <p:cNvSpPr/>
          <p:nvPr/>
        </p:nvSpPr>
        <p:spPr>
          <a:xfrm>
            <a:off x="548640" y="5029200"/>
            <a:ext cx="11094415" cy="960120"/>
          </a:xfrm>
          <a:prstGeom prst="roundRect">
            <a:avLst>
              <a:gd name="adj" fmla="val 10476"/>
            </a:avLst>
          </a:prstGeom>
          <a:solidFill>
            <a:srgbClr val="E6F4EA"/>
          </a:solidFill>
          <a:ln/>
        </p:spPr>
      </p:sp>
      <p:sp>
        <p:nvSpPr>
          <p:cNvPr id="17" name="Text 13"/>
          <p:cNvSpPr txBox="1"/>
          <p:nvPr/>
        </p:nvSpPr>
        <p:spPr>
          <a:xfrm>
            <a:off x="868680" y="5184648"/>
            <a:ext cx="10454335" cy="320040"/>
          </a:xfrm>
          <a:prstGeom prst="rect">
            <a:avLst/>
          </a:prstGeom>
          <a:noFill/>
          <a:ln/>
        </p:spPr>
        <p:txBody>
          <a:bodyPr wrap="square" lIns="0" tIns="0" rIns="0" bIns="0" rtlCol="0" anchor="t"/>
          <a:lstStyle/>
          <a:p>
            <a:pPr indent="0" marL="0">
              <a:buNone/>
            </a:pPr>
            <a:r>
              <a:rPr lang="en-US" sz="1400" b="1" dirty="0">
                <a:solidFill>
                  <a:srgbClr val="188038"/>
                </a:solidFill>
                <a:latin typeface="Roboto" pitchFamily="34" charset="0"/>
                <a:ea typeface="Roboto" pitchFamily="34" charset="-122"/>
                <a:cs typeface="Roboto" pitchFamily="34" charset="-120"/>
              </a:rPr>
              <a:t>Paraula clau · Font primària</a:t>
            </a:r>
            <a:endParaRPr lang="en-US" sz="1400" dirty="0"/>
          </a:p>
        </p:txBody>
      </p:sp>
      <p:sp>
        <p:nvSpPr>
          <p:cNvPr id="18" name="Text 14"/>
          <p:cNvSpPr txBox="1"/>
          <p:nvPr/>
        </p:nvSpPr>
        <p:spPr>
          <a:xfrm>
            <a:off x="868680" y="5532120"/>
            <a:ext cx="10454335" cy="320040"/>
          </a:xfrm>
          <a:prstGeom prst="rect">
            <a:avLst/>
          </a:prstGeom>
          <a:noFill/>
          <a:ln/>
        </p:spPr>
        <p:txBody>
          <a:bodyPr wrap="square" lIns="0" tIns="0" rIns="0" bIns="0" rtlCol="0" anchor="t"/>
          <a:lstStyle/>
          <a:p>
            <a:pPr indent="0" marL="0">
              <a:buNone/>
            </a:pPr>
            <a:r>
              <a:rPr lang="en-US" sz="1650" dirty="0">
                <a:solidFill>
                  <a:srgbClr val="202124"/>
                </a:solidFill>
                <a:latin typeface="Roboto" pitchFamily="34" charset="0"/>
                <a:ea typeface="Roboto" pitchFamily="34" charset="-122"/>
                <a:cs typeface="Roboto" pitchFamily="34" charset="-120"/>
              </a:rPr>
              <a:t>Font feta en el moment dels fets que estudiem, com una carta, una eina o una fotografia d'aquella època.</a:t>
            </a:r>
            <a:endParaRPr lang="en-US" sz="16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6</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La pedra de Rosetta</a:t>
            </a:r>
            <a:endParaRPr lang="en-US" sz="2800" dirty="0"/>
          </a:p>
        </p:txBody>
      </p:sp>
      <p:sp>
        <p:nvSpPr>
          <p:cNvPr id="5" name="Fons La pedra de Rosetta"/>
          <p:cNvSpPr/>
          <p:nvPr/>
        </p:nvSpPr>
        <p:spPr>
          <a:xfrm>
            <a:off x="548640" y="1371600"/>
            <a:ext cx="4023360" cy="4251960"/>
          </a:xfrm>
          <a:prstGeom prst="roundRect">
            <a:avLst>
              <a:gd name="adj" fmla="val 2500"/>
            </a:avLst>
          </a:prstGeom>
          <a:solidFill>
            <a:srgbClr val="F6F8FB"/>
          </a:solidFill>
          <a:ln/>
        </p:spPr>
      </p:sp>
      <p:pic>
        <p:nvPicPr>
          <p:cNvPr id="6" name="La pedra de Rosetta" descr="/home/claude/p857/build/img/rosetta.jpg">    </p:cNvPr>
          <p:cNvPicPr>
            <a:picLocks noChangeAspect="1"/>
          </p:cNvPicPr>
          <p:nvPr/>
        </p:nvPicPr>
        <p:blipFill>
          <a:blip r:embed="rId1"/>
          <a:stretch>
            <a:fillRect/>
          </a:stretch>
        </p:blipFill>
        <p:spPr>
          <a:xfrm>
            <a:off x="742607" y="1371600"/>
            <a:ext cx="3635426" cy="4251960"/>
          </a:xfrm>
          <a:prstGeom prst="rect">
            <a:avLst/>
          </a:prstGeom>
        </p:spPr>
      </p:pic>
      <p:sp>
        <p:nvSpPr>
          <p:cNvPr id="7" name="Text 4"/>
          <p:cNvSpPr txBox="1"/>
          <p:nvPr/>
        </p:nvSpPr>
        <p:spPr>
          <a:xfrm>
            <a:off x="548640" y="5696712"/>
            <a:ext cx="4023360" cy="320040"/>
          </a:xfrm>
          <a:prstGeom prst="rect">
            <a:avLst/>
          </a:prstGeom>
          <a:noFill/>
          <a:ln/>
        </p:spPr>
        <p:txBody>
          <a:bodyPr wrap="square" lIns="0" tIns="0" rIns="0" bIns="0" rtlCol="0" anchor="t"/>
          <a:lstStyle/>
          <a:p>
            <a:pPr indent="0" marL="0">
              <a:buNone/>
            </a:pPr>
            <a:r>
              <a:rPr lang="en-US" sz="1000" dirty="0">
                <a:solidFill>
                  <a:srgbClr val="5F6368"/>
                </a:solidFill>
                <a:latin typeface="Roboto" pitchFamily="34" charset="0"/>
                <a:ea typeface="Roboto" pitchFamily="34" charset="-122"/>
                <a:cs typeface="Roboto" pitchFamily="34" charset="-120"/>
              </a:rPr>
              <a:t>La pedra de Rosetta. Museu Britànic, Londres. Foto: Hans Hillewaert, Wikimedia Commons, CC BY-SA 4.0.</a:t>
            </a:r>
            <a:endParaRPr lang="en-US" sz="1000" dirty="0"/>
          </a:p>
        </p:txBody>
      </p:sp>
      <p:sp>
        <p:nvSpPr>
          <p:cNvPr id="8" name="Cercle icona"/>
          <p:cNvSpPr/>
          <p:nvPr/>
        </p:nvSpPr>
        <p:spPr>
          <a:xfrm>
            <a:off x="4892040" y="1508760"/>
            <a:ext cx="548640" cy="548640"/>
          </a:xfrm>
          <a:prstGeom prst="ellipse">
            <a:avLst/>
          </a:prstGeom>
          <a:solidFill>
            <a:srgbClr val="E6F4EA"/>
          </a:solidFill>
          <a:ln/>
        </p:spPr>
      </p:sp>
      <p:pic>
        <p:nvPicPr>
          <p:cNvPr id="9" name="Icona TbCalendar" descr="/home/claude/p857/build/img/ic/TbCalendar-g.png">    </p:cNvPr>
          <p:cNvPicPr>
            <a:picLocks noChangeAspect="1"/>
          </p:cNvPicPr>
          <p:nvPr/>
        </p:nvPicPr>
        <p:blipFill>
          <a:blip r:embed="rId2"/>
          <a:stretch>
            <a:fillRect/>
          </a:stretch>
        </p:blipFill>
        <p:spPr>
          <a:xfrm>
            <a:off x="5012741" y="1629461"/>
            <a:ext cx="307238" cy="307238"/>
          </a:xfrm>
          <a:prstGeom prst="rect">
            <a:avLst/>
          </a:prstGeom>
        </p:spPr>
      </p:pic>
      <p:sp>
        <p:nvSpPr>
          <p:cNvPr id="10" name="Text 6"/>
          <p:cNvSpPr txBox="1"/>
          <p:nvPr/>
        </p:nvSpPr>
        <p:spPr>
          <a:xfrm>
            <a:off x="5641848" y="1371600"/>
            <a:ext cx="6001207" cy="932688"/>
          </a:xfrm>
          <a:prstGeom prst="rect">
            <a:avLst/>
          </a:prstGeom>
          <a:noFill/>
          <a:ln/>
        </p:spPr>
        <p:txBody>
          <a:bodyPr wrap="square" lIns="0" tIns="0" rIns="0" bIns="0" rtlCol="0" anchor="ctr"/>
          <a:lstStyle/>
          <a:p>
            <a:pPr indent="0" marL="0">
              <a:buNone/>
            </a:pPr>
            <a:r>
              <a:rPr lang="en-US" sz="1800" b="1" dirty="0">
                <a:solidFill>
                  <a:srgbClr val="202124"/>
                </a:solidFill>
                <a:latin typeface="Roboto" pitchFamily="34" charset="0"/>
                <a:ea typeface="Roboto" pitchFamily="34" charset="-122"/>
                <a:cs typeface="Roboto" pitchFamily="34" charset="-120"/>
              </a:rPr>
              <a:t>196 aC. </a:t>
            </a:r>
            <a:pPr indent="0" marL="0">
              <a:buNone/>
            </a:pPr>
            <a:r>
              <a:rPr lang="en-US" sz="1800" dirty="0">
                <a:solidFill>
                  <a:srgbClr val="202124"/>
                </a:solidFill>
                <a:latin typeface="Roboto" pitchFamily="34" charset="0"/>
                <a:ea typeface="Roboto" pitchFamily="34" charset="-122"/>
                <a:cs typeface="Roboto" pitchFamily="34" charset="-120"/>
              </a:rPr>
              <a:t>Un mateix decret escrit en jeroglífics, en escriptura demòtica i en grec.</a:t>
            </a:r>
            <a:endParaRPr lang="en-US" sz="1800" dirty="0"/>
          </a:p>
        </p:txBody>
      </p:sp>
      <p:sp>
        <p:nvSpPr>
          <p:cNvPr id="11" name="Cercle icona"/>
          <p:cNvSpPr/>
          <p:nvPr/>
        </p:nvSpPr>
        <p:spPr>
          <a:xfrm>
            <a:off x="4892040" y="2532888"/>
            <a:ext cx="548640" cy="548640"/>
          </a:xfrm>
          <a:prstGeom prst="ellipse">
            <a:avLst/>
          </a:prstGeom>
          <a:solidFill>
            <a:srgbClr val="E6F4EA"/>
          </a:solidFill>
          <a:ln/>
        </p:spPr>
      </p:sp>
      <p:pic>
        <p:nvPicPr>
          <p:cNvPr id="12" name="Icona TbMapPin" descr="/home/claude/p857/build/img/ic/TbMapPin-g.png">    </p:cNvPr>
          <p:cNvPicPr>
            <a:picLocks noChangeAspect="1"/>
          </p:cNvPicPr>
          <p:nvPr/>
        </p:nvPicPr>
        <p:blipFill>
          <a:blip r:embed="rId3"/>
          <a:stretch>
            <a:fillRect/>
          </a:stretch>
        </p:blipFill>
        <p:spPr>
          <a:xfrm>
            <a:off x="5012741" y="2653589"/>
            <a:ext cx="307238" cy="307238"/>
          </a:xfrm>
          <a:prstGeom prst="rect">
            <a:avLst/>
          </a:prstGeom>
        </p:spPr>
      </p:pic>
      <p:sp>
        <p:nvSpPr>
          <p:cNvPr id="13" name="Text 8"/>
          <p:cNvSpPr txBox="1"/>
          <p:nvPr/>
        </p:nvSpPr>
        <p:spPr>
          <a:xfrm>
            <a:off x="5641848" y="2395728"/>
            <a:ext cx="6001207" cy="932688"/>
          </a:xfrm>
          <a:prstGeom prst="rect">
            <a:avLst/>
          </a:prstGeom>
          <a:noFill/>
          <a:ln/>
        </p:spPr>
        <p:txBody>
          <a:bodyPr wrap="square" lIns="0" tIns="0" rIns="0" bIns="0" rtlCol="0" anchor="ctr"/>
          <a:lstStyle/>
          <a:p>
            <a:pPr indent="0" marL="0">
              <a:buNone/>
            </a:pPr>
            <a:r>
              <a:rPr lang="en-US" sz="1800" b="1" dirty="0">
                <a:solidFill>
                  <a:srgbClr val="202124"/>
                </a:solidFill>
                <a:latin typeface="Roboto" pitchFamily="34" charset="0"/>
                <a:ea typeface="Roboto" pitchFamily="34" charset="-122"/>
                <a:cs typeface="Roboto" pitchFamily="34" charset="-120"/>
              </a:rPr>
              <a:t>Es va trobar a Egipte </a:t>
            </a:r>
            <a:pPr indent="0" marL="0">
              <a:buNone/>
            </a:pPr>
            <a:r>
              <a:rPr lang="en-US" sz="1800" dirty="0">
                <a:solidFill>
                  <a:srgbClr val="202124"/>
                </a:solidFill>
                <a:latin typeface="Roboto" pitchFamily="34" charset="0"/>
                <a:ea typeface="Roboto" pitchFamily="34" charset="-122"/>
                <a:cs typeface="Roboto" pitchFamily="34" charset="-120"/>
              </a:rPr>
              <a:t>el 1799.</a:t>
            </a:r>
            <a:endParaRPr lang="en-US" sz="1800" dirty="0"/>
          </a:p>
        </p:txBody>
      </p:sp>
      <p:sp>
        <p:nvSpPr>
          <p:cNvPr id="14" name="Cercle icona"/>
          <p:cNvSpPr/>
          <p:nvPr/>
        </p:nvSpPr>
        <p:spPr>
          <a:xfrm>
            <a:off x="4892040" y="3557016"/>
            <a:ext cx="548640" cy="548640"/>
          </a:xfrm>
          <a:prstGeom prst="ellipse">
            <a:avLst/>
          </a:prstGeom>
          <a:solidFill>
            <a:srgbClr val="E6F4EA"/>
          </a:solidFill>
          <a:ln/>
        </p:spPr>
      </p:sp>
      <p:pic>
        <p:nvPicPr>
          <p:cNvPr id="15" name="Icona TbKey" descr="/home/claude/p857/build/img/ic/TbKey-g.png">    </p:cNvPr>
          <p:cNvPicPr>
            <a:picLocks noChangeAspect="1"/>
          </p:cNvPicPr>
          <p:nvPr/>
        </p:nvPicPr>
        <p:blipFill>
          <a:blip r:embed="rId4"/>
          <a:stretch>
            <a:fillRect/>
          </a:stretch>
        </p:blipFill>
        <p:spPr>
          <a:xfrm>
            <a:off x="5012741" y="3677717"/>
            <a:ext cx="307238" cy="307238"/>
          </a:xfrm>
          <a:prstGeom prst="rect">
            <a:avLst/>
          </a:prstGeom>
        </p:spPr>
      </p:pic>
      <p:sp>
        <p:nvSpPr>
          <p:cNvPr id="16" name="Text 10"/>
          <p:cNvSpPr txBox="1"/>
          <p:nvPr/>
        </p:nvSpPr>
        <p:spPr>
          <a:xfrm>
            <a:off x="5641848" y="3419856"/>
            <a:ext cx="6001207" cy="932688"/>
          </a:xfrm>
          <a:prstGeom prst="rect">
            <a:avLst/>
          </a:prstGeom>
          <a:noFill/>
          <a:ln/>
        </p:spPr>
        <p:txBody>
          <a:bodyPr wrap="square" lIns="0" tIns="0" rIns="0" bIns="0" rtlCol="0" anchor="ctr"/>
          <a:lstStyle/>
          <a:p>
            <a:pPr indent="0" marL="0">
              <a:buNone/>
            </a:pPr>
            <a:r>
              <a:rPr lang="en-US" sz="1800" b="1" dirty="0">
                <a:solidFill>
                  <a:srgbClr val="202124"/>
                </a:solidFill>
                <a:latin typeface="Roboto" pitchFamily="34" charset="0"/>
                <a:ea typeface="Roboto" pitchFamily="34" charset="-122"/>
                <a:cs typeface="Roboto" pitchFamily="34" charset="-120"/>
              </a:rPr>
              <a:t>Gràcies al text grec, </a:t>
            </a:r>
            <a:pPr indent="0" marL="0">
              <a:buNone/>
            </a:pPr>
            <a:r>
              <a:rPr lang="en-US" sz="1800" dirty="0">
                <a:solidFill>
                  <a:srgbClr val="202124"/>
                </a:solidFill>
                <a:latin typeface="Roboto" pitchFamily="34" charset="0"/>
                <a:ea typeface="Roboto" pitchFamily="34" charset="-122"/>
                <a:cs typeface="Roboto" pitchFamily="34" charset="-120"/>
              </a:rPr>
              <a:t>Champollion va poder desxifrar els jeroglífics el 1822.</a:t>
            </a:r>
            <a:endParaRPr lang="en-US" sz="1800" dirty="0"/>
          </a:p>
        </p:txBody>
      </p:sp>
      <p:sp>
        <p:nvSpPr>
          <p:cNvPr id="17" name="Font primària escrita"/>
          <p:cNvSpPr/>
          <p:nvPr/>
        </p:nvSpPr>
        <p:spPr>
          <a:xfrm>
            <a:off x="4892040" y="4617720"/>
            <a:ext cx="6751015" cy="1371600"/>
          </a:xfrm>
          <a:prstGeom prst="roundRect">
            <a:avLst>
              <a:gd name="adj" fmla="val 7333"/>
            </a:avLst>
          </a:prstGeom>
          <a:solidFill>
            <a:srgbClr val="188038"/>
          </a:solidFill>
          <a:ln/>
        </p:spPr>
      </p:sp>
      <p:sp>
        <p:nvSpPr>
          <p:cNvPr id="18" name="Text 12"/>
          <p:cNvSpPr txBox="1"/>
          <p:nvPr/>
        </p:nvSpPr>
        <p:spPr>
          <a:xfrm>
            <a:off x="5212080" y="4617720"/>
            <a:ext cx="6110935" cy="1371600"/>
          </a:xfrm>
          <a:prstGeom prst="rect">
            <a:avLst/>
          </a:prstGeom>
          <a:noFill/>
          <a:ln/>
        </p:spPr>
        <p:txBody>
          <a:bodyPr wrap="square" lIns="0" tIns="0" rIns="0" bIns="0" rtlCol="0" anchor="ctr"/>
          <a:lstStyle/>
          <a:p>
            <a:pPr indent="0" marL="0">
              <a:buNone/>
            </a:pPr>
            <a:r>
              <a:rPr lang="en-US" sz="2100" b="1" dirty="0">
                <a:solidFill>
                  <a:srgbClr val="FFFFFF"/>
                </a:solidFill>
                <a:latin typeface="Roboto" pitchFamily="34" charset="0"/>
                <a:ea typeface="Roboto" pitchFamily="34" charset="-122"/>
                <a:cs typeface="Roboto" pitchFamily="34" charset="-120"/>
              </a:rPr>
              <a:t>És una font primària escrita</a:t>
            </a:r>
            <a:endParaRPr lang="en-US" sz="2100" dirty="0"/>
          </a:p>
          <a:p>
            <a:pPr indent="0" marL="0">
              <a:buNone/>
            </a:pPr>
            <a:r>
              <a:rPr lang="en-US" sz="1650" dirty="0">
                <a:solidFill>
                  <a:srgbClr val="FFFFFF"/>
                </a:solidFill>
                <a:latin typeface="Roboto" pitchFamily="34" charset="0"/>
                <a:ea typeface="Roboto" pitchFamily="34" charset="-122"/>
                <a:cs typeface="Roboto" pitchFamily="34" charset="-120"/>
              </a:rPr>
              <a:t>Es va fer el 196 aC, en el moment dels fets.</a:t>
            </a:r>
            <a:endParaRPr lang="en-US" sz="2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6</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Font directa. Una invitació d'aniversari romana</a:t>
            </a:r>
            <a:endParaRPr lang="en-US" sz="2800" dirty="0"/>
          </a:p>
        </p:txBody>
      </p:sp>
      <p:sp>
        <p:nvSpPr>
          <p:cNvPr id="5" name="Fons Tauleta de Vindolanda 291 (cap al 100 dC)"/>
          <p:cNvSpPr/>
          <p:nvPr/>
        </p:nvSpPr>
        <p:spPr>
          <a:xfrm>
            <a:off x="548640" y="1371600"/>
            <a:ext cx="4846320" cy="2103120"/>
          </a:xfrm>
          <a:prstGeom prst="roundRect">
            <a:avLst>
              <a:gd name="adj" fmla="val 4783"/>
            </a:avLst>
          </a:prstGeom>
          <a:solidFill>
            <a:srgbClr val="F6F8FB"/>
          </a:solidFill>
          <a:ln/>
        </p:spPr>
      </p:sp>
      <p:pic>
        <p:nvPicPr>
          <p:cNvPr id="6" name="Tauleta de Vindolanda 291 (cap al 100 dC)" descr="/home/claude/p857/build/img/vindolanda.jpg">    </p:cNvPr>
          <p:cNvPicPr>
            <a:picLocks noChangeAspect="1"/>
          </p:cNvPicPr>
          <p:nvPr/>
        </p:nvPicPr>
        <p:blipFill>
          <a:blip r:embed="rId1"/>
          <a:stretch>
            <a:fillRect/>
          </a:stretch>
        </p:blipFill>
        <p:spPr>
          <a:xfrm>
            <a:off x="550057" y="1371600"/>
            <a:ext cx="4843485" cy="2103120"/>
          </a:xfrm>
          <a:prstGeom prst="rect">
            <a:avLst/>
          </a:prstGeom>
        </p:spPr>
      </p:pic>
      <p:sp>
        <p:nvSpPr>
          <p:cNvPr id="7" name="Text 4"/>
          <p:cNvSpPr txBox="1"/>
          <p:nvPr/>
        </p:nvSpPr>
        <p:spPr>
          <a:xfrm>
            <a:off x="548640" y="3547872"/>
            <a:ext cx="4846320" cy="640080"/>
          </a:xfrm>
          <a:prstGeom prst="rect">
            <a:avLst/>
          </a:prstGeom>
          <a:noFill/>
          <a:ln/>
        </p:spPr>
        <p:txBody>
          <a:bodyPr wrap="square" lIns="0" tIns="0" rIns="0" bIns="0" rtlCol="0" anchor="t"/>
          <a:lstStyle/>
          <a:p>
            <a:pPr indent="0" marL="0">
              <a:buNone/>
            </a:pPr>
            <a:r>
              <a:rPr lang="en-US" sz="1000" dirty="0">
                <a:solidFill>
                  <a:srgbClr val="5F6368"/>
                </a:solidFill>
                <a:latin typeface="Roboto" pitchFamily="34" charset="0"/>
                <a:ea typeface="Roboto" pitchFamily="34" charset="-122"/>
                <a:cs typeface="Roboto" pitchFamily="34" charset="-120"/>
              </a:rPr>
              <a:t>Tauleta de Vindolanda 291 (cap al 100 dC). Tinta sobre una làmina de fusta. Mesura uns 22 cm. Museu Britànic, Londres. Foto: Fæ, Wikimedia Commons, CC BY-SA 3.0.</a:t>
            </a:r>
            <a:endParaRPr lang="en-US" sz="1000" dirty="0"/>
          </a:p>
        </p:txBody>
      </p:sp>
      <p:sp>
        <p:nvSpPr>
          <p:cNvPr id="8" name="Pensa-hi"/>
          <p:cNvSpPr/>
          <p:nvPr/>
        </p:nvSpPr>
        <p:spPr>
          <a:xfrm>
            <a:off x="548640" y="4343400"/>
            <a:ext cx="4846320" cy="1645920"/>
          </a:xfrm>
          <a:prstGeom prst="roundRect">
            <a:avLst>
              <a:gd name="adj" fmla="val 6111"/>
            </a:avLst>
          </a:prstGeom>
          <a:solidFill>
            <a:srgbClr val="F6F8FB"/>
          </a:solidFill>
          <a:ln/>
        </p:spPr>
      </p:sp>
      <p:sp>
        <p:nvSpPr>
          <p:cNvPr id="9" name="Text 6"/>
          <p:cNvSpPr txBox="1"/>
          <p:nvPr/>
        </p:nvSpPr>
        <p:spPr>
          <a:xfrm>
            <a:off x="868680" y="4498848"/>
            <a:ext cx="4206240" cy="320040"/>
          </a:xfrm>
          <a:prstGeom prst="rect">
            <a:avLst/>
          </a:prstGeom>
          <a:noFill/>
          <a:ln/>
        </p:spPr>
        <p:txBody>
          <a:bodyPr wrap="square" lIns="0" tIns="0" rIns="0" bIns="0" rtlCol="0" anchor="t"/>
          <a:lstStyle/>
          <a:p>
            <a:pPr indent="0" marL="0">
              <a:buNone/>
            </a:pPr>
            <a:r>
              <a:rPr lang="en-US" sz="1400" b="1" dirty="0">
                <a:solidFill>
                  <a:srgbClr val="202124"/>
                </a:solidFill>
                <a:latin typeface="Roboto" pitchFamily="34" charset="0"/>
                <a:ea typeface="Roboto" pitchFamily="34" charset="-122"/>
                <a:cs typeface="Roboto" pitchFamily="34" charset="-120"/>
              </a:rPr>
              <a:t>Pensa-hi</a:t>
            </a:r>
            <a:endParaRPr lang="en-US" sz="1400" dirty="0"/>
          </a:p>
        </p:txBody>
      </p:sp>
      <p:sp>
        <p:nvSpPr>
          <p:cNvPr id="10" name="Text 7"/>
          <p:cNvSpPr txBox="1"/>
          <p:nvPr/>
        </p:nvSpPr>
        <p:spPr>
          <a:xfrm>
            <a:off x="868680" y="4846320"/>
            <a:ext cx="4206240" cy="1005840"/>
          </a:xfrm>
          <a:prstGeom prst="rect">
            <a:avLst/>
          </a:prstGeom>
          <a:noFill/>
          <a:ln/>
        </p:spPr>
        <p:txBody>
          <a:bodyPr wrap="square" lIns="0" tIns="0" rIns="0" bIns="0" rtlCol="0" anchor="t"/>
          <a:lstStyle/>
          <a:p>
            <a:pPr indent="0" marL="0">
              <a:buNone/>
            </a:pPr>
            <a:r>
              <a:rPr lang="en-US" sz="1700" dirty="0">
                <a:solidFill>
                  <a:srgbClr val="5F6368"/>
                </a:solidFill>
                <a:latin typeface="Roboto" pitchFamily="34" charset="0"/>
                <a:ea typeface="Roboto" pitchFamily="34" charset="-122"/>
                <a:cs typeface="Roboto" pitchFamily="34" charset="-120"/>
              </a:rPr>
              <a:t>Què ens diu aquesta carta de la vida quotidiana dels romans?</a:t>
            </a:r>
            <a:endParaRPr lang="en-US" sz="1700" dirty="0"/>
          </a:p>
        </p:txBody>
      </p:sp>
      <p:sp>
        <p:nvSpPr>
          <p:cNvPr id="11" name="Font directa"/>
          <p:cNvSpPr/>
          <p:nvPr/>
        </p:nvSpPr>
        <p:spPr>
          <a:xfrm>
            <a:off x="5715000" y="1371600"/>
            <a:ext cx="5928055" cy="4617720"/>
          </a:xfrm>
          <a:prstGeom prst="roundRect">
            <a:avLst>
              <a:gd name="adj" fmla="val 2178"/>
            </a:avLst>
          </a:prstGeom>
          <a:solidFill>
            <a:srgbClr val="F6F8FB"/>
          </a:solidFill>
          <a:ln/>
        </p:spPr>
      </p:sp>
      <p:sp>
        <p:nvSpPr>
          <p:cNvPr id="12" name="Text 9"/>
          <p:cNvSpPr txBox="1"/>
          <p:nvPr/>
        </p:nvSpPr>
        <p:spPr>
          <a:xfrm>
            <a:off x="6035040" y="1536192"/>
            <a:ext cx="5287975" cy="320040"/>
          </a:xfrm>
          <a:prstGeom prst="rect">
            <a:avLst/>
          </a:prstGeom>
          <a:noFill/>
          <a:ln/>
        </p:spPr>
        <p:txBody>
          <a:bodyPr wrap="square" lIns="0" tIns="0" rIns="0" bIns="0" rtlCol="0" anchor="t"/>
          <a:lstStyle/>
          <a:p>
            <a:pPr indent="0" marL="0">
              <a:buNone/>
            </a:pPr>
            <a:r>
              <a:rPr lang="en-US" sz="1400" b="1" dirty="0">
                <a:solidFill>
                  <a:srgbClr val="202124"/>
                </a:solidFill>
                <a:latin typeface="Roboto" pitchFamily="34" charset="0"/>
                <a:ea typeface="Roboto" pitchFamily="34" charset="-122"/>
                <a:cs typeface="Roboto" pitchFamily="34" charset="-120"/>
              </a:rPr>
              <a:t>Font directa · Clàudia Severa escriu a Lepidina</a:t>
            </a:r>
            <a:endParaRPr lang="en-US" sz="1400" dirty="0"/>
          </a:p>
        </p:txBody>
      </p:sp>
      <p:sp>
        <p:nvSpPr>
          <p:cNvPr id="13" name="Text 10"/>
          <p:cNvSpPr txBox="1"/>
          <p:nvPr/>
        </p:nvSpPr>
        <p:spPr>
          <a:xfrm>
            <a:off x="6035040" y="1938528"/>
            <a:ext cx="5287975" cy="3017520"/>
          </a:xfrm>
          <a:prstGeom prst="rect">
            <a:avLst/>
          </a:prstGeom>
          <a:noFill/>
          <a:ln/>
        </p:spPr>
        <p:txBody>
          <a:bodyPr wrap="square" lIns="0" tIns="0" rIns="0" bIns="0" rtlCol="0" anchor="t"/>
          <a:lstStyle/>
          <a:p>
            <a:pPr indent="0" marL="0">
              <a:buNone/>
            </a:pPr>
            <a:r>
              <a:rPr lang="en-US" sz="1800" i="1" dirty="0">
                <a:solidFill>
                  <a:srgbClr val="202124"/>
                </a:solidFill>
                <a:latin typeface="Roboto" pitchFamily="34" charset="0"/>
                <a:ea typeface="Roboto" pitchFamily="34" charset="-122"/>
                <a:cs typeface="Roboto" pitchFamily="34" charset="-120"/>
              </a:rPr>
              <a:t>«Clàudia Severa a la seva Lepidina, salut. Germana, per a l'11 de setembre, el dia de la festa del meu aniversari, et demano de tot cor que vinguis a casa nostra. Si vens, faràs que el dia sigui més alegre per a mi. Saluda el teu Cerial. El meu Eli i el meu fillet també el saluden. [Amb una altra lletra] T'esperaré, germana. Adeu, germana, ànima meva estimadíssima.»</a:t>
            </a:r>
            <a:endParaRPr lang="en-US" sz="1800" dirty="0"/>
          </a:p>
        </p:txBody>
      </p:sp>
      <p:sp>
        <p:nvSpPr>
          <p:cNvPr id="14" name="Text 11"/>
          <p:cNvSpPr txBox="1"/>
          <p:nvPr/>
        </p:nvSpPr>
        <p:spPr>
          <a:xfrm>
            <a:off x="6035040" y="5029200"/>
            <a:ext cx="5287975" cy="822960"/>
          </a:xfrm>
          <a:prstGeom prst="rect">
            <a:avLst/>
          </a:prstGeom>
          <a:noFill/>
          <a:ln/>
        </p:spPr>
        <p:txBody>
          <a:bodyPr wrap="square" lIns="0" tIns="0" rIns="0" bIns="0" rtlCol="0" anchor="b"/>
          <a:lstStyle/>
          <a:p>
            <a:pPr indent="0" marL="0">
              <a:buNone/>
            </a:pPr>
            <a:r>
              <a:rPr lang="en-US" sz="1250" dirty="0">
                <a:solidFill>
                  <a:srgbClr val="5F6368"/>
                </a:solidFill>
                <a:latin typeface="Roboto" pitchFamily="34" charset="0"/>
                <a:ea typeface="Roboto" pitchFamily="34" charset="-122"/>
                <a:cs typeface="Roboto" pitchFamily="34" charset="-120"/>
              </a:rPr>
              <a:t>Tauleta de Vindolanda 291, cap als anys 97-105 dC. Traducció adaptada a partir de l'edició de Roman Inscriptions of Britain. «Germana» és una manera afectuosa de dir amiga.</a:t>
            </a:r>
            <a:endParaRPr lang="en-US" sz="12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6</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Quatre tipus de fonts segons el suport</a:t>
            </a:r>
            <a:endParaRPr lang="en-US" sz="2800" dirty="0"/>
          </a:p>
        </p:txBody>
      </p:sp>
      <p:sp>
        <p:nvSpPr>
          <p:cNvPr id="5" name="Targeta Escrites"/>
          <p:cNvSpPr/>
          <p:nvPr/>
        </p:nvSpPr>
        <p:spPr>
          <a:xfrm>
            <a:off x="548640" y="1371600"/>
            <a:ext cx="2602154" cy="3337560"/>
          </a:xfrm>
          <a:prstGeom prst="roundRect">
            <a:avLst>
              <a:gd name="adj" fmla="val 3865"/>
            </a:avLst>
          </a:prstGeom>
          <a:solidFill>
            <a:srgbClr val="FFFFFF"/>
          </a:solidFill>
          <a:ln w="12700">
            <a:solidFill>
              <a:srgbClr val="DADCE0"/>
            </a:solidFill>
            <a:prstDash val="solid"/>
          </a:ln>
        </p:spPr>
      </p:sp>
      <p:sp>
        <p:nvSpPr>
          <p:cNvPr id="6" name="Cercle icona"/>
          <p:cNvSpPr/>
          <p:nvPr/>
        </p:nvSpPr>
        <p:spPr>
          <a:xfrm>
            <a:off x="777240" y="1600200"/>
            <a:ext cx="594360" cy="594360"/>
          </a:xfrm>
          <a:prstGeom prst="ellipse">
            <a:avLst/>
          </a:prstGeom>
          <a:solidFill>
            <a:srgbClr val="E6F4EA"/>
          </a:solidFill>
          <a:ln/>
        </p:spPr>
      </p:sp>
      <p:pic>
        <p:nvPicPr>
          <p:cNvPr id="7" name="Icona TbWriting" descr="/home/claude/p857/build/img/ic/TbWriting-g.png">    </p:cNvPr>
          <p:cNvPicPr>
            <a:picLocks noChangeAspect="1"/>
          </p:cNvPicPr>
          <p:nvPr/>
        </p:nvPicPr>
        <p:blipFill>
          <a:blip r:embed="rId1"/>
          <a:stretch>
            <a:fillRect/>
          </a:stretch>
        </p:blipFill>
        <p:spPr>
          <a:xfrm>
            <a:off x="907999" y="1730959"/>
            <a:ext cx="332842" cy="332842"/>
          </a:xfrm>
          <a:prstGeom prst="rect">
            <a:avLst/>
          </a:prstGeom>
        </p:spPr>
      </p:pic>
      <p:sp>
        <p:nvSpPr>
          <p:cNvPr id="8" name="Text 5"/>
          <p:cNvSpPr txBox="1"/>
          <p:nvPr/>
        </p:nvSpPr>
        <p:spPr>
          <a:xfrm>
            <a:off x="777240" y="2331720"/>
            <a:ext cx="2144954" cy="289560"/>
          </a:xfrm>
          <a:prstGeom prst="rect">
            <a:avLst/>
          </a:prstGeom>
          <a:noFill/>
          <a:ln/>
        </p:spPr>
        <p:txBody>
          <a:bodyPr wrap="square" lIns="0" tIns="0" rIns="0" bIns="0" rtlCol="0" anchor="t"/>
          <a:lstStyle/>
          <a:p>
            <a:pPr indent="0" marL="0">
              <a:buNone/>
            </a:pPr>
            <a:r>
              <a:rPr lang="en-US" sz="1900" b="1" dirty="0">
                <a:solidFill>
                  <a:srgbClr val="188038"/>
                </a:solidFill>
                <a:latin typeface="Roboto" pitchFamily="34" charset="0"/>
                <a:ea typeface="Roboto" pitchFamily="34" charset="-122"/>
                <a:cs typeface="Roboto" pitchFamily="34" charset="-120"/>
              </a:rPr>
              <a:t>Escrites</a:t>
            </a:r>
            <a:endParaRPr lang="en-US" sz="1900" dirty="0"/>
          </a:p>
        </p:txBody>
      </p:sp>
      <p:sp>
        <p:nvSpPr>
          <p:cNvPr id="9" name="Text 6"/>
          <p:cNvSpPr txBox="1"/>
          <p:nvPr/>
        </p:nvSpPr>
        <p:spPr>
          <a:xfrm>
            <a:off x="777240" y="2712720"/>
            <a:ext cx="2144954" cy="1859280"/>
          </a:xfrm>
          <a:prstGeom prst="rect">
            <a:avLst/>
          </a:prstGeom>
          <a:noFill/>
          <a:ln/>
        </p:spPr>
        <p:txBody>
          <a:bodyPr wrap="square" lIns="0" tIns="0" rIns="0" bIns="0" rtlCol="0" anchor="t"/>
          <a:lstStyle/>
          <a:p>
            <a:pPr indent="0" marL="0">
              <a:buNone/>
            </a:pPr>
            <a:r>
              <a:rPr lang="en-US" sz="1650" dirty="0">
                <a:solidFill>
                  <a:srgbClr val="202124"/>
                </a:solidFill>
                <a:latin typeface="Roboto" pitchFamily="34" charset="0"/>
                <a:ea typeface="Roboto" pitchFamily="34" charset="-122"/>
                <a:cs typeface="Roboto" pitchFamily="34" charset="-120"/>
              </a:rPr>
              <a:t>Textos de qualsevol mena. Cartes, lleis, contractes, llibres, diaris.</a:t>
            </a:r>
            <a:endParaRPr lang="en-US" sz="1650" dirty="0"/>
          </a:p>
        </p:txBody>
      </p:sp>
      <p:sp>
        <p:nvSpPr>
          <p:cNvPr id="10" name="Targeta Orals"/>
          <p:cNvSpPr/>
          <p:nvPr/>
        </p:nvSpPr>
        <p:spPr>
          <a:xfrm>
            <a:off x="3379394" y="1371600"/>
            <a:ext cx="2602154" cy="3337560"/>
          </a:xfrm>
          <a:prstGeom prst="roundRect">
            <a:avLst>
              <a:gd name="adj" fmla="val 3865"/>
            </a:avLst>
          </a:prstGeom>
          <a:solidFill>
            <a:srgbClr val="FFFFFF"/>
          </a:solidFill>
          <a:ln w="12700">
            <a:solidFill>
              <a:srgbClr val="DADCE0"/>
            </a:solidFill>
            <a:prstDash val="solid"/>
          </a:ln>
        </p:spPr>
      </p:sp>
      <p:sp>
        <p:nvSpPr>
          <p:cNvPr id="11" name="Cercle icona"/>
          <p:cNvSpPr/>
          <p:nvPr/>
        </p:nvSpPr>
        <p:spPr>
          <a:xfrm>
            <a:off x="3607994" y="1600200"/>
            <a:ext cx="594360" cy="594360"/>
          </a:xfrm>
          <a:prstGeom prst="ellipse">
            <a:avLst/>
          </a:prstGeom>
          <a:solidFill>
            <a:srgbClr val="E6F4EA"/>
          </a:solidFill>
          <a:ln/>
        </p:spPr>
      </p:sp>
      <p:pic>
        <p:nvPicPr>
          <p:cNvPr id="12" name="Icona TbMicrophone" descr="/home/claude/p857/build/img/ic/TbMicrophone-g.png">    </p:cNvPr>
          <p:cNvPicPr>
            <a:picLocks noChangeAspect="1"/>
          </p:cNvPicPr>
          <p:nvPr/>
        </p:nvPicPr>
        <p:blipFill>
          <a:blip r:embed="rId2"/>
          <a:stretch>
            <a:fillRect/>
          </a:stretch>
        </p:blipFill>
        <p:spPr>
          <a:xfrm>
            <a:off x="3738753" y="1730959"/>
            <a:ext cx="332842" cy="332842"/>
          </a:xfrm>
          <a:prstGeom prst="rect">
            <a:avLst/>
          </a:prstGeom>
        </p:spPr>
      </p:pic>
      <p:sp>
        <p:nvSpPr>
          <p:cNvPr id="13" name="Text 9"/>
          <p:cNvSpPr txBox="1"/>
          <p:nvPr/>
        </p:nvSpPr>
        <p:spPr>
          <a:xfrm>
            <a:off x="3607994" y="2331720"/>
            <a:ext cx="2144954" cy="289560"/>
          </a:xfrm>
          <a:prstGeom prst="rect">
            <a:avLst/>
          </a:prstGeom>
          <a:noFill/>
          <a:ln/>
        </p:spPr>
        <p:txBody>
          <a:bodyPr wrap="square" lIns="0" tIns="0" rIns="0" bIns="0" rtlCol="0" anchor="t"/>
          <a:lstStyle/>
          <a:p>
            <a:pPr indent="0" marL="0">
              <a:buNone/>
            </a:pPr>
            <a:r>
              <a:rPr lang="en-US" sz="1900" b="1" dirty="0">
                <a:solidFill>
                  <a:srgbClr val="188038"/>
                </a:solidFill>
                <a:latin typeface="Roboto" pitchFamily="34" charset="0"/>
                <a:ea typeface="Roboto" pitchFamily="34" charset="-122"/>
                <a:cs typeface="Roboto" pitchFamily="34" charset="-120"/>
              </a:rPr>
              <a:t>Orals</a:t>
            </a:r>
            <a:endParaRPr lang="en-US" sz="1900" dirty="0"/>
          </a:p>
        </p:txBody>
      </p:sp>
      <p:sp>
        <p:nvSpPr>
          <p:cNvPr id="14" name="Text 10"/>
          <p:cNvSpPr txBox="1"/>
          <p:nvPr/>
        </p:nvSpPr>
        <p:spPr>
          <a:xfrm>
            <a:off x="3607994" y="2712720"/>
            <a:ext cx="2144954" cy="1859280"/>
          </a:xfrm>
          <a:prstGeom prst="rect">
            <a:avLst/>
          </a:prstGeom>
          <a:noFill/>
          <a:ln/>
        </p:spPr>
        <p:txBody>
          <a:bodyPr wrap="square" lIns="0" tIns="0" rIns="0" bIns="0" rtlCol="0" anchor="t"/>
          <a:lstStyle/>
          <a:p>
            <a:pPr indent="0" marL="0">
              <a:buNone/>
            </a:pPr>
            <a:r>
              <a:rPr lang="en-US" sz="1650" dirty="0">
                <a:solidFill>
                  <a:srgbClr val="202124"/>
                </a:solidFill>
                <a:latin typeface="Roboto" pitchFamily="34" charset="0"/>
                <a:ea typeface="Roboto" pitchFamily="34" charset="-122"/>
                <a:cs typeface="Roboto" pitchFamily="34" charset="-120"/>
              </a:rPr>
              <a:t>Testimonis que s'expliquen de viva veu, com els avis que t'expliquen com era la postguerra.</a:t>
            </a:r>
            <a:endParaRPr lang="en-US" sz="1650" dirty="0"/>
          </a:p>
        </p:txBody>
      </p:sp>
      <p:sp>
        <p:nvSpPr>
          <p:cNvPr id="15" name="Targeta Materials"/>
          <p:cNvSpPr/>
          <p:nvPr/>
        </p:nvSpPr>
        <p:spPr>
          <a:xfrm>
            <a:off x="6210148" y="1371600"/>
            <a:ext cx="2602154" cy="3337560"/>
          </a:xfrm>
          <a:prstGeom prst="roundRect">
            <a:avLst>
              <a:gd name="adj" fmla="val 3865"/>
            </a:avLst>
          </a:prstGeom>
          <a:solidFill>
            <a:srgbClr val="FFFFFF"/>
          </a:solidFill>
          <a:ln w="12700">
            <a:solidFill>
              <a:srgbClr val="DADCE0"/>
            </a:solidFill>
            <a:prstDash val="solid"/>
          </a:ln>
        </p:spPr>
      </p:sp>
      <p:sp>
        <p:nvSpPr>
          <p:cNvPr id="16" name="Cercle icona"/>
          <p:cNvSpPr/>
          <p:nvPr/>
        </p:nvSpPr>
        <p:spPr>
          <a:xfrm>
            <a:off x="6438748" y="1600200"/>
            <a:ext cx="594360" cy="594360"/>
          </a:xfrm>
          <a:prstGeom prst="ellipse">
            <a:avLst/>
          </a:prstGeom>
          <a:solidFill>
            <a:srgbClr val="E6F4EA"/>
          </a:solidFill>
          <a:ln/>
        </p:spPr>
      </p:sp>
      <p:pic>
        <p:nvPicPr>
          <p:cNvPr id="17" name="Icona TbHammer" descr="/home/claude/p857/build/img/ic/TbHammer-g.png">    </p:cNvPr>
          <p:cNvPicPr>
            <a:picLocks noChangeAspect="1"/>
          </p:cNvPicPr>
          <p:nvPr/>
        </p:nvPicPr>
        <p:blipFill>
          <a:blip r:embed="rId3"/>
          <a:stretch>
            <a:fillRect/>
          </a:stretch>
        </p:blipFill>
        <p:spPr>
          <a:xfrm>
            <a:off x="6569507" y="1730959"/>
            <a:ext cx="332842" cy="332842"/>
          </a:xfrm>
          <a:prstGeom prst="rect">
            <a:avLst/>
          </a:prstGeom>
        </p:spPr>
      </p:pic>
      <p:sp>
        <p:nvSpPr>
          <p:cNvPr id="18" name="Text 13"/>
          <p:cNvSpPr txBox="1"/>
          <p:nvPr/>
        </p:nvSpPr>
        <p:spPr>
          <a:xfrm>
            <a:off x="6438748" y="2331720"/>
            <a:ext cx="2144954" cy="289560"/>
          </a:xfrm>
          <a:prstGeom prst="rect">
            <a:avLst/>
          </a:prstGeom>
          <a:noFill/>
          <a:ln/>
        </p:spPr>
        <p:txBody>
          <a:bodyPr wrap="square" lIns="0" tIns="0" rIns="0" bIns="0" rtlCol="0" anchor="t"/>
          <a:lstStyle/>
          <a:p>
            <a:pPr indent="0" marL="0">
              <a:buNone/>
            </a:pPr>
            <a:r>
              <a:rPr lang="en-US" sz="1900" b="1" dirty="0">
                <a:solidFill>
                  <a:srgbClr val="188038"/>
                </a:solidFill>
                <a:latin typeface="Roboto" pitchFamily="34" charset="0"/>
                <a:ea typeface="Roboto" pitchFamily="34" charset="-122"/>
                <a:cs typeface="Roboto" pitchFamily="34" charset="-120"/>
              </a:rPr>
              <a:t>Materials</a:t>
            </a:r>
            <a:endParaRPr lang="en-US" sz="1900" dirty="0"/>
          </a:p>
        </p:txBody>
      </p:sp>
      <p:sp>
        <p:nvSpPr>
          <p:cNvPr id="19" name="Text 14"/>
          <p:cNvSpPr txBox="1"/>
          <p:nvPr/>
        </p:nvSpPr>
        <p:spPr>
          <a:xfrm>
            <a:off x="6438748" y="2712720"/>
            <a:ext cx="2144954" cy="1859280"/>
          </a:xfrm>
          <a:prstGeom prst="rect">
            <a:avLst/>
          </a:prstGeom>
          <a:noFill/>
          <a:ln/>
        </p:spPr>
        <p:txBody>
          <a:bodyPr wrap="square" lIns="0" tIns="0" rIns="0" bIns="0" rtlCol="0" anchor="t"/>
          <a:lstStyle/>
          <a:p>
            <a:pPr indent="0" marL="0">
              <a:buNone/>
            </a:pPr>
            <a:r>
              <a:rPr lang="en-US" sz="1650" dirty="0">
                <a:solidFill>
                  <a:srgbClr val="202124"/>
                </a:solidFill>
                <a:latin typeface="Roboto" pitchFamily="34" charset="0"/>
                <a:ea typeface="Roboto" pitchFamily="34" charset="-122"/>
                <a:cs typeface="Roboto" pitchFamily="34" charset="-120"/>
              </a:rPr>
              <a:t>Objectes i restes físiques. Eines, edificis, ossos.</a:t>
            </a:r>
            <a:endParaRPr lang="en-US" sz="1650" dirty="0"/>
          </a:p>
        </p:txBody>
      </p:sp>
      <p:sp>
        <p:nvSpPr>
          <p:cNvPr id="20" name="Targeta Iconogràfiques"/>
          <p:cNvSpPr/>
          <p:nvPr/>
        </p:nvSpPr>
        <p:spPr>
          <a:xfrm>
            <a:off x="9040901" y="1371600"/>
            <a:ext cx="2602154" cy="3337560"/>
          </a:xfrm>
          <a:prstGeom prst="roundRect">
            <a:avLst>
              <a:gd name="adj" fmla="val 3865"/>
            </a:avLst>
          </a:prstGeom>
          <a:solidFill>
            <a:srgbClr val="FFFFFF"/>
          </a:solidFill>
          <a:ln w="12700">
            <a:solidFill>
              <a:srgbClr val="DADCE0"/>
            </a:solidFill>
            <a:prstDash val="solid"/>
          </a:ln>
        </p:spPr>
      </p:sp>
      <p:sp>
        <p:nvSpPr>
          <p:cNvPr id="21" name="Cercle icona"/>
          <p:cNvSpPr/>
          <p:nvPr/>
        </p:nvSpPr>
        <p:spPr>
          <a:xfrm>
            <a:off x="9269501" y="1600200"/>
            <a:ext cx="594360" cy="594360"/>
          </a:xfrm>
          <a:prstGeom prst="ellipse">
            <a:avLst/>
          </a:prstGeom>
          <a:solidFill>
            <a:srgbClr val="E6F4EA"/>
          </a:solidFill>
          <a:ln/>
        </p:spPr>
      </p:sp>
      <p:pic>
        <p:nvPicPr>
          <p:cNvPr id="22" name="Icona TbPhoto" descr="/home/claude/p857/build/img/ic/TbPhoto-g.png">    </p:cNvPr>
          <p:cNvPicPr>
            <a:picLocks noChangeAspect="1"/>
          </p:cNvPicPr>
          <p:nvPr/>
        </p:nvPicPr>
        <p:blipFill>
          <a:blip r:embed="rId4"/>
          <a:stretch>
            <a:fillRect/>
          </a:stretch>
        </p:blipFill>
        <p:spPr>
          <a:xfrm>
            <a:off x="9400261" y="1730959"/>
            <a:ext cx="332842" cy="332842"/>
          </a:xfrm>
          <a:prstGeom prst="rect">
            <a:avLst/>
          </a:prstGeom>
        </p:spPr>
      </p:pic>
      <p:sp>
        <p:nvSpPr>
          <p:cNvPr id="23" name="Text 17"/>
          <p:cNvSpPr txBox="1"/>
          <p:nvPr/>
        </p:nvSpPr>
        <p:spPr>
          <a:xfrm>
            <a:off x="9269501" y="2331720"/>
            <a:ext cx="2144954" cy="289560"/>
          </a:xfrm>
          <a:prstGeom prst="rect">
            <a:avLst/>
          </a:prstGeom>
          <a:noFill/>
          <a:ln/>
        </p:spPr>
        <p:txBody>
          <a:bodyPr wrap="square" lIns="0" tIns="0" rIns="0" bIns="0" rtlCol="0" anchor="t"/>
          <a:lstStyle/>
          <a:p>
            <a:pPr indent="0" marL="0">
              <a:buNone/>
            </a:pPr>
            <a:r>
              <a:rPr lang="en-US" sz="1900" b="1" dirty="0">
                <a:solidFill>
                  <a:srgbClr val="188038"/>
                </a:solidFill>
                <a:latin typeface="Roboto" pitchFamily="34" charset="0"/>
                <a:ea typeface="Roboto" pitchFamily="34" charset="-122"/>
                <a:cs typeface="Roboto" pitchFamily="34" charset="-120"/>
              </a:rPr>
              <a:t>Iconogràfiques</a:t>
            </a:r>
            <a:endParaRPr lang="en-US" sz="1900" dirty="0"/>
          </a:p>
        </p:txBody>
      </p:sp>
      <p:sp>
        <p:nvSpPr>
          <p:cNvPr id="24" name="Text 18"/>
          <p:cNvSpPr txBox="1"/>
          <p:nvPr/>
        </p:nvSpPr>
        <p:spPr>
          <a:xfrm>
            <a:off x="9269501" y="2712720"/>
            <a:ext cx="2144954" cy="1859280"/>
          </a:xfrm>
          <a:prstGeom prst="rect">
            <a:avLst/>
          </a:prstGeom>
          <a:noFill/>
          <a:ln/>
        </p:spPr>
        <p:txBody>
          <a:bodyPr wrap="square" lIns="0" tIns="0" rIns="0" bIns="0" rtlCol="0" anchor="t"/>
          <a:lstStyle/>
          <a:p>
            <a:pPr indent="0" marL="0">
              <a:buNone/>
            </a:pPr>
            <a:r>
              <a:rPr lang="en-US" sz="1650" dirty="0">
                <a:solidFill>
                  <a:srgbClr val="202124"/>
                </a:solidFill>
                <a:latin typeface="Roboto" pitchFamily="34" charset="0"/>
                <a:ea typeface="Roboto" pitchFamily="34" charset="-122"/>
                <a:cs typeface="Roboto" pitchFamily="34" charset="-120"/>
              </a:rPr>
              <a:t>Imatges. Pintures, escultures, fotografies, mapes antics.</a:t>
            </a:r>
            <a:endParaRPr lang="en-US" sz="1650" dirty="0"/>
          </a:p>
        </p:txBody>
      </p:sp>
      <p:sp>
        <p:nvSpPr>
          <p:cNvPr id="25" name="Fes-ho tu"/>
          <p:cNvSpPr/>
          <p:nvPr/>
        </p:nvSpPr>
        <p:spPr>
          <a:xfrm>
            <a:off x="548640" y="4937760"/>
            <a:ext cx="11094415" cy="1051560"/>
          </a:xfrm>
          <a:prstGeom prst="roundRect">
            <a:avLst>
              <a:gd name="adj" fmla="val 9565"/>
            </a:avLst>
          </a:prstGeom>
          <a:solidFill>
            <a:srgbClr val="F6F8FB"/>
          </a:solidFill>
          <a:ln/>
        </p:spPr>
      </p:sp>
      <p:sp>
        <p:nvSpPr>
          <p:cNvPr id="26" name="Text 20"/>
          <p:cNvSpPr txBox="1"/>
          <p:nvPr/>
        </p:nvSpPr>
        <p:spPr>
          <a:xfrm>
            <a:off x="868680" y="5093208"/>
            <a:ext cx="10454335" cy="320040"/>
          </a:xfrm>
          <a:prstGeom prst="rect">
            <a:avLst/>
          </a:prstGeom>
          <a:noFill/>
          <a:ln/>
        </p:spPr>
        <p:txBody>
          <a:bodyPr wrap="square" lIns="0" tIns="0" rIns="0" bIns="0" rtlCol="0" anchor="t"/>
          <a:lstStyle/>
          <a:p>
            <a:pPr indent="0" marL="0">
              <a:buNone/>
            </a:pPr>
            <a:r>
              <a:rPr lang="en-US" sz="1400" b="1" dirty="0">
                <a:solidFill>
                  <a:srgbClr val="202124"/>
                </a:solidFill>
                <a:latin typeface="Roboto" pitchFamily="34" charset="0"/>
                <a:ea typeface="Roboto" pitchFamily="34" charset="-122"/>
                <a:cs typeface="Roboto" pitchFamily="34" charset="-120"/>
              </a:rPr>
              <a:t>Fes-ho tu</a:t>
            </a:r>
            <a:endParaRPr lang="en-US" sz="1400" dirty="0"/>
          </a:p>
        </p:txBody>
      </p:sp>
      <p:sp>
        <p:nvSpPr>
          <p:cNvPr id="27" name="Text 21"/>
          <p:cNvSpPr txBox="1"/>
          <p:nvPr/>
        </p:nvSpPr>
        <p:spPr>
          <a:xfrm>
            <a:off x="868680" y="5440680"/>
            <a:ext cx="10454335" cy="411480"/>
          </a:xfrm>
          <a:prstGeom prst="rect">
            <a:avLst/>
          </a:prstGeom>
          <a:noFill/>
          <a:ln/>
        </p:spPr>
        <p:txBody>
          <a:bodyPr wrap="square" lIns="0" tIns="0" rIns="0" bIns="0" rtlCol="0" anchor="t"/>
          <a:lstStyle/>
          <a:p>
            <a:pPr indent="0" marL="0">
              <a:buNone/>
            </a:pPr>
            <a:r>
              <a:rPr lang="en-US" sz="1800" dirty="0">
                <a:solidFill>
                  <a:srgbClr val="5F6368"/>
                </a:solidFill>
                <a:latin typeface="Roboto" pitchFamily="34" charset="0"/>
                <a:ea typeface="Roboto" pitchFamily="34" charset="-122"/>
                <a:cs typeface="Roboto" pitchFamily="34" charset="-120"/>
              </a:rPr>
              <a:t>La pedra de Rosetta i la tauleta de Vindolanda, de quin tipus són? I el mapa de l'Atles Català?</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6</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Qui investiga el passat?</a:t>
            </a:r>
            <a:endParaRPr lang="en-US" sz="2800" dirty="0"/>
          </a:p>
        </p:txBody>
      </p:sp>
      <p:sp>
        <p:nvSpPr>
          <p:cNvPr id="5" name="Targeta Els historiadors"/>
          <p:cNvSpPr/>
          <p:nvPr/>
        </p:nvSpPr>
        <p:spPr>
          <a:xfrm>
            <a:off x="548640" y="1371600"/>
            <a:ext cx="3515258" cy="3108960"/>
          </a:xfrm>
          <a:prstGeom prst="roundRect">
            <a:avLst>
              <a:gd name="adj" fmla="val 3235"/>
            </a:avLst>
          </a:prstGeom>
          <a:solidFill>
            <a:srgbClr val="FFFFFF"/>
          </a:solidFill>
          <a:ln w="12700">
            <a:solidFill>
              <a:srgbClr val="DADCE0"/>
            </a:solidFill>
            <a:prstDash val="solid"/>
          </a:ln>
        </p:spPr>
      </p:sp>
      <p:sp>
        <p:nvSpPr>
          <p:cNvPr id="6" name="Cercle icona"/>
          <p:cNvSpPr/>
          <p:nvPr/>
        </p:nvSpPr>
        <p:spPr>
          <a:xfrm>
            <a:off x="777240" y="1600200"/>
            <a:ext cx="640080" cy="640080"/>
          </a:xfrm>
          <a:prstGeom prst="ellipse">
            <a:avLst/>
          </a:prstGeom>
          <a:solidFill>
            <a:srgbClr val="E6F4EA"/>
          </a:solidFill>
          <a:ln/>
        </p:spPr>
      </p:sp>
      <p:pic>
        <p:nvPicPr>
          <p:cNvPr id="7" name="Icona TbBooks" descr="/home/claude/p857/build/img/ic/TbBooks-g.png">    </p:cNvPr>
          <p:cNvPicPr>
            <a:picLocks noChangeAspect="1"/>
          </p:cNvPicPr>
          <p:nvPr/>
        </p:nvPicPr>
        <p:blipFill>
          <a:blip r:embed="rId1"/>
          <a:stretch>
            <a:fillRect/>
          </a:stretch>
        </p:blipFill>
        <p:spPr>
          <a:xfrm>
            <a:off x="918058" y="1741018"/>
            <a:ext cx="358445" cy="358445"/>
          </a:xfrm>
          <a:prstGeom prst="rect">
            <a:avLst/>
          </a:prstGeom>
        </p:spPr>
      </p:pic>
      <p:sp>
        <p:nvSpPr>
          <p:cNvPr id="8" name="Text 5"/>
          <p:cNvSpPr txBox="1"/>
          <p:nvPr/>
        </p:nvSpPr>
        <p:spPr>
          <a:xfrm>
            <a:off x="1554480" y="1600200"/>
            <a:ext cx="2280818" cy="640080"/>
          </a:xfrm>
          <a:prstGeom prst="rect">
            <a:avLst/>
          </a:prstGeom>
          <a:noFill/>
          <a:ln/>
        </p:spPr>
        <p:txBody>
          <a:bodyPr wrap="square" lIns="0" tIns="0" rIns="0" bIns="0" rtlCol="0" anchor="ctr"/>
          <a:lstStyle/>
          <a:p>
            <a:pPr indent="0" marL="0">
              <a:buNone/>
            </a:pPr>
            <a:r>
              <a:rPr lang="en-US" sz="2000" b="1" dirty="0">
                <a:solidFill>
                  <a:srgbClr val="188038"/>
                </a:solidFill>
                <a:latin typeface="Roboto" pitchFamily="34" charset="0"/>
                <a:ea typeface="Roboto" pitchFamily="34" charset="-122"/>
                <a:cs typeface="Roboto" pitchFamily="34" charset="-120"/>
              </a:rPr>
              <a:t>Els historiadors</a:t>
            </a:r>
            <a:endParaRPr lang="en-US" sz="2000" dirty="0"/>
          </a:p>
        </p:txBody>
      </p:sp>
      <p:sp>
        <p:nvSpPr>
          <p:cNvPr id="9" name="Text 6"/>
          <p:cNvSpPr txBox="1"/>
          <p:nvPr/>
        </p:nvSpPr>
        <p:spPr>
          <a:xfrm>
            <a:off x="777240" y="2377440"/>
            <a:ext cx="3058058" cy="1965960"/>
          </a:xfrm>
          <a:prstGeom prst="rect">
            <a:avLst/>
          </a:prstGeom>
          <a:noFill/>
          <a:ln/>
        </p:spPr>
        <p:txBody>
          <a:bodyPr wrap="square" lIns="0" tIns="0" rIns="0" bIns="0" rtlCol="0" anchor="t"/>
          <a:lstStyle/>
          <a:p>
            <a:pPr indent="0" marL="0">
              <a:buNone/>
            </a:pPr>
            <a:r>
              <a:rPr lang="en-US" sz="1750" dirty="0">
                <a:solidFill>
                  <a:srgbClr val="202124"/>
                </a:solidFill>
                <a:latin typeface="Roboto" pitchFamily="34" charset="0"/>
                <a:ea typeface="Roboto" pitchFamily="34" charset="-122"/>
                <a:cs typeface="Roboto" pitchFamily="34" charset="-120"/>
              </a:rPr>
              <a:t>Treballen sobretot amb fonts escrites.</a:t>
            </a:r>
            <a:endParaRPr lang="en-US" sz="1750" dirty="0"/>
          </a:p>
        </p:txBody>
      </p:sp>
      <p:sp>
        <p:nvSpPr>
          <p:cNvPr id="10" name="Targeta Els arqueòlegs"/>
          <p:cNvSpPr/>
          <p:nvPr/>
        </p:nvSpPr>
        <p:spPr>
          <a:xfrm>
            <a:off x="4338218" y="1371600"/>
            <a:ext cx="3515258" cy="3108960"/>
          </a:xfrm>
          <a:prstGeom prst="roundRect">
            <a:avLst>
              <a:gd name="adj" fmla="val 3235"/>
            </a:avLst>
          </a:prstGeom>
          <a:solidFill>
            <a:srgbClr val="FFFFFF"/>
          </a:solidFill>
          <a:ln w="12700">
            <a:solidFill>
              <a:srgbClr val="DADCE0"/>
            </a:solidFill>
            <a:prstDash val="solid"/>
          </a:ln>
        </p:spPr>
      </p:sp>
      <p:sp>
        <p:nvSpPr>
          <p:cNvPr id="11" name="Cercle icona"/>
          <p:cNvSpPr/>
          <p:nvPr/>
        </p:nvSpPr>
        <p:spPr>
          <a:xfrm>
            <a:off x="4566818" y="1600200"/>
            <a:ext cx="640080" cy="640080"/>
          </a:xfrm>
          <a:prstGeom prst="ellipse">
            <a:avLst/>
          </a:prstGeom>
          <a:solidFill>
            <a:srgbClr val="E6F4EA"/>
          </a:solidFill>
          <a:ln/>
        </p:spPr>
      </p:sp>
      <p:pic>
        <p:nvPicPr>
          <p:cNvPr id="12" name="Icona TbShovel" descr="/home/claude/p857/build/img/ic/TbShovel-g.png">    </p:cNvPr>
          <p:cNvPicPr>
            <a:picLocks noChangeAspect="1"/>
          </p:cNvPicPr>
          <p:nvPr/>
        </p:nvPicPr>
        <p:blipFill>
          <a:blip r:embed="rId2"/>
          <a:stretch>
            <a:fillRect/>
          </a:stretch>
        </p:blipFill>
        <p:spPr>
          <a:xfrm>
            <a:off x="4707636" y="1741018"/>
            <a:ext cx="358445" cy="358445"/>
          </a:xfrm>
          <a:prstGeom prst="rect">
            <a:avLst/>
          </a:prstGeom>
        </p:spPr>
      </p:pic>
      <p:sp>
        <p:nvSpPr>
          <p:cNvPr id="13" name="Text 9"/>
          <p:cNvSpPr txBox="1"/>
          <p:nvPr/>
        </p:nvSpPr>
        <p:spPr>
          <a:xfrm>
            <a:off x="5344058" y="1600200"/>
            <a:ext cx="2280818" cy="640080"/>
          </a:xfrm>
          <a:prstGeom prst="rect">
            <a:avLst/>
          </a:prstGeom>
          <a:noFill/>
          <a:ln/>
        </p:spPr>
        <p:txBody>
          <a:bodyPr wrap="square" lIns="0" tIns="0" rIns="0" bIns="0" rtlCol="0" anchor="ctr"/>
          <a:lstStyle/>
          <a:p>
            <a:pPr indent="0" marL="0">
              <a:buNone/>
            </a:pPr>
            <a:r>
              <a:rPr lang="en-US" sz="2000" b="1" dirty="0">
                <a:solidFill>
                  <a:srgbClr val="188038"/>
                </a:solidFill>
                <a:latin typeface="Roboto" pitchFamily="34" charset="0"/>
                <a:ea typeface="Roboto" pitchFamily="34" charset="-122"/>
                <a:cs typeface="Roboto" pitchFamily="34" charset="-120"/>
              </a:rPr>
              <a:t>Els arqueòlegs</a:t>
            </a:r>
            <a:endParaRPr lang="en-US" sz="2000" dirty="0"/>
          </a:p>
        </p:txBody>
      </p:sp>
      <p:sp>
        <p:nvSpPr>
          <p:cNvPr id="14" name="Text 10"/>
          <p:cNvSpPr txBox="1"/>
          <p:nvPr/>
        </p:nvSpPr>
        <p:spPr>
          <a:xfrm>
            <a:off x="4566818" y="2377440"/>
            <a:ext cx="3058058" cy="1965960"/>
          </a:xfrm>
          <a:prstGeom prst="rect">
            <a:avLst/>
          </a:prstGeom>
          <a:noFill/>
          <a:ln/>
        </p:spPr>
        <p:txBody>
          <a:bodyPr wrap="square" lIns="0" tIns="0" rIns="0" bIns="0" rtlCol="0" anchor="t"/>
          <a:lstStyle/>
          <a:p>
            <a:pPr indent="0" marL="0">
              <a:buNone/>
            </a:pPr>
            <a:r>
              <a:rPr lang="en-US" sz="1750" dirty="0">
                <a:solidFill>
                  <a:srgbClr val="202124"/>
                </a:solidFill>
                <a:latin typeface="Roboto" pitchFamily="34" charset="0"/>
                <a:ea typeface="Roboto" pitchFamily="34" charset="-122"/>
                <a:cs typeface="Roboto" pitchFamily="34" charset="-120"/>
              </a:rPr>
              <a:t>Excaven els jaciments i estudien les restes materials, les úniques fonts que tenim de la prehistòria.</a:t>
            </a:r>
            <a:endParaRPr lang="en-US" sz="1750" dirty="0"/>
          </a:p>
        </p:txBody>
      </p:sp>
      <p:sp>
        <p:nvSpPr>
          <p:cNvPr id="15" name="Targeta Els geògrafs"/>
          <p:cNvSpPr/>
          <p:nvPr/>
        </p:nvSpPr>
        <p:spPr>
          <a:xfrm>
            <a:off x="8127797" y="1371600"/>
            <a:ext cx="3515258" cy="3108960"/>
          </a:xfrm>
          <a:prstGeom prst="roundRect">
            <a:avLst>
              <a:gd name="adj" fmla="val 3235"/>
            </a:avLst>
          </a:prstGeom>
          <a:solidFill>
            <a:srgbClr val="FFFFFF"/>
          </a:solidFill>
          <a:ln w="12700">
            <a:solidFill>
              <a:srgbClr val="DADCE0"/>
            </a:solidFill>
            <a:prstDash val="solid"/>
          </a:ln>
        </p:spPr>
      </p:sp>
      <p:sp>
        <p:nvSpPr>
          <p:cNvPr id="16" name="Cercle icona"/>
          <p:cNvSpPr/>
          <p:nvPr/>
        </p:nvSpPr>
        <p:spPr>
          <a:xfrm>
            <a:off x="8356397" y="1600200"/>
            <a:ext cx="640080" cy="640080"/>
          </a:xfrm>
          <a:prstGeom prst="ellipse">
            <a:avLst/>
          </a:prstGeom>
          <a:solidFill>
            <a:srgbClr val="E6F4EA"/>
          </a:solidFill>
          <a:ln/>
        </p:spPr>
      </p:sp>
      <p:pic>
        <p:nvPicPr>
          <p:cNvPr id="17" name="Icona TbMap" descr="/home/claude/p857/build/img/ic/TbMap-g.png">    </p:cNvPr>
          <p:cNvPicPr>
            <a:picLocks noChangeAspect="1"/>
          </p:cNvPicPr>
          <p:nvPr/>
        </p:nvPicPr>
        <p:blipFill>
          <a:blip r:embed="rId3"/>
          <a:stretch>
            <a:fillRect/>
          </a:stretch>
        </p:blipFill>
        <p:spPr>
          <a:xfrm>
            <a:off x="8497214" y="1741018"/>
            <a:ext cx="358445" cy="358445"/>
          </a:xfrm>
          <a:prstGeom prst="rect">
            <a:avLst/>
          </a:prstGeom>
        </p:spPr>
      </p:pic>
      <p:sp>
        <p:nvSpPr>
          <p:cNvPr id="18" name="Text 13"/>
          <p:cNvSpPr txBox="1"/>
          <p:nvPr/>
        </p:nvSpPr>
        <p:spPr>
          <a:xfrm>
            <a:off x="9133637" y="1600200"/>
            <a:ext cx="2280818" cy="640080"/>
          </a:xfrm>
          <a:prstGeom prst="rect">
            <a:avLst/>
          </a:prstGeom>
          <a:noFill/>
          <a:ln/>
        </p:spPr>
        <p:txBody>
          <a:bodyPr wrap="square" lIns="0" tIns="0" rIns="0" bIns="0" rtlCol="0" anchor="ctr"/>
          <a:lstStyle/>
          <a:p>
            <a:pPr indent="0" marL="0">
              <a:buNone/>
            </a:pPr>
            <a:r>
              <a:rPr lang="en-US" sz="2000" b="1" dirty="0">
                <a:solidFill>
                  <a:srgbClr val="188038"/>
                </a:solidFill>
                <a:latin typeface="Roboto" pitchFamily="34" charset="0"/>
                <a:ea typeface="Roboto" pitchFamily="34" charset="-122"/>
                <a:cs typeface="Roboto" pitchFamily="34" charset="-120"/>
              </a:rPr>
              <a:t>Els geògrafs</a:t>
            </a:r>
            <a:endParaRPr lang="en-US" sz="2000" dirty="0"/>
          </a:p>
        </p:txBody>
      </p:sp>
      <p:sp>
        <p:nvSpPr>
          <p:cNvPr id="19" name="Text 14"/>
          <p:cNvSpPr txBox="1"/>
          <p:nvPr/>
        </p:nvSpPr>
        <p:spPr>
          <a:xfrm>
            <a:off x="8356397" y="2377440"/>
            <a:ext cx="3058058" cy="1965960"/>
          </a:xfrm>
          <a:prstGeom prst="rect">
            <a:avLst/>
          </a:prstGeom>
          <a:noFill/>
          <a:ln/>
        </p:spPr>
        <p:txBody>
          <a:bodyPr wrap="square" lIns="0" tIns="0" rIns="0" bIns="0" rtlCol="0" anchor="t"/>
          <a:lstStyle/>
          <a:p>
            <a:pPr indent="0" marL="0">
              <a:buNone/>
            </a:pPr>
            <a:r>
              <a:rPr lang="en-US" sz="1750" dirty="0">
                <a:solidFill>
                  <a:srgbClr val="202124"/>
                </a:solidFill>
                <a:latin typeface="Roboto" pitchFamily="34" charset="0"/>
                <a:ea typeface="Roboto" pitchFamily="34" charset="-122"/>
                <a:cs typeface="Roboto" pitchFamily="34" charset="-120"/>
              </a:rPr>
              <a:t>Fan servir fonts geogràfiques, com mapes antics, fotografies aèries o dades de població.</a:t>
            </a:r>
            <a:endParaRPr lang="en-US" sz="1750" dirty="0"/>
          </a:p>
        </p:txBody>
      </p:sp>
      <p:sp>
        <p:nvSpPr>
          <p:cNvPr id="20" name="Per exemple"/>
          <p:cNvSpPr/>
          <p:nvPr/>
        </p:nvSpPr>
        <p:spPr>
          <a:xfrm>
            <a:off x="548640" y="4709160"/>
            <a:ext cx="11094415" cy="1280160"/>
          </a:xfrm>
          <a:prstGeom prst="roundRect">
            <a:avLst>
              <a:gd name="adj" fmla="val 7857"/>
            </a:avLst>
          </a:prstGeom>
          <a:solidFill>
            <a:srgbClr val="F6F8FB"/>
          </a:solidFill>
          <a:ln/>
        </p:spPr>
      </p:sp>
      <p:sp>
        <p:nvSpPr>
          <p:cNvPr id="21" name="Text 16"/>
          <p:cNvSpPr txBox="1"/>
          <p:nvPr/>
        </p:nvSpPr>
        <p:spPr>
          <a:xfrm>
            <a:off x="868680" y="4864608"/>
            <a:ext cx="10454335" cy="320040"/>
          </a:xfrm>
          <a:prstGeom prst="rect">
            <a:avLst/>
          </a:prstGeom>
          <a:noFill/>
          <a:ln/>
        </p:spPr>
        <p:txBody>
          <a:bodyPr wrap="square" lIns="0" tIns="0" rIns="0" bIns="0" rtlCol="0" anchor="t"/>
          <a:lstStyle/>
          <a:p>
            <a:pPr indent="0" marL="0">
              <a:buNone/>
            </a:pPr>
            <a:r>
              <a:rPr lang="en-US" sz="1400" b="1" dirty="0">
                <a:solidFill>
                  <a:srgbClr val="202124"/>
                </a:solidFill>
                <a:latin typeface="Roboto" pitchFamily="34" charset="0"/>
                <a:ea typeface="Roboto" pitchFamily="34" charset="-122"/>
                <a:cs typeface="Roboto" pitchFamily="34" charset="-120"/>
              </a:rPr>
              <a:t>Per exemple</a:t>
            </a:r>
            <a:endParaRPr lang="en-US" sz="1400" dirty="0"/>
          </a:p>
        </p:txBody>
      </p:sp>
      <p:sp>
        <p:nvSpPr>
          <p:cNvPr id="22" name="Text 17"/>
          <p:cNvSpPr txBox="1"/>
          <p:nvPr/>
        </p:nvSpPr>
        <p:spPr>
          <a:xfrm>
            <a:off x="868680" y="5212080"/>
            <a:ext cx="10454335" cy="640080"/>
          </a:xfrm>
          <a:prstGeom prst="rect">
            <a:avLst/>
          </a:prstGeom>
          <a:noFill/>
          <a:ln/>
        </p:spPr>
        <p:txBody>
          <a:bodyPr wrap="square" lIns="0" tIns="0" rIns="0" bIns="0" rtlCol="0" anchor="t"/>
          <a:lstStyle/>
          <a:p>
            <a:pPr indent="0" marL="0">
              <a:buNone/>
            </a:pPr>
            <a:r>
              <a:rPr lang="en-US" sz="1700" dirty="0">
                <a:solidFill>
                  <a:srgbClr val="5F6368"/>
                </a:solidFill>
                <a:latin typeface="Roboto" pitchFamily="34" charset="0"/>
                <a:ea typeface="Roboto" pitchFamily="34" charset="-122"/>
                <a:cs typeface="Roboto" pitchFamily="34" charset="-120"/>
              </a:rPr>
              <a:t>L'Institut Cartogràfic i Geològic de Catalunya té fotografies aèries de tot Catalunya de l'any 1956, que permeten veure com era un poble fa setanta anys.</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6</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On es guarden les fonts?</a:t>
            </a:r>
            <a:endParaRPr lang="en-US" sz="2800" dirty="0"/>
          </a:p>
        </p:txBody>
      </p:sp>
      <p:sp>
        <p:nvSpPr>
          <p:cNvPr id="5" name="Text 3"/>
          <p:cNvSpPr txBox="1"/>
          <p:nvPr/>
        </p:nvSpPr>
        <p:spPr>
          <a:xfrm>
            <a:off x="548640" y="1371600"/>
            <a:ext cx="11094415" cy="457200"/>
          </a:xfrm>
          <a:prstGeom prst="rect">
            <a:avLst/>
          </a:prstGeom>
          <a:noFill/>
          <a:ln/>
        </p:spPr>
        <p:txBody>
          <a:bodyPr wrap="square" lIns="0" tIns="0" rIns="0" bIns="0" rtlCol="0" anchor="t"/>
          <a:lstStyle/>
          <a:p>
            <a:pPr indent="0" marL="0">
              <a:buNone/>
            </a:pPr>
            <a:r>
              <a:rPr lang="en-US" sz="1800" dirty="0">
                <a:solidFill>
                  <a:srgbClr val="202124"/>
                </a:solidFill>
                <a:latin typeface="Roboto" pitchFamily="34" charset="0"/>
                <a:ea typeface="Roboto" pitchFamily="34" charset="-122"/>
                <a:cs typeface="Roboto" pitchFamily="34" charset="-120"/>
              </a:rPr>
              <a:t>Les fonts són un patrimoni de tots i cal conservar-les.</a:t>
            </a:r>
            <a:endParaRPr lang="en-US" sz="1800" dirty="0"/>
          </a:p>
        </p:txBody>
      </p:sp>
      <p:sp>
        <p:nvSpPr>
          <p:cNvPr id="6" name="Rajola Els documents, als arxius"/>
          <p:cNvSpPr/>
          <p:nvPr/>
        </p:nvSpPr>
        <p:spPr>
          <a:xfrm>
            <a:off x="548640" y="1965960"/>
            <a:ext cx="3545738" cy="1143000"/>
          </a:xfrm>
          <a:prstGeom prst="roundRect">
            <a:avLst>
              <a:gd name="adj" fmla="val 8800"/>
            </a:avLst>
          </a:prstGeom>
          <a:solidFill>
            <a:srgbClr val="FFFFFF"/>
          </a:solidFill>
          <a:ln w="12700">
            <a:solidFill>
              <a:srgbClr val="DADCE0"/>
            </a:solidFill>
            <a:prstDash val="solid"/>
          </a:ln>
        </p:spPr>
      </p:sp>
      <p:sp>
        <p:nvSpPr>
          <p:cNvPr id="7" name="Cercle icona"/>
          <p:cNvSpPr/>
          <p:nvPr/>
        </p:nvSpPr>
        <p:spPr>
          <a:xfrm>
            <a:off x="749808" y="2263140"/>
            <a:ext cx="548640" cy="548640"/>
          </a:xfrm>
          <a:prstGeom prst="ellipse">
            <a:avLst/>
          </a:prstGeom>
          <a:solidFill>
            <a:srgbClr val="E6F4EA"/>
          </a:solidFill>
          <a:ln/>
        </p:spPr>
      </p:sp>
      <p:pic>
        <p:nvPicPr>
          <p:cNvPr id="8" name="Icona TbArchive" descr="/home/claude/p857/build/img/ic/TbArchive-g.png">    </p:cNvPr>
          <p:cNvPicPr>
            <a:picLocks noChangeAspect="1"/>
          </p:cNvPicPr>
          <p:nvPr/>
        </p:nvPicPr>
        <p:blipFill>
          <a:blip r:embed="rId1"/>
          <a:stretch>
            <a:fillRect/>
          </a:stretch>
        </p:blipFill>
        <p:spPr>
          <a:xfrm>
            <a:off x="870509" y="2383841"/>
            <a:ext cx="307238" cy="307238"/>
          </a:xfrm>
          <a:prstGeom prst="rect">
            <a:avLst/>
          </a:prstGeom>
        </p:spPr>
      </p:pic>
      <p:sp>
        <p:nvSpPr>
          <p:cNvPr id="9" name="Text 6"/>
          <p:cNvSpPr txBox="1"/>
          <p:nvPr/>
        </p:nvSpPr>
        <p:spPr>
          <a:xfrm>
            <a:off x="1481328" y="1965960"/>
            <a:ext cx="2448458" cy="1143000"/>
          </a:xfrm>
          <a:prstGeom prst="rect">
            <a:avLst/>
          </a:prstGeom>
          <a:noFill/>
          <a:ln/>
        </p:spPr>
        <p:txBody>
          <a:bodyPr wrap="square" lIns="0" tIns="0" rIns="0" bIns="0" rtlCol="0" anchor="ctr"/>
          <a:lstStyle/>
          <a:p>
            <a:pPr indent="0" marL="0">
              <a:buNone/>
            </a:pPr>
            <a:r>
              <a:rPr lang="en-US" sz="1800" b="1" dirty="0">
                <a:solidFill>
                  <a:srgbClr val="202124"/>
                </a:solidFill>
                <a:latin typeface="Roboto" pitchFamily="34" charset="0"/>
                <a:ea typeface="Roboto" pitchFamily="34" charset="-122"/>
                <a:cs typeface="Roboto" pitchFamily="34" charset="-120"/>
              </a:rPr>
              <a:t>Els documents, als arxius</a:t>
            </a:r>
            <a:endParaRPr lang="en-US" sz="1800" dirty="0"/>
          </a:p>
        </p:txBody>
      </p:sp>
      <p:sp>
        <p:nvSpPr>
          <p:cNvPr id="10" name="Rajola Els llibres, a les biblioteques"/>
          <p:cNvSpPr/>
          <p:nvPr/>
        </p:nvSpPr>
        <p:spPr>
          <a:xfrm>
            <a:off x="4322978" y="1965960"/>
            <a:ext cx="3545738" cy="1143000"/>
          </a:xfrm>
          <a:prstGeom prst="roundRect">
            <a:avLst>
              <a:gd name="adj" fmla="val 8800"/>
            </a:avLst>
          </a:prstGeom>
          <a:solidFill>
            <a:srgbClr val="FFFFFF"/>
          </a:solidFill>
          <a:ln w="12700">
            <a:solidFill>
              <a:srgbClr val="DADCE0"/>
            </a:solidFill>
            <a:prstDash val="solid"/>
          </a:ln>
        </p:spPr>
      </p:sp>
      <p:sp>
        <p:nvSpPr>
          <p:cNvPr id="11" name="Cercle icona"/>
          <p:cNvSpPr/>
          <p:nvPr/>
        </p:nvSpPr>
        <p:spPr>
          <a:xfrm>
            <a:off x="4524146" y="2263140"/>
            <a:ext cx="548640" cy="548640"/>
          </a:xfrm>
          <a:prstGeom prst="ellipse">
            <a:avLst/>
          </a:prstGeom>
          <a:solidFill>
            <a:srgbClr val="E6F4EA"/>
          </a:solidFill>
          <a:ln/>
        </p:spPr>
      </p:sp>
      <p:pic>
        <p:nvPicPr>
          <p:cNvPr id="12" name="Icona TbBooks" descr="/home/claude/p857/build/img/ic/TbBooks-g.png">    </p:cNvPr>
          <p:cNvPicPr>
            <a:picLocks noChangeAspect="1"/>
          </p:cNvPicPr>
          <p:nvPr/>
        </p:nvPicPr>
        <p:blipFill>
          <a:blip r:embed="rId2"/>
          <a:stretch>
            <a:fillRect/>
          </a:stretch>
        </p:blipFill>
        <p:spPr>
          <a:xfrm>
            <a:off x="4644847" y="2383841"/>
            <a:ext cx="307238" cy="307238"/>
          </a:xfrm>
          <a:prstGeom prst="rect">
            <a:avLst/>
          </a:prstGeom>
        </p:spPr>
      </p:pic>
      <p:sp>
        <p:nvSpPr>
          <p:cNvPr id="13" name="Text 9"/>
          <p:cNvSpPr txBox="1"/>
          <p:nvPr/>
        </p:nvSpPr>
        <p:spPr>
          <a:xfrm>
            <a:off x="5255666" y="1965960"/>
            <a:ext cx="2448458" cy="1143000"/>
          </a:xfrm>
          <a:prstGeom prst="rect">
            <a:avLst/>
          </a:prstGeom>
          <a:noFill/>
          <a:ln/>
        </p:spPr>
        <p:txBody>
          <a:bodyPr wrap="square" lIns="0" tIns="0" rIns="0" bIns="0" rtlCol="0" anchor="ctr"/>
          <a:lstStyle/>
          <a:p>
            <a:pPr indent="0" marL="0">
              <a:buNone/>
            </a:pPr>
            <a:r>
              <a:rPr lang="en-US" sz="1800" b="1" dirty="0">
                <a:solidFill>
                  <a:srgbClr val="202124"/>
                </a:solidFill>
                <a:latin typeface="Roboto" pitchFamily="34" charset="0"/>
                <a:ea typeface="Roboto" pitchFamily="34" charset="-122"/>
                <a:cs typeface="Roboto" pitchFamily="34" charset="-120"/>
              </a:rPr>
              <a:t>Els llibres, a les biblioteques</a:t>
            </a:r>
            <a:endParaRPr lang="en-US" sz="1800" dirty="0"/>
          </a:p>
        </p:txBody>
      </p:sp>
      <p:sp>
        <p:nvSpPr>
          <p:cNvPr id="14" name="Rajola Els objectes, als museus"/>
          <p:cNvSpPr/>
          <p:nvPr/>
        </p:nvSpPr>
        <p:spPr>
          <a:xfrm>
            <a:off x="8097317" y="1965960"/>
            <a:ext cx="3545738" cy="1143000"/>
          </a:xfrm>
          <a:prstGeom prst="roundRect">
            <a:avLst>
              <a:gd name="adj" fmla="val 8800"/>
            </a:avLst>
          </a:prstGeom>
          <a:solidFill>
            <a:srgbClr val="FFFFFF"/>
          </a:solidFill>
          <a:ln w="12700">
            <a:solidFill>
              <a:srgbClr val="DADCE0"/>
            </a:solidFill>
            <a:prstDash val="solid"/>
          </a:ln>
        </p:spPr>
      </p:sp>
      <p:sp>
        <p:nvSpPr>
          <p:cNvPr id="15" name="Cercle icona"/>
          <p:cNvSpPr/>
          <p:nvPr/>
        </p:nvSpPr>
        <p:spPr>
          <a:xfrm>
            <a:off x="8298485" y="2263140"/>
            <a:ext cx="548640" cy="548640"/>
          </a:xfrm>
          <a:prstGeom prst="ellipse">
            <a:avLst/>
          </a:prstGeom>
          <a:solidFill>
            <a:srgbClr val="E6F4EA"/>
          </a:solidFill>
          <a:ln/>
        </p:spPr>
      </p:sp>
      <p:pic>
        <p:nvPicPr>
          <p:cNvPr id="16" name="Icona TbBuildingBank" descr="/home/claude/p857/build/img/ic/TbBuildingBank-g.png">    </p:cNvPr>
          <p:cNvPicPr>
            <a:picLocks noChangeAspect="1"/>
          </p:cNvPicPr>
          <p:nvPr/>
        </p:nvPicPr>
        <p:blipFill>
          <a:blip r:embed="rId3"/>
          <a:stretch>
            <a:fillRect/>
          </a:stretch>
        </p:blipFill>
        <p:spPr>
          <a:xfrm>
            <a:off x="8419186" y="2383841"/>
            <a:ext cx="307238" cy="307238"/>
          </a:xfrm>
          <a:prstGeom prst="rect">
            <a:avLst/>
          </a:prstGeom>
        </p:spPr>
      </p:pic>
      <p:sp>
        <p:nvSpPr>
          <p:cNvPr id="17" name="Text 12"/>
          <p:cNvSpPr txBox="1"/>
          <p:nvPr/>
        </p:nvSpPr>
        <p:spPr>
          <a:xfrm>
            <a:off x="9030005" y="1965960"/>
            <a:ext cx="2448458" cy="1143000"/>
          </a:xfrm>
          <a:prstGeom prst="rect">
            <a:avLst/>
          </a:prstGeom>
          <a:noFill/>
          <a:ln/>
        </p:spPr>
        <p:txBody>
          <a:bodyPr wrap="square" lIns="0" tIns="0" rIns="0" bIns="0" rtlCol="0" anchor="ctr"/>
          <a:lstStyle/>
          <a:p>
            <a:pPr indent="0" marL="0">
              <a:buNone/>
            </a:pPr>
            <a:r>
              <a:rPr lang="en-US" sz="1800" b="1" dirty="0">
                <a:solidFill>
                  <a:srgbClr val="202124"/>
                </a:solidFill>
                <a:latin typeface="Roboto" pitchFamily="34" charset="0"/>
                <a:ea typeface="Roboto" pitchFamily="34" charset="-122"/>
                <a:cs typeface="Roboto" pitchFamily="34" charset="-120"/>
              </a:rPr>
              <a:t>Els objectes, als museus</a:t>
            </a:r>
            <a:endParaRPr lang="en-US" sz="1800" dirty="0"/>
          </a:p>
        </p:txBody>
      </p:sp>
      <p:sp>
        <p:nvSpPr>
          <p:cNvPr id="18" name="Targeta A Catalunya hi ha"/>
          <p:cNvSpPr/>
          <p:nvPr/>
        </p:nvSpPr>
        <p:spPr>
          <a:xfrm>
            <a:off x="548640" y="3383280"/>
            <a:ext cx="4572000" cy="2606040"/>
          </a:xfrm>
          <a:prstGeom prst="roundRect">
            <a:avLst>
              <a:gd name="adj" fmla="val 3860"/>
            </a:avLst>
          </a:prstGeom>
          <a:solidFill>
            <a:srgbClr val="188038"/>
          </a:solidFill>
          <a:ln/>
        </p:spPr>
      </p:sp>
      <p:sp>
        <p:nvSpPr>
          <p:cNvPr id="19" name="Cercle icona"/>
          <p:cNvSpPr/>
          <p:nvPr/>
        </p:nvSpPr>
        <p:spPr>
          <a:xfrm>
            <a:off x="777240" y="3611880"/>
            <a:ext cx="548640" cy="548640"/>
          </a:xfrm>
          <a:prstGeom prst="ellipse">
            <a:avLst/>
          </a:prstGeom>
          <a:solidFill>
            <a:srgbClr val="FFFFFF"/>
          </a:solidFill>
          <a:ln/>
        </p:spPr>
      </p:sp>
      <p:pic>
        <p:nvPicPr>
          <p:cNvPr id="20" name="Icona TbArchive" descr="/home/claude/p857/build/img/ic/TbArchive-g.png">    </p:cNvPr>
          <p:cNvPicPr>
            <a:picLocks noChangeAspect="1"/>
          </p:cNvPicPr>
          <p:nvPr/>
        </p:nvPicPr>
        <p:blipFill>
          <a:blip r:embed="rId4"/>
          <a:stretch>
            <a:fillRect/>
          </a:stretch>
        </p:blipFill>
        <p:spPr>
          <a:xfrm>
            <a:off x="897941" y="3732581"/>
            <a:ext cx="307238" cy="307238"/>
          </a:xfrm>
          <a:prstGeom prst="rect">
            <a:avLst/>
          </a:prstGeom>
        </p:spPr>
      </p:pic>
      <p:sp>
        <p:nvSpPr>
          <p:cNvPr id="21" name="Text 15"/>
          <p:cNvSpPr txBox="1"/>
          <p:nvPr/>
        </p:nvSpPr>
        <p:spPr>
          <a:xfrm>
            <a:off x="1463040" y="3611880"/>
            <a:ext cx="3474720" cy="548640"/>
          </a:xfrm>
          <a:prstGeom prst="rect">
            <a:avLst/>
          </a:prstGeom>
          <a:noFill/>
          <a:ln/>
        </p:spPr>
        <p:txBody>
          <a:bodyPr wrap="square" lIns="0" tIns="0" rIns="0" bIns="0" rtlCol="0" anchor="ctr"/>
          <a:lstStyle/>
          <a:p>
            <a:pPr indent="0" marL="0">
              <a:buNone/>
            </a:pPr>
            <a:r>
              <a:rPr lang="en-US" sz="1600" b="1" dirty="0">
                <a:solidFill>
                  <a:srgbClr val="FFFFFF"/>
                </a:solidFill>
                <a:latin typeface="Roboto" pitchFamily="34" charset="0"/>
                <a:ea typeface="Roboto" pitchFamily="34" charset="-122"/>
                <a:cs typeface="Roboto" pitchFamily="34" charset="-120"/>
              </a:rPr>
              <a:t>A Catalunya hi ha</a:t>
            </a:r>
            <a:endParaRPr lang="en-US" sz="1600" dirty="0"/>
          </a:p>
        </p:txBody>
      </p:sp>
      <p:sp>
        <p:nvSpPr>
          <p:cNvPr id="22" name="Text 16"/>
          <p:cNvSpPr txBox="1"/>
          <p:nvPr/>
        </p:nvSpPr>
        <p:spPr>
          <a:xfrm>
            <a:off x="777240" y="4297680"/>
            <a:ext cx="4114800" cy="960120"/>
          </a:xfrm>
          <a:prstGeom prst="rect">
            <a:avLst/>
          </a:prstGeom>
          <a:noFill/>
          <a:ln/>
        </p:spPr>
        <p:txBody>
          <a:bodyPr wrap="square" lIns="0" tIns="0" rIns="0" bIns="0" rtlCol="0" anchor="ctr"/>
          <a:lstStyle/>
          <a:p>
            <a:pPr indent="0" marL="0">
              <a:buNone/>
            </a:pPr>
            <a:r>
              <a:rPr lang="en-US" sz="3000" b="1" dirty="0">
                <a:solidFill>
                  <a:srgbClr val="FFFFFF"/>
                </a:solidFill>
                <a:latin typeface="Roboto" pitchFamily="34" charset="0"/>
                <a:ea typeface="Roboto" pitchFamily="34" charset="-122"/>
                <a:cs typeface="Roboto" pitchFamily="34" charset="-120"/>
              </a:rPr>
              <a:t>Uns quaranta</a:t>
            </a:r>
            <a:endParaRPr lang="en-US" sz="3000" dirty="0"/>
          </a:p>
        </p:txBody>
      </p:sp>
      <p:sp>
        <p:nvSpPr>
          <p:cNvPr id="23" name="Text 17"/>
          <p:cNvSpPr txBox="1"/>
          <p:nvPr/>
        </p:nvSpPr>
        <p:spPr>
          <a:xfrm>
            <a:off x="777240" y="5303520"/>
            <a:ext cx="4114800" cy="548640"/>
          </a:xfrm>
          <a:prstGeom prst="rect">
            <a:avLst/>
          </a:prstGeom>
          <a:noFill/>
          <a:ln/>
        </p:spPr>
        <p:txBody>
          <a:bodyPr wrap="square" lIns="0" tIns="0" rIns="0" bIns="0" rtlCol="0" anchor="t"/>
          <a:lstStyle/>
          <a:p>
            <a:pPr indent="0" marL="0">
              <a:buNone/>
            </a:pPr>
            <a:r>
              <a:rPr lang="en-US" sz="1650" dirty="0">
                <a:solidFill>
                  <a:srgbClr val="FFFFFF"/>
                </a:solidFill>
                <a:latin typeface="Roboto" pitchFamily="34" charset="0"/>
                <a:ea typeface="Roboto" pitchFamily="34" charset="-122"/>
                <a:cs typeface="Roboto" pitchFamily="34" charset="-120"/>
              </a:rPr>
              <a:t>arxius comarcals, gairebé un per comarca.</a:t>
            </a:r>
            <a:endParaRPr lang="en-US" sz="1650" dirty="0"/>
          </a:p>
        </p:txBody>
      </p:sp>
      <p:sp>
        <p:nvSpPr>
          <p:cNvPr id="24" name="Paraula clau · Patrimoni"/>
          <p:cNvSpPr/>
          <p:nvPr/>
        </p:nvSpPr>
        <p:spPr>
          <a:xfrm>
            <a:off x="5394960" y="3383280"/>
            <a:ext cx="6248095" cy="2606040"/>
          </a:xfrm>
          <a:prstGeom prst="roundRect">
            <a:avLst>
              <a:gd name="adj" fmla="val 3860"/>
            </a:avLst>
          </a:prstGeom>
          <a:solidFill>
            <a:srgbClr val="E6F4EA"/>
          </a:solidFill>
          <a:ln/>
        </p:spPr>
      </p:sp>
      <p:sp>
        <p:nvSpPr>
          <p:cNvPr id="25" name="Text 19"/>
          <p:cNvSpPr txBox="1"/>
          <p:nvPr/>
        </p:nvSpPr>
        <p:spPr>
          <a:xfrm>
            <a:off x="5715000" y="3538728"/>
            <a:ext cx="5608015" cy="320040"/>
          </a:xfrm>
          <a:prstGeom prst="rect">
            <a:avLst/>
          </a:prstGeom>
          <a:noFill/>
          <a:ln/>
        </p:spPr>
        <p:txBody>
          <a:bodyPr wrap="square" lIns="0" tIns="0" rIns="0" bIns="0" rtlCol="0" anchor="t"/>
          <a:lstStyle/>
          <a:p>
            <a:pPr indent="0" marL="0">
              <a:buNone/>
            </a:pPr>
            <a:r>
              <a:rPr lang="en-US" sz="1400" b="1" dirty="0">
                <a:solidFill>
                  <a:srgbClr val="188038"/>
                </a:solidFill>
                <a:latin typeface="Roboto" pitchFamily="34" charset="0"/>
                <a:ea typeface="Roboto" pitchFamily="34" charset="-122"/>
                <a:cs typeface="Roboto" pitchFamily="34" charset="-120"/>
              </a:rPr>
              <a:t>Paraula clau · Patrimoni</a:t>
            </a:r>
            <a:endParaRPr lang="en-US" sz="1400" dirty="0"/>
          </a:p>
        </p:txBody>
      </p:sp>
      <p:sp>
        <p:nvSpPr>
          <p:cNvPr id="26" name="Text 20"/>
          <p:cNvSpPr txBox="1"/>
          <p:nvPr/>
        </p:nvSpPr>
        <p:spPr>
          <a:xfrm>
            <a:off x="5715000" y="3886200"/>
            <a:ext cx="5608015" cy="1965960"/>
          </a:xfrm>
          <a:prstGeom prst="rect">
            <a:avLst/>
          </a:prstGeom>
          <a:noFill/>
          <a:ln/>
        </p:spPr>
        <p:txBody>
          <a:bodyPr wrap="square" lIns="0" tIns="0" rIns="0" bIns="0" rtlCol="0" anchor="t"/>
          <a:lstStyle/>
          <a:p>
            <a:pPr indent="0" marL="0">
              <a:buNone/>
            </a:pPr>
            <a:r>
              <a:rPr lang="en-US" sz="1800" dirty="0">
                <a:solidFill>
                  <a:srgbClr val="202124"/>
                </a:solidFill>
                <a:latin typeface="Roboto" pitchFamily="34" charset="0"/>
                <a:ea typeface="Roboto" pitchFamily="34" charset="-122"/>
                <a:cs typeface="Roboto" pitchFamily="34" charset="-120"/>
              </a:rPr>
              <a:t>Conjunt d'edificis, objectes, documents i tradicions que hem heretat del passat i que cal conservar.</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6</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Contrastar les fonts</a:t>
            </a:r>
            <a:endParaRPr lang="en-US" sz="2800" dirty="0"/>
          </a:p>
        </p:txBody>
      </p:sp>
      <p:sp>
        <p:nvSpPr>
          <p:cNvPr id="5" name="Text 3"/>
          <p:cNvSpPr txBox="1"/>
          <p:nvPr/>
        </p:nvSpPr>
        <p:spPr>
          <a:xfrm>
            <a:off x="548640" y="1371600"/>
            <a:ext cx="11094415" cy="594360"/>
          </a:xfrm>
          <a:prstGeom prst="rect">
            <a:avLst/>
          </a:prstGeom>
          <a:noFill/>
          <a:ln/>
        </p:spPr>
        <p:txBody>
          <a:bodyPr wrap="square" lIns="0" tIns="0" rIns="0" bIns="0" rtlCol="0" anchor="t"/>
          <a:lstStyle/>
          <a:p>
            <a:pPr indent="0" marL="0">
              <a:buNone/>
            </a:pPr>
            <a:r>
              <a:rPr lang="en-US" sz="1800" dirty="0">
                <a:solidFill>
                  <a:srgbClr val="202124"/>
                </a:solidFill>
                <a:latin typeface="Roboto" pitchFamily="34" charset="0"/>
                <a:ea typeface="Roboto" pitchFamily="34" charset="-122"/>
                <a:cs typeface="Roboto" pitchFamily="34" charset="-120"/>
              </a:rPr>
              <a:t>Un bon historiador no es creu una sola font, les contrasta entre si. Si dues fonts diuen coses diferents, cal investigar quina és més fiable i per què.</a:t>
            </a:r>
            <a:endParaRPr lang="en-US" sz="1800" dirty="0"/>
          </a:p>
        </p:txBody>
      </p:sp>
      <p:sp>
        <p:nvSpPr>
          <p:cNvPr id="6" name="Qui la va fer?"/>
          <p:cNvSpPr/>
          <p:nvPr/>
        </p:nvSpPr>
        <p:spPr>
          <a:xfrm>
            <a:off x="548640" y="2240280"/>
            <a:ext cx="2602154" cy="2148840"/>
          </a:xfrm>
          <a:prstGeom prst="roundRect">
            <a:avLst>
              <a:gd name="adj" fmla="val 4681"/>
            </a:avLst>
          </a:prstGeom>
          <a:solidFill>
            <a:srgbClr val="FFFFFF"/>
          </a:solidFill>
          <a:ln w="12700">
            <a:solidFill>
              <a:srgbClr val="DADCE0"/>
            </a:solidFill>
            <a:prstDash val="solid"/>
          </a:ln>
        </p:spPr>
      </p:sp>
      <p:sp>
        <p:nvSpPr>
          <p:cNvPr id="7" name="Cercle icona"/>
          <p:cNvSpPr/>
          <p:nvPr/>
        </p:nvSpPr>
        <p:spPr>
          <a:xfrm>
            <a:off x="1461097" y="2514600"/>
            <a:ext cx="777240" cy="777240"/>
          </a:xfrm>
          <a:prstGeom prst="ellipse">
            <a:avLst/>
          </a:prstGeom>
          <a:solidFill>
            <a:srgbClr val="E6F4EA"/>
          </a:solidFill>
          <a:ln/>
        </p:spPr>
      </p:sp>
      <p:pic>
        <p:nvPicPr>
          <p:cNvPr id="8" name="Icona TbUser" descr="/home/claude/p857/build/img/ic/TbUser-g.png">    </p:cNvPr>
          <p:cNvPicPr>
            <a:picLocks noChangeAspect="1"/>
          </p:cNvPicPr>
          <p:nvPr/>
        </p:nvPicPr>
        <p:blipFill>
          <a:blip r:embed="rId1"/>
          <a:stretch>
            <a:fillRect/>
          </a:stretch>
        </p:blipFill>
        <p:spPr>
          <a:xfrm>
            <a:off x="1632090" y="2685593"/>
            <a:ext cx="435254" cy="435254"/>
          </a:xfrm>
          <a:prstGeom prst="rect">
            <a:avLst/>
          </a:prstGeom>
        </p:spPr>
      </p:pic>
      <p:sp>
        <p:nvSpPr>
          <p:cNvPr id="9" name="Text 6"/>
          <p:cNvSpPr txBox="1"/>
          <p:nvPr/>
        </p:nvSpPr>
        <p:spPr>
          <a:xfrm>
            <a:off x="731520" y="3429000"/>
            <a:ext cx="2236394" cy="822960"/>
          </a:xfrm>
          <a:prstGeom prst="rect">
            <a:avLst/>
          </a:prstGeom>
          <a:noFill/>
          <a:ln/>
        </p:spPr>
        <p:txBody>
          <a:bodyPr wrap="square" lIns="0" tIns="0" rIns="0" bIns="0" rtlCol="0" anchor="ctr"/>
          <a:lstStyle/>
          <a:p>
            <a:pPr algn="ctr" indent="0" marL="0">
              <a:buNone/>
            </a:pPr>
            <a:r>
              <a:rPr lang="en-US" sz="1900" b="1" dirty="0">
                <a:solidFill>
                  <a:srgbClr val="188038"/>
                </a:solidFill>
                <a:latin typeface="Roboto" pitchFamily="34" charset="0"/>
                <a:ea typeface="Roboto" pitchFamily="34" charset="-122"/>
                <a:cs typeface="Roboto" pitchFamily="34" charset="-120"/>
              </a:rPr>
              <a:t>Qui la va fer?</a:t>
            </a:r>
            <a:endParaRPr lang="en-US" sz="1900" dirty="0"/>
          </a:p>
        </p:txBody>
      </p:sp>
      <p:sp>
        <p:nvSpPr>
          <p:cNvPr id="10" name="Per a què?"/>
          <p:cNvSpPr/>
          <p:nvPr/>
        </p:nvSpPr>
        <p:spPr>
          <a:xfrm>
            <a:off x="3379394" y="2240280"/>
            <a:ext cx="2602154" cy="2148840"/>
          </a:xfrm>
          <a:prstGeom prst="roundRect">
            <a:avLst>
              <a:gd name="adj" fmla="val 4681"/>
            </a:avLst>
          </a:prstGeom>
          <a:solidFill>
            <a:srgbClr val="FFFFFF"/>
          </a:solidFill>
          <a:ln w="12700">
            <a:solidFill>
              <a:srgbClr val="DADCE0"/>
            </a:solidFill>
            <a:prstDash val="solid"/>
          </a:ln>
        </p:spPr>
      </p:sp>
      <p:sp>
        <p:nvSpPr>
          <p:cNvPr id="11" name="Cercle icona"/>
          <p:cNvSpPr/>
          <p:nvPr/>
        </p:nvSpPr>
        <p:spPr>
          <a:xfrm>
            <a:off x="4291851" y="2514600"/>
            <a:ext cx="777240" cy="777240"/>
          </a:xfrm>
          <a:prstGeom prst="ellipse">
            <a:avLst/>
          </a:prstGeom>
          <a:solidFill>
            <a:srgbClr val="E6F4EA"/>
          </a:solidFill>
          <a:ln/>
        </p:spPr>
      </p:sp>
      <p:pic>
        <p:nvPicPr>
          <p:cNvPr id="12" name="Icona TbTarget" descr="/home/claude/p857/build/img/ic/TbTarget-g.png">    </p:cNvPr>
          <p:cNvPicPr>
            <a:picLocks noChangeAspect="1"/>
          </p:cNvPicPr>
          <p:nvPr/>
        </p:nvPicPr>
        <p:blipFill>
          <a:blip r:embed="rId2"/>
          <a:stretch>
            <a:fillRect/>
          </a:stretch>
        </p:blipFill>
        <p:spPr>
          <a:xfrm>
            <a:off x="4462844" y="2685593"/>
            <a:ext cx="435254" cy="435254"/>
          </a:xfrm>
          <a:prstGeom prst="rect">
            <a:avLst/>
          </a:prstGeom>
        </p:spPr>
      </p:pic>
      <p:sp>
        <p:nvSpPr>
          <p:cNvPr id="13" name="Text 9"/>
          <p:cNvSpPr txBox="1"/>
          <p:nvPr/>
        </p:nvSpPr>
        <p:spPr>
          <a:xfrm>
            <a:off x="3562274" y="3429000"/>
            <a:ext cx="2236394" cy="822960"/>
          </a:xfrm>
          <a:prstGeom prst="rect">
            <a:avLst/>
          </a:prstGeom>
          <a:noFill/>
          <a:ln/>
        </p:spPr>
        <p:txBody>
          <a:bodyPr wrap="square" lIns="0" tIns="0" rIns="0" bIns="0" rtlCol="0" anchor="ctr"/>
          <a:lstStyle/>
          <a:p>
            <a:pPr algn="ctr" indent="0" marL="0">
              <a:buNone/>
            </a:pPr>
            <a:r>
              <a:rPr lang="en-US" sz="1900" b="1" dirty="0">
                <a:solidFill>
                  <a:srgbClr val="188038"/>
                </a:solidFill>
                <a:latin typeface="Roboto" pitchFamily="34" charset="0"/>
                <a:ea typeface="Roboto" pitchFamily="34" charset="-122"/>
                <a:cs typeface="Roboto" pitchFamily="34" charset="-120"/>
              </a:rPr>
              <a:t>Per a què?</a:t>
            </a:r>
            <a:endParaRPr lang="en-US" sz="1900" dirty="0"/>
          </a:p>
        </p:txBody>
      </p:sp>
      <p:sp>
        <p:nvSpPr>
          <p:cNvPr id="14" name="Hi era, quan va passar?"/>
          <p:cNvSpPr/>
          <p:nvPr/>
        </p:nvSpPr>
        <p:spPr>
          <a:xfrm>
            <a:off x="6210148" y="2240280"/>
            <a:ext cx="2602154" cy="2148840"/>
          </a:xfrm>
          <a:prstGeom prst="roundRect">
            <a:avLst>
              <a:gd name="adj" fmla="val 4681"/>
            </a:avLst>
          </a:prstGeom>
          <a:solidFill>
            <a:srgbClr val="FFFFFF"/>
          </a:solidFill>
          <a:ln w="12700">
            <a:solidFill>
              <a:srgbClr val="DADCE0"/>
            </a:solidFill>
            <a:prstDash val="solid"/>
          </a:ln>
        </p:spPr>
      </p:sp>
      <p:sp>
        <p:nvSpPr>
          <p:cNvPr id="15" name="Cercle icona"/>
          <p:cNvSpPr/>
          <p:nvPr/>
        </p:nvSpPr>
        <p:spPr>
          <a:xfrm>
            <a:off x="7122605" y="2514600"/>
            <a:ext cx="777240" cy="777240"/>
          </a:xfrm>
          <a:prstGeom prst="ellipse">
            <a:avLst/>
          </a:prstGeom>
          <a:solidFill>
            <a:srgbClr val="E6F4EA"/>
          </a:solidFill>
          <a:ln/>
        </p:spPr>
      </p:sp>
      <p:pic>
        <p:nvPicPr>
          <p:cNvPr id="16" name="Icona TbEye" descr="/home/claude/p857/build/img/ic/TbEye-g.png">    </p:cNvPr>
          <p:cNvPicPr>
            <a:picLocks noChangeAspect="1"/>
          </p:cNvPicPr>
          <p:nvPr/>
        </p:nvPicPr>
        <p:blipFill>
          <a:blip r:embed="rId3"/>
          <a:stretch>
            <a:fillRect/>
          </a:stretch>
        </p:blipFill>
        <p:spPr>
          <a:xfrm>
            <a:off x="7293597" y="2685593"/>
            <a:ext cx="435254" cy="435254"/>
          </a:xfrm>
          <a:prstGeom prst="rect">
            <a:avLst/>
          </a:prstGeom>
        </p:spPr>
      </p:pic>
      <p:sp>
        <p:nvSpPr>
          <p:cNvPr id="17" name="Text 12"/>
          <p:cNvSpPr txBox="1"/>
          <p:nvPr/>
        </p:nvSpPr>
        <p:spPr>
          <a:xfrm>
            <a:off x="6393028" y="3429000"/>
            <a:ext cx="2236394" cy="822960"/>
          </a:xfrm>
          <a:prstGeom prst="rect">
            <a:avLst/>
          </a:prstGeom>
          <a:noFill/>
          <a:ln/>
        </p:spPr>
        <p:txBody>
          <a:bodyPr wrap="square" lIns="0" tIns="0" rIns="0" bIns="0" rtlCol="0" anchor="ctr"/>
          <a:lstStyle/>
          <a:p>
            <a:pPr algn="ctr" indent="0" marL="0">
              <a:buNone/>
            </a:pPr>
            <a:r>
              <a:rPr lang="en-US" sz="1900" b="1" dirty="0">
                <a:solidFill>
                  <a:srgbClr val="188038"/>
                </a:solidFill>
                <a:latin typeface="Roboto" pitchFamily="34" charset="0"/>
                <a:ea typeface="Roboto" pitchFamily="34" charset="-122"/>
                <a:cs typeface="Roboto" pitchFamily="34" charset="-120"/>
              </a:rPr>
              <a:t>Hi era, quan va passar?</a:t>
            </a:r>
            <a:endParaRPr lang="en-US" sz="1900" dirty="0"/>
          </a:p>
        </p:txBody>
      </p:sp>
      <p:sp>
        <p:nvSpPr>
          <p:cNvPr id="18" name="Volia convèncer algú?"/>
          <p:cNvSpPr/>
          <p:nvPr/>
        </p:nvSpPr>
        <p:spPr>
          <a:xfrm>
            <a:off x="9040901" y="2240280"/>
            <a:ext cx="2602154" cy="2148840"/>
          </a:xfrm>
          <a:prstGeom prst="roundRect">
            <a:avLst>
              <a:gd name="adj" fmla="val 4681"/>
            </a:avLst>
          </a:prstGeom>
          <a:solidFill>
            <a:srgbClr val="FFFFFF"/>
          </a:solidFill>
          <a:ln w="12700">
            <a:solidFill>
              <a:srgbClr val="DADCE0"/>
            </a:solidFill>
            <a:prstDash val="solid"/>
          </a:ln>
        </p:spPr>
      </p:sp>
      <p:sp>
        <p:nvSpPr>
          <p:cNvPr id="19" name="Cercle icona"/>
          <p:cNvSpPr/>
          <p:nvPr/>
        </p:nvSpPr>
        <p:spPr>
          <a:xfrm>
            <a:off x="9953358" y="2514600"/>
            <a:ext cx="777240" cy="777240"/>
          </a:xfrm>
          <a:prstGeom prst="ellipse">
            <a:avLst/>
          </a:prstGeom>
          <a:solidFill>
            <a:srgbClr val="E6F4EA"/>
          </a:solidFill>
          <a:ln/>
        </p:spPr>
      </p:sp>
      <p:pic>
        <p:nvPicPr>
          <p:cNvPr id="20" name="Icona TbSpeakerphone" descr="/home/claude/p857/build/img/ic/TbSpeakerphone-g.png">    </p:cNvPr>
          <p:cNvPicPr>
            <a:picLocks noChangeAspect="1"/>
          </p:cNvPicPr>
          <p:nvPr/>
        </p:nvPicPr>
        <p:blipFill>
          <a:blip r:embed="rId4"/>
          <a:stretch>
            <a:fillRect/>
          </a:stretch>
        </p:blipFill>
        <p:spPr>
          <a:xfrm>
            <a:off x="10124351" y="2685593"/>
            <a:ext cx="435254" cy="435254"/>
          </a:xfrm>
          <a:prstGeom prst="rect">
            <a:avLst/>
          </a:prstGeom>
        </p:spPr>
      </p:pic>
      <p:sp>
        <p:nvSpPr>
          <p:cNvPr id="21" name="Text 15"/>
          <p:cNvSpPr txBox="1"/>
          <p:nvPr/>
        </p:nvSpPr>
        <p:spPr>
          <a:xfrm>
            <a:off x="9223781" y="3429000"/>
            <a:ext cx="2236394" cy="822960"/>
          </a:xfrm>
          <a:prstGeom prst="rect">
            <a:avLst/>
          </a:prstGeom>
          <a:noFill/>
          <a:ln/>
        </p:spPr>
        <p:txBody>
          <a:bodyPr wrap="square" lIns="0" tIns="0" rIns="0" bIns="0" rtlCol="0" anchor="ctr"/>
          <a:lstStyle/>
          <a:p>
            <a:pPr algn="ctr" indent="0" marL="0">
              <a:buNone/>
            </a:pPr>
            <a:r>
              <a:rPr lang="en-US" sz="1900" b="1" dirty="0">
                <a:solidFill>
                  <a:srgbClr val="188038"/>
                </a:solidFill>
                <a:latin typeface="Roboto" pitchFamily="34" charset="0"/>
                <a:ea typeface="Roboto" pitchFamily="34" charset="-122"/>
                <a:cs typeface="Roboto" pitchFamily="34" charset="-120"/>
              </a:rPr>
              <a:t>Volia convèncer algú?</a:t>
            </a:r>
            <a:endParaRPr lang="en-US" sz="1900" dirty="0"/>
          </a:p>
        </p:txBody>
      </p:sp>
      <p:sp>
        <p:nvSpPr>
          <p:cNvPr id="22" name="Per què cal fer-ho?"/>
          <p:cNvSpPr/>
          <p:nvPr/>
        </p:nvSpPr>
        <p:spPr>
          <a:xfrm>
            <a:off x="548640" y="4617720"/>
            <a:ext cx="11094415" cy="1371600"/>
          </a:xfrm>
          <a:prstGeom prst="roundRect">
            <a:avLst>
              <a:gd name="adj" fmla="val 7333"/>
            </a:avLst>
          </a:prstGeom>
          <a:solidFill>
            <a:srgbClr val="F6F8FB"/>
          </a:solidFill>
          <a:ln/>
        </p:spPr>
      </p:sp>
      <p:sp>
        <p:nvSpPr>
          <p:cNvPr id="23" name="Text 17"/>
          <p:cNvSpPr txBox="1"/>
          <p:nvPr/>
        </p:nvSpPr>
        <p:spPr>
          <a:xfrm>
            <a:off x="868680" y="4773168"/>
            <a:ext cx="10454335" cy="320040"/>
          </a:xfrm>
          <a:prstGeom prst="rect">
            <a:avLst/>
          </a:prstGeom>
          <a:noFill/>
          <a:ln/>
        </p:spPr>
        <p:txBody>
          <a:bodyPr wrap="square" lIns="0" tIns="0" rIns="0" bIns="0" rtlCol="0" anchor="t"/>
          <a:lstStyle/>
          <a:p>
            <a:pPr indent="0" marL="0">
              <a:buNone/>
            </a:pPr>
            <a:r>
              <a:rPr lang="en-US" sz="1400" b="1" dirty="0">
                <a:solidFill>
                  <a:srgbClr val="202124"/>
                </a:solidFill>
                <a:latin typeface="Roboto" pitchFamily="34" charset="0"/>
                <a:ea typeface="Roboto" pitchFamily="34" charset="-122"/>
                <a:cs typeface="Roboto" pitchFamily="34" charset="-120"/>
              </a:rPr>
              <a:t>Per què cal fer-ho?</a:t>
            </a:r>
            <a:endParaRPr lang="en-US" sz="1400" dirty="0"/>
          </a:p>
        </p:txBody>
      </p:sp>
      <p:sp>
        <p:nvSpPr>
          <p:cNvPr id="24" name="Text 18"/>
          <p:cNvSpPr txBox="1"/>
          <p:nvPr/>
        </p:nvSpPr>
        <p:spPr>
          <a:xfrm>
            <a:off x="868680" y="5120640"/>
            <a:ext cx="10454335" cy="731520"/>
          </a:xfrm>
          <a:prstGeom prst="rect">
            <a:avLst/>
          </a:prstGeom>
          <a:noFill/>
          <a:ln/>
        </p:spPr>
        <p:txBody>
          <a:bodyPr wrap="square" lIns="0" tIns="0" rIns="0" bIns="0" rtlCol="0" anchor="t"/>
          <a:lstStyle/>
          <a:p>
            <a:pPr indent="0" marL="0">
              <a:buNone/>
            </a:pPr>
            <a:r>
              <a:rPr lang="en-US" sz="1800" dirty="0">
                <a:solidFill>
                  <a:srgbClr val="5F6368"/>
                </a:solidFill>
                <a:latin typeface="Roboto" pitchFamily="34" charset="0"/>
                <a:ea typeface="Roboto" pitchFamily="34" charset="-122"/>
                <a:cs typeface="Roboto" pitchFamily="34" charset="-120"/>
              </a:rPr>
              <a:t>Perquè una sola font pot equivocar-se, mentir o explicar només una part del que va passar.</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6</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Saps que…? Una falsificació famosa</a:t>
            </a:r>
            <a:endParaRPr lang="en-US" sz="2800" dirty="0"/>
          </a:p>
        </p:txBody>
      </p:sp>
      <p:sp>
        <p:nvSpPr>
          <p:cNvPr id="5" name="Targeta Durant segles"/>
          <p:cNvSpPr/>
          <p:nvPr/>
        </p:nvSpPr>
        <p:spPr>
          <a:xfrm>
            <a:off x="548640" y="1371600"/>
            <a:ext cx="3515258" cy="3566160"/>
          </a:xfrm>
          <a:prstGeom prst="roundRect">
            <a:avLst>
              <a:gd name="adj" fmla="val 2861"/>
            </a:avLst>
          </a:prstGeom>
          <a:solidFill>
            <a:srgbClr val="FFFFFF"/>
          </a:solidFill>
          <a:ln w="12700">
            <a:solidFill>
              <a:srgbClr val="DADCE0"/>
            </a:solidFill>
            <a:prstDash val="solid"/>
          </a:ln>
        </p:spPr>
      </p:sp>
      <p:sp>
        <p:nvSpPr>
          <p:cNvPr id="6" name="Cercle icona"/>
          <p:cNvSpPr/>
          <p:nvPr/>
        </p:nvSpPr>
        <p:spPr>
          <a:xfrm>
            <a:off x="777240" y="1600200"/>
            <a:ext cx="548640" cy="548640"/>
          </a:xfrm>
          <a:prstGeom prst="ellipse">
            <a:avLst/>
          </a:prstGeom>
          <a:solidFill>
            <a:srgbClr val="E6F4EA"/>
          </a:solidFill>
          <a:ln/>
        </p:spPr>
      </p:sp>
      <p:pic>
        <p:nvPicPr>
          <p:cNvPr id="7" name="Icona TbScript" descr="/home/claude/p857/build/img/ic/TbScript-g.png">    </p:cNvPr>
          <p:cNvPicPr>
            <a:picLocks noChangeAspect="1"/>
          </p:cNvPicPr>
          <p:nvPr/>
        </p:nvPicPr>
        <p:blipFill>
          <a:blip r:embed="rId1"/>
          <a:stretch>
            <a:fillRect/>
          </a:stretch>
        </p:blipFill>
        <p:spPr>
          <a:xfrm>
            <a:off x="897941" y="1720901"/>
            <a:ext cx="307238" cy="307238"/>
          </a:xfrm>
          <a:prstGeom prst="rect">
            <a:avLst/>
          </a:prstGeom>
        </p:spPr>
      </p:pic>
      <p:sp>
        <p:nvSpPr>
          <p:cNvPr id="8" name="Text 5"/>
          <p:cNvSpPr txBox="1"/>
          <p:nvPr/>
        </p:nvSpPr>
        <p:spPr>
          <a:xfrm>
            <a:off x="1463040" y="1600200"/>
            <a:ext cx="2417978" cy="548640"/>
          </a:xfrm>
          <a:prstGeom prst="rect">
            <a:avLst/>
          </a:prstGeom>
          <a:noFill/>
          <a:ln/>
        </p:spPr>
        <p:txBody>
          <a:bodyPr wrap="square" lIns="0" tIns="0" rIns="0" bIns="0" rtlCol="0" anchor="ctr"/>
          <a:lstStyle/>
          <a:p>
            <a:pPr indent="0" marL="0">
              <a:buNone/>
            </a:pPr>
            <a:r>
              <a:rPr lang="en-US" sz="1600" b="1" dirty="0">
                <a:solidFill>
                  <a:srgbClr val="5F6368"/>
                </a:solidFill>
                <a:latin typeface="Roboto" pitchFamily="34" charset="0"/>
                <a:ea typeface="Roboto" pitchFamily="34" charset="-122"/>
                <a:cs typeface="Roboto" pitchFamily="34" charset="-120"/>
              </a:rPr>
              <a:t>Durant segles</a:t>
            </a:r>
            <a:endParaRPr lang="en-US" sz="1600" dirty="0"/>
          </a:p>
        </p:txBody>
      </p:sp>
      <p:sp>
        <p:nvSpPr>
          <p:cNvPr id="9" name="Text 6"/>
          <p:cNvSpPr txBox="1"/>
          <p:nvPr/>
        </p:nvSpPr>
        <p:spPr>
          <a:xfrm>
            <a:off x="777240" y="2286000"/>
            <a:ext cx="3058058" cy="960120"/>
          </a:xfrm>
          <a:prstGeom prst="rect">
            <a:avLst/>
          </a:prstGeom>
          <a:noFill/>
          <a:ln/>
        </p:spPr>
        <p:txBody>
          <a:bodyPr wrap="square" lIns="0" tIns="0" rIns="0" bIns="0" rtlCol="0" anchor="ctr"/>
          <a:lstStyle/>
          <a:p>
            <a:pPr indent="0" marL="0">
              <a:buNone/>
            </a:pPr>
            <a:r>
              <a:rPr lang="en-US" sz="2300" b="1" dirty="0">
                <a:solidFill>
                  <a:srgbClr val="188038"/>
                </a:solidFill>
                <a:latin typeface="Roboto" pitchFamily="34" charset="0"/>
                <a:ea typeface="Roboto" pitchFamily="34" charset="-122"/>
                <a:cs typeface="Roboto" pitchFamily="34" charset="-120"/>
              </a:rPr>
              <a:t>La Donació de Constantí</a:t>
            </a:r>
            <a:endParaRPr lang="en-US" sz="2300" dirty="0"/>
          </a:p>
        </p:txBody>
      </p:sp>
      <p:sp>
        <p:nvSpPr>
          <p:cNvPr id="10" name="Text 7"/>
          <p:cNvSpPr txBox="1"/>
          <p:nvPr/>
        </p:nvSpPr>
        <p:spPr>
          <a:xfrm>
            <a:off x="777240" y="3291840"/>
            <a:ext cx="3058058" cy="1508760"/>
          </a:xfrm>
          <a:prstGeom prst="rect">
            <a:avLst/>
          </a:prstGeom>
          <a:noFill/>
          <a:ln/>
        </p:spPr>
        <p:txBody>
          <a:bodyPr wrap="square" lIns="0" tIns="0" rIns="0" bIns="0" rtlCol="0" anchor="t"/>
          <a:lstStyle/>
          <a:p>
            <a:pPr indent="0" marL="0">
              <a:buNone/>
            </a:pPr>
            <a:r>
              <a:rPr lang="en-US" sz="1650" dirty="0">
                <a:solidFill>
                  <a:srgbClr val="202124"/>
                </a:solidFill>
                <a:latin typeface="Roboto" pitchFamily="34" charset="0"/>
                <a:ea typeface="Roboto" pitchFamily="34" charset="-122"/>
                <a:cs typeface="Roboto" pitchFamily="34" charset="-120"/>
              </a:rPr>
              <a:t>Molta gent creia que era autèntica. Deia que l'emperador romà Constantí havia regalat al papa el poder sobre l'Imperi d'Occident.</a:t>
            </a:r>
            <a:endParaRPr lang="en-US" sz="1650" dirty="0"/>
          </a:p>
        </p:txBody>
      </p:sp>
      <p:sp>
        <p:nvSpPr>
          <p:cNvPr id="11" name="Targeta Cap al 1440"/>
          <p:cNvSpPr/>
          <p:nvPr/>
        </p:nvSpPr>
        <p:spPr>
          <a:xfrm>
            <a:off x="4338218" y="1371600"/>
            <a:ext cx="3515258" cy="3566160"/>
          </a:xfrm>
          <a:prstGeom prst="roundRect">
            <a:avLst>
              <a:gd name="adj" fmla="val 2861"/>
            </a:avLst>
          </a:prstGeom>
          <a:solidFill>
            <a:srgbClr val="FFFFFF"/>
          </a:solidFill>
          <a:ln w="12700">
            <a:solidFill>
              <a:srgbClr val="DADCE0"/>
            </a:solidFill>
            <a:prstDash val="solid"/>
          </a:ln>
        </p:spPr>
      </p:sp>
      <p:sp>
        <p:nvSpPr>
          <p:cNvPr id="12" name="Cercle icona"/>
          <p:cNvSpPr/>
          <p:nvPr/>
        </p:nvSpPr>
        <p:spPr>
          <a:xfrm>
            <a:off x="4566818" y="1600200"/>
            <a:ext cx="548640" cy="548640"/>
          </a:xfrm>
          <a:prstGeom prst="ellipse">
            <a:avLst/>
          </a:prstGeom>
          <a:solidFill>
            <a:srgbClr val="E6F4EA"/>
          </a:solidFill>
          <a:ln/>
        </p:spPr>
      </p:sp>
      <p:pic>
        <p:nvPicPr>
          <p:cNvPr id="13" name="Icona TbSearch" descr="/home/claude/p857/build/img/ic/TbSearch-g.png">    </p:cNvPr>
          <p:cNvPicPr>
            <a:picLocks noChangeAspect="1"/>
          </p:cNvPicPr>
          <p:nvPr/>
        </p:nvPicPr>
        <p:blipFill>
          <a:blip r:embed="rId2"/>
          <a:stretch>
            <a:fillRect/>
          </a:stretch>
        </p:blipFill>
        <p:spPr>
          <a:xfrm>
            <a:off x="4687519" y="1720901"/>
            <a:ext cx="307238" cy="307238"/>
          </a:xfrm>
          <a:prstGeom prst="rect">
            <a:avLst/>
          </a:prstGeom>
        </p:spPr>
      </p:pic>
      <p:sp>
        <p:nvSpPr>
          <p:cNvPr id="14" name="Text 10"/>
          <p:cNvSpPr txBox="1"/>
          <p:nvPr/>
        </p:nvSpPr>
        <p:spPr>
          <a:xfrm>
            <a:off x="5252618" y="1600200"/>
            <a:ext cx="2417978" cy="548640"/>
          </a:xfrm>
          <a:prstGeom prst="rect">
            <a:avLst/>
          </a:prstGeom>
          <a:noFill/>
          <a:ln/>
        </p:spPr>
        <p:txBody>
          <a:bodyPr wrap="square" lIns="0" tIns="0" rIns="0" bIns="0" rtlCol="0" anchor="ctr"/>
          <a:lstStyle/>
          <a:p>
            <a:pPr indent="0" marL="0">
              <a:buNone/>
            </a:pPr>
            <a:r>
              <a:rPr lang="en-US" sz="1600" b="1" dirty="0">
                <a:solidFill>
                  <a:srgbClr val="5F6368"/>
                </a:solidFill>
                <a:latin typeface="Roboto" pitchFamily="34" charset="0"/>
                <a:ea typeface="Roboto" pitchFamily="34" charset="-122"/>
                <a:cs typeface="Roboto" pitchFamily="34" charset="-120"/>
              </a:rPr>
              <a:t>Cap al 1440</a:t>
            </a:r>
            <a:endParaRPr lang="en-US" sz="1600" dirty="0"/>
          </a:p>
        </p:txBody>
      </p:sp>
      <p:sp>
        <p:nvSpPr>
          <p:cNvPr id="15" name="Text 11"/>
          <p:cNvSpPr txBox="1"/>
          <p:nvPr/>
        </p:nvSpPr>
        <p:spPr>
          <a:xfrm>
            <a:off x="4566818" y="2286000"/>
            <a:ext cx="3058058" cy="960120"/>
          </a:xfrm>
          <a:prstGeom prst="rect">
            <a:avLst/>
          </a:prstGeom>
          <a:noFill/>
          <a:ln/>
        </p:spPr>
        <p:txBody>
          <a:bodyPr wrap="square" lIns="0" tIns="0" rIns="0" bIns="0" rtlCol="0" anchor="ctr"/>
          <a:lstStyle/>
          <a:p>
            <a:pPr indent="0" marL="0">
              <a:buNone/>
            </a:pPr>
            <a:r>
              <a:rPr lang="en-US" sz="2300" b="1" dirty="0">
                <a:solidFill>
                  <a:srgbClr val="188038"/>
                </a:solidFill>
                <a:latin typeface="Roboto" pitchFamily="34" charset="0"/>
                <a:ea typeface="Roboto" pitchFamily="34" charset="-122"/>
                <a:cs typeface="Roboto" pitchFamily="34" charset="-120"/>
              </a:rPr>
              <a:t>Lorenzo Valla</a:t>
            </a:r>
            <a:endParaRPr lang="en-US" sz="2300" dirty="0"/>
          </a:p>
        </p:txBody>
      </p:sp>
      <p:sp>
        <p:nvSpPr>
          <p:cNvPr id="16" name="Text 12"/>
          <p:cNvSpPr txBox="1"/>
          <p:nvPr/>
        </p:nvSpPr>
        <p:spPr>
          <a:xfrm>
            <a:off x="4566818" y="3291840"/>
            <a:ext cx="3058058" cy="1508760"/>
          </a:xfrm>
          <a:prstGeom prst="rect">
            <a:avLst/>
          </a:prstGeom>
          <a:noFill/>
          <a:ln/>
        </p:spPr>
        <p:txBody>
          <a:bodyPr wrap="square" lIns="0" tIns="0" rIns="0" bIns="0" rtlCol="0" anchor="t"/>
          <a:lstStyle/>
          <a:p>
            <a:pPr indent="0" marL="0">
              <a:buNone/>
            </a:pPr>
            <a:r>
              <a:rPr lang="en-US" sz="1650" dirty="0">
                <a:solidFill>
                  <a:srgbClr val="202124"/>
                </a:solidFill>
                <a:latin typeface="Roboto" pitchFamily="34" charset="0"/>
                <a:ea typeface="Roboto" pitchFamily="34" charset="-122"/>
                <a:cs typeface="Roboto" pitchFamily="34" charset="-120"/>
              </a:rPr>
              <a:t>Aquest humanista va estudiar-ne el llatí i va demostrar que era una falsificació.</a:t>
            </a:r>
            <a:endParaRPr lang="en-US" sz="1650" dirty="0"/>
          </a:p>
        </p:txBody>
      </p:sp>
      <p:sp>
        <p:nvSpPr>
          <p:cNvPr id="17" name="Targeta La pista"/>
          <p:cNvSpPr/>
          <p:nvPr/>
        </p:nvSpPr>
        <p:spPr>
          <a:xfrm>
            <a:off x="8127797" y="1371600"/>
            <a:ext cx="3515258" cy="3566160"/>
          </a:xfrm>
          <a:prstGeom prst="roundRect">
            <a:avLst>
              <a:gd name="adj" fmla="val 2861"/>
            </a:avLst>
          </a:prstGeom>
          <a:solidFill>
            <a:srgbClr val="188038"/>
          </a:solidFill>
          <a:ln/>
        </p:spPr>
      </p:sp>
      <p:sp>
        <p:nvSpPr>
          <p:cNvPr id="18" name="Cercle icona"/>
          <p:cNvSpPr/>
          <p:nvPr/>
        </p:nvSpPr>
        <p:spPr>
          <a:xfrm>
            <a:off x="8356397" y="1600200"/>
            <a:ext cx="548640" cy="548640"/>
          </a:xfrm>
          <a:prstGeom prst="ellipse">
            <a:avLst/>
          </a:prstGeom>
          <a:solidFill>
            <a:srgbClr val="FFFFFF"/>
          </a:solidFill>
          <a:ln/>
        </p:spPr>
      </p:sp>
      <p:pic>
        <p:nvPicPr>
          <p:cNvPr id="19" name="Icona TbKey" descr="/home/claude/p857/build/img/ic/TbKey-g.png">    </p:cNvPr>
          <p:cNvPicPr>
            <a:picLocks noChangeAspect="1"/>
          </p:cNvPicPr>
          <p:nvPr/>
        </p:nvPicPr>
        <p:blipFill>
          <a:blip r:embed="rId3"/>
          <a:stretch>
            <a:fillRect/>
          </a:stretch>
        </p:blipFill>
        <p:spPr>
          <a:xfrm>
            <a:off x="8477098" y="1720901"/>
            <a:ext cx="307238" cy="307238"/>
          </a:xfrm>
          <a:prstGeom prst="rect">
            <a:avLst/>
          </a:prstGeom>
        </p:spPr>
      </p:pic>
      <p:sp>
        <p:nvSpPr>
          <p:cNvPr id="20" name="Text 15"/>
          <p:cNvSpPr txBox="1"/>
          <p:nvPr/>
        </p:nvSpPr>
        <p:spPr>
          <a:xfrm>
            <a:off x="9042197" y="1600200"/>
            <a:ext cx="2417978" cy="548640"/>
          </a:xfrm>
          <a:prstGeom prst="rect">
            <a:avLst/>
          </a:prstGeom>
          <a:noFill/>
          <a:ln/>
        </p:spPr>
        <p:txBody>
          <a:bodyPr wrap="square" lIns="0" tIns="0" rIns="0" bIns="0" rtlCol="0" anchor="ctr"/>
          <a:lstStyle/>
          <a:p>
            <a:pPr indent="0" marL="0">
              <a:buNone/>
            </a:pPr>
            <a:r>
              <a:rPr lang="en-US" sz="1600" b="1" dirty="0">
                <a:solidFill>
                  <a:srgbClr val="FFFFFF"/>
                </a:solidFill>
                <a:latin typeface="Roboto" pitchFamily="34" charset="0"/>
                <a:ea typeface="Roboto" pitchFamily="34" charset="-122"/>
                <a:cs typeface="Roboto" pitchFamily="34" charset="-120"/>
              </a:rPr>
              <a:t>La pista</a:t>
            </a:r>
            <a:endParaRPr lang="en-US" sz="1600" dirty="0"/>
          </a:p>
        </p:txBody>
      </p:sp>
      <p:sp>
        <p:nvSpPr>
          <p:cNvPr id="21" name="Text 16"/>
          <p:cNvSpPr txBox="1"/>
          <p:nvPr/>
        </p:nvSpPr>
        <p:spPr>
          <a:xfrm>
            <a:off x="8356397" y="2286000"/>
            <a:ext cx="3058058" cy="960120"/>
          </a:xfrm>
          <a:prstGeom prst="rect">
            <a:avLst/>
          </a:prstGeom>
          <a:noFill/>
          <a:ln/>
        </p:spPr>
        <p:txBody>
          <a:bodyPr wrap="square" lIns="0" tIns="0" rIns="0" bIns="0" rtlCol="0" anchor="ctr"/>
          <a:lstStyle/>
          <a:p>
            <a:pPr indent="0" marL="0">
              <a:buNone/>
            </a:pPr>
            <a:r>
              <a:rPr lang="en-US" sz="2300" b="1" dirty="0">
                <a:solidFill>
                  <a:srgbClr val="FFFFFF"/>
                </a:solidFill>
                <a:latin typeface="Roboto" pitchFamily="34" charset="0"/>
                <a:ea typeface="Roboto" pitchFamily="34" charset="-122"/>
                <a:cs typeface="Roboto" pitchFamily="34" charset="-120"/>
              </a:rPr>
              <a:t>Les paraules</a:t>
            </a:r>
            <a:endParaRPr lang="en-US" sz="2300" dirty="0"/>
          </a:p>
        </p:txBody>
      </p:sp>
      <p:sp>
        <p:nvSpPr>
          <p:cNvPr id="22" name="Text 17"/>
          <p:cNvSpPr txBox="1"/>
          <p:nvPr/>
        </p:nvSpPr>
        <p:spPr>
          <a:xfrm>
            <a:off x="8356397" y="3291840"/>
            <a:ext cx="3058058" cy="1508760"/>
          </a:xfrm>
          <a:prstGeom prst="rect">
            <a:avLst/>
          </a:prstGeom>
          <a:noFill/>
          <a:ln/>
        </p:spPr>
        <p:txBody>
          <a:bodyPr wrap="square" lIns="0" tIns="0" rIns="0" bIns="0" rtlCol="0" anchor="t"/>
          <a:lstStyle/>
          <a:p>
            <a:pPr indent="0" marL="0">
              <a:buNone/>
            </a:pPr>
            <a:r>
              <a:rPr lang="en-US" sz="1650" dirty="0">
                <a:solidFill>
                  <a:srgbClr val="FFFFFF"/>
                </a:solidFill>
                <a:latin typeface="Roboto" pitchFamily="34" charset="0"/>
                <a:ea typeface="Roboto" pitchFamily="34" charset="-122"/>
                <a:cs typeface="Roboto" pitchFamily="34" charset="-120"/>
              </a:rPr>
              <a:t>que feia servir no existien encara a l'època de Constantí.</a:t>
            </a:r>
            <a:endParaRPr lang="en-US" sz="1650" dirty="0"/>
          </a:p>
        </p:txBody>
      </p:sp>
      <p:sp>
        <p:nvSpPr>
          <p:cNvPr id="23" name="Un treball de detectiu"/>
          <p:cNvSpPr/>
          <p:nvPr/>
        </p:nvSpPr>
        <p:spPr>
          <a:xfrm>
            <a:off x="548640" y="5166360"/>
            <a:ext cx="11094415" cy="822960"/>
          </a:xfrm>
          <a:prstGeom prst="roundRect">
            <a:avLst>
              <a:gd name="adj" fmla="val 12222"/>
            </a:avLst>
          </a:prstGeom>
          <a:solidFill>
            <a:srgbClr val="E6F4EA"/>
          </a:solidFill>
          <a:ln/>
        </p:spPr>
      </p:sp>
      <p:sp>
        <p:nvSpPr>
          <p:cNvPr id="24" name="Text 19"/>
          <p:cNvSpPr txBox="1"/>
          <p:nvPr/>
        </p:nvSpPr>
        <p:spPr>
          <a:xfrm>
            <a:off x="868680" y="5321808"/>
            <a:ext cx="10454335" cy="320040"/>
          </a:xfrm>
          <a:prstGeom prst="rect">
            <a:avLst/>
          </a:prstGeom>
          <a:noFill/>
          <a:ln/>
        </p:spPr>
        <p:txBody>
          <a:bodyPr wrap="square" lIns="0" tIns="0" rIns="0" bIns="0" rtlCol="0" anchor="t"/>
          <a:lstStyle/>
          <a:p>
            <a:pPr indent="0" marL="0">
              <a:buNone/>
            </a:pPr>
            <a:r>
              <a:rPr lang="en-US" sz="1400" b="1" dirty="0">
                <a:solidFill>
                  <a:srgbClr val="188038"/>
                </a:solidFill>
                <a:latin typeface="Roboto" pitchFamily="34" charset="0"/>
                <a:ea typeface="Roboto" pitchFamily="34" charset="-122"/>
                <a:cs typeface="Roboto" pitchFamily="34" charset="-120"/>
              </a:rPr>
              <a:t>Un treball de detectiu</a:t>
            </a:r>
            <a:endParaRPr lang="en-US" sz="1400" dirty="0"/>
          </a:p>
        </p:txBody>
      </p:sp>
      <p:sp>
        <p:nvSpPr>
          <p:cNvPr id="25" name="Text 20"/>
          <p:cNvSpPr txBox="1"/>
          <p:nvPr/>
        </p:nvSpPr>
        <p:spPr>
          <a:xfrm>
            <a:off x="868680" y="5669280"/>
            <a:ext cx="10454335" cy="182880"/>
          </a:xfrm>
          <a:prstGeom prst="rect">
            <a:avLst/>
          </a:prstGeom>
          <a:noFill/>
          <a:ln/>
        </p:spPr>
        <p:txBody>
          <a:bodyPr wrap="square" lIns="0" tIns="0" rIns="0" bIns="0" rtlCol="0" anchor="t"/>
          <a:lstStyle/>
          <a:p>
            <a:pPr indent="0" marL="0">
              <a:buNone/>
            </a:pPr>
            <a:r>
              <a:rPr lang="en-US" sz="1550" dirty="0">
                <a:solidFill>
                  <a:srgbClr val="202124"/>
                </a:solidFill>
                <a:latin typeface="Roboto" pitchFamily="34" charset="0"/>
                <a:ea typeface="Roboto" pitchFamily="34" charset="-122"/>
                <a:cs typeface="Roboto" pitchFamily="34" charset="-120"/>
              </a:rPr>
              <a:t>Va contrastar el document amb el que se sabia de l'època de Constantí, com fa qualsevol historiador.</a:t>
            </a:r>
            <a:endParaRPr lang="en-US" sz="15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6</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Comprova-ho</a:t>
            </a:r>
            <a:endParaRPr lang="en-US" sz="2800" dirty="0"/>
          </a:p>
        </p:txBody>
      </p:sp>
      <p:sp>
        <p:nvSpPr>
          <p:cNvPr id="5" name="Text 3"/>
          <p:cNvSpPr txBox="1"/>
          <p:nvPr/>
        </p:nvSpPr>
        <p:spPr>
          <a:xfrm>
            <a:off x="548640" y="1371600"/>
            <a:ext cx="3657600" cy="320040"/>
          </a:xfrm>
          <a:prstGeom prst="rect">
            <a:avLst/>
          </a:prstGeom>
          <a:noFill/>
          <a:ln/>
        </p:spPr>
        <p:txBody>
          <a:bodyPr wrap="square" lIns="0" tIns="0" rIns="0" bIns="0" rtlCol="0" anchor="t"/>
          <a:lstStyle/>
          <a:p>
            <a:pPr indent="0" marL="0">
              <a:buNone/>
            </a:pPr>
            <a:r>
              <a:rPr lang="en-US" sz="1400" b="1" dirty="0">
                <a:solidFill>
                  <a:srgbClr val="5F6368"/>
                </a:solidFill>
                <a:latin typeface="Roboto" pitchFamily="34" charset="0"/>
                <a:ea typeface="Roboto" pitchFamily="34" charset="-122"/>
                <a:cs typeface="Roboto" pitchFamily="34" charset="-120"/>
              </a:rPr>
              <a:t>Paraules clau</a:t>
            </a:r>
            <a:endParaRPr lang="en-US" sz="1400" dirty="0"/>
          </a:p>
        </p:txBody>
      </p:sp>
      <p:sp>
        <p:nvSpPr>
          <p:cNvPr id="6" name="Etiqueta Font primària"/>
          <p:cNvSpPr/>
          <p:nvPr/>
        </p:nvSpPr>
        <p:spPr>
          <a:xfrm>
            <a:off x="548640" y="1755648"/>
            <a:ext cx="1618488" cy="384048"/>
          </a:xfrm>
          <a:prstGeom prst="roundRect">
            <a:avLst>
              <a:gd name="adj" fmla="val 50000"/>
            </a:avLst>
          </a:prstGeom>
          <a:solidFill>
            <a:srgbClr val="E6F4EA"/>
          </a:solidFill>
          <a:ln/>
        </p:spPr>
      </p:sp>
      <p:sp>
        <p:nvSpPr>
          <p:cNvPr id="7" name="Text 5"/>
          <p:cNvSpPr txBox="1"/>
          <p:nvPr/>
        </p:nvSpPr>
        <p:spPr>
          <a:xfrm>
            <a:off x="548640" y="1755648"/>
            <a:ext cx="1618488"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Font primària</a:t>
            </a:r>
            <a:endParaRPr lang="en-US" sz="1500" dirty="0"/>
          </a:p>
        </p:txBody>
      </p:sp>
      <p:sp>
        <p:nvSpPr>
          <p:cNvPr id="8" name="Etiqueta Font secundària"/>
          <p:cNvSpPr/>
          <p:nvPr/>
        </p:nvSpPr>
        <p:spPr>
          <a:xfrm>
            <a:off x="2276856" y="1755648"/>
            <a:ext cx="1819656" cy="384048"/>
          </a:xfrm>
          <a:prstGeom prst="roundRect">
            <a:avLst>
              <a:gd name="adj" fmla="val 50000"/>
            </a:avLst>
          </a:prstGeom>
          <a:solidFill>
            <a:srgbClr val="E6F4EA"/>
          </a:solidFill>
          <a:ln/>
        </p:spPr>
      </p:sp>
      <p:sp>
        <p:nvSpPr>
          <p:cNvPr id="9" name="Text 7"/>
          <p:cNvSpPr txBox="1"/>
          <p:nvPr/>
        </p:nvSpPr>
        <p:spPr>
          <a:xfrm>
            <a:off x="2276856" y="1755648"/>
            <a:ext cx="1819656"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Font secundària</a:t>
            </a:r>
            <a:endParaRPr lang="en-US" sz="1500" dirty="0"/>
          </a:p>
        </p:txBody>
      </p:sp>
      <p:sp>
        <p:nvSpPr>
          <p:cNvPr id="10" name="Etiqueta Font oral"/>
          <p:cNvSpPr/>
          <p:nvPr/>
        </p:nvSpPr>
        <p:spPr>
          <a:xfrm>
            <a:off x="4206240" y="1755648"/>
            <a:ext cx="1216152" cy="384048"/>
          </a:xfrm>
          <a:prstGeom prst="roundRect">
            <a:avLst>
              <a:gd name="adj" fmla="val 50000"/>
            </a:avLst>
          </a:prstGeom>
          <a:solidFill>
            <a:srgbClr val="E6F4EA"/>
          </a:solidFill>
          <a:ln/>
        </p:spPr>
      </p:sp>
      <p:sp>
        <p:nvSpPr>
          <p:cNvPr id="11" name="Text 9"/>
          <p:cNvSpPr txBox="1"/>
          <p:nvPr/>
        </p:nvSpPr>
        <p:spPr>
          <a:xfrm>
            <a:off x="4206240" y="1755648"/>
            <a:ext cx="1216152"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Font oral</a:t>
            </a:r>
            <a:endParaRPr lang="en-US" sz="1500" dirty="0"/>
          </a:p>
        </p:txBody>
      </p:sp>
      <p:sp>
        <p:nvSpPr>
          <p:cNvPr id="12" name="Etiqueta Patrimoni"/>
          <p:cNvSpPr/>
          <p:nvPr/>
        </p:nvSpPr>
        <p:spPr>
          <a:xfrm>
            <a:off x="5532120" y="1755648"/>
            <a:ext cx="1216152" cy="384048"/>
          </a:xfrm>
          <a:prstGeom prst="roundRect">
            <a:avLst>
              <a:gd name="adj" fmla="val 50000"/>
            </a:avLst>
          </a:prstGeom>
          <a:solidFill>
            <a:srgbClr val="E6F4EA"/>
          </a:solidFill>
          <a:ln/>
        </p:spPr>
      </p:sp>
      <p:sp>
        <p:nvSpPr>
          <p:cNvPr id="13" name="Text 11"/>
          <p:cNvSpPr txBox="1"/>
          <p:nvPr/>
        </p:nvSpPr>
        <p:spPr>
          <a:xfrm>
            <a:off x="5532120" y="1755648"/>
            <a:ext cx="1216152"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Patrimoni</a:t>
            </a:r>
            <a:endParaRPr lang="en-US" sz="1500" dirty="0"/>
          </a:p>
        </p:txBody>
      </p:sp>
      <p:sp>
        <p:nvSpPr>
          <p:cNvPr id="14" name="Etiqueta Contrastar"/>
          <p:cNvSpPr/>
          <p:nvPr/>
        </p:nvSpPr>
        <p:spPr>
          <a:xfrm>
            <a:off x="6858000" y="1755648"/>
            <a:ext cx="1316736" cy="384048"/>
          </a:xfrm>
          <a:prstGeom prst="roundRect">
            <a:avLst>
              <a:gd name="adj" fmla="val 50000"/>
            </a:avLst>
          </a:prstGeom>
          <a:solidFill>
            <a:srgbClr val="E6F4EA"/>
          </a:solidFill>
          <a:ln/>
        </p:spPr>
      </p:sp>
      <p:sp>
        <p:nvSpPr>
          <p:cNvPr id="15" name="Text 13"/>
          <p:cNvSpPr txBox="1"/>
          <p:nvPr/>
        </p:nvSpPr>
        <p:spPr>
          <a:xfrm>
            <a:off x="6858000" y="1755648"/>
            <a:ext cx="1316736"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Contrastar</a:t>
            </a:r>
            <a:endParaRPr lang="en-US" sz="1500" dirty="0"/>
          </a:p>
        </p:txBody>
      </p:sp>
      <p:sp>
        <p:nvSpPr>
          <p:cNvPr id="16" name="Pregunta 1"/>
          <p:cNvSpPr/>
          <p:nvPr/>
        </p:nvSpPr>
        <p:spPr>
          <a:xfrm>
            <a:off x="548640" y="2514600"/>
            <a:ext cx="11094415" cy="777240"/>
          </a:xfrm>
          <a:prstGeom prst="roundRect">
            <a:avLst>
              <a:gd name="adj" fmla="val 12941"/>
            </a:avLst>
          </a:prstGeom>
          <a:solidFill>
            <a:srgbClr val="FFFFFF"/>
          </a:solidFill>
          <a:ln w="12700">
            <a:solidFill>
              <a:srgbClr val="DADCE0"/>
            </a:solidFill>
            <a:prstDash val="solid"/>
          </a:ln>
        </p:spPr>
      </p:sp>
      <p:sp>
        <p:nvSpPr>
          <p:cNvPr id="17" name="Número 1"/>
          <p:cNvSpPr/>
          <p:nvPr/>
        </p:nvSpPr>
        <p:spPr>
          <a:xfrm>
            <a:off x="822960" y="2674620"/>
            <a:ext cx="457200" cy="457200"/>
          </a:xfrm>
          <a:prstGeom prst="ellipse">
            <a:avLst/>
          </a:prstGeom>
          <a:solidFill>
            <a:srgbClr val="188038"/>
          </a:solidFill>
          <a:ln/>
        </p:spPr>
      </p:sp>
      <p:sp>
        <p:nvSpPr>
          <p:cNvPr id="18" name="Text 16"/>
          <p:cNvSpPr txBox="1"/>
          <p:nvPr/>
        </p:nvSpPr>
        <p:spPr>
          <a:xfrm>
            <a:off x="822960" y="267462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Roboto" pitchFamily="34" charset="0"/>
                <a:ea typeface="Roboto" pitchFamily="34" charset="-122"/>
                <a:cs typeface="Roboto" pitchFamily="34" charset="-120"/>
              </a:rPr>
              <a:t>1</a:t>
            </a:r>
            <a:endParaRPr lang="en-US" sz="1700" dirty="0"/>
          </a:p>
        </p:txBody>
      </p:sp>
      <p:sp>
        <p:nvSpPr>
          <p:cNvPr id="19" name="Text 17"/>
          <p:cNvSpPr txBox="1"/>
          <p:nvPr/>
        </p:nvSpPr>
        <p:spPr>
          <a:xfrm>
            <a:off x="1508760" y="2514600"/>
            <a:ext cx="9905695" cy="777240"/>
          </a:xfrm>
          <a:prstGeom prst="rect">
            <a:avLst/>
          </a:prstGeom>
          <a:noFill/>
          <a:ln/>
        </p:spPr>
        <p:txBody>
          <a:bodyPr wrap="square" lIns="0" tIns="0" rIns="0" bIns="0" rtlCol="0" anchor="ctr"/>
          <a:lstStyle/>
          <a:p>
            <a:pPr indent="0" marL="0">
              <a:buNone/>
            </a:pPr>
            <a:r>
              <a:rPr lang="en-US" sz="1900" dirty="0">
                <a:solidFill>
                  <a:srgbClr val="202124"/>
                </a:solidFill>
                <a:latin typeface="Roboto" pitchFamily="34" charset="0"/>
                <a:ea typeface="Roboto" pitchFamily="34" charset="-122"/>
                <a:cs typeface="Roboto" pitchFamily="34" charset="-120"/>
              </a:rPr>
              <a:t>La pedra de Rosetta és una font primària o secundària?</a:t>
            </a:r>
            <a:endParaRPr lang="en-US" sz="1900" dirty="0"/>
          </a:p>
        </p:txBody>
      </p:sp>
      <p:sp>
        <p:nvSpPr>
          <p:cNvPr id="20" name="Pregunta 2"/>
          <p:cNvSpPr/>
          <p:nvPr/>
        </p:nvSpPr>
        <p:spPr>
          <a:xfrm>
            <a:off x="548640" y="3429000"/>
            <a:ext cx="11094415" cy="777240"/>
          </a:xfrm>
          <a:prstGeom prst="roundRect">
            <a:avLst>
              <a:gd name="adj" fmla="val 12941"/>
            </a:avLst>
          </a:prstGeom>
          <a:solidFill>
            <a:srgbClr val="FFFFFF"/>
          </a:solidFill>
          <a:ln w="12700">
            <a:solidFill>
              <a:srgbClr val="DADCE0"/>
            </a:solidFill>
            <a:prstDash val="solid"/>
          </a:ln>
        </p:spPr>
      </p:sp>
      <p:sp>
        <p:nvSpPr>
          <p:cNvPr id="21" name="Número 2"/>
          <p:cNvSpPr/>
          <p:nvPr/>
        </p:nvSpPr>
        <p:spPr>
          <a:xfrm>
            <a:off x="822960" y="3589020"/>
            <a:ext cx="457200" cy="457200"/>
          </a:xfrm>
          <a:prstGeom prst="ellipse">
            <a:avLst/>
          </a:prstGeom>
          <a:solidFill>
            <a:srgbClr val="188038"/>
          </a:solidFill>
          <a:ln/>
        </p:spPr>
      </p:sp>
      <p:sp>
        <p:nvSpPr>
          <p:cNvPr id="22" name="Text 20"/>
          <p:cNvSpPr txBox="1"/>
          <p:nvPr/>
        </p:nvSpPr>
        <p:spPr>
          <a:xfrm>
            <a:off x="822960" y="358902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Roboto" pitchFamily="34" charset="0"/>
                <a:ea typeface="Roboto" pitchFamily="34" charset="-122"/>
                <a:cs typeface="Roboto" pitchFamily="34" charset="-120"/>
              </a:rPr>
              <a:t>2</a:t>
            </a:r>
            <a:endParaRPr lang="en-US" sz="1700" dirty="0"/>
          </a:p>
        </p:txBody>
      </p:sp>
      <p:sp>
        <p:nvSpPr>
          <p:cNvPr id="23" name="Text 21"/>
          <p:cNvSpPr txBox="1"/>
          <p:nvPr/>
        </p:nvSpPr>
        <p:spPr>
          <a:xfrm>
            <a:off x="1508760" y="3429000"/>
            <a:ext cx="9905695" cy="777240"/>
          </a:xfrm>
          <a:prstGeom prst="rect">
            <a:avLst/>
          </a:prstGeom>
          <a:noFill/>
          <a:ln/>
        </p:spPr>
        <p:txBody>
          <a:bodyPr wrap="square" lIns="0" tIns="0" rIns="0" bIns="0" rtlCol="0" anchor="ctr"/>
          <a:lstStyle/>
          <a:p>
            <a:pPr indent="0" marL="0">
              <a:buNone/>
            </a:pPr>
            <a:r>
              <a:rPr lang="en-US" sz="1900" dirty="0">
                <a:solidFill>
                  <a:srgbClr val="202124"/>
                </a:solidFill>
                <a:latin typeface="Roboto" pitchFamily="34" charset="0"/>
                <a:ea typeface="Roboto" pitchFamily="34" charset="-122"/>
                <a:cs typeface="Roboto" pitchFamily="34" charset="-120"/>
              </a:rPr>
              <a:t>L'àvia t'explica com era la seva escola. Quin tipus de font és, segons el suport?</a:t>
            </a:r>
            <a:endParaRPr lang="en-US" sz="1900" dirty="0"/>
          </a:p>
        </p:txBody>
      </p:sp>
      <p:sp>
        <p:nvSpPr>
          <p:cNvPr id="24" name="Pregunta 3"/>
          <p:cNvSpPr/>
          <p:nvPr/>
        </p:nvSpPr>
        <p:spPr>
          <a:xfrm>
            <a:off x="548640" y="4343400"/>
            <a:ext cx="11094415" cy="777240"/>
          </a:xfrm>
          <a:prstGeom prst="roundRect">
            <a:avLst>
              <a:gd name="adj" fmla="val 12941"/>
            </a:avLst>
          </a:prstGeom>
          <a:solidFill>
            <a:srgbClr val="FFFFFF"/>
          </a:solidFill>
          <a:ln w="12700">
            <a:solidFill>
              <a:srgbClr val="DADCE0"/>
            </a:solidFill>
            <a:prstDash val="solid"/>
          </a:ln>
        </p:spPr>
      </p:sp>
      <p:sp>
        <p:nvSpPr>
          <p:cNvPr id="25" name="Número 3"/>
          <p:cNvSpPr/>
          <p:nvPr/>
        </p:nvSpPr>
        <p:spPr>
          <a:xfrm>
            <a:off x="822960" y="4503420"/>
            <a:ext cx="457200" cy="457200"/>
          </a:xfrm>
          <a:prstGeom prst="ellipse">
            <a:avLst/>
          </a:prstGeom>
          <a:solidFill>
            <a:srgbClr val="188038"/>
          </a:solidFill>
          <a:ln/>
        </p:spPr>
      </p:sp>
      <p:sp>
        <p:nvSpPr>
          <p:cNvPr id="26" name="Text 24"/>
          <p:cNvSpPr txBox="1"/>
          <p:nvPr/>
        </p:nvSpPr>
        <p:spPr>
          <a:xfrm>
            <a:off x="822960" y="450342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Roboto" pitchFamily="34" charset="0"/>
                <a:ea typeface="Roboto" pitchFamily="34" charset="-122"/>
                <a:cs typeface="Roboto" pitchFamily="34" charset="-120"/>
              </a:rPr>
              <a:t>3</a:t>
            </a:r>
            <a:endParaRPr lang="en-US" sz="1700" dirty="0"/>
          </a:p>
        </p:txBody>
      </p:sp>
      <p:sp>
        <p:nvSpPr>
          <p:cNvPr id="27" name="Text 25"/>
          <p:cNvSpPr txBox="1"/>
          <p:nvPr/>
        </p:nvSpPr>
        <p:spPr>
          <a:xfrm>
            <a:off x="1508760" y="4343400"/>
            <a:ext cx="9905695" cy="777240"/>
          </a:xfrm>
          <a:prstGeom prst="rect">
            <a:avLst/>
          </a:prstGeom>
          <a:noFill/>
          <a:ln/>
        </p:spPr>
        <p:txBody>
          <a:bodyPr wrap="square" lIns="0" tIns="0" rIns="0" bIns="0" rtlCol="0" anchor="ctr"/>
          <a:lstStyle/>
          <a:p>
            <a:pPr indent="0" marL="0">
              <a:buNone/>
            </a:pPr>
            <a:r>
              <a:rPr lang="en-US" sz="1900" dirty="0">
                <a:solidFill>
                  <a:srgbClr val="202124"/>
                </a:solidFill>
                <a:latin typeface="Roboto" pitchFamily="34" charset="0"/>
                <a:ea typeface="Roboto" pitchFamily="34" charset="-122"/>
                <a:cs typeface="Roboto" pitchFamily="34" charset="-120"/>
              </a:rPr>
              <a:t>Per què cal contrastar les fonts?</a:t>
            </a:r>
            <a:endParaRPr lang="en-US" sz="1900" dirty="0"/>
          </a:p>
        </p:txBody>
      </p:sp>
      <p:sp>
        <p:nvSpPr>
          <p:cNvPr id="28" name="Pregunta 4"/>
          <p:cNvSpPr/>
          <p:nvPr/>
        </p:nvSpPr>
        <p:spPr>
          <a:xfrm>
            <a:off x="548640" y="5257800"/>
            <a:ext cx="11094415" cy="777240"/>
          </a:xfrm>
          <a:prstGeom prst="roundRect">
            <a:avLst>
              <a:gd name="adj" fmla="val 12941"/>
            </a:avLst>
          </a:prstGeom>
          <a:solidFill>
            <a:srgbClr val="FFFFFF"/>
          </a:solidFill>
          <a:ln w="12700">
            <a:solidFill>
              <a:srgbClr val="DADCE0"/>
            </a:solidFill>
            <a:prstDash val="solid"/>
          </a:ln>
        </p:spPr>
      </p:sp>
      <p:sp>
        <p:nvSpPr>
          <p:cNvPr id="29" name="Número 4"/>
          <p:cNvSpPr/>
          <p:nvPr/>
        </p:nvSpPr>
        <p:spPr>
          <a:xfrm>
            <a:off x="822960" y="5417820"/>
            <a:ext cx="457200" cy="457200"/>
          </a:xfrm>
          <a:prstGeom prst="ellipse">
            <a:avLst/>
          </a:prstGeom>
          <a:solidFill>
            <a:srgbClr val="188038"/>
          </a:solidFill>
          <a:ln/>
        </p:spPr>
      </p:sp>
      <p:sp>
        <p:nvSpPr>
          <p:cNvPr id="30" name="Text 28"/>
          <p:cNvSpPr txBox="1"/>
          <p:nvPr/>
        </p:nvSpPr>
        <p:spPr>
          <a:xfrm>
            <a:off x="822960" y="541782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Roboto" pitchFamily="34" charset="0"/>
                <a:ea typeface="Roboto" pitchFamily="34" charset="-122"/>
                <a:cs typeface="Roboto" pitchFamily="34" charset="-120"/>
              </a:rPr>
              <a:t>4</a:t>
            </a:r>
            <a:endParaRPr lang="en-US" sz="1700" dirty="0"/>
          </a:p>
        </p:txBody>
      </p:sp>
      <p:sp>
        <p:nvSpPr>
          <p:cNvPr id="31" name="Text 29"/>
          <p:cNvSpPr txBox="1"/>
          <p:nvPr/>
        </p:nvSpPr>
        <p:spPr>
          <a:xfrm>
            <a:off x="1508760" y="5257800"/>
            <a:ext cx="9905695" cy="777240"/>
          </a:xfrm>
          <a:prstGeom prst="rect">
            <a:avLst/>
          </a:prstGeom>
          <a:noFill/>
          <a:ln/>
        </p:spPr>
        <p:txBody>
          <a:bodyPr wrap="square" lIns="0" tIns="0" rIns="0" bIns="0" rtlCol="0" anchor="ctr"/>
          <a:lstStyle/>
          <a:p>
            <a:pPr indent="0" marL="0">
              <a:buNone/>
            </a:pPr>
            <a:r>
              <a:rPr lang="en-US" sz="1900" dirty="0">
                <a:solidFill>
                  <a:srgbClr val="202124"/>
                </a:solidFill>
                <a:latin typeface="Roboto" pitchFamily="34" charset="0"/>
                <a:ea typeface="Roboto" pitchFamily="34" charset="-122"/>
                <a:cs typeface="Roboto" pitchFamily="34" charset="-120"/>
              </a:rPr>
              <a:t>On es guarden els documents antics d'un poble? I els objectes antics?</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Capçalera"/>
          <p:cNvSpPr/>
          <p:nvPr/>
        </p:nvSpPr>
        <p:spPr>
          <a:xfrm>
            <a:off x="548640" y="548640"/>
            <a:ext cx="6720840" cy="3657600"/>
          </a:xfrm>
          <a:prstGeom prst="roundRect">
            <a:avLst>
              <a:gd name="adj" fmla="val 2750"/>
            </a:avLst>
          </a:prstGeom>
          <a:solidFill>
            <a:srgbClr val="188038"/>
          </a:solidFill>
          <a:ln/>
        </p:spPr>
      </p:sp>
      <p:pic>
        <p:nvPicPr>
          <p:cNvPr id="3" name="Il·lustració d'una rosa dels vents i un rellotge de sorra" descr="/home/claude/p857/build/hero-crop.png">    </p:cNvPr>
          <p:cNvPicPr>
            <a:picLocks noChangeAspect="1"/>
          </p:cNvPicPr>
          <p:nvPr/>
        </p:nvPicPr>
        <p:blipFill>
          <a:blip r:embed="rId1"/>
          <a:stretch>
            <a:fillRect/>
          </a:stretch>
        </p:blipFill>
        <p:spPr>
          <a:xfrm>
            <a:off x="3794760" y="2296090"/>
            <a:ext cx="3291840" cy="1891862"/>
          </a:xfrm>
          <a:prstGeom prst="rect">
            <a:avLst/>
          </a:prstGeom>
        </p:spPr>
      </p:pic>
      <p:sp>
        <p:nvSpPr>
          <p:cNvPr id="4" name="Etiqueta Apartat 7"/>
          <p:cNvSpPr/>
          <p:nvPr/>
        </p:nvSpPr>
        <p:spPr>
          <a:xfrm>
            <a:off x="960120" y="896112"/>
            <a:ext cx="1035101" cy="310896"/>
          </a:xfrm>
          <a:prstGeom prst="roundRect">
            <a:avLst>
              <a:gd name="adj" fmla="val 50000"/>
            </a:avLst>
          </a:prstGeom>
          <a:solidFill>
            <a:srgbClr val="FFFFFF">
              <a:alpha val="18000"/>
            </a:srgbClr>
          </a:solidFill>
          <a:ln/>
        </p:spPr>
      </p:sp>
      <p:sp>
        <p:nvSpPr>
          <p:cNvPr id="5" name="Text 2"/>
          <p:cNvSpPr txBox="1"/>
          <p:nvPr/>
        </p:nvSpPr>
        <p:spPr>
          <a:xfrm>
            <a:off x="960120" y="896112"/>
            <a:ext cx="1035101" cy="310896"/>
          </a:xfrm>
          <a:prstGeom prst="rect">
            <a:avLst/>
          </a:prstGeom>
          <a:noFill/>
          <a:ln/>
        </p:spPr>
        <p:txBody>
          <a:bodyPr wrap="square" lIns="0" tIns="0" rIns="0" bIns="0" rtlCol="0" anchor="ctr"/>
          <a:lstStyle/>
          <a:p>
            <a:pPr algn="ctr" indent="0" marL="0">
              <a:buNone/>
            </a:pPr>
            <a:r>
              <a:rPr lang="en-US" sz="1250" dirty="0">
                <a:solidFill>
                  <a:srgbClr val="FFFFFF"/>
                </a:solidFill>
                <a:latin typeface="Roboto" pitchFamily="34" charset="0"/>
                <a:ea typeface="Roboto" pitchFamily="34" charset="-122"/>
                <a:cs typeface="Roboto" pitchFamily="34" charset="-120"/>
              </a:rPr>
              <a:t>Apartat 7</a:t>
            </a:r>
            <a:endParaRPr lang="en-US" sz="1250" dirty="0"/>
          </a:p>
        </p:txBody>
      </p:sp>
      <p:sp>
        <p:nvSpPr>
          <p:cNvPr id="6" name="Text 3"/>
          <p:cNvSpPr txBox="1"/>
          <p:nvPr/>
        </p:nvSpPr>
        <p:spPr>
          <a:xfrm>
            <a:off x="960120" y="1371600"/>
            <a:ext cx="5760720" cy="1280160"/>
          </a:xfrm>
          <a:prstGeom prst="rect">
            <a:avLst/>
          </a:prstGeom>
          <a:noFill/>
          <a:ln/>
        </p:spPr>
        <p:txBody>
          <a:bodyPr wrap="square" lIns="0" tIns="0" rIns="0" bIns="0" rtlCol="0" anchor="t"/>
          <a:lstStyle/>
          <a:p>
            <a:pPr indent="0" marL="0">
              <a:lnSpc>
                <a:spcPct val="95000"/>
              </a:lnSpc>
              <a:buNone/>
            </a:pPr>
            <a:r>
              <a:rPr lang="en-US" sz="3800" b="1" dirty="0">
                <a:solidFill>
                  <a:srgbClr val="FFFFFF"/>
                </a:solidFill>
                <a:latin typeface="Roboto" pitchFamily="34" charset="0"/>
                <a:ea typeface="Roboto" pitchFamily="34" charset="-122"/>
                <a:cs typeface="Roboto" pitchFamily="34" charset="-120"/>
              </a:rPr>
              <a:t>Com mesurem el temps</a:t>
            </a:r>
            <a:endParaRPr lang="en-US" sz="3800" dirty="0"/>
          </a:p>
        </p:txBody>
      </p:sp>
      <p:sp>
        <p:nvSpPr>
          <p:cNvPr id="7" name="Pregunta guia"/>
          <p:cNvSpPr/>
          <p:nvPr/>
        </p:nvSpPr>
        <p:spPr>
          <a:xfrm>
            <a:off x="548640" y="4389120"/>
            <a:ext cx="6720840" cy="1645920"/>
          </a:xfrm>
          <a:prstGeom prst="roundRect">
            <a:avLst>
              <a:gd name="adj" fmla="val 6111"/>
            </a:avLst>
          </a:prstGeom>
          <a:solidFill>
            <a:srgbClr val="F6F8FB"/>
          </a:solidFill>
          <a:ln/>
        </p:spPr>
      </p:sp>
      <p:sp>
        <p:nvSpPr>
          <p:cNvPr id="8" name="Text 5"/>
          <p:cNvSpPr txBox="1"/>
          <p:nvPr/>
        </p:nvSpPr>
        <p:spPr>
          <a:xfrm>
            <a:off x="914400" y="4590288"/>
            <a:ext cx="4572000" cy="320040"/>
          </a:xfrm>
          <a:prstGeom prst="rect">
            <a:avLst/>
          </a:prstGeom>
          <a:noFill/>
          <a:ln/>
        </p:spPr>
        <p:txBody>
          <a:bodyPr wrap="square" lIns="0" tIns="0" rIns="0" bIns="0" rtlCol="0" anchor="t"/>
          <a:lstStyle/>
          <a:p>
            <a:pPr indent="0" marL="0">
              <a:buNone/>
            </a:pPr>
            <a:r>
              <a:rPr lang="en-US" sz="1300" b="1" dirty="0">
                <a:solidFill>
                  <a:srgbClr val="188038"/>
                </a:solidFill>
                <a:latin typeface="Roboto" pitchFamily="34" charset="0"/>
                <a:ea typeface="Roboto" pitchFamily="34" charset="-122"/>
                <a:cs typeface="Roboto" pitchFamily="34" charset="-120"/>
              </a:rPr>
              <a:t>Pregunta guia</a:t>
            </a:r>
            <a:endParaRPr lang="en-US" sz="1300" dirty="0"/>
          </a:p>
        </p:txBody>
      </p:sp>
      <p:sp>
        <p:nvSpPr>
          <p:cNvPr id="9" name="Text 6"/>
          <p:cNvSpPr txBox="1"/>
          <p:nvPr/>
        </p:nvSpPr>
        <p:spPr>
          <a:xfrm>
            <a:off x="914400" y="4937760"/>
            <a:ext cx="6035040" cy="914400"/>
          </a:xfrm>
          <a:prstGeom prst="rect">
            <a:avLst/>
          </a:prstGeom>
          <a:noFill/>
          <a:ln/>
        </p:spPr>
        <p:txBody>
          <a:bodyPr wrap="square" lIns="0" tIns="0" rIns="0" bIns="0" rtlCol="0" anchor="t"/>
          <a:lstStyle/>
          <a:p>
            <a:pPr indent="0" marL="0">
              <a:buNone/>
            </a:pPr>
            <a:r>
              <a:rPr lang="en-US" sz="1900" dirty="0">
                <a:solidFill>
                  <a:srgbClr val="5F6368"/>
                </a:solidFill>
                <a:latin typeface="Roboto" pitchFamily="34" charset="0"/>
                <a:ea typeface="Roboto" pitchFamily="34" charset="-122"/>
                <a:cs typeface="Roboto" pitchFamily="34" charset="-120"/>
              </a:rPr>
              <a:t>Per què l'any 500 aC és més antic que el 200 aC, si 500 és un número més gran?</a:t>
            </a:r>
            <a:endParaRPr lang="en-US" sz="1900" dirty="0"/>
          </a:p>
        </p:txBody>
      </p:sp>
      <p:sp>
        <p:nvSpPr>
          <p:cNvPr id="10" name="Fons Com mesurem el temps"/>
          <p:cNvSpPr/>
          <p:nvPr/>
        </p:nvSpPr>
        <p:spPr>
          <a:xfrm>
            <a:off x="7635240" y="1390769"/>
            <a:ext cx="4007815" cy="3006613"/>
          </a:xfrm>
          <a:prstGeom prst="roundRect">
            <a:avLst>
              <a:gd name="adj" fmla="val 3345"/>
            </a:avLst>
          </a:prstGeom>
          <a:solidFill>
            <a:srgbClr val="F6F8FB"/>
          </a:solidFill>
          <a:ln/>
        </p:spPr>
      </p:sp>
      <p:pic>
        <p:nvPicPr>
          <p:cNvPr id="11" name="Com mesurem el temps" descr="/home/claude/p857/build/img/rellotge.jpg">    </p:cNvPr>
          <p:cNvPicPr>
            <a:picLocks noChangeAspect="1"/>
          </p:cNvPicPr>
          <p:nvPr/>
        </p:nvPicPr>
        <p:blipFill>
          <a:blip r:embed="rId2"/>
          <a:stretch>
            <a:fillRect/>
          </a:stretch>
        </p:blipFill>
        <p:spPr>
          <a:xfrm>
            <a:off x="7635240" y="1390769"/>
            <a:ext cx="4007815" cy="3006613"/>
          </a:xfrm>
          <a:prstGeom prst="rect">
            <a:avLst/>
          </a:prstGeom>
        </p:spPr>
      </p:pic>
      <p:sp>
        <p:nvSpPr>
          <p:cNvPr id="12" name="Text 8"/>
          <p:cNvSpPr txBox="1"/>
          <p:nvPr/>
        </p:nvSpPr>
        <p:spPr>
          <a:xfrm>
            <a:off x="7635240" y="4507111"/>
            <a:ext cx="4007815" cy="685800"/>
          </a:xfrm>
          <a:prstGeom prst="rect">
            <a:avLst/>
          </a:prstGeom>
          <a:noFill/>
          <a:ln/>
        </p:spPr>
        <p:txBody>
          <a:bodyPr wrap="square" lIns="0" tIns="0" rIns="0" bIns="0" rtlCol="0" anchor="t"/>
          <a:lstStyle/>
          <a:p>
            <a:pPr indent="0" marL="0">
              <a:buNone/>
            </a:pPr>
            <a:r>
              <a:rPr lang="en-US" sz="1000" dirty="0">
                <a:solidFill>
                  <a:srgbClr val="5F6368"/>
                </a:solidFill>
                <a:latin typeface="Roboto" pitchFamily="34" charset="0"/>
                <a:ea typeface="Roboto" pitchFamily="34" charset="-122"/>
                <a:cs typeface="Roboto" pitchFamily="34" charset="-120"/>
              </a:rPr>
              <a:t>Rellotge de sol a Cervelló (Baix Llobregat). L'ombra de la vareta assenyala l'hora sobre les xifres romanes. Foto: Pere López Brosa, Wikimedia Commons, CC BY-SA 3.0.</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7</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El calendari cristià</a:t>
            </a:r>
            <a:endParaRPr lang="en-US" sz="2800" dirty="0"/>
          </a:p>
        </p:txBody>
      </p:sp>
      <p:sp>
        <p:nvSpPr>
          <p:cNvPr id="5" name="Text 3"/>
          <p:cNvSpPr txBox="1"/>
          <p:nvPr/>
        </p:nvSpPr>
        <p:spPr>
          <a:xfrm>
            <a:off x="548640" y="1371600"/>
            <a:ext cx="11094415" cy="594360"/>
          </a:xfrm>
          <a:prstGeom prst="rect">
            <a:avLst/>
          </a:prstGeom>
          <a:noFill/>
          <a:ln/>
        </p:spPr>
        <p:txBody>
          <a:bodyPr wrap="square" lIns="0" tIns="0" rIns="0" bIns="0" rtlCol="0" anchor="t"/>
          <a:lstStyle/>
          <a:p>
            <a:pPr indent="0" marL="0">
              <a:buNone/>
            </a:pPr>
            <a:r>
              <a:rPr lang="en-US" sz="1800" dirty="0">
                <a:solidFill>
                  <a:srgbClr val="202124"/>
                </a:solidFill>
                <a:latin typeface="Roboto" pitchFamily="34" charset="0"/>
                <a:ea typeface="Roboto" pitchFamily="34" charset="-122"/>
                <a:cs typeface="Roboto" pitchFamily="34" charset="-120"/>
              </a:rPr>
              <a:t>Per posar dates al passat fem servir un calendari. El més usat al món occidental és el calendari cristià.</a:t>
            </a:r>
            <a:endParaRPr lang="en-US" sz="1800" dirty="0"/>
          </a:p>
        </p:txBody>
      </p:sp>
      <p:sp>
        <p:nvSpPr>
          <p:cNvPr id="6" name="Línia del temps"/>
          <p:cNvSpPr/>
          <p:nvPr/>
        </p:nvSpPr>
        <p:spPr>
          <a:xfrm>
            <a:off x="649224" y="2286000"/>
            <a:ext cx="0" cy="1828800"/>
          </a:xfrm>
          <a:prstGeom prst="line">
            <a:avLst/>
          </a:prstGeom>
          <a:noFill/>
          <a:ln w="31750">
            <a:solidFill>
              <a:srgbClr val="DADCE0"/>
            </a:solidFill>
            <a:prstDash val="solid"/>
          </a:ln>
        </p:spPr>
      </p:sp>
      <p:sp>
        <p:nvSpPr>
          <p:cNvPr id="7" name="Fita Any 1"/>
          <p:cNvSpPr/>
          <p:nvPr/>
        </p:nvSpPr>
        <p:spPr>
          <a:xfrm>
            <a:off x="548640" y="2185416"/>
            <a:ext cx="201168" cy="201168"/>
          </a:xfrm>
          <a:prstGeom prst="ellipse">
            <a:avLst/>
          </a:prstGeom>
          <a:solidFill>
            <a:srgbClr val="FFFFFF"/>
          </a:solidFill>
          <a:ln w="28575">
            <a:solidFill>
              <a:srgbClr val="188038"/>
            </a:solidFill>
            <a:prstDash val="solid"/>
          </a:ln>
        </p:spPr>
      </p:sp>
      <p:sp>
        <p:nvSpPr>
          <p:cNvPr id="8" name="Text 6"/>
          <p:cNvSpPr txBox="1"/>
          <p:nvPr/>
        </p:nvSpPr>
        <p:spPr>
          <a:xfrm>
            <a:off x="932688" y="2148840"/>
            <a:ext cx="1280160" cy="292608"/>
          </a:xfrm>
          <a:prstGeom prst="rect">
            <a:avLst/>
          </a:prstGeom>
          <a:noFill/>
          <a:ln/>
        </p:spPr>
        <p:txBody>
          <a:bodyPr wrap="square" lIns="0" tIns="0" rIns="0" bIns="0" rtlCol="0" anchor="t"/>
          <a:lstStyle/>
          <a:p>
            <a:pPr indent="0" marL="0">
              <a:buNone/>
            </a:pPr>
            <a:r>
              <a:rPr lang="en-US" sz="1750" b="1" dirty="0">
                <a:solidFill>
                  <a:srgbClr val="188038"/>
                </a:solidFill>
                <a:latin typeface="Roboto" pitchFamily="34" charset="0"/>
                <a:ea typeface="Roboto" pitchFamily="34" charset="-122"/>
                <a:cs typeface="Roboto" pitchFamily="34" charset="-120"/>
              </a:rPr>
              <a:t>Any 1</a:t>
            </a:r>
            <a:endParaRPr lang="en-US" sz="1750" dirty="0"/>
          </a:p>
        </p:txBody>
      </p:sp>
      <p:sp>
        <p:nvSpPr>
          <p:cNvPr id="9" name="Text 7"/>
          <p:cNvSpPr txBox="1"/>
          <p:nvPr/>
        </p:nvSpPr>
        <p:spPr>
          <a:xfrm>
            <a:off x="2212848" y="2148840"/>
            <a:ext cx="9430207" cy="868680"/>
          </a:xfrm>
          <a:prstGeom prst="rect">
            <a:avLst/>
          </a:prstGeom>
          <a:noFill/>
          <a:ln/>
        </p:spPr>
        <p:txBody>
          <a:bodyPr wrap="square" lIns="0" tIns="0" rIns="0" bIns="0" rtlCol="0" anchor="t"/>
          <a:lstStyle/>
          <a:p>
            <a:pPr indent="0" marL="0">
              <a:buNone/>
            </a:pPr>
            <a:r>
              <a:rPr lang="en-US" sz="1750" dirty="0">
                <a:solidFill>
                  <a:srgbClr val="202124"/>
                </a:solidFill>
                <a:latin typeface="Roboto" pitchFamily="34" charset="0"/>
                <a:ea typeface="Roboto" pitchFamily="34" charset="-122"/>
                <a:cs typeface="Roboto" pitchFamily="34" charset="-120"/>
              </a:rPr>
              <a:t>El calendari cristià el considera l'any del naixement de Jesús de Natzaret.</a:t>
            </a:r>
            <a:endParaRPr lang="en-US" sz="1750" dirty="0"/>
          </a:p>
        </p:txBody>
      </p:sp>
      <p:sp>
        <p:nvSpPr>
          <p:cNvPr id="10" name="Fita 525"/>
          <p:cNvSpPr/>
          <p:nvPr/>
        </p:nvSpPr>
        <p:spPr>
          <a:xfrm>
            <a:off x="548640" y="3099816"/>
            <a:ext cx="201168" cy="201168"/>
          </a:xfrm>
          <a:prstGeom prst="ellipse">
            <a:avLst/>
          </a:prstGeom>
          <a:solidFill>
            <a:srgbClr val="FFFFFF"/>
          </a:solidFill>
          <a:ln w="28575">
            <a:solidFill>
              <a:srgbClr val="188038"/>
            </a:solidFill>
            <a:prstDash val="solid"/>
          </a:ln>
        </p:spPr>
      </p:sp>
      <p:sp>
        <p:nvSpPr>
          <p:cNvPr id="11" name="Text 9"/>
          <p:cNvSpPr txBox="1"/>
          <p:nvPr/>
        </p:nvSpPr>
        <p:spPr>
          <a:xfrm>
            <a:off x="932688" y="3063240"/>
            <a:ext cx="1280160" cy="292608"/>
          </a:xfrm>
          <a:prstGeom prst="rect">
            <a:avLst/>
          </a:prstGeom>
          <a:noFill/>
          <a:ln/>
        </p:spPr>
        <p:txBody>
          <a:bodyPr wrap="square" lIns="0" tIns="0" rIns="0" bIns="0" rtlCol="0" anchor="t"/>
          <a:lstStyle/>
          <a:p>
            <a:pPr indent="0" marL="0">
              <a:buNone/>
            </a:pPr>
            <a:r>
              <a:rPr lang="en-US" sz="1750" b="1" dirty="0">
                <a:solidFill>
                  <a:srgbClr val="188038"/>
                </a:solidFill>
                <a:latin typeface="Roboto" pitchFamily="34" charset="0"/>
                <a:ea typeface="Roboto" pitchFamily="34" charset="-122"/>
                <a:cs typeface="Roboto" pitchFamily="34" charset="-120"/>
              </a:rPr>
              <a:t>525</a:t>
            </a:r>
            <a:endParaRPr lang="en-US" sz="1750" dirty="0"/>
          </a:p>
        </p:txBody>
      </p:sp>
      <p:sp>
        <p:nvSpPr>
          <p:cNvPr id="12" name="Text 10"/>
          <p:cNvSpPr txBox="1"/>
          <p:nvPr/>
        </p:nvSpPr>
        <p:spPr>
          <a:xfrm>
            <a:off x="2212848" y="3063240"/>
            <a:ext cx="9430207" cy="868680"/>
          </a:xfrm>
          <a:prstGeom prst="rect">
            <a:avLst/>
          </a:prstGeom>
          <a:noFill/>
          <a:ln/>
        </p:spPr>
        <p:txBody>
          <a:bodyPr wrap="square" lIns="0" tIns="0" rIns="0" bIns="0" rtlCol="0" anchor="t"/>
          <a:lstStyle/>
          <a:p>
            <a:pPr indent="0" marL="0">
              <a:buNone/>
            </a:pPr>
            <a:r>
              <a:rPr lang="en-US" sz="1750" dirty="0">
                <a:solidFill>
                  <a:srgbClr val="202124"/>
                </a:solidFill>
                <a:latin typeface="Roboto" pitchFamily="34" charset="0"/>
                <a:ea typeface="Roboto" pitchFamily="34" charset="-122"/>
                <a:cs typeface="Roboto" pitchFamily="34" charset="-120"/>
              </a:rPr>
              <a:t>El monjo Dionís l'Exigu calcula quin va ser l'any 1. Avui sabem que es va equivocar una mica. Els historiadors pensen que Jesús va néixer uns anys abans, cap al 6-4 aC.</a:t>
            </a:r>
            <a:endParaRPr lang="en-US" sz="1750" dirty="0"/>
          </a:p>
        </p:txBody>
      </p:sp>
      <p:sp>
        <p:nvSpPr>
          <p:cNvPr id="13" name="Fita 1582"/>
          <p:cNvSpPr/>
          <p:nvPr/>
        </p:nvSpPr>
        <p:spPr>
          <a:xfrm>
            <a:off x="548640" y="4014216"/>
            <a:ext cx="201168" cy="201168"/>
          </a:xfrm>
          <a:prstGeom prst="ellipse">
            <a:avLst/>
          </a:prstGeom>
          <a:solidFill>
            <a:srgbClr val="188038"/>
          </a:solidFill>
          <a:ln w="28575">
            <a:solidFill>
              <a:srgbClr val="188038"/>
            </a:solidFill>
            <a:prstDash val="solid"/>
          </a:ln>
        </p:spPr>
      </p:sp>
      <p:sp>
        <p:nvSpPr>
          <p:cNvPr id="14" name="Text 12"/>
          <p:cNvSpPr txBox="1"/>
          <p:nvPr/>
        </p:nvSpPr>
        <p:spPr>
          <a:xfrm>
            <a:off x="932688" y="3977640"/>
            <a:ext cx="1280160" cy="292608"/>
          </a:xfrm>
          <a:prstGeom prst="rect">
            <a:avLst/>
          </a:prstGeom>
          <a:noFill/>
          <a:ln/>
        </p:spPr>
        <p:txBody>
          <a:bodyPr wrap="square" lIns="0" tIns="0" rIns="0" bIns="0" rtlCol="0" anchor="t"/>
          <a:lstStyle/>
          <a:p>
            <a:pPr indent="0" marL="0">
              <a:buNone/>
            </a:pPr>
            <a:r>
              <a:rPr lang="en-US" sz="1750" b="1" dirty="0">
                <a:solidFill>
                  <a:srgbClr val="188038"/>
                </a:solidFill>
                <a:latin typeface="Roboto" pitchFamily="34" charset="0"/>
                <a:ea typeface="Roboto" pitchFamily="34" charset="-122"/>
                <a:cs typeface="Roboto" pitchFamily="34" charset="-120"/>
              </a:rPr>
              <a:t>1582</a:t>
            </a:r>
            <a:endParaRPr lang="en-US" sz="1750" dirty="0"/>
          </a:p>
        </p:txBody>
      </p:sp>
      <p:sp>
        <p:nvSpPr>
          <p:cNvPr id="15" name="Text 13"/>
          <p:cNvSpPr txBox="1"/>
          <p:nvPr/>
        </p:nvSpPr>
        <p:spPr>
          <a:xfrm>
            <a:off x="2212848" y="3977640"/>
            <a:ext cx="9430207" cy="868680"/>
          </a:xfrm>
          <a:prstGeom prst="rect">
            <a:avLst/>
          </a:prstGeom>
          <a:noFill/>
          <a:ln/>
        </p:spPr>
        <p:txBody>
          <a:bodyPr wrap="square" lIns="0" tIns="0" rIns="0" bIns="0" rtlCol="0" anchor="t"/>
          <a:lstStyle/>
          <a:p>
            <a:pPr indent="0" marL="0">
              <a:buNone/>
            </a:pPr>
            <a:r>
              <a:rPr lang="en-US" sz="1750" dirty="0">
                <a:solidFill>
                  <a:srgbClr val="202124"/>
                </a:solidFill>
                <a:latin typeface="Roboto" pitchFamily="34" charset="0"/>
                <a:ea typeface="Roboto" pitchFamily="34" charset="-122"/>
                <a:cs typeface="Roboto" pitchFamily="34" charset="-120"/>
              </a:rPr>
              <a:t>El papa Gregori XIII en fa una versió nova, el calendari gregorià. És el que fem servir avui.</a:t>
            </a:r>
            <a:endParaRPr lang="en-US" sz="1750" dirty="0"/>
          </a:p>
        </p:txBody>
      </p:sp>
      <p:sp>
        <p:nvSpPr>
          <p:cNvPr id="16" name="Paraula clau · Calendari"/>
          <p:cNvSpPr/>
          <p:nvPr/>
        </p:nvSpPr>
        <p:spPr>
          <a:xfrm>
            <a:off x="548640" y="4983480"/>
            <a:ext cx="11094415" cy="1005840"/>
          </a:xfrm>
          <a:prstGeom prst="roundRect">
            <a:avLst>
              <a:gd name="adj" fmla="val 10000"/>
            </a:avLst>
          </a:prstGeom>
          <a:solidFill>
            <a:srgbClr val="E6F4EA"/>
          </a:solidFill>
          <a:ln/>
        </p:spPr>
      </p:sp>
      <p:sp>
        <p:nvSpPr>
          <p:cNvPr id="17" name="Text 15"/>
          <p:cNvSpPr txBox="1"/>
          <p:nvPr/>
        </p:nvSpPr>
        <p:spPr>
          <a:xfrm>
            <a:off x="868680" y="5138928"/>
            <a:ext cx="10454335" cy="320040"/>
          </a:xfrm>
          <a:prstGeom prst="rect">
            <a:avLst/>
          </a:prstGeom>
          <a:noFill/>
          <a:ln/>
        </p:spPr>
        <p:txBody>
          <a:bodyPr wrap="square" lIns="0" tIns="0" rIns="0" bIns="0" rtlCol="0" anchor="t"/>
          <a:lstStyle/>
          <a:p>
            <a:pPr indent="0" marL="0">
              <a:buNone/>
            </a:pPr>
            <a:r>
              <a:rPr lang="en-US" sz="1400" b="1" dirty="0">
                <a:solidFill>
                  <a:srgbClr val="188038"/>
                </a:solidFill>
                <a:latin typeface="Roboto" pitchFamily="34" charset="0"/>
                <a:ea typeface="Roboto" pitchFamily="34" charset="-122"/>
                <a:cs typeface="Roboto" pitchFamily="34" charset="-120"/>
              </a:rPr>
              <a:t>Paraula clau · Calendari</a:t>
            </a:r>
            <a:endParaRPr lang="en-US" sz="1400" dirty="0"/>
          </a:p>
        </p:txBody>
      </p:sp>
      <p:sp>
        <p:nvSpPr>
          <p:cNvPr id="18" name="Text 16"/>
          <p:cNvSpPr txBox="1"/>
          <p:nvPr/>
        </p:nvSpPr>
        <p:spPr>
          <a:xfrm>
            <a:off x="868680" y="5486400"/>
            <a:ext cx="10454335" cy="365760"/>
          </a:xfrm>
          <a:prstGeom prst="rect">
            <a:avLst/>
          </a:prstGeom>
          <a:noFill/>
          <a:ln/>
        </p:spPr>
        <p:txBody>
          <a:bodyPr wrap="square" lIns="0" tIns="0" rIns="0" bIns="0" rtlCol="0" anchor="t"/>
          <a:lstStyle/>
          <a:p>
            <a:pPr indent="0" marL="0">
              <a:buNone/>
            </a:pPr>
            <a:r>
              <a:rPr lang="en-US" sz="1700" dirty="0">
                <a:solidFill>
                  <a:srgbClr val="202124"/>
                </a:solidFill>
                <a:latin typeface="Roboto" pitchFamily="34" charset="0"/>
                <a:ea typeface="Roboto" pitchFamily="34" charset="-122"/>
                <a:cs typeface="Roboto" pitchFamily="34" charset="-120"/>
              </a:rPr>
              <a:t>Sistema per dividir el temps en dies, mesos i anys i per posar data als fets.</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7</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Abans i després de Crist</a:t>
            </a:r>
            <a:endParaRPr lang="en-US" sz="2800" dirty="0"/>
          </a:p>
        </p:txBody>
      </p:sp>
      <p:sp>
        <p:nvSpPr>
          <p:cNvPr id="5" name="Fons Abans i després de Crist"/>
          <p:cNvSpPr/>
          <p:nvPr/>
        </p:nvSpPr>
        <p:spPr>
          <a:xfrm>
            <a:off x="1523848" y="1371600"/>
            <a:ext cx="9144000" cy="2468016"/>
          </a:xfrm>
          <a:prstGeom prst="roundRect">
            <a:avLst>
              <a:gd name="adj" fmla="val 4076"/>
            </a:avLst>
          </a:prstGeom>
          <a:solidFill>
            <a:srgbClr val="F6F8FB"/>
          </a:solidFill>
          <a:ln/>
        </p:spPr>
      </p:sp>
      <p:pic>
        <p:nvPicPr>
          <p:cNvPr id="6" name="Abans i després de Crist" descr="/home/claude/p857/build/img/acdc.png">    </p:cNvPr>
          <p:cNvPicPr>
            <a:picLocks noChangeAspect="1"/>
          </p:cNvPicPr>
          <p:nvPr/>
        </p:nvPicPr>
        <p:blipFill>
          <a:blip r:embed="rId1"/>
          <a:stretch>
            <a:fillRect/>
          </a:stretch>
        </p:blipFill>
        <p:spPr>
          <a:xfrm>
            <a:off x="1523848" y="1371600"/>
            <a:ext cx="9144000" cy="2468016"/>
          </a:xfrm>
          <a:prstGeom prst="rect">
            <a:avLst/>
          </a:prstGeom>
        </p:spPr>
      </p:pic>
      <p:sp>
        <p:nvSpPr>
          <p:cNvPr id="7" name="Text 4"/>
          <p:cNvSpPr txBox="1"/>
          <p:nvPr/>
        </p:nvSpPr>
        <p:spPr>
          <a:xfrm>
            <a:off x="1523848" y="3894480"/>
            <a:ext cx="9144000" cy="274320"/>
          </a:xfrm>
          <a:prstGeom prst="rect">
            <a:avLst/>
          </a:prstGeom>
          <a:noFill/>
          <a:ln/>
        </p:spPr>
        <p:txBody>
          <a:bodyPr wrap="square" lIns="0" tIns="0" rIns="0" bIns="0" rtlCol="0" anchor="t"/>
          <a:lstStyle/>
          <a:p>
            <a:pPr indent="0" marL="0">
              <a:buNone/>
            </a:pPr>
            <a:r>
              <a:rPr lang="en-US" sz="1000" dirty="0">
                <a:solidFill>
                  <a:srgbClr val="5F6368"/>
                </a:solidFill>
                <a:latin typeface="Roboto" pitchFamily="34" charset="0"/>
                <a:ea typeface="Roboto" pitchFamily="34" charset="-122"/>
                <a:cs typeface="Roboto" pitchFamily="34" charset="-120"/>
              </a:rPr>
              <a:t>Abans i després de Crist. Gràfic: professordesocials.cat, CC BY-SA 4.0.</a:t>
            </a:r>
            <a:endParaRPr lang="en-US" sz="1000" dirty="0"/>
          </a:p>
        </p:txBody>
      </p:sp>
      <p:sp>
        <p:nvSpPr>
          <p:cNvPr id="8" name="Targeta aC, abans de Crist"/>
          <p:cNvSpPr/>
          <p:nvPr/>
        </p:nvSpPr>
        <p:spPr>
          <a:xfrm>
            <a:off x="548640" y="4206240"/>
            <a:ext cx="3515258" cy="1783080"/>
          </a:xfrm>
          <a:prstGeom prst="roundRect">
            <a:avLst>
              <a:gd name="adj" fmla="val 5641"/>
            </a:avLst>
          </a:prstGeom>
          <a:solidFill>
            <a:srgbClr val="FFFFFF"/>
          </a:solidFill>
          <a:ln w="12700">
            <a:solidFill>
              <a:srgbClr val="DADCE0"/>
            </a:solidFill>
            <a:prstDash val="solid"/>
          </a:ln>
        </p:spPr>
      </p:sp>
      <p:sp>
        <p:nvSpPr>
          <p:cNvPr id="9" name="Cercle icona"/>
          <p:cNvSpPr/>
          <p:nvPr/>
        </p:nvSpPr>
        <p:spPr>
          <a:xfrm>
            <a:off x="777240" y="4434840"/>
            <a:ext cx="457200" cy="457200"/>
          </a:xfrm>
          <a:prstGeom prst="ellipse">
            <a:avLst/>
          </a:prstGeom>
          <a:solidFill>
            <a:srgbClr val="E6F4EA"/>
          </a:solidFill>
          <a:ln/>
        </p:spPr>
      </p:sp>
      <p:pic>
        <p:nvPicPr>
          <p:cNvPr id="10" name="Icona TbArrowLeft" descr="/home/claude/p857/build/img/ic/TbArrowLeft-g.png">    </p:cNvPr>
          <p:cNvPicPr>
            <a:picLocks noChangeAspect="1"/>
          </p:cNvPicPr>
          <p:nvPr/>
        </p:nvPicPr>
        <p:blipFill>
          <a:blip r:embed="rId2"/>
          <a:stretch>
            <a:fillRect/>
          </a:stretch>
        </p:blipFill>
        <p:spPr>
          <a:xfrm>
            <a:off x="877824" y="4535424"/>
            <a:ext cx="256032" cy="256032"/>
          </a:xfrm>
          <a:prstGeom prst="rect">
            <a:avLst/>
          </a:prstGeom>
        </p:spPr>
      </p:pic>
      <p:sp>
        <p:nvSpPr>
          <p:cNvPr id="11" name="Text 7"/>
          <p:cNvSpPr txBox="1"/>
          <p:nvPr/>
        </p:nvSpPr>
        <p:spPr>
          <a:xfrm>
            <a:off x="1371600" y="4434840"/>
            <a:ext cx="2463698" cy="457200"/>
          </a:xfrm>
          <a:prstGeom prst="rect">
            <a:avLst/>
          </a:prstGeom>
          <a:noFill/>
          <a:ln/>
        </p:spPr>
        <p:txBody>
          <a:bodyPr wrap="square" lIns="0" tIns="0" rIns="0" bIns="0" rtlCol="0" anchor="ctr"/>
          <a:lstStyle/>
          <a:p>
            <a:pPr indent="0" marL="0">
              <a:buNone/>
            </a:pPr>
            <a:r>
              <a:rPr lang="en-US" sz="1800" b="1" dirty="0">
                <a:solidFill>
                  <a:srgbClr val="188038"/>
                </a:solidFill>
                <a:latin typeface="Roboto" pitchFamily="34" charset="0"/>
                <a:ea typeface="Roboto" pitchFamily="34" charset="-122"/>
                <a:cs typeface="Roboto" pitchFamily="34" charset="-120"/>
              </a:rPr>
              <a:t>aC, abans de Crist</a:t>
            </a:r>
            <a:endParaRPr lang="en-US" sz="1800" dirty="0"/>
          </a:p>
        </p:txBody>
      </p:sp>
      <p:sp>
        <p:nvSpPr>
          <p:cNvPr id="12" name="Text 8"/>
          <p:cNvSpPr txBox="1"/>
          <p:nvPr/>
        </p:nvSpPr>
        <p:spPr>
          <a:xfrm>
            <a:off x="777240" y="5029200"/>
            <a:ext cx="3058058" cy="822960"/>
          </a:xfrm>
          <a:prstGeom prst="rect">
            <a:avLst/>
          </a:prstGeom>
          <a:noFill/>
          <a:ln/>
        </p:spPr>
        <p:txBody>
          <a:bodyPr wrap="square" lIns="0" tIns="0" rIns="0" bIns="0" rtlCol="0" anchor="t"/>
          <a:lstStyle/>
          <a:p>
            <a:pPr indent="0" marL="0">
              <a:buNone/>
            </a:pPr>
            <a:r>
              <a:rPr lang="en-US" sz="1550" dirty="0">
                <a:solidFill>
                  <a:srgbClr val="202124"/>
                </a:solidFill>
                <a:latin typeface="Roboto" pitchFamily="34" charset="0"/>
                <a:ea typeface="Roboto" pitchFamily="34" charset="-122"/>
                <a:cs typeface="Roboto" pitchFamily="34" charset="-120"/>
              </a:rPr>
              <a:t>Les dates compten al revés. L'any 500 aC és més antic que el 200 aC.</a:t>
            </a:r>
            <a:endParaRPr lang="en-US" sz="1550" dirty="0"/>
          </a:p>
        </p:txBody>
      </p:sp>
      <p:sp>
        <p:nvSpPr>
          <p:cNvPr id="13" name="Targeta dC, després de Crist"/>
          <p:cNvSpPr/>
          <p:nvPr/>
        </p:nvSpPr>
        <p:spPr>
          <a:xfrm>
            <a:off x="4338218" y="4206240"/>
            <a:ext cx="3515258" cy="1783080"/>
          </a:xfrm>
          <a:prstGeom prst="roundRect">
            <a:avLst>
              <a:gd name="adj" fmla="val 5641"/>
            </a:avLst>
          </a:prstGeom>
          <a:solidFill>
            <a:srgbClr val="FFFFFF"/>
          </a:solidFill>
          <a:ln w="12700">
            <a:solidFill>
              <a:srgbClr val="DADCE0"/>
            </a:solidFill>
            <a:prstDash val="solid"/>
          </a:ln>
        </p:spPr>
      </p:sp>
      <p:sp>
        <p:nvSpPr>
          <p:cNvPr id="14" name="Cercle icona"/>
          <p:cNvSpPr/>
          <p:nvPr/>
        </p:nvSpPr>
        <p:spPr>
          <a:xfrm>
            <a:off x="4566818" y="4434840"/>
            <a:ext cx="457200" cy="457200"/>
          </a:xfrm>
          <a:prstGeom prst="ellipse">
            <a:avLst/>
          </a:prstGeom>
          <a:solidFill>
            <a:srgbClr val="E6F4EA"/>
          </a:solidFill>
          <a:ln/>
        </p:spPr>
      </p:sp>
      <p:pic>
        <p:nvPicPr>
          <p:cNvPr id="15" name="Icona TbArrowRight" descr="/home/claude/p857/build/img/ic/TbArrowRight-g.png">    </p:cNvPr>
          <p:cNvPicPr>
            <a:picLocks noChangeAspect="1"/>
          </p:cNvPicPr>
          <p:nvPr/>
        </p:nvPicPr>
        <p:blipFill>
          <a:blip r:embed="rId3"/>
          <a:stretch>
            <a:fillRect/>
          </a:stretch>
        </p:blipFill>
        <p:spPr>
          <a:xfrm>
            <a:off x="4667402" y="4535424"/>
            <a:ext cx="256032" cy="256032"/>
          </a:xfrm>
          <a:prstGeom prst="rect">
            <a:avLst/>
          </a:prstGeom>
        </p:spPr>
      </p:pic>
      <p:sp>
        <p:nvSpPr>
          <p:cNvPr id="16" name="Text 11"/>
          <p:cNvSpPr txBox="1"/>
          <p:nvPr/>
        </p:nvSpPr>
        <p:spPr>
          <a:xfrm>
            <a:off x="5161178" y="4434840"/>
            <a:ext cx="2463698" cy="457200"/>
          </a:xfrm>
          <a:prstGeom prst="rect">
            <a:avLst/>
          </a:prstGeom>
          <a:noFill/>
          <a:ln/>
        </p:spPr>
        <p:txBody>
          <a:bodyPr wrap="square" lIns="0" tIns="0" rIns="0" bIns="0" rtlCol="0" anchor="ctr"/>
          <a:lstStyle/>
          <a:p>
            <a:pPr indent="0" marL="0">
              <a:buNone/>
            </a:pPr>
            <a:r>
              <a:rPr lang="en-US" sz="1800" b="1" dirty="0">
                <a:solidFill>
                  <a:srgbClr val="188038"/>
                </a:solidFill>
                <a:latin typeface="Roboto" pitchFamily="34" charset="0"/>
                <a:ea typeface="Roboto" pitchFamily="34" charset="-122"/>
                <a:cs typeface="Roboto" pitchFamily="34" charset="-120"/>
              </a:rPr>
              <a:t>dC, després de Crist</a:t>
            </a:r>
            <a:endParaRPr lang="en-US" sz="1800" dirty="0"/>
          </a:p>
        </p:txBody>
      </p:sp>
      <p:sp>
        <p:nvSpPr>
          <p:cNvPr id="17" name="Text 12"/>
          <p:cNvSpPr txBox="1"/>
          <p:nvPr/>
        </p:nvSpPr>
        <p:spPr>
          <a:xfrm>
            <a:off x="4566818" y="5029200"/>
            <a:ext cx="3058058" cy="822960"/>
          </a:xfrm>
          <a:prstGeom prst="rect">
            <a:avLst/>
          </a:prstGeom>
          <a:noFill/>
          <a:ln/>
        </p:spPr>
        <p:txBody>
          <a:bodyPr wrap="square" lIns="0" tIns="0" rIns="0" bIns="0" rtlCol="0" anchor="t"/>
          <a:lstStyle/>
          <a:p>
            <a:pPr indent="0" marL="0">
              <a:buNone/>
            </a:pPr>
            <a:r>
              <a:rPr lang="en-US" sz="1550" dirty="0">
                <a:solidFill>
                  <a:srgbClr val="202124"/>
                </a:solidFill>
                <a:latin typeface="Roboto" pitchFamily="34" charset="0"/>
                <a:ea typeface="Roboto" pitchFamily="34" charset="-122"/>
                <a:cs typeface="Roboto" pitchFamily="34" charset="-120"/>
              </a:rPr>
              <a:t>Les dates compten endavant. El 1500 dC és més recent que el 800 dC.</a:t>
            </a:r>
            <a:endParaRPr lang="en-US" sz="1550" dirty="0"/>
          </a:p>
        </p:txBody>
      </p:sp>
      <p:sp>
        <p:nvSpPr>
          <p:cNvPr id="18" name="Targeta No hi ha any zero"/>
          <p:cNvSpPr/>
          <p:nvPr/>
        </p:nvSpPr>
        <p:spPr>
          <a:xfrm>
            <a:off x="8127797" y="4206240"/>
            <a:ext cx="3515258" cy="1783080"/>
          </a:xfrm>
          <a:prstGeom prst="roundRect">
            <a:avLst>
              <a:gd name="adj" fmla="val 5641"/>
            </a:avLst>
          </a:prstGeom>
          <a:solidFill>
            <a:srgbClr val="188038"/>
          </a:solidFill>
          <a:ln/>
        </p:spPr>
      </p:sp>
      <p:sp>
        <p:nvSpPr>
          <p:cNvPr id="19" name="Cercle icona"/>
          <p:cNvSpPr/>
          <p:nvPr/>
        </p:nvSpPr>
        <p:spPr>
          <a:xfrm>
            <a:off x="8356397" y="4434840"/>
            <a:ext cx="457200" cy="457200"/>
          </a:xfrm>
          <a:prstGeom prst="ellipse">
            <a:avLst/>
          </a:prstGeom>
          <a:solidFill>
            <a:srgbClr val="FFFFFF"/>
          </a:solidFill>
          <a:ln/>
        </p:spPr>
      </p:sp>
      <p:pic>
        <p:nvPicPr>
          <p:cNvPr id="20" name="Icona TbBan" descr="/home/claude/p857/build/img/ic/TbBan-g.png">    </p:cNvPr>
          <p:cNvPicPr>
            <a:picLocks noChangeAspect="1"/>
          </p:cNvPicPr>
          <p:nvPr/>
        </p:nvPicPr>
        <p:blipFill>
          <a:blip r:embed="rId4"/>
          <a:stretch>
            <a:fillRect/>
          </a:stretch>
        </p:blipFill>
        <p:spPr>
          <a:xfrm>
            <a:off x="8456981" y="4535424"/>
            <a:ext cx="256032" cy="256032"/>
          </a:xfrm>
          <a:prstGeom prst="rect">
            <a:avLst/>
          </a:prstGeom>
        </p:spPr>
      </p:pic>
      <p:sp>
        <p:nvSpPr>
          <p:cNvPr id="21" name="Text 15"/>
          <p:cNvSpPr txBox="1"/>
          <p:nvPr/>
        </p:nvSpPr>
        <p:spPr>
          <a:xfrm>
            <a:off x="8950757" y="4434840"/>
            <a:ext cx="2463698" cy="457200"/>
          </a:xfrm>
          <a:prstGeom prst="rect">
            <a:avLst/>
          </a:prstGeom>
          <a:noFill/>
          <a:ln/>
        </p:spPr>
        <p:txBody>
          <a:bodyPr wrap="square" lIns="0" tIns="0" rIns="0" bIns="0" rtlCol="0" anchor="ctr"/>
          <a:lstStyle/>
          <a:p>
            <a:pPr indent="0" marL="0">
              <a:buNone/>
            </a:pPr>
            <a:r>
              <a:rPr lang="en-US" sz="1800" b="1" dirty="0">
                <a:solidFill>
                  <a:srgbClr val="FFFFFF"/>
                </a:solidFill>
                <a:latin typeface="Roboto" pitchFamily="34" charset="0"/>
                <a:ea typeface="Roboto" pitchFamily="34" charset="-122"/>
                <a:cs typeface="Roboto" pitchFamily="34" charset="-120"/>
              </a:rPr>
              <a:t>No hi ha any zero</a:t>
            </a:r>
            <a:endParaRPr lang="en-US" sz="1800" dirty="0"/>
          </a:p>
        </p:txBody>
      </p:sp>
      <p:sp>
        <p:nvSpPr>
          <p:cNvPr id="22" name="Text 16"/>
          <p:cNvSpPr txBox="1"/>
          <p:nvPr/>
        </p:nvSpPr>
        <p:spPr>
          <a:xfrm>
            <a:off x="8356397" y="5029200"/>
            <a:ext cx="3058058" cy="822960"/>
          </a:xfrm>
          <a:prstGeom prst="rect">
            <a:avLst/>
          </a:prstGeom>
          <a:noFill/>
          <a:ln/>
        </p:spPr>
        <p:txBody>
          <a:bodyPr wrap="square" lIns="0" tIns="0" rIns="0" bIns="0" rtlCol="0" anchor="t"/>
          <a:lstStyle/>
          <a:p>
            <a:pPr indent="0" marL="0">
              <a:buNone/>
            </a:pPr>
            <a:r>
              <a:rPr lang="en-US" sz="1550" dirty="0">
                <a:solidFill>
                  <a:srgbClr val="FFFFFF"/>
                </a:solidFill>
                <a:latin typeface="Roboto" pitchFamily="34" charset="0"/>
                <a:ea typeface="Roboto" pitchFamily="34" charset="-122"/>
                <a:cs typeface="Roboto" pitchFamily="34" charset="-120"/>
              </a:rPr>
              <a:t>De l'any 1 aC es passa directament a l'any 1 dC.</a:t>
            </a:r>
            <a:endParaRPr lang="en-US" sz="15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7</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Segles i mil·lennis</a:t>
            </a:r>
            <a:endParaRPr lang="en-US" sz="2800" dirty="0"/>
          </a:p>
        </p:txBody>
      </p:sp>
      <p:sp>
        <p:nvSpPr>
          <p:cNvPr id="5" name="Targeta Un segle"/>
          <p:cNvSpPr/>
          <p:nvPr/>
        </p:nvSpPr>
        <p:spPr>
          <a:xfrm>
            <a:off x="548640" y="1371600"/>
            <a:ext cx="5410048" cy="2651760"/>
          </a:xfrm>
          <a:prstGeom prst="roundRect">
            <a:avLst>
              <a:gd name="adj" fmla="val 3793"/>
            </a:avLst>
          </a:prstGeom>
          <a:solidFill>
            <a:srgbClr val="FFFFFF"/>
          </a:solidFill>
          <a:ln w="12700">
            <a:solidFill>
              <a:srgbClr val="DADCE0"/>
            </a:solidFill>
            <a:prstDash val="solid"/>
          </a:ln>
        </p:spPr>
      </p:sp>
      <p:sp>
        <p:nvSpPr>
          <p:cNvPr id="6" name="Cercle icona"/>
          <p:cNvSpPr/>
          <p:nvPr/>
        </p:nvSpPr>
        <p:spPr>
          <a:xfrm>
            <a:off x="777240" y="1600200"/>
            <a:ext cx="548640" cy="548640"/>
          </a:xfrm>
          <a:prstGeom prst="ellipse">
            <a:avLst/>
          </a:prstGeom>
          <a:solidFill>
            <a:srgbClr val="E6F4EA"/>
          </a:solidFill>
          <a:ln/>
        </p:spPr>
      </p:sp>
      <p:pic>
        <p:nvPicPr>
          <p:cNvPr id="7" name="Icona TbCalendar" descr="/home/claude/p857/build/img/ic/TbCalendar-g.png">    </p:cNvPr>
          <p:cNvPicPr>
            <a:picLocks noChangeAspect="1"/>
          </p:cNvPicPr>
          <p:nvPr/>
        </p:nvPicPr>
        <p:blipFill>
          <a:blip r:embed="rId1"/>
          <a:stretch>
            <a:fillRect/>
          </a:stretch>
        </p:blipFill>
        <p:spPr>
          <a:xfrm>
            <a:off x="897941" y="1720901"/>
            <a:ext cx="307238" cy="307238"/>
          </a:xfrm>
          <a:prstGeom prst="rect">
            <a:avLst/>
          </a:prstGeom>
        </p:spPr>
      </p:pic>
      <p:sp>
        <p:nvSpPr>
          <p:cNvPr id="8" name="Text 5"/>
          <p:cNvSpPr txBox="1"/>
          <p:nvPr/>
        </p:nvSpPr>
        <p:spPr>
          <a:xfrm>
            <a:off x="1463040" y="1600200"/>
            <a:ext cx="4312768" cy="548640"/>
          </a:xfrm>
          <a:prstGeom prst="rect">
            <a:avLst/>
          </a:prstGeom>
          <a:noFill/>
          <a:ln/>
        </p:spPr>
        <p:txBody>
          <a:bodyPr wrap="square" lIns="0" tIns="0" rIns="0" bIns="0" rtlCol="0" anchor="ctr"/>
          <a:lstStyle/>
          <a:p>
            <a:pPr indent="0" marL="0">
              <a:buNone/>
            </a:pPr>
            <a:r>
              <a:rPr lang="en-US" sz="1600" b="1" dirty="0">
                <a:solidFill>
                  <a:srgbClr val="5F6368"/>
                </a:solidFill>
                <a:latin typeface="Roboto" pitchFamily="34" charset="0"/>
                <a:ea typeface="Roboto" pitchFamily="34" charset="-122"/>
                <a:cs typeface="Roboto" pitchFamily="34" charset="-120"/>
              </a:rPr>
              <a:t>Un segle</a:t>
            </a:r>
            <a:endParaRPr lang="en-US" sz="1600" dirty="0"/>
          </a:p>
        </p:txBody>
      </p:sp>
      <p:sp>
        <p:nvSpPr>
          <p:cNvPr id="9" name="Text 6"/>
          <p:cNvSpPr txBox="1"/>
          <p:nvPr/>
        </p:nvSpPr>
        <p:spPr>
          <a:xfrm>
            <a:off x="777240" y="2286000"/>
            <a:ext cx="4952848" cy="960120"/>
          </a:xfrm>
          <a:prstGeom prst="rect">
            <a:avLst/>
          </a:prstGeom>
          <a:noFill/>
          <a:ln/>
        </p:spPr>
        <p:txBody>
          <a:bodyPr wrap="square" lIns="0" tIns="0" rIns="0" bIns="0" rtlCol="0" anchor="ctr"/>
          <a:lstStyle/>
          <a:p>
            <a:pPr indent="0" marL="0">
              <a:buNone/>
            </a:pPr>
            <a:r>
              <a:rPr lang="en-US" sz="3600" b="1" dirty="0">
                <a:solidFill>
                  <a:srgbClr val="188038"/>
                </a:solidFill>
                <a:latin typeface="Roboto" pitchFamily="34" charset="0"/>
                <a:ea typeface="Roboto" pitchFamily="34" charset="-122"/>
                <a:cs typeface="Roboto" pitchFamily="34" charset="-120"/>
              </a:rPr>
              <a:t>100 anys</a:t>
            </a:r>
            <a:endParaRPr lang="en-US" sz="3600" dirty="0"/>
          </a:p>
        </p:txBody>
      </p:sp>
      <p:sp>
        <p:nvSpPr>
          <p:cNvPr id="10" name="Text 7"/>
          <p:cNvSpPr txBox="1"/>
          <p:nvPr/>
        </p:nvSpPr>
        <p:spPr>
          <a:xfrm>
            <a:off x="777240" y="3291840"/>
            <a:ext cx="4952848" cy="594360"/>
          </a:xfrm>
          <a:prstGeom prst="rect">
            <a:avLst/>
          </a:prstGeom>
          <a:noFill/>
          <a:ln/>
        </p:spPr>
        <p:txBody>
          <a:bodyPr wrap="square" lIns="0" tIns="0" rIns="0" bIns="0" rtlCol="0" anchor="t"/>
          <a:lstStyle/>
          <a:p>
            <a:pPr indent="0" marL="0">
              <a:buNone/>
            </a:pPr>
            <a:r>
              <a:rPr lang="en-US" sz="1800" dirty="0">
                <a:solidFill>
                  <a:srgbClr val="202124"/>
                </a:solidFill>
                <a:latin typeface="Roboto" pitchFamily="34" charset="0"/>
                <a:ea typeface="Roboto" pitchFamily="34" charset="-122"/>
                <a:cs typeface="Roboto" pitchFamily="34" charset="-120"/>
              </a:rPr>
              <a:t>S'escriu amb xifres romanes. Ara som al segle XXI.</a:t>
            </a:r>
            <a:endParaRPr lang="en-US" sz="1800" dirty="0"/>
          </a:p>
        </p:txBody>
      </p:sp>
      <p:sp>
        <p:nvSpPr>
          <p:cNvPr id="11" name="Targeta Un mil·lenni"/>
          <p:cNvSpPr/>
          <p:nvPr/>
        </p:nvSpPr>
        <p:spPr>
          <a:xfrm>
            <a:off x="6233008" y="1371600"/>
            <a:ext cx="5410048" cy="2651760"/>
          </a:xfrm>
          <a:prstGeom prst="roundRect">
            <a:avLst>
              <a:gd name="adj" fmla="val 3793"/>
            </a:avLst>
          </a:prstGeom>
          <a:solidFill>
            <a:srgbClr val="FFFFFF"/>
          </a:solidFill>
          <a:ln w="12700">
            <a:solidFill>
              <a:srgbClr val="DADCE0"/>
            </a:solidFill>
            <a:prstDash val="solid"/>
          </a:ln>
        </p:spPr>
      </p:sp>
      <p:sp>
        <p:nvSpPr>
          <p:cNvPr id="12" name="Cercle icona"/>
          <p:cNvSpPr/>
          <p:nvPr/>
        </p:nvSpPr>
        <p:spPr>
          <a:xfrm>
            <a:off x="6461608" y="1600200"/>
            <a:ext cx="548640" cy="548640"/>
          </a:xfrm>
          <a:prstGeom prst="ellipse">
            <a:avLst/>
          </a:prstGeom>
          <a:solidFill>
            <a:srgbClr val="E6F4EA"/>
          </a:solidFill>
          <a:ln/>
        </p:spPr>
      </p:sp>
      <p:pic>
        <p:nvPicPr>
          <p:cNvPr id="13" name="Icona TbHourglass" descr="/home/claude/p857/build/img/ic/TbHourglass-g.png">    </p:cNvPr>
          <p:cNvPicPr>
            <a:picLocks noChangeAspect="1"/>
          </p:cNvPicPr>
          <p:nvPr/>
        </p:nvPicPr>
        <p:blipFill>
          <a:blip r:embed="rId2"/>
          <a:stretch>
            <a:fillRect/>
          </a:stretch>
        </p:blipFill>
        <p:spPr>
          <a:xfrm>
            <a:off x="6582308" y="1720901"/>
            <a:ext cx="307238" cy="307238"/>
          </a:xfrm>
          <a:prstGeom prst="rect">
            <a:avLst/>
          </a:prstGeom>
        </p:spPr>
      </p:pic>
      <p:sp>
        <p:nvSpPr>
          <p:cNvPr id="14" name="Text 10"/>
          <p:cNvSpPr txBox="1"/>
          <p:nvPr/>
        </p:nvSpPr>
        <p:spPr>
          <a:xfrm>
            <a:off x="7147408" y="1600200"/>
            <a:ext cx="4312768" cy="548640"/>
          </a:xfrm>
          <a:prstGeom prst="rect">
            <a:avLst/>
          </a:prstGeom>
          <a:noFill/>
          <a:ln/>
        </p:spPr>
        <p:txBody>
          <a:bodyPr wrap="square" lIns="0" tIns="0" rIns="0" bIns="0" rtlCol="0" anchor="ctr"/>
          <a:lstStyle/>
          <a:p>
            <a:pPr indent="0" marL="0">
              <a:buNone/>
            </a:pPr>
            <a:r>
              <a:rPr lang="en-US" sz="1600" b="1" dirty="0">
                <a:solidFill>
                  <a:srgbClr val="5F6368"/>
                </a:solidFill>
                <a:latin typeface="Roboto" pitchFamily="34" charset="0"/>
                <a:ea typeface="Roboto" pitchFamily="34" charset="-122"/>
                <a:cs typeface="Roboto" pitchFamily="34" charset="-120"/>
              </a:rPr>
              <a:t>Un mil·lenni</a:t>
            </a:r>
            <a:endParaRPr lang="en-US" sz="1600" dirty="0"/>
          </a:p>
        </p:txBody>
      </p:sp>
      <p:sp>
        <p:nvSpPr>
          <p:cNvPr id="15" name="Text 11"/>
          <p:cNvSpPr txBox="1"/>
          <p:nvPr/>
        </p:nvSpPr>
        <p:spPr>
          <a:xfrm>
            <a:off x="6461608" y="2286000"/>
            <a:ext cx="4952848" cy="960120"/>
          </a:xfrm>
          <a:prstGeom prst="rect">
            <a:avLst/>
          </a:prstGeom>
          <a:noFill/>
          <a:ln/>
        </p:spPr>
        <p:txBody>
          <a:bodyPr wrap="square" lIns="0" tIns="0" rIns="0" bIns="0" rtlCol="0" anchor="ctr"/>
          <a:lstStyle/>
          <a:p>
            <a:pPr indent="0" marL="0">
              <a:buNone/>
            </a:pPr>
            <a:r>
              <a:rPr lang="en-US" sz="3600" b="1" dirty="0">
                <a:solidFill>
                  <a:srgbClr val="188038"/>
                </a:solidFill>
                <a:latin typeface="Roboto" pitchFamily="34" charset="0"/>
                <a:ea typeface="Roboto" pitchFamily="34" charset="-122"/>
                <a:cs typeface="Roboto" pitchFamily="34" charset="-120"/>
              </a:rPr>
              <a:t>1.000 anys</a:t>
            </a:r>
            <a:endParaRPr lang="en-US" sz="3600" dirty="0"/>
          </a:p>
        </p:txBody>
      </p:sp>
      <p:sp>
        <p:nvSpPr>
          <p:cNvPr id="16" name="Text 12"/>
          <p:cNvSpPr txBox="1"/>
          <p:nvPr/>
        </p:nvSpPr>
        <p:spPr>
          <a:xfrm>
            <a:off x="6461608" y="3291840"/>
            <a:ext cx="4952848" cy="594360"/>
          </a:xfrm>
          <a:prstGeom prst="rect">
            <a:avLst/>
          </a:prstGeom>
          <a:noFill/>
          <a:ln/>
        </p:spPr>
        <p:txBody>
          <a:bodyPr wrap="square" lIns="0" tIns="0" rIns="0" bIns="0" rtlCol="0" anchor="t"/>
          <a:lstStyle/>
          <a:p>
            <a:pPr indent="0" marL="0">
              <a:buNone/>
            </a:pPr>
            <a:r>
              <a:rPr lang="en-US" sz="1800" dirty="0">
                <a:solidFill>
                  <a:srgbClr val="202124"/>
                </a:solidFill>
                <a:latin typeface="Roboto" pitchFamily="34" charset="0"/>
                <a:ea typeface="Roboto" pitchFamily="34" charset="-122"/>
                <a:cs typeface="Roboto" pitchFamily="34" charset="-120"/>
              </a:rPr>
              <a:t>És a dir, deu segles.</a:t>
            </a:r>
            <a:endParaRPr lang="en-US" sz="1800" dirty="0"/>
          </a:p>
        </p:txBody>
      </p:sp>
      <p:sp>
        <p:nvSpPr>
          <p:cNvPr id="17" name="Paraula clau · Segle"/>
          <p:cNvSpPr/>
          <p:nvPr/>
        </p:nvSpPr>
        <p:spPr>
          <a:xfrm>
            <a:off x="548640" y="4251960"/>
            <a:ext cx="11094415" cy="1737360"/>
          </a:xfrm>
          <a:prstGeom prst="roundRect">
            <a:avLst>
              <a:gd name="adj" fmla="val 5789"/>
            </a:avLst>
          </a:prstGeom>
          <a:solidFill>
            <a:srgbClr val="E6F4EA"/>
          </a:solidFill>
          <a:ln/>
        </p:spPr>
      </p:sp>
      <p:sp>
        <p:nvSpPr>
          <p:cNvPr id="18" name="Text 14"/>
          <p:cNvSpPr txBox="1"/>
          <p:nvPr/>
        </p:nvSpPr>
        <p:spPr>
          <a:xfrm>
            <a:off x="868680" y="4407408"/>
            <a:ext cx="10454335" cy="320040"/>
          </a:xfrm>
          <a:prstGeom prst="rect">
            <a:avLst/>
          </a:prstGeom>
          <a:noFill/>
          <a:ln/>
        </p:spPr>
        <p:txBody>
          <a:bodyPr wrap="square" lIns="0" tIns="0" rIns="0" bIns="0" rtlCol="0" anchor="t"/>
          <a:lstStyle/>
          <a:p>
            <a:pPr indent="0" marL="0">
              <a:buNone/>
            </a:pPr>
            <a:r>
              <a:rPr lang="en-US" sz="1400" b="1" dirty="0">
                <a:solidFill>
                  <a:srgbClr val="188038"/>
                </a:solidFill>
                <a:latin typeface="Roboto" pitchFamily="34" charset="0"/>
                <a:ea typeface="Roboto" pitchFamily="34" charset="-122"/>
                <a:cs typeface="Roboto" pitchFamily="34" charset="-120"/>
              </a:rPr>
              <a:t>Paraula clau · Segle</a:t>
            </a:r>
            <a:endParaRPr lang="en-US" sz="1400" dirty="0"/>
          </a:p>
        </p:txBody>
      </p:sp>
      <p:sp>
        <p:nvSpPr>
          <p:cNvPr id="19" name="Text 15"/>
          <p:cNvSpPr txBox="1"/>
          <p:nvPr/>
        </p:nvSpPr>
        <p:spPr>
          <a:xfrm>
            <a:off x="868680" y="4754880"/>
            <a:ext cx="10454335" cy="1097280"/>
          </a:xfrm>
          <a:prstGeom prst="rect">
            <a:avLst/>
          </a:prstGeom>
          <a:noFill/>
          <a:ln/>
        </p:spPr>
        <p:txBody>
          <a:bodyPr wrap="square" lIns="0" tIns="0" rIns="0" bIns="0" rtlCol="0" anchor="t"/>
          <a:lstStyle/>
          <a:p>
            <a:pPr indent="0" marL="0">
              <a:buNone/>
            </a:pPr>
            <a:r>
              <a:rPr lang="en-US" sz="1900" dirty="0">
                <a:solidFill>
                  <a:srgbClr val="202124"/>
                </a:solidFill>
                <a:latin typeface="Roboto" pitchFamily="34" charset="0"/>
                <a:ea typeface="Roboto" pitchFamily="34" charset="-122"/>
                <a:cs typeface="Roboto" pitchFamily="34" charset="-120"/>
              </a:rPr>
              <a:t>Període de 100 anys. El segle I dC va de l'any 1 al 100, i el segle XXI, del 2001 al 2100.</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7</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Una regla pràctica per als segles</a:t>
            </a:r>
            <a:endParaRPr lang="en-US" sz="2800" dirty="0"/>
          </a:p>
        </p:txBody>
      </p:sp>
      <p:sp>
        <p:nvSpPr>
          <p:cNvPr id="5" name="Pas 1"/>
          <p:cNvSpPr/>
          <p:nvPr/>
        </p:nvSpPr>
        <p:spPr>
          <a:xfrm>
            <a:off x="548640" y="1371600"/>
            <a:ext cx="3362858" cy="2423160"/>
          </a:xfrm>
          <a:prstGeom prst="roundRect">
            <a:avLst>
              <a:gd name="adj" fmla="val 4151"/>
            </a:avLst>
          </a:prstGeom>
          <a:solidFill>
            <a:srgbClr val="FFFFFF"/>
          </a:solidFill>
          <a:ln w="12700">
            <a:solidFill>
              <a:srgbClr val="DADCE0"/>
            </a:solidFill>
            <a:prstDash val="solid"/>
          </a:ln>
        </p:spPr>
      </p:sp>
      <p:sp>
        <p:nvSpPr>
          <p:cNvPr id="6" name="Cercle icona"/>
          <p:cNvSpPr/>
          <p:nvPr/>
        </p:nvSpPr>
        <p:spPr>
          <a:xfrm>
            <a:off x="804672" y="1627632"/>
            <a:ext cx="685800" cy="685800"/>
          </a:xfrm>
          <a:prstGeom prst="ellipse">
            <a:avLst/>
          </a:prstGeom>
          <a:solidFill>
            <a:srgbClr val="E6F4EA"/>
          </a:solidFill>
          <a:ln/>
        </p:spPr>
      </p:sp>
      <p:pic>
        <p:nvPicPr>
          <p:cNvPr id="7" name="Icona TbScissors" descr="/home/claude/p857/build/img/ic/TbScissors-g.png">    </p:cNvPr>
          <p:cNvPicPr>
            <a:picLocks noChangeAspect="1"/>
          </p:cNvPicPr>
          <p:nvPr/>
        </p:nvPicPr>
        <p:blipFill>
          <a:blip r:embed="rId1"/>
          <a:stretch>
            <a:fillRect/>
          </a:stretch>
        </p:blipFill>
        <p:spPr>
          <a:xfrm>
            <a:off x="955548" y="1778508"/>
            <a:ext cx="384048" cy="384048"/>
          </a:xfrm>
          <a:prstGeom prst="rect">
            <a:avLst/>
          </a:prstGeom>
        </p:spPr>
      </p:pic>
      <p:sp>
        <p:nvSpPr>
          <p:cNvPr id="8" name="Text 5"/>
          <p:cNvSpPr txBox="1"/>
          <p:nvPr/>
        </p:nvSpPr>
        <p:spPr>
          <a:xfrm>
            <a:off x="3225698" y="1627632"/>
            <a:ext cx="411480" cy="411480"/>
          </a:xfrm>
          <a:prstGeom prst="rect">
            <a:avLst/>
          </a:prstGeom>
          <a:noFill/>
          <a:ln/>
        </p:spPr>
        <p:txBody>
          <a:bodyPr wrap="square" lIns="0" tIns="0" rIns="0" bIns="0" rtlCol="0" anchor="t"/>
          <a:lstStyle/>
          <a:p>
            <a:pPr algn="r" indent="0" marL="0">
              <a:buNone/>
            </a:pPr>
            <a:r>
              <a:rPr lang="en-US" sz="2200" b="1" dirty="0">
                <a:solidFill>
                  <a:srgbClr val="DADCE0"/>
                </a:solidFill>
                <a:latin typeface="Roboto" pitchFamily="34" charset="0"/>
                <a:ea typeface="Roboto" pitchFamily="34" charset="-122"/>
                <a:cs typeface="Roboto" pitchFamily="34" charset="-120"/>
              </a:rPr>
              <a:t>1</a:t>
            </a:r>
            <a:endParaRPr lang="en-US" sz="2200" dirty="0"/>
          </a:p>
        </p:txBody>
      </p:sp>
      <p:sp>
        <p:nvSpPr>
          <p:cNvPr id="9" name="Text 6"/>
          <p:cNvSpPr txBox="1"/>
          <p:nvPr/>
        </p:nvSpPr>
        <p:spPr>
          <a:xfrm>
            <a:off x="804672" y="2468880"/>
            <a:ext cx="2850794" cy="603250"/>
          </a:xfrm>
          <a:prstGeom prst="rect">
            <a:avLst/>
          </a:prstGeom>
          <a:noFill/>
          <a:ln/>
        </p:spPr>
        <p:txBody>
          <a:bodyPr wrap="square" lIns="0" tIns="0" rIns="0" bIns="0" rtlCol="0" anchor="t"/>
          <a:lstStyle/>
          <a:p>
            <a:pPr indent="0" marL="0">
              <a:buNone/>
            </a:pPr>
            <a:r>
              <a:rPr lang="en-US" sz="1900" b="1" dirty="0">
                <a:solidFill>
                  <a:srgbClr val="188038"/>
                </a:solidFill>
                <a:latin typeface="Roboto" pitchFamily="34" charset="0"/>
                <a:ea typeface="Roboto" pitchFamily="34" charset="-122"/>
                <a:cs typeface="Roboto" pitchFamily="34" charset="-120"/>
              </a:rPr>
              <a:t>Treu les dues últimes xifres</a:t>
            </a:r>
            <a:endParaRPr lang="en-US" sz="1900" dirty="0"/>
          </a:p>
        </p:txBody>
      </p:sp>
      <p:sp>
        <p:nvSpPr>
          <p:cNvPr id="10" name="Text 7"/>
          <p:cNvSpPr txBox="1"/>
          <p:nvPr/>
        </p:nvSpPr>
        <p:spPr>
          <a:xfrm>
            <a:off x="804672" y="3136138"/>
            <a:ext cx="2850794" cy="567182"/>
          </a:xfrm>
          <a:prstGeom prst="rect">
            <a:avLst/>
          </a:prstGeom>
          <a:noFill/>
          <a:ln/>
        </p:spPr>
        <p:txBody>
          <a:bodyPr wrap="square" lIns="0" tIns="0" rIns="0" bIns="0" rtlCol="0" anchor="t"/>
          <a:lstStyle/>
          <a:p>
            <a:pPr indent="0" marL="0">
              <a:buNone/>
            </a:pPr>
            <a:r>
              <a:rPr lang="en-US" sz="1700" dirty="0">
                <a:solidFill>
                  <a:srgbClr val="202124"/>
                </a:solidFill>
                <a:latin typeface="Roboto" pitchFamily="34" charset="0"/>
                <a:ea typeface="Roboto" pitchFamily="34" charset="-122"/>
                <a:cs typeface="Roboto" pitchFamily="34" charset="-120"/>
              </a:rPr>
              <a:t>De la data que vols saber.</a:t>
            </a:r>
            <a:endParaRPr lang="en-US" sz="1700" dirty="0"/>
          </a:p>
        </p:txBody>
      </p:sp>
      <p:sp>
        <p:nvSpPr>
          <p:cNvPr id="11" name="Fletxa"/>
          <p:cNvSpPr/>
          <p:nvPr/>
        </p:nvSpPr>
        <p:spPr>
          <a:xfrm>
            <a:off x="4071518" y="2446020"/>
            <a:ext cx="182880" cy="274320"/>
          </a:xfrm>
          <a:prstGeom prst="chevron">
            <a:avLst/>
          </a:prstGeom>
          <a:solidFill>
            <a:srgbClr val="188038"/>
          </a:solidFill>
          <a:ln/>
        </p:spPr>
      </p:sp>
      <p:sp>
        <p:nvSpPr>
          <p:cNvPr id="12" name="Pas 2"/>
          <p:cNvSpPr/>
          <p:nvPr/>
        </p:nvSpPr>
        <p:spPr>
          <a:xfrm>
            <a:off x="4414418" y="1371600"/>
            <a:ext cx="3362858" cy="2423160"/>
          </a:xfrm>
          <a:prstGeom prst="roundRect">
            <a:avLst>
              <a:gd name="adj" fmla="val 4151"/>
            </a:avLst>
          </a:prstGeom>
          <a:solidFill>
            <a:srgbClr val="FFFFFF"/>
          </a:solidFill>
          <a:ln w="12700">
            <a:solidFill>
              <a:srgbClr val="DADCE0"/>
            </a:solidFill>
            <a:prstDash val="solid"/>
          </a:ln>
        </p:spPr>
      </p:sp>
      <p:sp>
        <p:nvSpPr>
          <p:cNvPr id="13" name="Cercle icona"/>
          <p:cNvSpPr/>
          <p:nvPr/>
        </p:nvSpPr>
        <p:spPr>
          <a:xfrm>
            <a:off x="4670450" y="1627632"/>
            <a:ext cx="685800" cy="685800"/>
          </a:xfrm>
          <a:prstGeom prst="ellipse">
            <a:avLst/>
          </a:prstGeom>
          <a:solidFill>
            <a:srgbClr val="E6F4EA"/>
          </a:solidFill>
          <a:ln/>
        </p:spPr>
      </p:sp>
      <p:pic>
        <p:nvPicPr>
          <p:cNvPr id="14" name="Icona TbCircleCheck" descr="/home/claude/p857/build/img/ic/TbCircleCheck-g.png">    </p:cNvPr>
          <p:cNvPicPr>
            <a:picLocks noChangeAspect="1"/>
          </p:cNvPicPr>
          <p:nvPr/>
        </p:nvPicPr>
        <p:blipFill>
          <a:blip r:embed="rId2"/>
          <a:stretch>
            <a:fillRect/>
          </a:stretch>
        </p:blipFill>
        <p:spPr>
          <a:xfrm>
            <a:off x="4821326" y="1778508"/>
            <a:ext cx="384048" cy="384048"/>
          </a:xfrm>
          <a:prstGeom prst="rect">
            <a:avLst/>
          </a:prstGeom>
        </p:spPr>
      </p:pic>
      <p:sp>
        <p:nvSpPr>
          <p:cNvPr id="15" name="Text 11"/>
          <p:cNvSpPr txBox="1"/>
          <p:nvPr/>
        </p:nvSpPr>
        <p:spPr>
          <a:xfrm>
            <a:off x="7091477" y="1627632"/>
            <a:ext cx="411480" cy="411480"/>
          </a:xfrm>
          <a:prstGeom prst="rect">
            <a:avLst/>
          </a:prstGeom>
          <a:noFill/>
          <a:ln/>
        </p:spPr>
        <p:txBody>
          <a:bodyPr wrap="square" lIns="0" tIns="0" rIns="0" bIns="0" rtlCol="0" anchor="t"/>
          <a:lstStyle/>
          <a:p>
            <a:pPr algn="r" indent="0" marL="0">
              <a:buNone/>
            </a:pPr>
            <a:r>
              <a:rPr lang="en-US" sz="2200" b="1" dirty="0">
                <a:solidFill>
                  <a:srgbClr val="DADCE0"/>
                </a:solidFill>
                <a:latin typeface="Roboto" pitchFamily="34" charset="0"/>
                <a:ea typeface="Roboto" pitchFamily="34" charset="-122"/>
                <a:cs typeface="Roboto" pitchFamily="34" charset="-120"/>
              </a:rPr>
              <a:t>2</a:t>
            </a:r>
            <a:endParaRPr lang="en-US" sz="2200" dirty="0"/>
          </a:p>
        </p:txBody>
      </p:sp>
      <p:sp>
        <p:nvSpPr>
          <p:cNvPr id="16" name="Text 12"/>
          <p:cNvSpPr txBox="1"/>
          <p:nvPr/>
        </p:nvSpPr>
        <p:spPr>
          <a:xfrm>
            <a:off x="4670450" y="2468880"/>
            <a:ext cx="2850794" cy="301625"/>
          </a:xfrm>
          <a:prstGeom prst="rect">
            <a:avLst/>
          </a:prstGeom>
          <a:noFill/>
          <a:ln/>
        </p:spPr>
        <p:txBody>
          <a:bodyPr wrap="square" lIns="0" tIns="0" rIns="0" bIns="0" rtlCol="0" anchor="t"/>
          <a:lstStyle/>
          <a:p>
            <a:pPr indent="0" marL="0">
              <a:buNone/>
            </a:pPr>
            <a:r>
              <a:rPr lang="en-US" sz="1900" b="1" dirty="0">
                <a:solidFill>
                  <a:srgbClr val="188038"/>
                </a:solidFill>
                <a:latin typeface="Roboto" pitchFamily="34" charset="0"/>
                <a:ea typeface="Roboto" pitchFamily="34" charset="-122"/>
                <a:cs typeface="Roboto" pitchFamily="34" charset="-120"/>
              </a:rPr>
              <a:t>Acaba en 00?</a:t>
            </a:r>
            <a:endParaRPr lang="en-US" sz="1900" dirty="0"/>
          </a:p>
        </p:txBody>
      </p:sp>
      <p:sp>
        <p:nvSpPr>
          <p:cNvPr id="17" name="Text 13"/>
          <p:cNvSpPr txBox="1"/>
          <p:nvPr/>
        </p:nvSpPr>
        <p:spPr>
          <a:xfrm>
            <a:off x="4670450" y="2834513"/>
            <a:ext cx="2850794" cy="868807"/>
          </a:xfrm>
          <a:prstGeom prst="rect">
            <a:avLst/>
          </a:prstGeom>
          <a:noFill/>
          <a:ln/>
        </p:spPr>
        <p:txBody>
          <a:bodyPr wrap="square" lIns="0" tIns="0" rIns="0" bIns="0" rtlCol="0" anchor="t"/>
          <a:lstStyle/>
          <a:p>
            <a:pPr indent="0" marL="0">
              <a:buNone/>
            </a:pPr>
            <a:r>
              <a:rPr lang="en-US" sz="1700" dirty="0">
                <a:solidFill>
                  <a:srgbClr val="202124"/>
                </a:solidFill>
                <a:latin typeface="Roboto" pitchFamily="34" charset="0"/>
                <a:ea typeface="Roboto" pitchFamily="34" charset="-122"/>
                <a:cs typeface="Roboto" pitchFamily="34" charset="-120"/>
              </a:rPr>
              <a:t>Llavors el segle és el número que queda.</a:t>
            </a:r>
            <a:endParaRPr lang="en-US" sz="1700" dirty="0"/>
          </a:p>
        </p:txBody>
      </p:sp>
      <p:sp>
        <p:nvSpPr>
          <p:cNvPr id="18" name="Fletxa"/>
          <p:cNvSpPr/>
          <p:nvPr/>
        </p:nvSpPr>
        <p:spPr>
          <a:xfrm>
            <a:off x="7937297" y="2446020"/>
            <a:ext cx="182880" cy="274320"/>
          </a:xfrm>
          <a:prstGeom prst="chevron">
            <a:avLst/>
          </a:prstGeom>
          <a:solidFill>
            <a:srgbClr val="188038"/>
          </a:solidFill>
          <a:ln/>
        </p:spPr>
      </p:sp>
      <p:sp>
        <p:nvSpPr>
          <p:cNvPr id="19" name="Pas 3"/>
          <p:cNvSpPr/>
          <p:nvPr/>
        </p:nvSpPr>
        <p:spPr>
          <a:xfrm>
            <a:off x="8280197" y="1371600"/>
            <a:ext cx="3362858" cy="2423160"/>
          </a:xfrm>
          <a:prstGeom prst="roundRect">
            <a:avLst>
              <a:gd name="adj" fmla="val 4151"/>
            </a:avLst>
          </a:prstGeom>
          <a:solidFill>
            <a:srgbClr val="FFFFFF"/>
          </a:solidFill>
          <a:ln w="12700">
            <a:solidFill>
              <a:srgbClr val="DADCE0"/>
            </a:solidFill>
            <a:prstDash val="solid"/>
          </a:ln>
        </p:spPr>
      </p:sp>
      <p:sp>
        <p:nvSpPr>
          <p:cNvPr id="20" name="Cercle icona"/>
          <p:cNvSpPr/>
          <p:nvPr/>
        </p:nvSpPr>
        <p:spPr>
          <a:xfrm>
            <a:off x="8536229" y="1627632"/>
            <a:ext cx="685800" cy="685800"/>
          </a:xfrm>
          <a:prstGeom prst="ellipse">
            <a:avLst/>
          </a:prstGeom>
          <a:solidFill>
            <a:srgbClr val="E6F4EA"/>
          </a:solidFill>
          <a:ln/>
        </p:spPr>
      </p:sp>
      <p:pic>
        <p:nvPicPr>
          <p:cNvPr id="21" name="Icona TbPlus" descr="/home/claude/p857/build/img/ic/TbPlus-g.png">    </p:cNvPr>
          <p:cNvPicPr>
            <a:picLocks noChangeAspect="1"/>
          </p:cNvPicPr>
          <p:nvPr/>
        </p:nvPicPr>
        <p:blipFill>
          <a:blip r:embed="rId3"/>
          <a:stretch>
            <a:fillRect/>
          </a:stretch>
        </p:blipFill>
        <p:spPr>
          <a:xfrm>
            <a:off x="8687105" y="1778508"/>
            <a:ext cx="384048" cy="384048"/>
          </a:xfrm>
          <a:prstGeom prst="rect">
            <a:avLst/>
          </a:prstGeom>
        </p:spPr>
      </p:pic>
      <p:sp>
        <p:nvSpPr>
          <p:cNvPr id="22" name="Text 17"/>
          <p:cNvSpPr txBox="1"/>
          <p:nvPr/>
        </p:nvSpPr>
        <p:spPr>
          <a:xfrm>
            <a:off x="10957255" y="1627632"/>
            <a:ext cx="411480" cy="411480"/>
          </a:xfrm>
          <a:prstGeom prst="rect">
            <a:avLst/>
          </a:prstGeom>
          <a:noFill/>
          <a:ln/>
        </p:spPr>
        <p:txBody>
          <a:bodyPr wrap="square" lIns="0" tIns="0" rIns="0" bIns="0" rtlCol="0" anchor="t"/>
          <a:lstStyle/>
          <a:p>
            <a:pPr algn="r" indent="0" marL="0">
              <a:buNone/>
            </a:pPr>
            <a:r>
              <a:rPr lang="en-US" sz="2200" b="1" dirty="0">
                <a:solidFill>
                  <a:srgbClr val="DADCE0"/>
                </a:solidFill>
                <a:latin typeface="Roboto" pitchFamily="34" charset="0"/>
                <a:ea typeface="Roboto" pitchFamily="34" charset="-122"/>
                <a:cs typeface="Roboto" pitchFamily="34" charset="-120"/>
              </a:rPr>
              <a:t>3</a:t>
            </a:r>
            <a:endParaRPr lang="en-US" sz="2200" dirty="0"/>
          </a:p>
        </p:txBody>
      </p:sp>
      <p:sp>
        <p:nvSpPr>
          <p:cNvPr id="23" name="Text 18"/>
          <p:cNvSpPr txBox="1"/>
          <p:nvPr/>
        </p:nvSpPr>
        <p:spPr>
          <a:xfrm>
            <a:off x="8536229" y="2468880"/>
            <a:ext cx="2850794" cy="301625"/>
          </a:xfrm>
          <a:prstGeom prst="rect">
            <a:avLst/>
          </a:prstGeom>
          <a:noFill/>
          <a:ln/>
        </p:spPr>
        <p:txBody>
          <a:bodyPr wrap="square" lIns="0" tIns="0" rIns="0" bIns="0" rtlCol="0" anchor="t"/>
          <a:lstStyle/>
          <a:p>
            <a:pPr indent="0" marL="0">
              <a:buNone/>
            </a:pPr>
            <a:r>
              <a:rPr lang="en-US" sz="1900" b="1" dirty="0">
                <a:solidFill>
                  <a:srgbClr val="188038"/>
                </a:solidFill>
                <a:latin typeface="Roboto" pitchFamily="34" charset="0"/>
                <a:ea typeface="Roboto" pitchFamily="34" charset="-122"/>
                <a:cs typeface="Roboto" pitchFamily="34" charset="-120"/>
              </a:rPr>
              <a:t>Si no, suma-hi 1</a:t>
            </a:r>
            <a:endParaRPr lang="en-US" sz="1900" dirty="0"/>
          </a:p>
        </p:txBody>
      </p:sp>
      <p:sp>
        <p:nvSpPr>
          <p:cNvPr id="24" name="Text 19"/>
          <p:cNvSpPr txBox="1"/>
          <p:nvPr/>
        </p:nvSpPr>
        <p:spPr>
          <a:xfrm>
            <a:off x="8536229" y="2834513"/>
            <a:ext cx="2850794" cy="868807"/>
          </a:xfrm>
          <a:prstGeom prst="rect">
            <a:avLst/>
          </a:prstGeom>
          <a:noFill/>
          <a:ln/>
        </p:spPr>
        <p:txBody>
          <a:bodyPr wrap="square" lIns="0" tIns="0" rIns="0" bIns="0" rtlCol="0" anchor="t"/>
          <a:lstStyle/>
          <a:p>
            <a:pPr indent="0" marL="0">
              <a:buNone/>
            </a:pPr>
            <a:r>
              <a:rPr lang="en-US" sz="1700" dirty="0">
                <a:solidFill>
                  <a:srgbClr val="202124"/>
                </a:solidFill>
                <a:latin typeface="Roboto" pitchFamily="34" charset="0"/>
                <a:ea typeface="Roboto" pitchFamily="34" charset="-122"/>
                <a:cs typeface="Roboto" pitchFamily="34" charset="-120"/>
              </a:rPr>
              <a:t>El segle és el número que queda + 1.</a:t>
            </a:r>
            <a:endParaRPr lang="en-US" sz="1700" dirty="0"/>
          </a:p>
        </p:txBody>
      </p:sp>
      <p:sp>
        <p:nvSpPr>
          <p:cNvPr id="25" name="1492 → segle XV"/>
          <p:cNvSpPr/>
          <p:nvPr/>
        </p:nvSpPr>
        <p:spPr>
          <a:xfrm>
            <a:off x="548640" y="4023360"/>
            <a:ext cx="3515258" cy="1188720"/>
          </a:xfrm>
          <a:prstGeom prst="roundRect">
            <a:avLst>
              <a:gd name="adj" fmla="val 8462"/>
            </a:avLst>
          </a:prstGeom>
          <a:solidFill>
            <a:srgbClr val="E6F4EA"/>
          </a:solidFill>
          <a:ln/>
        </p:spPr>
      </p:sp>
      <p:sp>
        <p:nvSpPr>
          <p:cNvPr id="26" name="Text 21"/>
          <p:cNvSpPr txBox="1"/>
          <p:nvPr/>
        </p:nvSpPr>
        <p:spPr>
          <a:xfrm>
            <a:off x="822960" y="4023360"/>
            <a:ext cx="2966618" cy="1188720"/>
          </a:xfrm>
          <a:prstGeom prst="rect">
            <a:avLst/>
          </a:prstGeom>
          <a:noFill/>
          <a:ln/>
        </p:spPr>
        <p:txBody>
          <a:bodyPr wrap="square" lIns="0" tIns="0" rIns="0" bIns="0" rtlCol="0" anchor="ctr"/>
          <a:lstStyle/>
          <a:p>
            <a:pPr indent="0" marL="0">
              <a:buNone/>
            </a:pPr>
            <a:r>
              <a:rPr lang="en-US" sz="2200" b="1" dirty="0">
                <a:solidFill>
                  <a:srgbClr val="188038"/>
                </a:solidFill>
                <a:latin typeface="Roboto" pitchFamily="34" charset="0"/>
                <a:ea typeface="Roboto" pitchFamily="34" charset="-122"/>
                <a:cs typeface="Roboto" pitchFamily="34" charset="-120"/>
              </a:rPr>
              <a:t>1492 → segle XV</a:t>
            </a:r>
            <a:endParaRPr lang="en-US" sz="2200" dirty="0"/>
          </a:p>
          <a:p>
            <a:pPr indent="0" marL="0">
              <a:buNone/>
            </a:pPr>
            <a:r>
              <a:rPr lang="en-US" sz="1600" dirty="0">
                <a:solidFill>
                  <a:srgbClr val="202124"/>
                </a:solidFill>
                <a:latin typeface="Roboto" pitchFamily="34" charset="0"/>
                <a:ea typeface="Roboto" pitchFamily="34" charset="-122"/>
                <a:cs typeface="Roboto" pitchFamily="34" charset="-120"/>
              </a:rPr>
              <a:t>14 + 1 = 15</a:t>
            </a:r>
            <a:endParaRPr lang="en-US" sz="2200" dirty="0"/>
          </a:p>
        </p:txBody>
      </p:sp>
      <p:sp>
        <p:nvSpPr>
          <p:cNvPr id="27" name="2000 → segle XX"/>
          <p:cNvSpPr/>
          <p:nvPr/>
        </p:nvSpPr>
        <p:spPr>
          <a:xfrm>
            <a:off x="4338218" y="4023360"/>
            <a:ext cx="3515258" cy="1188720"/>
          </a:xfrm>
          <a:prstGeom prst="roundRect">
            <a:avLst>
              <a:gd name="adj" fmla="val 8462"/>
            </a:avLst>
          </a:prstGeom>
          <a:solidFill>
            <a:srgbClr val="E6F4EA"/>
          </a:solidFill>
          <a:ln/>
        </p:spPr>
      </p:sp>
      <p:sp>
        <p:nvSpPr>
          <p:cNvPr id="28" name="Text 23"/>
          <p:cNvSpPr txBox="1"/>
          <p:nvPr/>
        </p:nvSpPr>
        <p:spPr>
          <a:xfrm>
            <a:off x="4612538" y="4023360"/>
            <a:ext cx="2966618" cy="1188720"/>
          </a:xfrm>
          <a:prstGeom prst="rect">
            <a:avLst/>
          </a:prstGeom>
          <a:noFill/>
          <a:ln/>
        </p:spPr>
        <p:txBody>
          <a:bodyPr wrap="square" lIns="0" tIns="0" rIns="0" bIns="0" rtlCol="0" anchor="ctr"/>
          <a:lstStyle/>
          <a:p>
            <a:pPr indent="0" marL="0">
              <a:buNone/>
            </a:pPr>
            <a:r>
              <a:rPr lang="en-US" sz="2200" b="1" dirty="0">
                <a:solidFill>
                  <a:srgbClr val="188038"/>
                </a:solidFill>
                <a:latin typeface="Roboto" pitchFamily="34" charset="0"/>
                <a:ea typeface="Roboto" pitchFamily="34" charset="-122"/>
                <a:cs typeface="Roboto" pitchFamily="34" charset="-120"/>
              </a:rPr>
              <a:t>2000 → segle XX</a:t>
            </a:r>
            <a:endParaRPr lang="en-US" sz="2200" dirty="0"/>
          </a:p>
          <a:p>
            <a:pPr indent="0" marL="0">
              <a:buNone/>
            </a:pPr>
            <a:r>
              <a:rPr lang="en-US" sz="1600" dirty="0">
                <a:solidFill>
                  <a:srgbClr val="202124"/>
                </a:solidFill>
                <a:latin typeface="Roboto" pitchFamily="34" charset="0"/>
                <a:ea typeface="Roboto" pitchFamily="34" charset="-122"/>
                <a:cs typeface="Roboto" pitchFamily="34" charset="-120"/>
              </a:rPr>
              <a:t>Acaba en 00, no se suma res.</a:t>
            </a:r>
            <a:endParaRPr lang="en-US" sz="2200" dirty="0"/>
          </a:p>
        </p:txBody>
      </p:sp>
      <p:sp>
        <p:nvSpPr>
          <p:cNvPr id="29" name="476 → segle V"/>
          <p:cNvSpPr/>
          <p:nvPr/>
        </p:nvSpPr>
        <p:spPr>
          <a:xfrm>
            <a:off x="8127797" y="4023360"/>
            <a:ext cx="3515258" cy="1188720"/>
          </a:xfrm>
          <a:prstGeom prst="roundRect">
            <a:avLst>
              <a:gd name="adj" fmla="val 8462"/>
            </a:avLst>
          </a:prstGeom>
          <a:solidFill>
            <a:srgbClr val="E6F4EA"/>
          </a:solidFill>
          <a:ln/>
        </p:spPr>
      </p:sp>
      <p:sp>
        <p:nvSpPr>
          <p:cNvPr id="30" name="Text 25"/>
          <p:cNvSpPr txBox="1"/>
          <p:nvPr/>
        </p:nvSpPr>
        <p:spPr>
          <a:xfrm>
            <a:off x="8402117" y="4023360"/>
            <a:ext cx="2966618" cy="1188720"/>
          </a:xfrm>
          <a:prstGeom prst="rect">
            <a:avLst/>
          </a:prstGeom>
          <a:noFill/>
          <a:ln/>
        </p:spPr>
        <p:txBody>
          <a:bodyPr wrap="square" lIns="0" tIns="0" rIns="0" bIns="0" rtlCol="0" anchor="ctr"/>
          <a:lstStyle/>
          <a:p>
            <a:pPr indent="0" marL="0">
              <a:buNone/>
            </a:pPr>
            <a:r>
              <a:rPr lang="en-US" sz="2200" b="1" dirty="0">
                <a:solidFill>
                  <a:srgbClr val="188038"/>
                </a:solidFill>
                <a:latin typeface="Roboto" pitchFamily="34" charset="0"/>
                <a:ea typeface="Roboto" pitchFamily="34" charset="-122"/>
                <a:cs typeface="Roboto" pitchFamily="34" charset="-120"/>
              </a:rPr>
              <a:t>476 → segle V</a:t>
            </a:r>
            <a:endParaRPr lang="en-US" sz="2200" dirty="0"/>
          </a:p>
          <a:p>
            <a:pPr indent="0" marL="0">
              <a:buNone/>
            </a:pPr>
            <a:r>
              <a:rPr lang="en-US" sz="1600" dirty="0">
                <a:solidFill>
                  <a:srgbClr val="202124"/>
                </a:solidFill>
                <a:latin typeface="Roboto" pitchFamily="34" charset="0"/>
                <a:ea typeface="Roboto" pitchFamily="34" charset="-122"/>
                <a:cs typeface="Roboto" pitchFamily="34" charset="-120"/>
              </a:rPr>
              <a:t>4 + 1 = 5</a:t>
            </a:r>
            <a:endParaRPr lang="en-US" sz="2200" dirty="0"/>
          </a:p>
        </p:txBody>
      </p:sp>
      <p:sp>
        <p:nvSpPr>
          <p:cNvPr id="31" name="Text 26"/>
          <p:cNvSpPr txBox="1"/>
          <p:nvPr/>
        </p:nvSpPr>
        <p:spPr>
          <a:xfrm>
            <a:off x="548640" y="5440680"/>
            <a:ext cx="11094415" cy="457200"/>
          </a:xfrm>
          <a:prstGeom prst="rect">
            <a:avLst/>
          </a:prstGeom>
          <a:noFill/>
          <a:ln/>
        </p:spPr>
        <p:txBody>
          <a:bodyPr wrap="square" lIns="0" tIns="0" rIns="0" bIns="0" rtlCol="0" anchor="t"/>
          <a:lstStyle/>
          <a:p>
            <a:pPr indent="0" marL="0">
              <a:buNone/>
            </a:pPr>
            <a:r>
              <a:rPr lang="en-US" sz="1700" b="1" dirty="0">
                <a:solidFill>
                  <a:srgbClr val="202124"/>
                </a:solidFill>
                <a:latin typeface="Roboto" pitchFamily="34" charset="0"/>
                <a:ea typeface="Roboto" pitchFamily="34" charset="-122"/>
                <a:cs typeface="Roboto" pitchFamily="34" charset="-120"/>
              </a:rPr>
              <a:t>La regla també funciona amb les dates aC. El 196 aC és del segle II aC.</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7</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Altres calendaris</a:t>
            </a:r>
            <a:endParaRPr lang="en-US" sz="2800" dirty="0"/>
          </a:p>
        </p:txBody>
      </p:sp>
      <p:sp>
        <p:nvSpPr>
          <p:cNvPr id="5" name="Targeta El musulmà"/>
          <p:cNvSpPr/>
          <p:nvPr/>
        </p:nvSpPr>
        <p:spPr>
          <a:xfrm>
            <a:off x="548640" y="1371600"/>
            <a:ext cx="3515258" cy="2743200"/>
          </a:xfrm>
          <a:prstGeom prst="roundRect">
            <a:avLst>
              <a:gd name="adj" fmla="val 3667"/>
            </a:avLst>
          </a:prstGeom>
          <a:solidFill>
            <a:srgbClr val="FFFFFF"/>
          </a:solidFill>
          <a:ln w="12700">
            <a:solidFill>
              <a:srgbClr val="DADCE0"/>
            </a:solidFill>
            <a:prstDash val="solid"/>
          </a:ln>
        </p:spPr>
      </p:sp>
      <p:sp>
        <p:nvSpPr>
          <p:cNvPr id="6" name="Cercle icona"/>
          <p:cNvSpPr/>
          <p:nvPr/>
        </p:nvSpPr>
        <p:spPr>
          <a:xfrm>
            <a:off x="777240" y="1600200"/>
            <a:ext cx="640080" cy="640080"/>
          </a:xfrm>
          <a:prstGeom prst="ellipse">
            <a:avLst/>
          </a:prstGeom>
          <a:solidFill>
            <a:srgbClr val="E6F4EA"/>
          </a:solidFill>
          <a:ln/>
        </p:spPr>
      </p:sp>
      <p:pic>
        <p:nvPicPr>
          <p:cNvPr id="7" name="Icona TbMoon" descr="/home/claude/p857/build/img/ic/TbMoon-g.png">    </p:cNvPr>
          <p:cNvPicPr>
            <a:picLocks noChangeAspect="1"/>
          </p:cNvPicPr>
          <p:nvPr/>
        </p:nvPicPr>
        <p:blipFill>
          <a:blip r:embed="rId1"/>
          <a:stretch>
            <a:fillRect/>
          </a:stretch>
        </p:blipFill>
        <p:spPr>
          <a:xfrm>
            <a:off x="918058" y="1741018"/>
            <a:ext cx="358445" cy="358445"/>
          </a:xfrm>
          <a:prstGeom prst="rect">
            <a:avLst/>
          </a:prstGeom>
        </p:spPr>
      </p:pic>
      <p:sp>
        <p:nvSpPr>
          <p:cNvPr id="8" name="Text 5"/>
          <p:cNvSpPr txBox="1"/>
          <p:nvPr/>
        </p:nvSpPr>
        <p:spPr>
          <a:xfrm>
            <a:off x="1554480" y="1600200"/>
            <a:ext cx="2280818" cy="640080"/>
          </a:xfrm>
          <a:prstGeom prst="rect">
            <a:avLst/>
          </a:prstGeom>
          <a:noFill/>
          <a:ln/>
        </p:spPr>
        <p:txBody>
          <a:bodyPr wrap="square" lIns="0" tIns="0" rIns="0" bIns="0" rtlCol="0" anchor="ctr"/>
          <a:lstStyle/>
          <a:p>
            <a:pPr indent="0" marL="0">
              <a:buNone/>
            </a:pPr>
            <a:r>
              <a:rPr lang="en-US" sz="2000" b="1" dirty="0">
                <a:solidFill>
                  <a:srgbClr val="188038"/>
                </a:solidFill>
                <a:latin typeface="Roboto" pitchFamily="34" charset="0"/>
                <a:ea typeface="Roboto" pitchFamily="34" charset="-122"/>
                <a:cs typeface="Roboto" pitchFamily="34" charset="-120"/>
              </a:rPr>
              <a:t>El musulmà</a:t>
            </a:r>
            <a:endParaRPr lang="en-US" sz="2000" dirty="0"/>
          </a:p>
        </p:txBody>
      </p:sp>
      <p:sp>
        <p:nvSpPr>
          <p:cNvPr id="9" name="Text 6"/>
          <p:cNvSpPr txBox="1"/>
          <p:nvPr/>
        </p:nvSpPr>
        <p:spPr>
          <a:xfrm>
            <a:off x="777240" y="2377440"/>
            <a:ext cx="3058058" cy="1600200"/>
          </a:xfrm>
          <a:prstGeom prst="rect">
            <a:avLst/>
          </a:prstGeom>
          <a:noFill/>
          <a:ln/>
        </p:spPr>
        <p:txBody>
          <a:bodyPr wrap="square" lIns="0" tIns="0" rIns="0" bIns="0" rtlCol="0" anchor="t"/>
          <a:lstStyle/>
          <a:p>
            <a:pPr indent="0" marL="0">
              <a:buNone/>
            </a:pPr>
            <a:r>
              <a:rPr lang="en-US" sz="1700" dirty="0">
                <a:solidFill>
                  <a:srgbClr val="202124"/>
                </a:solidFill>
                <a:latin typeface="Roboto" pitchFamily="34" charset="0"/>
                <a:ea typeface="Roboto" pitchFamily="34" charset="-122"/>
                <a:cs typeface="Roboto" pitchFamily="34" charset="-120"/>
              </a:rPr>
              <a:t>Compta els anys des del 622, l'hègira, el viatge de Mahoma de la Meca a Medina. És lunar, i per això el seu any és uns 11 dies més curt.</a:t>
            </a:r>
            <a:endParaRPr lang="en-US" sz="1700" dirty="0"/>
          </a:p>
        </p:txBody>
      </p:sp>
      <p:sp>
        <p:nvSpPr>
          <p:cNvPr id="10" name="Targeta El jueu"/>
          <p:cNvSpPr/>
          <p:nvPr/>
        </p:nvSpPr>
        <p:spPr>
          <a:xfrm>
            <a:off x="4338218" y="1371600"/>
            <a:ext cx="3515258" cy="2743200"/>
          </a:xfrm>
          <a:prstGeom prst="roundRect">
            <a:avLst>
              <a:gd name="adj" fmla="val 3667"/>
            </a:avLst>
          </a:prstGeom>
          <a:solidFill>
            <a:srgbClr val="FFFFFF"/>
          </a:solidFill>
          <a:ln w="12700">
            <a:solidFill>
              <a:srgbClr val="DADCE0"/>
            </a:solidFill>
            <a:prstDash val="solid"/>
          </a:ln>
        </p:spPr>
      </p:sp>
      <p:sp>
        <p:nvSpPr>
          <p:cNvPr id="11" name="Cercle icona"/>
          <p:cNvSpPr/>
          <p:nvPr/>
        </p:nvSpPr>
        <p:spPr>
          <a:xfrm>
            <a:off x="4566818" y="1600200"/>
            <a:ext cx="640080" cy="640080"/>
          </a:xfrm>
          <a:prstGeom prst="ellipse">
            <a:avLst/>
          </a:prstGeom>
          <a:solidFill>
            <a:srgbClr val="E6F4EA"/>
          </a:solidFill>
          <a:ln/>
        </p:spPr>
      </p:sp>
      <p:pic>
        <p:nvPicPr>
          <p:cNvPr id="12" name="Icona TbCalendar" descr="/home/claude/p857/build/img/ic/TbCalendar-g.png">    </p:cNvPr>
          <p:cNvPicPr>
            <a:picLocks noChangeAspect="1"/>
          </p:cNvPicPr>
          <p:nvPr/>
        </p:nvPicPr>
        <p:blipFill>
          <a:blip r:embed="rId2"/>
          <a:stretch>
            <a:fillRect/>
          </a:stretch>
        </p:blipFill>
        <p:spPr>
          <a:xfrm>
            <a:off x="4707636" y="1741018"/>
            <a:ext cx="358445" cy="358445"/>
          </a:xfrm>
          <a:prstGeom prst="rect">
            <a:avLst/>
          </a:prstGeom>
        </p:spPr>
      </p:pic>
      <p:sp>
        <p:nvSpPr>
          <p:cNvPr id="13" name="Text 9"/>
          <p:cNvSpPr txBox="1"/>
          <p:nvPr/>
        </p:nvSpPr>
        <p:spPr>
          <a:xfrm>
            <a:off x="5344058" y="1600200"/>
            <a:ext cx="2280818" cy="640080"/>
          </a:xfrm>
          <a:prstGeom prst="rect">
            <a:avLst/>
          </a:prstGeom>
          <a:noFill/>
          <a:ln/>
        </p:spPr>
        <p:txBody>
          <a:bodyPr wrap="square" lIns="0" tIns="0" rIns="0" bIns="0" rtlCol="0" anchor="ctr"/>
          <a:lstStyle/>
          <a:p>
            <a:pPr indent="0" marL="0">
              <a:buNone/>
            </a:pPr>
            <a:r>
              <a:rPr lang="en-US" sz="2000" b="1" dirty="0">
                <a:solidFill>
                  <a:srgbClr val="188038"/>
                </a:solidFill>
                <a:latin typeface="Roboto" pitchFamily="34" charset="0"/>
                <a:ea typeface="Roboto" pitchFamily="34" charset="-122"/>
                <a:cs typeface="Roboto" pitchFamily="34" charset="-120"/>
              </a:rPr>
              <a:t>El jueu</a:t>
            </a:r>
            <a:endParaRPr lang="en-US" sz="2000" dirty="0"/>
          </a:p>
        </p:txBody>
      </p:sp>
      <p:sp>
        <p:nvSpPr>
          <p:cNvPr id="14" name="Text 10"/>
          <p:cNvSpPr txBox="1"/>
          <p:nvPr/>
        </p:nvSpPr>
        <p:spPr>
          <a:xfrm>
            <a:off x="4566818" y="2377440"/>
            <a:ext cx="3058058" cy="1600200"/>
          </a:xfrm>
          <a:prstGeom prst="rect">
            <a:avLst/>
          </a:prstGeom>
          <a:noFill/>
          <a:ln/>
        </p:spPr>
        <p:txBody>
          <a:bodyPr wrap="square" lIns="0" tIns="0" rIns="0" bIns="0" rtlCol="0" anchor="t"/>
          <a:lstStyle/>
          <a:p>
            <a:pPr indent="0" marL="0">
              <a:buNone/>
            </a:pPr>
            <a:r>
              <a:rPr lang="en-US" sz="1700" dirty="0">
                <a:solidFill>
                  <a:srgbClr val="202124"/>
                </a:solidFill>
                <a:latin typeface="Roboto" pitchFamily="34" charset="0"/>
                <a:ea typeface="Roboto" pitchFamily="34" charset="-122"/>
                <a:cs typeface="Roboto" pitchFamily="34" charset="-120"/>
              </a:rPr>
              <a:t>En porta més de 5.700.</a:t>
            </a:r>
            <a:endParaRPr lang="en-US" sz="1700" dirty="0"/>
          </a:p>
        </p:txBody>
      </p:sp>
      <p:sp>
        <p:nvSpPr>
          <p:cNvPr id="15" name="Targeta El xinès"/>
          <p:cNvSpPr/>
          <p:nvPr/>
        </p:nvSpPr>
        <p:spPr>
          <a:xfrm>
            <a:off x="8127797" y="1371600"/>
            <a:ext cx="3515258" cy="2743200"/>
          </a:xfrm>
          <a:prstGeom prst="roundRect">
            <a:avLst>
              <a:gd name="adj" fmla="val 3667"/>
            </a:avLst>
          </a:prstGeom>
          <a:solidFill>
            <a:srgbClr val="FFFFFF"/>
          </a:solidFill>
          <a:ln w="12700">
            <a:solidFill>
              <a:srgbClr val="DADCE0"/>
            </a:solidFill>
            <a:prstDash val="solid"/>
          </a:ln>
        </p:spPr>
      </p:sp>
      <p:sp>
        <p:nvSpPr>
          <p:cNvPr id="16" name="Cercle icona"/>
          <p:cNvSpPr/>
          <p:nvPr/>
        </p:nvSpPr>
        <p:spPr>
          <a:xfrm>
            <a:off x="8356397" y="1600200"/>
            <a:ext cx="640080" cy="640080"/>
          </a:xfrm>
          <a:prstGeom prst="ellipse">
            <a:avLst/>
          </a:prstGeom>
          <a:solidFill>
            <a:srgbClr val="E6F4EA"/>
          </a:solidFill>
          <a:ln/>
        </p:spPr>
      </p:sp>
      <p:pic>
        <p:nvPicPr>
          <p:cNvPr id="17" name="Icona TbMoonStars" descr="/home/claude/p857/build/img/ic/TbMoonStars-g.png">    </p:cNvPr>
          <p:cNvPicPr>
            <a:picLocks noChangeAspect="1"/>
          </p:cNvPicPr>
          <p:nvPr/>
        </p:nvPicPr>
        <p:blipFill>
          <a:blip r:embed="rId3"/>
          <a:stretch>
            <a:fillRect/>
          </a:stretch>
        </p:blipFill>
        <p:spPr>
          <a:xfrm>
            <a:off x="8497214" y="1741018"/>
            <a:ext cx="358445" cy="358445"/>
          </a:xfrm>
          <a:prstGeom prst="rect">
            <a:avLst/>
          </a:prstGeom>
        </p:spPr>
      </p:pic>
      <p:sp>
        <p:nvSpPr>
          <p:cNvPr id="18" name="Text 13"/>
          <p:cNvSpPr txBox="1"/>
          <p:nvPr/>
        </p:nvSpPr>
        <p:spPr>
          <a:xfrm>
            <a:off x="9133637" y="1600200"/>
            <a:ext cx="2280818" cy="640080"/>
          </a:xfrm>
          <a:prstGeom prst="rect">
            <a:avLst/>
          </a:prstGeom>
          <a:noFill/>
          <a:ln/>
        </p:spPr>
        <p:txBody>
          <a:bodyPr wrap="square" lIns="0" tIns="0" rIns="0" bIns="0" rtlCol="0" anchor="ctr"/>
          <a:lstStyle/>
          <a:p>
            <a:pPr indent="0" marL="0">
              <a:buNone/>
            </a:pPr>
            <a:r>
              <a:rPr lang="en-US" sz="2000" b="1" dirty="0">
                <a:solidFill>
                  <a:srgbClr val="188038"/>
                </a:solidFill>
                <a:latin typeface="Roboto" pitchFamily="34" charset="0"/>
                <a:ea typeface="Roboto" pitchFamily="34" charset="-122"/>
                <a:cs typeface="Roboto" pitchFamily="34" charset="-120"/>
              </a:rPr>
              <a:t>El xinès</a:t>
            </a:r>
            <a:endParaRPr lang="en-US" sz="2000" dirty="0"/>
          </a:p>
        </p:txBody>
      </p:sp>
      <p:sp>
        <p:nvSpPr>
          <p:cNvPr id="19" name="Text 14"/>
          <p:cNvSpPr txBox="1"/>
          <p:nvPr/>
        </p:nvSpPr>
        <p:spPr>
          <a:xfrm>
            <a:off x="8356397" y="2377440"/>
            <a:ext cx="3058058" cy="1600200"/>
          </a:xfrm>
          <a:prstGeom prst="rect">
            <a:avLst/>
          </a:prstGeom>
          <a:noFill/>
          <a:ln/>
        </p:spPr>
        <p:txBody>
          <a:bodyPr wrap="square" lIns="0" tIns="0" rIns="0" bIns="0" rtlCol="0" anchor="t"/>
          <a:lstStyle/>
          <a:p>
            <a:pPr indent="0" marL="0">
              <a:buNone/>
            </a:pPr>
            <a:r>
              <a:rPr lang="en-US" sz="1700" dirty="0">
                <a:solidFill>
                  <a:srgbClr val="202124"/>
                </a:solidFill>
                <a:latin typeface="Roboto" pitchFamily="34" charset="0"/>
                <a:ea typeface="Roboto" pitchFamily="34" charset="-122"/>
                <a:cs typeface="Roboto" pitchFamily="34" charset="-120"/>
              </a:rPr>
              <a:t>Combina els cicles de la Lluna i els del Sol.</a:t>
            </a:r>
            <a:endParaRPr lang="en-US" sz="1700" dirty="0"/>
          </a:p>
        </p:txBody>
      </p:sp>
      <p:sp>
        <p:nvSpPr>
          <p:cNvPr id="20" name="L'any 2026"/>
          <p:cNvSpPr/>
          <p:nvPr/>
        </p:nvSpPr>
        <p:spPr>
          <a:xfrm>
            <a:off x="548640" y="4343400"/>
            <a:ext cx="5410048" cy="1645920"/>
          </a:xfrm>
          <a:prstGeom prst="roundRect">
            <a:avLst>
              <a:gd name="adj" fmla="val 6111"/>
            </a:avLst>
          </a:prstGeom>
          <a:solidFill>
            <a:srgbClr val="E6F4EA"/>
          </a:solidFill>
          <a:ln/>
        </p:spPr>
      </p:sp>
      <p:sp>
        <p:nvSpPr>
          <p:cNvPr id="21" name="Text 16"/>
          <p:cNvSpPr txBox="1"/>
          <p:nvPr/>
        </p:nvSpPr>
        <p:spPr>
          <a:xfrm>
            <a:off x="868680" y="4498848"/>
            <a:ext cx="4769968" cy="320040"/>
          </a:xfrm>
          <a:prstGeom prst="rect">
            <a:avLst/>
          </a:prstGeom>
          <a:noFill/>
          <a:ln/>
        </p:spPr>
        <p:txBody>
          <a:bodyPr wrap="square" lIns="0" tIns="0" rIns="0" bIns="0" rtlCol="0" anchor="t"/>
          <a:lstStyle/>
          <a:p>
            <a:pPr indent="0" marL="0">
              <a:buNone/>
            </a:pPr>
            <a:r>
              <a:rPr lang="en-US" sz="1400" b="1" dirty="0">
                <a:solidFill>
                  <a:srgbClr val="188038"/>
                </a:solidFill>
                <a:latin typeface="Roboto" pitchFamily="34" charset="0"/>
                <a:ea typeface="Roboto" pitchFamily="34" charset="-122"/>
                <a:cs typeface="Roboto" pitchFamily="34" charset="-120"/>
              </a:rPr>
              <a:t>L'any 2026</a:t>
            </a:r>
            <a:endParaRPr lang="en-US" sz="1400" dirty="0"/>
          </a:p>
        </p:txBody>
      </p:sp>
      <p:sp>
        <p:nvSpPr>
          <p:cNvPr id="22" name="Text 17"/>
          <p:cNvSpPr txBox="1"/>
          <p:nvPr/>
        </p:nvSpPr>
        <p:spPr>
          <a:xfrm>
            <a:off x="868680" y="4846320"/>
            <a:ext cx="4769968" cy="1005840"/>
          </a:xfrm>
          <a:prstGeom prst="rect">
            <a:avLst/>
          </a:prstGeom>
          <a:noFill/>
          <a:ln/>
        </p:spPr>
        <p:txBody>
          <a:bodyPr wrap="square" lIns="0" tIns="0" rIns="0" bIns="0" rtlCol="0" anchor="t"/>
          <a:lstStyle/>
          <a:p>
            <a:pPr indent="0" marL="0">
              <a:buNone/>
            </a:pPr>
            <a:r>
              <a:rPr lang="en-US" sz="1700" dirty="0">
                <a:solidFill>
                  <a:srgbClr val="202124"/>
                </a:solidFill>
                <a:latin typeface="Roboto" pitchFamily="34" charset="0"/>
                <a:ea typeface="Roboto" pitchFamily="34" charset="-122"/>
                <a:cs typeface="Roboto" pitchFamily="34" charset="-120"/>
              </a:rPr>
              <a:t>Correspon als anys 1447 i 1448 del calendari musulmà i als anys 5786 i 5787 del jueu.</a:t>
            </a:r>
            <a:endParaRPr lang="en-US" sz="1700" dirty="0"/>
          </a:p>
        </p:txBody>
      </p:sp>
      <p:sp>
        <p:nvSpPr>
          <p:cNvPr id="23" name="Cada cultura"/>
          <p:cNvSpPr/>
          <p:nvPr/>
        </p:nvSpPr>
        <p:spPr>
          <a:xfrm>
            <a:off x="6233008" y="4343400"/>
            <a:ext cx="5410048" cy="1645920"/>
          </a:xfrm>
          <a:prstGeom prst="roundRect">
            <a:avLst>
              <a:gd name="adj" fmla="val 6111"/>
            </a:avLst>
          </a:prstGeom>
          <a:solidFill>
            <a:srgbClr val="F6F8FB"/>
          </a:solidFill>
          <a:ln/>
        </p:spPr>
      </p:sp>
      <p:sp>
        <p:nvSpPr>
          <p:cNvPr id="24" name="Text 19"/>
          <p:cNvSpPr txBox="1"/>
          <p:nvPr/>
        </p:nvSpPr>
        <p:spPr>
          <a:xfrm>
            <a:off x="6553048" y="4498848"/>
            <a:ext cx="4769968" cy="320040"/>
          </a:xfrm>
          <a:prstGeom prst="rect">
            <a:avLst/>
          </a:prstGeom>
          <a:noFill/>
          <a:ln/>
        </p:spPr>
        <p:txBody>
          <a:bodyPr wrap="square" lIns="0" tIns="0" rIns="0" bIns="0" rtlCol="0" anchor="t"/>
          <a:lstStyle/>
          <a:p>
            <a:pPr indent="0" marL="0">
              <a:buNone/>
            </a:pPr>
            <a:r>
              <a:rPr lang="en-US" sz="1400" b="1" dirty="0">
                <a:solidFill>
                  <a:srgbClr val="202124"/>
                </a:solidFill>
                <a:latin typeface="Roboto" pitchFamily="34" charset="0"/>
                <a:ea typeface="Roboto" pitchFamily="34" charset="-122"/>
                <a:cs typeface="Roboto" pitchFamily="34" charset="-120"/>
              </a:rPr>
              <a:t>Cada cultura</a:t>
            </a:r>
            <a:endParaRPr lang="en-US" sz="1400" dirty="0"/>
          </a:p>
        </p:txBody>
      </p:sp>
      <p:sp>
        <p:nvSpPr>
          <p:cNvPr id="25" name="Text 20"/>
          <p:cNvSpPr txBox="1"/>
          <p:nvPr/>
        </p:nvSpPr>
        <p:spPr>
          <a:xfrm>
            <a:off x="6553048" y="4846320"/>
            <a:ext cx="4769968" cy="1005840"/>
          </a:xfrm>
          <a:prstGeom prst="rect">
            <a:avLst/>
          </a:prstGeom>
          <a:noFill/>
          <a:ln/>
        </p:spPr>
        <p:txBody>
          <a:bodyPr wrap="square" lIns="0" tIns="0" rIns="0" bIns="0" rtlCol="0" anchor="t"/>
          <a:lstStyle/>
          <a:p>
            <a:pPr indent="0" marL="0">
              <a:buNone/>
            </a:pPr>
            <a:r>
              <a:rPr lang="en-US" sz="1700" dirty="0">
                <a:solidFill>
                  <a:srgbClr val="5F6368"/>
                </a:solidFill>
                <a:latin typeface="Roboto" pitchFamily="34" charset="0"/>
                <a:ea typeface="Roboto" pitchFamily="34" charset="-122"/>
                <a:cs typeface="Roboto" pitchFamily="34" charset="-120"/>
              </a:rPr>
              <a:t>Ha mesurat el temps a la seva manera. El calendari cristià no és l'únic.</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7</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Saps que…? Deu dies que no van existir</a:t>
            </a:r>
            <a:endParaRPr lang="en-US" sz="2800" dirty="0"/>
          </a:p>
        </p:txBody>
      </p:sp>
      <p:sp>
        <p:nvSpPr>
          <p:cNvPr id="5" name="Text 3"/>
          <p:cNvSpPr txBox="1"/>
          <p:nvPr/>
        </p:nvSpPr>
        <p:spPr>
          <a:xfrm>
            <a:off x="548640" y="1371600"/>
            <a:ext cx="4572000" cy="365760"/>
          </a:xfrm>
          <a:prstGeom prst="rect">
            <a:avLst/>
          </a:prstGeom>
          <a:noFill/>
          <a:ln/>
        </p:spPr>
        <p:txBody>
          <a:bodyPr wrap="square" lIns="0" tIns="0" rIns="0" bIns="0" rtlCol="0" anchor="t"/>
          <a:lstStyle/>
          <a:p>
            <a:pPr indent="0" marL="0">
              <a:buNone/>
            </a:pPr>
            <a:r>
              <a:rPr lang="en-US" sz="1800" b="1" dirty="0">
                <a:solidFill>
                  <a:srgbClr val="5F6368"/>
                </a:solidFill>
                <a:latin typeface="Roboto" pitchFamily="34" charset="0"/>
                <a:ea typeface="Roboto" pitchFamily="34" charset="-122"/>
                <a:cs typeface="Roboto" pitchFamily="34" charset="-120"/>
              </a:rPr>
              <a:t>Octubre de 1582</a:t>
            </a:r>
            <a:endParaRPr lang="en-US" sz="1800" dirty="0"/>
          </a:p>
        </p:txBody>
      </p:sp>
      <p:sp>
        <p:nvSpPr>
          <p:cNvPr id="6" name="Dia 1"/>
          <p:cNvSpPr/>
          <p:nvPr/>
        </p:nvSpPr>
        <p:spPr>
          <a:xfrm>
            <a:off x="548640" y="1828800"/>
            <a:ext cx="1467351" cy="1325880"/>
          </a:xfrm>
          <a:prstGeom prst="roundRect">
            <a:avLst>
              <a:gd name="adj" fmla="val 7586"/>
            </a:avLst>
          </a:prstGeom>
          <a:solidFill>
            <a:srgbClr val="FFFFFF"/>
          </a:solidFill>
          <a:ln w="12700">
            <a:solidFill>
              <a:srgbClr val="DADCE0"/>
            </a:solidFill>
            <a:prstDash val="solid"/>
          </a:ln>
        </p:spPr>
      </p:sp>
      <p:sp>
        <p:nvSpPr>
          <p:cNvPr id="7" name="Text 5"/>
          <p:cNvSpPr txBox="1"/>
          <p:nvPr/>
        </p:nvSpPr>
        <p:spPr>
          <a:xfrm>
            <a:off x="548640" y="1938528"/>
            <a:ext cx="1467351" cy="320040"/>
          </a:xfrm>
          <a:prstGeom prst="rect">
            <a:avLst/>
          </a:prstGeom>
          <a:noFill/>
          <a:ln/>
        </p:spPr>
        <p:txBody>
          <a:bodyPr wrap="square" lIns="0" tIns="0" rIns="0" bIns="0" rtlCol="0" anchor="t"/>
          <a:lstStyle/>
          <a:p>
            <a:pPr algn="ctr" indent="0" marL="0">
              <a:buNone/>
            </a:pPr>
            <a:r>
              <a:rPr lang="en-US" sz="1500" b="1" dirty="0">
                <a:solidFill>
                  <a:srgbClr val="5F6368"/>
                </a:solidFill>
                <a:latin typeface="Roboto" pitchFamily="34" charset="0"/>
                <a:ea typeface="Roboto" pitchFamily="34" charset="-122"/>
                <a:cs typeface="Roboto" pitchFamily="34" charset="-120"/>
              </a:rPr>
              <a:t>Dl</a:t>
            </a:r>
            <a:endParaRPr lang="en-US" sz="1500" dirty="0"/>
          </a:p>
        </p:txBody>
      </p:sp>
      <p:sp>
        <p:nvSpPr>
          <p:cNvPr id="8" name="Text 6"/>
          <p:cNvSpPr txBox="1"/>
          <p:nvPr/>
        </p:nvSpPr>
        <p:spPr>
          <a:xfrm>
            <a:off x="548640" y="2240280"/>
            <a:ext cx="1467351" cy="777240"/>
          </a:xfrm>
          <a:prstGeom prst="rect">
            <a:avLst/>
          </a:prstGeom>
          <a:noFill/>
          <a:ln/>
        </p:spPr>
        <p:txBody>
          <a:bodyPr wrap="square" lIns="0" tIns="0" rIns="0" bIns="0" rtlCol="0" anchor="ctr"/>
          <a:lstStyle/>
          <a:p>
            <a:pPr algn="ctr" indent="0" marL="0">
              <a:buNone/>
            </a:pPr>
            <a:r>
              <a:rPr lang="en-US" sz="3600" b="1" dirty="0">
                <a:solidFill>
                  <a:srgbClr val="202124"/>
                </a:solidFill>
                <a:latin typeface="Roboto" pitchFamily="34" charset="0"/>
                <a:ea typeface="Roboto" pitchFamily="34" charset="-122"/>
                <a:cs typeface="Roboto" pitchFamily="34" charset="-120"/>
              </a:rPr>
              <a:t>1</a:t>
            </a:r>
            <a:endParaRPr lang="en-US" sz="3600" dirty="0"/>
          </a:p>
        </p:txBody>
      </p:sp>
      <p:sp>
        <p:nvSpPr>
          <p:cNvPr id="9" name="Dia 2"/>
          <p:cNvSpPr/>
          <p:nvPr/>
        </p:nvSpPr>
        <p:spPr>
          <a:xfrm>
            <a:off x="2153151" y="1828800"/>
            <a:ext cx="1467351" cy="1325880"/>
          </a:xfrm>
          <a:prstGeom prst="roundRect">
            <a:avLst>
              <a:gd name="adj" fmla="val 7586"/>
            </a:avLst>
          </a:prstGeom>
          <a:solidFill>
            <a:srgbClr val="FFFFFF"/>
          </a:solidFill>
          <a:ln w="12700">
            <a:solidFill>
              <a:srgbClr val="DADCE0"/>
            </a:solidFill>
            <a:prstDash val="solid"/>
          </a:ln>
        </p:spPr>
      </p:sp>
      <p:sp>
        <p:nvSpPr>
          <p:cNvPr id="10" name="Text 8"/>
          <p:cNvSpPr txBox="1"/>
          <p:nvPr/>
        </p:nvSpPr>
        <p:spPr>
          <a:xfrm>
            <a:off x="2153151" y="1938528"/>
            <a:ext cx="1467351" cy="320040"/>
          </a:xfrm>
          <a:prstGeom prst="rect">
            <a:avLst/>
          </a:prstGeom>
          <a:noFill/>
          <a:ln/>
        </p:spPr>
        <p:txBody>
          <a:bodyPr wrap="square" lIns="0" tIns="0" rIns="0" bIns="0" rtlCol="0" anchor="t"/>
          <a:lstStyle/>
          <a:p>
            <a:pPr algn="ctr" indent="0" marL="0">
              <a:buNone/>
            </a:pPr>
            <a:r>
              <a:rPr lang="en-US" sz="1500" b="1" dirty="0">
                <a:solidFill>
                  <a:srgbClr val="5F6368"/>
                </a:solidFill>
                <a:latin typeface="Roboto" pitchFamily="34" charset="0"/>
                <a:ea typeface="Roboto" pitchFamily="34" charset="-122"/>
                <a:cs typeface="Roboto" pitchFamily="34" charset="-120"/>
              </a:rPr>
              <a:t>Dt</a:t>
            </a:r>
            <a:endParaRPr lang="en-US" sz="1500" dirty="0"/>
          </a:p>
        </p:txBody>
      </p:sp>
      <p:sp>
        <p:nvSpPr>
          <p:cNvPr id="11" name="Text 9"/>
          <p:cNvSpPr txBox="1"/>
          <p:nvPr/>
        </p:nvSpPr>
        <p:spPr>
          <a:xfrm>
            <a:off x="2153151" y="2240280"/>
            <a:ext cx="1467351" cy="777240"/>
          </a:xfrm>
          <a:prstGeom prst="rect">
            <a:avLst/>
          </a:prstGeom>
          <a:noFill/>
          <a:ln/>
        </p:spPr>
        <p:txBody>
          <a:bodyPr wrap="square" lIns="0" tIns="0" rIns="0" bIns="0" rtlCol="0" anchor="ctr"/>
          <a:lstStyle/>
          <a:p>
            <a:pPr algn="ctr" indent="0" marL="0">
              <a:buNone/>
            </a:pPr>
            <a:r>
              <a:rPr lang="en-US" sz="3600" b="1" dirty="0">
                <a:solidFill>
                  <a:srgbClr val="202124"/>
                </a:solidFill>
                <a:latin typeface="Roboto" pitchFamily="34" charset="0"/>
                <a:ea typeface="Roboto" pitchFamily="34" charset="-122"/>
                <a:cs typeface="Roboto" pitchFamily="34" charset="-120"/>
              </a:rPr>
              <a:t>2</a:t>
            </a:r>
            <a:endParaRPr lang="en-US" sz="3600" dirty="0"/>
          </a:p>
        </p:txBody>
      </p:sp>
      <p:sp>
        <p:nvSpPr>
          <p:cNvPr id="12" name="Dia 3"/>
          <p:cNvSpPr/>
          <p:nvPr/>
        </p:nvSpPr>
        <p:spPr>
          <a:xfrm>
            <a:off x="3757661" y="1828800"/>
            <a:ext cx="1467351" cy="1325880"/>
          </a:xfrm>
          <a:prstGeom prst="roundRect">
            <a:avLst>
              <a:gd name="adj" fmla="val 7586"/>
            </a:avLst>
          </a:prstGeom>
          <a:solidFill>
            <a:srgbClr val="FFFFFF"/>
          </a:solidFill>
          <a:ln w="12700">
            <a:solidFill>
              <a:srgbClr val="DADCE0"/>
            </a:solidFill>
            <a:prstDash val="solid"/>
          </a:ln>
        </p:spPr>
      </p:sp>
      <p:sp>
        <p:nvSpPr>
          <p:cNvPr id="13" name="Text 11"/>
          <p:cNvSpPr txBox="1"/>
          <p:nvPr/>
        </p:nvSpPr>
        <p:spPr>
          <a:xfrm>
            <a:off x="3757661" y="1938528"/>
            <a:ext cx="1467351" cy="320040"/>
          </a:xfrm>
          <a:prstGeom prst="rect">
            <a:avLst/>
          </a:prstGeom>
          <a:noFill/>
          <a:ln/>
        </p:spPr>
        <p:txBody>
          <a:bodyPr wrap="square" lIns="0" tIns="0" rIns="0" bIns="0" rtlCol="0" anchor="t"/>
          <a:lstStyle/>
          <a:p>
            <a:pPr algn="ctr" indent="0" marL="0">
              <a:buNone/>
            </a:pPr>
            <a:r>
              <a:rPr lang="en-US" sz="1500" b="1" dirty="0">
                <a:solidFill>
                  <a:srgbClr val="5F6368"/>
                </a:solidFill>
                <a:latin typeface="Roboto" pitchFamily="34" charset="0"/>
                <a:ea typeface="Roboto" pitchFamily="34" charset="-122"/>
                <a:cs typeface="Roboto" pitchFamily="34" charset="-120"/>
              </a:rPr>
              <a:t>Dc</a:t>
            </a:r>
            <a:endParaRPr lang="en-US" sz="1500" dirty="0"/>
          </a:p>
        </p:txBody>
      </p:sp>
      <p:sp>
        <p:nvSpPr>
          <p:cNvPr id="14" name="Text 12"/>
          <p:cNvSpPr txBox="1"/>
          <p:nvPr/>
        </p:nvSpPr>
        <p:spPr>
          <a:xfrm>
            <a:off x="3757661" y="2240280"/>
            <a:ext cx="1467351" cy="777240"/>
          </a:xfrm>
          <a:prstGeom prst="rect">
            <a:avLst/>
          </a:prstGeom>
          <a:noFill/>
          <a:ln/>
        </p:spPr>
        <p:txBody>
          <a:bodyPr wrap="square" lIns="0" tIns="0" rIns="0" bIns="0" rtlCol="0" anchor="ctr"/>
          <a:lstStyle/>
          <a:p>
            <a:pPr algn="ctr" indent="0" marL="0">
              <a:buNone/>
            </a:pPr>
            <a:r>
              <a:rPr lang="en-US" sz="3600" b="1" dirty="0">
                <a:solidFill>
                  <a:srgbClr val="202124"/>
                </a:solidFill>
                <a:latin typeface="Roboto" pitchFamily="34" charset="0"/>
                <a:ea typeface="Roboto" pitchFamily="34" charset="-122"/>
                <a:cs typeface="Roboto" pitchFamily="34" charset="-120"/>
              </a:rPr>
              <a:t>3</a:t>
            </a:r>
            <a:endParaRPr lang="en-US" sz="3600" dirty="0"/>
          </a:p>
        </p:txBody>
      </p:sp>
      <p:sp>
        <p:nvSpPr>
          <p:cNvPr id="15" name="Dia 4"/>
          <p:cNvSpPr/>
          <p:nvPr/>
        </p:nvSpPr>
        <p:spPr>
          <a:xfrm>
            <a:off x="5362172" y="1828800"/>
            <a:ext cx="1467351" cy="1325880"/>
          </a:xfrm>
          <a:prstGeom prst="roundRect">
            <a:avLst>
              <a:gd name="adj" fmla="val 7586"/>
            </a:avLst>
          </a:prstGeom>
          <a:solidFill>
            <a:srgbClr val="188038"/>
          </a:solidFill>
          <a:ln/>
        </p:spPr>
      </p:sp>
      <p:sp>
        <p:nvSpPr>
          <p:cNvPr id="16" name="Text 14"/>
          <p:cNvSpPr txBox="1"/>
          <p:nvPr/>
        </p:nvSpPr>
        <p:spPr>
          <a:xfrm>
            <a:off x="5362172" y="1938528"/>
            <a:ext cx="1467351" cy="320040"/>
          </a:xfrm>
          <a:prstGeom prst="rect">
            <a:avLst/>
          </a:prstGeom>
          <a:noFill/>
          <a:ln/>
        </p:spPr>
        <p:txBody>
          <a:bodyPr wrap="square" lIns="0" tIns="0" rIns="0" bIns="0" rtlCol="0" anchor="t"/>
          <a:lstStyle/>
          <a:p>
            <a:pPr algn="ctr" indent="0" marL="0">
              <a:buNone/>
            </a:pPr>
            <a:r>
              <a:rPr lang="en-US" sz="1500" b="1" dirty="0">
                <a:solidFill>
                  <a:srgbClr val="FFFFFF"/>
                </a:solidFill>
                <a:latin typeface="Roboto" pitchFamily="34" charset="0"/>
                <a:ea typeface="Roboto" pitchFamily="34" charset="-122"/>
                <a:cs typeface="Roboto" pitchFamily="34" charset="-120"/>
              </a:rPr>
              <a:t>Dj</a:t>
            </a:r>
            <a:endParaRPr lang="en-US" sz="1500" dirty="0"/>
          </a:p>
        </p:txBody>
      </p:sp>
      <p:sp>
        <p:nvSpPr>
          <p:cNvPr id="17" name="Text 15"/>
          <p:cNvSpPr txBox="1"/>
          <p:nvPr/>
        </p:nvSpPr>
        <p:spPr>
          <a:xfrm>
            <a:off x="5362172" y="2240280"/>
            <a:ext cx="1467351" cy="777240"/>
          </a:xfrm>
          <a:prstGeom prst="rect">
            <a:avLst/>
          </a:prstGeom>
          <a:noFill/>
          <a:ln/>
        </p:spPr>
        <p:txBody>
          <a:bodyPr wrap="square" lIns="0" tIns="0" rIns="0" bIns="0" rtlCol="0" anchor="ctr"/>
          <a:lstStyle/>
          <a:p>
            <a:pPr algn="ctr" indent="0" marL="0">
              <a:buNone/>
            </a:pPr>
            <a:r>
              <a:rPr lang="en-US" sz="3600" b="1" dirty="0">
                <a:solidFill>
                  <a:srgbClr val="FFFFFF"/>
                </a:solidFill>
                <a:latin typeface="Roboto" pitchFamily="34" charset="0"/>
                <a:ea typeface="Roboto" pitchFamily="34" charset="-122"/>
                <a:cs typeface="Roboto" pitchFamily="34" charset="-120"/>
              </a:rPr>
              <a:t>4</a:t>
            </a:r>
            <a:endParaRPr lang="en-US" sz="3600" dirty="0"/>
          </a:p>
        </p:txBody>
      </p:sp>
      <p:sp>
        <p:nvSpPr>
          <p:cNvPr id="18" name="Dia 15"/>
          <p:cNvSpPr/>
          <p:nvPr/>
        </p:nvSpPr>
        <p:spPr>
          <a:xfrm>
            <a:off x="6966683" y="1828800"/>
            <a:ext cx="1467351" cy="1325880"/>
          </a:xfrm>
          <a:prstGeom prst="roundRect">
            <a:avLst>
              <a:gd name="adj" fmla="val 7586"/>
            </a:avLst>
          </a:prstGeom>
          <a:solidFill>
            <a:srgbClr val="188038"/>
          </a:solidFill>
          <a:ln/>
        </p:spPr>
      </p:sp>
      <p:sp>
        <p:nvSpPr>
          <p:cNvPr id="19" name="Text 17"/>
          <p:cNvSpPr txBox="1"/>
          <p:nvPr/>
        </p:nvSpPr>
        <p:spPr>
          <a:xfrm>
            <a:off x="6966683" y="1938528"/>
            <a:ext cx="1467351" cy="320040"/>
          </a:xfrm>
          <a:prstGeom prst="rect">
            <a:avLst/>
          </a:prstGeom>
          <a:noFill/>
          <a:ln/>
        </p:spPr>
        <p:txBody>
          <a:bodyPr wrap="square" lIns="0" tIns="0" rIns="0" bIns="0" rtlCol="0" anchor="t"/>
          <a:lstStyle/>
          <a:p>
            <a:pPr algn="ctr" indent="0" marL="0">
              <a:buNone/>
            </a:pPr>
            <a:r>
              <a:rPr lang="en-US" sz="1500" b="1" dirty="0">
                <a:solidFill>
                  <a:srgbClr val="FFFFFF"/>
                </a:solidFill>
                <a:latin typeface="Roboto" pitchFamily="34" charset="0"/>
                <a:ea typeface="Roboto" pitchFamily="34" charset="-122"/>
                <a:cs typeface="Roboto" pitchFamily="34" charset="-120"/>
              </a:rPr>
              <a:t>Dv</a:t>
            </a:r>
            <a:endParaRPr lang="en-US" sz="1500" dirty="0"/>
          </a:p>
        </p:txBody>
      </p:sp>
      <p:sp>
        <p:nvSpPr>
          <p:cNvPr id="20" name="Text 18"/>
          <p:cNvSpPr txBox="1"/>
          <p:nvPr/>
        </p:nvSpPr>
        <p:spPr>
          <a:xfrm>
            <a:off x="6966683" y="2240280"/>
            <a:ext cx="1467351" cy="777240"/>
          </a:xfrm>
          <a:prstGeom prst="rect">
            <a:avLst/>
          </a:prstGeom>
          <a:noFill/>
          <a:ln/>
        </p:spPr>
        <p:txBody>
          <a:bodyPr wrap="square" lIns="0" tIns="0" rIns="0" bIns="0" rtlCol="0" anchor="ctr"/>
          <a:lstStyle/>
          <a:p>
            <a:pPr algn="ctr" indent="0" marL="0">
              <a:buNone/>
            </a:pPr>
            <a:r>
              <a:rPr lang="en-US" sz="3600" b="1" dirty="0">
                <a:solidFill>
                  <a:srgbClr val="FFFFFF"/>
                </a:solidFill>
                <a:latin typeface="Roboto" pitchFamily="34" charset="0"/>
                <a:ea typeface="Roboto" pitchFamily="34" charset="-122"/>
                <a:cs typeface="Roboto" pitchFamily="34" charset="-120"/>
              </a:rPr>
              <a:t>15</a:t>
            </a:r>
            <a:endParaRPr lang="en-US" sz="3600" dirty="0"/>
          </a:p>
        </p:txBody>
      </p:sp>
      <p:sp>
        <p:nvSpPr>
          <p:cNvPr id="21" name="Dia 16"/>
          <p:cNvSpPr/>
          <p:nvPr/>
        </p:nvSpPr>
        <p:spPr>
          <a:xfrm>
            <a:off x="8571194" y="1828800"/>
            <a:ext cx="1467351" cy="1325880"/>
          </a:xfrm>
          <a:prstGeom prst="roundRect">
            <a:avLst>
              <a:gd name="adj" fmla="val 7586"/>
            </a:avLst>
          </a:prstGeom>
          <a:solidFill>
            <a:srgbClr val="FFFFFF"/>
          </a:solidFill>
          <a:ln w="12700">
            <a:solidFill>
              <a:srgbClr val="DADCE0"/>
            </a:solidFill>
            <a:prstDash val="solid"/>
          </a:ln>
        </p:spPr>
      </p:sp>
      <p:sp>
        <p:nvSpPr>
          <p:cNvPr id="22" name="Text 20"/>
          <p:cNvSpPr txBox="1"/>
          <p:nvPr/>
        </p:nvSpPr>
        <p:spPr>
          <a:xfrm>
            <a:off x="8571194" y="1938528"/>
            <a:ext cx="1467351" cy="320040"/>
          </a:xfrm>
          <a:prstGeom prst="rect">
            <a:avLst/>
          </a:prstGeom>
          <a:noFill/>
          <a:ln/>
        </p:spPr>
        <p:txBody>
          <a:bodyPr wrap="square" lIns="0" tIns="0" rIns="0" bIns="0" rtlCol="0" anchor="t"/>
          <a:lstStyle/>
          <a:p>
            <a:pPr algn="ctr" indent="0" marL="0">
              <a:buNone/>
            </a:pPr>
            <a:r>
              <a:rPr lang="en-US" sz="1500" b="1" dirty="0">
                <a:solidFill>
                  <a:srgbClr val="5F6368"/>
                </a:solidFill>
                <a:latin typeface="Roboto" pitchFamily="34" charset="0"/>
                <a:ea typeface="Roboto" pitchFamily="34" charset="-122"/>
                <a:cs typeface="Roboto" pitchFamily="34" charset="-120"/>
              </a:rPr>
              <a:t>Ds</a:t>
            </a:r>
            <a:endParaRPr lang="en-US" sz="1500" dirty="0"/>
          </a:p>
        </p:txBody>
      </p:sp>
      <p:sp>
        <p:nvSpPr>
          <p:cNvPr id="23" name="Text 21"/>
          <p:cNvSpPr txBox="1"/>
          <p:nvPr/>
        </p:nvSpPr>
        <p:spPr>
          <a:xfrm>
            <a:off x="8571194" y="2240280"/>
            <a:ext cx="1467351" cy="777240"/>
          </a:xfrm>
          <a:prstGeom prst="rect">
            <a:avLst/>
          </a:prstGeom>
          <a:noFill/>
          <a:ln/>
        </p:spPr>
        <p:txBody>
          <a:bodyPr wrap="square" lIns="0" tIns="0" rIns="0" bIns="0" rtlCol="0" anchor="ctr"/>
          <a:lstStyle/>
          <a:p>
            <a:pPr algn="ctr" indent="0" marL="0">
              <a:buNone/>
            </a:pPr>
            <a:r>
              <a:rPr lang="en-US" sz="3600" b="1" dirty="0">
                <a:solidFill>
                  <a:srgbClr val="202124"/>
                </a:solidFill>
                <a:latin typeface="Roboto" pitchFamily="34" charset="0"/>
                <a:ea typeface="Roboto" pitchFamily="34" charset="-122"/>
                <a:cs typeface="Roboto" pitchFamily="34" charset="-120"/>
              </a:rPr>
              <a:t>16</a:t>
            </a:r>
            <a:endParaRPr lang="en-US" sz="3600" dirty="0"/>
          </a:p>
        </p:txBody>
      </p:sp>
      <p:sp>
        <p:nvSpPr>
          <p:cNvPr id="24" name="Dia 17"/>
          <p:cNvSpPr/>
          <p:nvPr/>
        </p:nvSpPr>
        <p:spPr>
          <a:xfrm>
            <a:off x="10175704" y="1828800"/>
            <a:ext cx="1467351" cy="1325880"/>
          </a:xfrm>
          <a:prstGeom prst="roundRect">
            <a:avLst>
              <a:gd name="adj" fmla="val 7586"/>
            </a:avLst>
          </a:prstGeom>
          <a:solidFill>
            <a:srgbClr val="FFFFFF"/>
          </a:solidFill>
          <a:ln w="12700">
            <a:solidFill>
              <a:srgbClr val="DADCE0"/>
            </a:solidFill>
            <a:prstDash val="solid"/>
          </a:ln>
        </p:spPr>
      </p:sp>
      <p:sp>
        <p:nvSpPr>
          <p:cNvPr id="25" name="Text 23"/>
          <p:cNvSpPr txBox="1"/>
          <p:nvPr/>
        </p:nvSpPr>
        <p:spPr>
          <a:xfrm>
            <a:off x="10175704" y="1938528"/>
            <a:ext cx="1467351" cy="320040"/>
          </a:xfrm>
          <a:prstGeom prst="rect">
            <a:avLst/>
          </a:prstGeom>
          <a:noFill/>
          <a:ln/>
        </p:spPr>
        <p:txBody>
          <a:bodyPr wrap="square" lIns="0" tIns="0" rIns="0" bIns="0" rtlCol="0" anchor="t"/>
          <a:lstStyle/>
          <a:p>
            <a:pPr algn="ctr" indent="0" marL="0">
              <a:buNone/>
            </a:pPr>
            <a:r>
              <a:rPr lang="en-US" sz="1500" b="1" dirty="0">
                <a:solidFill>
                  <a:srgbClr val="5F6368"/>
                </a:solidFill>
                <a:latin typeface="Roboto" pitchFamily="34" charset="0"/>
                <a:ea typeface="Roboto" pitchFamily="34" charset="-122"/>
                <a:cs typeface="Roboto" pitchFamily="34" charset="-120"/>
              </a:rPr>
              <a:t>Dg</a:t>
            </a:r>
            <a:endParaRPr lang="en-US" sz="1500" dirty="0"/>
          </a:p>
        </p:txBody>
      </p:sp>
      <p:sp>
        <p:nvSpPr>
          <p:cNvPr id="26" name="Text 24"/>
          <p:cNvSpPr txBox="1"/>
          <p:nvPr/>
        </p:nvSpPr>
        <p:spPr>
          <a:xfrm>
            <a:off x="10175704" y="2240280"/>
            <a:ext cx="1467351" cy="777240"/>
          </a:xfrm>
          <a:prstGeom prst="rect">
            <a:avLst/>
          </a:prstGeom>
          <a:noFill/>
          <a:ln/>
        </p:spPr>
        <p:txBody>
          <a:bodyPr wrap="square" lIns="0" tIns="0" rIns="0" bIns="0" rtlCol="0" anchor="ctr"/>
          <a:lstStyle/>
          <a:p>
            <a:pPr algn="ctr" indent="0" marL="0">
              <a:buNone/>
            </a:pPr>
            <a:r>
              <a:rPr lang="en-US" sz="3600" b="1" dirty="0">
                <a:solidFill>
                  <a:srgbClr val="202124"/>
                </a:solidFill>
                <a:latin typeface="Roboto" pitchFamily="34" charset="0"/>
                <a:ea typeface="Roboto" pitchFamily="34" charset="-122"/>
                <a:cs typeface="Roboto" pitchFamily="34" charset="-120"/>
              </a:rPr>
              <a:t>17</a:t>
            </a:r>
            <a:endParaRPr lang="en-US" sz="3600" dirty="0"/>
          </a:p>
        </p:txBody>
      </p:sp>
      <p:sp>
        <p:nvSpPr>
          <p:cNvPr id="27" name="Etiqueta 10 dies menys"/>
          <p:cNvSpPr/>
          <p:nvPr/>
        </p:nvSpPr>
        <p:spPr>
          <a:xfrm>
            <a:off x="6120863" y="3291840"/>
            <a:ext cx="1440180" cy="347472"/>
          </a:xfrm>
          <a:prstGeom prst="roundRect">
            <a:avLst>
              <a:gd name="adj" fmla="val 50000"/>
            </a:avLst>
          </a:prstGeom>
          <a:solidFill>
            <a:srgbClr val="C5221F"/>
          </a:solidFill>
          <a:ln/>
        </p:spPr>
      </p:sp>
      <p:sp>
        <p:nvSpPr>
          <p:cNvPr id="28" name="Text 26"/>
          <p:cNvSpPr txBox="1"/>
          <p:nvPr/>
        </p:nvSpPr>
        <p:spPr>
          <a:xfrm>
            <a:off x="6120863" y="3291840"/>
            <a:ext cx="144018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Roboto" pitchFamily="34" charset="0"/>
                <a:ea typeface="Roboto" pitchFamily="34" charset="-122"/>
                <a:cs typeface="Roboto" pitchFamily="34" charset="-120"/>
              </a:rPr>
              <a:t>10 dies menys</a:t>
            </a:r>
            <a:endParaRPr lang="en-US" sz="1300" dirty="0"/>
          </a:p>
        </p:txBody>
      </p:sp>
      <p:sp>
        <p:nvSpPr>
          <p:cNvPr id="29" name="El calendari gregorià"/>
          <p:cNvSpPr/>
          <p:nvPr/>
        </p:nvSpPr>
        <p:spPr>
          <a:xfrm>
            <a:off x="548640" y="3931920"/>
            <a:ext cx="5410048" cy="2057400"/>
          </a:xfrm>
          <a:prstGeom prst="roundRect">
            <a:avLst>
              <a:gd name="adj" fmla="val 4889"/>
            </a:avLst>
          </a:prstGeom>
          <a:solidFill>
            <a:srgbClr val="E6F4EA"/>
          </a:solidFill>
          <a:ln/>
        </p:spPr>
      </p:sp>
      <p:sp>
        <p:nvSpPr>
          <p:cNvPr id="30" name="Text 28"/>
          <p:cNvSpPr txBox="1"/>
          <p:nvPr/>
        </p:nvSpPr>
        <p:spPr>
          <a:xfrm>
            <a:off x="868680" y="4087368"/>
            <a:ext cx="4769968" cy="320040"/>
          </a:xfrm>
          <a:prstGeom prst="rect">
            <a:avLst/>
          </a:prstGeom>
          <a:noFill/>
          <a:ln/>
        </p:spPr>
        <p:txBody>
          <a:bodyPr wrap="square" lIns="0" tIns="0" rIns="0" bIns="0" rtlCol="0" anchor="t"/>
          <a:lstStyle/>
          <a:p>
            <a:pPr indent="0" marL="0">
              <a:buNone/>
            </a:pPr>
            <a:r>
              <a:rPr lang="en-US" sz="1400" b="1" dirty="0">
                <a:solidFill>
                  <a:srgbClr val="188038"/>
                </a:solidFill>
                <a:latin typeface="Roboto" pitchFamily="34" charset="0"/>
                <a:ea typeface="Roboto" pitchFamily="34" charset="-122"/>
                <a:cs typeface="Roboto" pitchFamily="34" charset="-120"/>
              </a:rPr>
              <a:t>El calendari gregorià</a:t>
            </a:r>
            <a:endParaRPr lang="en-US" sz="1400" dirty="0"/>
          </a:p>
        </p:txBody>
      </p:sp>
      <p:sp>
        <p:nvSpPr>
          <p:cNvPr id="31" name="Text 29"/>
          <p:cNvSpPr txBox="1"/>
          <p:nvPr/>
        </p:nvSpPr>
        <p:spPr>
          <a:xfrm>
            <a:off x="868680" y="4434840"/>
            <a:ext cx="4769968" cy="1417320"/>
          </a:xfrm>
          <a:prstGeom prst="rect">
            <a:avLst/>
          </a:prstGeom>
          <a:noFill/>
          <a:ln/>
        </p:spPr>
        <p:txBody>
          <a:bodyPr wrap="square" lIns="0" tIns="0" rIns="0" bIns="0" rtlCol="0" anchor="t"/>
          <a:lstStyle/>
          <a:p>
            <a:pPr indent="0" marL="0">
              <a:buNone/>
            </a:pPr>
            <a:r>
              <a:rPr lang="en-US" sz="1650" dirty="0">
                <a:solidFill>
                  <a:srgbClr val="202124"/>
                </a:solidFill>
                <a:latin typeface="Roboto" pitchFamily="34" charset="0"/>
                <a:ea typeface="Roboto" pitchFamily="34" charset="-122"/>
                <a:cs typeface="Roboto" pitchFamily="34" charset="-120"/>
              </a:rPr>
              <a:t>Quan es va posar en marxa el calendari gregorià, es van esborrar deu dies per corregir un desfasament acumulat. Després del dijous 4 d'octubre va venir directament el divendres 15.</a:t>
            </a:r>
            <a:endParaRPr lang="en-US" sz="1650" dirty="0"/>
          </a:p>
        </p:txBody>
      </p:sp>
      <p:sp>
        <p:nvSpPr>
          <p:cNvPr id="32" name="Els anys de traspàs"/>
          <p:cNvSpPr/>
          <p:nvPr/>
        </p:nvSpPr>
        <p:spPr>
          <a:xfrm>
            <a:off x="6233008" y="3931920"/>
            <a:ext cx="5410048" cy="2057400"/>
          </a:xfrm>
          <a:prstGeom prst="roundRect">
            <a:avLst>
              <a:gd name="adj" fmla="val 4889"/>
            </a:avLst>
          </a:prstGeom>
          <a:solidFill>
            <a:srgbClr val="F6F8FB"/>
          </a:solidFill>
          <a:ln/>
        </p:spPr>
      </p:sp>
      <p:sp>
        <p:nvSpPr>
          <p:cNvPr id="33" name="Text 31"/>
          <p:cNvSpPr txBox="1"/>
          <p:nvPr/>
        </p:nvSpPr>
        <p:spPr>
          <a:xfrm>
            <a:off x="6553048" y="4087368"/>
            <a:ext cx="4769968" cy="320040"/>
          </a:xfrm>
          <a:prstGeom prst="rect">
            <a:avLst/>
          </a:prstGeom>
          <a:noFill/>
          <a:ln/>
        </p:spPr>
        <p:txBody>
          <a:bodyPr wrap="square" lIns="0" tIns="0" rIns="0" bIns="0" rtlCol="0" anchor="t"/>
          <a:lstStyle/>
          <a:p>
            <a:pPr indent="0" marL="0">
              <a:buNone/>
            </a:pPr>
            <a:r>
              <a:rPr lang="en-US" sz="1400" b="1" dirty="0">
                <a:solidFill>
                  <a:srgbClr val="202124"/>
                </a:solidFill>
                <a:latin typeface="Roboto" pitchFamily="34" charset="0"/>
                <a:ea typeface="Roboto" pitchFamily="34" charset="-122"/>
                <a:cs typeface="Roboto" pitchFamily="34" charset="-120"/>
              </a:rPr>
              <a:t>Els anys de traspàs</a:t>
            </a:r>
            <a:endParaRPr lang="en-US" sz="1400" dirty="0"/>
          </a:p>
        </p:txBody>
      </p:sp>
      <p:sp>
        <p:nvSpPr>
          <p:cNvPr id="34" name="Text 32"/>
          <p:cNvSpPr txBox="1"/>
          <p:nvPr/>
        </p:nvSpPr>
        <p:spPr>
          <a:xfrm>
            <a:off x="6553048" y="4434840"/>
            <a:ext cx="4769968" cy="1417320"/>
          </a:xfrm>
          <a:prstGeom prst="rect">
            <a:avLst/>
          </a:prstGeom>
          <a:noFill/>
          <a:ln/>
        </p:spPr>
        <p:txBody>
          <a:bodyPr wrap="square" lIns="0" tIns="0" rIns="0" bIns="0" rtlCol="0" anchor="t"/>
          <a:lstStyle/>
          <a:p>
            <a:pPr indent="0" marL="0">
              <a:buNone/>
            </a:pPr>
            <a:r>
              <a:rPr lang="en-US" sz="1650" dirty="0">
                <a:solidFill>
                  <a:srgbClr val="5F6368"/>
                </a:solidFill>
                <a:latin typeface="Roboto" pitchFamily="34" charset="0"/>
                <a:ea typeface="Roboto" pitchFamily="34" charset="-122"/>
                <a:cs typeface="Roboto" pitchFamily="34" charset="-120"/>
              </a:rPr>
              <a:t>Són els que es poden dividir per 4, excepte els acabats en 00 que no es poden dividir per 400. El 2000 va ser de traspàs. El 2100 no ho serà.</a:t>
            </a:r>
            <a:endParaRPr lang="en-US" sz="16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7</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Comprova-ho</a:t>
            </a:r>
            <a:endParaRPr lang="en-US" sz="2800" dirty="0"/>
          </a:p>
        </p:txBody>
      </p:sp>
      <p:sp>
        <p:nvSpPr>
          <p:cNvPr id="5" name="Text 3"/>
          <p:cNvSpPr txBox="1"/>
          <p:nvPr/>
        </p:nvSpPr>
        <p:spPr>
          <a:xfrm>
            <a:off x="548640" y="1371600"/>
            <a:ext cx="3657600" cy="320040"/>
          </a:xfrm>
          <a:prstGeom prst="rect">
            <a:avLst/>
          </a:prstGeom>
          <a:noFill/>
          <a:ln/>
        </p:spPr>
        <p:txBody>
          <a:bodyPr wrap="square" lIns="0" tIns="0" rIns="0" bIns="0" rtlCol="0" anchor="t"/>
          <a:lstStyle/>
          <a:p>
            <a:pPr indent="0" marL="0">
              <a:buNone/>
            </a:pPr>
            <a:r>
              <a:rPr lang="en-US" sz="1400" b="1" dirty="0">
                <a:solidFill>
                  <a:srgbClr val="5F6368"/>
                </a:solidFill>
                <a:latin typeface="Roboto" pitchFamily="34" charset="0"/>
                <a:ea typeface="Roboto" pitchFamily="34" charset="-122"/>
                <a:cs typeface="Roboto" pitchFamily="34" charset="-120"/>
              </a:rPr>
              <a:t>Paraules clau</a:t>
            </a:r>
            <a:endParaRPr lang="en-US" sz="1400" dirty="0"/>
          </a:p>
        </p:txBody>
      </p:sp>
      <p:sp>
        <p:nvSpPr>
          <p:cNvPr id="6" name="Etiqueta Calendari"/>
          <p:cNvSpPr/>
          <p:nvPr/>
        </p:nvSpPr>
        <p:spPr>
          <a:xfrm>
            <a:off x="548640" y="1755648"/>
            <a:ext cx="1216152" cy="384048"/>
          </a:xfrm>
          <a:prstGeom prst="roundRect">
            <a:avLst>
              <a:gd name="adj" fmla="val 50000"/>
            </a:avLst>
          </a:prstGeom>
          <a:solidFill>
            <a:srgbClr val="E6F4EA"/>
          </a:solidFill>
          <a:ln/>
        </p:spPr>
      </p:sp>
      <p:sp>
        <p:nvSpPr>
          <p:cNvPr id="7" name="Text 5"/>
          <p:cNvSpPr txBox="1"/>
          <p:nvPr/>
        </p:nvSpPr>
        <p:spPr>
          <a:xfrm>
            <a:off x="548640" y="1755648"/>
            <a:ext cx="1216152"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Calendari</a:t>
            </a:r>
            <a:endParaRPr lang="en-US" sz="1500" dirty="0"/>
          </a:p>
        </p:txBody>
      </p:sp>
      <p:sp>
        <p:nvSpPr>
          <p:cNvPr id="8" name="Etiqueta aC i dC"/>
          <p:cNvSpPr/>
          <p:nvPr/>
        </p:nvSpPr>
        <p:spPr>
          <a:xfrm>
            <a:off x="1874520" y="1755648"/>
            <a:ext cx="1014984" cy="384048"/>
          </a:xfrm>
          <a:prstGeom prst="roundRect">
            <a:avLst>
              <a:gd name="adj" fmla="val 50000"/>
            </a:avLst>
          </a:prstGeom>
          <a:solidFill>
            <a:srgbClr val="E6F4EA"/>
          </a:solidFill>
          <a:ln/>
        </p:spPr>
      </p:sp>
      <p:sp>
        <p:nvSpPr>
          <p:cNvPr id="9" name="Text 7"/>
          <p:cNvSpPr txBox="1"/>
          <p:nvPr/>
        </p:nvSpPr>
        <p:spPr>
          <a:xfrm>
            <a:off x="1874520" y="1755648"/>
            <a:ext cx="1014984"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aC i dC</a:t>
            </a:r>
            <a:endParaRPr lang="en-US" sz="1500" dirty="0"/>
          </a:p>
        </p:txBody>
      </p:sp>
      <p:sp>
        <p:nvSpPr>
          <p:cNvPr id="10" name="Etiqueta Segle"/>
          <p:cNvSpPr/>
          <p:nvPr/>
        </p:nvSpPr>
        <p:spPr>
          <a:xfrm>
            <a:off x="2999232" y="1755648"/>
            <a:ext cx="813816" cy="384048"/>
          </a:xfrm>
          <a:prstGeom prst="roundRect">
            <a:avLst>
              <a:gd name="adj" fmla="val 50000"/>
            </a:avLst>
          </a:prstGeom>
          <a:solidFill>
            <a:srgbClr val="E6F4EA"/>
          </a:solidFill>
          <a:ln/>
        </p:spPr>
      </p:sp>
      <p:sp>
        <p:nvSpPr>
          <p:cNvPr id="11" name="Text 9"/>
          <p:cNvSpPr txBox="1"/>
          <p:nvPr/>
        </p:nvSpPr>
        <p:spPr>
          <a:xfrm>
            <a:off x="2999232" y="1755648"/>
            <a:ext cx="813816"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Segle</a:t>
            </a:r>
            <a:endParaRPr lang="en-US" sz="1500" dirty="0"/>
          </a:p>
        </p:txBody>
      </p:sp>
      <p:sp>
        <p:nvSpPr>
          <p:cNvPr id="12" name="Etiqueta Mil·lenni"/>
          <p:cNvSpPr/>
          <p:nvPr/>
        </p:nvSpPr>
        <p:spPr>
          <a:xfrm>
            <a:off x="3922776" y="1755648"/>
            <a:ext cx="1216152" cy="384048"/>
          </a:xfrm>
          <a:prstGeom prst="roundRect">
            <a:avLst>
              <a:gd name="adj" fmla="val 50000"/>
            </a:avLst>
          </a:prstGeom>
          <a:solidFill>
            <a:srgbClr val="E6F4EA"/>
          </a:solidFill>
          <a:ln/>
        </p:spPr>
      </p:sp>
      <p:sp>
        <p:nvSpPr>
          <p:cNvPr id="13" name="Text 11"/>
          <p:cNvSpPr txBox="1"/>
          <p:nvPr/>
        </p:nvSpPr>
        <p:spPr>
          <a:xfrm>
            <a:off x="3922776" y="1755648"/>
            <a:ext cx="1216152"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Mil·lenni</a:t>
            </a:r>
            <a:endParaRPr lang="en-US" sz="1500" dirty="0"/>
          </a:p>
        </p:txBody>
      </p:sp>
      <p:sp>
        <p:nvSpPr>
          <p:cNvPr id="14" name="Etiqueta Any de traspàs"/>
          <p:cNvSpPr/>
          <p:nvPr/>
        </p:nvSpPr>
        <p:spPr>
          <a:xfrm>
            <a:off x="5248656" y="1755648"/>
            <a:ext cx="1719072" cy="384048"/>
          </a:xfrm>
          <a:prstGeom prst="roundRect">
            <a:avLst>
              <a:gd name="adj" fmla="val 50000"/>
            </a:avLst>
          </a:prstGeom>
          <a:solidFill>
            <a:srgbClr val="E6F4EA"/>
          </a:solidFill>
          <a:ln/>
        </p:spPr>
      </p:sp>
      <p:sp>
        <p:nvSpPr>
          <p:cNvPr id="15" name="Text 13"/>
          <p:cNvSpPr txBox="1"/>
          <p:nvPr/>
        </p:nvSpPr>
        <p:spPr>
          <a:xfrm>
            <a:off x="5248656" y="1755648"/>
            <a:ext cx="1719072"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Any de traspàs</a:t>
            </a:r>
            <a:endParaRPr lang="en-US" sz="1500" dirty="0"/>
          </a:p>
        </p:txBody>
      </p:sp>
      <p:sp>
        <p:nvSpPr>
          <p:cNvPr id="16" name="Pregunta 1"/>
          <p:cNvSpPr/>
          <p:nvPr/>
        </p:nvSpPr>
        <p:spPr>
          <a:xfrm>
            <a:off x="548640" y="2514600"/>
            <a:ext cx="11094415" cy="960120"/>
          </a:xfrm>
          <a:prstGeom prst="roundRect">
            <a:avLst>
              <a:gd name="adj" fmla="val 10476"/>
            </a:avLst>
          </a:prstGeom>
          <a:solidFill>
            <a:srgbClr val="FFFFFF"/>
          </a:solidFill>
          <a:ln w="12700">
            <a:solidFill>
              <a:srgbClr val="DADCE0"/>
            </a:solidFill>
            <a:prstDash val="solid"/>
          </a:ln>
        </p:spPr>
      </p:sp>
      <p:sp>
        <p:nvSpPr>
          <p:cNvPr id="17" name="Número 1"/>
          <p:cNvSpPr/>
          <p:nvPr/>
        </p:nvSpPr>
        <p:spPr>
          <a:xfrm>
            <a:off x="822960" y="2766060"/>
            <a:ext cx="457200" cy="457200"/>
          </a:xfrm>
          <a:prstGeom prst="ellipse">
            <a:avLst/>
          </a:prstGeom>
          <a:solidFill>
            <a:srgbClr val="188038"/>
          </a:solidFill>
          <a:ln/>
        </p:spPr>
      </p:sp>
      <p:sp>
        <p:nvSpPr>
          <p:cNvPr id="18" name="Text 16"/>
          <p:cNvSpPr txBox="1"/>
          <p:nvPr/>
        </p:nvSpPr>
        <p:spPr>
          <a:xfrm>
            <a:off x="822960" y="276606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Roboto" pitchFamily="34" charset="0"/>
                <a:ea typeface="Roboto" pitchFamily="34" charset="-122"/>
                <a:cs typeface="Roboto" pitchFamily="34" charset="-120"/>
              </a:rPr>
              <a:t>1</a:t>
            </a:r>
            <a:endParaRPr lang="en-US" sz="1700" dirty="0"/>
          </a:p>
        </p:txBody>
      </p:sp>
      <p:sp>
        <p:nvSpPr>
          <p:cNvPr id="19" name="Text 17"/>
          <p:cNvSpPr txBox="1"/>
          <p:nvPr/>
        </p:nvSpPr>
        <p:spPr>
          <a:xfrm>
            <a:off x="1508760" y="2514600"/>
            <a:ext cx="9905695" cy="960120"/>
          </a:xfrm>
          <a:prstGeom prst="rect">
            <a:avLst/>
          </a:prstGeom>
          <a:noFill/>
          <a:ln/>
        </p:spPr>
        <p:txBody>
          <a:bodyPr wrap="square" lIns="0" tIns="0" rIns="0" bIns="0" rtlCol="0" anchor="ctr"/>
          <a:lstStyle/>
          <a:p>
            <a:pPr indent="0" marL="0">
              <a:buNone/>
            </a:pPr>
            <a:r>
              <a:rPr lang="en-US" sz="2000" dirty="0">
                <a:solidFill>
                  <a:srgbClr val="202124"/>
                </a:solidFill>
                <a:latin typeface="Roboto" pitchFamily="34" charset="0"/>
                <a:ea typeface="Roboto" pitchFamily="34" charset="-122"/>
                <a:cs typeface="Roboto" pitchFamily="34" charset="-120"/>
              </a:rPr>
              <a:t>Quina data és més antiga, el 800 aC o el 300 aC?</a:t>
            </a:r>
            <a:endParaRPr lang="en-US" sz="2000" dirty="0"/>
          </a:p>
        </p:txBody>
      </p:sp>
      <p:sp>
        <p:nvSpPr>
          <p:cNvPr id="20" name="Pregunta 2"/>
          <p:cNvSpPr/>
          <p:nvPr/>
        </p:nvSpPr>
        <p:spPr>
          <a:xfrm>
            <a:off x="548640" y="3657600"/>
            <a:ext cx="11094415" cy="960120"/>
          </a:xfrm>
          <a:prstGeom prst="roundRect">
            <a:avLst>
              <a:gd name="adj" fmla="val 10476"/>
            </a:avLst>
          </a:prstGeom>
          <a:solidFill>
            <a:srgbClr val="FFFFFF"/>
          </a:solidFill>
          <a:ln w="12700">
            <a:solidFill>
              <a:srgbClr val="DADCE0"/>
            </a:solidFill>
            <a:prstDash val="solid"/>
          </a:ln>
        </p:spPr>
      </p:sp>
      <p:sp>
        <p:nvSpPr>
          <p:cNvPr id="21" name="Número 2"/>
          <p:cNvSpPr/>
          <p:nvPr/>
        </p:nvSpPr>
        <p:spPr>
          <a:xfrm>
            <a:off x="822960" y="3909060"/>
            <a:ext cx="457200" cy="457200"/>
          </a:xfrm>
          <a:prstGeom prst="ellipse">
            <a:avLst/>
          </a:prstGeom>
          <a:solidFill>
            <a:srgbClr val="188038"/>
          </a:solidFill>
          <a:ln/>
        </p:spPr>
      </p:sp>
      <p:sp>
        <p:nvSpPr>
          <p:cNvPr id="22" name="Text 20"/>
          <p:cNvSpPr txBox="1"/>
          <p:nvPr/>
        </p:nvSpPr>
        <p:spPr>
          <a:xfrm>
            <a:off x="822960" y="390906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Roboto" pitchFamily="34" charset="0"/>
                <a:ea typeface="Roboto" pitchFamily="34" charset="-122"/>
                <a:cs typeface="Roboto" pitchFamily="34" charset="-120"/>
              </a:rPr>
              <a:t>2</a:t>
            </a:r>
            <a:endParaRPr lang="en-US" sz="1700" dirty="0"/>
          </a:p>
        </p:txBody>
      </p:sp>
      <p:sp>
        <p:nvSpPr>
          <p:cNvPr id="23" name="Text 21"/>
          <p:cNvSpPr txBox="1"/>
          <p:nvPr/>
        </p:nvSpPr>
        <p:spPr>
          <a:xfrm>
            <a:off x="1508760" y="3657600"/>
            <a:ext cx="9905695" cy="960120"/>
          </a:xfrm>
          <a:prstGeom prst="rect">
            <a:avLst/>
          </a:prstGeom>
          <a:noFill/>
          <a:ln/>
        </p:spPr>
        <p:txBody>
          <a:bodyPr wrap="square" lIns="0" tIns="0" rIns="0" bIns="0" rtlCol="0" anchor="ctr"/>
          <a:lstStyle/>
          <a:p>
            <a:pPr indent="0" marL="0">
              <a:buNone/>
            </a:pPr>
            <a:r>
              <a:rPr lang="en-US" sz="2000" dirty="0">
                <a:solidFill>
                  <a:srgbClr val="202124"/>
                </a:solidFill>
                <a:latin typeface="Roboto" pitchFamily="34" charset="0"/>
                <a:ea typeface="Roboto" pitchFamily="34" charset="-122"/>
                <a:cs typeface="Roboto" pitchFamily="34" charset="-120"/>
              </a:rPr>
              <a:t>A quin segle correspon l'any 1789?</a:t>
            </a:r>
            <a:endParaRPr lang="en-US" sz="2000" dirty="0"/>
          </a:p>
        </p:txBody>
      </p:sp>
      <p:sp>
        <p:nvSpPr>
          <p:cNvPr id="24" name="Pregunta 3"/>
          <p:cNvSpPr/>
          <p:nvPr/>
        </p:nvSpPr>
        <p:spPr>
          <a:xfrm>
            <a:off x="548640" y="4800600"/>
            <a:ext cx="11094415" cy="960120"/>
          </a:xfrm>
          <a:prstGeom prst="roundRect">
            <a:avLst>
              <a:gd name="adj" fmla="val 10476"/>
            </a:avLst>
          </a:prstGeom>
          <a:solidFill>
            <a:srgbClr val="FFFFFF"/>
          </a:solidFill>
          <a:ln w="12700">
            <a:solidFill>
              <a:srgbClr val="DADCE0"/>
            </a:solidFill>
            <a:prstDash val="solid"/>
          </a:ln>
        </p:spPr>
      </p:sp>
      <p:sp>
        <p:nvSpPr>
          <p:cNvPr id="25" name="Número 3"/>
          <p:cNvSpPr/>
          <p:nvPr/>
        </p:nvSpPr>
        <p:spPr>
          <a:xfrm>
            <a:off x="822960" y="5052060"/>
            <a:ext cx="457200" cy="457200"/>
          </a:xfrm>
          <a:prstGeom prst="ellipse">
            <a:avLst/>
          </a:prstGeom>
          <a:solidFill>
            <a:srgbClr val="188038"/>
          </a:solidFill>
          <a:ln/>
        </p:spPr>
      </p:sp>
      <p:sp>
        <p:nvSpPr>
          <p:cNvPr id="26" name="Text 24"/>
          <p:cNvSpPr txBox="1"/>
          <p:nvPr/>
        </p:nvSpPr>
        <p:spPr>
          <a:xfrm>
            <a:off x="822960" y="505206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Roboto" pitchFamily="34" charset="0"/>
                <a:ea typeface="Roboto" pitchFamily="34" charset="-122"/>
                <a:cs typeface="Roboto" pitchFamily="34" charset="-120"/>
              </a:rPr>
              <a:t>3</a:t>
            </a:r>
            <a:endParaRPr lang="en-US" sz="1700" dirty="0"/>
          </a:p>
        </p:txBody>
      </p:sp>
      <p:sp>
        <p:nvSpPr>
          <p:cNvPr id="27" name="Text 25"/>
          <p:cNvSpPr txBox="1"/>
          <p:nvPr/>
        </p:nvSpPr>
        <p:spPr>
          <a:xfrm>
            <a:off x="1508760" y="4800600"/>
            <a:ext cx="9905695" cy="960120"/>
          </a:xfrm>
          <a:prstGeom prst="rect">
            <a:avLst/>
          </a:prstGeom>
          <a:noFill/>
          <a:ln/>
        </p:spPr>
        <p:txBody>
          <a:bodyPr wrap="square" lIns="0" tIns="0" rIns="0" bIns="0" rtlCol="0" anchor="ctr"/>
          <a:lstStyle/>
          <a:p>
            <a:pPr indent="0" marL="0">
              <a:buNone/>
            </a:pPr>
            <a:r>
              <a:rPr lang="en-US" sz="2000" dirty="0">
                <a:solidFill>
                  <a:srgbClr val="202124"/>
                </a:solidFill>
                <a:latin typeface="Roboto" pitchFamily="34" charset="0"/>
                <a:ea typeface="Roboto" pitchFamily="34" charset="-122"/>
                <a:cs typeface="Roboto" pitchFamily="34" charset="-120"/>
              </a:rPr>
              <a:t>Quin any ve just després de l'1 aC?</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Capçalera"/>
          <p:cNvSpPr/>
          <p:nvPr/>
        </p:nvSpPr>
        <p:spPr>
          <a:xfrm>
            <a:off x="548640" y="548640"/>
            <a:ext cx="11094415" cy="2514600"/>
          </a:xfrm>
          <a:prstGeom prst="roundRect">
            <a:avLst>
              <a:gd name="adj" fmla="val 4000"/>
            </a:avLst>
          </a:prstGeom>
          <a:solidFill>
            <a:srgbClr val="188038"/>
          </a:solidFill>
          <a:ln/>
        </p:spPr>
      </p:sp>
      <p:pic>
        <p:nvPicPr>
          <p:cNvPr id="3" name="Il·lustració d'una rosa dels vents i un rellotge de sorra" descr="/home/claude/p857/build/hero-crop.png">    </p:cNvPr>
          <p:cNvPicPr>
            <a:picLocks noChangeAspect="1"/>
          </p:cNvPicPr>
          <p:nvPr/>
        </p:nvPicPr>
        <p:blipFill>
          <a:blip r:embed="rId1"/>
          <a:stretch>
            <a:fillRect/>
          </a:stretch>
        </p:blipFill>
        <p:spPr>
          <a:xfrm>
            <a:off x="8442655" y="1310745"/>
            <a:ext cx="3017520" cy="1734207"/>
          </a:xfrm>
          <a:prstGeom prst="rect">
            <a:avLst/>
          </a:prstGeom>
        </p:spPr>
      </p:pic>
      <p:sp>
        <p:nvSpPr>
          <p:cNvPr id="4" name="Etiqueta Apartat 8"/>
          <p:cNvSpPr/>
          <p:nvPr/>
        </p:nvSpPr>
        <p:spPr>
          <a:xfrm>
            <a:off x="960120" y="896112"/>
            <a:ext cx="1035101" cy="310896"/>
          </a:xfrm>
          <a:prstGeom prst="roundRect">
            <a:avLst>
              <a:gd name="adj" fmla="val 50000"/>
            </a:avLst>
          </a:prstGeom>
          <a:solidFill>
            <a:srgbClr val="FFFFFF">
              <a:alpha val="18000"/>
            </a:srgbClr>
          </a:solidFill>
          <a:ln/>
        </p:spPr>
      </p:sp>
      <p:sp>
        <p:nvSpPr>
          <p:cNvPr id="5" name="Text 2"/>
          <p:cNvSpPr txBox="1"/>
          <p:nvPr/>
        </p:nvSpPr>
        <p:spPr>
          <a:xfrm>
            <a:off x="960120" y="896112"/>
            <a:ext cx="1035101" cy="310896"/>
          </a:xfrm>
          <a:prstGeom prst="rect">
            <a:avLst/>
          </a:prstGeom>
          <a:noFill/>
          <a:ln/>
        </p:spPr>
        <p:txBody>
          <a:bodyPr wrap="square" lIns="0" tIns="0" rIns="0" bIns="0" rtlCol="0" anchor="ctr"/>
          <a:lstStyle/>
          <a:p>
            <a:pPr algn="ctr" indent="0" marL="0">
              <a:buNone/>
            </a:pPr>
            <a:r>
              <a:rPr lang="en-US" sz="1250" dirty="0">
                <a:solidFill>
                  <a:srgbClr val="FFFFFF"/>
                </a:solidFill>
                <a:latin typeface="Roboto" pitchFamily="34" charset="0"/>
                <a:ea typeface="Roboto" pitchFamily="34" charset="-122"/>
                <a:cs typeface="Roboto" pitchFamily="34" charset="-120"/>
              </a:rPr>
              <a:t>Apartat 8</a:t>
            </a:r>
            <a:endParaRPr lang="en-US" sz="1250" dirty="0"/>
          </a:p>
        </p:txBody>
      </p:sp>
      <p:sp>
        <p:nvSpPr>
          <p:cNvPr id="6" name="Text 3"/>
          <p:cNvSpPr txBox="1"/>
          <p:nvPr/>
        </p:nvSpPr>
        <p:spPr>
          <a:xfrm>
            <a:off x="960120" y="1325880"/>
            <a:ext cx="7589520" cy="1463040"/>
          </a:xfrm>
          <a:prstGeom prst="rect">
            <a:avLst/>
          </a:prstGeom>
          <a:noFill/>
          <a:ln/>
        </p:spPr>
        <p:txBody>
          <a:bodyPr wrap="square" lIns="0" tIns="0" rIns="0" bIns="0" rtlCol="0" anchor="t"/>
          <a:lstStyle/>
          <a:p>
            <a:pPr indent="0" marL="0">
              <a:lnSpc>
                <a:spcPct val="95000"/>
              </a:lnSpc>
              <a:buNone/>
            </a:pPr>
            <a:r>
              <a:rPr lang="en-US" sz="3800" b="1" dirty="0">
                <a:solidFill>
                  <a:srgbClr val="FFFFFF"/>
                </a:solidFill>
                <a:latin typeface="Roboto" pitchFamily="34" charset="0"/>
                <a:ea typeface="Roboto" pitchFamily="34" charset="-122"/>
                <a:cs typeface="Roboto" pitchFamily="34" charset="-120"/>
              </a:rPr>
              <a:t>Les edats de la història</a:t>
            </a:r>
            <a:endParaRPr lang="en-US" sz="3800" dirty="0"/>
          </a:p>
        </p:txBody>
      </p:sp>
      <p:sp>
        <p:nvSpPr>
          <p:cNvPr id="7" name="Pregunta guia"/>
          <p:cNvSpPr/>
          <p:nvPr/>
        </p:nvSpPr>
        <p:spPr>
          <a:xfrm>
            <a:off x="548640" y="3337560"/>
            <a:ext cx="4297680" cy="2697480"/>
          </a:xfrm>
          <a:prstGeom prst="roundRect">
            <a:avLst>
              <a:gd name="adj" fmla="val 3729"/>
            </a:avLst>
          </a:prstGeom>
          <a:solidFill>
            <a:srgbClr val="F6F8FB"/>
          </a:solidFill>
          <a:ln/>
        </p:spPr>
      </p:sp>
      <p:sp>
        <p:nvSpPr>
          <p:cNvPr id="8" name="Text 5"/>
          <p:cNvSpPr txBox="1"/>
          <p:nvPr/>
        </p:nvSpPr>
        <p:spPr>
          <a:xfrm>
            <a:off x="914400" y="3538728"/>
            <a:ext cx="3657600" cy="320040"/>
          </a:xfrm>
          <a:prstGeom prst="rect">
            <a:avLst/>
          </a:prstGeom>
          <a:noFill/>
          <a:ln/>
        </p:spPr>
        <p:txBody>
          <a:bodyPr wrap="square" lIns="0" tIns="0" rIns="0" bIns="0" rtlCol="0" anchor="t"/>
          <a:lstStyle/>
          <a:p>
            <a:pPr indent="0" marL="0">
              <a:buNone/>
            </a:pPr>
            <a:r>
              <a:rPr lang="en-US" sz="1300" b="1" dirty="0">
                <a:solidFill>
                  <a:srgbClr val="188038"/>
                </a:solidFill>
                <a:latin typeface="Roboto" pitchFamily="34" charset="0"/>
                <a:ea typeface="Roboto" pitchFamily="34" charset="-122"/>
                <a:cs typeface="Roboto" pitchFamily="34" charset="-120"/>
              </a:rPr>
              <a:t>Pregunta guia</a:t>
            </a:r>
            <a:endParaRPr lang="en-US" sz="1300" dirty="0"/>
          </a:p>
        </p:txBody>
      </p:sp>
      <p:sp>
        <p:nvSpPr>
          <p:cNvPr id="9" name="Text 6"/>
          <p:cNvSpPr txBox="1"/>
          <p:nvPr/>
        </p:nvSpPr>
        <p:spPr>
          <a:xfrm>
            <a:off x="914400" y="3886200"/>
            <a:ext cx="3611880" cy="2011680"/>
          </a:xfrm>
          <a:prstGeom prst="rect">
            <a:avLst/>
          </a:prstGeom>
          <a:noFill/>
          <a:ln/>
        </p:spPr>
        <p:txBody>
          <a:bodyPr wrap="square" lIns="0" tIns="0" rIns="0" bIns="0" rtlCol="0" anchor="t"/>
          <a:lstStyle/>
          <a:p>
            <a:pPr indent="0" marL="0">
              <a:buNone/>
            </a:pPr>
            <a:r>
              <a:rPr lang="en-US" sz="1900" dirty="0">
                <a:solidFill>
                  <a:srgbClr val="5F6368"/>
                </a:solidFill>
                <a:latin typeface="Roboto" pitchFamily="34" charset="0"/>
                <a:ea typeface="Roboto" pitchFamily="34" charset="-122"/>
                <a:cs typeface="Roboto" pitchFamily="34" charset="-120"/>
              </a:rPr>
              <a:t>Si haguessis de dividir la teva vida en «edats», on posaries els talls?</a:t>
            </a:r>
            <a:endParaRPr lang="en-US" sz="1900" dirty="0"/>
          </a:p>
        </p:txBody>
      </p:sp>
      <p:sp>
        <p:nvSpPr>
          <p:cNvPr id="10" name="Fons Les edats de la història"/>
          <p:cNvSpPr/>
          <p:nvPr/>
        </p:nvSpPr>
        <p:spPr>
          <a:xfrm>
            <a:off x="5120640" y="3337560"/>
            <a:ext cx="6522415" cy="2240280"/>
          </a:xfrm>
          <a:prstGeom prst="roundRect">
            <a:avLst>
              <a:gd name="adj" fmla="val 4490"/>
            </a:avLst>
          </a:prstGeom>
          <a:solidFill>
            <a:srgbClr val="F6F8FB"/>
          </a:solidFill>
          <a:ln/>
        </p:spPr>
      </p:sp>
      <p:pic>
        <p:nvPicPr>
          <p:cNvPr id="11" name="Les edats de la història" descr="/home/claude/p857/build/img/edats.png">    </p:cNvPr>
          <p:cNvPicPr>
            <a:picLocks noChangeAspect="1"/>
          </p:cNvPicPr>
          <p:nvPr/>
        </p:nvPicPr>
        <p:blipFill>
          <a:blip r:embed="rId2"/>
          <a:stretch>
            <a:fillRect/>
          </a:stretch>
        </p:blipFill>
        <p:spPr>
          <a:xfrm>
            <a:off x="5271219" y="3337560"/>
            <a:ext cx="6221258" cy="2240280"/>
          </a:xfrm>
          <a:prstGeom prst="rect">
            <a:avLst/>
          </a:prstGeom>
        </p:spPr>
      </p:pic>
      <p:sp>
        <p:nvSpPr>
          <p:cNvPr id="12" name="Text 8"/>
          <p:cNvSpPr txBox="1"/>
          <p:nvPr/>
        </p:nvSpPr>
        <p:spPr>
          <a:xfrm>
            <a:off x="5120640" y="5669280"/>
            <a:ext cx="6522415" cy="548640"/>
          </a:xfrm>
          <a:prstGeom prst="rect">
            <a:avLst/>
          </a:prstGeom>
          <a:noFill/>
          <a:ln/>
        </p:spPr>
        <p:txBody>
          <a:bodyPr wrap="square" lIns="0" tIns="0" rIns="0" bIns="0" rtlCol="0" anchor="t"/>
          <a:lstStyle/>
          <a:p>
            <a:pPr indent="0" marL="0">
              <a:buNone/>
            </a:pPr>
            <a:r>
              <a:rPr lang="en-US" sz="1000" dirty="0">
                <a:solidFill>
                  <a:srgbClr val="5F6368"/>
                </a:solidFill>
                <a:latin typeface="Roboto" pitchFamily="34" charset="0"/>
                <a:ea typeface="Roboto" pitchFamily="34" charset="-122"/>
                <a:cs typeface="Roboto" pitchFamily="34" charset="-120"/>
              </a:rPr>
              <a:t>Les edats de la història, a escala. Gràfic: professordesocials.cat, CC BY-SA 4.0.</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8</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Cinc grans etapes</a:t>
            </a:r>
            <a:endParaRPr lang="en-US" sz="2800" dirty="0"/>
          </a:p>
        </p:txBody>
      </p:sp>
      <p:sp>
        <p:nvSpPr>
          <p:cNvPr id="5" name="Text 3"/>
          <p:cNvSpPr txBox="1"/>
          <p:nvPr/>
        </p:nvSpPr>
        <p:spPr>
          <a:xfrm>
            <a:off x="548640" y="1371600"/>
            <a:ext cx="11094415" cy="594360"/>
          </a:xfrm>
          <a:prstGeom prst="rect">
            <a:avLst/>
          </a:prstGeom>
          <a:noFill/>
          <a:ln/>
        </p:spPr>
        <p:txBody>
          <a:bodyPr wrap="square" lIns="0" tIns="0" rIns="0" bIns="0" rtlCol="0" anchor="t"/>
          <a:lstStyle/>
          <a:p>
            <a:pPr indent="0" marL="0">
              <a:buNone/>
            </a:pPr>
            <a:r>
              <a:rPr lang="en-US" sz="1800" dirty="0">
                <a:solidFill>
                  <a:srgbClr val="202124"/>
                </a:solidFill>
                <a:latin typeface="Roboto" pitchFamily="34" charset="0"/>
                <a:ea typeface="Roboto" pitchFamily="34" charset="-122"/>
                <a:cs typeface="Roboto" pitchFamily="34" charset="-120"/>
              </a:rPr>
              <a:t>Els historiadors han dividit el temps en grans edats per facilitar-ne l'estudi. Cada divisió correspon a un moment de canvi important.</a:t>
            </a:r>
            <a:endParaRPr lang="en-US" sz="1800" dirty="0"/>
          </a:p>
        </p:txBody>
      </p:sp>
      <p:sp>
        <p:nvSpPr>
          <p:cNvPr id="6" name="Prehistòria"/>
          <p:cNvSpPr/>
          <p:nvPr/>
        </p:nvSpPr>
        <p:spPr>
          <a:xfrm>
            <a:off x="548640" y="2194560"/>
            <a:ext cx="2087209" cy="3794760"/>
          </a:xfrm>
          <a:prstGeom prst="roundRect">
            <a:avLst>
              <a:gd name="adj" fmla="val 4819"/>
            </a:avLst>
          </a:prstGeom>
          <a:solidFill>
            <a:srgbClr val="FFFFFF"/>
          </a:solidFill>
          <a:ln w="12700">
            <a:solidFill>
              <a:srgbClr val="DADCE0"/>
            </a:solidFill>
            <a:prstDash val="solid"/>
          </a:ln>
        </p:spPr>
      </p:sp>
      <p:sp>
        <p:nvSpPr>
          <p:cNvPr id="7" name="Color Prehistòria"/>
          <p:cNvSpPr/>
          <p:nvPr/>
        </p:nvSpPr>
        <p:spPr>
          <a:xfrm>
            <a:off x="548640" y="2194560"/>
            <a:ext cx="2087209" cy="201168"/>
          </a:xfrm>
          <a:prstGeom prst="roundRect">
            <a:avLst>
              <a:gd name="adj" fmla="val 27273"/>
            </a:avLst>
          </a:prstGeom>
          <a:solidFill>
            <a:srgbClr val="9AA0A6"/>
          </a:solidFill>
          <a:ln/>
        </p:spPr>
      </p:sp>
      <p:sp>
        <p:nvSpPr>
          <p:cNvPr id="8" name="Text 6"/>
          <p:cNvSpPr txBox="1"/>
          <p:nvPr/>
        </p:nvSpPr>
        <p:spPr>
          <a:xfrm>
            <a:off x="713232" y="2542032"/>
            <a:ext cx="1812889" cy="777240"/>
          </a:xfrm>
          <a:prstGeom prst="rect">
            <a:avLst/>
          </a:prstGeom>
          <a:noFill/>
          <a:ln/>
        </p:spPr>
        <p:txBody>
          <a:bodyPr wrap="square" lIns="0" tIns="0" rIns="0" bIns="0" rtlCol="0" anchor="t"/>
          <a:lstStyle/>
          <a:p>
            <a:pPr indent="0" marL="0">
              <a:buNone/>
            </a:pPr>
            <a:r>
              <a:rPr lang="en-US" sz="1400" dirty="0">
                <a:solidFill>
                  <a:srgbClr val="5F6368"/>
                </a:solidFill>
                <a:latin typeface="Roboto" pitchFamily="34" charset="0"/>
                <a:ea typeface="Roboto" pitchFamily="34" charset="-122"/>
                <a:cs typeface="Roboto" pitchFamily="34" charset="-120"/>
              </a:rPr>
              <a:t> </a:t>
            </a:r>
            <a:endParaRPr lang="en-US" sz="1400" dirty="0"/>
          </a:p>
          <a:p>
            <a:pPr indent="0" marL="0">
              <a:buNone/>
            </a:pPr>
            <a:r>
              <a:rPr lang="en-US" sz="2100" b="1" dirty="0">
                <a:solidFill>
                  <a:srgbClr val="5F6368"/>
                </a:solidFill>
                <a:latin typeface="Roboto" pitchFamily="34" charset="0"/>
                <a:ea typeface="Roboto" pitchFamily="34" charset="-122"/>
                <a:cs typeface="Roboto" pitchFamily="34" charset="-120"/>
              </a:rPr>
              <a:t>Prehistòria</a:t>
            </a:r>
            <a:endParaRPr lang="en-US" sz="1400" dirty="0"/>
          </a:p>
        </p:txBody>
      </p:sp>
      <p:sp>
        <p:nvSpPr>
          <p:cNvPr id="9" name="Text 7"/>
          <p:cNvSpPr txBox="1"/>
          <p:nvPr/>
        </p:nvSpPr>
        <p:spPr>
          <a:xfrm>
            <a:off x="713232" y="3383280"/>
            <a:ext cx="1812889" cy="365760"/>
          </a:xfrm>
          <a:prstGeom prst="rect">
            <a:avLst/>
          </a:prstGeom>
          <a:noFill/>
          <a:ln/>
        </p:spPr>
        <p:txBody>
          <a:bodyPr wrap="square" lIns="0" tIns="0" rIns="0" bIns="0" rtlCol="0" anchor="t"/>
          <a:lstStyle/>
          <a:p>
            <a:pPr indent="0" marL="0">
              <a:buNone/>
            </a:pPr>
            <a:r>
              <a:rPr lang="en-US" sz="1500" b="1" dirty="0">
                <a:solidFill>
                  <a:srgbClr val="202124"/>
                </a:solidFill>
                <a:latin typeface="Roboto" pitchFamily="34" charset="0"/>
                <a:ea typeface="Roboto" pitchFamily="34" charset="-122"/>
                <a:cs typeface="Roboto" pitchFamily="34" charset="-120"/>
              </a:rPr>
              <a:t>Fins al 3500 aC</a:t>
            </a:r>
            <a:endParaRPr lang="en-US" sz="1500" dirty="0"/>
          </a:p>
        </p:txBody>
      </p:sp>
      <p:sp>
        <p:nvSpPr>
          <p:cNvPr id="10" name="Text 8"/>
          <p:cNvSpPr txBox="1"/>
          <p:nvPr/>
        </p:nvSpPr>
        <p:spPr>
          <a:xfrm>
            <a:off x="713232" y="3840480"/>
            <a:ext cx="1812889" cy="2011680"/>
          </a:xfrm>
          <a:prstGeom prst="rect">
            <a:avLst/>
          </a:prstGeom>
          <a:noFill/>
          <a:ln/>
        </p:spPr>
        <p:txBody>
          <a:bodyPr wrap="square" lIns="0" tIns="0" rIns="0" bIns="0" rtlCol="0" anchor="t"/>
          <a:lstStyle/>
          <a:p>
            <a:pPr indent="0" marL="0">
              <a:buNone/>
            </a:pPr>
            <a:r>
              <a:rPr lang="en-US" sz="1550" dirty="0">
                <a:solidFill>
                  <a:srgbClr val="202124"/>
                </a:solidFill>
                <a:latin typeface="Roboto" pitchFamily="34" charset="0"/>
                <a:ea typeface="Roboto" pitchFamily="34" charset="-122"/>
                <a:cs typeface="Roboto" pitchFamily="34" charset="-120"/>
              </a:rPr>
              <a:t>Des dels primers humans. No hi ha escriptura.</a:t>
            </a:r>
            <a:endParaRPr lang="en-US" sz="1550" dirty="0"/>
          </a:p>
        </p:txBody>
      </p:sp>
      <p:sp>
        <p:nvSpPr>
          <p:cNvPr id="11" name="Antiga"/>
          <p:cNvSpPr/>
          <p:nvPr/>
        </p:nvSpPr>
        <p:spPr>
          <a:xfrm>
            <a:off x="2800441" y="2194560"/>
            <a:ext cx="2087209" cy="3794760"/>
          </a:xfrm>
          <a:prstGeom prst="roundRect">
            <a:avLst>
              <a:gd name="adj" fmla="val 4819"/>
            </a:avLst>
          </a:prstGeom>
          <a:solidFill>
            <a:srgbClr val="FFFFFF"/>
          </a:solidFill>
          <a:ln w="12700">
            <a:solidFill>
              <a:srgbClr val="DADCE0"/>
            </a:solidFill>
            <a:prstDash val="solid"/>
          </a:ln>
        </p:spPr>
      </p:sp>
      <p:sp>
        <p:nvSpPr>
          <p:cNvPr id="12" name="Color Antiga"/>
          <p:cNvSpPr/>
          <p:nvPr/>
        </p:nvSpPr>
        <p:spPr>
          <a:xfrm>
            <a:off x="2800441" y="2194560"/>
            <a:ext cx="2087209" cy="201168"/>
          </a:xfrm>
          <a:prstGeom prst="roundRect">
            <a:avLst>
              <a:gd name="adj" fmla="val 27273"/>
            </a:avLst>
          </a:prstGeom>
          <a:solidFill>
            <a:srgbClr val="7FA7E6"/>
          </a:solidFill>
          <a:ln/>
        </p:spPr>
      </p:sp>
      <p:sp>
        <p:nvSpPr>
          <p:cNvPr id="13" name="Text 11"/>
          <p:cNvSpPr txBox="1"/>
          <p:nvPr/>
        </p:nvSpPr>
        <p:spPr>
          <a:xfrm>
            <a:off x="2965033" y="2542032"/>
            <a:ext cx="1812889" cy="777240"/>
          </a:xfrm>
          <a:prstGeom prst="rect">
            <a:avLst/>
          </a:prstGeom>
          <a:noFill/>
          <a:ln/>
        </p:spPr>
        <p:txBody>
          <a:bodyPr wrap="square" lIns="0" tIns="0" rIns="0" bIns="0" rtlCol="0" anchor="t"/>
          <a:lstStyle/>
          <a:p>
            <a:pPr indent="0" marL="0">
              <a:buNone/>
            </a:pPr>
            <a:r>
              <a:rPr lang="en-US" sz="1400" dirty="0">
                <a:solidFill>
                  <a:srgbClr val="5F6368"/>
                </a:solidFill>
                <a:latin typeface="Roboto" pitchFamily="34" charset="0"/>
                <a:ea typeface="Roboto" pitchFamily="34" charset="-122"/>
                <a:cs typeface="Roboto" pitchFamily="34" charset="-120"/>
              </a:rPr>
              <a:t>Edat</a:t>
            </a:r>
            <a:endParaRPr lang="en-US" sz="1400" dirty="0"/>
          </a:p>
          <a:p>
            <a:pPr indent="0" marL="0">
              <a:buNone/>
            </a:pPr>
            <a:r>
              <a:rPr lang="en-US" sz="2100" b="1" dirty="0">
                <a:solidFill>
                  <a:srgbClr val="174A96"/>
                </a:solidFill>
                <a:latin typeface="Roboto" pitchFamily="34" charset="0"/>
                <a:ea typeface="Roboto" pitchFamily="34" charset="-122"/>
                <a:cs typeface="Roboto" pitchFamily="34" charset="-120"/>
              </a:rPr>
              <a:t>Antiga</a:t>
            </a:r>
            <a:endParaRPr lang="en-US" sz="1400" dirty="0"/>
          </a:p>
        </p:txBody>
      </p:sp>
      <p:sp>
        <p:nvSpPr>
          <p:cNvPr id="14" name="Text 12"/>
          <p:cNvSpPr txBox="1"/>
          <p:nvPr/>
        </p:nvSpPr>
        <p:spPr>
          <a:xfrm>
            <a:off x="2965033" y="3383280"/>
            <a:ext cx="1812889" cy="365760"/>
          </a:xfrm>
          <a:prstGeom prst="rect">
            <a:avLst/>
          </a:prstGeom>
          <a:noFill/>
          <a:ln/>
        </p:spPr>
        <p:txBody>
          <a:bodyPr wrap="square" lIns="0" tIns="0" rIns="0" bIns="0" rtlCol="0" anchor="t"/>
          <a:lstStyle/>
          <a:p>
            <a:pPr indent="0" marL="0">
              <a:buNone/>
            </a:pPr>
            <a:r>
              <a:rPr lang="en-US" sz="1500" b="1" dirty="0">
                <a:solidFill>
                  <a:srgbClr val="202124"/>
                </a:solidFill>
                <a:latin typeface="Roboto" pitchFamily="34" charset="0"/>
                <a:ea typeface="Roboto" pitchFamily="34" charset="-122"/>
                <a:cs typeface="Roboto" pitchFamily="34" charset="-120"/>
              </a:rPr>
              <a:t>3500 aC – 476 dC</a:t>
            </a:r>
            <a:endParaRPr lang="en-US" sz="1500" dirty="0"/>
          </a:p>
        </p:txBody>
      </p:sp>
      <p:sp>
        <p:nvSpPr>
          <p:cNvPr id="15" name="Text 13"/>
          <p:cNvSpPr txBox="1"/>
          <p:nvPr/>
        </p:nvSpPr>
        <p:spPr>
          <a:xfrm>
            <a:off x="2965033" y="3840480"/>
            <a:ext cx="1812889" cy="2011680"/>
          </a:xfrm>
          <a:prstGeom prst="rect">
            <a:avLst/>
          </a:prstGeom>
          <a:noFill/>
          <a:ln/>
        </p:spPr>
        <p:txBody>
          <a:bodyPr wrap="square" lIns="0" tIns="0" rIns="0" bIns="0" rtlCol="0" anchor="t"/>
          <a:lstStyle/>
          <a:p>
            <a:pPr indent="0" marL="0">
              <a:buNone/>
            </a:pPr>
            <a:r>
              <a:rPr lang="en-US" sz="1550" dirty="0">
                <a:solidFill>
                  <a:srgbClr val="202124"/>
                </a:solidFill>
                <a:latin typeface="Roboto" pitchFamily="34" charset="0"/>
                <a:ea typeface="Roboto" pitchFamily="34" charset="-122"/>
                <a:cs typeface="Roboto" pitchFamily="34" charset="-120"/>
              </a:rPr>
              <a:t>Apareix l'escriptura. Acaba amb la caiguda de l'Imperi Romà d'Occident.</a:t>
            </a:r>
            <a:endParaRPr lang="en-US" sz="1550" dirty="0"/>
          </a:p>
        </p:txBody>
      </p:sp>
      <p:sp>
        <p:nvSpPr>
          <p:cNvPr id="16" name="Mitjana"/>
          <p:cNvSpPr/>
          <p:nvPr/>
        </p:nvSpPr>
        <p:spPr>
          <a:xfrm>
            <a:off x="5052243" y="2194560"/>
            <a:ext cx="2087209" cy="3794760"/>
          </a:xfrm>
          <a:prstGeom prst="roundRect">
            <a:avLst>
              <a:gd name="adj" fmla="val 4819"/>
            </a:avLst>
          </a:prstGeom>
          <a:solidFill>
            <a:srgbClr val="FFFFFF"/>
          </a:solidFill>
          <a:ln w="12700">
            <a:solidFill>
              <a:srgbClr val="DADCE0"/>
            </a:solidFill>
            <a:prstDash val="solid"/>
          </a:ln>
        </p:spPr>
      </p:sp>
      <p:sp>
        <p:nvSpPr>
          <p:cNvPr id="17" name="Color Mitjana"/>
          <p:cNvSpPr/>
          <p:nvPr/>
        </p:nvSpPr>
        <p:spPr>
          <a:xfrm>
            <a:off x="5052243" y="2194560"/>
            <a:ext cx="2087209" cy="201168"/>
          </a:xfrm>
          <a:prstGeom prst="roundRect">
            <a:avLst>
              <a:gd name="adj" fmla="val 27273"/>
            </a:avLst>
          </a:prstGeom>
          <a:solidFill>
            <a:srgbClr val="188038"/>
          </a:solidFill>
          <a:ln/>
        </p:spPr>
      </p:sp>
      <p:sp>
        <p:nvSpPr>
          <p:cNvPr id="18" name="Text 16"/>
          <p:cNvSpPr txBox="1"/>
          <p:nvPr/>
        </p:nvSpPr>
        <p:spPr>
          <a:xfrm>
            <a:off x="5216835" y="2542032"/>
            <a:ext cx="1812889" cy="777240"/>
          </a:xfrm>
          <a:prstGeom prst="rect">
            <a:avLst/>
          </a:prstGeom>
          <a:noFill/>
          <a:ln/>
        </p:spPr>
        <p:txBody>
          <a:bodyPr wrap="square" lIns="0" tIns="0" rIns="0" bIns="0" rtlCol="0" anchor="t"/>
          <a:lstStyle/>
          <a:p>
            <a:pPr indent="0" marL="0">
              <a:buNone/>
            </a:pPr>
            <a:r>
              <a:rPr lang="en-US" sz="1400" dirty="0">
                <a:solidFill>
                  <a:srgbClr val="5F6368"/>
                </a:solidFill>
                <a:latin typeface="Roboto" pitchFamily="34" charset="0"/>
                <a:ea typeface="Roboto" pitchFamily="34" charset="-122"/>
                <a:cs typeface="Roboto" pitchFamily="34" charset="-120"/>
              </a:rPr>
              <a:t>Edat</a:t>
            </a:r>
            <a:endParaRPr lang="en-US" sz="1400" dirty="0"/>
          </a:p>
          <a:p>
            <a:pPr indent="0" marL="0">
              <a:buNone/>
            </a:pPr>
            <a:r>
              <a:rPr lang="en-US" sz="2100" b="1" dirty="0">
                <a:solidFill>
                  <a:srgbClr val="188038"/>
                </a:solidFill>
                <a:latin typeface="Roboto" pitchFamily="34" charset="0"/>
                <a:ea typeface="Roboto" pitchFamily="34" charset="-122"/>
                <a:cs typeface="Roboto" pitchFamily="34" charset="-120"/>
              </a:rPr>
              <a:t>Mitjana</a:t>
            </a:r>
            <a:endParaRPr lang="en-US" sz="1400" dirty="0"/>
          </a:p>
        </p:txBody>
      </p:sp>
      <p:sp>
        <p:nvSpPr>
          <p:cNvPr id="19" name="Text 17"/>
          <p:cNvSpPr txBox="1"/>
          <p:nvPr/>
        </p:nvSpPr>
        <p:spPr>
          <a:xfrm>
            <a:off x="5216835" y="3383280"/>
            <a:ext cx="1812889" cy="365760"/>
          </a:xfrm>
          <a:prstGeom prst="rect">
            <a:avLst/>
          </a:prstGeom>
          <a:noFill/>
          <a:ln/>
        </p:spPr>
        <p:txBody>
          <a:bodyPr wrap="square" lIns="0" tIns="0" rIns="0" bIns="0" rtlCol="0" anchor="t"/>
          <a:lstStyle/>
          <a:p>
            <a:pPr indent="0" marL="0">
              <a:buNone/>
            </a:pPr>
            <a:r>
              <a:rPr lang="en-US" sz="1500" b="1" dirty="0">
                <a:solidFill>
                  <a:srgbClr val="202124"/>
                </a:solidFill>
                <a:latin typeface="Roboto" pitchFamily="34" charset="0"/>
                <a:ea typeface="Roboto" pitchFamily="34" charset="-122"/>
                <a:cs typeface="Roboto" pitchFamily="34" charset="-120"/>
              </a:rPr>
              <a:t>476 – 1492</a:t>
            </a:r>
            <a:endParaRPr lang="en-US" sz="1500" dirty="0"/>
          </a:p>
        </p:txBody>
      </p:sp>
      <p:sp>
        <p:nvSpPr>
          <p:cNvPr id="20" name="Text 18"/>
          <p:cNvSpPr txBox="1"/>
          <p:nvPr/>
        </p:nvSpPr>
        <p:spPr>
          <a:xfrm>
            <a:off x="5216835" y="3840480"/>
            <a:ext cx="1812889" cy="2011680"/>
          </a:xfrm>
          <a:prstGeom prst="rect">
            <a:avLst/>
          </a:prstGeom>
          <a:noFill/>
          <a:ln/>
        </p:spPr>
        <p:txBody>
          <a:bodyPr wrap="square" lIns="0" tIns="0" rIns="0" bIns="0" rtlCol="0" anchor="t"/>
          <a:lstStyle/>
          <a:p>
            <a:pPr indent="0" marL="0">
              <a:buNone/>
            </a:pPr>
            <a:r>
              <a:rPr lang="en-US" sz="1550" dirty="0">
                <a:solidFill>
                  <a:srgbClr val="202124"/>
                </a:solidFill>
                <a:latin typeface="Roboto" pitchFamily="34" charset="0"/>
                <a:ea typeface="Roboto" pitchFamily="34" charset="-122"/>
                <a:cs typeface="Roboto" pitchFamily="34" charset="-120"/>
              </a:rPr>
              <a:t>De la caiguda de Roma fins a l'arribada de Colom a Amèrica.</a:t>
            </a:r>
            <a:endParaRPr lang="en-US" sz="1550" dirty="0"/>
          </a:p>
        </p:txBody>
      </p:sp>
      <p:sp>
        <p:nvSpPr>
          <p:cNvPr id="21" name="Moderna"/>
          <p:cNvSpPr/>
          <p:nvPr/>
        </p:nvSpPr>
        <p:spPr>
          <a:xfrm>
            <a:off x="7304044" y="2194560"/>
            <a:ext cx="2087209" cy="3794760"/>
          </a:xfrm>
          <a:prstGeom prst="roundRect">
            <a:avLst>
              <a:gd name="adj" fmla="val 4819"/>
            </a:avLst>
          </a:prstGeom>
          <a:solidFill>
            <a:srgbClr val="FFFFFF"/>
          </a:solidFill>
          <a:ln w="12700">
            <a:solidFill>
              <a:srgbClr val="DADCE0"/>
            </a:solidFill>
            <a:prstDash val="solid"/>
          </a:ln>
        </p:spPr>
      </p:sp>
      <p:sp>
        <p:nvSpPr>
          <p:cNvPr id="22" name="Color Moderna"/>
          <p:cNvSpPr/>
          <p:nvPr/>
        </p:nvSpPr>
        <p:spPr>
          <a:xfrm>
            <a:off x="7304044" y="2194560"/>
            <a:ext cx="2087209" cy="201168"/>
          </a:xfrm>
          <a:prstGeom prst="roundRect">
            <a:avLst>
              <a:gd name="adj" fmla="val 27273"/>
            </a:avLst>
          </a:prstGeom>
          <a:solidFill>
            <a:srgbClr val="E37400"/>
          </a:solidFill>
          <a:ln/>
        </p:spPr>
      </p:sp>
      <p:sp>
        <p:nvSpPr>
          <p:cNvPr id="23" name="Text 21"/>
          <p:cNvSpPr txBox="1"/>
          <p:nvPr/>
        </p:nvSpPr>
        <p:spPr>
          <a:xfrm>
            <a:off x="7468636" y="2542032"/>
            <a:ext cx="1812889" cy="777240"/>
          </a:xfrm>
          <a:prstGeom prst="rect">
            <a:avLst/>
          </a:prstGeom>
          <a:noFill/>
          <a:ln/>
        </p:spPr>
        <p:txBody>
          <a:bodyPr wrap="square" lIns="0" tIns="0" rIns="0" bIns="0" rtlCol="0" anchor="t"/>
          <a:lstStyle/>
          <a:p>
            <a:pPr indent="0" marL="0">
              <a:buNone/>
            </a:pPr>
            <a:r>
              <a:rPr lang="en-US" sz="1400" dirty="0">
                <a:solidFill>
                  <a:srgbClr val="5F6368"/>
                </a:solidFill>
                <a:latin typeface="Roboto" pitchFamily="34" charset="0"/>
                <a:ea typeface="Roboto" pitchFamily="34" charset="-122"/>
                <a:cs typeface="Roboto" pitchFamily="34" charset="-120"/>
              </a:rPr>
              <a:t>Edat</a:t>
            </a:r>
            <a:endParaRPr lang="en-US" sz="1400" dirty="0"/>
          </a:p>
          <a:p>
            <a:pPr indent="0" marL="0">
              <a:buNone/>
            </a:pPr>
            <a:r>
              <a:rPr lang="en-US" sz="2100" b="1" dirty="0">
                <a:solidFill>
                  <a:srgbClr val="B06000"/>
                </a:solidFill>
                <a:latin typeface="Roboto" pitchFamily="34" charset="0"/>
                <a:ea typeface="Roboto" pitchFamily="34" charset="-122"/>
                <a:cs typeface="Roboto" pitchFamily="34" charset="-120"/>
              </a:rPr>
              <a:t>Moderna</a:t>
            </a:r>
            <a:endParaRPr lang="en-US" sz="1400" dirty="0"/>
          </a:p>
        </p:txBody>
      </p:sp>
      <p:sp>
        <p:nvSpPr>
          <p:cNvPr id="24" name="Text 22"/>
          <p:cNvSpPr txBox="1"/>
          <p:nvPr/>
        </p:nvSpPr>
        <p:spPr>
          <a:xfrm>
            <a:off x="7468636" y="3383280"/>
            <a:ext cx="1812889" cy="365760"/>
          </a:xfrm>
          <a:prstGeom prst="rect">
            <a:avLst/>
          </a:prstGeom>
          <a:noFill/>
          <a:ln/>
        </p:spPr>
        <p:txBody>
          <a:bodyPr wrap="square" lIns="0" tIns="0" rIns="0" bIns="0" rtlCol="0" anchor="t"/>
          <a:lstStyle/>
          <a:p>
            <a:pPr indent="0" marL="0">
              <a:buNone/>
            </a:pPr>
            <a:r>
              <a:rPr lang="en-US" sz="1500" b="1" dirty="0">
                <a:solidFill>
                  <a:srgbClr val="202124"/>
                </a:solidFill>
                <a:latin typeface="Roboto" pitchFamily="34" charset="0"/>
                <a:ea typeface="Roboto" pitchFamily="34" charset="-122"/>
                <a:cs typeface="Roboto" pitchFamily="34" charset="-120"/>
              </a:rPr>
              <a:t>1492 – 1789</a:t>
            </a:r>
            <a:endParaRPr lang="en-US" sz="1500" dirty="0"/>
          </a:p>
        </p:txBody>
      </p:sp>
      <p:sp>
        <p:nvSpPr>
          <p:cNvPr id="25" name="Text 23"/>
          <p:cNvSpPr txBox="1"/>
          <p:nvPr/>
        </p:nvSpPr>
        <p:spPr>
          <a:xfrm>
            <a:off x="7468636" y="3840480"/>
            <a:ext cx="1812889" cy="2011680"/>
          </a:xfrm>
          <a:prstGeom prst="rect">
            <a:avLst/>
          </a:prstGeom>
          <a:noFill/>
          <a:ln/>
        </p:spPr>
        <p:txBody>
          <a:bodyPr wrap="square" lIns="0" tIns="0" rIns="0" bIns="0" rtlCol="0" anchor="t"/>
          <a:lstStyle/>
          <a:p>
            <a:pPr indent="0" marL="0">
              <a:buNone/>
            </a:pPr>
            <a:r>
              <a:rPr lang="en-US" sz="1550" dirty="0">
                <a:solidFill>
                  <a:srgbClr val="202124"/>
                </a:solidFill>
                <a:latin typeface="Roboto" pitchFamily="34" charset="0"/>
                <a:ea typeface="Roboto" pitchFamily="34" charset="-122"/>
                <a:cs typeface="Roboto" pitchFamily="34" charset="-120"/>
              </a:rPr>
              <a:t>D'Amèrica fins a la Revolució Francesa.</a:t>
            </a:r>
            <a:endParaRPr lang="en-US" sz="1550" dirty="0"/>
          </a:p>
        </p:txBody>
      </p:sp>
      <p:sp>
        <p:nvSpPr>
          <p:cNvPr id="26" name="Contemporània"/>
          <p:cNvSpPr/>
          <p:nvPr/>
        </p:nvSpPr>
        <p:spPr>
          <a:xfrm>
            <a:off x="9555846" y="2194560"/>
            <a:ext cx="2087209" cy="3794760"/>
          </a:xfrm>
          <a:prstGeom prst="roundRect">
            <a:avLst>
              <a:gd name="adj" fmla="val 4819"/>
            </a:avLst>
          </a:prstGeom>
          <a:solidFill>
            <a:srgbClr val="FFFFFF"/>
          </a:solidFill>
          <a:ln w="12700">
            <a:solidFill>
              <a:srgbClr val="DADCE0"/>
            </a:solidFill>
            <a:prstDash val="solid"/>
          </a:ln>
        </p:spPr>
      </p:sp>
      <p:sp>
        <p:nvSpPr>
          <p:cNvPr id="27" name="Color Contemporània"/>
          <p:cNvSpPr/>
          <p:nvPr/>
        </p:nvSpPr>
        <p:spPr>
          <a:xfrm>
            <a:off x="9555846" y="2194560"/>
            <a:ext cx="2087209" cy="201168"/>
          </a:xfrm>
          <a:prstGeom prst="roundRect">
            <a:avLst>
              <a:gd name="adj" fmla="val 27273"/>
            </a:avLst>
          </a:prstGeom>
          <a:solidFill>
            <a:srgbClr val="8430CE"/>
          </a:solidFill>
          <a:ln/>
        </p:spPr>
      </p:sp>
      <p:sp>
        <p:nvSpPr>
          <p:cNvPr id="28" name="Text 26"/>
          <p:cNvSpPr txBox="1"/>
          <p:nvPr/>
        </p:nvSpPr>
        <p:spPr>
          <a:xfrm>
            <a:off x="9720438" y="2542032"/>
            <a:ext cx="1812889" cy="777240"/>
          </a:xfrm>
          <a:prstGeom prst="rect">
            <a:avLst/>
          </a:prstGeom>
          <a:noFill/>
          <a:ln/>
        </p:spPr>
        <p:txBody>
          <a:bodyPr wrap="square" lIns="0" tIns="0" rIns="0" bIns="0" rtlCol="0" anchor="t"/>
          <a:lstStyle/>
          <a:p>
            <a:pPr indent="0" marL="0">
              <a:buNone/>
            </a:pPr>
            <a:r>
              <a:rPr lang="en-US" sz="1400" dirty="0">
                <a:solidFill>
                  <a:srgbClr val="5F6368"/>
                </a:solidFill>
                <a:latin typeface="Roboto" pitchFamily="34" charset="0"/>
                <a:ea typeface="Roboto" pitchFamily="34" charset="-122"/>
                <a:cs typeface="Roboto" pitchFamily="34" charset="-120"/>
              </a:rPr>
              <a:t>Edat</a:t>
            </a:r>
            <a:endParaRPr lang="en-US" sz="1400" dirty="0"/>
          </a:p>
          <a:p>
            <a:pPr indent="0" marL="0">
              <a:buNone/>
            </a:pPr>
            <a:r>
              <a:rPr lang="en-US" sz="1800" b="1" dirty="0">
                <a:solidFill>
                  <a:srgbClr val="8430CE"/>
                </a:solidFill>
                <a:latin typeface="Roboto" pitchFamily="34" charset="0"/>
                <a:ea typeface="Roboto" pitchFamily="34" charset="-122"/>
                <a:cs typeface="Roboto" pitchFamily="34" charset="-120"/>
              </a:rPr>
              <a:t>Contemporània</a:t>
            </a:r>
            <a:endParaRPr lang="en-US" sz="1400" dirty="0"/>
          </a:p>
        </p:txBody>
      </p:sp>
      <p:sp>
        <p:nvSpPr>
          <p:cNvPr id="29" name="Text 27"/>
          <p:cNvSpPr txBox="1"/>
          <p:nvPr/>
        </p:nvSpPr>
        <p:spPr>
          <a:xfrm>
            <a:off x="9720438" y="3383280"/>
            <a:ext cx="1812889" cy="365760"/>
          </a:xfrm>
          <a:prstGeom prst="rect">
            <a:avLst/>
          </a:prstGeom>
          <a:noFill/>
          <a:ln/>
        </p:spPr>
        <p:txBody>
          <a:bodyPr wrap="square" lIns="0" tIns="0" rIns="0" bIns="0" rtlCol="0" anchor="t"/>
          <a:lstStyle/>
          <a:p>
            <a:pPr indent="0" marL="0">
              <a:buNone/>
            </a:pPr>
            <a:r>
              <a:rPr lang="en-US" sz="1500" b="1" dirty="0">
                <a:solidFill>
                  <a:srgbClr val="202124"/>
                </a:solidFill>
                <a:latin typeface="Roboto" pitchFamily="34" charset="0"/>
                <a:ea typeface="Roboto" pitchFamily="34" charset="-122"/>
                <a:cs typeface="Roboto" pitchFamily="34" charset="-120"/>
              </a:rPr>
              <a:t>1789 – avui</a:t>
            </a:r>
            <a:endParaRPr lang="en-US" sz="1500" dirty="0"/>
          </a:p>
        </p:txBody>
      </p:sp>
      <p:sp>
        <p:nvSpPr>
          <p:cNvPr id="30" name="Text 28"/>
          <p:cNvSpPr txBox="1"/>
          <p:nvPr/>
        </p:nvSpPr>
        <p:spPr>
          <a:xfrm>
            <a:off x="9720438" y="3840480"/>
            <a:ext cx="1812889" cy="2011680"/>
          </a:xfrm>
          <a:prstGeom prst="rect">
            <a:avLst/>
          </a:prstGeom>
          <a:noFill/>
          <a:ln/>
        </p:spPr>
        <p:txBody>
          <a:bodyPr wrap="square" lIns="0" tIns="0" rIns="0" bIns="0" rtlCol="0" anchor="t"/>
          <a:lstStyle/>
          <a:p>
            <a:pPr indent="0" marL="0">
              <a:buNone/>
            </a:pPr>
            <a:r>
              <a:rPr lang="en-US" sz="1550" dirty="0">
                <a:solidFill>
                  <a:srgbClr val="202124"/>
                </a:solidFill>
                <a:latin typeface="Roboto" pitchFamily="34" charset="0"/>
                <a:ea typeface="Roboto" pitchFamily="34" charset="-122"/>
                <a:cs typeface="Roboto" pitchFamily="34" charset="-120"/>
              </a:rPr>
              <a:t>De la Revolució Francesa fins ara. És la nostra.</a:t>
            </a:r>
            <a:endParaRPr lang="en-US" sz="15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8</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Les edats, a escala</a:t>
            </a:r>
            <a:endParaRPr lang="en-US" sz="2800" dirty="0"/>
          </a:p>
        </p:txBody>
      </p:sp>
      <p:sp>
        <p:nvSpPr>
          <p:cNvPr id="5" name="Fons Les edats a escala"/>
          <p:cNvSpPr/>
          <p:nvPr/>
        </p:nvSpPr>
        <p:spPr>
          <a:xfrm>
            <a:off x="1706728" y="1371600"/>
            <a:ext cx="8778240" cy="3161051"/>
          </a:xfrm>
          <a:prstGeom prst="roundRect">
            <a:avLst>
              <a:gd name="adj" fmla="val 3182"/>
            </a:avLst>
          </a:prstGeom>
          <a:solidFill>
            <a:srgbClr val="F6F8FB"/>
          </a:solidFill>
          <a:ln/>
        </p:spPr>
      </p:sp>
      <p:pic>
        <p:nvPicPr>
          <p:cNvPr id="6" name="Les edats a escala" descr="/home/claude/p857/build/img/edats.png">    </p:cNvPr>
          <p:cNvPicPr>
            <a:picLocks noChangeAspect="1"/>
          </p:cNvPicPr>
          <p:nvPr/>
        </p:nvPicPr>
        <p:blipFill>
          <a:blip r:embed="rId1"/>
          <a:stretch>
            <a:fillRect/>
          </a:stretch>
        </p:blipFill>
        <p:spPr>
          <a:xfrm>
            <a:off x="1706728" y="1371600"/>
            <a:ext cx="8778240" cy="3161051"/>
          </a:xfrm>
          <a:prstGeom prst="rect">
            <a:avLst/>
          </a:prstGeom>
        </p:spPr>
      </p:pic>
      <p:sp>
        <p:nvSpPr>
          <p:cNvPr id="7" name="Text 4"/>
          <p:cNvSpPr txBox="1"/>
          <p:nvPr/>
        </p:nvSpPr>
        <p:spPr>
          <a:xfrm>
            <a:off x="1706728" y="4587515"/>
            <a:ext cx="8778240" cy="274320"/>
          </a:xfrm>
          <a:prstGeom prst="rect">
            <a:avLst/>
          </a:prstGeom>
          <a:noFill/>
          <a:ln/>
        </p:spPr>
        <p:txBody>
          <a:bodyPr wrap="square" lIns="0" tIns="0" rIns="0" bIns="0" rtlCol="0" anchor="t"/>
          <a:lstStyle/>
          <a:p>
            <a:pPr indent="0" marL="0">
              <a:buNone/>
            </a:pPr>
            <a:r>
              <a:rPr lang="en-US" sz="1000" dirty="0">
                <a:solidFill>
                  <a:srgbClr val="5F6368"/>
                </a:solidFill>
                <a:latin typeface="Roboto" pitchFamily="34" charset="0"/>
                <a:ea typeface="Roboto" pitchFamily="34" charset="-122"/>
                <a:cs typeface="Roboto" pitchFamily="34" charset="-120"/>
              </a:rPr>
              <a:t>Les edats de la història, a escala. Gràfic: professordesocials.cat, CC BY-SA 4.0.</a:t>
            </a:r>
            <a:endParaRPr lang="en-US" sz="1000" dirty="0"/>
          </a:p>
        </p:txBody>
      </p:sp>
      <p:sp>
        <p:nvSpPr>
          <p:cNvPr id="8" name="A escala"/>
          <p:cNvSpPr/>
          <p:nvPr/>
        </p:nvSpPr>
        <p:spPr>
          <a:xfrm>
            <a:off x="548640" y="4983480"/>
            <a:ext cx="5410048" cy="1005840"/>
          </a:xfrm>
          <a:prstGeom prst="roundRect">
            <a:avLst>
              <a:gd name="adj" fmla="val 10000"/>
            </a:avLst>
          </a:prstGeom>
          <a:solidFill>
            <a:srgbClr val="E6F4EA"/>
          </a:solidFill>
          <a:ln/>
        </p:spPr>
      </p:sp>
      <p:sp>
        <p:nvSpPr>
          <p:cNvPr id="9" name="Text 6"/>
          <p:cNvSpPr txBox="1"/>
          <p:nvPr/>
        </p:nvSpPr>
        <p:spPr>
          <a:xfrm>
            <a:off x="868680" y="5138928"/>
            <a:ext cx="4769968" cy="320040"/>
          </a:xfrm>
          <a:prstGeom prst="rect">
            <a:avLst/>
          </a:prstGeom>
          <a:noFill/>
          <a:ln/>
        </p:spPr>
        <p:txBody>
          <a:bodyPr wrap="square" lIns="0" tIns="0" rIns="0" bIns="0" rtlCol="0" anchor="t"/>
          <a:lstStyle/>
          <a:p>
            <a:pPr indent="0" marL="0">
              <a:buNone/>
            </a:pPr>
            <a:r>
              <a:rPr lang="en-US" sz="1400" b="1" dirty="0">
                <a:solidFill>
                  <a:srgbClr val="188038"/>
                </a:solidFill>
                <a:latin typeface="Roboto" pitchFamily="34" charset="0"/>
                <a:ea typeface="Roboto" pitchFamily="34" charset="-122"/>
                <a:cs typeface="Roboto" pitchFamily="34" charset="-120"/>
              </a:rPr>
              <a:t>A escala</a:t>
            </a:r>
            <a:endParaRPr lang="en-US" sz="1400" dirty="0"/>
          </a:p>
        </p:txBody>
      </p:sp>
      <p:sp>
        <p:nvSpPr>
          <p:cNvPr id="10" name="Text 7"/>
          <p:cNvSpPr txBox="1"/>
          <p:nvPr/>
        </p:nvSpPr>
        <p:spPr>
          <a:xfrm>
            <a:off x="868680" y="5486400"/>
            <a:ext cx="4769968" cy="365760"/>
          </a:xfrm>
          <a:prstGeom prst="rect">
            <a:avLst/>
          </a:prstGeom>
          <a:noFill/>
          <a:ln/>
        </p:spPr>
        <p:txBody>
          <a:bodyPr wrap="square" lIns="0" tIns="0" rIns="0" bIns="0" rtlCol="0" anchor="t"/>
          <a:lstStyle/>
          <a:p>
            <a:pPr indent="0" marL="0">
              <a:buNone/>
            </a:pPr>
            <a:r>
              <a:rPr lang="en-US" sz="1550" dirty="0">
                <a:solidFill>
                  <a:srgbClr val="202124"/>
                </a:solidFill>
                <a:latin typeface="Roboto" pitchFamily="34" charset="0"/>
                <a:ea typeface="Roboto" pitchFamily="34" charset="-122"/>
                <a:cs typeface="Roboto" pitchFamily="34" charset="-120"/>
              </a:rPr>
              <a:t>L'Edat Antiga ocupa gairebé tres quartes parts de la línia, i la Contemporània, un trosset molt petit al final.</a:t>
            </a:r>
            <a:endParaRPr lang="en-US" sz="1550" dirty="0"/>
          </a:p>
        </p:txBody>
      </p:sp>
      <p:sp>
        <p:nvSpPr>
          <p:cNvPr id="11" name="I la prehistòria?"/>
          <p:cNvSpPr/>
          <p:nvPr/>
        </p:nvSpPr>
        <p:spPr>
          <a:xfrm>
            <a:off x="6233008" y="4983480"/>
            <a:ext cx="5410048" cy="1005840"/>
          </a:xfrm>
          <a:prstGeom prst="roundRect">
            <a:avLst>
              <a:gd name="adj" fmla="val 10000"/>
            </a:avLst>
          </a:prstGeom>
          <a:solidFill>
            <a:srgbClr val="F6F8FB"/>
          </a:solidFill>
          <a:ln/>
        </p:spPr>
      </p:sp>
      <p:sp>
        <p:nvSpPr>
          <p:cNvPr id="12" name="Text 9"/>
          <p:cNvSpPr txBox="1"/>
          <p:nvPr/>
        </p:nvSpPr>
        <p:spPr>
          <a:xfrm>
            <a:off x="6553048" y="5138928"/>
            <a:ext cx="4769968" cy="320040"/>
          </a:xfrm>
          <a:prstGeom prst="rect">
            <a:avLst/>
          </a:prstGeom>
          <a:noFill/>
          <a:ln/>
        </p:spPr>
        <p:txBody>
          <a:bodyPr wrap="square" lIns="0" tIns="0" rIns="0" bIns="0" rtlCol="0" anchor="t"/>
          <a:lstStyle/>
          <a:p>
            <a:pPr indent="0" marL="0">
              <a:buNone/>
            </a:pPr>
            <a:r>
              <a:rPr lang="en-US" sz="1400" b="1" dirty="0">
                <a:solidFill>
                  <a:srgbClr val="202124"/>
                </a:solidFill>
                <a:latin typeface="Roboto" pitchFamily="34" charset="0"/>
                <a:ea typeface="Roboto" pitchFamily="34" charset="-122"/>
                <a:cs typeface="Roboto" pitchFamily="34" charset="-120"/>
              </a:rPr>
              <a:t>I la prehistòria?</a:t>
            </a:r>
            <a:endParaRPr lang="en-US" sz="1400" dirty="0"/>
          </a:p>
        </p:txBody>
      </p:sp>
      <p:sp>
        <p:nvSpPr>
          <p:cNvPr id="13" name="Text 10"/>
          <p:cNvSpPr txBox="1"/>
          <p:nvPr/>
        </p:nvSpPr>
        <p:spPr>
          <a:xfrm>
            <a:off x="6553048" y="5486400"/>
            <a:ext cx="4769968" cy="365760"/>
          </a:xfrm>
          <a:prstGeom prst="rect">
            <a:avLst/>
          </a:prstGeom>
          <a:noFill/>
          <a:ln/>
        </p:spPr>
        <p:txBody>
          <a:bodyPr wrap="square" lIns="0" tIns="0" rIns="0" bIns="0" rtlCol="0" anchor="t"/>
          <a:lstStyle/>
          <a:p>
            <a:pPr indent="0" marL="0">
              <a:buNone/>
            </a:pPr>
            <a:r>
              <a:rPr lang="en-US" sz="1550" dirty="0">
                <a:solidFill>
                  <a:srgbClr val="5F6368"/>
                </a:solidFill>
                <a:latin typeface="Roboto" pitchFamily="34" charset="0"/>
                <a:ea typeface="Roboto" pitchFamily="34" charset="-122"/>
                <a:cs typeface="Roboto" pitchFamily="34" charset="-120"/>
              </a:rPr>
              <a:t>D'uns 2,5 milions d'anys, és tan llarga que no hi cabria.</a:t>
            </a:r>
            <a:endParaRPr lang="en-US" sz="15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8</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Una divisió discutible</a:t>
            </a:r>
            <a:endParaRPr lang="en-US" sz="2800" dirty="0"/>
          </a:p>
        </p:txBody>
      </p:sp>
      <p:sp>
        <p:nvSpPr>
          <p:cNvPr id="5" name="Targeta És eurocèntrica"/>
          <p:cNvSpPr/>
          <p:nvPr/>
        </p:nvSpPr>
        <p:spPr>
          <a:xfrm>
            <a:off x="548640" y="1371600"/>
            <a:ext cx="5410048" cy="2606040"/>
          </a:xfrm>
          <a:prstGeom prst="roundRect">
            <a:avLst>
              <a:gd name="adj" fmla="val 3860"/>
            </a:avLst>
          </a:prstGeom>
          <a:solidFill>
            <a:srgbClr val="FFFFFF"/>
          </a:solidFill>
          <a:ln w="12700">
            <a:solidFill>
              <a:srgbClr val="DADCE0"/>
            </a:solidFill>
            <a:prstDash val="solid"/>
          </a:ln>
        </p:spPr>
      </p:sp>
      <p:sp>
        <p:nvSpPr>
          <p:cNvPr id="6" name="Cercle icona"/>
          <p:cNvSpPr/>
          <p:nvPr/>
        </p:nvSpPr>
        <p:spPr>
          <a:xfrm>
            <a:off x="777240" y="1600200"/>
            <a:ext cx="685800" cy="685800"/>
          </a:xfrm>
          <a:prstGeom prst="ellipse">
            <a:avLst/>
          </a:prstGeom>
          <a:solidFill>
            <a:srgbClr val="E6F4EA"/>
          </a:solidFill>
          <a:ln/>
        </p:spPr>
      </p:sp>
      <p:pic>
        <p:nvPicPr>
          <p:cNvPr id="7" name="Icona TbWorld" descr="/home/claude/p857/build/img/ic/TbWorld-g.png">    </p:cNvPr>
          <p:cNvPicPr>
            <a:picLocks noChangeAspect="1"/>
          </p:cNvPicPr>
          <p:nvPr/>
        </p:nvPicPr>
        <p:blipFill>
          <a:blip r:embed="rId1"/>
          <a:stretch>
            <a:fillRect/>
          </a:stretch>
        </p:blipFill>
        <p:spPr>
          <a:xfrm>
            <a:off x="928116" y="1751076"/>
            <a:ext cx="384048" cy="384048"/>
          </a:xfrm>
          <a:prstGeom prst="rect">
            <a:avLst/>
          </a:prstGeom>
        </p:spPr>
      </p:pic>
      <p:sp>
        <p:nvSpPr>
          <p:cNvPr id="8" name="Text 5"/>
          <p:cNvSpPr txBox="1"/>
          <p:nvPr/>
        </p:nvSpPr>
        <p:spPr>
          <a:xfrm>
            <a:off x="1600200" y="1600200"/>
            <a:ext cx="4129888" cy="685800"/>
          </a:xfrm>
          <a:prstGeom prst="rect">
            <a:avLst/>
          </a:prstGeom>
          <a:noFill/>
          <a:ln/>
        </p:spPr>
        <p:txBody>
          <a:bodyPr wrap="square" lIns="0" tIns="0" rIns="0" bIns="0" rtlCol="0" anchor="ctr"/>
          <a:lstStyle/>
          <a:p>
            <a:pPr indent="0" marL="0">
              <a:buNone/>
            </a:pPr>
            <a:r>
              <a:rPr lang="en-US" sz="2100" b="1" dirty="0">
                <a:solidFill>
                  <a:srgbClr val="188038"/>
                </a:solidFill>
                <a:latin typeface="Roboto" pitchFamily="34" charset="0"/>
                <a:ea typeface="Roboto" pitchFamily="34" charset="-122"/>
                <a:cs typeface="Roboto" pitchFamily="34" charset="-120"/>
              </a:rPr>
              <a:t>És eurocèntrica</a:t>
            </a:r>
            <a:endParaRPr lang="en-US" sz="2100" dirty="0"/>
          </a:p>
        </p:txBody>
      </p:sp>
      <p:sp>
        <p:nvSpPr>
          <p:cNvPr id="9" name="Text 6"/>
          <p:cNvSpPr txBox="1"/>
          <p:nvPr/>
        </p:nvSpPr>
        <p:spPr>
          <a:xfrm>
            <a:off x="777240" y="2423160"/>
            <a:ext cx="4952848" cy="1417320"/>
          </a:xfrm>
          <a:prstGeom prst="rect">
            <a:avLst/>
          </a:prstGeom>
          <a:noFill/>
          <a:ln/>
        </p:spPr>
        <p:txBody>
          <a:bodyPr wrap="square" lIns="0" tIns="0" rIns="0" bIns="0" rtlCol="0" anchor="t"/>
          <a:lstStyle/>
          <a:p>
            <a:pPr indent="0" marL="0">
              <a:buNone/>
            </a:pPr>
            <a:r>
              <a:rPr lang="en-US" sz="1800" dirty="0">
                <a:solidFill>
                  <a:srgbClr val="202124"/>
                </a:solidFill>
                <a:latin typeface="Roboto" pitchFamily="34" charset="0"/>
                <a:ea typeface="Roboto" pitchFamily="34" charset="-122"/>
                <a:cs typeface="Roboto" pitchFamily="34" charset="-120"/>
              </a:rPr>
              <a:t>Només mira Europa. A la Xina, a l'Índia o a Amèrica, aquests talls europeus tenen poc sentit.</a:t>
            </a:r>
            <a:endParaRPr lang="en-US" sz="1800" dirty="0"/>
          </a:p>
        </p:txBody>
      </p:sp>
      <p:sp>
        <p:nvSpPr>
          <p:cNvPr id="10" name="Targeta Els canvis són graduals"/>
          <p:cNvSpPr/>
          <p:nvPr/>
        </p:nvSpPr>
        <p:spPr>
          <a:xfrm>
            <a:off x="6233008" y="1371600"/>
            <a:ext cx="5410048" cy="2606040"/>
          </a:xfrm>
          <a:prstGeom prst="roundRect">
            <a:avLst>
              <a:gd name="adj" fmla="val 3860"/>
            </a:avLst>
          </a:prstGeom>
          <a:solidFill>
            <a:srgbClr val="FFFFFF"/>
          </a:solidFill>
          <a:ln w="12700">
            <a:solidFill>
              <a:srgbClr val="DADCE0"/>
            </a:solidFill>
            <a:prstDash val="solid"/>
          </a:ln>
        </p:spPr>
      </p:sp>
      <p:sp>
        <p:nvSpPr>
          <p:cNvPr id="11" name="Cercle icona"/>
          <p:cNvSpPr/>
          <p:nvPr/>
        </p:nvSpPr>
        <p:spPr>
          <a:xfrm>
            <a:off x="6461608" y="1600200"/>
            <a:ext cx="685800" cy="685800"/>
          </a:xfrm>
          <a:prstGeom prst="ellipse">
            <a:avLst/>
          </a:prstGeom>
          <a:solidFill>
            <a:srgbClr val="E6F4EA"/>
          </a:solidFill>
          <a:ln/>
        </p:spPr>
      </p:sp>
      <p:pic>
        <p:nvPicPr>
          <p:cNvPr id="12" name="Icona TbStairs" descr="/home/claude/p857/build/img/ic/TbStairs-g.png">    </p:cNvPr>
          <p:cNvPicPr>
            <a:picLocks noChangeAspect="1"/>
          </p:cNvPicPr>
          <p:nvPr/>
        </p:nvPicPr>
        <p:blipFill>
          <a:blip r:embed="rId2"/>
          <a:stretch>
            <a:fillRect/>
          </a:stretch>
        </p:blipFill>
        <p:spPr>
          <a:xfrm>
            <a:off x="6612484" y="1751076"/>
            <a:ext cx="384048" cy="384048"/>
          </a:xfrm>
          <a:prstGeom prst="rect">
            <a:avLst/>
          </a:prstGeom>
        </p:spPr>
      </p:pic>
      <p:sp>
        <p:nvSpPr>
          <p:cNvPr id="13" name="Text 9"/>
          <p:cNvSpPr txBox="1"/>
          <p:nvPr/>
        </p:nvSpPr>
        <p:spPr>
          <a:xfrm>
            <a:off x="7284568" y="1600200"/>
            <a:ext cx="4129888" cy="685800"/>
          </a:xfrm>
          <a:prstGeom prst="rect">
            <a:avLst/>
          </a:prstGeom>
          <a:noFill/>
          <a:ln/>
        </p:spPr>
        <p:txBody>
          <a:bodyPr wrap="square" lIns="0" tIns="0" rIns="0" bIns="0" rtlCol="0" anchor="ctr"/>
          <a:lstStyle/>
          <a:p>
            <a:pPr indent="0" marL="0">
              <a:buNone/>
            </a:pPr>
            <a:r>
              <a:rPr lang="en-US" sz="2100" b="1" dirty="0">
                <a:solidFill>
                  <a:srgbClr val="188038"/>
                </a:solidFill>
                <a:latin typeface="Roboto" pitchFamily="34" charset="0"/>
                <a:ea typeface="Roboto" pitchFamily="34" charset="-122"/>
                <a:cs typeface="Roboto" pitchFamily="34" charset="-120"/>
              </a:rPr>
              <a:t>Els canvis són graduals</a:t>
            </a:r>
            <a:endParaRPr lang="en-US" sz="2100" dirty="0"/>
          </a:p>
        </p:txBody>
      </p:sp>
      <p:sp>
        <p:nvSpPr>
          <p:cNvPr id="14" name="Text 10"/>
          <p:cNvSpPr txBox="1"/>
          <p:nvPr/>
        </p:nvSpPr>
        <p:spPr>
          <a:xfrm>
            <a:off x="6461608" y="2423160"/>
            <a:ext cx="4952848" cy="1417320"/>
          </a:xfrm>
          <a:prstGeom prst="rect">
            <a:avLst/>
          </a:prstGeom>
          <a:noFill/>
          <a:ln/>
        </p:spPr>
        <p:txBody>
          <a:bodyPr wrap="square" lIns="0" tIns="0" rIns="0" bIns="0" rtlCol="0" anchor="t"/>
          <a:lstStyle/>
          <a:p>
            <a:pPr indent="0" marL="0">
              <a:buNone/>
            </a:pPr>
            <a:r>
              <a:rPr lang="en-US" sz="1800" dirty="0">
                <a:solidFill>
                  <a:srgbClr val="202124"/>
                </a:solidFill>
                <a:latin typeface="Roboto" pitchFamily="34" charset="0"/>
                <a:ea typeface="Roboto" pitchFamily="34" charset="-122"/>
                <a:cs typeface="Roboto" pitchFamily="34" charset="-120"/>
              </a:rPr>
              <a:t>No són sobtats. Ningú no es va despertar el 1492 pensant «avui comença l'Edat Moderna».</a:t>
            </a:r>
            <a:endParaRPr lang="en-US" sz="1800" dirty="0"/>
          </a:p>
        </p:txBody>
      </p:sp>
      <p:sp>
        <p:nvSpPr>
          <p:cNvPr id="15" name="Paraula clau · Eurocèntric"/>
          <p:cNvSpPr/>
          <p:nvPr/>
        </p:nvSpPr>
        <p:spPr>
          <a:xfrm>
            <a:off x="548640" y="4206240"/>
            <a:ext cx="5410048" cy="1783080"/>
          </a:xfrm>
          <a:prstGeom prst="roundRect">
            <a:avLst>
              <a:gd name="adj" fmla="val 5641"/>
            </a:avLst>
          </a:prstGeom>
          <a:solidFill>
            <a:srgbClr val="E6F4EA"/>
          </a:solidFill>
          <a:ln/>
        </p:spPr>
      </p:sp>
      <p:sp>
        <p:nvSpPr>
          <p:cNvPr id="16" name="Text 12"/>
          <p:cNvSpPr txBox="1"/>
          <p:nvPr/>
        </p:nvSpPr>
        <p:spPr>
          <a:xfrm>
            <a:off x="868680" y="4361688"/>
            <a:ext cx="4769968" cy="320040"/>
          </a:xfrm>
          <a:prstGeom prst="rect">
            <a:avLst/>
          </a:prstGeom>
          <a:noFill/>
          <a:ln/>
        </p:spPr>
        <p:txBody>
          <a:bodyPr wrap="square" lIns="0" tIns="0" rIns="0" bIns="0" rtlCol="0" anchor="t"/>
          <a:lstStyle/>
          <a:p>
            <a:pPr indent="0" marL="0">
              <a:buNone/>
            </a:pPr>
            <a:r>
              <a:rPr lang="en-US" sz="1400" b="1" dirty="0">
                <a:solidFill>
                  <a:srgbClr val="188038"/>
                </a:solidFill>
                <a:latin typeface="Roboto" pitchFamily="34" charset="0"/>
                <a:ea typeface="Roboto" pitchFamily="34" charset="-122"/>
                <a:cs typeface="Roboto" pitchFamily="34" charset="-120"/>
              </a:rPr>
              <a:t>Paraula clau · Eurocèntric</a:t>
            </a:r>
            <a:endParaRPr lang="en-US" sz="1400" dirty="0"/>
          </a:p>
        </p:txBody>
      </p:sp>
      <p:sp>
        <p:nvSpPr>
          <p:cNvPr id="17" name="Text 13"/>
          <p:cNvSpPr txBox="1"/>
          <p:nvPr/>
        </p:nvSpPr>
        <p:spPr>
          <a:xfrm>
            <a:off x="868680" y="4709160"/>
            <a:ext cx="4769968" cy="1143000"/>
          </a:xfrm>
          <a:prstGeom prst="rect">
            <a:avLst/>
          </a:prstGeom>
          <a:noFill/>
          <a:ln/>
        </p:spPr>
        <p:txBody>
          <a:bodyPr wrap="square" lIns="0" tIns="0" rIns="0" bIns="0" rtlCol="0" anchor="t"/>
          <a:lstStyle/>
          <a:p>
            <a:pPr indent="0" marL="0">
              <a:buNone/>
            </a:pPr>
            <a:r>
              <a:rPr lang="en-US" sz="1700" dirty="0">
                <a:solidFill>
                  <a:srgbClr val="202124"/>
                </a:solidFill>
                <a:latin typeface="Roboto" pitchFamily="34" charset="0"/>
                <a:ea typeface="Roboto" pitchFamily="34" charset="-122"/>
                <a:cs typeface="Roboto" pitchFamily="34" charset="-120"/>
              </a:rPr>
              <a:t>Que mira la història o el món només des del punt de vista d'Europa, com si fos el centre de tot.</a:t>
            </a:r>
            <a:endParaRPr lang="en-US" sz="1700" dirty="0"/>
          </a:p>
        </p:txBody>
      </p:sp>
      <p:sp>
        <p:nvSpPr>
          <p:cNvPr id="18" name="Tot i això"/>
          <p:cNvSpPr/>
          <p:nvPr/>
        </p:nvSpPr>
        <p:spPr>
          <a:xfrm>
            <a:off x="6233008" y="4206240"/>
            <a:ext cx="5410048" cy="1783080"/>
          </a:xfrm>
          <a:prstGeom prst="roundRect">
            <a:avLst>
              <a:gd name="adj" fmla="val 5641"/>
            </a:avLst>
          </a:prstGeom>
          <a:solidFill>
            <a:srgbClr val="F6F8FB"/>
          </a:solidFill>
          <a:ln/>
        </p:spPr>
      </p:sp>
      <p:sp>
        <p:nvSpPr>
          <p:cNvPr id="19" name="Text 15"/>
          <p:cNvSpPr txBox="1"/>
          <p:nvPr/>
        </p:nvSpPr>
        <p:spPr>
          <a:xfrm>
            <a:off x="6553048" y="4361688"/>
            <a:ext cx="4769968" cy="320040"/>
          </a:xfrm>
          <a:prstGeom prst="rect">
            <a:avLst/>
          </a:prstGeom>
          <a:noFill/>
          <a:ln/>
        </p:spPr>
        <p:txBody>
          <a:bodyPr wrap="square" lIns="0" tIns="0" rIns="0" bIns="0" rtlCol="0" anchor="t"/>
          <a:lstStyle/>
          <a:p>
            <a:pPr indent="0" marL="0">
              <a:buNone/>
            </a:pPr>
            <a:r>
              <a:rPr lang="en-US" sz="1400" b="1" dirty="0">
                <a:solidFill>
                  <a:srgbClr val="202124"/>
                </a:solidFill>
                <a:latin typeface="Roboto" pitchFamily="34" charset="0"/>
                <a:ea typeface="Roboto" pitchFamily="34" charset="-122"/>
                <a:cs typeface="Roboto" pitchFamily="34" charset="-120"/>
              </a:rPr>
              <a:t>Tot i això</a:t>
            </a:r>
            <a:endParaRPr lang="en-US" sz="1400" dirty="0"/>
          </a:p>
        </p:txBody>
      </p:sp>
      <p:sp>
        <p:nvSpPr>
          <p:cNvPr id="20" name="Text 16"/>
          <p:cNvSpPr txBox="1"/>
          <p:nvPr/>
        </p:nvSpPr>
        <p:spPr>
          <a:xfrm>
            <a:off x="6553048" y="4709160"/>
            <a:ext cx="4769968" cy="1143000"/>
          </a:xfrm>
          <a:prstGeom prst="rect">
            <a:avLst/>
          </a:prstGeom>
          <a:noFill/>
          <a:ln/>
        </p:spPr>
        <p:txBody>
          <a:bodyPr wrap="square" lIns="0" tIns="0" rIns="0" bIns="0" rtlCol="0" anchor="t"/>
          <a:lstStyle/>
          <a:p>
            <a:pPr indent="0" marL="0">
              <a:buNone/>
            </a:pPr>
            <a:r>
              <a:rPr lang="en-US" sz="1700" dirty="0">
                <a:solidFill>
                  <a:srgbClr val="5F6368"/>
                </a:solidFill>
                <a:latin typeface="Roboto" pitchFamily="34" charset="0"/>
                <a:ea typeface="Roboto" pitchFamily="34" charset="-122"/>
                <a:cs typeface="Roboto" pitchFamily="34" charset="-120"/>
              </a:rPr>
              <a:t>És la divisió més usada als llibres de text.</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8</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Saps que…? Cada lloc té el seu ritme</a:t>
            </a:r>
            <a:endParaRPr lang="en-US" sz="2800" dirty="0"/>
          </a:p>
        </p:txBody>
      </p:sp>
      <p:sp>
        <p:nvSpPr>
          <p:cNvPr id="5" name="Targeta Alguns historiadors"/>
          <p:cNvSpPr/>
          <p:nvPr/>
        </p:nvSpPr>
        <p:spPr>
          <a:xfrm>
            <a:off x="548640" y="1371600"/>
            <a:ext cx="3515258" cy="3520440"/>
          </a:xfrm>
          <a:prstGeom prst="roundRect">
            <a:avLst>
              <a:gd name="adj" fmla="val 2861"/>
            </a:avLst>
          </a:prstGeom>
          <a:solidFill>
            <a:srgbClr val="FFFFFF"/>
          </a:solidFill>
          <a:ln w="12700">
            <a:solidFill>
              <a:srgbClr val="DADCE0"/>
            </a:solidFill>
            <a:prstDash val="solid"/>
          </a:ln>
        </p:spPr>
      </p:sp>
      <p:sp>
        <p:nvSpPr>
          <p:cNvPr id="6" name="Cercle icona"/>
          <p:cNvSpPr/>
          <p:nvPr/>
        </p:nvSpPr>
        <p:spPr>
          <a:xfrm>
            <a:off x="777240" y="1600200"/>
            <a:ext cx="548640" cy="548640"/>
          </a:xfrm>
          <a:prstGeom prst="ellipse">
            <a:avLst/>
          </a:prstGeom>
          <a:solidFill>
            <a:srgbClr val="E6F4EA"/>
          </a:solidFill>
          <a:ln/>
        </p:spPr>
      </p:sp>
      <p:pic>
        <p:nvPicPr>
          <p:cNvPr id="7" name="Icona TbBuildingCastle" descr="/home/claude/p857/build/img/ic/TbBuildingCastle-g.png">    </p:cNvPr>
          <p:cNvPicPr>
            <a:picLocks noChangeAspect="1"/>
          </p:cNvPicPr>
          <p:nvPr/>
        </p:nvPicPr>
        <p:blipFill>
          <a:blip r:embed="rId1"/>
          <a:stretch>
            <a:fillRect/>
          </a:stretch>
        </p:blipFill>
        <p:spPr>
          <a:xfrm>
            <a:off x="897941" y="1720901"/>
            <a:ext cx="307238" cy="307238"/>
          </a:xfrm>
          <a:prstGeom prst="rect">
            <a:avLst/>
          </a:prstGeom>
        </p:spPr>
      </p:pic>
      <p:sp>
        <p:nvSpPr>
          <p:cNvPr id="8" name="Text 5"/>
          <p:cNvSpPr txBox="1"/>
          <p:nvPr/>
        </p:nvSpPr>
        <p:spPr>
          <a:xfrm>
            <a:off x="1463040" y="1600200"/>
            <a:ext cx="2417978" cy="548640"/>
          </a:xfrm>
          <a:prstGeom prst="rect">
            <a:avLst/>
          </a:prstGeom>
          <a:noFill/>
          <a:ln/>
        </p:spPr>
        <p:txBody>
          <a:bodyPr wrap="square" lIns="0" tIns="0" rIns="0" bIns="0" rtlCol="0" anchor="ctr"/>
          <a:lstStyle/>
          <a:p>
            <a:pPr indent="0" marL="0">
              <a:buNone/>
            </a:pPr>
            <a:r>
              <a:rPr lang="en-US" sz="1600" b="1" dirty="0">
                <a:solidFill>
                  <a:srgbClr val="5F6368"/>
                </a:solidFill>
                <a:latin typeface="Roboto" pitchFamily="34" charset="0"/>
                <a:ea typeface="Roboto" pitchFamily="34" charset="-122"/>
                <a:cs typeface="Roboto" pitchFamily="34" charset="-120"/>
              </a:rPr>
              <a:t>Alguns historiadors</a:t>
            </a:r>
            <a:endParaRPr lang="en-US" sz="1600" dirty="0"/>
          </a:p>
        </p:txBody>
      </p:sp>
      <p:sp>
        <p:nvSpPr>
          <p:cNvPr id="9" name="Text 6"/>
          <p:cNvSpPr txBox="1"/>
          <p:nvPr/>
        </p:nvSpPr>
        <p:spPr>
          <a:xfrm>
            <a:off x="777240" y="2286000"/>
            <a:ext cx="3058058" cy="960120"/>
          </a:xfrm>
          <a:prstGeom prst="rect">
            <a:avLst/>
          </a:prstGeom>
          <a:noFill/>
          <a:ln/>
        </p:spPr>
        <p:txBody>
          <a:bodyPr wrap="square" lIns="0" tIns="0" rIns="0" bIns="0" rtlCol="0" anchor="ctr"/>
          <a:lstStyle/>
          <a:p>
            <a:pPr indent="0" marL="0">
              <a:buNone/>
            </a:pPr>
            <a:r>
              <a:rPr lang="en-US" sz="3200" b="1" dirty="0">
                <a:solidFill>
                  <a:srgbClr val="188038"/>
                </a:solidFill>
                <a:latin typeface="Roboto" pitchFamily="34" charset="0"/>
                <a:ea typeface="Roboto" pitchFamily="34" charset="-122"/>
                <a:cs typeface="Roboto" pitchFamily="34" charset="-120"/>
              </a:rPr>
              <a:t>1453</a:t>
            </a:r>
            <a:endParaRPr lang="en-US" sz="3200" dirty="0"/>
          </a:p>
        </p:txBody>
      </p:sp>
      <p:sp>
        <p:nvSpPr>
          <p:cNvPr id="10" name="Text 7"/>
          <p:cNvSpPr txBox="1"/>
          <p:nvPr/>
        </p:nvSpPr>
        <p:spPr>
          <a:xfrm>
            <a:off x="777240" y="3291840"/>
            <a:ext cx="3058058" cy="1463040"/>
          </a:xfrm>
          <a:prstGeom prst="rect">
            <a:avLst/>
          </a:prstGeom>
          <a:noFill/>
          <a:ln/>
        </p:spPr>
        <p:txBody>
          <a:bodyPr wrap="square" lIns="0" tIns="0" rIns="0" bIns="0" rtlCol="0" anchor="t"/>
          <a:lstStyle/>
          <a:p>
            <a:pPr indent="0" marL="0">
              <a:buNone/>
            </a:pPr>
            <a:r>
              <a:rPr lang="en-US" sz="1750" dirty="0">
                <a:solidFill>
                  <a:srgbClr val="202124"/>
                </a:solidFill>
                <a:latin typeface="Roboto" pitchFamily="34" charset="0"/>
                <a:ea typeface="Roboto" pitchFamily="34" charset="-122"/>
                <a:cs typeface="Roboto" pitchFamily="34" charset="-120"/>
              </a:rPr>
              <a:t>fan acabar l'Edat Mitjana el 1453, quan els otomans van conquerir Constantinoble.</a:t>
            </a:r>
            <a:endParaRPr lang="en-US" sz="1750" dirty="0"/>
          </a:p>
        </p:txBody>
      </p:sp>
      <p:sp>
        <p:nvSpPr>
          <p:cNvPr id="11" name="Targeta A Catalunya"/>
          <p:cNvSpPr/>
          <p:nvPr/>
        </p:nvSpPr>
        <p:spPr>
          <a:xfrm>
            <a:off x="4338218" y="1371600"/>
            <a:ext cx="3515258" cy="3520440"/>
          </a:xfrm>
          <a:prstGeom prst="roundRect">
            <a:avLst>
              <a:gd name="adj" fmla="val 2861"/>
            </a:avLst>
          </a:prstGeom>
          <a:solidFill>
            <a:srgbClr val="188038"/>
          </a:solidFill>
          <a:ln/>
        </p:spPr>
      </p:sp>
      <p:sp>
        <p:nvSpPr>
          <p:cNvPr id="12" name="Cercle icona"/>
          <p:cNvSpPr/>
          <p:nvPr/>
        </p:nvSpPr>
        <p:spPr>
          <a:xfrm>
            <a:off x="4566818" y="1600200"/>
            <a:ext cx="548640" cy="548640"/>
          </a:xfrm>
          <a:prstGeom prst="ellipse">
            <a:avLst/>
          </a:prstGeom>
          <a:solidFill>
            <a:srgbClr val="FFFFFF"/>
          </a:solidFill>
          <a:ln/>
        </p:spPr>
      </p:sp>
      <p:pic>
        <p:nvPicPr>
          <p:cNvPr id="13" name="Icona TbWriting" descr="/home/claude/p857/build/img/ic/TbWriting-g.png">    </p:cNvPr>
          <p:cNvPicPr>
            <a:picLocks noChangeAspect="1"/>
          </p:cNvPicPr>
          <p:nvPr/>
        </p:nvPicPr>
        <p:blipFill>
          <a:blip r:embed="rId2"/>
          <a:stretch>
            <a:fillRect/>
          </a:stretch>
        </p:blipFill>
        <p:spPr>
          <a:xfrm>
            <a:off x="4687519" y="1720901"/>
            <a:ext cx="307238" cy="307238"/>
          </a:xfrm>
          <a:prstGeom prst="rect">
            <a:avLst/>
          </a:prstGeom>
        </p:spPr>
      </p:pic>
      <p:sp>
        <p:nvSpPr>
          <p:cNvPr id="14" name="Text 10"/>
          <p:cNvSpPr txBox="1"/>
          <p:nvPr/>
        </p:nvSpPr>
        <p:spPr>
          <a:xfrm>
            <a:off x="5252618" y="1600200"/>
            <a:ext cx="2417978" cy="548640"/>
          </a:xfrm>
          <a:prstGeom prst="rect">
            <a:avLst/>
          </a:prstGeom>
          <a:noFill/>
          <a:ln/>
        </p:spPr>
        <p:txBody>
          <a:bodyPr wrap="square" lIns="0" tIns="0" rIns="0" bIns="0" rtlCol="0" anchor="ctr"/>
          <a:lstStyle/>
          <a:p>
            <a:pPr indent="0" marL="0">
              <a:buNone/>
            </a:pPr>
            <a:r>
              <a:rPr lang="en-US" sz="1600" b="1" dirty="0">
                <a:solidFill>
                  <a:srgbClr val="FFFFFF"/>
                </a:solidFill>
                <a:latin typeface="Roboto" pitchFamily="34" charset="0"/>
                <a:ea typeface="Roboto" pitchFamily="34" charset="-122"/>
                <a:cs typeface="Roboto" pitchFamily="34" charset="-120"/>
              </a:rPr>
              <a:t>A Catalunya</a:t>
            </a:r>
            <a:endParaRPr lang="en-US" sz="1600" dirty="0"/>
          </a:p>
        </p:txBody>
      </p:sp>
      <p:sp>
        <p:nvSpPr>
          <p:cNvPr id="15" name="Text 11"/>
          <p:cNvSpPr txBox="1"/>
          <p:nvPr/>
        </p:nvSpPr>
        <p:spPr>
          <a:xfrm>
            <a:off x="4566818" y="2286000"/>
            <a:ext cx="3058058" cy="960120"/>
          </a:xfrm>
          <a:prstGeom prst="rect">
            <a:avLst/>
          </a:prstGeom>
          <a:noFill/>
          <a:ln/>
        </p:spPr>
        <p:txBody>
          <a:bodyPr wrap="square" lIns="0" tIns="0" rIns="0" bIns="0" rtlCol="0" anchor="ctr"/>
          <a:lstStyle/>
          <a:p>
            <a:pPr indent="0" marL="0">
              <a:buNone/>
            </a:pPr>
            <a:r>
              <a:rPr lang="en-US" sz="3200" b="1" dirty="0">
                <a:solidFill>
                  <a:srgbClr val="FFFFFF"/>
                </a:solidFill>
                <a:latin typeface="Roboto" pitchFamily="34" charset="0"/>
                <a:ea typeface="Roboto" pitchFamily="34" charset="-122"/>
                <a:cs typeface="Roboto" pitchFamily="34" charset="-120"/>
              </a:rPr>
              <a:t>Segle V aC</a:t>
            </a:r>
            <a:endParaRPr lang="en-US" sz="3200" dirty="0"/>
          </a:p>
        </p:txBody>
      </p:sp>
      <p:sp>
        <p:nvSpPr>
          <p:cNvPr id="16" name="Text 12"/>
          <p:cNvSpPr txBox="1"/>
          <p:nvPr/>
        </p:nvSpPr>
        <p:spPr>
          <a:xfrm>
            <a:off x="4566818" y="3291840"/>
            <a:ext cx="3058058" cy="1463040"/>
          </a:xfrm>
          <a:prstGeom prst="rect">
            <a:avLst/>
          </a:prstGeom>
          <a:noFill/>
          <a:ln/>
        </p:spPr>
        <p:txBody>
          <a:bodyPr wrap="square" lIns="0" tIns="0" rIns="0" bIns="0" rtlCol="0" anchor="t"/>
          <a:lstStyle/>
          <a:p>
            <a:pPr indent="0" marL="0">
              <a:buNone/>
            </a:pPr>
            <a:r>
              <a:rPr lang="en-US" sz="1750" dirty="0">
                <a:solidFill>
                  <a:srgbClr val="FFFFFF"/>
                </a:solidFill>
                <a:latin typeface="Roboto" pitchFamily="34" charset="0"/>
                <a:ea typeface="Roboto" pitchFamily="34" charset="-122"/>
                <a:cs typeface="Roboto" pitchFamily="34" charset="-120"/>
              </a:rPr>
              <a:t>La prehistòria no s'acaba fins que els ibers comencen a escriure. A Mesopotàmia, cap al 3500 aC.</a:t>
            </a:r>
            <a:endParaRPr lang="en-US" sz="1750" dirty="0"/>
          </a:p>
        </p:txBody>
      </p:sp>
      <p:sp>
        <p:nvSpPr>
          <p:cNvPr id="17" name="Targeta A Amèrica, el 476"/>
          <p:cNvSpPr/>
          <p:nvPr/>
        </p:nvSpPr>
        <p:spPr>
          <a:xfrm>
            <a:off x="8127797" y="1371600"/>
            <a:ext cx="3515258" cy="3520440"/>
          </a:xfrm>
          <a:prstGeom prst="roundRect">
            <a:avLst>
              <a:gd name="adj" fmla="val 2861"/>
            </a:avLst>
          </a:prstGeom>
          <a:solidFill>
            <a:srgbClr val="FFFFFF"/>
          </a:solidFill>
          <a:ln w="12700">
            <a:solidFill>
              <a:srgbClr val="DADCE0"/>
            </a:solidFill>
            <a:prstDash val="solid"/>
          </a:ln>
        </p:spPr>
      </p:sp>
      <p:sp>
        <p:nvSpPr>
          <p:cNvPr id="18" name="Cercle icona"/>
          <p:cNvSpPr/>
          <p:nvPr/>
        </p:nvSpPr>
        <p:spPr>
          <a:xfrm>
            <a:off x="8356397" y="1600200"/>
            <a:ext cx="548640" cy="548640"/>
          </a:xfrm>
          <a:prstGeom prst="ellipse">
            <a:avLst/>
          </a:prstGeom>
          <a:solidFill>
            <a:srgbClr val="E6F4EA"/>
          </a:solidFill>
          <a:ln/>
        </p:spPr>
      </p:sp>
      <p:pic>
        <p:nvPicPr>
          <p:cNvPr id="19" name="Icona TbWorld" descr="/home/claude/p857/build/img/ic/TbWorld-g.png">    </p:cNvPr>
          <p:cNvPicPr>
            <a:picLocks noChangeAspect="1"/>
          </p:cNvPicPr>
          <p:nvPr/>
        </p:nvPicPr>
        <p:blipFill>
          <a:blip r:embed="rId3"/>
          <a:stretch>
            <a:fillRect/>
          </a:stretch>
        </p:blipFill>
        <p:spPr>
          <a:xfrm>
            <a:off x="8477098" y="1720901"/>
            <a:ext cx="307238" cy="307238"/>
          </a:xfrm>
          <a:prstGeom prst="rect">
            <a:avLst/>
          </a:prstGeom>
        </p:spPr>
      </p:pic>
      <p:sp>
        <p:nvSpPr>
          <p:cNvPr id="20" name="Text 15"/>
          <p:cNvSpPr txBox="1"/>
          <p:nvPr/>
        </p:nvSpPr>
        <p:spPr>
          <a:xfrm>
            <a:off x="9042197" y="1600200"/>
            <a:ext cx="2417978" cy="548640"/>
          </a:xfrm>
          <a:prstGeom prst="rect">
            <a:avLst/>
          </a:prstGeom>
          <a:noFill/>
          <a:ln/>
        </p:spPr>
        <p:txBody>
          <a:bodyPr wrap="square" lIns="0" tIns="0" rIns="0" bIns="0" rtlCol="0" anchor="ctr"/>
          <a:lstStyle/>
          <a:p>
            <a:pPr indent="0" marL="0">
              <a:buNone/>
            </a:pPr>
            <a:r>
              <a:rPr lang="en-US" sz="1600" b="1" dirty="0">
                <a:solidFill>
                  <a:srgbClr val="5F6368"/>
                </a:solidFill>
                <a:latin typeface="Roboto" pitchFamily="34" charset="0"/>
                <a:ea typeface="Roboto" pitchFamily="34" charset="-122"/>
                <a:cs typeface="Roboto" pitchFamily="34" charset="-120"/>
              </a:rPr>
              <a:t>A Amèrica, el 476</a:t>
            </a:r>
            <a:endParaRPr lang="en-US" sz="1600" dirty="0"/>
          </a:p>
        </p:txBody>
      </p:sp>
      <p:sp>
        <p:nvSpPr>
          <p:cNvPr id="21" name="Text 16"/>
          <p:cNvSpPr txBox="1"/>
          <p:nvPr/>
        </p:nvSpPr>
        <p:spPr>
          <a:xfrm>
            <a:off x="8356397" y="2286000"/>
            <a:ext cx="3058058" cy="960120"/>
          </a:xfrm>
          <a:prstGeom prst="rect">
            <a:avLst/>
          </a:prstGeom>
          <a:noFill/>
          <a:ln/>
        </p:spPr>
        <p:txBody>
          <a:bodyPr wrap="square" lIns="0" tIns="0" rIns="0" bIns="0" rtlCol="0" anchor="ctr"/>
          <a:lstStyle/>
          <a:p>
            <a:pPr indent="0" marL="0">
              <a:buNone/>
            </a:pPr>
            <a:r>
              <a:rPr lang="en-US" sz="3200" b="1" dirty="0">
                <a:solidFill>
                  <a:srgbClr val="188038"/>
                </a:solidFill>
                <a:latin typeface="Roboto" pitchFamily="34" charset="0"/>
                <a:ea typeface="Roboto" pitchFamily="34" charset="-122"/>
                <a:cs typeface="Roboto" pitchFamily="34" charset="-120"/>
              </a:rPr>
              <a:t>Ningú</a:t>
            </a:r>
            <a:endParaRPr lang="en-US" sz="3200" dirty="0"/>
          </a:p>
        </p:txBody>
      </p:sp>
      <p:sp>
        <p:nvSpPr>
          <p:cNvPr id="22" name="Text 17"/>
          <p:cNvSpPr txBox="1"/>
          <p:nvPr/>
        </p:nvSpPr>
        <p:spPr>
          <a:xfrm>
            <a:off x="8356397" y="3291840"/>
            <a:ext cx="3058058" cy="1463040"/>
          </a:xfrm>
          <a:prstGeom prst="rect">
            <a:avLst/>
          </a:prstGeom>
          <a:noFill/>
          <a:ln/>
        </p:spPr>
        <p:txBody>
          <a:bodyPr wrap="square" lIns="0" tIns="0" rIns="0" bIns="0" rtlCol="0" anchor="t"/>
          <a:lstStyle/>
          <a:p>
            <a:pPr indent="0" marL="0">
              <a:buNone/>
            </a:pPr>
            <a:r>
              <a:rPr lang="en-US" sz="1750" dirty="0">
                <a:solidFill>
                  <a:srgbClr val="202124"/>
                </a:solidFill>
                <a:latin typeface="Roboto" pitchFamily="34" charset="0"/>
                <a:ea typeface="Roboto" pitchFamily="34" charset="-122"/>
                <a:cs typeface="Roboto" pitchFamily="34" charset="-120"/>
              </a:rPr>
              <a:t>no sabia res de Roma.</a:t>
            </a:r>
            <a:endParaRPr lang="en-US" sz="1750" dirty="0"/>
          </a:p>
        </p:txBody>
      </p:sp>
      <p:sp>
        <p:nvSpPr>
          <p:cNvPr id="23" name="Recorda"/>
          <p:cNvSpPr/>
          <p:nvPr/>
        </p:nvSpPr>
        <p:spPr>
          <a:xfrm>
            <a:off x="548640" y="5120640"/>
            <a:ext cx="11094415" cy="868680"/>
          </a:xfrm>
          <a:prstGeom prst="roundRect">
            <a:avLst>
              <a:gd name="adj" fmla="val 11579"/>
            </a:avLst>
          </a:prstGeom>
          <a:solidFill>
            <a:srgbClr val="F6F8FB"/>
          </a:solidFill>
          <a:ln/>
        </p:spPr>
      </p:sp>
      <p:sp>
        <p:nvSpPr>
          <p:cNvPr id="24" name="Text 19"/>
          <p:cNvSpPr txBox="1"/>
          <p:nvPr/>
        </p:nvSpPr>
        <p:spPr>
          <a:xfrm>
            <a:off x="868680" y="5276088"/>
            <a:ext cx="10454335" cy="320040"/>
          </a:xfrm>
          <a:prstGeom prst="rect">
            <a:avLst/>
          </a:prstGeom>
          <a:noFill/>
          <a:ln/>
        </p:spPr>
        <p:txBody>
          <a:bodyPr wrap="square" lIns="0" tIns="0" rIns="0" bIns="0" rtlCol="0" anchor="t"/>
          <a:lstStyle/>
          <a:p>
            <a:pPr indent="0" marL="0">
              <a:buNone/>
            </a:pPr>
            <a:r>
              <a:rPr lang="en-US" sz="1400" b="1" dirty="0">
                <a:solidFill>
                  <a:srgbClr val="202124"/>
                </a:solidFill>
                <a:latin typeface="Roboto" pitchFamily="34" charset="0"/>
                <a:ea typeface="Roboto" pitchFamily="34" charset="-122"/>
                <a:cs typeface="Roboto" pitchFamily="34" charset="-120"/>
              </a:rPr>
              <a:t>Recorda</a:t>
            </a:r>
            <a:endParaRPr lang="en-US" sz="1400" dirty="0"/>
          </a:p>
        </p:txBody>
      </p:sp>
      <p:sp>
        <p:nvSpPr>
          <p:cNvPr id="25" name="Text 20"/>
          <p:cNvSpPr txBox="1"/>
          <p:nvPr/>
        </p:nvSpPr>
        <p:spPr>
          <a:xfrm>
            <a:off x="868680" y="5623560"/>
            <a:ext cx="10454335" cy="228600"/>
          </a:xfrm>
          <a:prstGeom prst="rect">
            <a:avLst/>
          </a:prstGeom>
          <a:noFill/>
          <a:ln/>
        </p:spPr>
        <p:txBody>
          <a:bodyPr wrap="square" lIns="0" tIns="0" rIns="0" bIns="0" rtlCol="0" anchor="t"/>
          <a:lstStyle/>
          <a:p>
            <a:pPr indent="0" marL="0">
              <a:buNone/>
            </a:pPr>
            <a:r>
              <a:rPr lang="en-US" sz="1500" dirty="0">
                <a:solidFill>
                  <a:srgbClr val="5F6368"/>
                </a:solidFill>
                <a:latin typeface="Roboto" pitchFamily="34" charset="0"/>
                <a:ea typeface="Roboto" pitchFamily="34" charset="-122"/>
                <a:cs typeface="Roboto" pitchFamily="34" charset="-120"/>
              </a:rPr>
              <a:t>Els historiadors no sempre trien les mateixes dates, i cada lloc va començar a escriure en un moment diferent.</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8</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Comprova-ho</a:t>
            </a:r>
            <a:endParaRPr lang="en-US" sz="2800" dirty="0"/>
          </a:p>
        </p:txBody>
      </p:sp>
      <p:sp>
        <p:nvSpPr>
          <p:cNvPr id="5" name="Text 3"/>
          <p:cNvSpPr txBox="1"/>
          <p:nvPr/>
        </p:nvSpPr>
        <p:spPr>
          <a:xfrm>
            <a:off x="548640" y="1371600"/>
            <a:ext cx="3657600" cy="320040"/>
          </a:xfrm>
          <a:prstGeom prst="rect">
            <a:avLst/>
          </a:prstGeom>
          <a:noFill/>
          <a:ln/>
        </p:spPr>
        <p:txBody>
          <a:bodyPr wrap="square" lIns="0" tIns="0" rIns="0" bIns="0" rtlCol="0" anchor="t"/>
          <a:lstStyle/>
          <a:p>
            <a:pPr indent="0" marL="0">
              <a:buNone/>
            </a:pPr>
            <a:r>
              <a:rPr lang="en-US" sz="1400" b="1" dirty="0">
                <a:solidFill>
                  <a:srgbClr val="5F6368"/>
                </a:solidFill>
                <a:latin typeface="Roboto" pitchFamily="34" charset="0"/>
                <a:ea typeface="Roboto" pitchFamily="34" charset="-122"/>
                <a:cs typeface="Roboto" pitchFamily="34" charset="-120"/>
              </a:rPr>
              <a:t>Paraules clau</a:t>
            </a:r>
            <a:endParaRPr lang="en-US" sz="1400" dirty="0"/>
          </a:p>
        </p:txBody>
      </p:sp>
      <p:sp>
        <p:nvSpPr>
          <p:cNvPr id="6" name="Etiqueta Edat"/>
          <p:cNvSpPr/>
          <p:nvPr/>
        </p:nvSpPr>
        <p:spPr>
          <a:xfrm>
            <a:off x="548640" y="1755648"/>
            <a:ext cx="713232" cy="384048"/>
          </a:xfrm>
          <a:prstGeom prst="roundRect">
            <a:avLst>
              <a:gd name="adj" fmla="val 50000"/>
            </a:avLst>
          </a:prstGeom>
          <a:solidFill>
            <a:srgbClr val="E6F4EA"/>
          </a:solidFill>
          <a:ln/>
        </p:spPr>
      </p:sp>
      <p:sp>
        <p:nvSpPr>
          <p:cNvPr id="7" name="Text 5"/>
          <p:cNvSpPr txBox="1"/>
          <p:nvPr/>
        </p:nvSpPr>
        <p:spPr>
          <a:xfrm>
            <a:off x="548640" y="1755648"/>
            <a:ext cx="713232"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Edat</a:t>
            </a:r>
            <a:endParaRPr lang="en-US" sz="1500" dirty="0"/>
          </a:p>
        </p:txBody>
      </p:sp>
      <p:sp>
        <p:nvSpPr>
          <p:cNvPr id="8" name="Etiqueta Prehistòria"/>
          <p:cNvSpPr/>
          <p:nvPr/>
        </p:nvSpPr>
        <p:spPr>
          <a:xfrm>
            <a:off x="1371600" y="1755648"/>
            <a:ext cx="1417320" cy="384048"/>
          </a:xfrm>
          <a:prstGeom prst="roundRect">
            <a:avLst>
              <a:gd name="adj" fmla="val 50000"/>
            </a:avLst>
          </a:prstGeom>
          <a:solidFill>
            <a:srgbClr val="E6F4EA"/>
          </a:solidFill>
          <a:ln/>
        </p:spPr>
      </p:sp>
      <p:sp>
        <p:nvSpPr>
          <p:cNvPr id="9" name="Text 7"/>
          <p:cNvSpPr txBox="1"/>
          <p:nvPr/>
        </p:nvSpPr>
        <p:spPr>
          <a:xfrm>
            <a:off x="1371600" y="1755648"/>
            <a:ext cx="1417320"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Prehistòria</a:t>
            </a:r>
            <a:endParaRPr lang="en-US" sz="1500" dirty="0"/>
          </a:p>
        </p:txBody>
      </p:sp>
      <p:sp>
        <p:nvSpPr>
          <p:cNvPr id="10" name="Etiqueta Edat Contemporània"/>
          <p:cNvSpPr/>
          <p:nvPr/>
        </p:nvSpPr>
        <p:spPr>
          <a:xfrm>
            <a:off x="2898648" y="1755648"/>
            <a:ext cx="2121408" cy="384048"/>
          </a:xfrm>
          <a:prstGeom prst="roundRect">
            <a:avLst>
              <a:gd name="adj" fmla="val 50000"/>
            </a:avLst>
          </a:prstGeom>
          <a:solidFill>
            <a:srgbClr val="E6F4EA"/>
          </a:solidFill>
          <a:ln/>
        </p:spPr>
      </p:sp>
      <p:sp>
        <p:nvSpPr>
          <p:cNvPr id="11" name="Text 9"/>
          <p:cNvSpPr txBox="1"/>
          <p:nvPr/>
        </p:nvSpPr>
        <p:spPr>
          <a:xfrm>
            <a:off x="2898648" y="1755648"/>
            <a:ext cx="2121408"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Edat Contemporània</a:t>
            </a:r>
            <a:endParaRPr lang="en-US" sz="1500" dirty="0"/>
          </a:p>
        </p:txBody>
      </p:sp>
      <p:sp>
        <p:nvSpPr>
          <p:cNvPr id="12" name="Etiqueta Eurocèntric"/>
          <p:cNvSpPr/>
          <p:nvPr/>
        </p:nvSpPr>
        <p:spPr>
          <a:xfrm>
            <a:off x="5129784" y="1755648"/>
            <a:ext cx="1417320" cy="384048"/>
          </a:xfrm>
          <a:prstGeom prst="roundRect">
            <a:avLst>
              <a:gd name="adj" fmla="val 50000"/>
            </a:avLst>
          </a:prstGeom>
          <a:solidFill>
            <a:srgbClr val="E6F4EA"/>
          </a:solidFill>
          <a:ln/>
        </p:spPr>
      </p:sp>
      <p:sp>
        <p:nvSpPr>
          <p:cNvPr id="13" name="Text 11"/>
          <p:cNvSpPr txBox="1"/>
          <p:nvPr/>
        </p:nvSpPr>
        <p:spPr>
          <a:xfrm>
            <a:off x="5129784" y="1755648"/>
            <a:ext cx="1417320"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Eurocèntric</a:t>
            </a:r>
            <a:endParaRPr lang="en-US" sz="1500" dirty="0"/>
          </a:p>
        </p:txBody>
      </p:sp>
      <p:sp>
        <p:nvSpPr>
          <p:cNvPr id="14" name="Pregunta 1"/>
          <p:cNvSpPr/>
          <p:nvPr/>
        </p:nvSpPr>
        <p:spPr>
          <a:xfrm>
            <a:off x="548640" y="2514600"/>
            <a:ext cx="11094415" cy="960120"/>
          </a:xfrm>
          <a:prstGeom prst="roundRect">
            <a:avLst>
              <a:gd name="adj" fmla="val 10476"/>
            </a:avLst>
          </a:prstGeom>
          <a:solidFill>
            <a:srgbClr val="FFFFFF"/>
          </a:solidFill>
          <a:ln w="12700">
            <a:solidFill>
              <a:srgbClr val="DADCE0"/>
            </a:solidFill>
            <a:prstDash val="solid"/>
          </a:ln>
        </p:spPr>
      </p:sp>
      <p:sp>
        <p:nvSpPr>
          <p:cNvPr id="15" name="Número 1"/>
          <p:cNvSpPr/>
          <p:nvPr/>
        </p:nvSpPr>
        <p:spPr>
          <a:xfrm>
            <a:off x="822960" y="2766060"/>
            <a:ext cx="457200" cy="457200"/>
          </a:xfrm>
          <a:prstGeom prst="ellipse">
            <a:avLst/>
          </a:prstGeom>
          <a:solidFill>
            <a:srgbClr val="188038"/>
          </a:solidFill>
          <a:ln/>
        </p:spPr>
      </p:sp>
      <p:sp>
        <p:nvSpPr>
          <p:cNvPr id="16" name="Text 14"/>
          <p:cNvSpPr txBox="1"/>
          <p:nvPr/>
        </p:nvSpPr>
        <p:spPr>
          <a:xfrm>
            <a:off x="822960" y="276606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Roboto" pitchFamily="34" charset="0"/>
                <a:ea typeface="Roboto" pitchFamily="34" charset="-122"/>
                <a:cs typeface="Roboto" pitchFamily="34" charset="-120"/>
              </a:rPr>
              <a:t>1</a:t>
            </a:r>
            <a:endParaRPr lang="en-US" sz="1700" dirty="0"/>
          </a:p>
        </p:txBody>
      </p:sp>
      <p:sp>
        <p:nvSpPr>
          <p:cNvPr id="17" name="Text 15"/>
          <p:cNvSpPr txBox="1"/>
          <p:nvPr/>
        </p:nvSpPr>
        <p:spPr>
          <a:xfrm>
            <a:off x="1508760" y="2514600"/>
            <a:ext cx="9905695" cy="960120"/>
          </a:xfrm>
          <a:prstGeom prst="rect">
            <a:avLst/>
          </a:prstGeom>
          <a:noFill/>
          <a:ln/>
        </p:spPr>
        <p:txBody>
          <a:bodyPr wrap="square" lIns="0" tIns="0" rIns="0" bIns="0" rtlCol="0" anchor="ctr"/>
          <a:lstStyle/>
          <a:p>
            <a:pPr indent="0" marL="0">
              <a:buNone/>
            </a:pPr>
            <a:r>
              <a:rPr lang="en-US" sz="2000" dirty="0">
                <a:solidFill>
                  <a:srgbClr val="202124"/>
                </a:solidFill>
                <a:latin typeface="Roboto" pitchFamily="34" charset="0"/>
                <a:ea typeface="Roboto" pitchFamily="34" charset="-122"/>
                <a:cs typeface="Roboto" pitchFamily="34" charset="-120"/>
              </a:rPr>
              <a:t>Quin fet marca el pas de la prehistòria a l'Edat Antiga?</a:t>
            </a:r>
            <a:endParaRPr lang="en-US" sz="2000" dirty="0"/>
          </a:p>
        </p:txBody>
      </p:sp>
      <p:sp>
        <p:nvSpPr>
          <p:cNvPr id="18" name="Pregunta 2"/>
          <p:cNvSpPr/>
          <p:nvPr/>
        </p:nvSpPr>
        <p:spPr>
          <a:xfrm>
            <a:off x="548640" y="3657600"/>
            <a:ext cx="11094415" cy="960120"/>
          </a:xfrm>
          <a:prstGeom prst="roundRect">
            <a:avLst>
              <a:gd name="adj" fmla="val 10476"/>
            </a:avLst>
          </a:prstGeom>
          <a:solidFill>
            <a:srgbClr val="FFFFFF"/>
          </a:solidFill>
          <a:ln w="12700">
            <a:solidFill>
              <a:srgbClr val="DADCE0"/>
            </a:solidFill>
            <a:prstDash val="solid"/>
          </a:ln>
        </p:spPr>
      </p:sp>
      <p:sp>
        <p:nvSpPr>
          <p:cNvPr id="19" name="Número 2"/>
          <p:cNvSpPr/>
          <p:nvPr/>
        </p:nvSpPr>
        <p:spPr>
          <a:xfrm>
            <a:off x="822960" y="3909060"/>
            <a:ext cx="457200" cy="457200"/>
          </a:xfrm>
          <a:prstGeom prst="ellipse">
            <a:avLst/>
          </a:prstGeom>
          <a:solidFill>
            <a:srgbClr val="188038"/>
          </a:solidFill>
          <a:ln/>
        </p:spPr>
      </p:sp>
      <p:sp>
        <p:nvSpPr>
          <p:cNvPr id="20" name="Text 18"/>
          <p:cNvSpPr txBox="1"/>
          <p:nvPr/>
        </p:nvSpPr>
        <p:spPr>
          <a:xfrm>
            <a:off x="822960" y="390906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Roboto" pitchFamily="34" charset="0"/>
                <a:ea typeface="Roboto" pitchFamily="34" charset="-122"/>
                <a:cs typeface="Roboto" pitchFamily="34" charset="-120"/>
              </a:rPr>
              <a:t>2</a:t>
            </a:r>
            <a:endParaRPr lang="en-US" sz="1700" dirty="0"/>
          </a:p>
        </p:txBody>
      </p:sp>
      <p:sp>
        <p:nvSpPr>
          <p:cNvPr id="21" name="Text 19"/>
          <p:cNvSpPr txBox="1"/>
          <p:nvPr/>
        </p:nvSpPr>
        <p:spPr>
          <a:xfrm>
            <a:off x="1508760" y="3657600"/>
            <a:ext cx="9905695" cy="960120"/>
          </a:xfrm>
          <a:prstGeom prst="rect">
            <a:avLst/>
          </a:prstGeom>
          <a:noFill/>
          <a:ln/>
        </p:spPr>
        <p:txBody>
          <a:bodyPr wrap="square" lIns="0" tIns="0" rIns="0" bIns="0" rtlCol="0" anchor="ctr"/>
          <a:lstStyle/>
          <a:p>
            <a:pPr indent="0" marL="0">
              <a:buNone/>
            </a:pPr>
            <a:r>
              <a:rPr lang="en-US" sz="2000" dirty="0">
                <a:solidFill>
                  <a:srgbClr val="202124"/>
                </a:solidFill>
                <a:latin typeface="Roboto" pitchFamily="34" charset="0"/>
                <a:ea typeface="Roboto" pitchFamily="34" charset="-122"/>
                <a:cs typeface="Roboto" pitchFamily="34" charset="-120"/>
              </a:rPr>
              <a:t>En quina edat vivim?</a:t>
            </a:r>
            <a:endParaRPr lang="en-US" sz="2000" dirty="0"/>
          </a:p>
        </p:txBody>
      </p:sp>
      <p:sp>
        <p:nvSpPr>
          <p:cNvPr id="22" name="Pregunta 3"/>
          <p:cNvSpPr/>
          <p:nvPr/>
        </p:nvSpPr>
        <p:spPr>
          <a:xfrm>
            <a:off x="548640" y="4800600"/>
            <a:ext cx="11094415" cy="960120"/>
          </a:xfrm>
          <a:prstGeom prst="roundRect">
            <a:avLst>
              <a:gd name="adj" fmla="val 10476"/>
            </a:avLst>
          </a:prstGeom>
          <a:solidFill>
            <a:srgbClr val="FFFFFF"/>
          </a:solidFill>
          <a:ln w="12700">
            <a:solidFill>
              <a:srgbClr val="DADCE0"/>
            </a:solidFill>
            <a:prstDash val="solid"/>
          </a:ln>
        </p:spPr>
      </p:sp>
      <p:sp>
        <p:nvSpPr>
          <p:cNvPr id="23" name="Número 3"/>
          <p:cNvSpPr/>
          <p:nvPr/>
        </p:nvSpPr>
        <p:spPr>
          <a:xfrm>
            <a:off x="822960" y="5052060"/>
            <a:ext cx="457200" cy="457200"/>
          </a:xfrm>
          <a:prstGeom prst="ellipse">
            <a:avLst/>
          </a:prstGeom>
          <a:solidFill>
            <a:srgbClr val="188038"/>
          </a:solidFill>
          <a:ln/>
        </p:spPr>
      </p:sp>
      <p:sp>
        <p:nvSpPr>
          <p:cNvPr id="24" name="Text 22"/>
          <p:cNvSpPr txBox="1"/>
          <p:nvPr/>
        </p:nvSpPr>
        <p:spPr>
          <a:xfrm>
            <a:off x="822960" y="505206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Roboto" pitchFamily="34" charset="0"/>
                <a:ea typeface="Roboto" pitchFamily="34" charset="-122"/>
                <a:cs typeface="Roboto" pitchFamily="34" charset="-120"/>
              </a:rPr>
              <a:t>3</a:t>
            </a:r>
            <a:endParaRPr lang="en-US" sz="1700" dirty="0"/>
          </a:p>
        </p:txBody>
      </p:sp>
      <p:sp>
        <p:nvSpPr>
          <p:cNvPr id="25" name="Text 23"/>
          <p:cNvSpPr txBox="1"/>
          <p:nvPr/>
        </p:nvSpPr>
        <p:spPr>
          <a:xfrm>
            <a:off x="1508760" y="4800600"/>
            <a:ext cx="9905695" cy="960120"/>
          </a:xfrm>
          <a:prstGeom prst="rect">
            <a:avLst/>
          </a:prstGeom>
          <a:noFill/>
          <a:ln/>
        </p:spPr>
        <p:txBody>
          <a:bodyPr wrap="square" lIns="0" tIns="0" rIns="0" bIns="0" rtlCol="0" anchor="ctr"/>
          <a:lstStyle/>
          <a:p>
            <a:pPr indent="0" marL="0">
              <a:buNone/>
            </a:pPr>
            <a:r>
              <a:rPr lang="en-US" sz="2000" dirty="0">
                <a:solidFill>
                  <a:srgbClr val="202124"/>
                </a:solidFill>
                <a:latin typeface="Roboto" pitchFamily="34" charset="0"/>
                <a:ea typeface="Roboto" pitchFamily="34" charset="-122"/>
                <a:cs typeface="Roboto" pitchFamily="34" charset="-120"/>
              </a:rPr>
              <a:t>Per què diem que aquesta divisió és eurocèntrica?</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Capçalera"/>
          <p:cNvSpPr/>
          <p:nvPr/>
        </p:nvSpPr>
        <p:spPr>
          <a:xfrm>
            <a:off x="548640" y="548640"/>
            <a:ext cx="11094415" cy="2514600"/>
          </a:xfrm>
          <a:prstGeom prst="roundRect">
            <a:avLst>
              <a:gd name="adj" fmla="val 4000"/>
            </a:avLst>
          </a:prstGeom>
          <a:solidFill>
            <a:srgbClr val="188038"/>
          </a:solidFill>
          <a:ln/>
        </p:spPr>
      </p:sp>
      <p:pic>
        <p:nvPicPr>
          <p:cNvPr id="3" name="Il·lustració d'una rosa dels vents i un rellotge de sorra" descr="/home/claude/p857/build/hero-crop.png">    </p:cNvPr>
          <p:cNvPicPr>
            <a:picLocks noChangeAspect="1"/>
          </p:cNvPicPr>
          <p:nvPr/>
        </p:nvPicPr>
        <p:blipFill>
          <a:blip r:embed="rId1"/>
          <a:stretch>
            <a:fillRect/>
          </a:stretch>
        </p:blipFill>
        <p:spPr>
          <a:xfrm>
            <a:off x="8442655" y="1310745"/>
            <a:ext cx="3017520" cy="1734207"/>
          </a:xfrm>
          <a:prstGeom prst="rect">
            <a:avLst/>
          </a:prstGeom>
        </p:spPr>
      </p:pic>
      <p:sp>
        <p:nvSpPr>
          <p:cNvPr id="4" name="Etiqueta Apartat 9"/>
          <p:cNvSpPr/>
          <p:nvPr/>
        </p:nvSpPr>
        <p:spPr>
          <a:xfrm>
            <a:off x="960120" y="896112"/>
            <a:ext cx="1035101" cy="310896"/>
          </a:xfrm>
          <a:prstGeom prst="roundRect">
            <a:avLst>
              <a:gd name="adj" fmla="val 50000"/>
            </a:avLst>
          </a:prstGeom>
          <a:solidFill>
            <a:srgbClr val="FFFFFF">
              <a:alpha val="18000"/>
            </a:srgbClr>
          </a:solidFill>
          <a:ln/>
        </p:spPr>
      </p:sp>
      <p:sp>
        <p:nvSpPr>
          <p:cNvPr id="5" name="Text 2"/>
          <p:cNvSpPr txBox="1"/>
          <p:nvPr/>
        </p:nvSpPr>
        <p:spPr>
          <a:xfrm>
            <a:off x="960120" y="896112"/>
            <a:ext cx="1035101" cy="310896"/>
          </a:xfrm>
          <a:prstGeom prst="rect">
            <a:avLst/>
          </a:prstGeom>
          <a:noFill/>
          <a:ln/>
        </p:spPr>
        <p:txBody>
          <a:bodyPr wrap="square" lIns="0" tIns="0" rIns="0" bIns="0" rtlCol="0" anchor="ctr"/>
          <a:lstStyle/>
          <a:p>
            <a:pPr algn="ctr" indent="0" marL="0">
              <a:buNone/>
            </a:pPr>
            <a:r>
              <a:rPr lang="en-US" sz="1250" dirty="0">
                <a:solidFill>
                  <a:srgbClr val="FFFFFF"/>
                </a:solidFill>
                <a:latin typeface="Roboto" pitchFamily="34" charset="0"/>
                <a:ea typeface="Roboto" pitchFamily="34" charset="-122"/>
                <a:cs typeface="Roboto" pitchFamily="34" charset="-120"/>
              </a:rPr>
              <a:t>Apartat 9</a:t>
            </a:r>
            <a:endParaRPr lang="en-US" sz="1250" dirty="0"/>
          </a:p>
        </p:txBody>
      </p:sp>
      <p:sp>
        <p:nvSpPr>
          <p:cNvPr id="6" name="Text 3"/>
          <p:cNvSpPr txBox="1"/>
          <p:nvPr/>
        </p:nvSpPr>
        <p:spPr>
          <a:xfrm>
            <a:off x="960120" y="1325880"/>
            <a:ext cx="7589520" cy="1463040"/>
          </a:xfrm>
          <a:prstGeom prst="rect">
            <a:avLst/>
          </a:prstGeom>
          <a:noFill/>
          <a:ln/>
        </p:spPr>
        <p:txBody>
          <a:bodyPr wrap="square" lIns="0" tIns="0" rIns="0" bIns="0" rtlCol="0" anchor="t"/>
          <a:lstStyle/>
          <a:p>
            <a:pPr indent="0" marL="0">
              <a:lnSpc>
                <a:spcPct val="95000"/>
              </a:lnSpc>
              <a:buNone/>
            </a:pPr>
            <a:r>
              <a:rPr lang="en-US" sz="3400" b="1" dirty="0">
                <a:solidFill>
                  <a:srgbClr val="FFFFFF"/>
                </a:solidFill>
                <a:latin typeface="Roboto" pitchFamily="34" charset="0"/>
                <a:ea typeface="Roboto" pitchFamily="34" charset="-122"/>
                <a:cs typeface="Roboto" pitchFamily="34" charset="-120"/>
              </a:rPr>
              <a:t>Les línies del temps i els frisos cronològics</a:t>
            </a:r>
            <a:endParaRPr lang="en-US" sz="3400" dirty="0"/>
          </a:p>
        </p:txBody>
      </p:sp>
      <p:sp>
        <p:nvSpPr>
          <p:cNvPr id="7" name="Pregunta guia"/>
          <p:cNvSpPr/>
          <p:nvPr/>
        </p:nvSpPr>
        <p:spPr>
          <a:xfrm>
            <a:off x="548640" y="3337560"/>
            <a:ext cx="4297680" cy="2697480"/>
          </a:xfrm>
          <a:prstGeom prst="roundRect">
            <a:avLst>
              <a:gd name="adj" fmla="val 3729"/>
            </a:avLst>
          </a:prstGeom>
          <a:solidFill>
            <a:srgbClr val="F6F8FB"/>
          </a:solidFill>
          <a:ln/>
        </p:spPr>
      </p:sp>
      <p:sp>
        <p:nvSpPr>
          <p:cNvPr id="8" name="Text 5"/>
          <p:cNvSpPr txBox="1"/>
          <p:nvPr/>
        </p:nvSpPr>
        <p:spPr>
          <a:xfrm>
            <a:off x="914400" y="3538728"/>
            <a:ext cx="3657600" cy="320040"/>
          </a:xfrm>
          <a:prstGeom prst="rect">
            <a:avLst/>
          </a:prstGeom>
          <a:noFill/>
          <a:ln/>
        </p:spPr>
        <p:txBody>
          <a:bodyPr wrap="square" lIns="0" tIns="0" rIns="0" bIns="0" rtlCol="0" anchor="t"/>
          <a:lstStyle/>
          <a:p>
            <a:pPr indent="0" marL="0">
              <a:buNone/>
            </a:pPr>
            <a:r>
              <a:rPr lang="en-US" sz="1300" b="1" dirty="0">
                <a:solidFill>
                  <a:srgbClr val="188038"/>
                </a:solidFill>
                <a:latin typeface="Roboto" pitchFamily="34" charset="0"/>
                <a:ea typeface="Roboto" pitchFamily="34" charset="-122"/>
                <a:cs typeface="Roboto" pitchFamily="34" charset="-120"/>
              </a:rPr>
              <a:t>Pregunta guia</a:t>
            </a:r>
            <a:endParaRPr lang="en-US" sz="1300" dirty="0"/>
          </a:p>
        </p:txBody>
      </p:sp>
      <p:sp>
        <p:nvSpPr>
          <p:cNvPr id="9" name="Text 6"/>
          <p:cNvSpPr txBox="1"/>
          <p:nvPr/>
        </p:nvSpPr>
        <p:spPr>
          <a:xfrm>
            <a:off x="914400" y="3886200"/>
            <a:ext cx="3611880" cy="2011680"/>
          </a:xfrm>
          <a:prstGeom prst="rect">
            <a:avLst/>
          </a:prstGeom>
          <a:noFill/>
          <a:ln/>
        </p:spPr>
        <p:txBody>
          <a:bodyPr wrap="square" lIns="0" tIns="0" rIns="0" bIns="0" rtlCol="0" anchor="t"/>
          <a:lstStyle/>
          <a:p>
            <a:pPr indent="0" marL="0">
              <a:buNone/>
            </a:pPr>
            <a:r>
              <a:rPr lang="en-US" sz="1900" dirty="0">
                <a:solidFill>
                  <a:srgbClr val="5F6368"/>
                </a:solidFill>
                <a:latin typeface="Roboto" pitchFamily="34" charset="0"/>
                <a:ea typeface="Roboto" pitchFamily="34" charset="-122"/>
                <a:cs typeface="Roboto" pitchFamily="34" charset="-120"/>
              </a:rPr>
              <a:t>Què passava a Egipte mentre a Mesopotàmia escrivien les primeres lleis?</a:t>
            </a:r>
            <a:endParaRPr lang="en-US" sz="1900" dirty="0"/>
          </a:p>
        </p:txBody>
      </p:sp>
      <p:sp>
        <p:nvSpPr>
          <p:cNvPr id="10" name="Fons Les línies del temps i els frisos cronològics"/>
          <p:cNvSpPr/>
          <p:nvPr/>
        </p:nvSpPr>
        <p:spPr>
          <a:xfrm>
            <a:off x="5120640" y="3337560"/>
            <a:ext cx="6522415" cy="2240280"/>
          </a:xfrm>
          <a:prstGeom prst="roundRect">
            <a:avLst>
              <a:gd name="adj" fmla="val 4490"/>
            </a:avLst>
          </a:prstGeom>
          <a:solidFill>
            <a:srgbClr val="F6F8FB"/>
          </a:solidFill>
          <a:ln/>
        </p:spPr>
      </p:sp>
      <p:pic>
        <p:nvPicPr>
          <p:cNvPr id="11" name="Les línies del temps i els frisos cronològics" descr="/home/claude/p857/build/img/paral.png">    </p:cNvPr>
          <p:cNvPicPr>
            <a:picLocks noChangeAspect="1"/>
          </p:cNvPicPr>
          <p:nvPr/>
        </p:nvPicPr>
        <p:blipFill>
          <a:blip r:embed="rId2"/>
          <a:stretch>
            <a:fillRect/>
          </a:stretch>
        </p:blipFill>
        <p:spPr>
          <a:xfrm>
            <a:off x="5383233" y="3337560"/>
            <a:ext cx="5997230" cy="2240280"/>
          </a:xfrm>
          <a:prstGeom prst="rect">
            <a:avLst/>
          </a:prstGeom>
        </p:spPr>
      </p:pic>
      <p:sp>
        <p:nvSpPr>
          <p:cNvPr id="12" name="Text 8"/>
          <p:cNvSpPr txBox="1"/>
          <p:nvPr/>
        </p:nvSpPr>
        <p:spPr>
          <a:xfrm>
            <a:off x="5120640" y="5669280"/>
            <a:ext cx="6522415" cy="548640"/>
          </a:xfrm>
          <a:prstGeom prst="rect">
            <a:avLst/>
          </a:prstGeom>
          <a:noFill/>
          <a:ln/>
        </p:spPr>
        <p:txBody>
          <a:bodyPr wrap="square" lIns="0" tIns="0" rIns="0" bIns="0" rtlCol="0" anchor="t"/>
          <a:lstStyle/>
          <a:p>
            <a:pPr indent="0" marL="0">
              <a:buNone/>
            </a:pPr>
            <a:r>
              <a:rPr lang="en-US" sz="1000" dirty="0">
                <a:solidFill>
                  <a:srgbClr val="5F6368"/>
                </a:solidFill>
                <a:latin typeface="Roboto" pitchFamily="34" charset="0"/>
                <a:ea typeface="Roboto" pitchFamily="34" charset="-122"/>
                <a:cs typeface="Roboto" pitchFamily="34" charset="-120"/>
              </a:rPr>
              <a:t>Dues línies del temps paral·leles. Totes les dates són aproximades. Gràfic: professordesocials.cat, CC BY-SA 4.0.</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9</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Per a què serveixen?</a:t>
            </a:r>
            <a:endParaRPr lang="en-US" sz="2800" dirty="0"/>
          </a:p>
        </p:txBody>
      </p:sp>
      <p:sp>
        <p:nvSpPr>
          <p:cNvPr id="5" name="Paraula clau · Línia del temps"/>
          <p:cNvSpPr/>
          <p:nvPr/>
        </p:nvSpPr>
        <p:spPr>
          <a:xfrm>
            <a:off x="548640" y="1371600"/>
            <a:ext cx="11094415" cy="1188720"/>
          </a:xfrm>
          <a:prstGeom prst="roundRect">
            <a:avLst>
              <a:gd name="adj" fmla="val 8462"/>
            </a:avLst>
          </a:prstGeom>
          <a:solidFill>
            <a:srgbClr val="E6F4EA"/>
          </a:solidFill>
          <a:ln/>
        </p:spPr>
      </p:sp>
      <p:sp>
        <p:nvSpPr>
          <p:cNvPr id="6" name="Text 4"/>
          <p:cNvSpPr txBox="1"/>
          <p:nvPr/>
        </p:nvSpPr>
        <p:spPr>
          <a:xfrm>
            <a:off x="868680" y="1527048"/>
            <a:ext cx="10454335" cy="320040"/>
          </a:xfrm>
          <a:prstGeom prst="rect">
            <a:avLst/>
          </a:prstGeom>
          <a:noFill/>
          <a:ln/>
        </p:spPr>
        <p:txBody>
          <a:bodyPr wrap="square" lIns="0" tIns="0" rIns="0" bIns="0" rtlCol="0" anchor="t"/>
          <a:lstStyle/>
          <a:p>
            <a:pPr indent="0" marL="0">
              <a:buNone/>
            </a:pPr>
            <a:r>
              <a:rPr lang="en-US" sz="1400" b="1" dirty="0">
                <a:solidFill>
                  <a:srgbClr val="188038"/>
                </a:solidFill>
                <a:latin typeface="Roboto" pitchFamily="34" charset="0"/>
                <a:ea typeface="Roboto" pitchFamily="34" charset="-122"/>
                <a:cs typeface="Roboto" pitchFamily="34" charset="-120"/>
              </a:rPr>
              <a:t>Paraula clau · Línia del temps</a:t>
            </a:r>
            <a:endParaRPr lang="en-US" sz="1400" dirty="0"/>
          </a:p>
        </p:txBody>
      </p:sp>
      <p:sp>
        <p:nvSpPr>
          <p:cNvPr id="7" name="Text 5"/>
          <p:cNvSpPr txBox="1"/>
          <p:nvPr/>
        </p:nvSpPr>
        <p:spPr>
          <a:xfrm>
            <a:off x="868680" y="1874520"/>
            <a:ext cx="10454335" cy="548640"/>
          </a:xfrm>
          <a:prstGeom prst="rect">
            <a:avLst/>
          </a:prstGeom>
          <a:noFill/>
          <a:ln/>
        </p:spPr>
        <p:txBody>
          <a:bodyPr wrap="square" lIns="0" tIns="0" rIns="0" bIns="0" rtlCol="0" anchor="t"/>
          <a:lstStyle/>
          <a:p>
            <a:pPr indent="0" marL="0">
              <a:buNone/>
            </a:pPr>
            <a:r>
              <a:rPr lang="en-US" sz="1700" dirty="0">
                <a:solidFill>
                  <a:srgbClr val="202124"/>
                </a:solidFill>
                <a:latin typeface="Roboto" pitchFamily="34" charset="0"/>
                <a:ea typeface="Roboto" pitchFamily="34" charset="-122"/>
                <a:cs typeface="Roboto" pitchFamily="34" charset="-120"/>
              </a:rPr>
              <a:t>Representació visual del pas del temps en què els fets s'ordenen sobre una línia a escala. També se'n diu fris cronològic.</a:t>
            </a:r>
            <a:endParaRPr lang="en-US" sz="1700" dirty="0"/>
          </a:p>
        </p:txBody>
      </p:sp>
      <p:sp>
        <p:nvSpPr>
          <p:cNvPr id="8" name="Targeta Ordenar els fets"/>
          <p:cNvSpPr/>
          <p:nvPr/>
        </p:nvSpPr>
        <p:spPr>
          <a:xfrm>
            <a:off x="548640" y="2788920"/>
            <a:ext cx="3515258" cy="3200400"/>
          </a:xfrm>
          <a:prstGeom prst="roundRect">
            <a:avLst>
              <a:gd name="adj" fmla="val 3143"/>
            </a:avLst>
          </a:prstGeom>
          <a:solidFill>
            <a:srgbClr val="FFFFFF"/>
          </a:solidFill>
          <a:ln w="12700">
            <a:solidFill>
              <a:srgbClr val="DADCE0"/>
            </a:solidFill>
            <a:prstDash val="solid"/>
          </a:ln>
        </p:spPr>
      </p:sp>
      <p:sp>
        <p:nvSpPr>
          <p:cNvPr id="9" name="Cercle icona"/>
          <p:cNvSpPr/>
          <p:nvPr/>
        </p:nvSpPr>
        <p:spPr>
          <a:xfrm>
            <a:off x="777240" y="3017520"/>
            <a:ext cx="640080" cy="640080"/>
          </a:xfrm>
          <a:prstGeom prst="ellipse">
            <a:avLst/>
          </a:prstGeom>
          <a:solidFill>
            <a:srgbClr val="E6F4EA"/>
          </a:solidFill>
          <a:ln/>
        </p:spPr>
      </p:sp>
      <p:pic>
        <p:nvPicPr>
          <p:cNvPr id="10" name="Icona TbListNumbers" descr="/home/claude/p857/build/img/ic/TbListNumbers-g.png">    </p:cNvPr>
          <p:cNvPicPr>
            <a:picLocks noChangeAspect="1"/>
          </p:cNvPicPr>
          <p:nvPr/>
        </p:nvPicPr>
        <p:blipFill>
          <a:blip r:embed="rId1"/>
          <a:stretch>
            <a:fillRect/>
          </a:stretch>
        </p:blipFill>
        <p:spPr>
          <a:xfrm>
            <a:off x="918058" y="3158338"/>
            <a:ext cx="358445" cy="358445"/>
          </a:xfrm>
          <a:prstGeom prst="rect">
            <a:avLst/>
          </a:prstGeom>
        </p:spPr>
      </p:pic>
      <p:sp>
        <p:nvSpPr>
          <p:cNvPr id="11" name="Text 8"/>
          <p:cNvSpPr txBox="1"/>
          <p:nvPr/>
        </p:nvSpPr>
        <p:spPr>
          <a:xfrm>
            <a:off x="1554480" y="3017520"/>
            <a:ext cx="2280818" cy="640080"/>
          </a:xfrm>
          <a:prstGeom prst="rect">
            <a:avLst/>
          </a:prstGeom>
          <a:noFill/>
          <a:ln/>
        </p:spPr>
        <p:txBody>
          <a:bodyPr wrap="square" lIns="0" tIns="0" rIns="0" bIns="0" rtlCol="0" anchor="ctr"/>
          <a:lstStyle/>
          <a:p>
            <a:pPr indent="0" marL="0">
              <a:buNone/>
            </a:pPr>
            <a:r>
              <a:rPr lang="en-US" sz="2000" b="1" dirty="0">
                <a:solidFill>
                  <a:srgbClr val="188038"/>
                </a:solidFill>
                <a:latin typeface="Roboto" pitchFamily="34" charset="0"/>
                <a:ea typeface="Roboto" pitchFamily="34" charset="-122"/>
                <a:cs typeface="Roboto" pitchFamily="34" charset="-120"/>
              </a:rPr>
              <a:t>Ordenar els fets</a:t>
            </a:r>
            <a:endParaRPr lang="en-US" sz="2000" dirty="0"/>
          </a:p>
        </p:txBody>
      </p:sp>
      <p:sp>
        <p:nvSpPr>
          <p:cNvPr id="12" name="Text 9"/>
          <p:cNvSpPr txBox="1"/>
          <p:nvPr/>
        </p:nvSpPr>
        <p:spPr>
          <a:xfrm>
            <a:off x="777240" y="3794760"/>
            <a:ext cx="3058058" cy="2057400"/>
          </a:xfrm>
          <a:prstGeom prst="rect">
            <a:avLst/>
          </a:prstGeom>
          <a:noFill/>
          <a:ln/>
        </p:spPr>
        <p:txBody>
          <a:bodyPr wrap="square" lIns="0" tIns="0" rIns="0" bIns="0" rtlCol="0" anchor="t"/>
          <a:lstStyle/>
          <a:p>
            <a:pPr indent="0" marL="0">
              <a:buNone/>
            </a:pPr>
            <a:r>
              <a:rPr lang="en-US" sz="1800" dirty="0">
                <a:solidFill>
                  <a:srgbClr val="202124"/>
                </a:solidFill>
                <a:latin typeface="Roboto" pitchFamily="34" charset="0"/>
                <a:ea typeface="Roboto" pitchFamily="34" charset="-122"/>
                <a:cs typeface="Roboto" pitchFamily="34" charset="-120"/>
              </a:rPr>
              <a:t>Quin va passar abans i quin després.</a:t>
            </a:r>
            <a:endParaRPr lang="en-US" sz="1800" dirty="0"/>
          </a:p>
        </p:txBody>
      </p:sp>
      <p:sp>
        <p:nvSpPr>
          <p:cNvPr id="13" name="Targeta Veure la durada"/>
          <p:cNvSpPr/>
          <p:nvPr/>
        </p:nvSpPr>
        <p:spPr>
          <a:xfrm>
            <a:off x="4338218" y="2788920"/>
            <a:ext cx="3515258" cy="3200400"/>
          </a:xfrm>
          <a:prstGeom prst="roundRect">
            <a:avLst>
              <a:gd name="adj" fmla="val 3143"/>
            </a:avLst>
          </a:prstGeom>
          <a:solidFill>
            <a:srgbClr val="FFFFFF"/>
          </a:solidFill>
          <a:ln w="12700">
            <a:solidFill>
              <a:srgbClr val="DADCE0"/>
            </a:solidFill>
            <a:prstDash val="solid"/>
          </a:ln>
        </p:spPr>
      </p:sp>
      <p:sp>
        <p:nvSpPr>
          <p:cNvPr id="14" name="Cercle icona"/>
          <p:cNvSpPr/>
          <p:nvPr/>
        </p:nvSpPr>
        <p:spPr>
          <a:xfrm>
            <a:off x="4566818" y="3017520"/>
            <a:ext cx="640080" cy="640080"/>
          </a:xfrm>
          <a:prstGeom prst="ellipse">
            <a:avLst/>
          </a:prstGeom>
          <a:solidFill>
            <a:srgbClr val="E6F4EA"/>
          </a:solidFill>
          <a:ln/>
        </p:spPr>
      </p:sp>
      <p:pic>
        <p:nvPicPr>
          <p:cNvPr id="15" name="Icona TbRuler2" descr="/home/claude/p857/build/img/ic/TbRuler2-g.png">    </p:cNvPr>
          <p:cNvPicPr>
            <a:picLocks noChangeAspect="1"/>
          </p:cNvPicPr>
          <p:nvPr/>
        </p:nvPicPr>
        <p:blipFill>
          <a:blip r:embed="rId2"/>
          <a:stretch>
            <a:fillRect/>
          </a:stretch>
        </p:blipFill>
        <p:spPr>
          <a:xfrm>
            <a:off x="4707636" y="3158338"/>
            <a:ext cx="358445" cy="358445"/>
          </a:xfrm>
          <a:prstGeom prst="rect">
            <a:avLst/>
          </a:prstGeom>
        </p:spPr>
      </p:pic>
      <p:sp>
        <p:nvSpPr>
          <p:cNvPr id="16" name="Text 12"/>
          <p:cNvSpPr txBox="1"/>
          <p:nvPr/>
        </p:nvSpPr>
        <p:spPr>
          <a:xfrm>
            <a:off x="5344058" y="3017520"/>
            <a:ext cx="2280818" cy="640080"/>
          </a:xfrm>
          <a:prstGeom prst="rect">
            <a:avLst/>
          </a:prstGeom>
          <a:noFill/>
          <a:ln/>
        </p:spPr>
        <p:txBody>
          <a:bodyPr wrap="square" lIns="0" tIns="0" rIns="0" bIns="0" rtlCol="0" anchor="ctr"/>
          <a:lstStyle/>
          <a:p>
            <a:pPr indent="0" marL="0">
              <a:buNone/>
            </a:pPr>
            <a:r>
              <a:rPr lang="en-US" sz="2000" b="1" dirty="0">
                <a:solidFill>
                  <a:srgbClr val="188038"/>
                </a:solidFill>
                <a:latin typeface="Roboto" pitchFamily="34" charset="0"/>
                <a:ea typeface="Roboto" pitchFamily="34" charset="-122"/>
                <a:cs typeface="Roboto" pitchFamily="34" charset="-120"/>
              </a:rPr>
              <a:t>Veure la durada</a:t>
            </a:r>
            <a:endParaRPr lang="en-US" sz="2000" dirty="0"/>
          </a:p>
        </p:txBody>
      </p:sp>
      <p:sp>
        <p:nvSpPr>
          <p:cNvPr id="17" name="Text 13"/>
          <p:cNvSpPr txBox="1"/>
          <p:nvPr/>
        </p:nvSpPr>
        <p:spPr>
          <a:xfrm>
            <a:off x="4566818" y="3794760"/>
            <a:ext cx="3058058" cy="2057400"/>
          </a:xfrm>
          <a:prstGeom prst="rect">
            <a:avLst/>
          </a:prstGeom>
          <a:noFill/>
          <a:ln/>
        </p:spPr>
        <p:txBody>
          <a:bodyPr wrap="square" lIns="0" tIns="0" rIns="0" bIns="0" rtlCol="0" anchor="t"/>
          <a:lstStyle/>
          <a:p>
            <a:pPr indent="0" marL="0">
              <a:buNone/>
            </a:pPr>
            <a:r>
              <a:rPr lang="en-US" sz="1800" dirty="0">
                <a:solidFill>
                  <a:srgbClr val="202124"/>
                </a:solidFill>
                <a:latin typeface="Roboto" pitchFamily="34" charset="0"/>
                <a:ea typeface="Roboto" pitchFamily="34" charset="-122"/>
                <a:cs typeface="Roboto" pitchFamily="34" charset="-120"/>
              </a:rPr>
              <a:t>Si dos fets estan molt separats o molt junts a la línia.</a:t>
            </a:r>
            <a:endParaRPr lang="en-US" sz="1800" dirty="0"/>
          </a:p>
        </p:txBody>
      </p:sp>
      <p:sp>
        <p:nvSpPr>
          <p:cNvPr id="18" name="Targeta Veure simultaneïtats"/>
          <p:cNvSpPr/>
          <p:nvPr/>
        </p:nvSpPr>
        <p:spPr>
          <a:xfrm>
            <a:off x="8127797" y="2788920"/>
            <a:ext cx="3515258" cy="3200400"/>
          </a:xfrm>
          <a:prstGeom prst="roundRect">
            <a:avLst>
              <a:gd name="adj" fmla="val 3143"/>
            </a:avLst>
          </a:prstGeom>
          <a:solidFill>
            <a:srgbClr val="188038"/>
          </a:solidFill>
          <a:ln/>
        </p:spPr>
      </p:sp>
      <p:sp>
        <p:nvSpPr>
          <p:cNvPr id="19" name="Cercle icona"/>
          <p:cNvSpPr/>
          <p:nvPr/>
        </p:nvSpPr>
        <p:spPr>
          <a:xfrm>
            <a:off x="8356397" y="3017520"/>
            <a:ext cx="640080" cy="640080"/>
          </a:xfrm>
          <a:prstGeom prst="ellipse">
            <a:avLst/>
          </a:prstGeom>
          <a:solidFill>
            <a:srgbClr val="FFFFFF"/>
          </a:solidFill>
          <a:ln/>
        </p:spPr>
      </p:sp>
      <p:pic>
        <p:nvPicPr>
          <p:cNvPr id="20" name="Icona TbArrowsHorizontal" descr="/home/claude/p857/build/img/ic/TbArrowsHorizontal-g.png">    </p:cNvPr>
          <p:cNvPicPr>
            <a:picLocks noChangeAspect="1"/>
          </p:cNvPicPr>
          <p:nvPr/>
        </p:nvPicPr>
        <p:blipFill>
          <a:blip r:embed="rId3"/>
          <a:stretch>
            <a:fillRect/>
          </a:stretch>
        </p:blipFill>
        <p:spPr>
          <a:xfrm>
            <a:off x="8497214" y="3158338"/>
            <a:ext cx="358445" cy="358445"/>
          </a:xfrm>
          <a:prstGeom prst="rect">
            <a:avLst/>
          </a:prstGeom>
        </p:spPr>
      </p:pic>
      <p:sp>
        <p:nvSpPr>
          <p:cNvPr id="21" name="Text 16"/>
          <p:cNvSpPr txBox="1"/>
          <p:nvPr/>
        </p:nvSpPr>
        <p:spPr>
          <a:xfrm>
            <a:off x="9133637" y="3017520"/>
            <a:ext cx="2280818" cy="640080"/>
          </a:xfrm>
          <a:prstGeom prst="rect">
            <a:avLst/>
          </a:prstGeom>
          <a:noFill/>
          <a:ln/>
        </p:spPr>
        <p:txBody>
          <a:bodyPr wrap="square" lIns="0" tIns="0" rIns="0" bIns="0" rtlCol="0" anchor="ctr"/>
          <a:lstStyle/>
          <a:p>
            <a:pPr indent="0" marL="0">
              <a:buNone/>
            </a:pPr>
            <a:r>
              <a:rPr lang="en-US" sz="2000" b="1" dirty="0">
                <a:solidFill>
                  <a:srgbClr val="FFFFFF"/>
                </a:solidFill>
                <a:latin typeface="Roboto" pitchFamily="34" charset="0"/>
                <a:ea typeface="Roboto" pitchFamily="34" charset="-122"/>
                <a:cs typeface="Roboto" pitchFamily="34" charset="-120"/>
              </a:rPr>
              <a:t>Veure simultaneïtats</a:t>
            </a:r>
            <a:endParaRPr lang="en-US" sz="2000" dirty="0"/>
          </a:p>
        </p:txBody>
      </p:sp>
      <p:sp>
        <p:nvSpPr>
          <p:cNvPr id="22" name="Text 17"/>
          <p:cNvSpPr txBox="1"/>
          <p:nvPr/>
        </p:nvSpPr>
        <p:spPr>
          <a:xfrm>
            <a:off x="8356397" y="3794760"/>
            <a:ext cx="3058058" cy="2057400"/>
          </a:xfrm>
          <a:prstGeom prst="rect">
            <a:avLst/>
          </a:prstGeom>
          <a:noFill/>
          <a:ln/>
        </p:spPr>
        <p:txBody>
          <a:bodyPr wrap="square" lIns="0" tIns="0" rIns="0" bIns="0" rtlCol="0" anchor="t"/>
          <a:lstStyle/>
          <a:p>
            <a:pPr indent="0" marL="0">
              <a:buNone/>
            </a:pPr>
            <a:r>
              <a:rPr lang="en-US" sz="1800" dirty="0">
                <a:solidFill>
                  <a:srgbClr val="FFFFFF"/>
                </a:solidFill>
                <a:latin typeface="Roboto" pitchFamily="34" charset="0"/>
                <a:ea typeface="Roboto" pitchFamily="34" charset="-122"/>
                <a:cs typeface="Roboto" pitchFamily="34" charset="-120"/>
              </a:rPr>
              <a:t>Si poses dues línies juntes, pots veure què passava a Egipte mentre passava una altra cosa a Mesopotàmia.</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9</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Dues línies paral·leles</a:t>
            </a:r>
            <a:endParaRPr lang="en-US" sz="2800" dirty="0"/>
          </a:p>
        </p:txBody>
      </p:sp>
      <p:sp>
        <p:nvSpPr>
          <p:cNvPr id="5" name="Fons Dues línies paral·leles"/>
          <p:cNvSpPr/>
          <p:nvPr/>
        </p:nvSpPr>
        <p:spPr>
          <a:xfrm>
            <a:off x="1981048" y="1371600"/>
            <a:ext cx="8229600" cy="3074188"/>
          </a:xfrm>
          <a:prstGeom prst="roundRect">
            <a:avLst>
              <a:gd name="adj" fmla="val 3272"/>
            </a:avLst>
          </a:prstGeom>
          <a:solidFill>
            <a:srgbClr val="F6F8FB"/>
          </a:solidFill>
          <a:ln/>
        </p:spPr>
      </p:sp>
      <p:pic>
        <p:nvPicPr>
          <p:cNvPr id="6" name="Dues línies paral·leles" descr="/home/claude/p857/build/img/paral.png">    </p:cNvPr>
          <p:cNvPicPr>
            <a:picLocks noChangeAspect="1"/>
          </p:cNvPicPr>
          <p:nvPr/>
        </p:nvPicPr>
        <p:blipFill>
          <a:blip r:embed="rId1"/>
          <a:stretch>
            <a:fillRect/>
          </a:stretch>
        </p:blipFill>
        <p:spPr>
          <a:xfrm>
            <a:off x="1981048" y="1371600"/>
            <a:ext cx="8229600" cy="3074188"/>
          </a:xfrm>
          <a:prstGeom prst="rect">
            <a:avLst/>
          </a:prstGeom>
        </p:spPr>
      </p:pic>
      <p:sp>
        <p:nvSpPr>
          <p:cNvPr id="7" name="Text 4"/>
          <p:cNvSpPr txBox="1"/>
          <p:nvPr/>
        </p:nvSpPr>
        <p:spPr>
          <a:xfrm>
            <a:off x="1981048" y="4500652"/>
            <a:ext cx="8229600" cy="274320"/>
          </a:xfrm>
          <a:prstGeom prst="rect">
            <a:avLst/>
          </a:prstGeom>
          <a:noFill/>
          <a:ln/>
        </p:spPr>
        <p:txBody>
          <a:bodyPr wrap="square" lIns="0" tIns="0" rIns="0" bIns="0" rtlCol="0" anchor="t"/>
          <a:lstStyle/>
          <a:p>
            <a:pPr indent="0" marL="0">
              <a:buNone/>
            </a:pPr>
            <a:r>
              <a:rPr lang="en-US" sz="1000" dirty="0">
                <a:solidFill>
                  <a:srgbClr val="5F6368"/>
                </a:solidFill>
                <a:latin typeface="Roboto" pitchFamily="34" charset="0"/>
                <a:ea typeface="Roboto" pitchFamily="34" charset="-122"/>
                <a:cs typeface="Roboto" pitchFamily="34" charset="-120"/>
              </a:rPr>
              <a:t>Dues línies del temps paral·leles. Totes les dates són aproximades. Gràfic: professordesocials.cat, CC BY-SA 4.0.</a:t>
            </a:r>
            <a:endParaRPr lang="en-US" sz="1000" dirty="0"/>
          </a:p>
        </p:txBody>
      </p:sp>
      <p:sp>
        <p:nvSpPr>
          <p:cNvPr id="8" name="Paraula clau · Simultaneïtat"/>
          <p:cNvSpPr/>
          <p:nvPr/>
        </p:nvSpPr>
        <p:spPr>
          <a:xfrm>
            <a:off x="548640" y="4846320"/>
            <a:ext cx="5410048" cy="1143000"/>
          </a:xfrm>
          <a:prstGeom prst="roundRect">
            <a:avLst>
              <a:gd name="adj" fmla="val 8800"/>
            </a:avLst>
          </a:prstGeom>
          <a:solidFill>
            <a:srgbClr val="E6F4EA"/>
          </a:solidFill>
          <a:ln/>
        </p:spPr>
      </p:sp>
      <p:sp>
        <p:nvSpPr>
          <p:cNvPr id="9" name="Text 6"/>
          <p:cNvSpPr txBox="1"/>
          <p:nvPr/>
        </p:nvSpPr>
        <p:spPr>
          <a:xfrm>
            <a:off x="868680" y="5001768"/>
            <a:ext cx="4769968" cy="320040"/>
          </a:xfrm>
          <a:prstGeom prst="rect">
            <a:avLst/>
          </a:prstGeom>
          <a:noFill/>
          <a:ln/>
        </p:spPr>
        <p:txBody>
          <a:bodyPr wrap="square" lIns="0" tIns="0" rIns="0" bIns="0" rtlCol="0" anchor="t"/>
          <a:lstStyle/>
          <a:p>
            <a:pPr indent="0" marL="0">
              <a:buNone/>
            </a:pPr>
            <a:r>
              <a:rPr lang="en-US" sz="1400" b="1" dirty="0">
                <a:solidFill>
                  <a:srgbClr val="188038"/>
                </a:solidFill>
                <a:latin typeface="Roboto" pitchFamily="34" charset="0"/>
                <a:ea typeface="Roboto" pitchFamily="34" charset="-122"/>
                <a:cs typeface="Roboto" pitchFamily="34" charset="-120"/>
              </a:rPr>
              <a:t>Paraula clau · Simultaneïtat</a:t>
            </a:r>
            <a:endParaRPr lang="en-US" sz="1400" dirty="0"/>
          </a:p>
        </p:txBody>
      </p:sp>
      <p:sp>
        <p:nvSpPr>
          <p:cNvPr id="10" name="Text 7"/>
          <p:cNvSpPr txBox="1"/>
          <p:nvPr/>
        </p:nvSpPr>
        <p:spPr>
          <a:xfrm>
            <a:off x="868680" y="5349240"/>
            <a:ext cx="4769968" cy="502920"/>
          </a:xfrm>
          <a:prstGeom prst="rect">
            <a:avLst/>
          </a:prstGeom>
          <a:noFill/>
          <a:ln/>
        </p:spPr>
        <p:txBody>
          <a:bodyPr wrap="square" lIns="0" tIns="0" rIns="0" bIns="0" rtlCol="0" anchor="t"/>
          <a:lstStyle/>
          <a:p>
            <a:pPr indent="0" marL="0">
              <a:buNone/>
            </a:pPr>
            <a:r>
              <a:rPr lang="en-US" sz="1550" dirty="0">
                <a:solidFill>
                  <a:srgbClr val="202124"/>
                </a:solidFill>
                <a:latin typeface="Roboto" pitchFamily="34" charset="0"/>
                <a:ea typeface="Roboto" pitchFamily="34" charset="-122"/>
                <a:cs typeface="Roboto" pitchFamily="34" charset="-120"/>
              </a:rPr>
              <a:t>Fets que passen alhora, encara que sigui en llocs diferents.</a:t>
            </a:r>
            <a:endParaRPr lang="en-US" sz="1550" dirty="0"/>
          </a:p>
        </p:txBody>
      </p:sp>
      <p:sp>
        <p:nvSpPr>
          <p:cNvPr id="11" name="Fixa-t'hi"/>
          <p:cNvSpPr/>
          <p:nvPr/>
        </p:nvSpPr>
        <p:spPr>
          <a:xfrm>
            <a:off x="6233008" y="4846320"/>
            <a:ext cx="5410048" cy="1143000"/>
          </a:xfrm>
          <a:prstGeom prst="roundRect">
            <a:avLst>
              <a:gd name="adj" fmla="val 8800"/>
            </a:avLst>
          </a:prstGeom>
          <a:solidFill>
            <a:srgbClr val="F6F8FB"/>
          </a:solidFill>
          <a:ln/>
        </p:spPr>
      </p:sp>
      <p:sp>
        <p:nvSpPr>
          <p:cNvPr id="12" name="Text 9"/>
          <p:cNvSpPr txBox="1"/>
          <p:nvPr/>
        </p:nvSpPr>
        <p:spPr>
          <a:xfrm>
            <a:off x="6553048" y="5001768"/>
            <a:ext cx="4769968" cy="320040"/>
          </a:xfrm>
          <a:prstGeom prst="rect">
            <a:avLst/>
          </a:prstGeom>
          <a:noFill/>
          <a:ln/>
        </p:spPr>
        <p:txBody>
          <a:bodyPr wrap="square" lIns="0" tIns="0" rIns="0" bIns="0" rtlCol="0" anchor="t"/>
          <a:lstStyle/>
          <a:p>
            <a:pPr indent="0" marL="0">
              <a:buNone/>
            </a:pPr>
            <a:r>
              <a:rPr lang="en-US" sz="1400" b="1" dirty="0">
                <a:solidFill>
                  <a:srgbClr val="202124"/>
                </a:solidFill>
                <a:latin typeface="Roboto" pitchFamily="34" charset="0"/>
                <a:ea typeface="Roboto" pitchFamily="34" charset="-122"/>
                <a:cs typeface="Roboto" pitchFamily="34" charset="-120"/>
              </a:rPr>
              <a:t>Fixa-t'hi</a:t>
            </a:r>
            <a:endParaRPr lang="en-US" sz="1400" dirty="0"/>
          </a:p>
        </p:txBody>
      </p:sp>
      <p:sp>
        <p:nvSpPr>
          <p:cNvPr id="13" name="Text 10"/>
          <p:cNvSpPr txBox="1"/>
          <p:nvPr/>
        </p:nvSpPr>
        <p:spPr>
          <a:xfrm>
            <a:off x="6553048" y="5349240"/>
            <a:ext cx="4769968" cy="502920"/>
          </a:xfrm>
          <a:prstGeom prst="rect">
            <a:avLst/>
          </a:prstGeom>
          <a:noFill/>
          <a:ln/>
        </p:spPr>
        <p:txBody>
          <a:bodyPr wrap="square" lIns="0" tIns="0" rIns="0" bIns="0" rtlCol="0" anchor="t"/>
          <a:lstStyle/>
          <a:p>
            <a:pPr indent="0" marL="0">
              <a:buNone/>
            </a:pPr>
            <a:r>
              <a:rPr lang="en-US" sz="1550" dirty="0">
                <a:solidFill>
                  <a:srgbClr val="5F6368"/>
                </a:solidFill>
                <a:latin typeface="Roboto" pitchFamily="34" charset="0"/>
                <a:ea typeface="Roboto" pitchFamily="34" charset="-122"/>
                <a:cs typeface="Roboto" pitchFamily="34" charset="-120"/>
              </a:rPr>
              <a:t>La Gran Piràmide és uns tres segles anterior a l'imperi de Sargó.</a:t>
            </a:r>
            <a:endParaRPr lang="en-US" sz="15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9</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Com se'n fa una de bona</a:t>
            </a:r>
            <a:endParaRPr lang="en-US" sz="2800" dirty="0"/>
          </a:p>
        </p:txBody>
      </p:sp>
      <p:sp>
        <p:nvSpPr>
          <p:cNvPr id="5" name="Pas 1"/>
          <p:cNvSpPr/>
          <p:nvPr/>
        </p:nvSpPr>
        <p:spPr>
          <a:xfrm>
            <a:off x="548640" y="1371600"/>
            <a:ext cx="2464994" cy="3017520"/>
          </a:xfrm>
          <a:prstGeom prst="roundRect">
            <a:avLst>
              <a:gd name="adj" fmla="val 4080"/>
            </a:avLst>
          </a:prstGeom>
          <a:solidFill>
            <a:srgbClr val="FFFFFF"/>
          </a:solidFill>
          <a:ln w="12700">
            <a:solidFill>
              <a:srgbClr val="DADCE0"/>
            </a:solidFill>
            <a:prstDash val="solid"/>
          </a:ln>
        </p:spPr>
      </p:sp>
      <p:sp>
        <p:nvSpPr>
          <p:cNvPr id="6" name="Cercle icona"/>
          <p:cNvSpPr/>
          <p:nvPr/>
        </p:nvSpPr>
        <p:spPr>
          <a:xfrm>
            <a:off x="804672" y="1627632"/>
            <a:ext cx="594360" cy="594360"/>
          </a:xfrm>
          <a:prstGeom prst="ellipse">
            <a:avLst/>
          </a:prstGeom>
          <a:solidFill>
            <a:srgbClr val="E6F4EA"/>
          </a:solidFill>
          <a:ln/>
        </p:spPr>
      </p:sp>
      <p:pic>
        <p:nvPicPr>
          <p:cNvPr id="7" name="Icona TbRuler" descr="/home/claude/p857/build/img/ic/TbRuler-g.png">    </p:cNvPr>
          <p:cNvPicPr>
            <a:picLocks noChangeAspect="1"/>
          </p:cNvPicPr>
          <p:nvPr/>
        </p:nvPicPr>
        <p:blipFill>
          <a:blip r:embed="rId1"/>
          <a:stretch>
            <a:fillRect/>
          </a:stretch>
        </p:blipFill>
        <p:spPr>
          <a:xfrm>
            <a:off x="935431" y="1758391"/>
            <a:ext cx="332842" cy="332842"/>
          </a:xfrm>
          <a:prstGeom prst="rect">
            <a:avLst/>
          </a:prstGeom>
        </p:spPr>
      </p:pic>
      <p:sp>
        <p:nvSpPr>
          <p:cNvPr id="8" name="Text 5"/>
          <p:cNvSpPr txBox="1"/>
          <p:nvPr/>
        </p:nvSpPr>
        <p:spPr>
          <a:xfrm>
            <a:off x="2327834" y="1627632"/>
            <a:ext cx="411480" cy="411480"/>
          </a:xfrm>
          <a:prstGeom prst="rect">
            <a:avLst/>
          </a:prstGeom>
          <a:noFill/>
          <a:ln/>
        </p:spPr>
        <p:txBody>
          <a:bodyPr wrap="square" lIns="0" tIns="0" rIns="0" bIns="0" rtlCol="0" anchor="t"/>
          <a:lstStyle/>
          <a:p>
            <a:pPr algn="r" indent="0" marL="0">
              <a:buNone/>
            </a:pPr>
            <a:r>
              <a:rPr lang="en-US" sz="2200" b="1" dirty="0">
                <a:solidFill>
                  <a:srgbClr val="DADCE0"/>
                </a:solidFill>
                <a:latin typeface="Roboto" pitchFamily="34" charset="0"/>
                <a:ea typeface="Roboto" pitchFamily="34" charset="-122"/>
                <a:cs typeface="Roboto" pitchFamily="34" charset="-120"/>
              </a:rPr>
              <a:t>1</a:t>
            </a:r>
            <a:endParaRPr lang="en-US" sz="2200" dirty="0"/>
          </a:p>
        </p:txBody>
      </p:sp>
      <p:sp>
        <p:nvSpPr>
          <p:cNvPr id="9" name="Text 6"/>
          <p:cNvSpPr txBox="1"/>
          <p:nvPr/>
        </p:nvSpPr>
        <p:spPr>
          <a:xfrm>
            <a:off x="804672" y="2377440"/>
            <a:ext cx="1952930" cy="301625"/>
          </a:xfrm>
          <a:prstGeom prst="rect">
            <a:avLst/>
          </a:prstGeom>
          <a:noFill/>
          <a:ln/>
        </p:spPr>
        <p:txBody>
          <a:bodyPr wrap="square" lIns="0" tIns="0" rIns="0" bIns="0" rtlCol="0" anchor="t"/>
          <a:lstStyle/>
          <a:p>
            <a:pPr indent="0" marL="0">
              <a:buNone/>
            </a:pPr>
            <a:r>
              <a:rPr lang="en-US" sz="1900" b="1" dirty="0">
                <a:solidFill>
                  <a:srgbClr val="188038"/>
                </a:solidFill>
                <a:latin typeface="Roboto" pitchFamily="34" charset="0"/>
                <a:ea typeface="Roboto" pitchFamily="34" charset="-122"/>
                <a:cs typeface="Roboto" pitchFamily="34" charset="-120"/>
              </a:rPr>
              <a:t>Una escala fixa</a:t>
            </a:r>
            <a:endParaRPr lang="en-US" sz="1900" dirty="0"/>
          </a:p>
        </p:txBody>
      </p:sp>
      <p:sp>
        <p:nvSpPr>
          <p:cNvPr id="10" name="Text 7"/>
          <p:cNvSpPr txBox="1"/>
          <p:nvPr/>
        </p:nvSpPr>
        <p:spPr>
          <a:xfrm>
            <a:off x="804672" y="2743073"/>
            <a:ext cx="1952930" cy="1554607"/>
          </a:xfrm>
          <a:prstGeom prst="rect">
            <a:avLst/>
          </a:prstGeom>
          <a:noFill/>
          <a:ln/>
        </p:spPr>
        <p:txBody>
          <a:bodyPr wrap="square" lIns="0" tIns="0" rIns="0" bIns="0" rtlCol="0" anchor="t"/>
          <a:lstStyle/>
          <a:p>
            <a:pPr indent="0" marL="0">
              <a:buNone/>
            </a:pPr>
            <a:r>
              <a:rPr lang="en-US" sz="1700" dirty="0">
                <a:solidFill>
                  <a:srgbClr val="202124"/>
                </a:solidFill>
                <a:latin typeface="Roboto" pitchFamily="34" charset="0"/>
                <a:ea typeface="Roboto" pitchFamily="34" charset="-122"/>
                <a:cs typeface="Roboto" pitchFamily="34" charset="-120"/>
              </a:rPr>
              <a:t>Per exemple, 1 cm = 100 anys.</a:t>
            </a:r>
            <a:endParaRPr lang="en-US" sz="1700" dirty="0"/>
          </a:p>
        </p:txBody>
      </p:sp>
      <p:sp>
        <p:nvSpPr>
          <p:cNvPr id="11" name="Fletxa"/>
          <p:cNvSpPr/>
          <p:nvPr/>
        </p:nvSpPr>
        <p:spPr>
          <a:xfrm>
            <a:off x="3127934" y="2743200"/>
            <a:ext cx="182880" cy="274320"/>
          </a:xfrm>
          <a:prstGeom prst="chevron">
            <a:avLst/>
          </a:prstGeom>
          <a:solidFill>
            <a:srgbClr val="188038"/>
          </a:solidFill>
          <a:ln/>
        </p:spPr>
      </p:sp>
      <p:sp>
        <p:nvSpPr>
          <p:cNvPr id="12" name="Pas 2"/>
          <p:cNvSpPr/>
          <p:nvPr/>
        </p:nvSpPr>
        <p:spPr>
          <a:xfrm>
            <a:off x="3425114" y="1371600"/>
            <a:ext cx="2464994" cy="3017520"/>
          </a:xfrm>
          <a:prstGeom prst="roundRect">
            <a:avLst>
              <a:gd name="adj" fmla="val 4080"/>
            </a:avLst>
          </a:prstGeom>
          <a:solidFill>
            <a:srgbClr val="FFFFFF"/>
          </a:solidFill>
          <a:ln w="12700">
            <a:solidFill>
              <a:srgbClr val="DADCE0"/>
            </a:solidFill>
            <a:prstDash val="solid"/>
          </a:ln>
        </p:spPr>
      </p:sp>
      <p:sp>
        <p:nvSpPr>
          <p:cNvPr id="13" name="Cercle icona"/>
          <p:cNvSpPr/>
          <p:nvPr/>
        </p:nvSpPr>
        <p:spPr>
          <a:xfrm>
            <a:off x="3681146" y="1627632"/>
            <a:ext cx="594360" cy="594360"/>
          </a:xfrm>
          <a:prstGeom prst="ellipse">
            <a:avLst/>
          </a:prstGeom>
          <a:solidFill>
            <a:srgbClr val="E6F4EA"/>
          </a:solidFill>
          <a:ln/>
        </p:spPr>
      </p:sp>
      <p:pic>
        <p:nvPicPr>
          <p:cNvPr id="14" name="Icona TbPin" descr="/home/claude/p857/build/img/ic/TbPin-g.png">    </p:cNvPr>
          <p:cNvPicPr>
            <a:picLocks noChangeAspect="1"/>
          </p:cNvPicPr>
          <p:nvPr/>
        </p:nvPicPr>
        <p:blipFill>
          <a:blip r:embed="rId2"/>
          <a:stretch>
            <a:fillRect/>
          </a:stretch>
        </p:blipFill>
        <p:spPr>
          <a:xfrm>
            <a:off x="3811905" y="1758391"/>
            <a:ext cx="332842" cy="332842"/>
          </a:xfrm>
          <a:prstGeom prst="rect">
            <a:avLst/>
          </a:prstGeom>
        </p:spPr>
      </p:pic>
      <p:sp>
        <p:nvSpPr>
          <p:cNvPr id="15" name="Text 11"/>
          <p:cNvSpPr txBox="1"/>
          <p:nvPr/>
        </p:nvSpPr>
        <p:spPr>
          <a:xfrm>
            <a:off x="5204308" y="1627632"/>
            <a:ext cx="411480" cy="411480"/>
          </a:xfrm>
          <a:prstGeom prst="rect">
            <a:avLst/>
          </a:prstGeom>
          <a:noFill/>
          <a:ln/>
        </p:spPr>
        <p:txBody>
          <a:bodyPr wrap="square" lIns="0" tIns="0" rIns="0" bIns="0" rtlCol="0" anchor="t"/>
          <a:lstStyle/>
          <a:p>
            <a:pPr algn="r" indent="0" marL="0">
              <a:buNone/>
            </a:pPr>
            <a:r>
              <a:rPr lang="en-US" sz="2200" b="1" dirty="0">
                <a:solidFill>
                  <a:srgbClr val="DADCE0"/>
                </a:solidFill>
                <a:latin typeface="Roboto" pitchFamily="34" charset="0"/>
                <a:ea typeface="Roboto" pitchFamily="34" charset="-122"/>
                <a:cs typeface="Roboto" pitchFamily="34" charset="-120"/>
              </a:rPr>
              <a:t>2</a:t>
            </a:r>
            <a:endParaRPr lang="en-US" sz="2200" dirty="0"/>
          </a:p>
        </p:txBody>
      </p:sp>
      <p:sp>
        <p:nvSpPr>
          <p:cNvPr id="16" name="Text 12"/>
          <p:cNvSpPr txBox="1"/>
          <p:nvPr/>
        </p:nvSpPr>
        <p:spPr>
          <a:xfrm>
            <a:off x="3681146" y="2377440"/>
            <a:ext cx="1952930" cy="301625"/>
          </a:xfrm>
          <a:prstGeom prst="rect">
            <a:avLst/>
          </a:prstGeom>
          <a:noFill/>
          <a:ln/>
        </p:spPr>
        <p:txBody>
          <a:bodyPr wrap="square" lIns="0" tIns="0" rIns="0" bIns="0" rtlCol="0" anchor="t"/>
          <a:lstStyle/>
          <a:p>
            <a:pPr indent="0" marL="0">
              <a:buNone/>
            </a:pPr>
            <a:r>
              <a:rPr lang="en-US" sz="1900" b="1" dirty="0">
                <a:solidFill>
                  <a:srgbClr val="188038"/>
                </a:solidFill>
                <a:latin typeface="Roboto" pitchFamily="34" charset="0"/>
                <a:ea typeface="Roboto" pitchFamily="34" charset="-122"/>
                <a:cs typeface="Roboto" pitchFamily="34" charset="-120"/>
              </a:rPr>
              <a:t>Marca els fets</a:t>
            </a:r>
            <a:endParaRPr lang="en-US" sz="1900" dirty="0"/>
          </a:p>
        </p:txBody>
      </p:sp>
      <p:sp>
        <p:nvSpPr>
          <p:cNvPr id="17" name="Text 13"/>
          <p:cNvSpPr txBox="1"/>
          <p:nvPr/>
        </p:nvSpPr>
        <p:spPr>
          <a:xfrm>
            <a:off x="3681146" y="2743073"/>
            <a:ext cx="1952930" cy="1554607"/>
          </a:xfrm>
          <a:prstGeom prst="rect">
            <a:avLst/>
          </a:prstGeom>
          <a:noFill/>
          <a:ln/>
        </p:spPr>
        <p:txBody>
          <a:bodyPr wrap="square" lIns="0" tIns="0" rIns="0" bIns="0" rtlCol="0" anchor="t"/>
          <a:lstStyle/>
          <a:p>
            <a:pPr indent="0" marL="0">
              <a:buNone/>
            </a:pPr>
            <a:r>
              <a:rPr lang="en-US" sz="1700" dirty="0">
                <a:solidFill>
                  <a:srgbClr val="202124"/>
                </a:solidFill>
                <a:latin typeface="Roboto" pitchFamily="34" charset="0"/>
                <a:ea typeface="Roboto" pitchFamily="34" charset="-122"/>
                <a:cs typeface="Roboto" pitchFamily="34" charset="-120"/>
              </a:rPr>
              <a:t>Amb una línia vertical o un símbol.</a:t>
            </a:r>
            <a:endParaRPr lang="en-US" sz="1700" dirty="0"/>
          </a:p>
        </p:txBody>
      </p:sp>
      <p:sp>
        <p:nvSpPr>
          <p:cNvPr id="18" name="Fletxa"/>
          <p:cNvSpPr/>
          <p:nvPr/>
        </p:nvSpPr>
        <p:spPr>
          <a:xfrm>
            <a:off x="6004408" y="2743200"/>
            <a:ext cx="182880" cy="274320"/>
          </a:xfrm>
          <a:prstGeom prst="chevron">
            <a:avLst/>
          </a:prstGeom>
          <a:solidFill>
            <a:srgbClr val="188038"/>
          </a:solidFill>
          <a:ln/>
        </p:spPr>
      </p:sp>
      <p:sp>
        <p:nvSpPr>
          <p:cNvPr id="19" name="Pas 3"/>
          <p:cNvSpPr/>
          <p:nvPr/>
        </p:nvSpPr>
        <p:spPr>
          <a:xfrm>
            <a:off x="6301588" y="1371600"/>
            <a:ext cx="2464994" cy="3017520"/>
          </a:xfrm>
          <a:prstGeom prst="roundRect">
            <a:avLst>
              <a:gd name="adj" fmla="val 4080"/>
            </a:avLst>
          </a:prstGeom>
          <a:solidFill>
            <a:srgbClr val="FFFFFF"/>
          </a:solidFill>
          <a:ln w="12700">
            <a:solidFill>
              <a:srgbClr val="DADCE0"/>
            </a:solidFill>
            <a:prstDash val="solid"/>
          </a:ln>
        </p:spPr>
      </p:sp>
      <p:sp>
        <p:nvSpPr>
          <p:cNvPr id="20" name="Cercle icona"/>
          <p:cNvSpPr/>
          <p:nvPr/>
        </p:nvSpPr>
        <p:spPr>
          <a:xfrm>
            <a:off x="6557620" y="1627632"/>
            <a:ext cx="594360" cy="594360"/>
          </a:xfrm>
          <a:prstGeom prst="ellipse">
            <a:avLst/>
          </a:prstGeom>
          <a:solidFill>
            <a:srgbClr val="E6F4EA"/>
          </a:solidFill>
          <a:ln/>
        </p:spPr>
      </p:sp>
      <p:pic>
        <p:nvPicPr>
          <p:cNvPr id="21" name="Icona TbCalendar" descr="/home/claude/p857/build/img/ic/TbCalendar-g.png">    </p:cNvPr>
          <p:cNvPicPr>
            <a:picLocks noChangeAspect="1"/>
          </p:cNvPicPr>
          <p:nvPr/>
        </p:nvPicPr>
        <p:blipFill>
          <a:blip r:embed="rId3"/>
          <a:stretch>
            <a:fillRect/>
          </a:stretch>
        </p:blipFill>
        <p:spPr>
          <a:xfrm>
            <a:off x="6688379" y="1758391"/>
            <a:ext cx="332842" cy="332842"/>
          </a:xfrm>
          <a:prstGeom prst="rect">
            <a:avLst/>
          </a:prstGeom>
        </p:spPr>
      </p:pic>
      <p:sp>
        <p:nvSpPr>
          <p:cNvPr id="22" name="Text 17"/>
          <p:cNvSpPr txBox="1"/>
          <p:nvPr/>
        </p:nvSpPr>
        <p:spPr>
          <a:xfrm>
            <a:off x="8080781" y="1627632"/>
            <a:ext cx="411480" cy="411480"/>
          </a:xfrm>
          <a:prstGeom prst="rect">
            <a:avLst/>
          </a:prstGeom>
          <a:noFill/>
          <a:ln/>
        </p:spPr>
        <p:txBody>
          <a:bodyPr wrap="square" lIns="0" tIns="0" rIns="0" bIns="0" rtlCol="0" anchor="t"/>
          <a:lstStyle/>
          <a:p>
            <a:pPr algn="r" indent="0" marL="0">
              <a:buNone/>
            </a:pPr>
            <a:r>
              <a:rPr lang="en-US" sz="2200" b="1" dirty="0">
                <a:solidFill>
                  <a:srgbClr val="DADCE0"/>
                </a:solidFill>
                <a:latin typeface="Roboto" pitchFamily="34" charset="0"/>
                <a:ea typeface="Roboto" pitchFamily="34" charset="-122"/>
                <a:cs typeface="Roboto" pitchFamily="34" charset="-120"/>
              </a:rPr>
              <a:t>3</a:t>
            </a:r>
            <a:endParaRPr lang="en-US" sz="2200" dirty="0"/>
          </a:p>
        </p:txBody>
      </p:sp>
      <p:sp>
        <p:nvSpPr>
          <p:cNvPr id="23" name="Text 18"/>
          <p:cNvSpPr txBox="1"/>
          <p:nvPr/>
        </p:nvSpPr>
        <p:spPr>
          <a:xfrm>
            <a:off x="6557620" y="2377440"/>
            <a:ext cx="1952930" cy="301625"/>
          </a:xfrm>
          <a:prstGeom prst="rect">
            <a:avLst/>
          </a:prstGeom>
          <a:noFill/>
          <a:ln/>
        </p:spPr>
        <p:txBody>
          <a:bodyPr wrap="square" lIns="0" tIns="0" rIns="0" bIns="0" rtlCol="0" anchor="t"/>
          <a:lstStyle/>
          <a:p>
            <a:pPr indent="0" marL="0">
              <a:buNone/>
            </a:pPr>
            <a:r>
              <a:rPr lang="en-US" sz="1900" b="1" dirty="0">
                <a:solidFill>
                  <a:srgbClr val="188038"/>
                </a:solidFill>
                <a:latin typeface="Roboto" pitchFamily="34" charset="0"/>
                <a:ea typeface="Roboto" pitchFamily="34" charset="-122"/>
                <a:cs typeface="Roboto" pitchFamily="34" charset="-120"/>
              </a:rPr>
              <a:t>Dates clares</a:t>
            </a:r>
            <a:endParaRPr lang="en-US" sz="1900" dirty="0"/>
          </a:p>
        </p:txBody>
      </p:sp>
      <p:sp>
        <p:nvSpPr>
          <p:cNvPr id="24" name="Text 19"/>
          <p:cNvSpPr txBox="1"/>
          <p:nvPr/>
        </p:nvSpPr>
        <p:spPr>
          <a:xfrm>
            <a:off x="6557620" y="2743073"/>
            <a:ext cx="1952930" cy="1554607"/>
          </a:xfrm>
          <a:prstGeom prst="rect">
            <a:avLst/>
          </a:prstGeom>
          <a:noFill/>
          <a:ln/>
        </p:spPr>
        <p:txBody>
          <a:bodyPr wrap="square" lIns="0" tIns="0" rIns="0" bIns="0" rtlCol="0" anchor="t"/>
          <a:lstStyle/>
          <a:p>
            <a:pPr indent="0" marL="0">
              <a:buNone/>
            </a:pPr>
            <a:r>
              <a:rPr lang="en-US" sz="1700" dirty="0">
                <a:solidFill>
                  <a:srgbClr val="202124"/>
                </a:solidFill>
                <a:latin typeface="Roboto" pitchFamily="34" charset="0"/>
                <a:ea typeface="Roboto" pitchFamily="34" charset="-122"/>
                <a:cs typeface="Roboto" pitchFamily="34" charset="-120"/>
              </a:rPr>
              <a:t>Posa-les a sota.</a:t>
            </a:r>
            <a:endParaRPr lang="en-US" sz="1700" dirty="0"/>
          </a:p>
        </p:txBody>
      </p:sp>
      <p:sp>
        <p:nvSpPr>
          <p:cNvPr id="25" name="Fletxa"/>
          <p:cNvSpPr/>
          <p:nvPr/>
        </p:nvSpPr>
        <p:spPr>
          <a:xfrm>
            <a:off x="8880881" y="2743200"/>
            <a:ext cx="182880" cy="274320"/>
          </a:xfrm>
          <a:prstGeom prst="chevron">
            <a:avLst/>
          </a:prstGeom>
          <a:solidFill>
            <a:srgbClr val="188038"/>
          </a:solidFill>
          <a:ln/>
        </p:spPr>
      </p:sp>
      <p:sp>
        <p:nvSpPr>
          <p:cNvPr id="26" name="Pas 4"/>
          <p:cNvSpPr/>
          <p:nvPr/>
        </p:nvSpPr>
        <p:spPr>
          <a:xfrm>
            <a:off x="9178061" y="1371600"/>
            <a:ext cx="2464994" cy="3017520"/>
          </a:xfrm>
          <a:prstGeom prst="roundRect">
            <a:avLst>
              <a:gd name="adj" fmla="val 4080"/>
            </a:avLst>
          </a:prstGeom>
          <a:solidFill>
            <a:srgbClr val="FFFFFF"/>
          </a:solidFill>
          <a:ln w="12700">
            <a:solidFill>
              <a:srgbClr val="DADCE0"/>
            </a:solidFill>
            <a:prstDash val="solid"/>
          </a:ln>
        </p:spPr>
      </p:sp>
      <p:sp>
        <p:nvSpPr>
          <p:cNvPr id="27" name="Cercle icona"/>
          <p:cNvSpPr/>
          <p:nvPr/>
        </p:nvSpPr>
        <p:spPr>
          <a:xfrm>
            <a:off x="9434093" y="1627632"/>
            <a:ext cx="594360" cy="594360"/>
          </a:xfrm>
          <a:prstGeom prst="ellipse">
            <a:avLst/>
          </a:prstGeom>
          <a:solidFill>
            <a:srgbClr val="E6F4EA"/>
          </a:solidFill>
          <a:ln/>
        </p:spPr>
      </p:sp>
      <p:pic>
        <p:nvPicPr>
          <p:cNvPr id="28" name="Icona TbPalette" descr="/home/claude/p857/build/img/ic/TbPalette-g.png">    </p:cNvPr>
          <p:cNvPicPr>
            <a:picLocks noChangeAspect="1"/>
          </p:cNvPicPr>
          <p:nvPr/>
        </p:nvPicPr>
        <p:blipFill>
          <a:blip r:embed="rId4"/>
          <a:stretch>
            <a:fillRect/>
          </a:stretch>
        </p:blipFill>
        <p:spPr>
          <a:xfrm>
            <a:off x="9564853" y="1758391"/>
            <a:ext cx="332842" cy="332842"/>
          </a:xfrm>
          <a:prstGeom prst="rect">
            <a:avLst/>
          </a:prstGeom>
        </p:spPr>
      </p:pic>
      <p:sp>
        <p:nvSpPr>
          <p:cNvPr id="29" name="Text 23"/>
          <p:cNvSpPr txBox="1"/>
          <p:nvPr/>
        </p:nvSpPr>
        <p:spPr>
          <a:xfrm>
            <a:off x="10957255" y="1627632"/>
            <a:ext cx="411480" cy="411480"/>
          </a:xfrm>
          <a:prstGeom prst="rect">
            <a:avLst/>
          </a:prstGeom>
          <a:noFill/>
          <a:ln/>
        </p:spPr>
        <p:txBody>
          <a:bodyPr wrap="square" lIns="0" tIns="0" rIns="0" bIns="0" rtlCol="0" anchor="t"/>
          <a:lstStyle/>
          <a:p>
            <a:pPr algn="r" indent="0" marL="0">
              <a:buNone/>
            </a:pPr>
            <a:r>
              <a:rPr lang="en-US" sz="2200" b="1" dirty="0">
                <a:solidFill>
                  <a:srgbClr val="DADCE0"/>
                </a:solidFill>
                <a:latin typeface="Roboto" pitchFamily="34" charset="0"/>
                <a:ea typeface="Roboto" pitchFamily="34" charset="-122"/>
                <a:cs typeface="Roboto" pitchFamily="34" charset="-120"/>
              </a:rPr>
              <a:t>4</a:t>
            </a:r>
            <a:endParaRPr lang="en-US" sz="2200" dirty="0"/>
          </a:p>
        </p:txBody>
      </p:sp>
      <p:sp>
        <p:nvSpPr>
          <p:cNvPr id="30" name="Text 24"/>
          <p:cNvSpPr txBox="1"/>
          <p:nvPr/>
        </p:nvSpPr>
        <p:spPr>
          <a:xfrm>
            <a:off x="9434093" y="2377440"/>
            <a:ext cx="1952930" cy="301625"/>
          </a:xfrm>
          <a:prstGeom prst="rect">
            <a:avLst/>
          </a:prstGeom>
          <a:noFill/>
          <a:ln/>
        </p:spPr>
        <p:txBody>
          <a:bodyPr wrap="square" lIns="0" tIns="0" rIns="0" bIns="0" rtlCol="0" anchor="t"/>
          <a:lstStyle/>
          <a:p>
            <a:pPr indent="0" marL="0">
              <a:buNone/>
            </a:pPr>
            <a:r>
              <a:rPr lang="en-US" sz="1900" b="1" dirty="0">
                <a:solidFill>
                  <a:srgbClr val="188038"/>
                </a:solidFill>
                <a:latin typeface="Roboto" pitchFamily="34" charset="0"/>
                <a:ea typeface="Roboto" pitchFamily="34" charset="-122"/>
                <a:cs typeface="Roboto" pitchFamily="34" charset="-120"/>
              </a:rPr>
              <a:t>Colors</a:t>
            </a:r>
            <a:endParaRPr lang="en-US" sz="1900" dirty="0"/>
          </a:p>
        </p:txBody>
      </p:sp>
      <p:sp>
        <p:nvSpPr>
          <p:cNvPr id="31" name="Text 25"/>
          <p:cNvSpPr txBox="1"/>
          <p:nvPr/>
        </p:nvSpPr>
        <p:spPr>
          <a:xfrm>
            <a:off x="9434093" y="2743073"/>
            <a:ext cx="1952930" cy="1554607"/>
          </a:xfrm>
          <a:prstGeom prst="rect">
            <a:avLst/>
          </a:prstGeom>
          <a:noFill/>
          <a:ln/>
        </p:spPr>
        <p:txBody>
          <a:bodyPr wrap="square" lIns="0" tIns="0" rIns="0" bIns="0" rtlCol="0" anchor="t"/>
          <a:lstStyle/>
          <a:p>
            <a:pPr indent="0" marL="0">
              <a:buNone/>
            </a:pPr>
            <a:r>
              <a:rPr lang="en-US" sz="1700" dirty="0">
                <a:solidFill>
                  <a:srgbClr val="202124"/>
                </a:solidFill>
                <a:latin typeface="Roboto" pitchFamily="34" charset="0"/>
                <a:ea typeface="Roboto" pitchFamily="34" charset="-122"/>
                <a:cs typeface="Roboto" pitchFamily="34" charset="-120"/>
              </a:rPr>
              <a:t>Si vols, pinta cada edat de la història d'un color diferent.</a:t>
            </a:r>
            <a:endParaRPr lang="en-US" sz="1700" dirty="0"/>
          </a:p>
        </p:txBody>
      </p:sp>
      <p:sp>
        <p:nvSpPr>
          <p:cNvPr id="32" name="Fes-ho tu"/>
          <p:cNvSpPr/>
          <p:nvPr/>
        </p:nvSpPr>
        <p:spPr>
          <a:xfrm>
            <a:off x="548640" y="4617720"/>
            <a:ext cx="11094415" cy="1371600"/>
          </a:xfrm>
          <a:prstGeom prst="roundRect">
            <a:avLst>
              <a:gd name="adj" fmla="val 7333"/>
            </a:avLst>
          </a:prstGeom>
          <a:solidFill>
            <a:srgbClr val="F6F8FB"/>
          </a:solidFill>
          <a:ln/>
        </p:spPr>
      </p:sp>
      <p:sp>
        <p:nvSpPr>
          <p:cNvPr id="33" name="Text 27"/>
          <p:cNvSpPr txBox="1"/>
          <p:nvPr/>
        </p:nvSpPr>
        <p:spPr>
          <a:xfrm>
            <a:off x="868680" y="4773168"/>
            <a:ext cx="10454335" cy="320040"/>
          </a:xfrm>
          <a:prstGeom prst="rect">
            <a:avLst/>
          </a:prstGeom>
          <a:noFill/>
          <a:ln/>
        </p:spPr>
        <p:txBody>
          <a:bodyPr wrap="square" lIns="0" tIns="0" rIns="0" bIns="0" rtlCol="0" anchor="t"/>
          <a:lstStyle/>
          <a:p>
            <a:pPr indent="0" marL="0">
              <a:buNone/>
            </a:pPr>
            <a:r>
              <a:rPr lang="en-US" sz="1400" b="1" dirty="0">
                <a:solidFill>
                  <a:srgbClr val="202124"/>
                </a:solidFill>
                <a:latin typeface="Roboto" pitchFamily="34" charset="0"/>
                <a:ea typeface="Roboto" pitchFamily="34" charset="-122"/>
                <a:cs typeface="Roboto" pitchFamily="34" charset="-120"/>
              </a:rPr>
              <a:t>Fes-ho tu</a:t>
            </a:r>
            <a:endParaRPr lang="en-US" sz="1400" dirty="0"/>
          </a:p>
        </p:txBody>
      </p:sp>
      <p:sp>
        <p:nvSpPr>
          <p:cNvPr id="34" name="Text 28"/>
          <p:cNvSpPr txBox="1"/>
          <p:nvPr/>
        </p:nvSpPr>
        <p:spPr>
          <a:xfrm>
            <a:off x="868680" y="5120640"/>
            <a:ext cx="10454335" cy="731520"/>
          </a:xfrm>
          <a:prstGeom prst="rect">
            <a:avLst/>
          </a:prstGeom>
          <a:noFill/>
          <a:ln/>
        </p:spPr>
        <p:txBody>
          <a:bodyPr wrap="square" lIns="0" tIns="0" rIns="0" bIns="0" rtlCol="0" anchor="t"/>
          <a:lstStyle/>
          <a:p>
            <a:pPr indent="0" marL="0">
              <a:buNone/>
            </a:pPr>
            <a:r>
              <a:rPr lang="en-US" sz="1900" dirty="0">
                <a:solidFill>
                  <a:srgbClr val="5F6368"/>
                </a:solidFill>
                <a:latin typeface="Roboto" pitchFamily="34" charset="0"/>
                <a:ea typeface="Roboto" pitchFamily="34" charset="-122"/>
                <a:cs typeface="Roboto" pitchFamily="34" charset="-120"/>
              </a:rPr>
              <a:t>A la situació d'aprenentatge construiràs la teva pròpia línia del temps.</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9</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Saps que…? Una tira de 250 metres</a:t>
            </a:r>
            <a:endParaRPr lang="en-US" sz="2800" dirty="0"/>
          </a:p>
        </p:txBody>
      </p:sp>
      <p:sp>
        <p:nvSpPr>
          <p:cNvPr id="5" name="Text 3"/>
          <p:cNvSpPr txBox="1"/>
          <p:nvPr/>
        </p:nvSpPr>
        <p:spPr>
          <a:xfrm>
            <a:off x="548640" y="1371600"/>
            <a:ext cx="11094415" cy="457200"/>
          </a:xfrm>
          <a:prstGeom prst="rect">
            <a:avLst/>
          </a:prstGeom>
          <a:noFill/>
          <a:ln/>
        </p:spPr>
        <p:txBody>
          <a:bodyPr wrap="square" lIns="0" tIns="0" rIns="0" bIns="0" rtlCol="0" anchor="t"/>
          <a:lstStyle/>
          <a:p>
            <a:pPr indent="0" marL="0">
              <a:buNone/>
            </a:pPr>
            <a:r>
              <a:rPr lang="en-US" sz="1800" dirty="0">
                <a:solidFill>
                  <a:srgbClr val="202124"/>
                </a:solidFill>
                <a:latin typeface="Roboto" pitchFamily="34" charset="0"/>
                <a:ea typeface="Roboto" pitchFamily="34" charset="-122"/>
                <a:cs typeface="Roboto" pitchFamily="34" charset="-120"/>
              </a:rPr>
              <a:t>L'escala és el que fa útil una línia del temps. Amb 1 cm = 100 anys…</a:t>
            </a:r>
            <a:endParaRPr lang="en-US" sz="1800" dirty="0"/>
          </a:p>
        </p:txBody>
      </p:sp>
      <p:sp>
        <p:nvSpPr>
          <p:cNvPr id="6" name="Targeta L'Edat Antiga ocupa"/>
          <p:cNvSpPr/>
          <p:nvPr/>
        </p:nvSpPr>
        <p:spPr>
          <a:xfrm>
            <a:off x="548640" y="1965960"/>
            <a:ext cx="3515258" cy="4023360"/>
          </a:xfrm>
          <a:prstGeom prst="roundRect">
            <a:avLst>
              <a:gd name="adj" fmla="val 2861"/>
            </a:avLst>
          </a:prstGeom>
          <a:solidFill>
            <a:srgbClr val="FFFFFF"/>
          </a:solidFill>
          <a:ln w="12700">
            <a:solidFill>
              <a:srgbClr val="DADCE0"/>
            </a:solidFill>
            <a:prstDash val="solid"/>
          </a:ln>
        </p:spPr>
      </p:sp>
      <p:sp>
        <p:nvSpPr>
          <p:cNvPr id="7" name="Cercle icona"/>
          <p:cNvSpPr/>
          <p:nvPr/>
        </p:nvSpPr>
        <p:spPr>
          <a:xfrm>
            <a:off x="777240" y="2194560"/>
            <a:ext cx="548640" cy="548640"/>
          </a:xfrm>
          <a:prstGeom prst="ellipse">
            <a:avLst/>
          </a:prstGeom>
          <a:solidFill>
            <a:srgbClr val="E6F4EA"/>
          </a:solidFill>
          <a:ln/>
        </p:spPr>
      </p:sp>
      <p:pic>
        <p:nvPicPr>
          <p:cNvPr id="8" name="Icona TbRuler" descr="/home/claude/p857/build/img/ic/TbRuler-g.png">    </p:cNvPr>
          <p:cNvPicPr>
            <a:picLocks noChangeAspect="1"/>
          </p:cNvPicPr>
          <p:nvPr/>
        </p:nvPicPr>
        <p:blipFill>
          <a:blip r:embed="rId1"/>
          <a:stretch>
            <a:fillRect/>
          </a:stretch>
        </p:blipFill>
        <p:spPr>
          <a:xfrm>
            <a:off x="897941" y="2315261"/>
            <a:ext cx="307238" cy="307238"/>
          </a:xfrm>
          <a:prstGeom prst="rect">
            <a:avLst/>
          </a:prstGeom>
        </p:spPr>
      </p:pic>
      <p:sp>
        <p:nvSpPr>
          <p:cNvPr id="9" name="Text 6"/>
          <p:cNvSpPr txBox="1"/>
          <p:nvPr/>
        </p:nvSpPr>
        <p:spPr>
          <a:xfrm>
            <a:off x="1463040" y="2194560"/>
            <a:ext cx="2417978" cy="548640"/>
          </a:xfrm>
          <a:prstGeom prst="rect">
            <a:avLst/>
          </a:prstGeom>
          <a:noFill/>
          <a:ln/>
        </p:spPr>
        <p:txBody>
          <a:bodyPr wrap="square" lIns="0" tIns="0" rIns="0" bIns="0" rtlCol="0" anchor="ctr"/>
          <a:lstStyle/>
          <a:p>
            <a:pPr indent="0" marL="0">
              <a:buNone/>
            </a:pPr>
            <a:r>
              <a:rPr lang="en-US" sz="1600" b="1" dirty="0">
                <a:solidFill>
                  <a:srgbClr val="5F6368"/>
                </a:solidFill>
                <a:latin typeface="Roboto" pitchFamily="34" charset="0"/>
                <a:ea typeface="Roboto" pitchFamily="34" charset="-122"/>
                <a:cs typeface="Roboto" pitchFamily="34" charset="-120"/>
              </a:rPr>
              <a:t>L'Edat Antiga ocupa</a:t>
            </a:r>
            <a:endParaRPr lang="en-US" sz="1600" dirty="0"/>
          </a:p>
        </p:txBody>
      </p:sp>
      <p:sp>
        <p:nvSpPr>
          <p:cNvPr id="10" name="Text 7"/>
          <p:cNvSpPr txBox="1"/>
          <p:nvPr/>
        </p:nvSpPr>
        <p:spPr>
          <a:xfrm>
            <a:off x="777240" y="2880360"/>
            <a:ext cx="3058058" cy="960120"/>
          </a:xfrm>
          <a:prstGeom prst="rect">
            <a:avLst/>
          </a:prstGeom>
          <a:noFill/>
          <a:ln/>
        </p:spPr>
        <p:txBody>
          <a:bodyPr wrap="square" lIns="0" tIns="0" rIns="0" bIns="0" rtlCol="0" anchor="ctr"/>
          <a:lstStyle/>
          <a:p>
            <a:pPr indent="0" marL="0">
              <a:buNone/>
            </a:pPr>
            <a:r>
              <a:rPr lang="en-US" sz="2800" b="1" dirty="0">
                <a:solidFill>
                  <a:srgbClr val="188038"/>
                </a:solidFill>
                <a:latin typeface="Roboto" pitchFamily="34" charset="0"/>
                <a:ea typeface="Roboto" pitchFamily="34" charset="-122"/>
                <a:cs typeface="Roboto" pitchFamily="34" charset="-120"/>
              </a:rPr>
              <a:t>Uns 40 cm</a:t>
            </a:r>
            <a:endParaRPr lang="en-US" sz="2800" dirty="0"/>
          </a:p>
        </p:txBody>
      </p:sp>
      <p:sp>
        <p:nvSpPr>
          <p:cNvPr id="11" name="Text 8"/>
          <p:cNvSpPr txBox="1"/>
          <p:nvPr/>
        </p:nvSpPr>
        <p:spPr>
          <a:xfrm>
            <a:off x="777240" y="3886200"/>
            <a:ext cx="3058058" cy="1965960"/>
          </a:xfrm>
          <a:prstGeom prst="rect">
            <a:avLst/>
          </a:prstGeom>
          <a:noFill/>
          <a:ln/>
        </p:spPr>
        <p:txBody>
          <a:bodyPr wrap="square" lIns="0" tIns="0" rIns="0" bIns="0" rtlCol="0" anchor="t"/>
          <a:lstStyle/>
          <a:p>
            <a:pPr indent="0" marL="0">
              <a:buNone/>
            </a:pPr>
            <a:r>
              <a:rPr lang="en-US" sz="1800" dirty="0">
                <a:solidFill>
                  <a:srgbClr val="202124"/>
                </a:solidFill>
                <a:latin typeface="Roboto" pitchFamily="34" charset="0"/>
                <a:ea typeface="Roboto" pitchFamily="34" charset="-122"/>
                <a:cs typeface="Roboto" pitchFamily="34" charset="-120"/>
              </a:rPr>
              <a:t>Gairebé quatre mil anys.</a:t>
            </a:r>
            <a:endParaRPr lang="en-US" sz="1800" dirty="0"/>
          </a:p>
        </p:txBody>
      </p:sp>
      <p:sp>
        <p:nvSpPr>
          <p:cNvPr id="12" name="Targeta La Contemporània"/>
          <p:cNvSpPr/>
          <p:nvPr/>
        </p:nvSpPr>
        <p:spPr>
          <a:xfrm>
            <a:off x="4338218" y="1965960"/>
            <a:ext cx="3515258" cy="4023360"/>
          </a:xfrm>
          <a:prstGeom prst="roundRect">
            <a:avLst>
              <a:gd name="adj" fmla="val 2861"/>
            </a:avLst>
          </a:prstGeom>
          <a:solidFill>
            <a:srgbClr val="FFFFFF"/>
          </a:solidFill>
          <a:ln w="12700">
            <a:solidFill>
              <a:srgbClr val="DADCE0"/>
            </a:solidFill>
            <a:prstDash val="solid"/>
          </a:ln>
        </p:spPr>
      </p:sp>
      <p:sp>
        <p:nvSpPr>
          <p:cNvPr id="13" name="Cercle icona"/>
          <p:cNvSpPr/>
          <p:nvPr/>
        </p:nvSpPr>
        <p:spPr>
          <a:xfrm>
            <a:off x="4566818" y="2194560"/>
            <a:ext cx="548640" cy="548640"/>
          </a:xfrm>
          <a:prstGeom prst="ellipse">
            <a:avLst/>
          </a:prstGeom>
          <a:solidFill>
            <a:srgbClr val="E6F4EA"/>
          </a:solidFill>
          <a:ln/>
        </p:spPr>
      </p:sp>
      <p:pic>
        <p:nvPicPr>
          <p:cNvPr id="14" name="Icona TbRuler" descr="/home/claude/p857/build/img/ic/TbRuler-g.png">    </p:cNvPr>
          <p:cNvPicPr>
            <a:picLocks noChangeAspect="1"/>
          </p:cNvPicPr>
          <p:nvPr/>
        </p:nvPicPr>
        <p:blipFill>
          <a:blip r:embed="rId2"/>
          <a:stretch>
            <a:fillRect/>
          </a:stretch>
        </p:blipFill>
        <p:spPr>
          <a:xfrm>
            <a:off x="4687519" y="2315261"/>
            <a:ext cx="307238" cy="307238"/>
          </a:xfrm>
          <a:prstGeom prst="rect">
            <a:avLst/>
          </a:prstGeom>
        </p:spPr>
      </p:pic>
      <p:sp>
        <p:nvSpPr>
          <p:cNvPr id="15" name="Text 11"/>
          <p:cNvSpPr txBox="1"/>
          <p:nvPr/>
        </p:nvSpPr>
        <p:spPr>
          <a:xfrm>
            <a:off x="5252618" y="2194560"/>
            <a:ext cx="2417978" cy="548640"/>
          </a:xfrm>
          <a:prstGeom prst="rect">
            <a:avLst/>
          </a:prstGeom>
          <a:noFill/>
          <a:ln/>
        </p:spPr>
        <p:txBody>
          <a:bodyPr wrap="square" lIns="0" tIns="0" rIns="0" bIns="0" rtlCol="0" anchor="ctr"/>
          <a:lstStyle/>
          <a:p>
            <a:pPr indent="0" marL="0">
              <a:buNone/>
            </a:pPr>
            <a:r>
              <a:rPr lang="en-US" sz="1600" b="1" dirty="0">
                <a:solidFill>
                  <a:srgbClr val="5F6368"/>
                </a:solidFill>
                <a:latin typeface="Roboto" pitchFamily="34" charset="0"/>
                <a:ea typeface="Roboto" pitchFamily="34" charset="-122"/>
                <a:cs typeface="Roboto" pitchFamily="34" charset="-120"/>
              </a:rPr>
              <a:t>La Contemporània</a:t>
            </a:r>
            <a:endParaRPr lang="en-US" sz="1600" dirty="0"/>
          </a:p>
        </p:txBody>
      </p:sp>
      <p:sp>
        <p:nvSpPr>
          <p:cNvPr id="16" name="Text 12"/>
          <p:cNvSpPr txBox="1"/>
          <p:nvPr/>
        </p:nvSpPr>
        <p:spPr>
          <a:xfrm>
            <a:off x="4566818" y="2880360"/>
            <a:ext cx="3058058" cy="960120"/>
          </a:xfrm>
          <a:prstGeom prst="rect">
            <a:avLst/>
          </a:prstGeom>
          <a:noFill/>
          <a:ln/>
        </p:spPr>
        <p:txBody>
          <a:bodyPr wrap="square" lIns="0" tIns="0" rIns="0" bIns="0" rtlCol="0" anchor="ctr"/>
          <a:lstStyle/>
          <a:p>
            <a:pPr indent="0" marL="0">
              <a:buNone/>
            </a:pPr>
            <a:r>
              <a:rPr lang="en-US" sz="2800" b="1" dirty="0">
                <a:solidFill>
                  <a:srgbClr val="188038"/>
                </a:solidFill>
                <a:latin typeface="Roboto" pitchFamily="34" charset="0"/>
                <a:ea typeface="Roboto" pitchFamily="34" charset="-122"/>
                <a:cs typeface="Roboto" pitchFamily="34" charset="-120"/>
              </a:rPr>
              <a:t>Poc més de 2 cm</a:t>
            </a:r>
            <a:endParaRPr lang="en-US" sz="2800" dirty="0"/>
          </a:p>
        </p:txBody>
      </p:sp>
      <p:sp>
        <p:nvSpPr>
          <p:cNvPr id="17" name="Text 13"/>
          <p:cNvSpPr txBox="1"/>
          <p:nvPr/>
        </p:nvSpPr>
        <p:spPr>
          <a:xfrm>
            <a:off x="4566818" y="3886200"/>
            <a:ext cx="3058058" cy="1965960"/>
          </a:xfrm>
          <a:prstGeom prst="rect">
            <a:avLst/>
          </a:prstGeom>
          <a:noFill/>
          <a:ln/>
        </p:spPr>
        <p:txBody>
          <a:bodyPr wrap="square" lIns="0" tIns="0" rIns="0" bIns="0" rtlCol="0" anchor="t"/>
          <a:lstStyle/>
          <a:p>
            <a:pPr indent="0" marL="0">
              <a:buNone/>
            </a:pPr>
            <a:r>
              <a:rPr lang="en-US" sz="1800" dirty="0">
                <a:solidFill>
                  <a:srgbClr val="202124"/>
                </a:solidFill>
                <a:latin typeface="Roboto" pitchFamily="34" charset="0"/>
                <a:ea typeface="Roboto" pitchFamily="34" charset="-122"/>
                <a:cs typeface="Roboto" pitchFamily="34" charset="-120"/>
              </a:rPr>
              <a:t>Des del 1789 fins avui.</a:t>
            </a:r>
            <a:endParaRPr lang="en-US" sz="1800" dirty="0"/>
          </a:p>
        </p:txBody>
      </p:sp>
      <p:sp>
        <p:nvSpPr>
          <p:cNvPr id="18" name="Targeta Tota la prehistòria"/>
          <p:cNvSpPr/>
          <p:nvPr/>
        </p:nvSpPr>
        <p:spPr>
          <a:xfrm>
            <a:off x="8127797" y="1965960"/>
            <a:ext cx="3515258" cy="4023360"/>
          </a:xfrm>
          <a:prstGeom prst="roundRect">
            <a:avLst>
              <a:gd name="adj" fmla="val 2861"/>
            </a:avLst>
          </a:prstGeom>
          <a:solidFill>
            <a:srgbClr val="188038"/>
          </a:solidFill>
          <a:ln/>
        </p:spPr>
      </p:sp>
      <p:sp>
        <p:nvSpPr>
          <p:cNvPr id="19" name="Cercle icona"/>
          <p:cNvSpPr/>
          <p:nvPr/>
        </p:nvSpPr>
        <p:spPr>
          <a:xfrm>
            <a:off x="8356397" y="2194560"/>
            <a:ext cx="548640" cy="548640"/>
          </a:xfrm>
          <a:prstGeom prst="ellipse">
            <a:avLst/>
          </a:prstGeom>
          <a:solidFill>
            <a:srgbClr val="FFFFFF"/>
          </a:solidFill>
          <a:ln/>
        </p:spPr>
      </p:sp>
      <p:pic>
        <p:nvPicPr>
          <p:cNvPr id="20" name="Icona TbRuler2" descr="/home/claude/p857/build/img/ic/TbRuler2-g.png">    </p:cNvPr>
          <p:cNvPicPr>
            <a:picLocks noChangeAspect="1"/>
          </p:cNvPicPr>
          <p:nvPr/>
        </p:nvPicPr>
        <p:blipFill>
          <a:blip r:embed="rId3"/>
          <a:stretch>
            <a:fillRect/>
          </a:stretch>
        </p:blipFill>
        <p:spPr>
          <a:xfrm>
            <a:off x="8477098" y="2315261"/>
            <a:ext cx="307238" cy="307238"/>
          </a:xfrm>
          <a:prstGeom prst="rect">
            <a:avLst/>
          </a:prstGeom>
        </p:spPr>
      </p:pic>
      <p:sp>
        <p:nvSpPr>
          <p:cNvPr id="21" name="Text 16"/>
          <p:cNvSpPr txBox="1"/>
          <p:nvPr/>
        </p:nvSpPr>
        <p:spPr>
          <a:xfrm>
            <a:off x="9042197" y="2194560"/>
            <a:ext cx="2417978" cy="548640"/>
          </a:xfrm>
          <a:prstGeom prst="rect">
            <a:avLst/>
          </a:prstGeom>
          <a:noFill/>
          <a:ln/>
        </p:spPr>
        <p:txBody>
          <a:bodyPr wrap="square" lIns="0" tIns="0" rIns="0" bIns="0" rtlCol="0" anchor="ctr"/>
          <a:lstStyle/>
          <a:p>
            <a:pPr indent="0" marL="0">
              <a:buNone/>
            </a:pPr>
            <a:r>
              <a:rPr lang="en-US" sz="1600" b="1" dirty="0">
                <a:solidFill>
                  <a:srgbClr val="FFFFFF"/>
                </a:solidFill>
                <a:latin typeface="Roboto" pitchFamily="34" charset="0"/>
                <a:ea typeface="Roboto" pitchFamily="34" charset="-122"/>
                <a:cs typeface="Roboto" pitchFamily="34" charset="-120"/>
              </a:rPr>
              <a:t>Tota la prehistòria</a:t>
            </a:r>
            <a:endParaRPr lang="en-US" sz="1600" dirty="0"/>
          </a:p>
        </p:txBody>
      </p:sp>
      <p:sp>
        <p:nvSpPr>
          <p:cNvPr id="22" name="Text 17"/>
          <p:cNvSpPr txBox="1"/>
          <p:nvPr/>
        </p:nvSpPr>
        <p:spPr>
          <a:xfrm>
            <a:off x="8356397" y="2880360"/>
            <a:ext cx="3058058" cy="960120"/>
          </a:xfrm>
          <a:prstGeom prst="rect">
            <a:avLst/>
          </a:prstGeom>
          <a:noFill/>
          <a:ln/>
        </p:spPr>
        <p:txBody>
          <a:bodyPr wrap="square" lIns="0" tIns="0" rIns="0" bIns="0" rtlCol="0" anchor="ctr"/>
          <a:lstStyle/>
          <a:p>
            <a:pPr indent="0" marL="0">
              <a:buNone/>
            </a:pPr>
            <a:r>
              <a:rPr lang="en-US" sz="2800" b="1" dirty="0">
                <a:solidFill>
                  <a:srgbClr val="FFFFFF"/>
                </a:solidFill>
                <a:latin typeface="Roboto" pitchFamily="34" charset="0"/>
                <a:ea typeface="Roboto" pitchFamily="34" charset="-122"/>
                <a:cs typeface="Roboto" pitchFamily="34" charset="-120"/>
              </a:rPr>
              <a:t>250 metres</a:t>
            </a:r>
            <a:endParaRPr lang="en-US" sz="2800" dirty="0"/>
          </a:p>
        </p:txBody>
      </p:sp>
      <p:sp>
        <p:nvSpPr>
          <p:cNvPr id="23" name="Text 18"/>
          <p:cNvSpPr txBox="1"/>
          <p:nvPr/>
        </p:nvSpPr>
        <p:spPr>
          <a:xfrm>
            <a:off x="8356397" y="3886200"/>
            <a:ext cx="3058058" cy="1965960"/>
          </a:xfrm>
          <a:prstGeom prst="rect">
            <a:avLst/>
          </a:prstGeom>
          <a:noFill/>
          <a:ln/>
        </p:spPr>
        <p:txBody>
          <a:bodyPr wrap="square" lIns="0" tIns="0" rIns="0" bIns="0" rtlCol="0" anchor="t"/>
          <a:lstStyle/>
          <a:p>
            <a:pPr indent="0" marL="0">
              <a:buNone/>
            </a:pPr>
            <a:r>
              <a:rPr lang="en-US" sz="1800" dirty="0">
                <a:solidFill>
                  <a:srgbClr val="FFFFFF"/>
                </a:solidFill>
                <a:latin typeface="Roboto" pitchFamily="34" charset="0"/>
                <a:ea typeface="Roboto" pitchFamily="34" charset="-122"/>
                <a:cs typeface="Roboto" pitchFamily="34" charset="-120"/>
              </a:rPr>
              <a:t>Més de dos camps de futbol!</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9</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Canvis i continuïtats</a:t>
            </a:r>
            <a:endParaRPr lang="en-US" sz="2800" dirty="0"/>
          </a:p>
        </p:txBody>
      </p:sp>
      <p:sp>
        <p:nvSpPr>
          <p:cNvPr id="5" name="Text 3"/>
          <p:cNvSpPr txBox="1"/>
          <p:nvPr/>
        </p:nvSpPr>
        <p:spPr>
          <a:xfrm>
            <a:off x="548640" y="1371600"/>
            <a:ext cx="11094415" cy="594360"/>
          </a:xfrm>
          <a:prstGeom prst="rect">
            <a:avLst/>
          </a:prstGeom>
          <a:noFill/>
          <a:ln/>
        </p:spPr>
        <p:txBody>
          <a:bodyPr wrap="square" lIns="0" tIns="0" rIns="0" bIns="0" rtlCol="0" anchor="t"/>
          <a:lstStyle/>
          <a:p>
            <a:pPr indent="0" marL="0">
              <a:buNone/>
            </a:pPr>
            <a:r>
              <a:rPr lang="en-US" sz="1800" dirty="0">
                <a:solidFill>
                  <a:srgbClr val="202124"/>
                </a:solidFill>
                <a:latin typeface="Roboto" pitchFamily="34" charset="0"/>
                <a:ea typeface="Roboto" pitchFamily="34" charset="-122"/>
                <a:cs typeface="Roboto" pitchFamily="34" charset="-120"/>
              </a:rPr>
              <a:t>Quan estudiem el passat, ens fixem en tres coses. Què canvia, què continua igual i què passa alhora en llocs diferents.</a:t>
            </a:r>
            <a:endParaRPr lang="en-US" sz="1800" dirty="0"/>
          </a:p>
        </p:txBody>
      </p:sp>
      <p:sp>
        <p:nvSpPr>
          <p:cNvPr id="6" name="Canvi"/>
          <p:cNvSpPr/>
          <p:nvPr/>
        </p:nvSpPr>
        <p:spPr>
          <a:xfrm>
            <a:off x="548640" y="2148840"/>
            <a:ext cx="5090008" cy="2743200"/>
          </a:xfrm>
          <a:prstGeom prst="roundRect">
            <a:avLst>
              <a:gd name="adj" fmla="val 3667"/>
            </a:avLst>
          </a:prstGeom>
          <a:solidFill>
            <a:srgbClr val="FFFFFF"/>
          </a:solidFill>
          <a:ln w="12700">
            <a:solidFill>
              <a:srgbClr val="DADCE0"/>
            </a:solidFill>
            <a:prstDash val="solid"/>
          </a:ln>
        </p:spPr>
      </p:sp>
      <p:sp>
        <p:nvSpPr>
          <p:cNvPr id="7" name="Cercle icona"/>
          <p:cNvSpPr/>
          <p:nvPr/>
        </p:nvSpPr>
        <p:spPr>
          <a:xfrm>
            <a:off x="822960" y="2423160"/>
            <a:ext cx="777240" cy="777240"/>
          </a:xfrm>
          <a:prstGeom prst="ellipse">
            <a:avLst/>
          </a:prstGeom>
          <a:solidFill>
            <a:srgbClr val="E6F4EA"/>
          </a:solidFill>
          <a:ln/>
        </p:spPr>
      </p:sp>
      <p:pic>
        <p:nvPicPr>
          <p:cNvPr id="8" name="Icona TbRefresh" descr="/home/claude/p857/build/img/ic/TbRefresh-g.png">    </p:cNvPr>
          <p:cNvPicPr>
            <a:picLocks noChangeAspect="1"/>
          </p:cNvPicPr>
          <p:nvPr/>
        </p:nvPicPr>
        <p:blipFill>
          <a:blip r:embed="rId1"/>
          <a:stretch>
            <a:fillRect/>
          </a:stretch>
        </p:blipFill>
        <p:spPr>
          <a:xfrm>
            <a:off x="993953" y="2594153"/>
            <a:ext cx="435254" cy="435254"/>
          </a:xfrm>
          <a:prstGeom prst="rect">
            <a:avLst/>
          </a:prstGeom>
        </p:spPr>
      </p:pic>
      <p:sp>
        <p:nvSpPr>
          <p:cNvPr id="9" name="Text 6"/>
          <p:cNvSpPr txBox="1"/>
          <p:nvPr/>
        </p:nvSpPr>
        <p:spPr>
          <a:xfrm>
            <a:off x="1828800" y="2423160"/>
            <a:ext cx="3626968" cy="777240"/>
          </a:xfrm>
          <a:prstGeom prst="rect">
            <a:avLst/>
          </a:prstGeom>
          <a:noFill/>
          <a:ln/>
        </p:spPr>
        <p:txBody>
          <a:bodyPr wrap="square" lIns="0" tIns="0" rIns="0" bIns="0" rtlCol="0" anchor="ctr"/>
          <a:lstStyle/>
          <a:p>
            <a:pPr indent="0" marL="0">
              <a:buNone/>
            </a:pPr>
            <a:r>
              <a:rPr lang="en-US" sz="2100" b="1" dirty="0">
                <a:solidFill>
                  <a:srgbClr val="188038"/>
                </a:solidFill>
                <a:latin typeface="Roboto" pitchFamily="34" charset="0"/>
                <a:ea typeface="Roboto" pitchFamily="34" charset="-122"/>
                <a:cs typeface="Roboto" pitchFamily="34" charset="-120"/>
              </a:rPr>
              <a:t>Canvi</a:t>
            </a:r>
            <a:endParaRPr lang="en-US" sz="2100" dirty="0"/>
          </a:p>
          <a:p>
            <a:pPr indent="0" marL="0">
              <a:buNone/>
            </a:pPr>
            <a:r>
              <a:rPr lang="en-US" sz="1600" dirty="0">
                <a:solidFill>
                  <a:srgbClr val="5F6368"/>
                </a:solidFill>
                <a:latin typeface="Roboto" pitchFamily="34" charset="0"/>
                <a:ea typeface="Roboto" pitchFamily="34" charset="-122"/>
                <a:cs typeface="Roboto" pitchFamily="34" charset="-120"/>
              </a:rPr>
              <a:t>Una transformació</a:t>
            </a:r>
            <a:endParaRPr lang="en-US" sz="2100" dirty="0"/>
          </a:p>
        </p:txBody>
      </p:sp>
      <p:sp>
        <p:nvSpPr>
          <p:cNvPr id="10" name="Text 7"/>
          <p:cNvSpPr txBox="1"/>
          <p:nvPr/>
        </p:nvSpPr>
        <p:spPr>
          <a:xfrm>
            <a:off x="822960" y="3429000"/>
            <a:ext cx="4541368" cy="1325880"/>
          </a:xfrm>
          <a:prstGeom prst="rect">
            <a:avLst/>
          </a:prstGeom>
          <a:noFill/>
          <a:ln/>
        </p:spPr>
        <p:txBody>
          <a:bodyPr wrap="square" lIns="0" tIns="0" rIns="0" bIns="0" rtlCol="0" anchor="t"/>
          <a:lstStyle/>
          <a:p>
            <a:pPr indent="0" marL="0">
              <a:buNone/>
            </a:pPr>
            <a:r>
              <a:rPr lang="en-US" sz="1850" dirty="0">
                <a:solidFill>
                  <a:srgbClr val="202124"/>
                </a:solidFill>
                <a:latin typeface="Roboto" pitchFamily="34" charset="0"/>
                <a:ea typeface="Roboto" pitchFamily="34" charset="-122"/>
                <a:cs typeface="Roboto" pitchFamily="34" charset="-120"/>
              </a:rPr>
              <a:t>Alguns són ràpids, com un invent, i d'altres molt lents, com el pas d'una edat a una altra.</a:t>
            </a:r>
            <a:endParaRPr lang="en-US" sz="1850" dirty="0"/>
          </a:p>
        </p:txBody>
      </p:sp>
      <p:sp>
        <p:nvSpPr>
          <p:cNvPr id="11" name="Continuïtat"/>
          <p:cNvSpPr/>
          <p:nvPr/>
        </p:nvSpPr>
        <p:spPr>
          <a:xfrm>
            <a:off x="6553048" y="2148840"/>
            <a:ext cx="5090008" cy="2743200"/>
          </a:xfrm>
          <a:prstGeom prst="roundRect">
            <a:avLst>
              <a:gd name="adj" fmla="val 3667"/>
            </a:avLst>
          </a:prstGeom>
          <a:solidFill>
            <a:srgbClr val="188038"/>
          </a:solidFill>
          <a:ln/>
        </p:spPr>
      </p:sp>
      <p:sp>
        <p:nvSpPr>
          <p:cNvPr id="12" name="Cercle icona"/>
          <p:cNvSpPr/>
          <p:nvPr/>
        </p:nvSpPr>
        <p:spPr>
          <a:xfrm>
            <a:off x="6827368" y="2423160"/>
            <a:ext cx="777240" cy="777240"/>
          </a:xfrm>
          <a:prstGeom prst="ellipse">
            <a:avLst/>
          </a:prstGeom>
          <a:solidFill>
            <a:srgbClr val="FFFFFF"/>
          </a:solidFill>
          <a:ln/>
        </p:spPr>
      </p:sp>
      <p:pic>
        <p:nvPicPr>
          <p:cNvPr id="13" name="Icona TbRepeat" descr="/home/claude/p857/build/img/ic/TbRepeat-g.png">    </p:cNvPr>
          <p:cNvPicPr>
            <a:picLocks noChangeAspect="1"/>
          </p:cNvPicPr>
          <p:nvPr/>
        </p:nvPicPr>
        <p:blipFill>
          <a:blip r:embed="rId2"/>
          <a:stretch>
            <a:fillRect/>
          </a:stretch>
        </p:blipFill>
        <p:spPr>
          <a:xfrm>
            <a:off x="6998360" y="2594153"/>
            <a:ext cx="435254" cy="435254"/>
          </a:xfrm>
          <a:prstGeom prst="rect">
            <a:avLst/>
          </a:prstGeom>
        </p:spPr>
      </p:pic>
      <p:sp>
        <p:nvSpPr>
          <p:cNvPr id="14" name="Text 10"/>
          <p:cNvSpPr txBox="1"/>
          <p:nvPr/>
        </p:nvSpPr>
        <p:spPr>
          <a:xfrm>
            <a:off x="7833208" y="2423160"/>
            <a:ext cx="3626968" cy="777240"/>
          </a:xfrm>
          <a:prstGeom prst="rect">
            <a:avLst/>
          </a:prstGeom>
          <a:noFill/>
          <a:ln/>
        </p:spPr>
        <p:txBody>
          <a:bodyPr wrap="square" lIns="0" tIns="0" rIns="0" bIns="0" rtlCol="0" anchor="ctr"/>
          <a:lstStyle/>
          <a:p>
            <a:pPr indent="0" marL="0">
              <a:buNone/>
            </a:pPr>
            <a:r>
              <a:rPr lang="en-US" sz="2100" b="1" dirty="0">
                <a:solidFill>
                  <a:srgbClr val="FFFFFF"/>
                </a:solidFill>
                <a:latin typeface="Roboto" pitchFamily="34" charset="0"/>
                <a:ea typeface="Roboto" pitchFamily="34" charset="-122"/>
                <a:cs typeface="Roboto" pitchFamily="34" charset="-120"/>
              </a:rPr>
              <a:t>Continuïtat</a:t>
            </a:r>
            <a:endParaRPr lang="en-US" sz="2100" dirty="0"/>
          </a:p>
          <a:p>
            <a:pPr indent="0" marL="0">
              <a:buNone/>
            </a:pPr>
            <a:r>
              <a:rPr lang="en-US" sz="1600" dirty="0">
                <a:solidFill>
                  <a:srgbClr val="FFFFFF"/>
                </a:solidFill>
                <a:latin typeface="Roboto" pitchFamily="34" charset="0"/>
                <a:ea typeface="Roboto" pitchFamily="34" charset="-122"/>
                <a:cs typeface="Roboto" pitchFamily="34" charset="-120"/>
              </a:rPr>
              <a:t>El que dura</a:t>
            </a:r>
            <a:endParaRPr lang="en-US" sz="2100" dirty="0"/>
          </a:p>
        </p:txBody>
      </p:sp>
      <p:sp>
        <p:nvSpPr>
          <p:cNvPr id="15" name="Text 11"/>
          <p:cNvSpPr txBox="1"/>
          <p:nvPr/>
        </p:nvSpPr>
        <p:spPr>
          <a:xfrm>
            <a:off x="6827368" y="3429000"/>
            <a:ext cx="4541368" cy="1325880"/>
          </a:xfrm>
          <a:prstGeom prst="rect">
            <a:avLst/>
          </a:prstGeom>
          <a:noFill/>
          <a:ln/>
        </p:spPr>
        <p:txBody>
          <a:bodyPr wrap="square" lIns="0" tIns="0" rIns="0" bIns="0" rtlCol="0" anchor="t"/>
          <a:lstStyle/>
          <a:p>
            <a:pPr indent="0" marL="0">
              <a:buNone/>
            </a:pPr>
            <a:r>
              <a:rPr lang="en-US" sz="1850" dirty="0">
                <a:solidFill>
                  <a:srgbClr val="FFFFFF"/>
                </a:solidFill>
                <a:latin typeface="Roboto" pitchFamily="34" charset="0"/>
                <a:ea typeface="Roboto" pitchFamily="34" charset="-122"/>
                <a:cs typeface="Roboto" pitchFamily="34" charset="-120"/>
              </a:rPr>
              <a:t>Una cosa que dura molt de temps, encara que tot el que hi ha al voltant canviï.</a:t>
            </a:r>
            <a:endParaRPr lang="en-US" sz="1850" dirty="0"/>
          </a:p>
        </p:txBody>
      </p:sp>
      <p:sp>
        <p:nvSpPr>
          <p:cNvPr id="16" name="Paraula clau · Continuïtat"/>
          <p:cNvSpPr/>
          <p:nvPr/>
        </p:nvSpPr>
        <p:spPr>
          <a:xfrm>
            <a:off x="548640" y="5120640"/>
            <a:ext cx="11094415" cy="868680"/>
          </a:xfrm>
          <a:prstGeom prst="roundRect">
            <a:avLst>
              <a:gd name="adj" fmla="val 11579"/>
            </a:avLst>
          </a:prstGeom>
          <a:solidFill>
            <a:srgbClr val="E6F4EA"/>
          </a:solidFill>
          <a:ln/>
        </p:spPr>
      </p:sp>
      <p:sp>
        <p:nvSpPr>
          <p:cNvPr id="17" name="Text 13"/>
          <p:cNvSpPr txBox="1"/>
          <p:nvPr/>
        </p:nvSpPr>
        <p:spPr>
          <a:xfrm>
            <a:off x="868680" y="5276088"/>
            <a:ext cx="10454335" cy="320040"/>
          </a:xfrm>
          <a:prstGeom prst="rect">
            <a:avLst/>
          </a:prstGeom>
          <a:noFill/>
          <a:ln/>
        </p:spPr>
        <p:txBody>
          <a:bodyPr wrap="square" lIns="0" tIns="0" rIns="0" bIns="0" rtlCol="0" anchor="t"/>
          <a:lstStyle/>
          <a:p>
            <a:pPr indent="0" marL="0">
              <a:buNone/>
            </a:pPr>
            <a:r>
              <a:rPr lang="en-US" sz="1400" b="1" dirty="0">
                <a:solidFill>
                  <a:srgbClr val="188038"/>
                </a:solidFill>
                <a:latin typeface="Roboto" pitchFamily="34" charset="0"/>
                <a:ea typeface="Roboto" pitchFamily="34" charset="-122"/>
                <a:cs typeface="Roboto" pitchFamily="34" charset="-120"/>
              </a:rPr>
              <a:t>Paraula clau · Continuïtat</a:t>
            </a:r>
            <a:endParaRPr lang="en-US" sz="1400" dirty="0"/>
          </a:p>
        </p:txBody>
      </p:sp>
      <p:sp>
        <p:nvSpPr>
          <p:cNvPr id="18" name="Text 14"/>
          <p:cNvSpPr txBox="1"/>
          <p:nvPr/>
        </p:nvSpPr>
        <p:spPr>
          <a:xfrm>
            <a:off x="868680" y="5623560"/>
            <a:ext cx="10454335" cy="228600"/>
          </a:xfrm>
          <a:prstGeom prst="rect">
            <a:avLst/>
          </a:prstGeom>
          <a:noFill/>
          <a:ln/>
        </p:spPr>
        <p:txBody>
          <a:bodyPr wrap="square" lIns="0" tIns="0" rIns="0" bIns="0" rtlCol="0" anchor="t"/>
          <a:lstStyle/>
          <a:p>
            <a:pPr indent="0" marL="0">
              <a:buNone/>
            </a:pPr>
            <a:r>
              <a:rPr lang="en-US" sz="1600" dirty="0">
                <a:solidFill>
                  <a:srgbClr val="202124"/>
                </a:solidFill>
                <a:latin typeface="Roboto" pitchFamily="34" charset="0"/>
                <a:ea typeface="Roboto" pitchFamily="34" charset="-122"/>
                <a:cs typeface="Roboto" pitchFamily="34" charset="-120"/>
              </a:rPr>
              <a:t>Allò que es manté igual durant molt de temps, mentre altres coses canvien.</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9</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Un exemple, el calendari</a:t>
            </a:r>
            <a:endParaRPr lang="en-US" sz="2800" dirty="0"/>
          </a:p>
        </p:txBody>
      </p:sp>
      <p:sp>
        <p:nvSpPr>
          <p:cNvPr id="5" name="Targeta Un canvi"/>
          <p:cNvSpPr/>
          <p:nvPr/>
        </p:nvSpPr>
        <p:spPr>
          <a:xfrm>
            <a:off x="548640" y="1371600"/>
            <a:ext cx="5410048" cy="2514600"/>
          </a:xfrm>
          <a:prstGeom prst="roundRect">
            <a:avLst>
              <a:gd name="adj" fmla="val 4000"/>
            </a:avLst>
          </a:prstGeom>
          <a:solidFill>
            <a:srgbClr val="FFFFFF"/>
          </a:solidFill>
          <a:ln w="12700">
            <a:solidFill>
              <a:srgbClr val="DADCE0"/>
            </a:solidFill>
            <a:prstDash val="solid"/>
          </a:ln>
        </p:spPr>
      </p:sp>
      <p:sp>
        <p:nvSpPr>
          <p:cNvPr id="6" name="Cercle icona"/>
          <p:cNvSpPr/>
          <p:nvPr/>
        </p:nvSpPr>
        <p:spPr>
          <a:xfrm>
            <a:off x="777240" y="1600200"/>
            <a:ext cx="640080" cy="640080"/>
          </a:xfrm>
          <a:prstGeom prst="ellipse">
            <a:avLst/>
          </a:prstGeom>
          <a:solidFill>
            <a:srgbClr val="E6F4EA"/>
          </a:solidFill>
          <a:ln/>
        </p:spPr>
      </p:sp>
      <p:pic>
        <p:nvPicPr>
          <p:cNvPr id="7" name="Icona TbRefresh" descr="/home/claude/p857/build/img/ic/TbRefresh-g.png">    </p:cNvPr>
          <p:cNvPicPr>
            <a:picLocks noChangeAspect="1"/>
          </p:cNvPicPr>
          <p:nvPr/>
        </p:nvPicPr>
        <p:blipFill>
          <a:blip r:embed="rId1"/>
          <a:stretch>
            <a:fillRect/>
          </a:stretch>
        </p:blipFill>
        <p:spPr>
          <a:xfrm>
            <a:off x="918058" y="1741018"/>
            <a:ext cx="358445" cy="358445"/>
          </a:xfrm>
          <a:prstGeom prst="rect">
            <a:avLst/>
          </a:prstGeom>
        </p:spPr>
      </p:pic>
      <p:sp>
        <p:nvSpPr>
          <p:cNvPr id="8" name="Text 5"/>
          <p:cNvSpPr txBox="1"/>
          <p:nvPr/>
        </p:nvSpPr>
        <p:spPr>
          <a:xfrm>
            <a:off x="1554480" y="1600200"/>
            <a:ext cx="4175608" cy="640080"/>
          </a:xfrm>
          <a:prstGeom prst="rect">
            <a:avLst/>
          </a:prstGeom>
          <a:noFill/>
          <a:ln/>
        </p:spPr>
        <p:txBody>
          <a:bodyPr wrap="square" lIns="0" tIns="0" rIns="0" bIns="0" rtlCol="0" anchor="ctr"/>
          <a:lstStyle/>
          <a:p>
            <a:pPr indent="0" marL="0">
              <a:buNone/>
            </a:pPr>
            <a:r>
              <a:rPr lang="en-US" sz="2100" b="1" dirty="0">
                <a:solidFill>
                  <a:srgbClr val="188038"/>
                </a:solidFill>
                <a:latin typeface="Roboto" pitchFamily="34" charset="0"/>
                <a:ea typeface="Roboto" pitchFamily="34" charset="-122"/>
                <a:cs typeface="Roboto" pitchFamily="34" charset="-120"/>
              </a:rPr>
              <a:t>Un canvi</a:t>
            </a:r>
            <a:endParaRPr lang="en-US" sz="2100" dirty="0"/>
          </a:p>
        </p:txBody>
      </p:sp>
      <p:sp>
        <p:nvSpPr>
          <p:cNvPr id="9" name="Text 6"/>
          <p:cNvSpPr txBox="1"/>
          <p:nvPr/>
        </p:nvSpPr>
        <p:spPr>
          <a:xfrm>
            <a:off x="777240" y="2377440"/>
            <a:ext cx="4952848" cy="1371600"/>
          </a:xfrm>
          <a:prstGeom prst="rect">
            <a:avLst/>
          </a:prstGeom>
          <a:noFill/>
          <a:ln/>
        </p:spPr>
        <p:txBody>
          <a:bodyPr wrap="square" lIns="0" tIns="0" rIns="0" bIns="0" rtlCol="0" anchor="t"/>
          <a:lstStyle/>
          <a:p>
            <a:pPr indent="0" marL="0">
              <a:buNone/>
            </a:pPr>
            <a:r>
              <a:rPr lang="en-US" sz="1800" dirty="0">
                <a:solidFill>
                  <a:srgbClr val="202124"/>
                </a:solidFill>
                <a:latin typeface="Roboto" pitchFamily="34" charset="0"/>
                <a:ea typeface="Roboto" pitchFamily="34" charset="-122"/>
                <a:cs typeface="Roboto" pitchFamily="34" charset="-120"/>
              </a:rPr>
              <a:t>El 1582, la reforma del papa Gregori XIII va canviar la regla dels anys de traspàs i es va saltar deu dies.</a:t>
            </a:r>
            <a:endParaRPr lang="en-US" sz="1800" dirty="0"/>
          </a:p>
        </p:txBody>
      </p:sp>
      <p:sp>
        <p:nvSpPr>
          <p:cNvPr id="10" name="Targeta Una continuïtat"/>
          <p:cNvSpPr/>
          <p:nvPr/>
        </p:nvSpPr>
        <p:spPr>
          <a:xfrm>
            <a:off x="6233008" y="1371600"/>
            <a:ext cx="5410048" cy="2514600"/>
          </a:xfrm>
          <a:prstGeom prst="roundRect">
            <a:avLst>
              <a:gd name="adj" fmla="val 4000"/>
            </a:avLst>
          </a:prstGeom>
          <a:solidFill>
            <a:srgbClr val="188038"/>
          </a:solidFill>
          <a:ln/>
        </p:spPr>
      </p:sp>
      <p:sp>
        <p:nvSpPr>
          <p:cNvPr id="11" name="Cercle icona"/>
          <p:cNvSpPr/>
          <p:nvPr/>
        </p:nvSpPr>
        <p:spPr>
          <a:xfrm>
            <a:off x="6461608" y="1600200"/>
            <a:ext cx="640080" cy="640080"/>
          </a:xfrm>
          <a:prstGeom prst="ellipse">
            <a:avLst/>
          </a:prstGeom>
          <a:solidFill>
            <a:srgbClr val="FFFFFF"/>
          </a:solidFill>
          <a:ln/>
        </p:spPr>
      </p:sp>
      <p:pic>
        <p:nvPicPr>
          <p:cNvPr id="12" name="Icona TbRepeat" descr="/home/claude/p857/build/img/ic/TbRepeat-g.png">    </p:cNvPr>
          <p:cNvPicPr>
            <a:picLocks noChangeAspect="1"/>
          </p:cNvPicPr>
          <p:nvPr/>
        </p:nvPicPr>
        <p:blipFill>
          <a:blip r:embed="rId2"/>
          <a:stretch>
            <a:fillRect/>
          </a:stretch>
        </p:blipFill>
        <p:spPr>
          <a:xfrm>
            <a:off x="6602425" y="1741018"/>
            <a:ext cx="358445" cy="358445"/>
          </a:xfrm>
          <a:prstGeom prst="rect">
            <a:avLst/>
          </a:prstGeom>
        </p:spPr>
      </p:pic>
      <p:sp>
        <p:nvSpPr>
          <p:cNvPr id="13" name="Text 9"/>
          <p:cNvSpPr txBox="1"/>
          <p:nvPr/>
        </p:nvSpPr>
        <p:spPr>
          <a:xfrm>
            <a:off x="7238848" y="1600200"/>
            <a:ext cx="4175608" cy="640080"/>
          </a:xfrm>
          <a:prstGeom prst="rect">
            <a:avLst/>
          </a:prstGeom>
          <a:noFill/>
          <a:ln/>
        </p:spPr>
        <p:txBody>
          <a:bodyPr wrap="square" lIns="0" tIns="0" rIns="0" bIns="0" rtlCol="0" anchor="ctr"/>
          <a:lstStyle/>
          <a:p>
            <a:pPr indent="0" marL="0">
              <a:buNone/>
            </a:pPr>
            <a:r>
              <a:rPr lang="en-US" sz="2100" b="1" dirty="0">
                <a:solidFill>
                  <a:srgbClr val="FFFFFF"/>
                </a:solidFill>
                <a:latin typeface="Roboto" pitchFamily="34" charset="0"/>
                <a:ea typeface="Roboto" pitchFamily="34" charset="-122"/>
                <a:cs typeface="Roboto" pitchFamily="34" charset="-120"/>
              </a:rPr>
              <a:t>Una continuïtat</a:t>
            </a:r>
            <a:endParaRPr lang="en-US" sz="2100" dirty="0"/>
          </a:p>
        </p:txBody>
      </p:sp>
      <p:sp>
        <p:nvSpPr>
          <p:cNvPr id="14" name="Text 10"/>
          <p:cNvSpPr txBox="1"/>
          <p:nvPr/>
        </p:nvSpPr>
        <p:spPr>
          <a:xfrm>
            <a:off x="6461608" y="2377440"/>
            <a:ext cx="4952848" cy="1371600"/>
          </a:xfrm>
          <a:prstGeom prst="rect">
            <a:avLst/>
          </a:prstGeom>
          <a:noFill/>
          <a:ln/>
        </p:spPr>
        <p:txBody>
          <a:bodyPr wrap="square" lIns="0" tIns="0" rIns="0" bIns="0" rtlCol="0" anchor="t"/>
          <a:lstStyle/>
          <a:p>
            <a:pPr indent="0" marL="0">
              <a:buNone/>
            </a:pPr>
            <a:r>
              <a:rPr lang="en-US" sz="1800" dirty="0">
                <a:solidFill>
                  <a:srgbClr val="FFFFFF"/>
                </a:solidFill>
                <a:latin typeface="Roboto" pitchFamily="34" charset="0"/>
                <a:ea typeface="Roboto" pitchFamily="34" charset="-122"/>
                <a:cs typeface="Roboto" pitchFamily="34" charset="-120"/>
              </a:rPr>
              <a:t>Els noms dels mesos encara són els del calendari romà. Juliol ve de Juli Cèsar i agost, de l'emperador August.</a:t>
            </a:r>
            <a:endParaRPr lang="en-US" sz="1800" dirty="0"/>
          </a:p>
        </p:txBody>
      </p:sp>
      <p:sp>
        <p:nvSpPr>
          <p:cNvPr id="15" name="La història no sempre avança en línia recta"/>
          <p:cNvSpPr/>
          <p:nvPr/>
        </p:nvSpPr>
        <p:spPr>
          <a:xfrm>
            <a:off x="548640" y="4114800"/>
            <a:ext cx="11094415" cy="1874520"/>
          </a:xfrm>
          <a:prstGeom prst="roundRect">
            <a:avLst>
              <a:gd name="adj" fmla="val 5366"/>
            </a:avLst>
          </a:prstGeom>
          <a:solidFill>
            <a:srgbClr val="F6F8FB"/>
          </a:solidFill>
          <a:ln/>
        </p:spPr>
      </p:sp>
      <p:sp>
        <p:nvSpPr>
          <p:cNvPr id="16" name="Text 12"/>
          <p:cNvSpPr txBox="1"/>
          <p:nvPr/>
        </p:nvSpPr>
        <p:spPr>
          <a:xfrm>
            <a:off x="868680" y="4270248"/>
            <a:ext cx="10454335" cy="320040"/>
          </a:xfrm>
          <a:prstGeom prst="rect">
            <a:avLst/>
          </a:prstGeom>
          <a:noFill/>
          <a:ln/>
        </p:spPr>
        <p:txBody>
          <a:bodyPr wrap="square" lIns="0" tIns="0" rIns="0" bIns="0" rtlCol="0" anchor="t"/>
          <a:lstStyle/>
          <a:p>
            <a:pPr indent="0" marL="0">
              <a:buNone/>
            </a:pPr>
            <a:r>
              <a:rPr lang="en-US" sz="1400" b="1" dirty="0">
                <a:solidFill>
                  <a:srgbClr val="202124"/>
                </a:solidFill>
                <a:latin typeface="Roboto" pitchFamily="34" charset="0"/>
                <a:ea typeface="Roboto" pitchFamily="34" charset="-122"/>
                <a:cs typeface="Roboto" pitchFamily="34" charset="-120"/>
              </a:rPr>
              <a:t>La història no sempre avança en línia recta</a:t>
            </a:r>
            <a:endParaRPr lang="en-US" sz="1400" dirty="0"/>
          </a:p>
        </p:txBody>
      </p:sp>
      <p:sp>
        <p:nvSpPr>
          <p:cNvPr id="17" name="Text 13"/>
          <p:cNvSpPr txBox="1"/>
          <p:nvPr/>
        </p:nvSpPr>
        <p:spPr>
          <a:xfrm>
            <a:off x="868680" y="4617720"/>
            <a:ext cx="10454335" cy="1234440"/>
          </a:xfrm>
          <a:prstGeom prst="rect">
            <a:avLst/>
          </a:prstGeom>
          <a:noFill/>
          <a:ln/>
        </p:spPr>
        <p:txBody>
          <a:bodyPr wrap="square" lIns="0" tIns="0" rIns="0" bIns="0" rtlCol="0" anchor="t"/>
          <a:lstStyle/>
          <a:p>
            <a:pPr indent="0" marL="0">
              <a:buNone/>
            </a:pPr>
            <a:r>
              <a:rPr lang="en-US" sz="1750" dirty="0">
                <a:solidFill>
                  <a:srgbClr val="5F6368"/>
                </a:solidFill>
                <a:latin typeface="Roboto" pitchFamily="34" charset="0"/>
                <a:ea typeface="Roboto" pitchFamily="34" charset="-122"/>
                <a:cs typeface="Roboto" pitchFamily="34" charset="-120"/>
              </a:rPr>
              <a:t>Quan va caure l'Imperi Romà d'Occident, moltes ciutats es van anar buidant, la gent va tornar a viure al camp i el comerç entre regions llunyanes es va reduir. Ho veuràs a la unitat de Roma.</a:t>
            </a:r>
            <a:endParaRPr lang="en-US" sz="17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9</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I ara què?</a:t>
            </a:r>
            <a:endParaRPr lang="en-US" sz="2800" dirty="0"/>
          </a:p>
        </p:txBody>
      </p:sp>
      <p:sp>
        <p:nvSpPr>
          <p:cNvPr id="5" name="Text 3"/>
          <p:cNvSpPr txBox="1"/>
          <p:nvPr/>
        </p:nvSpPr>
        <p:spPr>
          <a:xfrm>
            <a:off x="548640" y="1371600"/>
            <a:ext cx="11094415" cy="457200"/>
          </a:xfrm>
          <a:prstGeom prst="rect">
            <a:avLst/>
          </a:prstGeom>
          <a:noFill/>
          <a:ln/>
        </p:spPr>
        <p:txBody>
          <a:bodyPr wrap="square" lIns="0" tIns="0" rIns="0" bIns="0" rtlCol="0" anchor="t"/>
          <a:lstStyle/>
          <a:p>
            <a:pPr indent="0" marL="0">
              <a:buNone/>
            </a:pPr>
            <a:r>
              <a:rPr lang="en-US" sz="1800" dirty="0">
                <a:solidFill>
                  <a:srgbClr val="202124"/>
                </a:solidFill>
                <a:latin typeface="Roboto" pitchFamily="34" charset="0"/>
                <a:ea typeface="Roboto" pitchFamily="34" charset="-122"/>
                <a:cs typeface="Roboto" pitchFamily="34" charset="-120"/>
              </a:rPr>
              <a:t>Aquestes són les eines bàsiques. Els propers temes en seran aplicacions.</a:t>
            </a:r>
            <a:endParaRPr lang="en-US" sz="1800" dirty="0"/>
          </a:p>
        </p:txBody>
      </p:sp>
      <p:sp>
        <p:nvSpPr>
          <p:cNvPr id="6" name="Etiqueta La prehistòria"/>
          <p:cNvSpPr/>
          <p:nvPr/>
        </p:nvSpPr>
        <p:spPr>
          <a:xfrm>
            <a:off x="548640" y="1920240"/>
            <a:ext cx="1655064" cy="402336"/>
          </a:xfrm>
          <a:prstGeom prst="roundRect">
            <a:avLst>
              <a:gd name="adj" fmla="val 50000"/>
            </a:avLst>
          </a:prstGeom>
          <a:solidFill>
            <a:srgbClr val="E6F4EA"/>
          </a:solidFill>
          <a:ln/>
        </p:spPr>
      </p:sp>
      <p:sp>
        <p:nvSpPr>
          <p:cNvPr id="7" name="Text 5"/>
          <p:cNvSpPr txBox="1"/>
          <p:nvPr/>
        </p:nvSpPr>
        <p:spPr>
          <a:xfrm>
            <a:off x="548640" y="1920240"/>
            <a:ext cx="1655064" cy="402336"/>
          </a:xfrm>
          <a:prstGeom prst="rect">
            <a:avLst/>
          </a:prstGeom>
          <a:noFill/>
          <a:ln/>
        </p:spPr>
        <p:txBody>
          <a:bodyPr wrap="square" lIns="0" tIns="0" rIns="0" bIns="0" rtlCol="0" anchor="ctr"/>
          <a:lstStyle/>
          <a:p>
            <a:pPr algn="ctr" indent="0" marL="0">
              <a:buNone/>
            </a:pPr>
            <a:r>
              <a:rPr lang="en-US" sz="1500" b="1" dirty="0">
                <a:solidFill>
                  <a:srgbClr val="188038"/>
                </a:solidFill>
                <a:latin typeface="Roboto" pitchFamily="34" charset="0"/>
                <a:ea typeface="Roboto" pitchFamily="34" charset="-122"/>
                <a:cs typeface="Roboto" pitchFamily="34" charset="-120"/>
              </a:rPr>
              <a:t>La prehistòria</a:t>
            </a:r>
            <a:endParaRPr lang="en-US" sz="1500" dirty="0"/>
          </a:p>
        </p:txBody>
      </p:sp>
      <p:sp>
        <p:nvSpPr>
          <p:cNvPr id="8" name="Etiqueta Les primeres civilitzacions"/>
          <p:cNvSpPr/>
          <p:nvPr/>
        </p:nvSpPr>
        <p:spPr>
          <a:xfrm>
            <a:off x="2340864" y="1920240"/>
            <a:ext cx="2903220" cy="402336"/>
          </a:xfrm>
          <a:prstGeom prst="roundRect">
            <a:avLst>
              <a:gd name="adj" fmla="val 50000"/>
            </a:avLst>
          </a:prstGeom>
          <a:solidFill>
            <a:srgbClr val="E6F4EA"/>
          </a:solidFill>
          <a:ln/>
        </p:spPr>
      </p:sp>
      <p:sp>
        <p:nvSpPr>
          <p:cNvPr id="9" name="Text 7"/>
          <p:cNvSpPr txBox="1"/>
          <p:nvPr/>
        </p:nvSpPr>
        <p:spPr>
          <a:xfrm>
            <a:off x="2340864" y="1920240"/>
            <a:ext cx="2903220" cy="402336"/>
          </a:xfrm>
          <a:prstGeom prst="rect">
            <a:avLst/>
          </a:prstGeom>
          <a:noFill/>
          <a:ln/>
        </p:spPr>
        <p:txBody>
          <a:bodyPr wrap="square" lIns="0" tIns="0" rIns="0" bIns="0" rtlCol="0" anchor="ctr"/>
          <a:lstStyle/>
          <a:p>
            <a:pPr algn="ctr" indent="0" marL="0">
              <a:buNone/>
            </a:pPr>
            <a:r>
              <a:rPr lang="en-US" sz="1500" b="1" dirty="0">
                <a:solidFill>
                  <a:srgbClr val="188038"/>
                </a:solidFill>
                <a:latin typeface="Roboto" pitchFamily="34" charset="0"/>
                <a:ea typeface="Roboto" pitchFamily="34" charset="-122"/>
                <a:cs typeface="Roboto" pitchFamily="34" charset="-120"/>
              </a:rPr>
              <a:t>Les primeres civilitzacions</a:t>
            </a:r>
            <a:endParaRPr lang="en-US" sz="1500" dirty="0"/>
          </a:p>
        </p:txBody>
      </p:sp>
      <p:sp>
        <p:nvSpPr>
          <p:cNvPr id="10" name="Etiqueta La Grècia clàssica"/>
          <p:cNvSpPr/>
          <p:nvPr/>
        </p:nvSpPr>
        <p:spPr>
          <a:xfrm>
            <a:off x="5381244" y="1920240"/>
            <a:ext cx="2039112" cy="402336"/>
          </a:xfrm>
          <a:prstGeom prst="roundRect">
            <a:avLst>
              <a:gd name="adj" fmla="val 50000"/>
            </a:avLst>
          </a:prstGeom>
          <a:solidFill>
            <a:srgbClr val="E6F4EA"/>
          </a:solidFill>
          <a:ln/>
        </p:spPr>
      </p:sp>
      <p:sp>
        <p:nvSpPr>
          <p:cNvPr id="11" name="Text 9"/>
          <p:cNvSpPr txBox="1"/>
          <p:nvPr/>
        </p:nvSpPr>
        <p:spPr>
          <a:xfrm>
            <a:off x="5381244" y="1920240"/>
            <a:ext cx="2039112" cy="402336"/>
          </a:xfrm>
          <a:prstGeom prst="rect">
            <a:avLst/>
          </a:prstGeom>
          <a:noFill/>
          <a:ln/>
        </p:spPr>
        <p:txBody>
          <a:bodyPr wrap="square" lIns="0" tIns="0" rIns="0" bIns="0" rtlCol="0" anchor="ctr"/>
          <a:lstStyle/>
          <a:p>
            <a:pPr algn="ctr" indent="0" marL="0">
              <a:buNone/>
            </a:pPr>
            <a:r>
              <a:rPr lang="en-US" sz="1500" b="1" dirty="0">
                <a:solidFill>
                  <a:srgbClr val="188038"/>
                </a:solidFill>
                <a:latin typeface="Roboto" pitchFamily="34" charset="0"/>
                <a:ea typeface="Roboto" pitchFamily="34" charset="-122"/>
                <a:cs typeface="Roboto" pitchFamily="34" charset="-120"/>
              </a:rPr>
              <a:t>La Grècia clàssica</a:t>
            </a:r>
            <a:endParaRPr lang="en-US" sz="1500" dirty="0"/>
          </a:p>
        </p:txBody>
      </p:sp>
      <p:sp>
        <p:nvSpPr>
          <p:cNvPr id="12" name="Etiqueta Roma"/>
          <p:cNvSpPr/>
          <p:nvPr/>
        </p:nvSpPr>
        <p:spPr>
          <a:xfrm>
            <a:off x="7557516" y="1920240"/>
            <a:ext cx="694944" cy="402336"/>
          </a:xfrm>
          <a:prstGeom prst="roundRect">
            <a:avLst>
              <a:gd name="adj" fmla="val 50000"/>
            </a:avLst>
          </a:prstGeom>
          <a:solidFill>
            <a:srgbClr val="E6F4EA"/>
          </a:solidFill>
          <a:ln/>
        </p:spPr>
      </p:sp>
      <p:sp>
        <p:nvSpPr>
          <p:cNvPr id="13" name="Text 11"/>
          <p:cNvSpPr txBox="1"/>
          <p:nvPr/>
        </p:nvSpPr>
        <p:spPr>
          <a:xfrm>
            <a:off x="7557516" y="1920240"/>
            <a:ext cx="694944" cy="402336"/>
          </a:xfrm>
          <a:prstGeom prst="rect">
            <a:avLst/>
          </a:prstGeom>
          <a:noFill/>
          <a:ln/>
        </p:spPr>
        <p:txBody>
          <a:bodyPr wrap="square" lIns="0" tIns="0" rIns="0" bIns="0" rtlCol="0" anchor="ctr"/>
          <a:lstStyle/>
          <a:p>
            <a:pPr algn="ctr" indent="0" marL="0">
              <a:buNone/>
            </a:pPr>
            <a:r>
              <a:rPr lang="en-US" sz="1500" b="1" dirty="0">
                <a:solidFill>
                  <a:srgbClr val="188038"/>
                </a:solidFill>
                <a:latin typeface="Roboto" pitchFamily="34" charset="0"/>
                <a:ea typeface="Roboto" pitchFamily="34" charset="-122"/>
                <a:cs typeface="Roboto" pitchFamily="34" charset="-120"/>
              </a:rPr>
              <a:t>Roma</a:t>
            </a:r>
            <a:endParaRPr lang="en-US" sz="1500" dirty="0"/>
          </a:p>
        </p:txBody>
      </p:sp>
      <p:sp>
        <p:nvSpPr>
          <p:cNvPr id="14" name="Targeta Amb mapes"/>
          <p:cNvSpPr/>
          <p:nvPr/>
        </p:nvSpPr>
        <p:spPr>
          <a:xfrm>
            <a:off x="548640" y="2606040"/>
            <a:ext cx="3515258" cy="2103120"/>
          </a:xfrm>
          <a:prstGeom prst="roundRect">
            <a:avLst>
              <a:gd name="adj" fmla="val 4783"/>
            </a:avLst>
          </a:prstGeom>
          <a:solidFill>
            <a:srgbClr val="FFFFFF"/>
          </a:solidFill>
          <a:ln w="12700">
            <a:solidFill>
              <a:srgbClr val="DADCE0"/>
            </a:solidFill>
            <a:prstDash val="solid"/>
          </a:ln>
        </p:spPr>
      </p:sp>
      <p:sp>
        <p:nvSpPr>
          <p:cNvPr id="15" name="Cercle icona"/>
          <p:cNvSpPr/>
          <p:nvPr/>
        </p:nvSpPr>
        <p:spPr>
          <a:xfrm>
            <a:off x="777240" y="2834640"/>
            <a:ext cx="640080" cy="640080"/>
          </a:xfrm>
          <a:prstGeom prst="ellipse">
            <a:avLst/>
          </a:prstGeom>
          <a:solidFill>
            <a:srgbClr val="E6F4EA"/>
          </a:solidFill>
          <a:ln/>
        </p:spPr>
      </p:sp>
      <p:pic>
        <p:nvPicPr>
          <p:cNvPr id="16" name="Icona TbMap" descr="/home/claude/p857/build/img/ic/TbMap-g.png">    </p:cNvPr>
          <p:cNvPicPr>
            <a:picLocks noChangeAspect="1"/>
          </p:cNvPicPr>
          <p:nvPr/>
        </p:nvPicPr>
        <p:blipFill>
          <a:blip r:embed="rId1"/>
          <a:stretch>
            <a:fillRect/>
          </a:stretch>
        </p:blipFill>
        <p:spPr>
          <a:xfrm>
            <a:off x="918058" y="2975458"/>
            <a:ext cx="358445" cy="358445"/>
          </a:xfrm>
          <a:prstGeom prst="rect">
            <a:avLst/>
          </a:prstGeom>
        </p:spPr>
      </p:pic>
      <p:sp>
        <p:nvSpPr>
          <p:cNvPr id="17" name="Text 14"/>
          <p:cNvSpPr txBox="1"/>
          <p:nvPr/>
        </p:nvSpPr>
        <p:spPr>
          <a:xfrm>
            <a:off x="1554480" y="2834640"/>
            <a:ext cx="2280818" cy="640080"/>
          </a:xfrm>
          <a:prstGeom prst="rect">
            <a:avLst/>
          </a:prstGeom>
          <a:noFill/>
          <a:ln/>
        </p:spPr>
        <p:txBody>
          <a:bodyPr wrap="square" lIns="0" tIns="0" rIns="0" bIns="0" rtlCol="0" anchor="ctr"/>
          <a:lstStyle/>
          <a:p>
            <a:pPr indent="0" marL="0">
              <a:buNone/>
            </a:pPr>
            <a:r>
              <a:rPr lang="en-US" sz="2000" b="1" dirty="0">
                <a:solidFill>
                  <a:srgbClr val="188038"/>
                </a:solidFill>
                <a:latin typeface="Roboto" pitchFamily="34" charset="0"/>
                <a:ea typeface="Roboto" pitchFamily="34" charset="-122"/>
                <a:cs typeface="Roboto" pitchFamily="34" charset="-120"/>
              </a:rPr>
              <a:t>Amb mapes</a:t>
            </a:r>
            <a:endParaRPr lang="en-US" sz="2000" dirty="0"/>
          </a:p>
        </p:txBody>
      </p:sp>
      <p:sp>
        <p:nvSpPr>
          <p:cNvPr id="18" name="Text 15"/>
          <p:cNvSpPr txBox="1"/>
          <p:nvPr/>
        </p:nvSpPr>
        <p:spPr>
          <a:xfrm>
            <a:off x="777240" y="3611880"/>
            <a:ext cx="3058058" cy="960120"/>
          </a:xfrm>
          <a:prstGeom prst="rect">
            <a:avLst/>
          </a:prstGeom>
          <a:noFill/>
          <a:ln/>
        </p:spPr>
        <p:txBody>
          <a:bodyPr wrap="square" lIns="0" tIns="0" rIns="0" bIns="0" rtlCol="0" anchor="t"/>
          <a:lstStyle/>
          <a:p>
            <a:pPr indent="0" marL="0">
              <a:buNone/>
            </a:pPr>
            <a:r>
              <a:rPr lang="en-US" sz="1800" dirty="0">
                <a:solidFill>
                  <a:srgbClr val="202124"/>
                </a:solidFill>
                <a:latin typeface="Roboto" pitchFamily="34" charset="0"/>
                <a:ea typeface="Roboto" pitchFamily="34" charset="-122"/>
                <a:cs typeface="Roboto" pitchFamily="34" charset="-120"/>
              </a:rPr>
              <a:t>Situarem les civilitzacions a l'espai.</a:t>
            </a:r>
            <a:endParaRPr lang="en-US" sz="1800" dirty="0"/>
          </a:p>
        </p:txBody>
      </p:sp>
      <p:sp>
        <p:nvSpPr>
          <p:cNvPr id="19" name="Targeta Amb fonts"/>
          <p:cNvSpPr/>
          <p:nvPr/>
        </p:nvSpPr>
        <p:spPr>
          <a:xfrm>
            <a:off x="4338218" y="2606040"/>
            <a:ext cx="3515258" cy="2103120"/>
          </a:xfrm>
          <a:prstGeom prst="roundRect">
            <a:avLst>
              <a:gd name="adj" fmla="val 4783"/>
            </a:avLst>
          </a:prstGeom>
          <a:solidFill>
            <a:srgbClr val="FFFFFF"/>
          </a:solidFill>
          <a:ln w="12700">
            <a:solidFill>
              <a:srgbClr val="DADCE0"/>
            </a:solidFill>
            <a:prstDash val="solid"/>
          </a:ln>
        </p:spPr>
      </p:sp>
      <p:sp>
        <p:nvSpPr>
          <p:cNvPr id="20" name="Cercle icona"/>
          <p:cNvSpPr/>
          <p:nvPr/>
        </p:nvSpPr>
        <p:spPr>
          <a:xfrm>
            <a:off x="4566818" y="2834640"/>
            <a:ext cx="640080" cy="640080"/>
          </a:xfrm>
          <a:prstGeom prst="ellipse">
            <a:avLst/>
          </a:prstGeom>
          <a:solidFill>
            <a:srgbClr val="E6F4EA"/>
          </a:solidFill>
          <a:ln/>
        </p:spPr>
      </p:sp>
      <p:pic>
        <p:nvPicPr>
          <p:cNvPr id="21" name="Icona TbSearch" descr="/home/claude/p857/build/img/ic/TbSearch-g.png">    </p:cNvPr>
          <p:cNvPicPr>
            <a:picLocks noChangeAspect="1"/>
          </p:cNvPicPr>
          <p:nvPr/>
        </p:nvPicPr>
        <p:blipFill>
          <a:blip r:embed="rId2"/>
          <a:stretch>
            <a:fillRect/>
          </a:stretch>
        </p:blipFill>
        <p:spPr>
          <a:xfrm>
            <a:off x="4707636" y="2975458"/>
            <a:ext cx="358445" cy="358445"/>
          </a:xfrm>
          <a:prstGeom prst="rect">
            <a:avLst/>
          </a:prstGeom>
        </p:spPr>
      </p:pic>
      <p:sp>
        <p:nvSpPr>
          <p:cNvPr id="22" name="Text 18"/>
          <p:cNvSpPr txBox="1"/>
          <p:nvPr/>
        </p:nvSpPr>
        <p:spPr>
          <a:xfrm>
            <a:off x="5344058" y="2834640"/>
            <a:ext cx="2280818" cy="640080"/>
          </a:xfrm>
          <a:prstGeom prst="rect">
            <a:avLst/>
          </a:prstGeom>
          <a:noFill/>
          <a:ln/>
        </p:spPr>
        <p:txBody>
          <a:bodyPr wrap="square" lIns="0" tIns="0" rIns="0" bIns="0" rtlCol="0" anchor="ctr"/>
          <a:lstStyle/>
          <a:p>
            <a:pPr indent="0" marL="0">
              <a:buNone/>
            </a:pPr>
            <a:r>
              <a:rPr lang="en-US" sz="2000" b="1" dirty="0">
                <a:solidFill>
                  <a:srgbClr val="188038"/>
                </a:solidFill>
                <a:latin typeface="Roboto" pitchFamily="34" charset="0"/>
                <a:ea typeface="Roboto" pitchFamily="34" charset="-122"/>
                <a:cs typeface="Roboto" pitchFamily="34" charset="-120"/>
              </a:rPr>
              <a:t>Amb fonts</a:t>
            </a:r>
            <a:endParaRPr lang="en-US" sz="2000" dirty="0"/>
          </a:p>
        </p:txBody>
      </p:sp>
      <p:sp>
        <p:nvSpPr>
          <p:cNvPr id="23" name="Text 19"/>
          <p:cNvSpPr txBox="1"/>
          <p:nvPr/>
        </p:nvSpPr>
        <p:spPr>
          <a:xfrm>
            <a:off x="4566818" y="3611880"/>
            <a:ext cx="3058058" cy="960120"/>
          </a:xfrm>
          <a:prstGeom prst="rect">
            <a:avLst/>
          </a:prstGeom>
          <a:noFill/>
          <a:ln/>
        </p:spPr>
        <p:txBody>
          <a:bodyPr wrap="square" lIns="0" tIns="0" rIns="0" bIns="0" rtlCol="0" anchor="t"/>
          <a:lstStyle/>
          <a:p>
            <a:pPr indent="0" marL="0">
              <a:buNone/>
            </a:pPr>
            <a:r>
              <a:rPr lang="en-US" sz="1800" dirty="0">
                <a:solidFill>
                  <a:srgbClr val="202124"/>
                </a:solidFill>
                <a:latin typeface="Roboto" pitchFamily="34" charset="0"/>
                <a:ea typeface="Roboto" pitchFamily="34" charset="-122"/>
                <a:cs typeface="Roboto" pitchFamily="34" charset="-120"/>
              </a:rPr>
              <a:t>Llegirem fonts arqueològiques per conèixer-les.</a:t>
            </a:r>
            <a:endParaRPr lang="en-US" sz="1800" dirty="0"/>
          </a:p>
        </p:txBody>
      </p:sp>
      <p:sp>
        <p:nvSpPr>
          <p:cNvPr id="24" name="Targeta Amb línies del temps"/>
          <p:cNvSpPr/>
          <p:nvPr/>
        </p:nvSpPr>
        <p:spPr>
          <a:xfrm>
            <a:off x="8127797" y="2606040"/>
            <a:ext cx="3515258" cy="2103120"/>
          </a:xfrm>
          <a:prstGeom prst="roundRect">
            <a:avLst>
              <a:gd name="adj" fmla="val 4783"/>
            </a:avLst>
          </a:prstGeom>
          <a:solidFill>
            <a:srgbClr val="FFFFFF"/>
          </a:solidFill>
          <a:ln w="12700">
            <a:solidFill>
              <a:srgbClr val="DADCE0"/>
            </a:solidFill>
            <a:prstDash val="solid"/>
          </a:ln>
        </p:spPr>
      </p:sp>
      <p:sp>
        <p:nvSpPr>
          <p:cNvPr id="25" name="Cercle icona"/>
          <p:cNvSpPr/>
          <p:nvPr/>
        </p:nvSpPr>
        <p:spPr>
          <a:xfrm>
            <a:off x="8356397" y="2834640"/>
            <a:ext cx="640080" cy="640080"/>
          </a:xfrm>
          <a:prstGeom prst="ellipse">
            <a:avLst/>
          </a:prstGeom>
          <a:solidFill>
            <a:srgbClr val="E6F4EA"/>
          </a:solidFill>
          <a:ln/>
        </p:spPr>
      </p:sp>
      <p:pic>
        <p:nvPicPr>
          <p:cNvPr id="26" name="Icona TbTimeline" descr="/home/claude/p857/build/img/ic/TbTimeline-g.png">    </p:cNvPr>
          <p:cNvPicPr>
            <a:picLocks noChangeAspect="1"/>
          </p:cNvPicPr>
          <p:nvPr/>
        </p:nvPicPr>
        <p:blipFill>
          <a:blip r:embed="rId3"/>
          <a:stretch>
            <a:fillRect/>
          </a:stretch>
        </p:blipFill>
        <p:spPr>
          <a:xfrm>
            <a:off x="8497214" y="2975458"/>
            <a:ext cx="358445" cy="358445"/>
          </a:xfrm>
          <a:prstGeom prst="rect">
            <a:avLst/>
          </a:prstGeom>
        </p:spPr>
      </p:pic>
      <p:sp>
        <p:nvSpPr>
          <p:cNvPr id="27" name="Text 22"/>
          <p:cNvSpPr txBox="1"/>
          <p:nvPr/>
        </p:nvSpPr>
        <p:spPr>
          <a:xfrm>
            <a:off x="9133637" y="2834640"/>
            <a:ext cx="2280818" cy="640080"/>
          </a:xfrm>
          <a:prstGeom prst="rect">
            <a:avLst/>
          </a:prstGeom>
          <a:noFill/>
          <a:ln/>
        </p:spPr>
        <p:txBody>
          <a:bodyPr wrap="square" lIns="0" tIns="0" rIns="0" bIns="0" rtlCol="0" anchor="ctr"/>
          <a:lstStyle/>
          <a:p>
            <a:pPr indent="0" marL="0">
              <a:buNone/>
            </a:pPr>
            <a:r>
              <a:rPr lang="en-US" sz="2000" b="1" dirty="0">
                <a:solidFill>
                  <a:srgbClr val="188038"/>
                </a:solidFill>
                <a:latin typeface="Roboto" pitchFamily="34" charset="0"/>
                <a:ea typeface="Roboto" pitchFamily="34" charset="-122"/>
                <a:cs typeface="Roboto" pitchFamily="34" charset="-120"/>
              </a:rPr>
              <a:t>Amb línies del temps</a:t>
            </a:r>
            <a:endParaRPr lang="en-US" sz="2000" dirty="0"/>
          </a:p>
        </p:txBody>
      </p:sp>
      <p:sp>
        <p:nvSpPr>
          <p:cNvPr id="28" name="Text 23"/>
          <p:cNvSpPr txBox="1"/>
          <p:nvPr/>
        </p:nvSpPr>
        <p:spPr>
          <a:xfrm>
            <a:off x="8356397" y="3611880"/>
            <a:ext cx="3058058" cy="960120"/>
          </a:xfrm>
          <a:prstGeom prst="rect">
            <a:avLst/>
          </a:prstGeom>
          <a:noFill/>
          <a:ln/>
        </p:spPr>
        <p:txBody>
          <a:bodyPr wrap="square" lIns="0" tIns="0" rIns="0" bIns="0" rtlCol="0" anchor="t"/>
          <a:lstStyle/>
          <a:p>
            <a:pPr indent="0" marL="0">
              <a:buNone/>
            </a:pPr>
            <a:r>
              <a:rPr lang="en-US" sz="1800" dirty="0">
                <a:solidFill>
                  <a:srgbClr val="202124"/>
                </a:solidFill>
                <a:latin typeface="Roboto" pitchFamily="34" charset="0"/>
                <a:ea typeface="Roboto" pitchFamily="34" charset="-122"/>
                <a:cs typeface="Roboto" pitchFamily="34" charset="-120"/>
              </a:rPr>
              <a:t>Les ordenarem en el temps.</a:t>
            </a:r>
            <a:endParaRPr lang="en-US" sz="1800" dirty="0"/>
          </a:p>
        </p:txBody>
      </p:sp>
      <p:sp>
        <p:nvSpPr>
          <p:cNvPr id="29" name="Tornaràs a aquesta unitat"/>
          <p:cNvSpPr/>
          <p:nvPr/>
        </p:nvSpPr>
        <p:spPr>
          <a:xfrm>
            <a:off x="548640" y="4937760"/>
            <a:ext cx="11094415" cy="1051560"/>
          </a:xfrm>
          <a:prstGeom prst="roundRect">
            <a:avLst>
              <a:gd name="adj" fmla="val 9565"/>
            </a:avLst>
          </a:prstGeom>
          <a:solidFill>
            <a:srgbClr val="188038"/>
          </a:solidFill>
          <a:ln/>
        </p:spPr>
      </p:sp>
      <p:sp>
        <p:nvSpPr>
          <p:cNvPr id="30" name="Text 25"/>
          <p:cNvSpPr txBox="1"/>
          <p:nvPr/>
        </p:nvSpPr>
        <p:spPr>
          <a:xfrm>
            <a:off x="914400" y="4937760"/>
            <a:ext cx="10362895" cy="1051560"/>
          </a:xfrm>
          <a:prstGeom prst="rect">
            <a:avLst/>
          </a:prstGeom>
          <a:noFill/>
          <a:ln/>
        </p:spPr>
        <p:txBody>
          <a:bodyPr wrap="square" lIns="0" tIns="0" rIns="0" bIns="0" rtlCol="0" anchor="ctr"/>
          <a:lstStyle/>
          <a:p>
            <a:pPr indent="0" marL="0">
              <a:buNone/>
            </a:pPr>
            <a:r>
              <a:rPr lang="en-US" sz="2100" b="1" dirty="0">
                <a:solidFill>
                  <a:srgbClr val="FFFFFF"/>
                </a:solidFill>
                <a:latin typeface="Roboto" pitchFamily="34" charset="0"/>
                <a:ea typeface="Roboto" pitchFamily="34" charset="-122"/>
                <a:cs typeface="Roboto" pitchFamily="34" charset="-120"/>
              </a:rPr>
              <a:t>Tornaràs a aquesta unitat moltes vegades durant el curs.</a:t>
            </a:r>
            <a:endParaRPr lang="en-US" sz="2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84</a:t>
            </a:fld>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9</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Comprova-ho</a:t>
            </a:r>
            <a:endParaRPr lang="en-US" sz="2800" dirty="0"/>
          </a:p>
        </p:txBody>
      </p:sp>
      <p:sp>
        <p:nvSpPr>
          <p:cNvPr id="5" name="Text 3"/>
          <p:cNvSpPr txBox="1"/>
          <p:nvPr/>
        </p:nvSpPr>
        <p:spPr>
          <a:xfrm>
            <a:off x="548640" y="1371600"/>
            <a:ext cx="3657600" cy="320040"/>
          </a:xfrm>
          <a:prstGeom prst="rect">
            <a:avLst/>
          </a:prstGeom>
          <a:noFill/>
          <a:ln/>
        </p:spPr>
        <p:txBody>
          <a:bodyPr wrap="square" lIns="0" tIns="0" rIns="0" bIns="0" rtlCol="0" anchor="t"/>
          <a:lstStyle/>
          <a:p>
            <a:pPr indent="0" marL="0">
              <a:buNone/>
            </a:pPr>
            <a:r>
              <a:rPr lang="en-US" sz="1400" b="1" dirty="0">
                <a:solidFill>
                  <a:srgbClr val="5F6368"/>
                </a:solidFill>
                <a:latin typeface="Roboto" pitchFamily="34" charset="0"/>
                <a:ea typeface="Roboto" pitchFamily="34" charset="-122"/>
                <a:cs typeface="Roboto" pitchFamily="34" charset="-120"/>
              </a:rPr>
              <a:t>Paraules clau</a:t>
            </a:r>
            <a:endParaRPr lang="en-US" sz="1400" dirty="0"/>
          </a:p>
        </p:txBody>
      </p:sp>
      <p:sp>
        <p:nvSpPr>
          <p:cNvPr id="6" name="Etiqueta Línia del temps"/>
          <p:cNvSpPr/>
          <p:nvPr/>
        </p:nvSpPr>
        <p:spPr>
          <a:xfrm>
            <a:off x="548640" y="1755648"/>
            <a:ext cx="1819656" cy="384048"/>
          </a:xfrm>
          <a:prstGeom prst="roundRect">
            <a:avLst>
              <a:gd name="adj" fmla="val 50000"/>
            </a:avLst>
          </a:prstGeom>
          <a:solidFill>
            <a:srgbClr val="E6F4EA"/>
          </a:solidFill>
          <a:ln/>
        </p:spPr>
      </p:sp>
      <p:sp>
        <p:nvSpPr>
          <p:cNvPr id="7" name="Text 5"/>
          <p:cNvSpPr txBox="1"/>
          <p:nvPr/>
        </p:nvSpPr>
        <p:spPr>
          <a:xfrm>
            <a:off x="548640" y="1755648"/>
            <a:ext cx="1819656"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Línia del temps</a:t>
            </a:r>
            <a:endParaRPr lang="en-US" sz="1500" dirty="0"/>
          </a:p>
        </p:txBody>
      </p:sp>
      <p:sp>
        <p:nvSpPr>
          <p:cNvPr id="8" name="Etiqueta Simultaneïtat"/>
          <p:cNvSpPr/>
          <p:nvPr/>
        </p:nvSpPr>
        <p:spPr>
          <a:xfrm>
            <a:off x="2478024" y="1755648"/>
            <a:ext cx="1618488" cy="384048"/>
          </a:xfrm>
          <a:prstGeom prst="roundRect">
            <a:avLst>
              <a:gd name="adj" fmla="val 50000"/>
            </a:avLst>
          </a:prstGeom>
          <a:solidFill>
            <a:srgbClr val="E6F4EA"/>
          </a:solidFill>
          <a:ln/>
        </p:spPr>
      </p:sp>
      <p:sp>
        <p:nvSpPr>
          <p:cNvPr id="9" name="Text 7"/>
          <p:cNvSpPr txBox="1"/>
          <p:nvPr/>
        </p:nvSpPr>
        <p:spPr>
          <a:xfrm>
            <a:off x="2478024" y="1755648"/>
            <a:ext cx="1618488"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Simultaneïtat</a:t>
            </a:r>
            <a:endParaRPr lang="en-US" sz="1500" dirty="0"/>
          </a:p>
        </p:txBody>
      </p:sp>
      <p:sp>
        <p:nvSpPr>
          <p:cNvPr id="10" name="Etiqueta Canvi"/>
          <p:cNvSpPr/>
          <p:nvPr/>
        </p:nvSpPr>
        <p:spPr>
          <a:xfrm>
            <a:off x="4206240" y="1755648"/>
            <a:ext cx="813816" cy="384048"/>
          </a:xfrm>
          <a:prstGeom prst="roundRect">
            <a:avLst>
              <a:gd name="adj" fmla="val 50000"/>
            </a:avLst>
          </a:prstGeom>
          <a:solidFill>
            <a:srgbClr val="E6F4EA"/>
          </a:solidFill>
          <a:ln/>
        </p:spPr>
      </p:sp>
      <p:sp>
        <p:nvSpPr>
          <p:cNvPr id="11" name="Text 9"/>
          <p:cNvSpPr txBox="1"/>
          <p:nvPr/>
        </p:nvSpPr>
        <p:spPr>
          <a:xfrm>
            <a:off x="4206240" y="1755648"/>
            <a:ext cx="813816"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Canvi</a:t>
            </a:r>
            <a:endParaRPr lang="en-US" sz="1500" dirty="0"/>
          </a:p>
        </p:txBody>
      </p:sp>
      <p:sp>
        <p:nvSpPr>
          <p:cNvPr id="12" name="Etiqueta Continuïtat"/>
          <p:cNvSpPr/>
          <p:nvPr/>
        </p:nvSpPr>
        <p:spPr>
          <a:xfrm>
            <a:off x="5129784" y="1755648"/>
            <a:ext cx="1417320" cy="384048"/>
          </a:xfrm>
          <a:prstGeom prst="roundRect">
            <a:avLst>
              <a:gd name="adj" fmla="val 50000"/>
            </a:avLst>
          </a:prstGeom>
          <a:solidFill>
            <a:srgbClr val="E6F4EA"/>
          </a:solidFill>
          <a:ln/>
        </p:spPr>
      </p:sp>
      <p:sp>
        <p:nvSpPr>
          <p:cNvPr id="13" name="Text 11"/>
          <p:cNvSpPr txBox="1"/>
          <p:nvPr/>
        </p:nvSpPr>
        <p:spPr>
          <a:xfrm>
            <a:off x="5129784" y="1755648"/>
            <a:ext cx="1417320"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Continuïtat</a:t>
            </a:r>
            <a:endParaRPr lang="en-US" sz="1500" dirty="0"/>
          </a:p>
        </p:txBody>
      </p:sp>
      <p:sp>
        <p:nvSpPr>
          <p:cNvPr id="14" name="Pregunta 1"/>
          <p:cNvSpPr/>
          <p:nvPr/>
        </p:nvSpPr>
        <p:spPr>
          <a:xfrm>
            <a:off x="548640" y="2514600"/>
            <a:ext cx="11094415" cy="777240"/>
          </a:xfrm>
          <a:prstGeom prst="roundRect">
            <a:avLst>
              <a:gd name="adj" fmla="val 12941"/>
            </a:avLst>
          </a:prstGeom>
          <a:solidFill>
            <a:srgbClr val="FFFFFF"/>
          </a:solidFill>
          <a:ln w="12700">
            <a:solidFill>
              <a:srgbClr val="DADCE0"/>
            </a:solidFill>
            <a:prstDash val="solid"/>
          </a:ln>
        </p:spPr>
      </p:sp>
      <p:sp>
        <p:nvSpPr>
          <p:cNvPr id="15" name="Número 1"/>
          <p:cNvSpPr/>
          <p:nvPr/>
        </p:nvSpPr>
        <p:spPr>
          <a:xfrm>
            <a:off x="822960" y="2674620"/>
            <a:ext cx="457200" cy="457200"/>
          </a:xfrm>
          <a:prstGeom prst="ellipse">
            <a:avLst/>
          </a:prstGeom>
          <a:solidFill>
            <a:srgbClr val="188038"/>
          </a:solidFill>
          <a:ln/>
        </p:spPr>
      </p:sp>
      <p:sp>
        <p:nvSpPr>
          <p:cNvPr id="16" name="Text 14"/>
          <p:cNvSpPr txBox="1"/>
          <p:nvPr/>
        </p:nvSpPr>
        <p:spPr>
          <a:xfrm>
            <a:off x="822960" y="267462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Roboto" pitchFamily="34" charset="0"/>
                <a:ea typeface="Roboto" pitchFamily="34" charset="-122"/>
                <a:cs typeface="Roboto" pitchFamily="34" charset="-120"/>
              </a:rPr>
              <a:t>1</a:t>
            </a:r>
            <a:endParaRPr lang="en-US" sz="1700" dirty="0"/>
          </a:p>
        </p:txBody>
      </p:sp>
      <p:sp>
        <p:nvSpPr>
          <p:cNvPr id="17" name="Text 15"/>
          <p:cNvSpPr txBox="1"/>
          <p:nvPr/>
        </p:nvSpPr>
        <p:spPr>
          <a:xfrm>
            <a:off x="1508760" y="2514600"/>
            <a:ext cx="9905695" cy="777240"/>
          </a:xfrm>
          <a:prstGeom prst="rect">
            <a:avLst/>
          </a:prstGeom>
          <a:noFill/>
          <a:ln/>
        </p:spPr>
        <p:txBody>
          <a:bodyPr wrap="square" lIns="0" tIns="0" rIns="0" bIns="0" rtlCol="0" anchor="ctr"/>
          <a:lstStyle/>
          <a:p>
            <a:pPr indent="0" marL="0">
              <a:buNone/>
            </a:pPr>
            <a:r>
              <a:rPr lang="en-US" sz="1900" dirty="0">
                <a:solidFill>
                  <a:srgbClr val="202124"/>
                </a:solidFill>
                <a:latin typeface="Roboto" pitchFamily="34" charset="0"/>
                <a:ea typeface="Roboto" pitchFamily="34" charset="-122"/>
                <a:cs typeface="Roboto" pitchFamily="34" charset="-120"/>
              </a:rPr>
              <a:t>Digues tres coses per a què serveix una línia del temps.</a:t>
            </a:r>
            <a:endParaRPr lang="en-US" sz="1900" dirty="0"/>
          </a:p>
        </p:txBody>
      </p:sp>
      <p:sp>
        <p:nvSpPr>
          <p:cNvPr id="18" name="Pregunta 2"/>
          <p:cNvSpPr/>
          <p:nvPr/>
        </p:nvSpPr>
        <p:spPr>
          <a:xfrm>
            <a:off x="548640" y="3429000"/>
            <a:ext cx="11094415" cy="777240"/>
          </a:xfrm>
          <a:prstGeom prst="roundRect">
            <a:avLst>
              <a:gd name="adj" fmla="val 12941"/>
            </a:avLst>
          </a:prstGeom>
          <a:solidFill>
            <a:srgbClr val="FFFFFF"/>
          </a:solidFill>
          <a:ln w="12700">
            <a:solidFill>
              <a:srgbClr val="DADCE0"/>
            </a:solidFill>
            <a:prstDash val="solid"/>
          </a:ln>
        </p:spPr>
      </p:sp>
      <p:sp>
        <p:nvSpPr>
          <p:cNvPr id="19" name="Número 2"/>
          <p:cNvSpPr/>
          <p:nvPr/>
        </p:nvSpPr>
        <p:spPr>
          <a:xfrm>
            <a:off x="822960" y="3589020"/>
            <a:ext cx="457200" cy="457200"/>
          </a:xfrm>
          <a:prstGeom prst="ellipse">
            <a:avLst/>
          </a:prstGeom>
          <a:solidFill>
            <a:srgbClr val="188038"/>
          </a:solidFill>
          <a:ln/>
        </p:spPr>
      </p:sp>
      <p:sp>
        <p:nvSpPr>
          <p:cNvPr id="20" name="Text 18"/>
          <p:cNvSpPr txBox="1"/>
          <p:nvPr/>
        </p:nvSpPr>
        <p:spPr>
          <a:xfrm>
            <a:off x="822960" y="358902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Roboto" pitchFamily="34" charset="0"/>
                <a:ea typeface="Roboto" pitchFamily="34" charset="-122"/>
                <a:cs typeface="Roboto" pitchFamily="34" charset="-120"/>
              </a:rPr>
              <a:t>2</a:t>
            </a:r>
            <a:endParaRPr lang="en-US" sz="1700" dirty="0"/>
          </a:p>
        </p:txBody>
      </p:sp>
      <p:sp>
        <p:nvSpPr>
          <p:cNvPr id="21" name="Text 19"/>
          <p:cNvSpPr txBox="1"/>
          <p:nvPr/>
        </p:nvSpPr>
        <p:spPr>
          <a:xfrm>
            <a:off x="1508760" y="3429000"/>
            <a:ext cx="9905695" cy="777240"/>
          </a:xfrm>
          <a:prstGeom prst="rect">
            <a:avLst/>
          </a:prstGeom>
          <a:noFill/>
          <a:ln/>
        </p:spPr>
        <p:txBody>
          <a:bodyPr wrap="square" lIns="0" tIns="0" rIns="0" bIns="0" rtlCol="0" anchor="ctr"/>
          <a:lstStyle/>
          <a:p>
            <a:pPr indent="0" marL="0">
              <a:buNone/>
            </a:pPr>
            <a:r>
              <a:rPr lang="en-US" sz="1900" dirty="0">
                <a:solidFill>
                  <a:srgbClr val="202124"/>
                </a:solidFill>
                <a:latin typeface="Roboto" pitchFamily="34" charset="0"/>
                <a:ea typeface="Roboto" pitchFamily="34" charset="-122"/>
                <a:cs typeface="Roboto" pitchFamily="34" charset="-120"/>
              </a:rPr>
              <a:t>Què va passar abans, la Gran Piràmide o el codi d'Hammurabi?</a:t>
            </a:r>
            <a:endParaRPr lang="en-US" sz="1900" dirty="0"/>
          </a:p>
        </p:txBody>
      </p:sp>
      <p:sp>
        <p:nvSpPr>
          <p:cNvPr id="22" name="Pregunta 3"/>
          <p:cNvSpPr/>
          <p:nvPr/>
        </p:nvSpPr>
        <p:spPr>
          <a:xfrm>
            <a:off x="548640" y="4343400"/>
            <a:ext cx="11094415" cy="777240"/>
          </a:xfrm>
          <a:prstGeom prst="roundRect">
            <a:avLst>
              <a:gd name="adj" fmla="val 12941"/>
            </a:avLst>
          </a:prstGeom>
          <a:solidFill>
            <a:srgbClr val="FFFFFF"/>
          </a:solidFill>
          <a:ln w="12700">
            <a:solidFill>
              <a:srgbClr val="DADCE0"/>
            </a:solidFill>
            <a:prstDash val="solid"/>
          </a:ln>
        </p:spPr>
      </p:sp>
      <p:sp>
        <p:nvSpPr>
          <p:cNvPr id="23" name="Número 3"/>
          <p:cNvSpPr/>
          <p:nvPr/>
        </p:nvSpPr>
        <p:spPr>
          <a:xfrm>
            <a:off x="822960" y="4503420"/>
            <a:ext cx="457200" cy="457200"/>
          </a:xfrm>
          <a:prstGeom prst="ellipse">
            <a:avLst/>
          </a:prstGeom>
          <a:solidFill>
            <a:srgbClr val="188038"/>
          </a:solidFill>
          <a:ln/>
        </p:spPr>
      </p:sp>
      <p:sp>
        <p:nvSpPr>
          <p:cNvPr id="24" name="Text 22"/>
          <p:cNvSpPr txBox="1"/>
          <p:nvPr/>
        </p:nvSpPr>
        <p:spPr>
          <a:xfrm>
            <a:off x="822960" y="450342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Roboto" pitchFamily="34" charset="0"/>
                <a:ea typeface="Roboto" pitchFamily="34" charset="-122"/>
                <a:cs typeface="Roboto" pitchFamily="34" charset="-120"/>
              </a:rPr>
              <a:t>3</a:t>
            </a:r>
            <a:endParaRPr lang="en-US" sz="1700" dirty="0"/>
          </a:p>
        </p:txBody>
      </p:sp>
      <p:sp>
        <p:nvSpPr>
          <p:cNvPr id="25" name="Text 23"/>
          <p:cNvSpPr txBox="1"/>
          <p:nvPr/>
        </p:nvSpPr>
        <p:spPr>
          <a:xfrm>
            <a:off x="1508760" y="4343400"/>
            <a:ext cx="9905695" cy="777240"/>
          </a:xfrm>
          <a:prstGeom prst="rect">
            <a:avLst/>
          </a:prstGeom>
          <a:noFill/>
          <a:ln/>
        </p:spPr>
        <p:txBody>
          <a:bodyPr wrap="square" lIns="0" tIns="0" rIns="0" bIns="0" rtlCol="0" anchor="ctr"/>
          <a:lstStyle/>
          <a:p>
            <a:pPr indent="0" marL="0">
              <a:buNone/>
            </a:pPr>
            <a:r>
              <a:rPr lang="en-US" sz="1900" dirty="0">
                <a:solidFill>
                  <a:srgbClr val="202124"/>
                </a:solidFill>
                <a:latin typeface="Roboto" pitchFamily="34" charset="0"/>
                <a:ea typeface="Roboto" pitchFamily="34" charset="-122"/>
                <a:cs typeface="Roboto" pitchFamily="34" charset="-120"/>
              </a:rPr>
              <a:t>Per què cal una escala fixa?</a:t>
            </a:r>
            <a:endParaRPr lang="en-US" sz="1900" dirty="0"/>
          </a:p>
        </p:txBody>
      </p:sp>
      <p:sp>
        <p:nvSpPr>
          <p:cNvPr id="26" name="Pregunta 4"/>
          <p:cNvSpPr/>
          <p:nvPr/>
        </p:nvSpPr>
        <p:spPr>
          <a:xfrm>
            <a:off x="548640" y="5257800"/>
            <a:ext cx="11094415" cy="777240"/>
          </a:xfrm>
          <a:prstGeom prst="roundRect">
            <a:avLst>
              <a:gd name="adj" fmla="val 12941"/>
            </a:avLst>
          </a:prstGeom>
          <a:solidFill>
            <a:srgbClr val="FFFFFF"/>
          </a:solidFill>
          <a:ln w="12700">
            <a:solidFill>
              <a:srgbClr val="DADCE0"/>
            </a:solidFill>
            <a:prstDash val="solid"/>
          </a:ln>
        </p:spPr>
      </p:sp>
      <p:sp>
        <p:nvSpPr>
          <p:cNvPr id="27" name="Número 4"/>
          <p:cNvSpPr/>
          <p:nvPr/>
        </p:nvSpPr>
        <p:spPr>
          <a:xfrm>
            <a:off x="822960" y="5417820"/>
            <a:ext cx="457200" cy="457200"/>
          </a:xfrm>
          <a:prstGeom prst="ellipse">
            <a:avLst/>
          </a:prstGeom>
          <a:solidFill>
            <a:srgbClr val="188038"/>
          </a:solidFill>
          <a:ln/>
        </p:spPr>
      </p:sp>
      <p:sp>
        <p:nvSpPr>
          <p:cNvPr id="28" name="Text 26"/>
          <p:cNvSpPr txBox="1"/>
          <p:nvPr/>
        </p:nvSpPr>
        <p:spPr>
          <a:xfrm>
            <a:off x="822960" y="541782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Roboto" pitchFamily="34" charset="0"/>
                <a:ea typeface="Roboto" pitchFamily="34" charset="-122"/>
                <a:cs typeface="Roboto" pitchFamily="34" charset="-120"/>
              </a:rPr>
              <a:t>4</a:t>
            </a:r>
            <a:endParaRPr lang="en-US" sz="1700" dirty="0"/>
          </a:p>
        </p:txBody>
      </p:sp>
      <p:sp>
        <p:nvSpPr>
          <p:cNvPr id="29" name="Text 27"/>
          <p:cNvSpPr txBox="1"/>
          <p:nvPr/>
        </p:nvSpPr>
        <p:spPr>
          <a:xfrm>
            <a:off x="1508760" y="5257800"/>
            <a:ext cx="9905695" cy="777240"/>
          </a:xfrm>
          <a:prstGeom prst="rect">
            <a:avLst/>
          </a:prstGeom>
          <a:noFill/>
          <a:ln/>
        </p:spPr>
        <p:txBody>
          <a:bodyPr wrap="square" lIns="0" tIns="0" rIns="0" bIns="0" rtlCol="0" anchor="ctr"/>
          <a:lstStyle/>
          <a:p>
            <a:pPr indent="0" marL="0">
              <a:buNone/>
            </a:pPr>
            <a:r>
              <a:rPr lang="en-US" sz="1900" dirty="0">
                <a:solidFill>
                  <a:srgbClr val="202124"/>
                </a:solidFill>
                <a:latin typeface="Roboto" pitchFamily="34" charset="0"/>
                <a:ea typeface="Roboto" pitchFamily="34" charset="-122"/>
                <a:cs typeface="Roboto" pitchFamily="34" charset="-120"/>
              </a:rPr>
              <a:t>Posa un exemple de canvi i un de continuïtat en el calendari.</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85</a:t>
            </a:fld>
            <a:endParaRPr lang="en-US"/>
          </a:p>
        </p:txBody>
      </p:sp>
    </p:spTree>
  </p:cSld>
  <p:clrMapOvr>
    <a:masterClrMapping/>
  </p:clrMapOvr>
</p:sld>
</file>

<file path=ppt/theme/theme1.xml><?xml version="1.0" encoding="utf-8"?>
<a:theme xmlns:a="http://schemas.openxmlformats.org/drawingml/2006/main" name="Professor de socials · 1r ESO">
  <a:themeElements>
    <a:clrScheme name="Professor de socials · 1r ESO">
      <a:dk1>
        <a:srgbClr val="202124"/>
      </a:dk1>
      <a:lt1>
        <a:srgbClr val="FFFFFF"/>
      </a:lt1>
      <a:dk2>
        <a:srgbClr val="5F6368"/>
      </a:dk2>
      <a:lt2>
        <a:srgbClr val="E6F4EA"/>
      </a:lt2>
      <a:accent1>
        <a:srgbClr val="188038"/>
      </a:accent1>
      <a:accent2>
        <a:srgbClr val="12632B"/>
      </a:accent2>
      <a:accent3>
        <a:srgbClr val="DADCE0"/>
      </a:accent3>
      <a:accent4>
        <a:srgbClr val="80868B"/>
      </a:accent4>
      <a:accent5>
        <a:srgbClr val="F6F8FB"/>
      </a:accent5>
      <a:accent6>
        <a:srgbClr val="188038"/>
      </a:accent6>
      <a:hlink>
        <a:srgbClr val="188038"/>
      </a:hlink>
      <a:folHlink>
        <a:srgbClr val="12632B"/>
      </a:folHlink>
    </a:clrScheme>
    <a:fontScheme name="Professor de socials · 1r ESO">
      <a:majorFont>
        <a:latin typeface="Robot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Robo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85</Slides>
  <Notes>85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85</vt:i4>
      </vt:variant>
    </vt:vector>
  </HeadingPairs>
  <TitlesOfParts>
    <vt:vector size="8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vector>
  </TitlesOfParts>
  <Company>professordesocials.cat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Situar-nos en l'espai i en el temps</dc:title>
  <dc:subject>PptxGenJS Presentation</dc:subject>
  <dc:creator>Professor de socials</dc:creator>
  <cp:lastModifiedBy>Professor de socials</cp:lastModifiedBy>
  <cp:revision>1</cp:revision>
  <dcterms:created xsi:type="dcterms:W3CDTF">2026-10-13T16:47:19Z</dcterms:created>
  <dcterms:modified xsi:type="dcterms:W3CDTF">2026-10-13T16:47:19Z</dcterms:modified>
</cp:coreProperties>
</file>