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Lst>
  <p:notesMasterIdLst>
    <p:notesMasterId r:id="rId7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sentació" id="{6fea8656-bdf9-2267-4c7e-32698c1ae1ab}">
          <p14:sldIdLst>
            <p14:sldId id="256"/>
            <p14:sldId id="257"/>
            <p14:sldId id="258"/>
          </p14:sldIdLst>
        </p14:section>
        <p14:section name="Apartat 1. El marc geogràfic i les etapes de la història grega" id="{7fa76932-4a85-d7e2-e1cb-c28b1c4d077e}">
          <p14:sldIdLst>
            <p14:sldId id="259"/>
            <p14:sldId id="260"/>
            <p14:sldId id="261"/>
            <p14:sldId id="262"/>
            <p14:sldId id="263"/>
            <p14:sldId id="264"/>
            <p14:sldId id="265"/>
          </p14:sldIdLst>
        </p14:section>
        <p14:section name="Apartat 2. La polis. Atenes i la democràcia" id="{3ff8c660-ff66-cf5a-96af-9c0d7a130fb6}">
          <p14:sldIdLst>
            <p14:sldId id="266"/>
            <p14:sldId id="267"/>
            <p14:sldId id="268"/>
            <p14:sldId id="269"/>
            <p14:sldId id="270"/>
            <p14:sldId id="271"/>
            <p14:sldId id="272"/>
            <p14:sldId id="273"/>
            <p14:sldId id="274"/>
            <p14:sldId id="275"/>
            <p14:sldId id="276"/>
            <p14:sldId id="277"/>
            <p14:sldId id="278"/>
            <p14:sldId id="279"/>
            <p14:sldId id="280"/>
            <p14:sldId id="281"/>
            <p14:sldId id="282"/>
            <p14:sldId id="283"/>
          </p14:sldIdLst>
        </p14:section>
        <p14:section name="Apartat 3. Esparta. La polis militar" id="{7de8d1d8-b234-e376-4008-45920a58e593}">
          <p14:sldIdLst>
            <p14:sldId id="284"/>
            <p14:sldId id="285"/>
            <p14:sldId id="286"/>
            <p14:sldId id="287"/>
            <p14:sldId id="288"/>
          </p14:sldIdLst>
        </p14:section>
        <p14:section name="Apartat 4. Les guerres mèdiques i el segle de Pèricles" id="{a35619a9-2f84-5573-0ddf-7581f7c5e105}">
          <p14:sldIdLst>
            <p14:sldId id="289"/>
            <p14:sldId id="290"/>
            <p14:sldId id="291"/>
            <p14:sldId id="292"/>
            <p14:sldId id="293"/>
            <p14:sldId id="294"/>
            <p14:sldId id="295"/>
            <p14:sldId id="296"/>
          </p14:sldIdLst>
        </p14:section>
        <p14:section name="Apartat 5. Alexandre el Magne i l'època hel·lenística" id="{76cbefaf-b2d6-b81e-6e4b-d88b46a08f63}">
          <p14:sldIdLst>
            <p14:sldId id="297"/>
            <p14:sldId id="298"/>
            <p14:sldId id="299"/>
            <p14:sldId id="300"/>
            <p14:sldId id="301"/>
            <p14:sldId id="302"/>
          </p14:sldIdLst>
        </p14:section>
        <p14:section name="Apartat 6. Déus, mites i Jocs Olímpics" id="{e3301138-99ef-61de-62f7-0c8789d84c44}">
          <p14:sldIdLst>
            <p14:sldId id="303"/>
            <p14:sldId id="304"/>
            <p14:sldId id="305"/>
            <p14:sldId id="306"/>
            <p14:sldId id="307"/>
            <p14:sldId id="308"/>
          </p14:sldIdLst>
        </p14:section>
        <p14:section name="Apartat 7. Filosofia, teatre i ciència" id="{6ab005de-6896-81ff-1589-b3dda7fad4ff}">
          <p14:sldIdLst>
            <p14:sldId id="309"/>
            <p14:sldId id="310"/>
            <p14:sldId id="311"/>
            <p14:sldId id="312"/>
            <p14:sldId id="313"/>
            <p14:sldId id="314"/>
          </p14:sldIdLst>
        </p14:section>
        <p14:section name="Apartat 8. L'art grec. Arquitectura i escultura" id="{c1cf5dd7-c72f-f375-c182-e12f92b6daa0}">
          <p14:sldIdLst>
            <p14:sldId id="315"/>
            <p14:sldId id="316"/>
            <p14:sldId id="317"/>
            <p14:sldId id="318"/>
            <p14:sldId id="319"/>
            <p14:sldId id="320"/>
          </p14:sldIdLst>
        </p14:section>
        <p14:section name="Apartat 9. El llegat grec. Grècia és aquí" id="{512b17e5-a519-5bc5-9b8e-5437b500ae7a}">
          <p14:sldIdLst>
            <p14:sldId id="321"/>
            <p14:sldId id="322"/>
            <p14:sldId id="32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notesMaster" Target="notesMasters/notesMaster1.xml"/><Relationship Id="rId71" Type="http://schemas.openxmlformats.org/officeDocument/2006/relationships/presProps" Target="presProps.xml"/><Relationship Id="rId72" Type="http://schemas.openxmlformats.org/officeDocument/2006/relationships/viewProps" Target="viewProps.xml"/><Relationship Id="rId73" Type="http://schemas.openxmlformats.org/officeDocument/2006/relationships/theme" Target="theme/theme1.xml"/><Relationship Id="rId7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 2.500 anys, unes ciutats petites i sovint enfrontades van inventar la democràcia, la filosofia i el teatre. En aquesta unitat veurem com ho van fer i per què encara en fem servir les idees i les paraules cada dia. El Partenó el veurem a l'apartat 8, sobre l'art grec.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Llegiu els objectius en veu alta i demaneu quin els sembla més fàcil i quin més difícil. Hi tornareu al final de la unitat.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Respostes. 1, la mar Egea, entre la península dels Balcans i l'Àsia Menor, plena d'illes. 2, democràcia, del grec dêmos, poble, i krátos, poder o govern. 3, fals. Eren gairebé oposades. Atenes era una democràcia que valorava la paraula i la cultura, i Esparta, una oligarquia militar que valorava la disciplina. 4, vertader. Es va fundar cap al 575 aC i el seu nom grec era Empòrion, «mercat». L'avaluació inicial completa, amb deu preguntes, és a la pàgina de la unitat.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L'apartat explica com la geografia va marcar la història grega, què unia els grecs, les etapes de la seva història i com es van escampar pel Mediterrani, fins a Empúries.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territori grec és la península dels Balcans, les costes de l'Àsia Menor (l'actual Turquia) i centenars d'illes. Pregunteu amb qui es relacionarien més si visquessin en una vall tancada per muntanyes, amb la vall del costat o amb el mar.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Ilíada narra un episodi de la guerra de Troia, i l'Odissea, el llarg retorn d'Ulisses a casa seva, l'illa d'Ítaca. Per treballar-ne fragments a classe funcionen molt bé el cavall de Troia, el ciclop i les sirenes. En català, la versió clàssica de l'Odissea és la de Carles Riba, en vers, i hi ha una traducció en prosa de Joan Alberich (La Magrana).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Abans de l'època arcaica, a l'Egea hi havia hagut dues civilitzacions brillants, la minoica (a Creta, amb palaus com el de Cnossos) i la micènica (la dels herois de la guerra de Troia). Quan van desaparèixer, cap al 1200 aC, va venir l'època fosca. L'època clàssica acaba amb la mort d'Alexandre el Gran (323 aC), i l'hel·lenisme, amb la conquesta romana. Roma va conquerir Grècia el 146 aC, i el 31 aC va caure l'últim gran regne hel·lenístic, l'Egipte dels Ptolemeus.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Entre els segles VIII i VI aC, milers de grecs van deixar les seves polis per fundar ciutats noves arreu del Mediterrani i la mar Negra. Les colònies mantenien amb la metròpoli la llengua, la religió i forts llaços comercials i sentimentals. Al mapa, en blau, algunes metròpolis i, en taronja, algunes colònies. La línia vermella és la ruta aproximada dels foceus, que van sortir de Focea, a l'Àsia Menor, van fundar Massàlia (Marsella) i, des d'allà, Empòrion.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Empúries és la colònia grega més important de la península Ibèrica i l'únic jaciment on es conserven, l'una al costat de l'altra, una ciutat grega i una ciutat romana. Segons la tradició, Rhode la van fundar navegants de l'illa de Rodes, tot i que les restes més antigues que s'hi han trobat són dels segles V i IV aC. Empòrion és el punt de partida de la situació d'aprenentatge «El vaixell que va arribar a Empúries».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Respostes. 1, perquè les muntanyes separaven les valls i dificultaven la unificació. Cada vall o illa es va organitzar com una ciutat independent. 2, la llengua, la religió amb santuaris comuns com Delfos i Olímpia, els poemes d'Homer i celebracions com els Jocs Olímpics. 3, colons grecs de Focea que abans s'havien establert a Massàlia, cap al 575 aC. Empòrion vol dir «mercat».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L'apartat explica què era una polis, com va néixer i com funcionava la democràcia atenesa, quins límits tenia i com era la vida de cada dia a Atenes, a casa, a l'escola i a la feina. Deixeu la pregunta oberta i torneu-hi en acabar l'apartat, quan ja sapigueu qui podia votar. L'òstrakon de la imatge és un tros de ceràmica amb el nom de Temístocles. Algú hi va gravar «Temístocles, fill de Neocles».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dibuix és un esquema, no una ciutat real. Hi surten les dues parts de la polis, l'acròpolis («ciutat alta»), el recinte fortificat del turó on hi havia els temples principals, i la ciutat baixa, amb l'àgora. Fora de la muralla hi ha el territori agrícola, que també formava part de la polis. Demaneu a l'alumnat que assenyali cada part al dibuix abans de llegir les etiquetes.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l'àgora, els ciutadans es trobaven per parlar de negocis… i de política. Pregunteu quin lloc del poble o la ciutat fa avui el paper de l'àgora (la plaça, el mercat, l'ajuntament). A la foto, a dalt de tot, el Partenó, que veurem a l'apartat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primera vegada a la història, les decisions d'un estat no les prenia un rei ni una minoria de privilegiats, sinó l'assemblea de tots els ciutadans. Recordeu la paraula de la mini-prova inicial, democràcia, del grec dêmos, poble, i krátos, poder o govern. Clístenes va fer la seva reforma el 508 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Bulé era el consell dels 500. Els estrategs eren els caps militars. Al jurat dels tribunals hi podia haver centenars de membres. En l'ostracisme, el nom del polític s'escrivia en un tros de ceràmica, l'òstrakon, com el de Temístocles de la portada de l'apartat, que va ser desterrat cap al 472 o el 471 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kleroterion es feia servir per sortejar els jurats dels tribunals i molts càrrecs. El descriu Aristòtil a la Constitució dels atenesos. Les plaques que s'han conservat són de bronze i porten el nom del ciutadà i la seva tribu. Cada columna de ranures era d'una tribu, i un dau blanc triava tota la fila, un ciutadà de cada tribu, i un de negre la descartava. Els kleroteria que es conserven són posteriors a l'època de Pèricles. Pregunteu a l'alumnat si a la classe els sembla més just triar el delegat per sorteig o per votació, i per què.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fragment és curt i serveix per a un primer comentari de text. A la pàgina de la unitat hi ha l'enllaç a un fragment més llarg preparat per l'XTEC i al discurs a la Viquipèdia. Resposta a la pregunta. No. La «majoria» eren només els ciutadans, i en quedaven fora les dones, els metecs i els esclaus. Ho veiem a la diapositiva següent.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Els esclaus treballaven a les cases, als tallers, als camps i a les terribles mines de plata de Làurion. Atenció, alguns llibres de text en donen 200.000, més de la meitat de la població, però moltes estimacions actuals són força més baixes. Activitat. Feu votar a mà alçada una decisió real de la classe i repetiu la votació deixant fora tots els qui no serien «ciutadans» atenesos. L'efecte és immediat. Comparar-la amb la nostra democràcia, on voten dones i homes i la ciutadania no depèn de l'origen familiar, ajuda a veure el camí recorregut des d'aleshores.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Pnyx és el turó on es reunia l'Ekklesia, davant de l'Acròpolis. Demaneu exemples de democràcia directa i representativa a l'escola. El consell de delegats és representatiu, i una votació de tota la classe és directa.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Oikos és una paraula grega que volia dir alhora la casa i la família que hi vivia. D'oikos venen paraules com economia, que vol dir «administració de la casa». Les veurem amb el text de Xenofont, que es titula precisament Economia.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majoria de cases eren senzilles. Les habitacions s'obrien a un pati central. Als banquets de l'andró no hi anaven les dones de la família. Els textos antics parlen del gineceu, però l'arqueologia mostra que les dones treballaven per tota la casa, sobretot al pati. Al dibuix hi ha un teler al pati, com el de la diapositiva següent.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Sortien de casa per anar a les festes religioses, per visitar les tombes de la família o per anar a buscar aigua a la font. Les tesmofòries eren una festa només per a dones. Viure tancada a casa era un ideal que només es podien permetre les famílies riques. Atenció, el llibre de text diu que el divorci només el podia demanar el marit. No és exacte. La dona també podia deixar el marit i registrar-ho davant l'arcont, tot i que era poc freqüent.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Resposta. No. És l'ideal d'una família rica, no la vida de totes les atenenques. Les dones pobres havien de treballar fora de casa per viure. Iscòmac diu que la seva dona «encara no tenia quinze anys quan entrà a casa meva». A la pàgina de la unitat hi ha l'enllaç al text comentat del projecte Gynaikes, Mulieres de la Universitat de Barcelona.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Escrivien sobre tauletes de cera. La copa de Duris es pot llegir com una font, figura per figura. A l'esquerra, mestre i alumne toquen la lira junts. Al centre, un mestre sosté un rotlle amb l'inici d'un poema heroic, que l'alumne dret ha de recitar de memòria. L'home assegut de la dreta, amb un bastó, és el pedagog. Cada matèria tenia un mestre diferent.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Pedagog vol dir «el qui condueix el nen». Pregunteu per què una llei com la de Soló obligava, de fet, els pares a ensenyar un ofici als fills. Compareu-ho amb l'escola obligatòria i gratuïta d'avui, per a nois i noies.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Molts esclaus venien de Tràcia o d'Àsia Menor. El pare de l'orador Demòstenes tenia més de cinquanta esclaus en dos tallers. El general Nícias tenia mil esclaus a les mines de Làurion, que llogava a un empresari de les mines. La ciutat també tenia esclaus públics, que guardaven els arxius o comprovaven a l'àgora que les monedes no fossin falses. L'impost dels metecs era de dotze dracmes l'any per als homes. Molts metecs es van fer rics al port del Pireu. El banquer Pasió havia començat com a esclau en una banca del Pireu i va acabar sent ciutadà. El filòsof Aristòtil, nascut a Estagira, també va viure a Atenes com a metec.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xifra de la pàgina és «sovint una dracma al dia». Els comptes de l'Erectèon són una font directa excepcional, perquè mostren ciutadans, metecs i esclaus treballant junts a la mateixa obra. El sou dels esclaus se l'emportava l'amo. Pregunteu quina diferència hi ha, doncs, entre els tres, si cobraven el mateix.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Respostes. 1, l'acròpolis és la part alta i fortificada, amb els temples. L'àgora és la plaça pública de la ciutat baixa, amb el mercat, on es parlava de negocis i de política. 2, perquè pensaven que les eleccions afavorien els rics i famosos, i que el sorteig era realment igualitari. 3, les dones, els metecs (estrangers residents) i els esclaus. Només un de cada deu habitants de l'Àtica hi participava. 4, perquè les dones pobres havien de treballar fora per viure. Venien al mercat, rentaven roba o feien de dides. 5, era l'esclau que acompanyava el noi a classe i el vigilava. 6, el metec era lliure, tot i que no tenia drets polítics i pagava un impost especial. L'esclau era propietat d'un amo i no tenia cap dret.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va haver centenars de polis, però dues van destacar per sobre de totes, i no podien ser més diferents. Mentre Atenes apostava per la paraula, el comerç i la participació, Esparta es va organitzar com una autèntica societat-quarter, dedicada a formar els millors soldats del món grec. L'estàtua serveix per parlar de com posem nom a les troballes. És de marbre de Paros i els arqueòlegs la van batejar amb el nom del rei de les Termòpiles, però és una hipòtesi. Si surt la pel·lícula 300, recordeu que és per a majors de 18 anys i que deforma molt la història.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Feu omplir la taula en parelles abans de projectar-la. Una manera ràpida és mostrar només la primera columna i que cada parella completi Atenes i Esparta amb el que recorda.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piràmide no és a escala. Vol dir que els espartiates eren pocs i els ilotes, molts més. Pregunteu per què una minoria de ciutadans que vivia de la feina d'una majoria sotmesa havia d'estar sempre armada. El casc protegia tot el cap i deixava només una obertura per als ulls i la boca.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Expliquen que el rei Filip II de Macedònia va amenaçar els espartans amb un missatge, i que la resposta espartana va ser una sola paraula, «Si». Demaneu a l'alumnat una resposta lacònica a una pregunta qualsevol de la classe. A l'apartat 5 tornarem a trobar Filip II de Macedònia, el pare d'Alexandre.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Respostes. 1, per exemple, Atenes era una democràcia i Esparta una oligarquia militar. Atenes vivia del comerç marítim i Esparta de l'agricultura dels ilotes. N'hi ha prou amb dues de la taula. 2, l'educació militar estatal dels espartans, que començava als 7 anys i era duríssima. 3, en bona part per por a una revolta dels ilotes, que eren molt més nombrosos que els espartiates.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L'apartat explica com les polis gregues van aturar l'Imperi persa, com Atenes va convertir la lliga de Delos en un imperi, l'esplendor del segle de Pèricles i la guerra del Peloponès, que va deixar totes les polis exhaustes. La inscripció del bust diu «Pèricles, fill de Xàntip, atenès». Porta el casc d'estrateg, el càrrec militar per al qual l'escollien any rere any. La línia del temps de l'apartat 1 ajuda a ordenar Marató, Salamina, Pèricles i el Peloponès.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va haver dues guerres, dos atacs perses. En el segon atac, Xerxes va arrasar Grècia central malgrat la resistència de Leònides. A les Termòpiles, els 300 hoplites espartans anaven acompanyats per uns quants milers de soldats d'altres polis. Seguiu les fletxes del mapa amb l'alumnat. El traçat de les rutes és aproximat.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D'aquí ve el nom de la cursa de marató. Els trirrems eren vaixells de guerra amb tres fileres de rems i un esperó a la proa per envestir les naus enemigues. L'Olympias és una rèplica que es pot visitar a prop d'Atenes. El túmul de Marató es conserva a la plana de la batalla.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Pregunteu per què escrivia Heròdot, segons ell mateix. Perquè no s'oblidés el que havien fet els humans i per explicar per quina causa van fer la guerra. Per a l'ampliació, compareu el relat d'Heròdot amb un manual actual (activitat d'ampliació 10). Sobre la marató, de Marató a Atenes hi ha uns 40 km, i la federació internacional d'atletisme va fixar els 42,195 km com a distància oficial el 1921.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tresor comú es guardava a l'illa de Delos, al santuari d'Apol·lo, i d'aquí ve el nom. La majoria de membres van preferir pagar el tribut. Els diners dels aliats van pagar, en part, el Partenó. Podeu debatre amb l'alumnat si era just pagar el Partenó amb el tribut dels aliats.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Pèricles era un dels deu estrategs, un càrrec que s'escollia per elecció, i l'escollien any rere any. El seu bust és a la portada de l'apartat. Recordeu que una part dels diners de la lliga de Delos va pagar les obres de l'Acròpolis.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L'esplendor va durar poc. Després de la rendició, la lliga de Delos es va dissoldre. Tucídides és el mateix historiador del discurs fúnebre de Pèricles de l'apartat 2. La debilitat de les polis després de la guerra explica el que passa a l'apartat 5, l'arribada de Macedònia.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Respostes. 1, les polis gregues, unides, contra l'Imperi persa. Van guanyar els grecs. 2, la flota atenesa va destruir la flota persa el 480 aC, i aquella victòria va decidir la guerra. 3, perquè sota el seu lideratge Atenes va viure la seva màxima esplendor, es va consolidar la democràcia i es va reconstruir l'Acròpolis amb el Partenó. 4, perquè Atenes obligava els aliats a pagar i a quedar-s'hi per la força, va portar el tresor a Atenes i en va fer servir els diners. 5, la por que tenia Esparta del creixement del poder d'Atenes.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L'apartat explica com Macedònia va dominar les polis, les conquestes d'Alexandre, els regnes que van sortir del seu imperi i l'hel·lenisme. El mosaic es va trobar a la Casa del Faune de Pompeia i segurament es va fer a partir d'una pintura grega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comparació de les llances és orientativa, no a escala exacta. La lliga de Corint la dirigia Filip i havia de servir per atacar l'Imperi persa, però ell va ser assassinat el 336 aC, abans de començar la guerra. Queronea (338 aC) marca el final de la independència de les polis, i és la data amb què alguns llibres tanquen l'època clàssica. La pàgina de la unitat la tanca el 323 aC, amb la mort d'Alexandre (vegeu la nota de l'apartat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Seguiu la ruta al mapa amb l'alumnat i feu-los calcular els anys entre cada punt. Surt de Pel·la, capital de Macedònia, el 334 aC. Venç al Grànic (334) i a Issos (333), pren Tir (332), funda Alexandria a Egipte (331), venç a Gaugamela (331), entra a Babilònia i a Persèpolis (330), arriba a Samarcanda (329) i al riu Hidaspes, a l'Índia (326). Torna per Gedròsia i mor a Babilònia el 323 aC. El seu imperi es va repartir entre els seus generals.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Els tres regnes més grans van ser l'Egipte dels Ptolemeus, el dels Selèucides i Macedònia. Diàdocs és una paraula del glossari. L'any 31 aC, amb la caiguda de l'Egipte de Cleòpatra, es tanca l'època hel·lenística a la línia del temps de l'apartat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capital cultural de l'hel·lenisme va ser Alexandria, a Egipte, famosa pel seu far i per la seva biblioteca. El dibuix del far és una reconstrucció, perquè el far ja no existeix. Alexandria encara avui és la segona ciutat del país. Alexandre fins i tot va batejar una ciutat en honor del seu cavall, Bucèfal. La xifra de Plutarc és una exageració, i la recerca actual reconeix una vintena de ciutats fundades per Alexandre.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Respostes. 1, Filip II era el rei de Macedònia i pare d'Alexandre. Aristòtil va ser el mestre d'Alexandre. 2, va conquerir tot l'Imperi persa i va arribar fins a Egipte i l'Índia. 3, l'etapa posterior a Alexandre, del 323 al 31 aC, en què la cultura grega es va estendre per l'Orient i es va barrejar amb les cultures locals. 4, Filip II de Macedònia va derrotar Atenes i Tebes. Des d'aleshores, les polis gregues van quedar sota el domini macedoni. 5, l'Egipte dels Ptolemeus, el regne dels Selèucides a l'Àsia i la Macedònia dels Antigònides.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L'apartat explica com era la religió grega, els dotze déus de l'Olimp, els herois, els mites i els oracles, i els Jocs Olímpics. Els vasos pintats com aquesta àmfora escampaven els mites per tot el Mediterrani.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Pregunteu quines religions d'avui són monoteistes, amb un sol déu, per contrastar-ho amb el politeisme grec.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cada targeta, el nom, l'àmbit i, en cursiva, els atributs. Les icones ajuden a recordar-los. La de l'Atena és una bombeta per la saviesa, i la d'Hermes, una ploma per les sandàlies alades. La taula funciona bé com a joc de memòria. Digueu un atribut i que endevinin el déu.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Hem matisat que els herois eren «sovint» fills d'un déu i d'un mortal, perquè Ulisses, per exemple, era fill de dos mortals. Els mites no eren només entreteniment. A Delfos, la pitonissa donava respostes cèlebres per la seva ambigüitat. L'àmfora de la portada de l'apartat mostra Hèracles lluitant contra Tritó.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Els Jocs antics van durar més de mil anys. La flama s'encén amb els raigs del sol concentrats en un mirall corbat i després viatja en relleus fins a la ciutat dels Jocs. La treva sagrada protegia sobretot el viatge cap a Olímpia i el territori del santuari. Atenció, el llibre de text diu que els Jocs duraven set dies. Al segle V aC en duraven cinc.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Respostes. 1, que tenien forma i caràcter humans. S'enamoraven, s'enfadaven i es barallaven, però eren immortals i totpoderosos. 2, per consultar els déus sobre el futur o sobre decisions difícils. Hi parlava Apol·lo a través de la pitonissa. 3, la pausa en les guerres durant els Jocs Olímpics, perquè atletes i espectadors poguessin viatjar amb seguretat.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L'apartat explica com els grecs van intentar explicar el món amb la raó, des dels primers filòsofs fins a Sòcrates, Plató i Aristòtil, com va néixer el teatre i quines ciències van fundar. El teatre d'Epidaure es va construir al costat del santuari d'Asclepi, i encara s'hi fan representacions.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Els primers filòsofs van viure a Milet, una ciutat grega de la costa d'Àsia Menor. Tales va ser el primer de tots. Segons Heròdot, fins i tot va predir un eclipsi de sol, el del 585 aC. Els seus deixebles van proposar altres respostes. Atenció, el llibre de text situa els primers filòsofs al segle VII aC. Tales va néixer cap al final d'aquell segle, però la seva obra i la dels altres pensadors de Milet són del segle VI 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Presenteu Sòcrates amb el seu mètode de preguntes. Podeu fer una «pregunta socràtica» a la classe i encadenar-ne d'altres fins que aparegui una contradicció. Els tres retrats són còpies romanes de retrats grecs. Recordeu que Aristòtil va viure a Atenes com a metec (apartat 2) i que va ser el mestre d'Alexandre (apartat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L'acústica del teatre d'Epidaure encara avui meravella. Atenció, el llibre de text li dona 12.000 places. Les fonts en donen entre 13.000 i 14.000.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Heròdot és l'autor de la font de l'apartat 4, sobre les guerres mèdiques. El seu retrat també hi surt.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Respostes. 1, Sòcrates, Plató i Aristòtil. 2, la tragèdia presenta herois davant un destí terrible per fer pensar i emocionar. La comèdia fa riure amb la sàtira, sovint contra els polítics. 3, perquè va ser el primer a investigar el passat preguntant, viatjant i contrastant versions. 4, buscava una causa natural, que es podia discutir i comprovar, en lloc d'una explicació amb déus i mites.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L'apartat explica el temple grec i els tres ordres, el Partenó i l'evolució de l'escultura. Demaneu a l'alumnat que busqui columnes gregues al seu poble o ciutat (façanes, bancs, cementiris) i que en digui l'ordre.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Els grecs buscaven l'harmonia i la proporció perfectes. Al dibuix, el capitell és la part de dalt de la columna, el fust és el cos i la base, la part de sota, que el dòric no té. Atenció, el llibre de text posa el temple de Zeus a Olímpia com a exemple d'ordre corinti. Aquell temple és dòric. Un truc per recordar-los, del més senzill al més decorat, dòric, jònic i corinti.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dates de construcció, 447-432 aC, són les que donen la majoria de manuals. Atenció, alguns llibres presenten Fídies com l'arquitecte del Partenó. Fídies en va dirigir les obres, però els arquitectes van ser Ictí i Cal·lícrates. La foto de la portada de l'apartat és del 1978.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Policlet va fixar al Dorífor les proporcions perfectes del cos. Moltes escultures gregues que coneixem són còpies romanes, com aquest Discòbol. Demaneu a l'alumnat que compari la posició dels braços i les cames de les tres etapes.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reconstruccions actuals amb els colors originals sorprenen tothom. Si teniu temps, busqueu-ne imatges amb l'alumnat i compareu-les amb les estàtues blanques.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Respostes. 1, el dòric és llis i sobri. El corinti està decorat amb fulles d'acant. 2, a Atena. Les obres les va dirigir l'escultor Fídies, en temps de Pèricles. 3, de figures rígides i frontals a l'equilibri clàssic i, finalment, al moviment i l'emoció de l'hel·lenisme.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L'apartat fa el balanç del que devem als grecs. Totes les paraules del requadre surten a la unitat. Abans de passar a la diapositiva següent, demaneu a l'alumnat que en digui més.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bon tancament és la «caça del llegat». En deu minuts, cada grup apunta tots els rastres grecs que veu a l'aula i al seu entorn (paraules, logos, edificis, esports). Connecta amb l'activitat bàsica 4 i amb l'ampliació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Respostes. 1, per exemple, política, democràcia, teatre, geografia, telèfon o planeta. 2, resposta oberta. Per exemple, els déus i herois de Percy Jackson.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parado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6291072"/>
            <a:ext cx="11094415" cy="0"/>
          </a:xfrm>
          <a:prstGeom prst="line">
            <a:avLst/>
          </a:prstGeom>
          <a:noFill/>
          <a:ln w="9525">
            <a:solidFill>
              <a:srgbClr val="DADCE0"/>
            </a:solidFill>
            <a:prstDash val="solid"/>
          </a:ln>
        </p:spPr>
      </p:sp>
      <p:sp>
        <p:nvSpPr>
          <p:cNvPr id="3" name="Text 1"/>
          <p:cNvSpPr/>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80868B"/>
                </a:solidFill>
                <a:latin typeface="Roboto" pitchFamily="34" charset="0"/>
                <a:ea typeface="Roboto" pitchFamily="34" charset="-122"/>
                <a:cs typeface="Roboto" pitchFamily="34" charset="-120"/>
              </a:rPr>
              <a:t>professordesocials.cat</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uida">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7315200" cy="274320"/>
          </a:xfrm>
          <a:prstGeom prst="rect">
            <a:avLst/>
          </a:prstGeom>
          <a:noFill/>
          <a:ln/>
        </p:spPr>
        <p:txBody>
          <a:bodyPr wrap="square" lIns="0" tIns="0" rIns="0" bIns="0" rtlCol="0" anchor="ctr"/>
          <a:lstStyle/>
          <a:p>
            <a:pPr indent="0" marL="0">
              <a:buNone/>
            </a:pPr>
            <a:r>
              <a:rPr lang="en-US" sz="1050" dirty="0">
                <a:solidFill>
                  <a:srgbClr val="5F6368"/>
                </a:solidFill>
                <a:latin typeface="Roboto" pitchFamily="34" charset="0"/>
                <a:ea typeface="Roboto" pitchFamily="34" charset="-122"/>
                <a:cs typeface="Roboto" pitchFamily="34" charset="-120"/>
              </a:rPr>
              <a:t>1r ESO  ›  Ciències socials  ›  Unitat 4. L'Antiga Grècia</a:t>
            </a:r>
            <a:endParaRPr lang="en-US" sz="1050" dirty="0"/>
          </a:p>
        </p:txBody>
      </p:sp>
      <p:sp>
        <p:nvSpPr>
          <p:cNvPr id="3" name="Shape 1"/>
          <p:cNvSpPr/>
          <p:nvPr/>
        </p:nvSpPr>
        <p:spPr>
          <a:xfrm>
            <a:off x="548640" y="6291072"/>
            <a:ext cx="11094415" cy="0"/>
          </a:xfrm>
          <a:prstGeom prst="line">
            <a:avLst/>
          </a:prstGeom>
          <a:noFill/>
          <a:ln w="9525">
            <a:solidFill>
              <a:srgbClr val="DADCE0"/>
            </a:solidFill>
            <a:prstDash val="solid"/>
          </a:ln>
        </p:spPr>
      </p:sp>
      <p:sp>
        <p:nvSpPr>
          <p:cNvPr id="4" name="Text 2"/>
          <p:cNvSpPr/>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80868B"/>
                </a:solidFill>
                <a:latin typeface="Roboto" pitchFamily="34" charset="0"/>
                <a:ea typeface="Roboto" pitchFamily="34" charset="-122"/>
                <a:cs typeface="Roboto" pitchFamily="34" charset="-120"/>
              </a:rPr>
              <a:t>professordesocials.cat</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ingu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7315200" cy="274320"/>
          </a:xfrm>
          <a:prstGeom prst="rect">
            <a:avLst/>
          </a:prstGeom>
          <a:noFill/>
          <a:ln/>
        </p:spPr>
        <p:txBody>
          <a:bodyPr wrap="square" lIns="0" tIns="0" rIns="0" bIns="0" rtlCol="0" anchor="ctr"/>
          <a:lstStyle/>
          <a:p>
            <a:pPr indent="0" marL="0">
              <a:buNone/>
            </a:pPr>
            <a:r>
              <a:rPr lang="en-US" sz="1050" dirty="0">
                <a:solidFill>
                  <a:srgbClr val="5F6368"/>
                </a:solidFill>
                <a:latin typeface="Roboto" pitchFamily="34" charset="0"/>
                <a:ea typeface="Roboto" pitchFamily="34" charset="-122"/>
                <a:cs typeface="Roboto" pitchFamily="34" charset="-120"/>
              </a:rPr>
              <a:t>1r ESO  ›  Ciències socials  ›  Unitat 4. L'Antiga Grècia</a:t>
            </a:r>
            <a:endParaRPr lang="en-US" sz="1050" dirty="0"/>
          </a:p>
        </p:txBody>
      </p:sp>
      <p:sp>
        <p:nvSpPr>
          <p:cNvPr id="3" name="Text 1"/>
          <p:cNvSpPr/>
          <p:nvPr>
            <p:ph idx="101" type="title" hasCustomPrompt="1"/>
          </p:nvPr>
        </p:nvSpPr>
        <p:spPr>
          <a:xfrm>
            <a:off x="1298448" y="566928"/>
            <a:ext cx="10344607" cy="566928"/>
          </a:xfrm>
          <a:prstGeom prst="rect">
            <a:avLst/>
          </a:prstGeom>
          <a:noFill/>
          <a:ln/>
        </p:spPr>
        <p:txBody>
          <a:bodyPr wrap="square" rtlCol="0"/>
          <a:lstStyle>
            <a:lvl1pPr algn="l" indent="0" marL="0">
              <a:buNone/>
              <a:defRPr lang="en-US" sz="2800" b="1" dirty="0">
                <a:solidFill>
                  <a:srgbClr val="202124"/>
                </a:solidFill>
                <a:latin typeface="Roboto" pitchFamily="34" charset="0"/>
                <a:ea typeface="Roboto" pitchFamily="34" charset="-122"/>
                <a:cs typeface="Roboto" pitchFamily="34" charset="-120"/>
              </a:defRPr>
            </a:lvl1pPr>
          </a:lstStyle>
          <a:p>
            <a:pPr algn="l" indent="0" marL="0">
              <a:buNone/>
            </a:pPr>
            <a:endParaRPr lang="en-US" sz="2800" dirty="0"/>
          </a:p>
        </p:txBody>
      </p:sp>
      <p:sp>
        <p:nvSpPr>
          <p:cNvPr id="4" name="Shape 1"/>
          <p:cNvSpPr/>
          <p:nvPr/>
        </p:nvSpPr>
        <p:spPr>
          <a:xfrm>
            <a:off x="548640" y="6291072"/>
            <a:ext cx="11094415" cy="0"/>
          </a:xfrm>
          <a:prstGeom prst="line">
            <a:avLst/>
          </a:prstGeom>
          <a:noFill/>
          <a:ln w="9525">
            <a:solidFill>
              <a:srgbClr val="DADCE0"/>
            </a:solidFill>
            <a:prstDash val="solid"/>
          </a:ln>
        </p:spPr>
      </p:sp>
      <p:sp>
        <p:nvSpPr>
          <p:cNvPr id="5" name="Text 2"/>
          <p:cNvSpPr/>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80868B"/>
                </a:solidFill>
                <a:latin typeface="Roboto" pitchFamily="34" charset="0"/>
                <a:ea typeface="Roboto" pitchFamily="34" charset="-122"/>
                <a:cs typeface="Roboto" pitchFamily="34" charset="-120"/>
              </a:rPr>
              <a:t>professordesocials.cat</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5.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5.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jp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5.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5.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5.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5.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5.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jp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5.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5.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5.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5.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png"/><Relationship Id="rId3" Type="http://schemas.openxmlformats.org/officeDocument/2006/relationships/slideLayout" Target="../slideLayouts/slideLayout5.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5.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png"/><Relationship Id="rId3" Type="http://schemas.openxmlformats.org/officeDocument/2006/relationships/slideLayout" Target="../slideLayouts/slideLayout5.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5.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5.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jpg"/><Relationship Id="rId7" Type="http://schemas.openxmlformats.org/officeDocument/2006/relationships/slideLayout" Target="../slideLayouts/slideLayout5.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5.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5.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2.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image" Target="../media/image-26-10.png"/><Relationship Id="rId11" Type="http://schemas.openxmlformats.org/officeDocument/2006/relationships/slideLayout" Target="../slideLayouts/slideLayout5.xml"/><Relationship Id="rId1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image" Target="../media/image-27-2.png"/><Relationship Id="rId3" Type="http://schemas.openxmlformats.org/officeDocument/2006/relationships/image" Target="../media/image-27-2.png"/><Relationship Id="rId4" Type="http://schemas.openxmlformats.org/officeDocument/2006/relationships/image" Target="../media/image-27-4.png"/><Relationship Id="rId5" Type="http://schemas.openxmlformats.org/officeDocument/2006/relationships/slideLayout" Target="../slideLayouts/slideLayout5.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jpg"/><Relationship Id="rId3" Type="http://schemas.openxmlformats.org/officeDocument/2006/relationships/slideLayout" Target="../slideLayouts/slideLayout3.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slideLayout" Target="../slideLayouts/slideLayout5.xml"/><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jpg"/><Relationship Id="rId5" Type="http://schemas.openxmlformats.org/officeDocument/2006/relationships/slideLayout" Target="../slideLayouts/slideLayout5.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slideLayout" Target="../slideLayouts/slideLayout5.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jpg"/><Relationship Id="rId3" Type="http://schemas.openxmlformats.org/officeDocument/2006/relationships/slideLayout" Target="../slideLayouts/slideLayout3.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5.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image" Target="../media/image-36-2.jpg"/><Relationship Id="rId3" Type="http://schemas.openxmlformats.org/officeDocument/2006/relationships/image" Target="../media/image-36-3.jpg"/><Relationship Id="rId4" Type="http://schemas.openxmlformats.org/officeDocument/2006/relationships/slideLayout" Target="../slideLayouts/slideLayout5.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5.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slideLayout" Target="../slideLayouts/slideLayout5.xml"/><Relationship Id="rId7"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slideLayout" Target="../slideLayouts/slideLayout5.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5.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jpg"/><Relationship Id="rId3" Type="http://schemas.openxmlformats.org/officeDocument/2006/relationships/slideLayout" Target="../slideLayouts/slideLayout3.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slideLayout" Target="../slideLayouts/slideLayout5.xml"/><Relationship Id="rId6"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slideLayout" Target="../slideLayouts/slideLayout5.xml"/><Relationship Id="rId6"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1.png"/><Relationship Id="rId3" Type="http://schemas.openxmlformats.org/officeDocument/2006/relationships/image" Target="../media/image-45-1.png"/><Relationship Id="rId4" Type="http://schemas.openxmlformats.org/officeDocument/2006/relationships/slideLayout" Target="../slideLayouts/slideLayout5.xml"/><Relationship Id="rId5"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slideLayout" Target="../slideLayouts/slideLayout5.xml"/><Relationship Id="rId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jpg"/><Relationship Id="rId3" Type="http://schemas.openxmlformats.org/officeDocument/2006/relationships/slideLayout" Target="../slideLayouts/slideLayout3.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5.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image" Target="../media/image-50-5.png"/><Relationship Id="rId6" Type="http://schemas.openxmlformats.org/officeDocument/2006/relationships/image" Target="../media/image-50-6.png"/><Relationship Id="rId7" Type="http://schemas.openxmlformats.org/officeDocument/2006/relationships/image" Target="../media/image-50-7.png"/><Relationship Id="rId8" Type="http://schemas.openxmlformats.org/officeDocument/2006/relationships/image" Target="../media/image-50-8.png"/><Relationship Id="rId9" Type="http://schemas.openxmlformats.org/officeDocument/2006/relationships/image" Target="../media/image-50-9.png"/><Relationship Id="rId10" Type="http://schemas.openxmlformats.org/officeDocument/2006/relationships/image" Target="../media/image-50-10.png"/><Relationship Id="rId11" Type="http://schemas.openxmlformats.org/officeDocument/2006/relationships/image" Target="../media/image-50-11.png"/><Relationship Id="rId12" Type="http://schemas.openxmlformats.org/officeDocument/2006/relationships/image" Target="../media/image-50-12.png"/><Relationship Id="rId13" Type="http://schemas.openxmlformats.org/officeDocument/2006/relationships/slideLayout" Target="../slideLayouts/slideLayout5.xml"/><Relationship Id="rId1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image" Target="../media/image-51-4.png"/><Relationship Id="rId5" Type="http://schemas.openxmlformats.org/officeDocument/2006/relationships/slideLayout" Target="../slideLayouts/slideLayout5.xml"/><Relationship Id="rId6"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jpg"/><Relationship Id="rId2" Type="http://schemas.openxmlformats.org/officeDocument/2006/relationships/image" Target="../media/image-52-2.png"/><Relationship Id="rId3" Type="http://schemas.openxmlformats.org/officeDocument/2006/relationships/image" Target="../media/image-52-3.png"/><Relationship Id="rId4" Type="http://schemas.openxmlformats.org/officeDocument/2006/relationships/image" Target="../media/image-52-4.png"/><Relationship Id="rId5" Type="http://schemas.openxmlformats.org/officeDocument/2006/relationships/slideLayout" Target="../slideLayouts/slideLayout5.xml"/><Relationship Id="rId6"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jpg"/><Relationship Id="rId3" Type="http://schemas.openxmlformats.org/officeDocument/2006/relationships/slideLayout" Target="../slideLayouts/slideLayout3.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5.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g"/><Relationship Id="rId2" Type="http://schemas.openxmlformats.org/officeDocument/2006/relationships/image" Target="../media/image-56-2.jpg"/><Relationship Id="rId3" Type="http://schemas.openxmlformats.org/officeDocument/2006/relationships/image" Target="../media/image-56-3.jpg"/><Relationship Id="rId4" Type="http://schemas.openxmlformats.org/officeDocument/2006/relationships/slideLayout" Target="../slideLayouts/slideLayout5.xml"/><Relationship Id="rId5"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5.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image" Target="../media/image-58-3.png"/><Relationship Id="rId4" Type="http://schemas.openxmlformats.org/officeDocument/2006/relationships/image" Target="../media/image-58-4.png"/><Relationship Id="rId5" Type="http://schemas.openxmlformats.org/officeDocument/2006/relationships/slideLayout" Target="../slideLayouts/slideLayout5.xml"/><Relationship Id="rId6"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jpg"/><Relationship Id="rId3" Type="http://schemas.openxmlformats.org/officeDocument/2006/relationships/slideLayout" Target="../slideLayouts/slideLayout3.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jpg"/><Relationship Id="rId2" Type="http://schemas.openxmlformats.org/officeDocument/2006/relationships/slideLayout" Target="../slideLayouts/slideLayout5.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image" Target="../media/image-62-3.png"/><Relationship Id="rId4" Type="http://schemas.openxmlformats.org/officeDocument/2006/relationships/slideLayout" Target="../slideLayouts/slideLayout5.xml"/><Relationship Id="rId5"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jpg"/><Relationship Id="rId2" Type="http://schemas.openxmlformats.org/officeDocument/2006/relationships/image" Target="../media/image-63-2.jpg"/><Relationship Id="rId3" Type="http://schemas.openxmlformats.org/officeDocument/2006/relationships/image" Target="../media/image-63-3.jpg"/><Relationship Id="rId4" Type="http://schemas.openxmlformats.org/officeDocument/2006/relationships/image" Target="../media/image-63-4.jpg"/><Relationship Id="rId5" Type="http://schemas.openxmlformats.org/officeDocument/2006/relationships/slideLayout" Target="../slideLayouts/slideLayout5.xml"/><Relationship Id="rId6"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5.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3.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image" Target="../media/image-67-2.png"/><Relationship Id="rId3" Type="http://schemas.openxmlformats.org/officeDocument/2006/relationships/image" Target="../media/image-67-3.png"/><Relationship Id="rId4" Type="http://schemas.openxmlformats.org/officeDocument/2006/relationships/image" Target="../media/image-67-4.png"/><Relationship Id="rId5" Type="http://schemas.openxmlformats.org/officeDocument/2006/relationships/image" Target="../media/image-67-5.png"/><Relationship Id="rId6" Type="http://schemas.openxmlformats.org/officeDocument/2006/relationships/image" Target="../media/image-67-6.png"/><Relationship Id="rId7" Type="http://schemas.openxmlformats.org/officeDocument/2006/relationships/image" Target="../media/image-67-7.png"/><Relationship Id="rId8" Type="http://schemas.openxmlformats.org/officeDocument/2006/relationships/image" Target="../media/image-67-8.png"/><Relationship Id="rId9" Type="http://schemas.openxmlformats.org/officeDocument/2006/relationships/slideLayout" Target="../slideLayouts/slideLayout5.xml"/><Relationship Id="rId10"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apçalera"/>
          <p:cNvSpPr/>
          <p:nvPr/>
        </p:nvSpPr>
        <p:spPr>
          <a:xfrm>
            <a:off x="548640" y="548640"/>
            <a:ext cx="7086600" cy="5760720"/>
          </a:xfrm>
          <a:prstGeom prst="roundRect">
            <a:avLst>
              <a:gd name="adj" fmla="val 1746"/>
            </a:avLst>
          </a:prstGeom>
          <a:solidFill>
            <a:srgbClr val="188038"/>
          </a:solidFill>
          <a:ln/>
        </p:spPr>
      </p:sp>
      <p:pic>
        <p:nvPicPr>
          <p:cNvPr id="3" name="Il·lustració d'un temple grec i el sol" descr="/home/claude/work/build/hero-crop.png">    </p:cNvPr>
          <p:cNvPicPr>
            <a:picLocks noChangeAspect="1"/>
          </p:cNvPicPr>
          <p:nvPr/>
        </p:nvPicPr>
        <p:blipFill>
          <a:blip r:embed="rId1"/>
          <a:stretch>
            <a:fillRect/>
          </a:stretch>
        </p:blipFill>
        <p:spPr>
          <a:xfrm>
            <a:off x="3611880" y="4361183"/>
            <a:ext cx="3840480" cy="1929889"/>
          </a:xfrm>
          <a:prstGeom prst="rect">
            <a:avLst/>
          </a:prstGeom>
        </p:spPr>
      </p:pic>
      <p:sp>
        <p:nvSpPr>
          <p:cNvPr id="4" name="Text 1"/>
          <p:cNvSpPr txBox="1"/>
          <p:nvPr/>
        </p:nvSpPr>
        <p:spPr>
          <a:xfrm>
            <a:off x="1005840" y="914400"/>
            <a:ext cx="6217920" cy="274320"/>
          </a:xfrm>
          <a:prstGeom prst="rect">
            <a:avLst/>
          </a:prstGeom>
          <a:noFill/>
          <a:ln/>
        </p:spPr>
        <p:txBody>
          <a:bodyPr wrap="square" lIns="0" tIns="0" rIns="0" bIns="0" rtlCol="0" anchor="t"/>
          <a:lstStyle/>
          <a:p>
            <a:pPr indent="0" marL="0">
              <a:buNone/>
            </a:pPr>
            <a:r>
              <a:rPr lang="en-US" sz="1200" dirty="0">
                <a:solidFill>
                  <a:srgbClr val="D3EEDB"/>
                </a:solidFill>
                <a:latin typeface="Roboto" pitchFamily="34" charset="0"/>
                <a:ea typeface="Roboto" pitchFamily="34" charset="-122"/>
                <a:cs typeface="Roboto" pitchFamily="34" charset="-120"/>
              </a:rPr>
              <a:t>professordesocials.cat  ›  1r ESO  ›  Ciències socials</a:t>
            </a:r>
            <a:endParaRPr lang="en-US" sz="1200" dirty="0"/>
          </a:p>
        </p:txBody>
      </p:sp>
      <p:sp>
        <p:nvSpPr>
          <p:cNvPr id="5" name="Text 2"/>
          <p:cNvSpPr txBox="1"/>
          <p:nvPr/>
        </p:nvSpPr>
        <p:spPr>
          <a:xfrm>
            <a:off x="1005840" y="1554480"/>
            <a:ext cx="6217920" cy="868680"/>
          </a:xfrm>
          <a:prstGeom prst="rect">
            <a:avLst/>
          </a:prstGeom>
          <a:noFill/>
          <a:ln/>
        </p:spPr>
        <p:txBody>
          <a:bodyPr wrap="square" lIns="0" tIns="0" rIns="0" bIns="0" rtlCol="0" anchor="t"/>
          <a:lstStyle/>
          <a:p>
            <a:pPr indent="0" marL="0">
              <a:buNone/>
            </a:pPr>
            <a:r>
              <a:rPr lang="en-US" sz="4600" b="1" dirty="0">
                <a:solidFill>
                  <a:srgbClr val="FFFFFF"/>
                </a:solidFill>
                <a:latin typeface="Roboto" pitchFamily="34" charset="0"/>
                <a:ea typeface="Roboto" pitchFamily="34" charset="-122"/>
                <a:cs typeface="Roboto" pitchFamily="34" charset="-120"/>
              </a:rPr>
              <a:t>L'Antiga Grècia</a:t>
            </a:r>
            <a:endParaRPr lang="en-US" sz="4600" dirty="0"/>
          </a:p>
        </p:txBody>
      </p:sp>
      <p:sp>
        <p:nvSpPr>
          <p:cNvPr id="6" name="Text 3"/>
          <p:cNvSpPr txBox="1"/>
          <p:nvPr/>
        </p:nvSpPr>
        <p:spPr>
          <a:xfrm>
            <a:off x="1005840" y="2487168"/>
            <a:ext cx="6217920" cy="320040"/>
          </a:xfrm>
          <a:prstGeom prst="rect">
            <a:avLst/>
          </a:prstGeom>
          <a:noFill/>
          <a:ln/>
        </p:spPr>
        <p:txBody>
          <a:bodyPr wrap="square" lIns="0" tIns="0" rIns="0" bIns="0" rtlCol="0" anchor="t"/>
          <a:lstStyle/>
          <a:p>
            <a:pPr indent="0" marL="0">
              <a:buNone/>
            </a:pPr>
            <a:r>
              <a:rPr lang="en-US" sz="1500" dirty="0">
                <a:solidFill>
                  <a:srgbClr val="FFFFFF"/>
                </a:solidFill>
                <a:latin typeface="Roboto" pitchFamily="34" charset="0"/>
                <a:ea typeface="Roboto" pitchFamily="34" charset="-122"/>
                <a:cs typeface="Roboto" pitchFamily="34" charset="-120"/>
              </a:rPr>
              <a:t>Història  ·  Unitat 4</a:t>
            </a:r>
            <a:endParaRPr lang="en-US" sz="1500" dirty="0"/>
          </a:p>
        </p:txBody>
      </p:sp>
      <p:sp>
        <p:nvSpPr>
          <p:cNvPr id="7" name="Text 4"/>
          <p:cNvSpPr txBox="1"/>
          <p:nvPr/>
        </p:nvSpPr>
        <p:spPr>
          <a:xfrm>
            <a:off x="1005840" y="2926080"/>
            <a:ext cx="6035040" cy="914400"/>
          </a:xfrm>
          <a:prstGeom prst="rect">
            <a:avLst/>
          </a:prstGeom>
          <a:noFill/>
          <a:ln/>
        </p:spPr>
        <p:txBody>
          <a:bodyPr wrap="square" lIns="0" tIns="0" rIns="0" bIns="0" rtlCol="0" anchor="t"/>
          <a:lstStyle/>
          <a:p>
            <a:pPr indent="0" marL="0">
              <a:buNone/>
            </a:pPr>
            <a:r>
              <a:rPr lang="en-US" sz="1800" dirty="0">
                <a:solidFill>
                  <a:srgbClr val="FFFFFF"/>
                </a:solidFill>
                <a:latin typeface="Roboto" pitchFamily="34" charset="0"/>
                <a:ea typeface="Roboto" pitchFamily="34" charset="-122"/>
                <a:cs typeface="Roboto" pitchFamily="34" charset="-120"/>
              </a:rPr>
              <a:t>Unes ciutats petites i sovint enfrontades van inventar la democràcia, la filosofia i el teatre. Com ho van fer?</a:t>
            </a:r>
            <a:endParaRPr lang="en-US" sz="1800" dirty="0"/>
          </a:p>
        </p:txBody>
      </p:sp>
      <p:sp>
        <p:nvSpPr>
          <p:cNvPr id="8" name="Etiqueta 9 apartats"/>
          <p:cNvSpPr/>
          <p:nvPr/>
        </p:nvSpPr>
        <p:spPr>
          <a:xfrm>
            <a:off x="1005840" y="3977640"/>
            <a:ext cx="1115568" cy="310896"/>
          </a:xfrm>
          <a:prstGeom prst="roundRect">
            <a:avLst>
              <a:gd name="adj" fmla="val 50000"/>
            </a:avLst>
          </a:prstGeom>
          <a:solidFill>
            <a:srgbClr val="FFFFFF">
              <a:alpha val="18000"/>
            </a:srgbClr>
          </a:solidFill>
          <a:ln/>
        </p:spPr>
      </p:sp>
      <p:sp>
        <p:nvSpPr>
          <p:cNvPr id="9" name="Text 6"/>
          <p:cNvSpPr txBox="1"/>
          <p:nvPr/>
        </p:nvSpPr>
        <p:spPr>
          <a:xfrm>
            <a:off x="1005840" y="3977640"/>
            <a:ext cx="1115568" cy="310896"/>
          </a:xfrm>
          <a:prstGeom prst="rect">
            <a:avLst/>
          </a:prstGeom>
          <a:noFill/>
          <a:ln/>
        </p:spPr>
        <p:txBody>
          <a:bodyPr wrap="square" lIns="0" tIns="0" rIns="0" bIns="0" rtlCol="0" anchor="ctr"/>
          <a:lstStyle/>
          <a:p>
            <a:pPr algn="ctr" indent="0" marL="0">
              <a:buNone/>
            </a:pPr>
            <a:r>
              <a:rPr lang="en-US" sz="1200" dirty="0">
                <a:solidFill>
                  <a:srgbClr val="FFFFFF"/>
                </a:solidFill>
                <a:latin typeface="Roboto" pitchFamily="34" charset="0"/>
                <a:ea typeface="Roboto" pitchFamily="34" charset="-122"/>
                <a:cs typeface="Roboto" pitchFamily="34" charset="-120"/>
              </a:rPr>
              <a:t>9 apartats</a:t>
            </a:r>
            <a:endParaRPr lang="en-US" sz="1200" dirty="0"/>
          </a:p>
        </p:txBody>
      </p:sp>
      <p:sp>
        <p:nvSpPr>
          <p:cNvPr id="10" name="Etiqueta Mapes i imatges"/>
          <p:cNvSpPr/>
          <p:nvPr/>
        </p:nvSpPr>
        <p:spPr>
          <a:xfrm>
            <a:off x="2231136" y="3977640"/>
            <a:ext cx="1517904" cy="310896"/>
          </a:xfrm>
          <a:prstGeom prst="roundRect">
            <a:avLst>
              <a:gd name="adj" fmla="val 50000"/>
            </a:avLst>
          </a:prstGeom>
          <a:solidFill>
            <a:srgbClr val="FFFFFF">
              <a:alpha val="18000"/>
            </a:srgbClr>
          </a:solidFill>
          <a:ln/>
        </p:spPr>
      </p:sp>
      <p:sp>
        <p:nvSpPr>
          <p:cNvPr id="11" name="Text 8"/>
          <p:cNvSpPr txBox="1"/>
          <p:nvPr/>
        </p:nvSpPr>
        <p:spPr>
          <a:xfrm>
            <a:off x="2231136" y="3977640"/>
            <a:ext cx="1517904" cy="310896"/>
          </a:xfrm>
          <a:prstGeom prst="rect">
            <a:avLst/>
          </a:prstGeom>
          <a:noFill/>
          <a:ln/>
        </p:spPr>
        <p:txBody>
          <a:bodyPr wrap="square" lIns="0" tIns="0" rIns="0" bIns="0" rtlCol="0" anchor="ctr"/>
          <a:lstStyle/>
          <a:p>
            <a:pPr algn="ctr" indent="0" marL="0">
              <a:buNone/>
            </a:pPr>
            <a:r>
              <a:rPr lang="en-US" sz="1200" dirty="0">
                <a:solidFill>
                  <a:srgbClr val="FFFFFF"/>
                </a:solidFill>
                <a:latin typeface="Roboto" pitchFamily="34" charset="0"/>
                <a:ea typeface="Roboto" pitchFamily="34" charset="-122"/>
                <a:cs typeface="Roboto" pitchFamily="34" charset="-120"/>
              </a:rPr>
              <a:t>Mapes i imatges</a:t>
            </a:r>
            <a:endParaRPr lang="en-US" sz="1200" dirty="0"/>
          </a:p>
        </p:txBody>
      </p:sp>
      <p:sp>
        <p:nvSpPr>
          <p:cNvPr id="12" name="Etiqueta Comprova-ho"/>
          <p:cNvSpPr/>
          <p:nvPr/>
        </p:nvSpPr>
        <p:spPr>
          <a:xfrm>
            <a:off x="3858768" y="3977640"/>
            <a:ext cx="1196035" cy="310896"/>
          </a:xfrm>
          <a:prstGeom prst="roundRect">
            <a:avLst>
              <a:gd name="adj" fmla="val 50000"/>
            </a:avLst>
          </a:prstGeom>
          <a:solidFill>
            <a:srgbClr val="FFFFFF">
              <a:alpha val="18000"/>
            </a:srgbClr>
          </a:solidFill>
          <a:ln/>
        </p:spPr>
      </p:sp>
      <p:sp>
        <p:nvSpPr>
          <p:cNvPr id="13" name="Text 10"/>
          <p:cNvSpPr txBox="1"/>
          <p:nvPr/>
        </p:nvSpPr>
        <p:spPr>
          <a:xfrm>
            <a:off x="3858768" y="3977640"/>
            <a:ext cx="1196035" cy="310896"/>
          </a:xfrm>
          <a:prstGeom prst="rect">
            <a:avLst/>
          </a:prstGeom>
          <a:noFill/>
          <a:ln/>
        </p:spPr>
        <p:txBody>
          <a:bodyPr wrap="square" lIns="0" tIns="0" rIns="0" bIns="0" rtlCol="0" anchor="ctr"/>
          <a:lstStyle/>
          <a:p>
            <a:pPr algn="ctr" indent="0" marL="0">
              <a:buNone/>
            </a:pPr>
            <a:r>
              <a:rPr lang="en-US" sz="1200" dirty="0">
                <a:solidFill>
                  <a:srgbClr val="FFFFFF"/>
                </a:solidFill>
                <a:latin typeface="Roboto" pitchFamily="34" charset="0"/>
                <a:ea typeface="Roboto" pitchFamily="34" charset="-122"/>
                <a:cs typeface="Roboto" pitchFamily="34" charset="-120"/>
              </a:rPr>
              <a:t>Comprova-ho</a:t>
            </a:r>
            <a:endParaRPr lang="en-US" sz="1200" dirty="0"/>
          </a:p>
        </p:txBody>
      </p:sp>
      <p:sp>
        <p:nvSpPr>
          <p:cNvPr id="14" name="Fons El Partenó, a l'Acròpolis d'Atenes"/>
          <p:cNvSpPr/>
          <p:nvPr/>
        </p:nvSpPr>
        <p:spPr>
          <a:xfrm>
            <a:off x="8001000" y="1760670"/>
            <a:ext cx="3642055" cy="2559420"/>
          </a:xfrm>
          <a:prstGeom prst="roundRect">
            <a:avLst>
              <a:gd name="adj" fmla="val 3930"/>
            </a:avLst>
          </a:prstGeom>
          <a:solidFill>
            <a:srgbClr val="F6F8FB"/>
          </a:solidFill>
          <a:ln/>
        </p:spPr>
      </p:sp>
      <p:pic>
        <p:nvPicPr>
          <p:cNvPr id="15" name="El Partenó, a l'Acròpolis d'Atenes" descr="/home/claude/work/build/img/partenon.jpg">    </p:cNvPr>
          <p:cNvPicPr>
            <a:picLocks noChangeAspect="1"/>
          </p:cNvPicPr>
          <p:nvPr/>
        </p:nvPicPr>
        <p:blipFill>
          <a:blip r:embed="rId2"/>
          <a:stretch>
            <a:fillRect/>
          </a:stretch>
        </p:blipFill>
        <p:spPr>
          <a:xfrm>
            <a:off x="8001000" y="1760670"/>
            <a:ext cx="3642055" cy="2559420"/>
          </a:xfrm>
          <a:prstGeom prst="rect">
            <a:avLst/>
          </a:prstGeom>
        </p:spPr>
      </p:pic>
      <p:sp>
        <p:nvSpPr>
          <p:cNvPr id="16" name="Text 12"/>
          <p:cNvSpPr txBox="1"/>
          <p:nvPr/>
        </p:nvSpPr>
        <p:spPr>
          <a:xfrm>
            <a:off x="8001000" y="4411530"/>
            <a:ext cx="3642055"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El Partenó, a l'Acròpolis d'Atenes. Es va construir entre el 447 i el 432 aC i és d'ordre dòric. Foto: Steve Swayne (1978), Wikimedia Commons, CC BY 2.0.</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pic>
        <p:nvPicPr>
          <p:cNvPr id="3" name="Icona" descr="/home/claude/work/build/../llibre.png">    </p:cNvPr>
          <p:cNvPicPr>
            <a:picLocks noChangeAspect="1"/>
          </p:cNvPicPr>
          <p:nvPr/>
        </p:nvPicPr>
        <p:blipFill>
          <a:blip r:embed="rId1"/>
          <a:stretch>
            <a:fillRect/>
          </a:stretch>
        </p:blipFill>
        <p:spPr>
          <a:xfrm>
            <a:off x="694944" y="713232"/>
            <a:ext cx="274320" cy="274320"/>
          </a:xfrm>
          <a:prstGeom prst="rect">
            <a:avLst/>
          </a:prstGeom>
        </p:spPr>
      </p:pic>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Què aprendràs</a:t>
            </a:r>
            <a:endParaRPr lang="en-US" sz="2800" dirty="0"/>
          </a:p>
        </p:txBody>
      </p:sp>
      <p:sp>
        <p:nvSpPr>
          <p:cNvPr id="5" name="Text 2"/>
          <p:cNvSpPr txBox="1"/>
          <p:nvPr/>
        </p:nvSpPr>
        <p:spPr>
          <a:xfrm>
            <a:off x="548640" y="1371600"/>
            <a:ext cx="7315200" cy="365760"/>
          </a:xfrm>
          <a:prstGeom prst="rect">
            <a:avLst/>
          </a:prstGeom>
          <a:noFill/>
          <a:ln/>
        </p:spPr>
        <p:txBody>
          <a:bodyPr wrap="square" lIns="0" tIns="0" rIns="0" bIns="0" rtlCol="0" anchor="t"/>
          <a:lstStyle/>
          <a:p>
            <a:pPr indent="0" marL="0">
              <a:buNone/>
            </a:pPr>
            <a:r>
              <a:rPr lang="en-US" sz="1700" dirty="0">
                <a:solidFill>
                  <a:srgbClr val="5F6368"/>
                </a:solidFill>
                <a:latin typeface="Roboto" pitchFamily="34" charset="0"/>
                <a:ea typeface="Roboto" pitchFamily="34" charset="-122"/>
                <a:cs typeface="Roboto" pitchFamily="34" charset="-120"/>
              </a:rPr>
              <a:t>Al final de la unitat seràs capaç de…</a:t>
            </a:r>
            <a:endParaRPr lang="en-US" sz="1700" dirty="0"/>
          </a:p>
        </p:txBody>
      </p:sp>
      <p:sp>
        <p:nvSpPr>
          <p:cNvPr id="6" name="Objectiu 1"/>
          <p:cNvSpPr/>
          <p:nvPr/>
        </p:nvSpPr>
        <p:spPr>
          <a:xfrm>
            <a:off x="548640" y="1938528"/>
            <a:ext cx="438912" cy="438912"/>
          </a:xfrm>
          <a:prstGeom prst="ellipse">
            <a:avLst/>
          </a:prstGeom>
          <a:solidFill>
            <a:srgbClr val="E6F4EA"/>
          </a:solidFill>
          <a:ln/>
        </p:spPr>
      </p:sp>
      <p:sp>
        <p:nvSpPr>
          <p:cNvPr id="7" name="Text 4"/>
          <p:cNvSpPr txBox="1"/>
          <p:nvPr/>
        </p:nvSpPr>
        <p:spPr>
          <a:xfrm>
            <a:off x="548640" y="1938528"/>
            <a:ext cx="438912" cy="438912"/>
          </a:xfrm>
          <a:prstGeom prst="rect">
            <a:avLst/>
          </a:prstGeom>
          <a:noFill/>
          <a:ln/>
        </p:spPr>
        <p:txBody>
          <a:bodyPr wrap="square" lIns="0" tIns="0" rIns="0" bIns="0" rtlCol="0" anchor="ctr"/>
          <a:lstStyle/>
          <a:p>
            <a:pPr algn="ctr" indent="0" marL="0">
              <a:buNone/>
            </a:pPr>
            <a:r>
              <a:rPr lang="en-US" sz="1600" b="1" dirty="0">
                <a:solidFill>
                  <a:srgbClr val="188038"/>
                </a:solidFill>
                <a:latin typeface="Roboto" pitchFamily="34" charset="0"/>
                <a:ea typeface="Roboto" pitchFamily="34" charset="-122"/>
                <a:cs typeface="Roboto" pitchFamily="34" charset="-120"/>
              </a:rPr>
              <a:t>1</a:t>
            </a:r>
            <a:endParaRPr lang="en-US" sz="1600" dirty="0"/>
          </a:p>
        </p:txBody>
      </p:sp>
      <p:sp>
        <p:nvSpPr>
          <p:cNvPr id="8" name="Text 5"/>
          <p:cNvSpPr txBox="1"/>
          <p:nvPr/>
        </p:nvSpPr>
        <p:spPr>
          <a:xfrm>
            <a:off x="1188720" y="1920240"/>
            <a:ext cx="10424160" cy="685800"/>
          </a:xfrm>
          <a:prstGeom prst="rect">
            <a:avLst/>
          </a:prstGeom>
          <a:noFill/>
          <a:ln/>
        </p:spPr>
        <p:txBody>
          <a:bodyPr wrap="square" lIns="0" tIns="0" rIns="0" bIns="0" rtlCol="0" anchor="ctr"/>
          <a:lstStyle/>
          <a:p>
            <a:pPr indent="0" marL="0">
              <a:buNone/>
            </a:pPr>
            <a:r>
              <a:rPr lang="en-US" sz="1800" dirty="0">
                <a:solidFill>
                  <a:srgbClr val="202124"/>
                </a:solidFill>
                <a:latin typeface="Roboto" pitchFamily="34" charset="0"/>
                <a:ea typeface="Roboto" pitchFamily="34" charset="-122"/>
                <a:cs typeface="Roboto" pitchFamily="34" charset="-120"/>
              </a:rPr>
              <a:t>Situar la civilització grega en el mapa i en el temps, i explicar com la geografia va condicionar la seva història.</a:t>
            </a:r>
            <a:endParaRPr lang="en-US" sz="1800" dirty="0"/>
          </a:p>
        </p:txBody>
      </p:sp>
      <p:sp>
        <p:nvSpPr>
          <p:cNvPr id="9" name="Objectiu 2"/>
          <p:cNvSpPr/>
          <p:nvPr/>
        </p:nvSpPr>
        <p:spPr>
          <a:xfrm>
            <a:off x="548640" y="2724912"/>
            <a:ext cx="438912" cy="438912"/>
          </a:xfrm>
          <a:prstGeom prst="ellipse">
            <a:avLst/>
          </a:prstGeom>
          <a:solidFill>
            <a:srgbClr val="E6F4EA"/>
          </a:solidFill>
          <a:ln/>
        </p:spPr>
      </p:sp>
      <p:sp>
        <p:nvSpPr>
          <p:cNvPr id="10" name="Text 7"/>
          <p:cNvSpPr txBox="1"/>
          <p:nvPr/>
        </p:nvSpPr>
        <p:spPr>
          <a:xfrm>
            <a:off x="548640" y="2724912"/>
            <a:ext cx="438912" cy="438912"/>
          </a:xfrm>
          <a:prstGeom prst="rect">
            <a:avLst/>
          </a:prstGeom>
          <a:noFill/>
          <a:ln/>
        </p:spPr>
        <p:txBody>
          <a:bodyPr wrap="square" lIns="0" tIns="0" rIns="0" bIns="0" rtlCol="0" anchor="ctr"/>
          <a:lstStyle/>
          <a:p>
            <a:pPr algn="ctr" indent="0" marL="0">
              <a:buNone/>
            </a:pPr>
            <a:r>
              <a:rPr lang="en-US" sz="1600" b="1" dirty="0">
                <a:solidFill>
                  <a:srgbClr val="188038"/>
                </a:solidFill>
                <a:latin typeface="Roboto" pitchFamily="34" charset="0"/>
                <a:ea typeface="Roboto" pitchFamily="34" charset="-122"/>
                <a:cs typeface="Roboto" pitchFamily="34" charset="-120"/>
              </a:rPr>
              <a:t>2</a:t>
            </a:r>
            <a:endParaRPr lang="en-US" sz="1600" dirty="0"/>
          </a:p>
        </p:txBody>
      </p:sp>
      <p:sp>
        <p:nvSpPr>
          <p:cNvPr id="11" name="Text 8"/>
          <p:cNvSpPr txBox="1"/>
          <p:nvPr/>
        </p:nvSpPr>
        <p:spPr>
          <a:xfrm>
            <a:off x="1188720" y="2706624"/>
            <a:ext cx="10424160" cy="685800"/>
          </a:xfrm>
          <a:prstGeom prst="rect">
            <a:avLst/>
          </a:prstGeom>
          <a:noFill/>
          <a:ln/>
        </p:spPr>
        <p:txBody>
          <a:bodyPr wrap="square" lIns="0" tIns="0" rIns="0" bIns="0" rtlCol="0" anchor="ctr"/>
          <a:lstStyle/>
          <a:p>
            <a:pPr indent="0" marL="0">
              <a:buNone/>
            </a:pPr>
            <a:r>
              <a:rPr lang="en-US" sz="1800" dirty="0">
                <a:solidFill>
                  <a:srgbClr val="202124"/>
                </a:solidFill>
                <a:latin typeface="Roboto" pitchFamily="34" charset="0"/>
                <a:ea typeface="Roboto" pitchFamily="34" charset="-122"/>
                <a:cs typeface="Roboto" pitchFamily="34" charset="-120"/>
              </a:rPr>
              <a:t>Explicar què era una polis i comparar els models d'Atenes i Esparta.</a:t>
            </a:r>
            <a:endParaRPr lang="en-US" sz="1800" dirty="0"/>
          </a:p>
        </p:txBody>
      </p:sp>
      <p:sp>
        <p:nvSpPr>
          <p:cNvPr id="12" name="Objectiu 3"/>
          <p:cNvSpPr/>
          <p:nvPr/>
        </p:nvSpPr>
        <p:spPr>
          <a:xfrm>
            <a:off x="548640" y="3511296"/>
            <a:ext cx="438912" cy="438912"/>
          </a:xfrm>
          <a:prstGeom prst="ellipse">
            <a:avLst/>
          </a:prstGeom>
          <a:solidFill>
            <a:srgbClr val="E6F4EA"/>
          </a:solidFill>
          <a:ln/>
        </p:spPr>
      </p:sp>
      <p:sp>
        <p:nvSpPr>
          <p:cNvPr id="13" name="Text 10"/>
          <p:cNvSpPr txBox="1"/>
          <p:nvPr/>
        </p:nvSpPr>
        <p:spPr>
          <a:xfrm>
            <a:off x="548640" y="3511296"/>
            <a:ext cx="438912" cy="438912"/>
          </a:xfrm>
          <a:prstGeom prst="rect">
            <a:avLst/>
          </a:prstGeom>
          <a:noFill/>
          <a:ln/>
        </p:spPr>
        <p:txBody>
          <a:bodyPr wrap="square" lIns="0" tIns="0" rIns="0" bIns="0" rtlCol="0" anchor="ctr"/>
          <a:lstStyle/>
          <a:p>
            <a:pPr algn="ctr" indent="0" marL="0">
              <a:buNone/>
            </a:pPr>
            <a:r>
              <a:rPr lang="en-US" sz="1600" b="1" dirty="0">
                <a:solidFill>
                  <a:srgbClr val="188038"/>
                </a:solidFill>
                <a:latin typeface="Roboto" pitchFamily="34" charset="0"/>
                <a:ea typeface="Roboto" pitchFamily="34" charset="-122"/>
                <a:cs typeface="Roboto" pitchFamily="34" charset="-120"/>
              </a:rPr>
              <a:t>3</a:t>
            </a:r>
            <a:endParaRPr lang="en-US" sz="1600" dirty="0"/>
          </a:p>
        </p:txBody>
      </p:sp>
      <p:sp>
        <p:nvSpPr>
          <p:cNvPr id="14" name="Text 11"/>
          <p:cNvSpPr txBox="1"/>
          <p:nvPr/>
        </p:nvSpPr>
        <p:spPr>
          <a:xfrm>
            <a:off x="1188720" y="3493008"/>
            <a:ext cx="10424160" cy="685800"/>
          </a:xfrm>
          <a:prstGeom prst="rect">
            <a:avLst/>
          </a:prstGeom>
          <a:noFill/>
          <a:ln/>
        </p:spPr>
        <p:txBody>
          <a:bodyPr wrap="square" lIns="0" tIns="0" rIns="0" bIns="0" rtlCol="0" anchor="ctr"/>
          <a:lstStyle/>
          <a:p>
            <a:pPr indent="0" marL="0">
              <a:buNone/>
            </a:pPr>
            <a:r>
              <a:rPr lang="en-US" sz="1800" dirty="0">
                <a:solidFill>
                  <a:srgbClr val="202124"/>
                </a:solidFill>
                <a:latin typeface="Roboto" pitchFamily="34" charset="0"/>
                <a:ea typeface="Roboto" pitchFamily="34" charset="-122"/>
                <a:cs typeface="Roboto" pitchFamily="34" charset="-120"/>
              </a:rPr>
              <a:t>Descriure com funcionava la democràcia atenesa i valorar-ne els límits comparant-la amb la nostra.</a:t>
            </a:r>
            <a:endParaRPr lang="en-US" sz="1800" dirty="0"/>
          </a:p>
        </p:txBody>
      </p:sp>
      <p:sp>
        <p:nvSpPr>
          <p:cNvPr id="15" name="Objectiu 4"/>
          <p:cNvSpPr/>
          <p:nvPr/>
        </p:nvSpPr>
        <p:spPr>
          <a:xfrm>
            <a:off x="548640" y="4297680"/>
            <a:ext cx="438912" cy="438912"/>
          </a:xfrm>
          <a:prstGeom prst="ellipse">
            <a:avLst/>
          </a:prstGeom>
          <a:solidFill>
            <a:srgbClr val="E6F4EA"/>
          </a:solidFill>
          <a:ln/>
        </p:spPr>
      </p:sp>
      <p:sp>
        <p:nvSpPr>
          <p:cNvPr id="16" name="Text 13"/>
          <p:cNvSpPr txBox="1"/>
          <p:nvPr/>
        </p:nvSpPr>
        <p:spPr>
          <a:xfrm>
            <a:off x="548640" y="4297680"/>
            <a:ext cx="438912" cy="438912"/>
          </a:xfrm>
          <a:prstGeom prst="rect">
            <a:avLst/>
          </a:prstGeom>
          <a:noFill/>
          <a:ln/>
        </p:spPr>
        <p:txBody>
          <a:bodyPr wrap="square" lIns="0" tIns="0" rIns="0" bIns="0" rtlCol="0" anchor="ctr"/>
          <a:lstStyle/>
          <a:p>
            <a:pPr algn="ctr" indent="0" marL="0">
              <a:buNone/>
            </a:pPr>
            <a:r>
              <a:rPr lang="en-US" sz="1600" b="1" dirty="0">
                <a:solidFill>
                  <a:srgbClr val="188038"/>
                </a:solidFill>
                <a:latin typeface="Roboto" pitchFamily="34" charset="0"/>
                <a:ea typeface="Roboto" pitchFamily="34" charset="-122"/>
                <a:cs typeface="Roboto" pitchFamily="34" charset="-120"/>
              </a:rPr>
              <a:t>4</a:t>
            </a:r>
            <a:endParaRPr lang="en-US" sz="1600" dirty="0"/>
          </a:p>
        </p:txBody>
      </p:sp>
      <p:sp>
        <p:nvSpPr>
          <p:cNvPr id="17" name="Text 14"/>
          <p:cNvSpPr txBox="1"/>
          <p:nvPr/>
        </p:nvSpPr>
        <p:spPr>
          <a:xfrm>
            <a:off x="1188720" y="4279392"/>
            <a:ext cx="10424160" cy="685800"/>
          </a:xfrm>
          <a:prstGeom prst="rect">
            <a:avLst/>
          </a:prstGeom>
          <a:noFill/>
          <a:ln/>
        </p:spPr>
        <p:txBody>
          <a:bodyPr wrap="square" lIns="0" tIns="0" rIns="0" bIns="0" rtlCol="0" anchor="ctr"/>
          <a:lstStyle/>
          <a:p>
            <a:pPr indent="0" marL="0">
              <a:buNone/>
            </a:pPr>
            <a:r>
              <a:rPr lang="en-US" sz="1800" dirty="0">
                <a:solidFill>
                  <a:srgbClr val="202124"/>
                </a:solidFill>
                <a:latin typeface="Roboto" pitchFamily="34" charset="0"/>
                <a:ea typeface="Roboto" pitchFamily="34" charset="-122"/>
                <a:cs typeface="Roboto" pitchFamily="34" charset="-120"/>
              </a:rPr>
              <a:t>Explicar les guerres mèdiques, el segle de Pèricles i l'expansió d'Alexandre el Gran.</a:t>
            </a:r>
            <a:endParaRPr lang="en-US" sz="1800" dirty="0"/>
          </a:p>
        </p:txBody>
      </p:sp>
      <p:sp>
        <p:nvSpPr>
          <p:cNvPr id="18" name="Objectiu 5"/>
          <p:cNvSpPr/>
          <p:nvPr/>
        </p:nvSpPr>
        <p:spPr>
          <a:xfrm>
            <a:off x="548640" y="5084064"/>
            <a:ext cx="438912" cy="438912"/>
          </a:xfrm>
          <a:prstGeom prst="ellipse">
            <a:avLst/>
          </a:prstGeom>
          <a:solidFill>
            <a:srgbClr val="E6F4EA"/>
          </a:solidFill>
          <a:ln/>
        </p:spPr>
      </p:sp>
      <p:sp>
        <p:nvSpPr>
          <p:cNvPr id="19" name="Text 16"/>
          <p:cNvSpPr txBox="1"/>
          <p:nvPr/>
        </p:nvSpPr>
        <p:spPr>
          <a:xfrm>
            <a:off x="548640" y="5084064"/>
            <a:ext cx="438912" cy="438912"/>
          </a:xfrm>
          <a:prstGeom prst="rect">
            <a:avLst/>
          </a:prstGeom>
          <a:noFill/>
          <a:ln/>
        </p:spPr>
        <p:txBody>
          <a:bodyPr wrap="square" lIns="0" tIns="0" rIns="0" bIns="0" rtlCol="0" anchor="ctr"/>
          <a:lstStyle/>
          <a:p>
            <a:pPr algn="ctr" indent="0" marL="0">
              <a:buNone/>
            </a:pPr>
            <a:r>
              <a:rPr lang="en-US" sz="1600" b="1" dirty="0">
                <a:solidFill>
                  <a:srgbClr val="188038"/>
                </a:solidFill>
                <a:latin typeface="Roboto" pitchFamily="34" charset="0"/>
                <a:ea typeface="Roboto" pitchFamily="34" charset="-122"/>
                <a:cs typeface="Roboto" pitchFamily="34" charset="-120"/>
              </a:rPr>
              <a:t>5</a:t>
            </a:r>
            <a:endParaRPr lang="en-US" sz="1600" dirty="0"/>
          </a:p>
        </p:txBody>
      </p:sp>
      <p:sp>
        <p:nvSpPr>
          <p:cNvPr id="20" name="Text 17"/>
          <p:cNvSpPr txBox="1"/>
          <p:nvPr/>
        </p:nvSpPr>
        <p:spPr>
          <a:xfrm>
            <a:off x="1188720" y="5065776"/>
            <a:ext cx="10424160" cy="685800"/>
          </a:xfrm>
          <a:prstGeom prst="rect">
            <a:avLst/>
          </a:prstGeom>
          <a:noFill/>
          <a:ln/>
        </p:spPr>
        <p:txBody>
          <a:bodyPr wrap="square" lIns="0" tIns="0" rIns="0" bIns="0" rtlCol="0" anchor="ctr"/>
          <a:lstStyle/>
          <a:p>
            <a:pPr indent="0" marL="0">
              <a:buNone/>
            </a:pPr>
            <a:r>
              <a:rPr lang="en-US" sz="1800" dirty="0">
                <a:solidFill>
                  <a:srgbClr val="202124"/>
                </a:solidFill>
                <a:latin typeface="Roboto" pitchFamily="34" charset="0"/>
                <a:ea typeface="Roboto" pitchFamily="34" charset="-122"/>
                <a:cs typeface="Roboto" pitchFamily="34" charset="-120"/>
              </a:rPr>
              <a:t>Reconèixer les aportacions de la cultura grega (religió, filosofia, teatre, ciència i art) i el seu llegat, també a Catalunya.</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pic>
        <p:nvPicPr>
          <p:cNvPr id="3" name="Icona" descr="/home/claude/work/build/../llibre.png">    </p:cNvPr>
          <p:cNvPicPr>
            <a:picLocks noChangeAspect="1"/>
          </p:cNvPicPr>
          <p:nvPr/>
        </p:nvPicPr>
        <p:blipFill>
          <a:blip r:embed="rId1"/>
          <a:stretch>
            <a:fillRect/>
          </a:stretch>
        </p:blipFill>
        <p:spPr>
          <a:xfrm>
            <a:off x="694944" y="713232"/>
            <a:ext cx="274320" cy="274320"/>
          </a:xfrm>
          <a:prstGeom prst="rect">
            <a:avLst/>
          </a:prstGeom>
        </p:spPr>
      </p:pic>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Què en saps?</a:t>
            </a:r>
            <a:endParaRPr lang="en-US" sz="2800" dirty="0"/>
          </a:p>
        </p:txBody>
      </p:sp>
      <p:sp>
        <p:nvSpPr>
          <p:cNvPr id="5" name="Text 2"/>
          <p:cNvSpPr txBox="1"/>
          <p:nvPr/>
        </p:nvSpPr>
        <p:spPr>
          <a:xfrm>
            <a:off x="548640" y="1371600"/>
            <a:ext cx="9144000" cy="365760"/>
          </a:xfrm>
          <a:prstGeom prst="rect">
            <a:avLst/>
          </a:prstGeom>
          <a:noFill/>
          <a:ln/>
        </p:spPr>
        <p:txBody>
          <a:bodyPr wrap="square" lIns="0" tIns="0" rIns="0" bIns="0" rtlCol="0" anchor="t"/>
          <a:lstStyle/>
          <a:p>
            <a:pPr indent="0" marL="0">
              <a:buNone/>
            </a:pPr>
            <a:r>
              <a:rPr lang="en-US" sz="1700" dirty="0">
                <a:solidFill>
                  <a:srgbClr val="5F6368"/>
                </a:solidFill>
                <a:latin typeface="Roboto" pitchFamily="34" charset="0"/>
                <a:ea typeface="Roboto" pitchFamily="34" charset="-122"/>
                <a:cs typeface="Roboto" pitchFamily="34" charset="-120"/>
              </a:rPr>
              <a:t>Una mini-prova abans de començar. No compta per a nota.</a:t>
            </a:r>
            <a:endParaRPr lang="en-US" sz="1700" dirty="0"/>
          </a:p>
        </p:txBody>
      </p:sp>
      <p:sp>
        <p:nvSpPr>
          <p:cNvPr id="6" name="Targeta Al voltant de quina mar va néixer la civilització grega?"/>
          <p:cNvSpPr/>
          <p:nvPr/>
        </p:nvSpPr>
        <p:spPr>
          <a:xfrm>
            <a:off x="548640" y="1920240"/>
            <a:ext cx="5410048" cy="1874520"/>
          </a:xfrm>
          <a:prstGeom prst="roundRect">
            <a:avLst>
              <a:gd name="adj" fmla="val 5366"/>
            </a:avLst>
          </a:prstGeom>
          <a:solidFill>
            <a:srgbClr val="FFFFFF"/>
          </a:solidFill>
          <a:ln w="12700">
            <a:solidFill>
              <a:srgbClr val="DADCE0"/>
            </a:solidFill>
            <a:prstDash val="solid"/>
          </a:ln>
        </p:spPr>
      </p:sp>
      <p:sp>
        <p:nvSpPr>
          <p:cNvPr id="7" name="Text 4"/>
          <p:cNvSpPr txBox="1"/>
          <p:nvPr/>
        </p:nvSpPr>
        <p:spPr>
          <a:xfrm>
            <a:off x="777240" y="2103120"/>
            <a:ext cx="4952848" cy="579120"/>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Al voltant de quina mar va néixer la civilització grega?</a:t>
            </a:r>
            <a:endParaRPr lang="en-US" sz="1900" dirty="0"/>
          </a:p>
        </p:txBody>
      </p:sp>
      <p:sp>
        <p:nvSpPr>
          <p:cNvPr id="8" name="Text 5"/>
          <p:cNvSpPr txBox="1"/>
          <p:nvPr/>
        </p:nvSpPr>
        <p:spPr>
          <a:xfrm>
            <a:off x="777240" y="2791968"/>
            <a:ext cx="4952848" cy="88392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La mar Roja · La mar Egea · La mar Negra · L'oceà Atlàntic</a:t>
            </a:r>
            <a:endParaRPr lang="en-US" sz="1700" dirty="0"/>
          </a:p>
        </p:txBody>
      </p:sp>
      <p:sp>
        <p:nvSpPr>
          <p:cNvPr id="9" name="Targeta Quina paraula vol dir, literalment, «govern del poble»?"/>
          <p:cNvSpPr/>
          <p:nvPr/>
        </p:nvSpPr>
        <p:spPr>
          <a:xfrm>
            <a:off x="6233008" y="1920240"/>
            <a:ext cx="5410048" cy="1874520"/>
          </a:xfrm>
          <a:prstGeom prst="roundRect">
            <a:avLst>
              <a:gd name="adj" fmla="val 5366"/>
            </a:avLst>
          </a:prstGeom>
          <a:solidFill>
            <a:srgbClr val="FFFFFF"/>
          </a:solidFill>
          <a:ln w="12700">
            <a:solidFill>
              <a:srgbClr val="DADCE0"/>
            </a:solidFill>
            <a:prstDash val="solid"/>
          </a:ln>
        </p:spPr>
      </p:sp>
      <p:sp>
        <p:nvSpPr>
          <p:cNvPr id="10" name="Text 7"/>
          <p:cNvSpPr txBox="1"/>
          <p:nvPr/>
        </p:nvSpPr>
        <p:spPr>
          <a:xfrm>
            <a:off x="6461608" y="2103120"/>
            <a:ext cx="4952848" cy="579120"/>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Quina paraula vol dir, literalment, «govern del poble»?</a:t>
            </a:r>
            <a:endParaRPr lang="en-US" sz="1900" dirty="0"/>
          </a:p>
        </p:txBody>
      </p:sp>
      <p:sp>
        <p:nvSpPr>
          <p:cNvPr id="11" name="Text 8"/>
          <p:cNvSpPr txBox="1"/>
          <p:nvPr/>
        </p:nvSpPr>
        <p:spPr>
          <a:xfrm>
            <a:off x="6461608" y="2791968"/>
            <a:ext cx="4952848" cy="88392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Aristocràcia · Monarquia · Tirania · Democràcia</a:t>
            </a:r>
            <a:endParaRPr lang="en-US" sz="1700" dirty="0"/>
          </a:p>
        </p:txBody>
      </p:sp>
      <p:sp>
        <p:nvSpPr>
          <p:cNvPr id="12" name="Targeta Atenes i Esparta eren dues polis molt semblants en govern i valors."/>
          <p:cNvSpPr/>
          <p:nvPr/>
        </p:nvSpPr>
        <p:spPr>
          <a:xfrm>
            <a:off x="548640" y="4069080"/>
            <a:ext cx="5410048" cy="1874520"/>
          </a:xfrm>
          <a:prstGeom prst="roundRect">
            <a:avLst>
              <a:gd name="adj" fmla="val 5366"/>
            </a:avLst>
          </a:prstGeom>
          <a:solidFill>
            <a:srgbClr val="FFFFFF"/>
          </a:solidFill>
          <a:ln w="12700">
            <a:solidFill>
              <a:srgbClr val="DADCE0"/>
            </a:solidFill>
            <a:prstDash val="solid"/>
          </a:ln>
        </p:spPr>
      </p:sp>
      <p:sp>
        <p:nvSpPr>
          <p:cNvPr id="13" name="Text 10"/>
          <p:cNvSpPr txBox="1"/>
          <p:nvPr/>
        </p:nvSpPr>
        <p:spPr>
          <a:xfrm>
            <a:off x="777240" y="4251960"/>
            <a:ext cx="4952848" cy="579120"/>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Atenes i Esparta eren dues polis molt semblants en govern i valors.</a:t>
            </a:r>
            <a:endParaRPr lang="en-US" sz="1900" dirty="0"/>
          </a:p>
        </p:txBody>
      </p:sp>
      <p:sp>
        <p:nvSpPr>
          <p:cNvPr id="14" name="Text 11"/>
          <p:cNvSpPr txBox="1"/>
          <p:nvPr/>
        </p:nvSpPr>
        <p:spPr>
          <a:xfrm>
            <a:off x="777240" y="4940808"/>
            <a:ext cx="4952848" cy="88392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Vertader o fals?</a:t>
            </a:r>
            <a:endParaRPr lang="en-US" sz="1700" dirty="0"/>
          </a:p>
        </p:txBody>
      </p:sp>
      <p:sp>
        <p:nvSpPr>
          <p:cNvPr id="15" name="Targeta Empúries, a l'Empordà, va ser una colònia grega."/>
          <p:cNvSpPr/>
          <p:nvPr/>
        </p:nvSpPr>
        <p:spPr>
          <a:xfrm>
            <a:off x="6233008" y="4069080"/>
            <a:ext cx="5410048" cy="1874520"/>
          </a:xfrm>
          <a:prstGeom prst="roundRect">
            <a:avLst>
              <a:gd name="adj" fmla="val 5366"/>
            </a:avLst>
          </a:prstGeom>
          <a:solidFill>
            <a:srgbClr val="FFFFFF"/>
          </a:solidFill>
          <a:ln w="12700">
            <a:solidFill>
              <a:srgbClr val="DADCE0"/>
            </a:solidFill>
            <a:prstDash val="solid"/>
          </a:ln>
        </p:spPr>
      </p:sp>
      <p:sp>
        <p:nvSpPr>
          <p:cNvPr id="16" name="Text 13"/>
          <p:cNvSpPr txBox="1"/>
          <p:nvPr/>
        </p:nvSpPr>
        <p:spPr>
          <a:xfrm>
            <a:off x="6461608" y="4251960"/>
            <a:ext cx="4952848" cy="579120"/>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Empúries, a l'Empordà, va ser una colònia grega.</a:t>
            </a:r>
            <a:endParaRPr lang="en-US" sz="1900" dirty="0"/>
          </a:p>
        </p:txBody>
      </p:sp>
      <p:sp>
        <p:nvSpPr>
          <p:cNvPr id="17" name="Text 14"/>
          <p:cNvSpPr txBox="1"/>
          <p:nvPr/>
        </p:nvSpPr>
        <p:spPr>
          <a:xfrm>
            <a:off x="6461608" y="4940808"/>
            <a:ext cx="4952848" cy="88392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Vertader o fals?</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Capçalera"/>
          <p:cNvSpPr/>
          <p:nvPr/>
        </p:nvSpPr>
        <p:spPr>
          <a:xfrm>
            <a:off x="548640" y="548640"/>
            <a:ext cx="6720840" cy="3657600"/>
          </a:xfrm>
          <a:prstGeom prst="roundRect">
            <a:avLst>
              <a:gd name="adj" fmla="val 2750"/>
            </a:avLst>
          </a:prstGeom>
          <a:solidFill>
            <a:srgbClr val="188038"/>
          </a:solidFill>
          <a:ln/>
        </p:spPr>
      </p:sp>
      <p:pic>
        <p:nvPicPr>
          <p:cNvPr id="3" name="Il·lustració d'un temple grec i el sol" descr="/home/claude/work/build/hero-crop.png">    </p:cNvPr>
          <p:cNvPicPr>
            <a:picLocks noChangeAspect="1"/>
          </p:cNvPicPr>
          <p:nvPr/>
        </p:nvPicPr>
        <p:blipFill>
          <a:blip r:embed="rId1"/>
          <a:stretch>
            <a:fillRect/>
          </a:stretch>
        </p:blipFill>
        <p:spPr>
          <a:xfrm>
            <a:off x="3520440" y="2395912"/>
            <a:ext cx="3566160" cy="1792040"/>
          </a:xfrm>
          <a:prstGeom prst="rect">
            <a:avLst/>
          </a:prstGeom>
        </p:spPr>
      </p:pic>
      <p:sp>
        <p:nvSpPr>
          <p:cNvPr id="4" name="Etiqueta Apartat 1"/>
          <p:cNvSpPr/>
          <p:nvPr/>
        </p:nvSpPr>
        <p:spPr>
          <a:xfrm>
            <a:off x="960120" y="896112"/>
            <a:ext cx="1035101" cy="310896"/>
          </a:xfrm>
          <a:prstGeom prst="roundRect">
            <a:avLst>
              <a:gd name="adj" fmla="val 50000"/>
            </a:avLst>
          </a:prstGeom>
          <a:solidFill>
            <a:srgbClr val="FFFFFF">
              <a:alpha val="18000"/>
            </a:srgbClr>
          </a:solidFill>
          <a:ln/>
        </p:spPr>
      </p:sp>
      <p:sp>
        <p:nvSpPr>
          <p:cNvPr id="5" name="Text 2"/>
          <p:cNvSpPr txBox="1"/>
          <p:nvPr/>
        </p:nvSpPr>
        <p:spPr>
          <a:xfrm>
            <a:off x="960120" y="896112"/>
            <a:ext cx="1035101" cy="310896"/>
          </a:xfrm>
          <a:prstGeom prst="rect">
            <a:avLst/>
          </a:prstGeom>
          <a:noFill/>
          <a:ln/>
        </p:spPr>
        <p:txBody>
          <a:bodyPr wrap="square" lIns="0" tIns="0" rIns="0" bIns="0" rtlCol="0" anchor="ctr"/>
          <a:lstStyle/>
          <a:p>
            <a:pPr algn="ctr" indent="0" marL="0">
              <a:buNone/>
            </a:pPr>
            <a:r>
              <a:rPr lang="en-US" sz="1250" dirty="0">
                <a:solidFill>
                  <a:srgbClr val="FFFFFF"/>
                </a:solidFill>
                <a:latin typeface="Roboto" pitchFamily="34" charset="0"/>
                <a:ea typeface="Roboto" pitchFamily="34" charset="-122"/>
                <a:cs typeface="Roboto" pitchFamily="34" charset="-120"/>
              </a:rPr>
              <a:t>Apartat 1</a:t>
            </a:r>
            <a:endParaRPr lang="en-US" sz="1250" dirty="0"/>
          </a:p>
        </p:txBody>
      </p:sp>
      <p:sp>
        <p:nvSpPr>
          <p:cNvPr id="6" name="Text 3"/>
          <p:cNvSpPr txBox="1"/>
          <p:nvPr/>
        </p:nvSpPr>
        <p:spPr>
          <a:xfrm>
            <a:off x="960120" y="1371600"/>
            <a:ext cx="5760720" cy="1280160"/>
          </a:xfrm>
          <a:prstGeom prst="rect">
            <a:avLst/>
          </a:prstGeom>
          <a:noFill/>
          <a:ln/>
        </p:spPr>
        <p:txBody>
          <a:bodyPr wrap="square" lIns="0" tIns="0" rIns="0" bIns="0" rtlCol="0" anchor="t"/>
          <a:lstStyle/>
          <a:p>
            <a:pPr indent="0" marL="0">
              <a:lnSpc>
                <a:spcPct val="95000"/>
              </a:lnSpc>
              <a:buNone/>
            </a:pPr>
            <a:r>
              <a:rPr lang="en-US" sz="3400" b="1" dirty="0">
                <a:solidFill>
                  <a:srgbClr val="FFFFFF"/>
                </a:solidFill>
                <a:latin typeface="Roboto" pitchFamily="34" charset="0"/>
                <a:ea typeface="Roboto" pitchFamily="34" charset="-122"/>
                <a:cs typeface="Roboto" pitchFamily="34" charset="-120"/>
              </a:rPr>
              <a:t>El marc geogràfic i les etapes de la història grega</a:t>
            </a:r>
            <a:endParaRPr lang="en-US" sz="3400" dirty="0"/>
          </a:p>
        </p:txBody>
      </p:sp>
      <p:sp>
        <p:nvSpPr>
          <p:cNvPr id="7" name="Pregunta guia"/>
          <p:cNvSpPr/>
          <p:nvPr/>
        </p:nvSpPr>
        <p:spPr>
          <a:xfrm>
            <a:off x="548640" y="4389120"/>
            <a:ext cx="6720840" cy="1645920"/>
          </a:xfrm>
          <a:prstGeom prst="roundRect">
            <a:avLst>
              <a:gd name="adj" fmla="val 6111"/>
            </a:avLst>
          </a:prstGeom>
          <a:solidFill>
            <a:srgbClr val="F6F8FB"/>
          </a:solidFill>
          <a:ln/>
        </p:spPr>
      </p:sp>
      <p:sp>
        <p:nvSpPr>
          <p:cNvPr id="8" name="Text 5"/>
          <p:cNvSpPr txBox="1"/>
          <p:nvPr/>
        </p:nvSpPr>
        <p:spPr>
          <a:xfrm>
            <a:off x="914400" y="4590288"/>
            <a:ext cx="4572000" cy="320040"/>
          </a:xfrm>
          <a:prstGeom prst="rect">
            <a:avLst/>
          </a:prstGeom>
          <a:noFill/>
          <a:ln/>
        </p:spPr>
        <p:txBody>
          <a:bodyPr wrap="square" lIns="0" tIns="0" rIns="0" bIns="0" rtlCol="0" anchor="t"/>
          <a:lstStyle/>
          <a:p>
            <a:pPr indent="0" marL="0">
              <a:buNone/>
            </a:pPr>
            <a:r>
              <a:rPr lang="en-US" sz="1300" b="1" dirty="0">
                <a:solidFill>
                  <a:srgbClr val="188038"/>
                </a:solidFill>
                <a:latin typeface="Roboto" pitchFamily="34" charset="0"/>
                <a:ea typeface="Roboto" pitchFamily="34" charset="-122"/>
                <a:cs typeface="Roboto" pitchFamily="34" charset="-120"/>
              </a:rPr>
              <a:t>Pregunta guia</a:t>
            </a:r>
            <a:endParaRPr lang="en-US" sz="1300" dirty="0"/>
          </a:p>
        </p:txBody>
      </p:sp>
      <p:sp>
        <p:nvSpPr>
          <p:cNvPr id="9" name="Text 6"/>
          <p:cNvSpPr txBox="1"/>
          <p:nvPr/>
        </p:nvSpPr>
        <p:spPr>
          <a:xfrm>
            <a:off x="914400" y="4937760"/>
            <a:ext cx="6035040" cy="914400"/>
          </a:xfrm>
          <a:prstGeom prst="rect">
            <a:avLst/>
          </a:prstGeom>
          <a:noFill/>
          <a:ln/>
        </p:spPr>
        <p:txBody>
          <a:bodyPr wrap="square" lIns="0" tIns="0" rIns="0" bIns="0" rtlCol="0" anchor="t"/>
          <a:lstStyle/>
          <a:p>
            <a:pPr indent="0" marL="0">
              <a:buNone/>
            </a:pPr>
            <a:r>
              <a:rPr lang="en-US" sz="1900" dirty="0">
                <a:solidFill>
                  <a:srgbClr val="5F6368"/>
                </a:solidFill>
                <a:latin typeface="Roboto" pitchFamily="34" charset="0"/>
                <a:ea typeface="Roboto" pitchFamily="34" charset="-122"/>
                <a:cs typeface="Roboto" pitchFamily="34" charset="-120"/>
              </a:rPr>
              <a:t>Per què un país de muntanyes i illes no es va unir mai en un sol estat?</a:t>
            </a:r>
            <a:endParaRPr lang="en-US" sz="1900" dirty="0"/>
          </a:p>
        </p:txBody>
      </p:sp>
      <p:sp>
        <p:nvSpPr>
          <p:cNvPr id="10" name="Fons El marc geogràfic i les etapes de la història grega"/>
          <p:cNvSpPr/>
          <p:nvPr/>
        </p:nvSpPr>
        <p:spPr>
          <a:xfrm>
            <a:off x="7635240" y="608076"/>
            <a:ext cx="4007815" cy="4572000"/>
          </a:xfrm>
          <a:prstGeom prst="roundRect">
            <a:avLst>
              <a:gd name="adj" fmla="val 2510"/>
            </a:avLst>
          </a:prstGeom>
          <a:solidFill>
            <a:srgbClr val="F6F8FB"/>
          </a:solidFill>
          <a:ln/>
        </p:spPr>
      </p:sp>
      <p:pic>
        <p:nvPicPr>
          <p:cNvPr id="11" name="El marc geogràfic i les etapes de la història grega" descr="/home/claude/work/build/img/empuries.jpg">    </p:cNvPr>
          <p:cNvPicPr>
            <a:picLocks noChangeAspect="1"/>
          </p:cNvPicPr>
          <p:nvPr/>
        </p:nvPicPr>
        <p:blipFill>
          <a:blip r:embed="rId2"/>
          <a:stretch>
            <a:fillRect/>
          </a:stretch>
        </p:blipFill>
        <p:spPr>
          <a:xfrm>
            <a:off x="7924648" y="608076"/>
            <a:ext cx="3429000" cy="4572000"/>
          </a:xfrm>
          <a:prstGeom prst="rect">
            <a:avLst/>
          </a:prstGeom>
        </p:spPr>
      </p:pic>
      <p:sp>
        <p:nvSpPr>
          <p:cNvPr id="12" name="Text 8"/>
          <p:cNvSpPr txBox="1"/>
          <p:nvPr/>
        </p:nvSpPr>
        <p:spPr>
          <a:xfrm>
            <a:off x="7635240" y="5289804"/>
            <a:ext cx="4007815"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La ciutat grega d'Empúries, a tocar del mar. Les ruïnes són de la Neàpolis, la «ciutat nova». L'estàtua del déu Asclepi és una rèplica. Foto: Mary Harrsch, Wikimedia Commons, CC BY-SA 4.0.</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1</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Muntanyes, illes i mar</a:t>
            </a:r>
            <a:endParaRPr lang="en-US" sz="2800" dirty="0"/>
          </a:p>
        </p:txBody>
      </p:sp>
      <p:sp>
        <p:nvSpPr>
          <p:cNvPr id="5" name="Text 3"/>
          <p:cNvSpPr txBox="1"/>
          <p:nvPr/>
        </p:nvSpPr>
        <p:spPr>
          <a:xfrm>
            <a:off x="548640" y="1371600"/>
            <a:ext cx="11094415" cy="86868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La civilització grega va néixer al voltant de la mar Egea. Un territori molt muntanyós, amb poques planes fèrtils i valls aïllades. Aquesta geografia va marcar el destí de Grècia de dues maneres.</a:t>
            </a:r>
            <a:endParaRPr lang="en-US" sz="1800" dirty="0"/>
          </a:p>
        </p:txBody>
      </p:sp>
      <p:sp>
        <p:nvSpPr>
          <p:cNvPr id="6" name="Targeta Les muntanyes separen"/>
          <p:cNvSpPr/>
          <p:nvPr/>
        </p:nvSpPr>
        <p:spPr>
          <a:xfrm>
            <a:off x="548640" y="2423160"/>
            <a:ext cx="5410048" cy="2103120"/>
          </a:xfrm>
          <a:prstGeom prst="roundRect">
            <a:avLst>
              <a:gd name="adj" fmla="val 4783"/>
            </a:avLst>
          </a:prstGeom>
          <a:solidFill>
            <a:srgbClr val="FFFFFF"/>
          </a:solidFill>
          <a:ln w="12700">
            <a:solidFill>
              <a:srgbClr val="DADCE0"/>
            </a:solidFill>
            <a:prstDash val="solid"/>
          </a:ln>
        </p:spPr>
      </p:sp>
      <p:sp>
        <p:nvSpPr>
          <p:cNvPr id="7" name="Cercle icona"/>
          <p:cNvSpPr/>
          <p:nvPr/>
        </p:nvSpPr>
        <p:spPr>
          <a:xfrm>
            <a:off x="777240" y="2651760"/>
            <a:ext cx="594360" cy="594360"/>
          </a:xfrm>
          <a:prstGeom prst="ellipse">
            <a:avLst/>
          </a:prstGeom>
          <a:solidFill>
            <a:srgbClr val="E6F4EA"/>
          </a:solidFill>
          <a:ln/>
        </p:spPr>
      </p:sp>
      <p:pic>
        <p:nvPicPr>
          <p:cNvPr id="8" name="Icona TbMountain" descr="/home/claude/work/build/img/ic/TbMountain-g.png">    </p:cNvPr>
          <p:cNvPicPr>
            <a:picLocks noChangeAspect="1"/>
          </p:cNvPicPr>
          <p:nvPr/>
        </p:nvPicPr>
        <p:blipFill>
          <a:blip r:embed="rId1"/>
          <a:stretch>
            <a:fillRect/>
          </a:stretch>
        </p:blipFill>
        <p:spPr>
          <a:xfrm>
            <a:off x="907999" y="2782519"/>
            <a:ext cx="332842" cy="332842"/>
          </a:xfrm>
          <a:prstGeom prst="rect">
            <a:avLst/>
          </a:prstGeom>
        </p:spPr>
      </p:pic>
      <p:sp>
        <p:nvSpPr>
          <p:cNvPr id="9" name="Text 6"/>
          <p:cNvSpPr txBox="1"/>
          <p:nvPr/>
        </p:nvSpPr>
        <p:spPr>
          <a:xfrm>
            <a:off x="1508760" y="2651760"/>
            <a:ext cx="4221328" cy="594360"/>
          </a:xfrm>
          <a:prstGeom prst="rect">
            <a:avLst/>
          </a:prstGeom>
          <a:noFill/>
          <a:ln/>
        </p:spPr>
        <p:txBody>
          <a:bodyPr wrap="square" lIns="0" tIns="0" rIns="0" bIns="0" rtlCol="0" anchor="ctr"/>
          <a:lstStyle/>
          <a:p>
            <a:pPr indent="0" marL="0">
              <a:buNone/>
            </a:pPr>
            <a:r>
              <a:rPr lang="en-US" sz="1900" b="1" dirty="0">
                <a:solidFill>
                  <a:srgbClr val="188038"/>
                </a:solidFill>
                <a:latin typeface="Roboto" pitchFamily="34" charset="0"/>
                <a:ea typeface="Roboto" pitchFamily="34" charset="-122"/>
                <a:cs typeface="Roboto" pitchFamily="34" charset="-120"/>
              </a:rPr>
              <a:t>Les muntanyes separen</a:t>
            </a:r>
            <a:endParaRPr lang="en-US" sz="1900" dirty="0"/>
          </a:p>
        </p:txBody>
      </p:sp>
      <p:sp>
        <p:nvSpPr>
          <p:cNvPr id="10" name="Text 7"/>
          <p:cNvSpPr txBox="1"/>
          <p:nvPr/>
        </p:nvSpPr>
        <p:spPr>
          <a:xfrm>
            <a:off x="777240" y="3383280"/>
            <a:ext cx="4952848" cy="100584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Van dificultar la unificació. En lloc d'un gran regne, hi van néixer centenars de petites ciutats independents, les polis.</a:t>
            </a:r>
            <a:endParaRPr lang="en-US" sz="1700" dirty="0"/>
          </a:p>
        </p:txBody>
      </p:sp>
      <p:sp>
        <p:nvSpPr>
          <p:cNvPr id="11" name="Targeta La terra pobra empeny cap al mar"/>
          <p:cNvSpPr/>
          <p:nvPr/>
        </p:nvSpPr>
        <p:spPr>
          <a:xfrm>
            <a:off x="6233008" y="2423160"/>
            <a:ext cx="5410048" cy="2103120"/>
          </a:xfrm>
          <a:prstGeom prst="roundRect">
            <a:avLst>
              <a:gd name="adj" fmla="val 4783"/>
            </a:avLst>
          </a:prstGeom>
          <a:solidFill>
            <a:srgbClr val="FFFFFF"/>
          </a:solidFill>
          <a:ln w="12700">
            <a:solidFill>
              <a:srgbClr val="DADCE0"/>
            </a:solidFill>
            <a:prstDash val="solid"/>
          </a:ln>
        </p:spPr>
      </p:sp>
      <p:sp>
        <p:nvSpPr>
          <p:cNvPr id="12" name="Cercle icona"/>
          <p:cNvSpPr/>
          <p:nvPr/>
        </p:nvSpPr>
        <p:spPr>
          <a:xfrm>
            <a:off x="6461608" y="2651760"/>
            <a:ext cx="594360" cy="594360"/>
          </a:xfrm>
          <a:prstGeom prst="ellipse">
            <a:avLst/>
          </a:prstGeom>
          <a:solidFill>
            <a:srgbClr val="E6F4EA"/>
          </a:solidFill>
          <a:ln/>
        </p:spPr>
      </p:sp>
      <p:pic>
        <p:nvPicPr>
          <p:cNvPr id="13" name="Icona TbShip" descr="/home/claude/work/build/img/ic/TbShip-g.png">    </p:cNvPr>
          <p:cNvPicPr>
            <a:picLocks noChangeAspect="1"/>
          </p:cNvPicPr>
          <p:nvPr/>
        </p:nvPicPr>
        <p:blipFill>
          <a:blip r:embed="rId2"/>
          <a:stretch>
            <a:fillRect/>
          </a:stretch>
        </p:blipFill>
        <p:spPr>
          <a:xfrm>
            <a:off x="6592367" y="2782519"/>
            <a:ext cx="332842" cy="332842"/>
          </a:xfrm>
          <a:prstGeom prst="rect">
            <a:avLst/>
          </a:prstGeom>
        </p:spPr>
      </p:pic>
      <p:sp>
        <p:nvSpPr>
          <p:cNvPr id="14" name="Text 10"/>
          <p:cNvSpPr txBox="1"/>
          <p:nvPr/>
        </p:nvSpPr>
        <p:spPr>
          <a:xfrm>
            <a:off x="7193128" y="2651760"/>
            <a:ext cx="4221328" cy="594360"/>
          </a:xfrm>
          <a:prstGeom prst="rect">
            <a:avLst/>
          </a:prstGeom>
          <a:noFill/>
          <a:ln/>
        </p:spPr>
        <p:txBody>
          <a:bodyPr wrap="square" lIns="0" tIns="0" rIns="0" bIns="0" rtlCol="0" anchor="ctr"/>
          <a:lstStyle/>
          <a:p>
            <a:pPr indent="0" marL="0">
              <a:buNone/>
            </a:pPr>
            <a:r>
              <a:rPr lang="en-US" sz="1900" b="1" dirty="0">
                <a:solidFill>
                  <a:srgbClr val="188038"/>
                </a:solidFill>
                <a:latin typeface="Roboto" pitchFamily="34" charset="0"/>
                <a:ea typeface="Roboto" pitchFamily="34" charset="-122"/>
                <a:cs typeface="Roboto" pitchFamily="34" charset="-120"/>
              </a:rPr>
              <a:t>La terra pobra empeny cap al mar</a:t>
            </a:r>
            <a:endParaRPr lang="en-US" sz="1900" dirty="0"/>
          </a:p>
        </p:txBody>
      </p:sp>
      <p:sp>
        <p:nvSpPr>
          <p:cNvPr id="15" name="Text 11"/>
          <p:cNvSpPr txBox="1"/>
          <p:nvPr/>
        </p:nvSpPr>
        <p:spPr>
          <a:xfrm>
            <a:off x="6461608" y="3383280"/>
            <a:ext cx="4952848" cy="100584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Els grecs es van fer navegants, pescadors i comerciants. Venien vi, oli d'oliva i ceràmica, i compraven el blat que els faltava.</a:t>
            </a:r>
            <a:endParaRPr lang="en-US" sz="1700" dirty="0"/>
          </a:p>
        </p:txBody>
      </p:sp>
      <p:sp>
        <p:nvSpPr>
          <p:cNvPr id="16" name="Paraula clau · Polis"/>
          <p:cNvSpPr/>
          <p:nvPr/>
        </p:nvSpPr>
        <p:spPr>
          <a:xfrm>
            <a:off x="548640" y="4754880"/>
            <a:ext cx="11094415" cy="1234440"/>
          </a:xfrm>
          <a:prstGeom prst="roundRect">
            <a:avLst>
              <a:gd name="adj" fmla="val 8148"/>
            </a:avLst>
          </a:prstGeom>
          <a:solidFill>
            <a:srgbClr val="E6F4EA"/>
          </a:solidFill>
          <a:ln/>
        </p:spPr>
      </p:sp>
      <p:sp>
        <p:nvSpPr>
          <p:cNvPr id="17" name="Text 13"/>
          <p:cNvSpPr txBox="1"/>
          <p:nvPr/>
        </p:nvSpPr>
        <p:spPr>
          <a:xfrm>
            <a:off x="868680" y="4910328"/>
            <a:ext cx="1045433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Paraula clau · Polis</a:t>
            </a:r>
            <a:endParaRPr lang="en-US" sz="1400" dirty="0"/>
          </a:p>
        </p:txBody>
      </p:sp>
      <p:sp>
        <p:nvSpPr>
          <p:cNvPr id="18" name="Text 14"/>
          <p:cNvSpPr txBox="1"/>
          <p:nvPr/>
        </p:nvSpPr>
        <p:spPr>
          <a:xfrm>
            <a:off x="868680" y="5257800"/>
            <a:ext cx="10454335" cy="59436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Ciutat-estat grega. Una ciutat independent amb el seu territori, govern, lleis, moneda i exèrcit propis.</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1</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Què unia els grecs?</a:t>
            </a:r>
            <a:endParaRPr lang="en-US" sz="2800" dirty="0"/>
          </a:p>
        </p:txBody>
      </p:sp>
      <p:sp>
        <p:nvSpPr>
          <p:cNvPr id="5" name="Text 3"/>
          <p:cNvSpPr txBox="1"/>
          <p:nvPr/>
        </p:nvSpPr>
        <p:spPr>
          <a:xfrm>
            <a:off x="548640" y="1371600"/>
            <a:ext cx="11094415" cy="45720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No van tenir mai un estat comú, però se sentien un sol poble. Es deien a si mateixos hel·lens.</a:t>
            </a:r>
            <a:endParaRPr lang="en-US" sz="1800" dirty="0"/>
          </a:p>
        </p:txBody>
      </p:sp>
      <p:sp>
        <p:nvSpPr>
          <p:cNvPr id="6" name="Targeta La llengua"/>
          <p:cNvSpPr/>
          <p:nvPr/>
        </p:nvSpPr>
        <p:spPr>
          <a:xfrm>
            <a:off x="548640" y="2057400"/>
            <a:ext cx="2567864" cy="2514600"/>
          </a:xfrm>
          <a:prstGeom prst="roundRect">
            <a:avLst>
              <a:gd name="adj" fmla="val 4000"/>
            </a:avLst>
          </a:prstGeom>
          <a:solidFill>
            <a:srgbClr val="FFFFFF"/>
          </a:solidFill>
          <a:ln w="12700">
            <a:solidFill>
              <a:srgbClr val="DADCE0"/>
            </a:solidFill>
            <a:prstDash val="solid"/>
          </a:ln>
        </p:spPr>
      </p:sp>
      <p:sp>
        <p:nvSpPr>
          <p:cNvPr id="7" name="Cercle icona"/>
          <p:cNvSpPr/>
          <p:nvPr/>
        </p:nvSpPr>
        <p:spPr>
          <a:xfrm>
            <a:off x="777240" y="2286000"/>
            <a:ext cx="594360" cy="594360"/>
          </a:xfrm>
          <a:prstGeom prst="ellipse">
            <a:avLst/>
          </a:prstGeom>
          <a:solidFill>
            <a:srgbClr val="E6F4EA"/>
          </a:solidFill>
          <a:ln/>
        </p:spPr>
      </p:sp>
      <p:pic>
        <p:nvPicPr>
          <p:cNvPr id="8" name="Icona TbMessages" descr="/home/claude/work/build/img/ic/TbMessages-g.png">    </p:cNvPr>
          <p:cNvPicPr>
            <a:picLocks noChangeAspect="1"/>
          </p:cNvPicPr>
          <p:nvPr/>
        </p:nvPicPr>
        <p:blipFill>
          <a:blip r:embed="rId1"/>
          <a:stretch>
            <a:fillRect/>
          </a:stretch>
        </p:blipFill>
        <p:spPr>
          <a:xfrm>
            <a:off x="907999" y="2416759"/>
            <a:ext cx="332842" cy="332842"/>
          </a:xfrm>
          <a:prstGeom prst="rect">
            <a:avLst/>
          </a:prstGeom>
        </p:spPr>
      </p:pic>
      <p:sp>
        <p:nvSpPr>
          <p:cNvPr id="9" name="Text 6"/>
          <p:cNvSpPr txBox="1"/>
          <p:nvPr/>
        </p:nvSpPr>
        <p:spPr>
          <a:xfrm>
            <a:off x="1508760" y="2286000"/>
            <a:ext cx="1379144" cy="594360"/>
          </a:xfrm>
          <a:prstGeom prst="rect">
            <a:avLst/>
          </a:prstGeom>
          <a:noFill/>
          <a:ln/>
        </p:spPr>
        <p:txBody>
          <a:bodyPr wrap="square" lIns="0" tIns="0" rIns="0" bIns="0" rtlCol="0" anchor="ctr"/>
          <a:lstStyle/>
          <a:p>
            <a:pPr indent="0" marL="0">
              <a:buNone/>
            </a:pPr>
            <a:r>
              <a:rPr lang="en-US" sz="1900" b="1" dirty="0">
                <a:solidFill>
                  <a:srgbClr val="188038"/>
                </a:solidFill>
                <a:latin typeface="Roboto" pitchFamily="34" charset="0"/>
                <a:ea typeface="Roboto" pitchFamily="34" charset="-122"/>
                <a:cs typeface="Roboto" pitchFamily="34" charset="-120"/>
              </a:rPr>
              <a:t>La llengua</a:t>
            </a:r>
            <a:endParaRPr lang="en-US" sz="1900" dirty="0"/>
          </a:p>
        </p:txBody>
      </p:sp>
      <p:sp>
        <p:nvSpPr>
          <p:cNvPr id="10" name="Text 7"/>
          <p:cNvSpPr txBox="1"/>
          <p:nvPr/>
        </p:nvSpPr>
        <p:spPr>
          <a:xfrm>
            <a:off x="777240" y="3017520"/>
            <a:ext cx="2110664" cy="141732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Tots parlaven grec. Als altres els deien «bàrbars», més o menys «els que fan bar-bar».</a:t>
            </a:r>
            <a:endParaRPr lang="en-US" sz="1700" dirty="0"/>
          </a:p>
        </p:txBody>
      </p:sp>
      <p:sp>
        <p:nvSpPr>
          <p:cNvPr id="11" name="Targeta La religió"/>
          <p:cNvSpPr/>
          <p:nvPr/>
        </p:nvSpPr>
        <p:spPr>
          <a:xfrm>
            <a:off x="3390824" y="2057400"/>
            <a:ext cx="2567864" cy="2514600"/>
          </a:xfrm>
          <a:prstGeom prst="roundRect">
            <a:avLst>
              <a:gd name="adj" fmla="val 4000"/>
            </a:avLst>
          </a:prstGeom>
          <a:solidFill>
            <a:srgbClr val="FFFFFF"/>
          </a:solidFill>
          <a:ln w="12700">
            <a:solidFill>
              <a:srgbClr val="DADCE0"/>
            </a:solidFill>
            <a:prstDash val="solid"/>
          </a:ln>
        </p:spPr>
      </p:sp>
      <p:sp>
        <p:nvSpPr>
          <p:cNvPr id="12" name="Cercle icona"/>
          <p:cNvSpPr/>
          <p:nvPr/>
        </p:nvSpPr>
        <p:spPr>
          <a:xfrm>
            <a:off x="3619424" y="2286000"/>
            <a:ext cx="594360" cy="594360"/>
          </a:xfrm>
          <a:prstGeom prst="ellipse">
            <a:avLst/>
          </a:prstGeom>
          <a:solidFill>
            <a:srgbClr val="E6F4EA"/>
          </a:solidFill>
          <a:ln/>
        </p:spPr>
      </p:sp>
      <p:pic>
        <p:nvPicPr>
          <p:cNvPr id="13" name="Icona TbBuildingBank" descr="/home/claude/work/build/img/ic/TbBuildingBank-g.png">    </p:cNvPr>
          <p:cNvPicPr>
            <a:picLocks noChangeAspect="1"/>
          </p:cNvPicPr>
          <p:nvPr/>
        </p:nvPicPr>
        <p:blipFill>
          <a:blip r:embed="rId2"/>
          <a:stretch>
            <a:fillRect/>
          </a:stretch>
        </p:blipFill>
        <p:spPr>
          <a:xfrm>
            <a:off x="3750183" y="2416759"/>
            <a:ext cx="332842" cy="332842"/>
          </a:xfrm>
          <a:prstGeom prst="rect">
            <a:avLst/>
          </a:prstGeom>
        </p:spPr>
      </p:pic>
      <p:sp>
        <p:nvSpPr>
          <p:cNvPr id="14" name="Text 10"/>
          <p:cNvSpPr txBox="1"/>
          <p:nvPr/>
        </p:nvSpPr>
        <p:spPr>
          <a:xfrm>
            <a:off x="4350944" y="2286000"/>
            <a:ext cx="1379144" cy="594360"/>
          </a:xfrm>
          <a:prstGeom prst="rect">
            <a:avLst/>
          </a:prstGeom>
          <a:noFill/>
          <a:ln/>
        </p:spPr>
        <p:txBody>
          <a:bodyPr wrap="square" lIns="0" tIns="0" rIns="0" bIns="0" rtlCol="0" anchor="ctr"/>
          <a:lstStyle/>
          <a:p>
            <a:pPr indent="0" marL="0">
              <a:buNone/>
            </a:pPr>
            <a:r>
              <a:rPr lang="en-US" sz="1900" b="1" dirty="0">
                <a:solidFill>
                  <a:srgbClr val="188038"/>
                </a:solidFill>
                <a:latin typeface="Roboto" pitchFamily="34" charset="0"/>
                <a:ea typeface="Roboto" pitchFamily="34" charset="-122"/>
                <a:cs typeface="Roboto" pitchFamily="34" charset="-120"/>
              </a:rPr>
              <a:t>La religió</a:t>
            </a:r>
            <a:endParaRPr lang="en-US" sz="1900" dirty="0"/>
          </a:p>
        </p:txBody>
      </p:sp>
      <p:sp>
        <p:nvSpPr>
          <p:cNvPr id="15" name="Text 11"/>
          <p:cNvSpPr txBox="1"/>
          <p:nvPr/>
        </p:nvSpPr>
        <p:spPr>
          <a:xfrm>
            <a:off x="3619424" y="3017520"/>
            <a:ext cx="2110664" cy="141732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Els mateixos déus i santuaris comuns, com Delfos i Olímpia.</a:t>
            </a:r>
            <a:endParaRPr lang="en-US" sz="1700" dirty="0"/>
          </a:p>
        </p:txBody>
      </p:sp>
      <p:sp>
        <p:nvSpPr>
          <p:cNvPr id="16" name="Targeta Homer"/>
          <p:cNvSpPr/>
          <p:nvPr/>
        </p:nvSpPr>
        <p:spPr>
          <a:xfrm>
            <a:off x="6233008" y="2057400"/>
            <a:ext cx="2567864" cy="2514600"/>
          </a:xfrm>
          <a:prstGeom prst="roundRect">
            <a:avLst>
              <a:gd name="adj" fmla="val 4000"/>
            </a:avLst>
          </a:prstGeom>
          <a:solidFill>
            <a:srgbClr val="FFFFFF"/>
          </a:solidFill>
          <a:ln w="12700">
            <a:solidFill>
              <a:srgbClr val="DADCE0"/>
            </a:solidFill>
            <a:prstDash val="solid"/>
          </a:ln>
        </p:spPr>
      </p:sp>
      <p:sp>
        <p:nvSpPr>
          <p:cNvPr id="17" name="Cercle icona"/>
          <p:cNvSpPr/>
          <p:nvPr/>
        </p:nvSpPr>
        <p:spPr>
          <a:xfrm>
            <a:off x="6461608" y="2286000"/>
            <a:ext cx="594360" cy="594360"/>
          </a:xfrm>
          <a:prstGeom prst="ellipse">
            <a:avLst/>
          </a:prstGeom>
          <a:solidFill>
            <a:srgbClr val="E6F4EA"/>
          </a:solidFill>
          <a:ln/>
        </p:spPr>
      </p:sp>
      <p:pic>
        <p:nvPicPr>
          <p:cNvPr id="18" name="Icona TbBook2" descr="/home/claude/work/build/img/ic/TbBook2-g.png">    </p:cNvPr>
          <p:cNvPicPr>
            <a:picLocks noChangeAspect="1"/>
          </p:cNvPicPr>
          <p:nvPr/>
        </p:nvPicPr>
        <p:blipFill>
          <a:blip r:embed="rId3"/>
          <a:stretch>
            <a:fillRect/>
          </a:stretch>
        </p:blipFill>
        <p:spPr>
          <a:xfrm>
            <a:off x="6592367" y="2416759"/>
            <a:ext cx="332842" cy="332842"/>
          </a:xfrm>
          <a:prstGeom prst="rect">
            <a:avLst/>
          </a:prstGeom>
        </p:spPr>
      </p:pic>
      <p:sp>
        <p:nvSpPr>
          <p:cNvPr id="19" name="Text 14"/>
          <p:cNvSpPr txBox="1"/>
          <p:nvPr/>
        </p:nvSpPr>
        <p:spPr>
          <a:xfrm>
            <a:off x="7193128" y="2286000"/>
            <a:ext cx="1379144" cy="594360"/>
          </a:xfrm>
          <a:prstGeom prst="rect">
            <a:avLst/>
          </a:prstGeom>
          <a:noFill/>
          <a:ln/>
        </p:spPr>
        <p:txBody>
          <a:bodyPr wrap="square" lIns="0" tIns="0" rIns="0" bIns="0" rtlCol="0" anchor="ctr"/>
          <a:lstStyle/>
          <a:p>
            <a:pPr indent="0" marL="0">
              <a:buNone/>
            </a:pPr>
            <a:r>
              <a:rPr lang="en-US" sz="1900" b="1" dirty="0">
                <a:solidFill>
                  <a:srgbClr val="188038"/>
                </a:solidFill>
                <a:latin typeface="Roboto" pitchFamily="34" charset="0"/>
                <a:ea typeface="Roboto" pitchFamily="34" charset="-122"/>
                <a:cs typeface="Roboto" pitchFamily="34" charset="-120"/>
              </a:rPr>
              <a:t>Homer</a:t>
            </a:r>
            <a:endParaRPr lang="en-US" sz="1900" dirty="0"/>
          </a:p>
        </p:txBody>
      </p:sp>
      <p:sp>
        <p:nvSpPr>
          <p:cNvPr id="20" name="Text 15"/>
          <p:cNvSpPr txBox="1"/>
          <p:nvPr/>
        </p:nvSpPr>
        <p:spPr>
          <a:xfrm>
            <a:off x="6461608" y="3017520"/>
            <a:ext cx="2110664" cy="141732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La Ilíada i l'Odissea, els poemes que tots els nens aprenien.</a:t>
            </a:r>
            <a:endParaRPr lang="en-US" sz="1700" dirty="0"/>
          </a:p>
        </p:txBody>
      </p:sp>
      <p:sp>
        <p:nvSpPr>
          <p:cNvPr id="21" name="Targeta Les festes"/>
          <p:cNvSpPr/>
          <p:nvPr/>
        </p:nvSpPr>
        <p:spPr>
          <a:xfrm>
            <a:off x="9075191" y="2057400"/>
            <a:ext cx="2567864" cy="2514600"/>
          </a:xfrm>
          <a:prstGeom prst="roundRect">
            <a:avLst>
              <a:gd name="adj" fmla="val 4000"/>
            </a:avLst>
          </a:prstGeom>
          <a:solidFill>
            <a:srgbClr val="FFFFFF"/>
          </a:solidFill>
          <a:ln w="12700">
            <a:solidFill>
              <a:srgbClr val="DADCE0"/>
            </a:solidFill>
            <a:prstDash val="solid"/>
          </a:ln>
        </p:spPr>
      </p:sp>
      <p:sp>
        <p:nvSpPr>
          <p:cNvPr id="22" name="Cercle icona"/>
          <p:cNvSpPr/>
          <p:nvPr/>
        </p:nvSpPr>
        <p:spPr>
          <a:xfrm>
            <a:off x="9303791" y="2286000"/>
            <a:ext cx="594360" cy="594360"/>
          </a:xfrm>
          <a:prstGeom prst="ellipse">
            <a:avLst/>
          </a:prstGeom>
          <a:solidFill>
            <a:srgbClr val="E6F4EA"/>
          </a:solidFill>
          <a:ln/>
        </p:spPr>
      </p:sp>
      <p:pic>
        <p:nvPicPr>
          <p:cNvPr id="23" name="Icona TbLaurelWreath" descr="/home/claude/work/build/img/ic/TbLaurelWreath-g.png">    </p:cNvPr>
          <p:cNvPicPr>
            <a:picLocks noChangeAspect="1"/>
          </p:cNvPicPr>
          <p:nvPr/>
        </p:nvPicPr>
        <p:blipFill>
          <a:blip r:embed="rId4"/>
          <a:stretch>
            <a:fillRect/>
          </a:stretch>
        </p:blipFill>
        <p:spPr>
          <a:xfrm>
            <a:off x="9434551" y="2416759"/>
            <a:ext cx="332842" cy="332842"/>
          </a:xfrm>
          <a:prstGeom prst="rect">
            <a:avLst/>
          </a:prstGeom>
        </p:spPr>
      </p:pic>
      <p:sp>
        <p:nvSpPr>
          <p:cNvPr id="24" name="Text 18"/>
          <p:cNvSpPr txBox="1"/>
          <p:nvPr/>
        </p:nvSpPr>
        <p:spPr>
          <a:xfrm>
            <a:off x="10035311" y="2286000"/>
            <a:ext cx="1379144" cy="594360"/>
          </a:xfrm>
          <a:prstGeom prst="rect">
            <a:avLst/>
          </a:prstGeom>
          <a:noFill/>
          <a:ln/>
        </p:spPr>
        <p:txBody>
          <a:bodyPr wrap="square" lIns="0" tIns="0" rIns="0" bIns="0" rtlCol="0" anchor="ctr"/>
          <a:lstStyle/>
          <a:p>
            <a:pPr indent="0" marL="0">
              <a:buNone/>
            </a:pPr>
            <a:r>
              <a:rPr lang="en-US" sz="1900" b="1" dirty="0">
                <a:solidFill>
                  <a:srgbClr val="188038"/>
                </a:solidFill>
                <a:latin typeface="Roboto" pitchFamily="34" charset="0"/>
                <a:ea typeface="Roboto" pitchFamily="34" charset="-122"/>
                <a:cs typeface="Roboto" pitchFamily="34" charset="-120"/>
              </a:rPr>
              <a:t>Les festes</a:t>
            </a:r>
            <a:endParaRPr lang="en-US" sz="1900" dirty="0"/>
          </a:p>
        </p:txBody>
      </p:sp>
      <p:sp>
        <p:nvSpPr>
          <p:cNvPr id="25" name="Text 19"/>
          <p:cNvSpPr txBox="1"/>
          <p:nvPr/>
        </p:nvSpPr>
        <p:spPr>
          <a:xfrm>
            <a:off x="9303791" y="3017520"/>
            <a:ext cx="2110664" cy="141732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Grans celebracions compartides, com els Jocs Olímpics.</a:t>
            </a:r>
            <a:endParaRPr lang="en-US" sz="1700" dirty="0"/>
          </a:p>
        </p:txBody>
      </p:sp>
      <p:sp>
        <p:nvSpPr>
          <p:cNvPr id="26" name="Font directa · Homer"/>
          <p:cNvSpPr/>
          <p:nvPr/>
        </p:nvSpPr>
        <p:spPr>
          <a:xfrm>
            <a:off x="548640" y="4800600"/>
            <a:ext cx="11094415" cy="1188720"/>
          </a:xfrm>
          <a:prstGeom prst="roundRect">
            <a:avLst>
              <a:gd name="adj" fmla="val 8462"/>
            </a:avLst>
          </a:prstGeom>
          <a:solidFill>
            <a:srgbClr val="F6F8FB"/>
          </a:solidFill>
          <a:ln/>
        </p:spPr>
      </p:sp>
      <p:sp>
        <p:nvSpPr>
          <p:cNvPr id="27" name="Text 21"/>
          <p:cNvSpPr txBox="1"/>
          <p:nvPr/>
        </p:nvSpPr>
        <p:spPr>
          <a:xfrm>
            <a:off x="868680" y="4956048"/>
            <a:ext cx="10454335"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Font directa · Homer</a:t>
            </a:r>
            <a:endParaRPr lang="en-US" sz="1400" dirty="0"/>
          </a:p>
        </p:txBody>
      </p:sp>
      <p:sp>
        <p:nvSpPr>
          <p:cNvPr id="28" name="Text 22"/>
          <p:cNvSpPr txBox="1"/>
          <p:nvPr/>
        </p:nvSpPr>
        <p:spPr>
          <a:xfrm>
            <a:off x="868680" y="5303520"/>
            <a:ext cx="10454335" cy="548640"/>
          </a:xfrm>
          <a:prstGeom prst="rect">
            <a:avLst/>
          </a:prstGeom>
          <a:noFill/>
          <a:ln/>
        </p:spPr>
        <p:txBody>
          <a:bodyPr wrap="square" lIns="0" tIns="0" rIns="0" bIns="0" rtlCol="0" anchor="t"/>
          <a:lstStyle/>
          <a:p>
            <a:pPr indent="0" marL="0">
              <a:buNone/>
            </a:pPr>
            <a:r>
              <a:rPr lang="en-US" sz="1700" dirty="0">
                <a:solidFill>
                  <a:srgbClr val="5F6368"/>
                </a:solidFill>
                <a:latin typeface="Roboto" pitchFamily="34" charset="0"/>
                <a:ea typeface="Roboto" pitchFamily="34" charset="-122"/>
                <a:cs typeface="Roboto" pitchFamily="34" charset="-120"/>
              </a:rPr>
              <a:t>La Ilíada narra un episodi de la guerra de Troia, i l'Odissea, el llarg retorn d'Ulisses a casa seva, l'illa d'Ítaca.</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1</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Les etapes de la història grega</a:t>
            </a:r>
            <a:endParaRPr lang="en-US" sz="2800" dirty="0"/>
          </a:p>
        </p:txBody>
      </p:sp>
      <p:sp>
        <p:nvSpPr>
          <p:cNvPr id="5" name="Fons L'antiga Grècia en una línia del temps"/>
          <p:cNvSpPr/>
          <p:nvPr/>
        </p:nvSpPr>
        <p:spPr>
          <a:xfrm>
            <a:off x="548640" y="1371600"/>
            <a:ext cx="7223760" cy="3949568"/>
          </a:xfrm>
          <a:prstGeom prst="roundRect">
            <a:avLst>
              <a:gd name="adj" fmla="val 2547"/>
            </a:avLst>
          </a:prstGeom>
          <a:solidFill>
            <a:srgbClr val="F6F8FB"/>
          </a:solidFill>
          <a:ln/>
        </p:spPr>
      </p:sp>
      <p:pic>
        <p:nvPicPr>
          <p:cNvPr id="6" name="L'antiga Grècia en una línia del temps" descr="/home/claude/work/build/img/linia.jpg">    </p:cNvPr>
          <p:cNvPicPr>
            <a:picLocks noChangeAspect="1"/>
          </p:cNvPicPr>
          <p:nvPr/>
        </p:nvPicPr>
        <p:blipFill>
          <a:blip r:embed="rId1"/>
          <a:stretch>
            <a:fillRect/>
          </a:stretch>
        </p:blipFill>
        <p:spPr>
          <a:xfrm>
            <a:off x="548640" y="1371600"/>
            <a:ext cx="7223760" cy="3949568"/>
          </a:xfrm>
          <a:prstGeom prst="rect">
            <a:avLst/>
          </a:prstGeom>
        </p:spPr>
      </p:pic>
      <p:sp>
        <p:nvSpPr>
          <p:cNvPr id="7" name="Text 4"/>
          <p:cNvSpPr txBox="1"/>
          <p:nvPr/>
        </p:nvSpPr>
        <p:spPr>
          <a:xfrm>
            <a:off x="548640" y="5412608"/>
            <a:ext cx="7223760"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L'antiga Grècia en una línia del temps. Gràfic: professordesocials.cat, CC BY-SA 4.0.</a:t>
            </a:r>
            <a:endParaRPr lang="en-US" sz="1000" dirty="0"/>
          </a:p>
        </p:txBody>
      </p:sp>
      <p:sp>
        <p:nvSpPr>
          <p:cNvPr id="8" name="Època arcaica"/>
          <p:cNvSpPr/>
          <p:nvPr/>
        </p:nvSpPr>
        <p:spPr>
          <a:xfrm>
            <a:off x="8046720" y="1371600"/>
            <a:ext cx="3596335" cy="1417320"/>
          </a:xfrm>
          <a:prstGeom prst="roundRect">
            <a:avLst>
              <a:gd name="adj" fmla="val 7097"/>
            </a:avLst>
          </a:prstGeom>
          <a:solidFill>
            <a:srgbClr val="FFFFFF"/>
          </a:solidFill>
          <a:ln w="12700">
            <a:solidFill>
              <a:srgbClr val="DADCE0"/>
            </a:solidFill>
            <a:prstDash val="solid"/>
          </a:ln>
        </p:spPr>
      </p:sp>
      <p:sp>
        <p:nvSpPr>
          <p:cNvPr id="9" name="Text 6"/>
          <p:cNvSpPr txBox="1"/>
          <p:nvPr/>
        </p:nvSpPr>
        <p:spPr>
          <a:xfrm>
            <a:off x="8275320" y="1508760"/>
            <a:ext cx="3139135" cy="548640"/>
          </a:xfrm>
          <a:prstGeom prst="rect">
            <a:avLst/>
          </a:prstGeom>
          <a:noFill/>
          <a:ln/>
        </p:spPr>
        <p:txBody>
          <a:bodyPr wrap="square" lIns="0" tIns="0" rIns="0" bIns="0" rtlCol="0" anchor="t"/>
          <a:lstStyle/>
          <a:p>
            <a:pPr indent="0" marL="0">
              <a:buNone/>
            </a:pPr>
            <a:r>
              <a:rPr lang="en-US" sz="1700" b="1" dirty="0">
                <a:solidFill>
                  <a:srgbClr val="188038"/>
                </a:solidFill>
                <a:latin typeface="Roboto" pitchFamily="34" charset="0"/>
                <a:ea typeface="Roboto" pitchFamily="34" charset="-122"/>
                <a:cs typeface="Roboto" pitchFamily="34" charset="-120"/>
              </a:rPr>
              <a:t>Època arcaica</a:t>
            </a:r>
            <a:endParaRPr lang="en-US" sz="1700" dirty="0"/>
          </a:p>
          <a:p>
            <a:pPr indent="0" marL="0">
              <a:buNone/>
            </a:pPr>
            <a:r>
              <a:rPr lang="en-US" sz="1400" b="1" dirty="0">
                <a:solidFill>
                  <a:srgbClr val="5F6368"/>
                </a:solidFill>
                <a:latin typeface="Roboto" pitchFamily="34" charset="0"/>
                <a:ea typeface="Roboto" pitchFamily="34" charset="-122"/>
                <a:cs typeface="Roboto" pitchFamily="34" charset="-120"/>
              </a:rPr>
              <a:t>800 – 490 aC</a:t>
            </a:r>
            <a:endParaRPr lang="en-US" sz="1700" dirty="0"/>
          </a:p>
        </p:txBody>
      </p:sp>
      <p:sp>
        <p:nvSpPr>
          <p:cNvPr id="10" name="Text 7"/>
          <p:cNvSpPr txBox="1"/>
          <p:nvPr/>
        </p:nvSpPr>
        <p:spPr>
          <a:xfrm>
            <a:off x="8275320" y="2103120"/>
            <a:ext cx="3139135" cy="64008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Neixen les polis, l'alfabet i la moneda. Colonitzacions.</a:t>
            </a:r>
            <a:endParaRPr lang="en-US" sz="1450" dirty="0"/>
          </a:p>
        </p:txBody>
      </p:sp>
      <p:sp>
        <p:nvSpPr>
          <p:cNvPr id="11" name="Època clàssica"/>
          <p:cNvSpPr/>
          <p:nvPr/>
        </p:nvSpPr>
        <p:spPr>
          <a:xfrm>
            <a:off x="8046720" y="2944368"/>
            <a:ext cx="3596335" cy="1417320"/>
          </a:xfrm>
          <a:prstGeom prst="roundRect">
            <a:avLst>
              <a:gd name="adj" fmla="val 7097"/>
            </a:avLst>
          </a:prstGeom>
          <a:solidFill>
            <a:srgbClr val="FFFFFF"/>
          </a:solidFill>
          <a:ln w="12700">
            <a:solidFill>
              <a:srgbClr val="DADCE0"/>
            </a:solidFill>
            <a:prstDash val="solid"/>
          </a:ln>
        </p:spPr>
      </p:sp>
      <p:sp>
        <p:nvSpPr>
          <p:cNvPr id="12" name="Text 9"/>
          <p:cNvSpPr txBox="1"/>
          <p:nvPr/>
        </p:nvSpPr>
        <p:spPr>
          <a:xfrm>
            <a:off x="8275320" y="3081528"/>
            <a:ext cx="3139135" cy="548640"/>
          </a:xfrm>
          <a:prstGeom prst="rect">
            <a:avLst/>
          </a:prstGeom>
          <a:noFill/>
          <a:ln/>
        </p:spPr>
        <p:txBody>
          <a:bodyPr wrap="square" lIns="0" tIns="0" rIns="0" bIns="0" rtlCol="0" anchor="t"/>
          <a:lstStyle/>
          <a:p>
            <a:pPr indent="0" marL="0">
              <a:buNone/>
            </a:pPr>
            <a:r>
              <a:rPr lang="en-US" sz="1700" b="1" dirty="0">
                <a:solidFill>
                  <a:srgbClr val="188038"/>
                </a:solidFill>
                <a:latin typeface="Roboto" pitchFamily="34" charset="0"/>
                <a:ea typeface="Roboto" pitchFamily="34" charset="-122"/>
                <a:cs typeface="Roboto" pitchFamily="34" charset="-120"/>
              </a:rPr>
              <a:t>Època clàssica</a:t>
            </a:r>
            <a:endParaRPr lang="en-US" sz="1700" dirty="0"/>
          </a:p>
          <a:p>
            <a:pPr indent="0" marL="0">
              <a:buNone/>
            </a:pPr>
            <a:r>
              <a:rPr lang="en-US" sz="1400" b="1" dirty="0">
                <a:solidFill>
                  <a:srgbClr val="5F6368"/>
                </a:solidFill>
                <a:latin typeface="Roboto" pitchFamily="34" charset="0"/>
                <a:ea typeface="Roboto" pitchFamily="34" charset="-122"/>
                <a:cs typeface="Roboto" pitchFamily="34" charset="-120"/>
              </a:rPr>
              <a:t>490 – 323 aC</a:t>
            </a:r>
            <a:endParaRPr lang="en-US" sz="1700" dirty="0"/>
          </a:p>
        </p:txBody>
      </p:sp>
      <p:sp>
        <p:nvSpPr>
          <p:cNvPr id="13" name="Text 10"/>
          <p:cNvSpPr txBox="1"/>
          <p:nvPr/>
        </p:nvSpPr>
        <p:spPr>
          <a:xfrm>
            <a:off x="8275320" y="3675888"/>
            <a:ext cx="3139135" cy="64008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L'edat d'or. Democràcia, Pèricles, filosofia i teatre.</a:t>
            </a:r>
            <a:endParaRPr lang="en-US" sz="1450" dirty="0"/>
          </a:p>
        </p:txBody>
      </p:sp>
      <p:sp>
        <p:nvSpPr>
          <p:cNvPr id="14" name="Hel·lenisme"/>
          <p:cNvSpPr/>
          <p:nvPr/>
        </p:nvSpPr>
        <p:spPr>
          <a:xfrm>
            <a:off x="8046720" y="4517136"/>
            <a:ext cx="3596335" cy="1417320"/>
          </a:xfrm>
          <a:prstGeom prst="roundRect">
            <a:avLst>
              <a:gd name="adj" fmla="val 7097"/>
            </a:avLst>
          </a:prstGeom>
          <a:solidFill>
            <a:srgbClr val="FFFFFF"/>
          </a:solidFill>
          <a:ln w="12700">
            <a:solidFill>
              <a:srgbClr val="DADCE0"/>
            </a:solidFill>
            <a:prstDash val="solid"/>
          </a:ln>
        </p:spPr>
      </p:sp>
      <p:sp>
        <p:nvSpPr>
          <p:cNvPr id="15" name="Text 12"/>
          <p:cNvSpPr txBox="1"/>
          <p:nvPr/>
        </p:nvSpPr>
        <p:spPr>
          <a:xfrm>
            <a:off x="8275320" y="4654296"/>
            <a:ext cx="3139135" cy="548640"/>
          </a:xfrm>
          <a:prstGeom prst="rect">
            <a:avLst/>
          </a:prstGeom>
          <a:noFill/>
          <a:ln/>
        </p:spPr>
        <p:txBody>
          <a:bodyPr wrap="square" lIns="0" tIns="0" rIns="0" bIns="0" rtlCol="0" anchor="t"/>
          <a:lstStyle/>
          <a:p>
            <a:pPr indent="0" marL="0">
              <a:buNone/>
            </a:pPr>
            <a:r>
              <a:rPr lang="en-US" sz="1700" b="1" dirty="0">
                <a:solidFill>
                  <a:srgbClr val="188038"/>
                </a:solidFill>
                <a:latin typeface="Roboto" pitchFamily="34" charset="0"/>
                <a:ea typeface="Roboto" pitchFamily="34" charset="-122"/>
                <a:cs typeface="Roboto" pitchFamily="34" charset="-120"/>
              </a:rPr>
              <a:t>Hel·lenisme</a:t>
            </a:r>
            <a:endParaRPr lang="en-US" sz="1700" dirty="0"/>
          </a:p>
          <a:p>
            <a:pPr indent="0" marL="0">
              <a:buNone/>
            </a:pPr>
            <a:r>
              <a:rPr lang="en-US" sz="1400" b="1" dirty="0">
                <a:solidFill>
                  <a:srgbClr val="5F6368"/>
                </a:solidFill>
                <a:latin typeface="Roboto" pitchFamily="34" charset="0"/>
                <a:ea typeface="Roboto" pitchFamily="34" charset="-122"/>
                <a:cs typeface="Roboto" pitchFamily="34" charset="-120"/>
              </a:rPr>
              <a:t>323 – 31 aC</a:t>
            </a:r>
            <a:endParaRPr lang="en-US" sz="1700" dirty="0"/>
          </a:p>
        </p:txBody>
      </p:sp>
      <p:sp>
        <p:nvSpPr>
          <p:cNvPr id="16" name="Text 13"/>
          <p:cNvSpPr txBox="1"/>
          <p:nvPr/>
        </p:nvSpPr>
        <p:spPr>
          <a:xfrm>
            <a:off x="8275320" y="5248656"/>
            <a:ext cx="3139135" cy="64008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La cultura grega s'escampa per l'Orient amb Alexandre.</a:t>
            </a:r>
            <a:endParaRPr lang="en-US" sz="14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1</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Grecs pel Mediterrani. Les colonitzacions</a:t>
            </a:r>
            <a:endParaRPr lang="en-US" sz="2800" dirty="0"/>
          </a:p>
        </p:txBody>
      </p:sp>
      <p:sp>
        <p:nvSpPr>
          <p:cNvPr id="5" name="Fons Les colònies gregues (segles VIII-VI aC)"/>
          <p:cNvSpPr/>
          <p:nvPr/>
        </p:nvSpPr>
        <p:spPr>
          <a:xfrm>
            <a:off x="548640" y="1371600"/>
            <a:ext cx="6949440" cy="4297680"/>
          </a:xfrm>
          <a:prstGeom prst="roundRect">
            <a:avLst>
              <a:gd name="adj" fmla="val 2340"/>
            </a:avLst>
          </a:prstGeom>
          <a:solidFill>
            <a:srgbClr val="F6F8FB"/>
          </a:solidFill>
          <a:ln/>
        </p:spPr>
      </p:sp>
      <p:pic>
        <p:nvPicPr>
          <p:cNvPr id="6" name="Les colònies gregues (segles VIII-VI aC)" descr="/home/claude/work/build/img/colonies.jpg">    </p:cNvPr>
          <p:cNvPicPr>
            <a:picLocks noChangeAspect="1"/>
          </p:cNvPicPr>
          <p:nvPr/>
        </p:nvPicPr>
        <p:blipFill>
          <a:blip r:embed="rId1"/>
          <a:stretch>
            <a:fillRect/>
          </a:stretch>
        </p:blipFill>
        <p:spPr>
          <a:xfrm>
            <a:off x="548686" y="1371600"/>
            <a:ext cx="6949349" cy="4297680"/>
          </a:xfrm>
          <a:prstGeom prst="rect">
            <a:avLst/>
          </a:prstGeom>
        </p:spPr>
      </p:pic>
      <p:sp>
        <p:nvSpPr>
          <p:cNvPr id="7" name="Text 4"/>
          <p:cNvSpPr txBox="1"/>
          <p:nvPr/>
        </p:nvSpPr>
        <p:spPr>
          <a:xfrm>
            <a:off x="548640" y="5760720"/>
            <a:ext cx="6949440"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Les colònies gregues (segles VIII-VI aC). Mapa: professordesocials.cat, CC BY-SA 4.0. Base cartogràfica: Natural Earth (domini públic).</a:t>
            </a:r>
            <a:endParaRPr lang="en-US" sz="1000" dirty="0"/>
          </a:p>
        </p:txBody>
      </p:sp>
      <p:sp>
        <p:nvSpPr>
          <p:cNvPr id="8" name="Text 5"/>
          <p:cNvSpPr txBox="1"/>
          <p:nvPr/>
        </p:nvSpPr>
        <p:spPr>
          <a:xfrm>
            <a:off x="7772400" y="1371600"/>
            <a:ext cx="3840480" cy="365760"/>
          </a:xfrm>
          <a:prstGeom prst="rect">
            <a:avLst/>
          </a:prstGeom>
          <a:noFill/>
          <a:ln/>
        </p:spPr>
        <p:txBody>
          <a:bodyPr wrap="square" lIns="0" tIns="0" rIns="0" bIns="0" rtlCol="0" anchor="t"/>
          <a:lstStyle/>
          <a:p>
            <a:pPr indent="0" marL="0">
              <a:buNone/>
            </a:pPr>
            <a:r>
              <a:rPr lang="en-US" sz="1800" b="1" dirty="0">
                <a:solidFill>
                  <a:srgbClr val="188038"/>
                </a:solidFill>
                <a:latin typeface="Roboto" pitchFamily="34" charset="0"/>
                <a:ea typeface="Roboto" pitchFamily="34" charset="-122"/>
                <a:cs typeface="Roboto" pitchFamily="34" charset="-120"/>
              </a:rPr>
              <a:t>Per què van marxar?</a:t>
            </a:r>
            <a:endParaRPr lang="en-US" sz="1800" dirty="0"/>
          </a:p>
        </p:txBody>
      </p:sp>
      <p:sp>
        <p:nvSpPr>
          <p:cNvPr id="9" name="Cercle icona"/>
          <p:cNvSpPr/>
          <p:nvPr/>
        </p:nvSpPr>
        <p:spPr>
          <a:xfrm>
            <a:off x="7772400" y="1810512"/>
            <a:ext cx="402336" cy="402336"/>
          </a:xfrm>
          <a:prstGeom prst="ellipse">
            <a:avLst/>
          </a:prstGeom>
          <a:solidFill>
            <a:srgbClr val="E6F4EA"/>
          </a:solidFill>
          <a:ln/>
        </p:spPr>
      </p:sp>
      <p:pic>
        <p:nvPicPr>
          <p:cNvPr id="10" name="Icona TbPlant2" descr="/home/claude/work/build/img/ic/TbPlant2-g.png">    </p:cNvPr>
          <p:cNvPicPr>
            <a:picLocks noChangeAspect="1"/>
          </p:cNvPicPr>
          <p:nvPr/>
        </p:nvPicPr>
        <p:blipFill>
          <a:blip r:embed="rId2"/>
          <a:stretch>
            <a:fillRect/>
          </a:stretch>
        </p:blipFill>
        <p:spPr>
          <a:xfrm>
            <a:off x="7860914" y="1899026"/>
            <a:ext cx="225308" cy="225308"/>
          </a:xfrm>
          <a:prstGeom prst="rect">
            <a:avLst/>
          </a:prstGeom>
        </p:spPr>
      </p:pic>
      <p:sp>
        <p:nvSpPr>
          <p:cNvPr id="11" name="Text 7"/>
          <p:cNvSpPr txBox="1"/>
          <p:nvPr/>
        </p:nvSpPr>
        <p:spPr>
          <a:xfrm>
            <a:off x="8375904" y="1810512"/>
            <a:ext cx="3267151" cy="420624"/>
          </a:xfrm>
          <a:prstGeom prst="rect">
            <a:avLst/>
          </a:prstGeom>
          <a:noFill/>
          <a:ln/>
        </p:spPr>
        <p:txBody>
          <a:bodyPr wrap="square" lIns="0" tIns="0" rIns="0" bIns="0" rtlCol="0" anchor="ctr"/>
          <a:lstStyle/>
          <a:p>
            <a:pPr indent="0" marL="0">
              <a:buNone/>
            </a:pPr>
            <a:r>
              <a:rPr lang="en-US" sz="1600" dirty="0">
                <a:solidFill>
                  <a:srgbClr val="202124"/>
                </a:solidFill>
                <a:latin typeface="Roboto" pitchFamily="34" charset="0"/>
                <a:ea typeface="Roboto" pitchFamily="34" charset="-122"/>
                <a:cs typeface="Roboto" pitchFamily="34" charset="-120"/>
              </a:rPr>
              <a:t>Faltaven terres.</a:t>
            </a:r>
            <a:endParaRPr lang="en-US" sz="1600" dirty="0"/>
          </a:p>
        </p:txBody>
      </p:sp>
      <p:sp>
        <p:nvSpPr>
          <p:cNvPr id="12" name="Cercle icona"/>
          <p:cNvSpPr/>
          <p:nvPr/>
        </p:nvSpPr>
        <p:spPr>
          <a:xfrm>
            <a:off x="7772400" y="2322576"/>
            <a:ext cx="402336" cy="402336"/>
          </a:xfrm>
          <a:prstGeom prst="ellipse">
            <a:avLst/>
          </a:prstGeom>
          <a:solidFill>
            <a:srgbClr val="E6F4EA"/>
          </a:solidFill>
          <a:ln/>
        </p:spPr>
      </p:sp>
      <p:pic>
        <p:nvPicPr>
          <p:cNvPr id="13" name="Icona TbSwords" descr="/home/claude/work/build/img/ic/TbSwords-g.png">    </p:cNvPr>
          <p:cNvPicPr>
            <a:picLocks noChangeAspect="1"/>
          </p:cNvPicPr>
          <p:nvPr/>
        </p:nvPicPr>
        <p:blipFill>
          <a:blip r:embed="rId3"/>
          <a:stretch>
            <a:fillRect/>
          </a:stretch>
        </p:blipFill>
        <p:spPr>
          <a:xfrm>
            <a:off x="7860914" y="2411090"/>
            <a:ext cx="225308" cy="225308"/>
          </a:xfrm>
          <a:prstGeom prst="rect">
            <a:avLst/>
          </a:prstGeom>
        </p:spPr>
      </p:pic>
      <p:sp>
        <p:nvSpPr>
          <p:cNvPr id="14" name="Text 9"/>
          <p:cNvSpPr txBox="1"/>
          <p:nvPr/>
        </p:nvSpPr>
        <p:spPr>
          <a:xfrm>
            <a:off x="8375904" y="2322576"/>
            <a:ext cx="3267151" cy="420624"/>
          </a:xfrm>
          <a:prstGeom prst="rect">
            <a:avLst/>
          </a:prstGeom>
          <a:noFill/>
          <a:ln/>
        </p:spPr>
        <p:txBody>
          <a:bodyPr wrap="square" lIns="0" tIns="0" rIns="0" bIns="0" rtlCol="0" anchor="ctr"/>
          <a:lstStyle/>
          <a:p>
            <a:pPr indent="0" marL="0">
              <a:buNone/>
            </a:pPr>
            <a:r>
              <a:rPr lang="en-US" sz="1600" dirty="0">
                <a:solidFill>
                  <a:srgbClr val="202124"/>
                </a:solidFill>
                <a:latin typeface="Roboto" pitchFamily="34" charset="0"/>
                <a:ea typeface="Roboto" pitchFamily="34" charset="-122"/>
                <a:cs typeface="Roboto" pitchFamily="34" charset="-120"/>
              </a:rPr>
              <a:t>Hi havia crisis polítiques.</a:t>
            </a:r>
            <a:endParaRPr lang="en-US" sz="1600" dirty="0"/>
          </a:p>
        </p:txBody>
      </p:sp>
      <p:sp>
        <p:nvSpPr>
          <p:cNvPr id="15" name="Cercle icona"/>
          <p:cNvSpPr/>
          <p:nvPr/>
        </p:nvSpPr>
        <p:spPr>
          <a:xfrm>
            <a:off x="7772400" y="2834640"/>
            <a:ext cx="402336" cy="402336"/>
          </a:xfrm>
          <a:prstGeom prst="ellipse">
            <a:avLst/>
          </a:prstGeom>
          <a:solidFill>
            <a:srgbClr val="E6F4EA"/>
          </a:solidFill>
          <a:ln/>
        </p:spPr>
      </p:sp>
      <p:pic>
        <p:nvPicPr>
          <p:cNvPr id="16" name="Icona TbShip" descr="/home/claude/work/build/img/ic/TbShip-g.png">    </p:cNvPr>
          <p:cNvPicPr>
            <a:picLocks noChangeAspect="1"/>
          </p:cNvPicPr>
          <p:nvPr/>
        </p:nvPicPr>
        <p:blipFill>
          <a:blip r:embed="rId4"/>
          <a:stretch>
            <a:fillRect/>
          </a:stretch>
        </p:blipFill>
        <p:spPr>
          <a:xfrm>
            <a:off x="7860914" y="2923154"/>
            <a:ext cx="225308" cy="225308"/>
          </a:xfrm>
          <a:prstGeom prst="rect">
            <a:avLst/>
          </a:prstGeom>
        </p:spPr>
      </p:pic>
      <p:sp>
        <p:nvSpPr>
          <p:cNvPr id="17" name="Text 11"/>
          <p:cNvSpPr txBox="1"/>
          <p:nvPr/>
        </p:nvSpPr>
        <p:spPr>
          <a:xfrm>
            <a:off x="8375904" y="2834640"/>
            <a:ext cx="3267151" cy="420624"/>
          </a:xfrm>
          <a:prstGeom prst="rect">
            <a:avLst/>
          </a:prstGeom>
          <a:noFill/>
          <a:ln/>
        </p:spPr>
        <p:txBody>
          <a:bodyPr wrap="square" lIns="0" tIns="0" rIns="0" bIns="0" rtlCol="0" anchor="ctr"/>
          <a:lstStyle/>
          <a:p>
            <a:pPr indent="0" marL="0">
              <a:buNone/>
            </a:pPr>
            <a:r>
              <a:rPr lang="en-US" sz="1600" dirty="0">
                <a:solidFill>
                  <a:srgbClr val="202124"/>
                </a:solidFill>
                <a:latin typeface="Roboto" pitchFamily="34" charset="0"/>
                <a:ea typeface="Roboto" pitchFamily="34" charset="-122"/>
                <a:cs typeface="Roboto" pitchFamily="34" charset="-120"/>
              </a:rPr>
              <a:t>Buscaven noves rutes comercials.</a:t>
            </a:r>
            <a:endParaRPr lang="en-US" sz="1600" dirty="0"/>
          </a:p>
        </p:txBody>
      </p:sp>
      <p:sp>
        <p:nvSpPr>
          <p:cNvPr id="18" name="Paraula clau · Colònia"/>
          <p:cNvSpPr/>
          <p:nvPr/>
        </p:nvSpPr>
        <p:spPr>
          <a:xfrm>
            <a:off x="7772400" y="3429000"/>
            <a:ext cx="3870655" cy="1600200"/>
          </a:xfrm>
          <a:prstGeom prst="roundRect">
            <a:avLst>
              <a:gd name="adj" fmla="val 6286"/>
            </a:avLst>
          </a:prstGeom>
          <a:solidFill>
            <a:srgbClr val="E6F4EA"/>
          </a:solidFill>
          <a:ln/>
        </p:spPr>
      </p:sp>
      <p:sp>
        <p:nvSpPr>
          <p:cNvPr id="19" name="Text 13"/>
          <p:cNvSpPr txBox="1"/>
          <p:nvPr/>
        </p:nvSpPr>
        <p:spPr>
          <a:xfrm>
            <a:off x="8092440" y="3584448"/>
            <a:ext cx="323057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Paraula clau · Colònia</a:t>
            </a:r>
            <a:endParaRPr lang="en-US" sz="1400" dirty="0"/>
          </a:p>
        </p:txBody>
      </p:sp>
      <p:sp>
        <p:nvSpPr>
          <p:cNvPr id="20" name="Text 14"/>
          <p:cNvSpPr txBox="1"/>
          <p:nvPr/>
        </p:nvSpPr>
        <p:spPr>
          <a:xfrm>
            <a:off x="8092440" y="3931920"/>
            <a:ext cx="3230575" cy="96012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Ciutat nova fundada per una polis lluny de Grècia. Era independent, però tenia forts llaços amb la metròpoli, la polis mare.</a:t>
            </a:r>
            <a:endParaRPr lang="en-US" sz="1500" dirty="0"/>
          </a:p>
        </p:txBody>
      </p:sp>
      <p:sp>
        <p:nvSpPr>
          <p:cNvPr id="21" name="Text 15"/>
          <p:cNvSpPr txBox="1"/>
          <p:nvPr/>
        </p:nvSpPr>
        <p:spPr>
          <a:xfrm>
            <a:off x="7772400" y="5120640"/>
            <a:ext cx="3870655" cy="640080"/>
          </a:xfrm>
          <a:prstGeom prst="rect">
            <a:avLst/>
          </a:prstGeom>
          <a:noFill/>
          <a:ln/>
        </p:spPr>
        <p:txBody>
          <a:bodyPr wrap="square" lIns="0" tIns="0" rIns="0" bIns="0" rtlCol="0" anchor="t"/>
          <a:lstStyle/>
          <a:p>
            <a:pPr indent="0" marL="0">
              <a:buNone/>
            </a:pPr>
            <a:r>
              <a:rPr lang="en-US" sz="1500" i="1" dirty="0">
                <a:solidFill>
                  <a:srgbClr val="5F6368"/>
                </a:solidFill>
                <a:latin typeface="Roboto" pitchFamily="34" charset="0"/>
                <a:ea typeface="Roboto" pitchFamily="34" charset="-122"/>
                <a:cs typeface="Roboto" pitchFamily="34" charset="-120"/>
              </a:rPr>
              <a:t>«Com granotes al voltant d'un estany». Plató, Fedó.</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1</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Empòrion, els grecs a casa nostra</a:t>
            </a:r>
            <a:endParaRPr lang="en-US" sz="2800" dirty="0"/>
          </a:p>
        </p:txBody>
      </p:sp>
      <p:sp>
        <p:nvSpPr>
          <p:cNvPr id="5" name="Targeta Qui la va fundar?"/>
          <p:cNvSpPr/>
          <p:nvPr/>
        </p:nvSpPr>
        <p:spPr>
          <a:xfrm>
            <a:off x="548640" y="1371600"/>
            <a:ext cx="3515258" cy="2423160"/>
          </a:xfrm>
          <a:prstGeom prst="roundRect">
            <a:avLst>
              <a:gd name="adj" fmla="val 4151"/>
            </a:avLst>
          </a:prstGeom>
          <a:solidFill>
            <a:srgbClr val="FFFFFF"/>
          </a:solidFill>
          <a:ln w="12700">
            <a:solidFill>
              <a:srgbClr val="DADCE0"/>
            </a:solidFill>
            <a:prstDash val="solid"/>
          </a:ln>
        </p:spPr>
      </p:sp>
      <p:sp>
        <p:nvSpPr>
          <p:cNvPr id="6" name="Cercle icona"/>
          <p:cNvSpPr/>
          <p:nvPr/>
        </p:nvSpPr>
        <p:spPr>
          <a:xfrm>
            <a:off x="777240" y="1600200"/>
            <a:ext cx="594360" cy="594360"/>
          </a:xfrm>
          <a:prstGeom prst="ellipse">
            <a:avLst/>
          </a:prstGeom>
          <a:solidFill>
            <a:srgbClr val="E6F4EA"/>
          </a:solidFill>
          <a:ln/>
        </p:spPr>
      </p:sp>
      <p:pic>
        <p:nvPicPr>
          <p:cNvPr id="7" name="Icona TbShip" descr="/home/claude/work/build/img/ic/TbShip-g.png">    </p:cNvPr>
          <p:cNvPicPr>
            <a:picLocks noChangeAspect="1"/>
          </p:cNvPicPr>
          <p:nvPr/>
        </p:nvPicPr>
        <p:blipFill>
          <a:blip r:embed="rId1"/>
          <a:stretch>
            <a:fillRect/>
          </a:stretch>
        </p:blipFill>
        <p:spPr>
          <a:xfrm>
            <a:off x="907999" y="1730959"/>
            <a:ext cx="332842" cy="332842"/>
          </a:xfrm>
          <a:prstGeom prst="rect">
            <a:avLst/>
          </a:prstGeom>
        </p:spPr>
      </p:pic>
      <p:sp>
        <p:nvSpPr>
          <p:cNvPr id="8" name="Text 5"/>
          <p:cNvSpPr txBox="1"/>
          <p:nvPr/>
        </p:nvSpPr>
        <p:spPr>
          <a:xfrm>
            <a:off x="1508760" y="1600200"/>
            <a:ext cx="2326538" cy="594360"/>
          </a:xfrm>
          <a:prstGeom prst="rect">
            <a:avLst/>
          </a:prstGeom>
          <a:noFill/>
          <a:ln/>
        </p:spPr>
        <p:txBody>
          <a:bodyPr wrap="square" lIns="0" tIns="0" rIns="0" bIns="0" rtlCol="0" anchor="ctr"/>
          <a:lstStyle/>
          <a:p>
            <a:pPr indent="0" marL="0">
              <a:buNone/>
            </a:pPr>
            <a:r>
              <a:rPr lang="en-US" sz="1900" b="1" dirty="0">
                <a:solidFill>
                  <a:srgbClr val="188038"/>
                </a:solidFill>
                <a:latin typeface="Roboto" pitchFamily="34" charset="0"/>
                <a:ea typeface="Roboto" pitchFamily="34" charset="-122"/>
                <a:cs typeface="Roboto" pitchFamily="34" charset="-120"/>
              </a:rPr>
              <a:t>Qui la va fundar?</a:t>
            </a:r>
            <a:endParaRPr lang="en-US" sz="1900" dirty="0"/>
          </a:p>
        </p:txBody>
      </p:sp>
      <p:sp>
        <p:nvSpPr>
          <p:cNvPr id="9" name="Text 6"/>
          <p:cNvSpPr txBox="1"/>
          <p:nvPr/>
        </p:nvSpPr>
        <p:spPr>
          <a:xfrm>
            <a:off x="777240" y="2331720"/>
            <a:ext cx="3058058" cy="1325880"/>
          </a:xfrm>
          <a:prstGeom prst="rect">
            <a:avLst/>
          </a:prstGeom>
          <a:noFill/>
          <a:ln/>
        </p:spPr>
        <p:txBody>
          <a:bodyPr wrap="square" lIns="0" tIns="0" rIns="0" bIns="0" rtlCol="0" anchor="t"/>
          <a:lstStyle/>
          <a:p>
            <a:pPr indent="0" marL="0">
              <a:buNone/>
            </a:pPr>
            <a:r>
              <a:rPr lang="en-US" sz="1650" dirty="0">
                <a:solidFill>
                  <a:srgbClr val="202124"/>
                </a:solidFill>
                <a:latin typeface="Roboto" pitchFamily="34" charset="0"/>
                <a:ea typeface="Roboto" pitchFamily="34" charset="-122"/>
                <a:cs typeface="Roboto" pitchFamily="34" charset="-120"/>
              </a:rPr>
              <a:t>Colons grecs de Focea, establerts abans a Massàlia (Marsella), cap a l'any 575 aC.</a:t>
            </a:r>
            <a:endParaRPr lang="en-US" sz="1650" dirty="0"/>
          </a:p>
        </p:txBody>
      </p:sp>
      <p:sp>
        <p:nvSpPr>
          <p:cNvPr id="10" name="Targeta Què vol dir?"/>
          <p:cNvSpPr/>
          <p:nvPr/>
        </p:nvSpPr>
        <p:spPr>
          <a:xfrm>
            <a:off x="4338218" y="1371600"/>
            <a:ext cx="3515258" cy="2423160"/>
          </a:xfrm>
          <a:prstGeom prst="roundRect">
            <a:avLst>
              <a:gd name="adj" fmla="val 4151"/>
            </a:avLst>
          </a:prstGeom>
          <a:solidFill>
            <a:srgbClr val="FFFFFF"/>
          </a:solidFill>
          <a:ln w="12700">
            <a:solidFill>
              <a:srgbClr val="DADCE0"/>
            </a:solidFill>
            <a:prstDash val="solid"/>
          </a:ln>
        </p:spPr>
      </p:sp>
      <p:sp>
        <p:nvSpPr>
          <p:cNvPr id="11" name="Cercle icona"/>
          <p:cNvSpPr/>
          <p:nvPr/>
        </p:nvSpPr>
        <p:spPr>
          <a:xfrm>
            <a:off x="4566818" y="1600200"/>
            <a:ext cx="594360" cy="594360"/>
          </a:xfrm>
          <a:prstGeom prst="ellipse">
            <a:avLst/>
          </a:prstGeom>
          <a:solidFill>
            <a:srgbClr val="E6F4EA"/>
          </a:solidFill>
          <a:ln/>
        </p:spPr>
      </p:sp>
      <p:pic>
        <p:nvPicPr>
          <p:cNvPr id="12" name="Icona TbBuildingStore" descr="/home/claude/work/build/img/ic/TbBuildingStore-g.png">    </p:cNvPr>
          <p:cNvPicPr>
            <a:picLocks noChangeAspect="1"/>
          </p:cNvPicPr>
          <p:nvPr/>
        </p:nvPicPr>
        <p:blipFill>
          <a:blip r:embed="rId2"/>
          <a:stretch>
            <a:fillRect/>
          </a:stretch>
        </p:blipFill>
        <p:spPr>
          <a:xfrm>
            <a:off x="4697578" y="1730959"/>
            <a:ext cx="332842" cy="332842"/>
          </a:xfrm>
          <a:prstGeom prst="rect">
            <a:avLst/>
          </a:prstGeom>
        </p:spPr>
      </p:pic>
      <p:sp>
        <p:nvSpPr>
          <p:cNvPr id="13" name="Text 9"/>
          <p:cNvSpPr txBox="1"/>
          <p:nvPr/>
        </p:nvSpPr>
        <p:spPr>
          <a:xfrm>
            <a:off x="5298338" y="1600200"/>
            <a:ext cx="2326538" cy="594360"/>
          </a:xfrm>
          <a:prstGeom prst="rect">
            <a:avLst/>
          </a:prstGeom>
          <a:noFill/>
          <a:ln/>
        </p:spPr>
        <p:txBody>
          <a:bodyPr wrap="square" lIns="0" tIns="0" rIns="0" bIns="0" rtlCol="0" anchor="ctr"/>
          <a:lstStyle/>
          <a:p>
            <a:pPr indent="0" marL="0">
              <a:buNone/>
            </a:pPr>
            <a:r>
              <a:rPr lang="en-US" sz="1900" b="1" dirty="0">
                <a:solidFill>
                  <a:srgbClr val="188038"/>
                </a:solidFill>
                <a:latin typeface="Roboto" pitchFamily="34" charset="0"/>
                <a:ea typeface="Roboto" pitchFamily="34" charset="-122"/>
                <a:cs typeface="Roboto" pitchFamily="34" charset="-120"/>
              </a:rPr>
              <a:t>Què vol dir?</a:t>
            </a:r>
            <a:endParaRPr lang="en-US" sz="1900" dirty="0"/>
          </a:p>
        </p:txBody>
      </p:sp>
      <p:sp>
        <p:nvSpPr>
          <p:cNvPr id="14" name="Text 10"/>
          <p:cNvSpPr txBox="1"/>
          <p:nvPr/>
        </p:nvSpPr>
        <p:spPr>
          <a:xfrm>
            <a:off x="4566818" y="2331720"/>
            <a:ext cx="3058058" cy="1325880"/>
          </a:xfrm>
          <a:prstGeom prst="rect">
            <a:avLst/>
          </a:prstGeom>
          <a:noFill/>
          <a:ln/>
        </p:spPr>
        <p:txBody>
          <a:bodyPr wrap="square" lIns="0" tIns="0" rIns="0" bIns="0" rtlCol="0" anchor="t"/>
          <a:lstStyle/>
          <a:p>
            <a:pPr indent="0" marL="0">
              <a:buNone/>
            </a:pPr>
            <a:r>
              <a:rPr lang="en-US" sz="1650" dirty="0">
                <a:solidFill>
                  <a:srgbClr val="202124"/>
                </a:solidFill>
                <a:latin typeface="Roboto" pitchFamily="34" charset="0"/>
                <a:ea typeface="Roboto" pitchFamily="34" charset="-122"/>
                <a:cs typeface="Roboto" pitchFamily="34" charset="-120"/>
              </a:rPr>
              <a:t>Empòrion vol dir «mercat». És l'actual jaciment d'Empúries, a l'Escala (Alt Empordà).</a:t>
            </a:r>
            <a:endParaRPr lang="en-US" sz="1650" dirty="0"/>
          </a:p>
        </p:txBody>
      </p:sp>
      <p:sp>
        <p:nvSpPr>
          <p:cNvPr id="15" name="Targeta Què s'hi comerciava?"/>
          <p:cNvSpPr/>
          <p:nvPr/>
        </p:nvSpPr>
        <p:spPr>
          <a:xfrm>
            <a:off x="8127797" y="1371600"/>
            <a:ext cx="3515258" cy="2423160"/>
          </a:xfrm>
          <a:prstGeom prst="roundRect">
            <a:avLst>
              <a:gd name="adj" fmla="val 4151"/>
            </a:avLst>
          </a:prstGeom>
          <a:solidFill>
            <a:srgbClr val="FFFFFF"/>
          </a:solidFill>
          <a:ln w="12700">
            <a:solidFill>
              <a:srgbClr val="DADCE0"/>
            </a:solidFill>
            <a:prstDash val="solid"/>
          </a:ln>
        </p:spPr>
      </p:sp>
      <p:sp>
        <p:nvSpPr>
          <p:cNvPr id="16" name="Cercle icona"/>
          <p:cNvSpPr/>
          <p:nvPr/>
        </p:nvSpPr>
        <p:spPr>
          <a:xfrm>
            <a:off x="8356397" y="1600200"/>
            <a:ext cx="594360" cy="594360"/>
          </a:xfrm>
          <a:prstGeom prst="ellipse">
            <a:avLst/>
          </a:prstGeom>
          <a:solidFill>
            <a:srgbClr val="E6F4EA"/>
          </a:solidFill>
          <a:ln/>
        </p:spPr>
      </p:sp>
      <p:pic>
        <p:nvPicPr>
          <p:cNvPr id="17" name="Icona TbCoins" descr="/home/claude/work/build/img/ic/TbCoins-g.png">    </p:cNvPr>
          <p:cNvPicPr>
            <a:picLocks noChangeAspect="1"/>
          </p:cNvPicPr>
          <p:nvPr/>
        </p:nvPicPr>
        <p:blipFill>
          <a:blip r:embed="rId3"/>
          <a:stretch>
            <a:fillRect/>
          </a:stretch>
        </p:blipFill>
        <p:spPr>
          <a:xfrm>
            <a:off x="8487156" y="1730959"/>
            <a:ext cx="332842" cy="332842"/>
          </a:xfrm>
          <a:prstGeom prst="rect">
            <a:avLst/>
          </a:prstGeom>
        </p:spPr>
      </p:pic>
      <p:sp>
        <p:nvSpPr>
          <p:cNvPr id="18" name="Text 13"/>
          <p:cNvSpPr txBox="1"/>
          <p:nvPr/>
        </p:nvSpPr>
        <p:spPr>
          <a:xfrm>
            <a:off x="9087917" y="1600200"/>
            <a:ext cx="2326538" cy="594360"/>
          </a:xfrm>
          <a:prstGeom prst="rect">
            <a:avLst/>
          </a:prstGeom>
          <a:noFill/>
          <a:ln/>
        </p:spPr>
        <p:txBody>
          <a:bodyPr wrap="square" lIns="0" tIns="0" rIns="0" bIns="0" rtlCol="0" anchor="ctr"/>
          <a:lstStyle/>
          <a:p>
            <a:pPr indent="0" marL="0">
              <a:buNone/>
            </a:pPr>
            <a:r>
              <a:rPr lang="en-US" sz="1900" b="1" dirty="0">
                <a:solidFill>
                  <a:srgbClr val="188038"/>
                </a:solidFill>
                <a:latin typeface="Roboto" pitchFamily="34" charset="0"/>
                <a:ea typeface="Roboto" pitchFamily="34" charset="-122"/>
                <a:cs typeface="Roboto" pitchFamily="34" charset="-120"/>
              </a:rPr>
              <a:t>Què s'hi comerciava?</a:t>
            </a:r>
            <a:endParaRPr lang="en-US" sz="1900" dirty="0"/>
          </a:p>
        </p:txBody>
      </p:sp>
      <p:sp>
        <p:nvSpPr>
          <p:cNvPr id="19" name="Text 14"/>
          <p:cNvSpPr txBox="1"/>
          <p:nvPr/>
        </p:nvSpPr>
        <p:spPr>
          <a:xfrm>
            <a:off x="8356397" y="2331720"/>
            <a:ext cx="3058058" cy="1325880"/>
          </a:xfrm>
          <a:prstGeom prst="rect">
            <a:avLst/>
          </a:prstGeom>
          <a:noFill/>
          <a:ln/>
        </p:spPr>
        <p:txBody>
          <a:bodyPr wrap="square" lIns="0" tIns="0" rIns="0" bIns="0" rtlCol="0" anchor="t"/>
          <a:lstStyle/>
          <a:p>
            <a:pPr indent="0" marL="0">
              <a:buNone/>
            </a:pPr>
            <a:r>
              <a:rPr lang="en-US" sz="1650" dirty="0">
                <a:solidFill>
                  <a:srgbClr val="202124"/>
                </a:solidFill>
                <a:latin typeface="Roboto" pitchFamily="34" charset="0"/>
                <a:ea typeface="Roboto" pitchFamily="34" charset="-122"/>
                <a:cs typeface="Roboto" pitchFamily="34" charset="-120"/>
              </a:rPr>
              <a:t>Hi entraven ceràmica fina, vi, oli i perfums grecs. En sortien metalls, gra i espart dels ibers.</a:t>
            </a:r>
            <a:endParaRPr lang="en-US" sz="1650" dirty="0"/>
          </a:p>
        </p:txBody>
      </p:sp>
      <p:sp>
        <p:nvSpPr>
          <p:cNvPr id="20" name="A prop de casa · Rhode"/>
          <p:cNvSpPr/>
          <p:nvPr/>
        </p:nvSpPr>
        <p:spPr>
          <a:xfrm>
            <a:off x="548640" y="4023360"/>
            <a:ext cx="5394960" cy="1965960"/>
          </a:xfrm>
          <a:prstGeom prst="roundRect">
            <a:avLst>
              <a:gd name="adj" fmla="val 5116"/>
            </a:avLst>
          </a:prstGeom>
          <a:solidFill>
            <a:srgbClr val="F6F8FB"/>
          </a:solidFill>
          <a:ln/>
        </p:spPr>
      </p:sp>
      <p:sp>
        <p:nvSpPr>
          <p:cNvPr id="21" name="Text 16"/>
          <p:cNvSpPr txBox="1"/>
          <p:nvPr/>
        </p:nvSpPr>
        <p:spPr>
          <a:xfrm>
            <a:off x="868680" y="4178808"/>
            <a:ext cx="4754880"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A prop de casa · Rhode</a:t>
            </a:r>
            <a:endParaRPr lang="en-US" sz="1400" dirty="0"/>
          </a:p>
        </p:txBody>
      </p:sp>
      <p:sp>
        <p:nvSpPr>
          <p:cNvPr id="22" name="Text 17"/>
          <p:cNvSpPr txBox="1"/>
          <p:nvPr/>
        </p:nvSpPr>
        <p:spPr>
          <a:xfrm>
            <a:off x="868680" y="4526280"/>
            <a:ext cx="4754880" cy="1325880"/>
          </a:xfrm>
          <a:prstGeom prst="rect">
            <a:avLst/>
          </a:prstGeom>
          <a:noFill/>
          <a:ln/>
        </p:spPr>
        <p:txBody>
          <a:bodyPr wrap="square" lIns="0" tIns="0" rIns="0" bIns="0" rtlCol="0" anchor="t"/>
          <a:lstStyle/>
          <a:p>
            <a:pPr indent="0" marL="0">
              <a:buNone/>
            </a:pPr>
            <a:r>
              <a:rPr lang="en-US" sz="1600" dirty="0">
                <a:solidFill>
                  <a:srgbClr val="5F6368"/>
                </a:solidFill>
                <a:latin typeface="Roboto" pitchFamily="34" charset="0"/>
                <a:ea typeface="Roboto" pitchFamily="34" charset="-122"/>
                <a:cs typeface="Roboto" pitchFamily="34" charset="-120"/>
              </a:rPr>
              <a:t>A la badia de Roses hi havia una altra ciutat grega, Rhode. Avui se'n poden visitar les restes dins la Ciutadella de Roses.</a:t>
            </a:r>
            <a:endParaRPr lang="en-US" sz="1600" dirty="0"/>
          </a:p>
        </p:txBody>
      </p:sp>
      <p:sp>
        <p:nvSpPr>
          <p:cNvPr id="23" name="Saps que…?"/>
          <p:cNvSpPr/>
          <p:nvPr/>
        </p:nvSpPr>
        <p:spPr>
          <a:xfrm>
            <a:off x="6217920" y="4023360"/>
            <a:ext cx="5425135" cy="1965960"/>
          </a:xfrm>
          <a:prstGeom prst="roundRect">
            <a:avLst>
              <a:gd name="adj" fmla="val 5116"/>
            </a:avLst>
          </a:prstGeom>
          <a:solidFill>
            <a:srgbClr val="E6F4EA"/>
          </a:solidFill>
          <a:ln/>
        </p:spPr>
      </p:sp>
      <p:sp>
        <p:nvSpPr>
          <p:cNvPr id="24" name="Text 19"/>
          <p:cNvSpPr txBox="1"/>
          <p:nvPr/>
        </p:nvSpPr>
        <p:spPr>
          <a:xfrm>
            <a:off x="6537960" y="4178808"/>
            <a:ext cx="478505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Saps que…?</a:t>
            </a:r>
            <a:endParaRPr lang="en-US" sz="1400" dirty="0"/>
          </a:p>
        </p:txBody>
      </p:sp>
      <p:sp>
        <p:nvSpPr>
          <p:cNvPr id="25" name="Text 20"/>
          <p:cNvSpPr txBox="1"/>
          <p:nvPr/>
        </p:nvSpPr>
        <p:spPr>
          <a:xfrm>
            <a:off x="6537960" y="4526280"/>
            <a:ext cx="4785055" cy="1325880"/>
          </a:xfrm>
          <a:prstGeom prst="rect">
            <a:avLst/>
          </a:prstGeom>
          <a:noFill/>
          <a:ln/>
        </p:spPr>
        <p:txBody>
          <a:bodyPr wrap="square" lIns="0" tIns="0" rIns="0" bIns="0" rtlCol="0" anchor="t"/>
          <a:lstStyle/>
          <a:p>
            <a:pPr indent="0" marL="0">
              <a:buNone/>
            </a:pPr>
            <a:r>
              <a:rPr lang="en-US" sz="1600" dirty="0">
                <a:solidFill>
                  <a:srgbClr val="202124"/>
                </a:solidFill>
                <a:latin typeface="Roboto" pitchFamily="34" charset="0"/>
                <a:ea typeface="Roboto" pitchFamily="34" charset="-122"/>
                <a:cs typeface="Roboto" pitchFamily="34" charset="-120"/>
              </a:rPr>
              <a:t>La paraula política ve de polis. Democràcia, escola, teatre, música, història, planeta… Centenars de paraules que fas servir cada dia van néixer a Grècia.</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1</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Comprova-ho</a:t>
            </a:r>
            <a:endParaRPr lang="en-US" sz="2800" dirty="0"/>
          </a:p>
        </p:txBody>
      </p:sp>
      <p:sp>
        <p:nvSpPr>
          <p:cNvPr id="5" name="Text 3"/>
          <p:cNvSpPr txBox="1"/>
          <p:nvPr/>
        </p:nvSpPr>
        <p:spPr>
          <a:xfrm>
            <a:off x="548640" y="1371600"/>
            <a:ext cx="3657600" cy="320040"/>
          </a:xfrm>
          <a:prstGeom prst="rect">
            <a:avLst/>
          </a:prstGeom>
          <a:noFill/>
          <a:ln/>
        </p:spPr>
        <p:txBody>
          <a:bodyPr wrap="square" lIns="0" tIns="0" rIns="0" bIns="0" rtlCol="0" anchor="t"/>
          <a:lstStyle/>
          <a:p>
            <a:pPr indent="0" marL="0">
              <a:buNone/>
            </a:pPr>
            <a:r>
              <a:rPr lang="en-US" sz="1400" b="1" dirty="0">
                <a:solidFill>
                  <a:srgbClr val="5F6368"/>
                </a:solidFill>
                <a:latin typeface="Roboto" pitchFamily="34" charset="0"/>
                <a:ea typeface="Roboto" pitchFamily="34" charset="-122"/>
                <a:cs typeface="Roboto" pitchFamily="34" charset="-120"/>
              </a:rPr>
              <a:t>Paraules clau</a:t>
            </a:r>
            <a:endParaRPr lang="en-US" sz="1400" dirty="0"/>
          </a:p>
        </p:txBody>
      </p:sp>
      <p:sp>
        <p:nvSpPr>
          <p:cNvPr id="6" name="Etiqueta Polis"/>
          <p:cNvSpPr/>
          <p:nvPr/>
        </p:nvSpPr>
        <p:spPr>
          <a:xfrm>
            <a:off x="548640" y="1755648"/>
            <a:ext cx="813816" cy="384048"/>
          </a:xfrm>
          <a:prstGeom prst="roundRect">
            <a:avLst>
              <a:gd name="adj" fmla="val 50000"/>
            </a:avLst>
          </a:prstGeom>
          <a:solidFill>
            <a:srgbClr val="E6F4EA"/>
          </a:solidFill>
          <a:ln/>
        </p:spPr>
      </p:sp>
      <p:sp>
        <p:nvSpPr>
          <p:cNvPr id="7" name="Text 5"/>
          <p:cNvSpPr txBox="1"/>
          <p:nvPr/>
        </p:nvSpPr>
        <p:spPr>
          <a:xfrm>
            <a:off x="548640" y="1755648"/>
            <a:ext cx="81381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Polis</a:t>
            </a:r>
            <a:endParaRPr lang="en-US" sz="1500" dirty="0"/>
          </a:p>
        </p:txBody>
      </p:sp>
      <p:sp>
        <p:nvSpPr>
          <p:cNvPr id="8" name="Etiqueta Hel·lens"/>
          <p:cNvSpPr/>
          <p:nvPr/>
        </p:nvSpPr>
        <p:spPr>
          <a:xfrm>
            <a:off x="1472184" y="1755648"/>
            <a:ext cx="1115568" cy="384048"/>
          </a:xfrm>
          <a:prstGeom prst="roundRect">
            <a:avLst>
              <a:gd name="adj" fmla="val 50000"/>
            </a:avLst>
          </a:prstGeom>
          <a:solidFill>
            <a:srgbClr val="E6F4EA"/>
          </a:solidFill>
          <a:ln/>
        </p:spPr>
      </p:sp>
      <p:sp>
        <p:nvSpPr>
          <p:cNvPr id="9" name="Text 7"/>
          <p:cNvSpPr txBox="1"/>
          <p:nvPr/>
        </p:nvSpPr>
        <p:spPr>
          <a:xfrm>
            <a:off x="1472184" y="1755648"/>
            <a:ext cx="1115568"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Hel·lens</a:t>
            </a:r>
            <a:endParaRPr lang="en-US" sz="1500" dirty="0"/>
          </a:p>
        </p:txBody>
      </p:sp>
      <p:sp>
        <p:nvSpPr>
          <p:cNvPr id="10" name="Etiqueta Colònia"/>
          <p:cNvSpPr/>
          <p:nvPr/>
        </p:nvSpPr>
        <p:spPr>
          <a:xfrm>
            <a:off x="2697480" y="1755648"/>
            <a:ext cx="1014984" cy="384048"/>
          </a:xfrm>
          <a:prstGeom prst="roundRect">
            <a:avLst>
              <a:gd name="adj" fmla="val 50000"/>
            </a:avLst>
          </a:prstGeom>
          <a:solidFill>
            <a:srgbClr val="E6F4EA"/>
          </a:solidFill>
          <a:ln/>
        </p:spPr>
      </p:sp>
      <p:sp>
        <p:nvSpPr>
          <p:cNvPr id="11" name="Text 9"/>
          <p:cNvSpPr txBox="1"/>
          <p:nvPr/>
        </p:nvSpPr>
        <p:spPr>
          <a:xfrm>
            <a:off x="2697480" y="1755648"/>
            <a:ext cx="1014984"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Colònia</a:t>
            </a:r>
            <a:endParaRPr lang="en-US" sz="1500" dirty="0"/>
          </a:p>
        </p:txBody>
      </p:sp>
      <p:sp>
        <p:nvSpPr>
          <p:cNvPr id="12" name="Etiqueta Metròpoli"/>
          <p:cNvSpPr/>
          <p:nvPr/>
        </p:nvSpPr>
        <p:spPr>
          <a:xfrm>
            <a:off x="3822192" y="1755648"/>
            <a:ext cx="1216152" cy="384048"/>
          </a:xfrm>
          <a:prstGeom prst="roundRect">
            <a:avLst>
              <a:gd name="adj" fmla="val 50000"/>
            </a:avLst>
          </a:prstGeom>
          <a:solidFill>
            <a:srgbClr val="E6F4EA"/>
          </a:solidFill>
          <a:ln/>
        </p:spPr>
      </p:sp>
      <p:sp>
        <p:nvSpPr>
          <p:cNvPr id="13" name="Text 11"/>
          <p:cNvSpPr txBox="1"/>
          <p:nvPr/>
        </p:nvSpPr>
        <p:spPr>
          <a:xfrm>
            <a:off x="3822192" y="1755648"/>
            <a:ext cx="1216152"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Metròpoli</a:t>
            </a:r>
            <a:endParaRPr lang="en-US" sz="1500" dirty="0"/>
          </a:p>
        </p:txBody>
      </p:sp>
      <p:sp>
        <p:nvSpPr>
          <p:cNvPr id="14" name="Etiqueta Empòrion"/>
          <p:cNvSpPr/>
          <p:nvPr/>
        </p:nvSpPr>
        <p:spPr>
          <a:xfrm>
            <a:off x="5148072" y="1755648"/>
            <a:ext cx="1115568" cy="384048"/>
          </a:xfrm>
          <a:prstGeom prst="roundRect">
            <a:avLst>
              <a:gd name="adj" fmla="val 50000"/>
            </a:avLst>
          </a:prstGeom>
          <a:solidFill>
            <a:srgbClr val="E6F4EA"/>
          </a:solidFill>
          <a:ln/>
        </p:spPr>
      </p:sp>
      <p:sp>
        <p:nvSpPr>
          <p:cNvPr id="15" name="Text 13"/>
          <p:cNvSpPr txBox="1"/>
          <p:nvPr/>
        </p:nvSpPr>
        <p:spPr>
          <a:xfrm>
            <a:off x="5148072" y="1755648"/>
            <a:ext cx="1115568"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Empòrion</a:t>
            </a:r>
            <a:endParaRPr lang="en-US" sz="1500" dirty="0"/>
          </a:p>
        </p:txBody>
      </p:sp>
      <p:sp>
        <p:nvSpPr>
          <p:cNvPr id="16" name="Pregunta 1"/>
          <p:cNvSpPr/>
          <p:nvPr/>
        </p:nvSpPr>
        <p:spPr>
          <a:xfrm>
            <a:off x="548640" y="2514600"/>
            <a:ext cx="11094415" cy="960120"/>
          </a:xfrm>
          <a:prstGeom prst="roundRect">
            <a:avLst>
              <a:gd name="adj" fmla="val 10476"/>
            </a:avLst>
          </a:prstGeom>
          <a:solidFill>
            <a:srgbClr val="FFFFFF"/>
          </a:solidFill>
          <a:ln w="12700">
            <a:solidFill>
              <a:srgbClr val="DADCE0"/>
            </a:solidFill>
            <a:prstDash val="solid"/>
          </a:ln>
        </p:spPr>
      </p:sp>
      <p:sp>
        <p:nvSpPr>
          <p:cNvPr id="17" name="Número 1"/>
          <p:cNvSpPr/>
          <p:nvPr/>
        </p:nvSpPr>
        <p:spPr>
          <a:xfrm>
            <a:off x="822960" y="2761488"/>
            <a:ext cx="457200" cy="457200"/>
          </a:xfrm>
          <a:prstGeom prst="ellipse">
            <a:avLst/>
          </a:prstGeom>
          <a:solidFill>
            <a:srgbClr val="188038"/>
          </a:solidFill>
          <a:ln/>
        </p:spPr>
      </p:sp>
      <p:sp>
        <p:nvSpPr>
          <p:cNvPr id="18" name="Text 16"/>
          <p:cNvSpPr txBox="1"/>
          <p:nvPr/>
        </p:nvSpPr>
        <p:spPr>
          <a:xfrm>
            <a:off x="822960" y="2761488"/>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1</a:t>
            </a:r>
            <a:endParaRPr lang="en-US" sz="1700" dirty="0"/>
          </a:p>
        </p:txBody>
      </p:sp>
      <p:sp>
        <p:nvSpPr>
          <p:cNvPr id="19" name="Text 17"/>
          <p:cNvSpPr txBox="1"/>
          <p:nvPr/>
        </p:nvSpPr>
        <p:spPr>
          <a:xfrm>
            <a:off x="1508760" y="2514600"/>
            <a:ext cx="9905695" cy="960120"/>
          </a:xfrm>
          <a:prstGeom prst="rect">
            <a:avLst/>
          </a:prstGeom>
          <a:noFill/>
          <a:ln/>
        </p:spPr>
        <p:txBody>
          <a:bodyPr wrap="square" lIns="0" tIns="0" rIns="0" bIns="0" rtlCol="0" anchor="ctr"/>
          <a:lstStyle/>
          <a:p>
            <a:pPr indent="0" marL="0">
              <a:buNone/>
            </a:pPr>
            <a:r>
              <a:rPr lang="en-US" sz="2000" dirty="0">
                <a:solidFill>
                  <a:srgbClr val="202124"/>
                </a:solidFill>
                <a:latin typeface="Roboto" pitchFamily="34" charset="0"/>
                <a:ea typeface="Roboto" pitchFamily="34" charset="-122"/>
                <a:cs typeface="Roboto" pitchFamily="34" charset="-120"/>
              </a:rPr>
              <a:t>Per què a Grècia hi va haver centenars de polis i no un sol regne?</a:t>
            </a:r>
            <a:endParaRPr lang="en-US" sz="2000" dirty="0"/>
          </a:p>
        </p:txBody>
      </p:sp>
      <p:sp>
        <p:nvSpPr>
          <p:cNvPr id="20" name="Pregunta 2"/>
          <p:cNvSpPr/>
          <p:nvPr/>
        </p:nvSpPr>
        <p:spPr>
          <a:xfrm>
            <a:off x="548640" y="3657600"/>
            <a:ext cx="11094415" cy="960120"/>
          </a:xfrm>
          <a:prstGeom prst="roundRect">
            <a:avLst>
              <a:gd name="adj" fmla="val 10476"/>
            </a:avLst>
          </a:prstGeom>
          <a:solidFill>
            <a:srgbClr val="FFFFFF"/>
          </a:solidFill>
          <a:ln w="12700">
            <a:solidFill>
              <a:srgbClr val="DADCE0"/>
            </a:solidFill>
            <a:prstDash val="solid"/>
          </a:ln>
        </p:spPr>
      </p:sp>
      <p:sp>
        <p:nvSpPr>
          <p:cNvPr id="21" name="Número 2"/>
          <p:cNvSpPr/>
          <p:nvPr/>
        </p:nvSpPr>
        <p:spPr>
          <a:xfrm>
            <a:off x="822960" y="3904488"/>
            <a:ext cx="457200" cy="457200"/>
          </a:xfrm>
          <a:prstGeom prst="ellipse">
            <a:avLst/>
          </a:prstGeom>
          <a:solidFill>
            <a:srgbClr val="188038"/>
          </a:solidFill>
          <a:ln/>
        </p:spPr>
      </p:sp>
      <p:sp>
        <p:nvSpPr>
          <p:cNvPr id="22" name="Text 20"/>
          <p:cNvSpPr txBox="1"/>
          <p:nvPr/>
        </p:nvSpPr>
        <p:spPr>
          <a:xfrm>
            <a:off x="822960" y="3904488"/>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2</a:t>
            </a:r>
            <a:endParaRPr lang="en-US" sz="1700" dirty="0"/>
          </a:p>
        </p:txBody>
      </p:sp>
      <p:sp>
        <p:nvSpPr>
          <p:cNvPr id="23" name="Text 21"/>
          <p:cNvSpPr txBox="1"/>
          <p:nvPr/>
        </p:nvSpPr>
        <p:spPr>
          <a:xfrm>
            <a:off x="1508760" y="3657600"/>
            <a:ext cx="9905695" cy="960120"/>
          </a:xfrm>
          <a:prstGeom prst="rect">
            <a:avLst/>
          </a:prstGeom>
          <a:noFill/>
          <a:ln/>
        </p:spPr>
        <p:txBody>
          <a:bodyPr wrap="square" lIns="0" tIns="0" rIns="0" bIns="0" rtlCol="0" anchor="ctr"/>
          <a:lstStyle/>
          <a:p>
            <a:pPr indent="0" marL="0">
              <a:buNone/>
            </a:pPr>
            <a:r>
              <a:rPr lang="en-US" sz="2000" dirty="0">
                <a:solidFill>
                  <a:srgbClr val="202124"/>
                </a:solidFill>
                <a:latin typeface="Roboto" pitchFamily="34" charset="0"/>
                <a:ea typeface="Roboto" pitchFamily="34" charset="-122"/>
                <a:cs typeface="Roboto" pitchFamily="34" charset="-120"/>
              </a:rPr>
              <a:t>Què unia els grecs si no tenien un estat comú?</a:t>
            </a:r>
            <a:endParaRPr lang="en-US" sz="2000" dirty="0"/>
          </a:p>
        </p:txBody>
      </p:sp>
      <p:sp>
        <p:nvSpPr>
          <p:cNvPr id="24" name="Pregunta 3"/>
          <p:cNvSpPr/>
          <p:nvPr/>
        </p:nvSpPr>
        <p:spPr>
          <a:xfrm>
            <a:off x="548640" y="4800600"/>
            <a:ext cx="11094415" cy="960120"/>
          </a:xfrm>
          <a:prstGeom prst="roundRect">
            <a:avLst>
              <a:gd name="adj" fmla="val 10476"/>
            </a:avLst>
          </a:prstGeom>
          <a:solidFill>
            <a:srgbClr val="FFFFFF"/>
          </a:solidFill>
          <a:ln w="12700">
            <a:solidFill>
              <a:srgbClr val="DADCE0"/>
            </a:solidFill>
            <a:prstDash val="solid"/>
          </a:ln>
        </p:spPr>
      </p:sp>
      <p:sp>
        <p:nvSpPr>
          <p:cNvPr id="25" name="Número 3"/>
          <p:cNvSpPr/>
          <p:nvPr/>
        </p:nvSpPr>
        <p:spPr>
          <a:xfrm>
            <a:off x="822960" y="5047488"/>
            <a:ext cx="457200" cy="457200"/>
          </a:xfrm>
          <a:prstGeom prst="ellipse">
            <a:avLst/>
          </a:prstGeom>
          <a:solidFill>
            <a:srgbClr val="188038"/>
          </a:solidFill>
          <a:ln/>
        </p:spPr>
      </p:sp>
      <p:sp>
        <p:nvSpPr>
          <p:cNvPr id="26" name="Text 24"/>
          <p:cNvSpPr txBox="1"/>
          <p:nvPr/>
        </p:nvSpPr>
        <p:spPr>
          <a:xfrm>
            <a:off x="822960" y="5047488"/>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3</a:t>
            </a:r>
            <a:endParaRPr lang="en-US" sz="1700" dirty="0"/>
          </a:p>
        </p:txBody>
      </p:sp>
      <p:sp>
        <p:nvSpPr>
          <p:cNvPr id="27" name="Text 25"/>
          <p:cNvSpPr txBox="1"/>
          <p:nvPr/>
        </p:nvSpPr>
        <p:spPr>
          <a:xfrm>
            <a:off x="1508760" y="4800600"/>
            <a:ext cx="9905695" cy="960120"/>
          </a:xfrm>
          <a:prstGeom prst="rect">
            <a:avLst/>
          </a:prstGeom>
          <a:noFill/>
          <a:ln/>
        </p:spPr>
        <p:txBody>
          <a:bodyPr wrap="square" lIns="0" tIns="0" rIns="0" bIns="0" rtlCol="0" anchor="ctr"/>
          <a:lstStyle/>
          <a:p>
            <a:pPr indent="0" marL="0">
              <a:buNone/>
            </a:pPr>
            <a:r>
              <a:rPr lang="en-US" sz="2000" dirty="0">
                <a:solidFill>
                  <a:srgbClr val="202124"/>
                </a:solidFill>
                <a:latin typeface="Roboto" pitchFamily="34" charset="0"/>
                <a:ea typeface="Roboto" pitchFamily="34" charset="-122"/>
                <a:cs typeface="Roboto" pitchFamily="34" charset="-120"/>
              </a:rPr>
              <a:t>Qui va fundar Empòrion i què vol dir el seu nom?</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Capçalera"/>
          <p:cNvSpPr/>
          <p:nvPr/>
        </p:nvSpPr>
        <p:spPr>
          <a:xfrm>
            <a:off x="548640" y="548640"/>
            <a:ext cx="6720840" cy="3657600"/>
          </a:xfrm>
          <a:prstGeom prst="roundRect">
            <a:avLst>
              <a:gd name="adj" fmla="val 2750"/>
            </a:avLst>
          </a:prstGeom>
          <a:solidFill>
            <a:srgbClr val="188038"/>
          </a:solidFill>
          <a:ln/>
        </p:spPr>
      </p:sp>
      <p:pic>
        <p:nvPicPr>
          <p:cNvPr id="3" name="Il·lustració d'un temple grec i el sol" descr="/home/claude/work/build/hero-crop.png">    </p:cNvPr>
          <p:cNvPicPr>
            <a:picLocks noChangeAspect="1"/>
          </p:cNvPicPr>
          <p:nvPr/>
        </p:nvPicPr>
        <p:blipFill>
          <a:blip r:embed="rId1"/>
          <a:stretch>
            <a:fillRect/>
          </a:stretch>
        </p:blipFill>
        <p:spPr>
          <a:xfrm>
            <a:off x="3520440" y="2395912"/>
            <a:ext cx="3566160" cy="1792040"/>
          </a:xfrm>
          <a:prstGeom prst="rect">
            <a:avLst/>
          </a:prstGeom>
        </p:spPr>
      </p:pic>
      <p:sp>
        <p:nvSpPr>
          <p:cNvPr id="4" name="Etiqueta Apartat 2"/>
          <p:cNvSpPr/>
          <p:nvPr/>
        </p:nvSpPr>
        <p:spPr>
          <a:xfrm>
            <a:off x="960120" y="896112"/>
            <a:ext cx="1035101" cy="310896"/>
          </a:xfrm>
          <a:prstGeom prst="roundRect">
            <a:avLst>
              <a:gd name="adj" fmla="val 50000"/>
            </a:avLst>
          </a:prstGeom>
          <a:solidFill>
            <a:srgbClr val="FFFFFF">
              <a:alpha val="18000"/>
            </a:srgbClr>
          </a:solidFill>
          <a:ln/>
        </p:spPr>
      </p:sp>
      <p:sp>
        <p:nvSpPr>
          <p:cNvPr id="5" name="Text 2"/>
          <p:cNvSpPr txBox="1"/>
          <p:nvPr/>
        </p:nvSpPr>
        <p:spPr>
          <a:xfrm>
            <a:off x="960120" y="896112"/>
            <a:ext cx="1035101" cy="310896"/>
          </a:xfrm>
          <a:prstGeom prst="rect">
            <a:avLst/>
          </a:prstGeom>
          <a:noFill/>
          <a:ln/>
        </p:spPr>
        <p:txBody>
          <a:bodyPr wrap="square" lIns="0" tIns="0" rIns="0" bIns="0" rtlCol="0" anchor="ctr"/>
          <a:lstStyle/>
          <a:p>
            <a:pPr algn="ctr" indent="0" marL="0">
              <a:buNone/>
            </a:pPr>
            <a:r>
              <a:rPr lang="en-US" sz="1250" dirty="0">
                <a:solidFill>
                  <a:srgbClr val="FFFFFF"/>
                </a:solidFill>
                <a:latin typeface="Roboto" pitchFamily="34" charset="0"/>
                <a:ea typeface="Roboto" pitchFamily="34" charset="-122"/>
                <a:cs typeface="Roboto" pitchFamily="34" charset="-120"/>
              </a:rPr>
              <a:t>Apartat 2</a:t>
            </a:r>
            <a:endParaRPr lang="en-US" sz="1250" dirty="0"/>
          </a:p>
        </p:txBody>
      </p:sp>
      <p:sp>
        <p:nvSpPr>
          <p:cNvPr id="6" name="Text 3"/>
          <p:cNvSpPr txBox="1"/>
          <p:nvPr/>
        </p:nvSpPr>
        <p:spPr>
          <a:xfrm>
            <a:off x="960120" y="1371600"/>
            <a:ext cx="5760720" cy="1280160"/>
          </a:xfrm>
          <a:prstGeom prst="rect">
            <a:avLst/>
          </a:prstGeom>
          <a:noFill/>
          <a:ln/>
        </p:spPr>
        <p:txBody>
          <a:bodyPr wrap="square" lIns="0" tIns="0" rIns="0" bIns="0" rtlCol="0" anchor="t"/>
          <a:lstStyle/>
          <a:p>
            <a:pPr indent="0" marL="0">
              <a:lnSpc>
                <a:spcPct val="95000"/>
              </a:lnSpc>
              <a:buNone/>
            </a:pPr>
            <a:r>
              <a:rPr lang="en-US" sz="3400" b="1" dirty="0">
                <a:solidFill>
                  <a:srgbClr val="FFFFFF"/>
                </a:solidFill>
                <a:latin typeface="Roboto" pitchFamily="34" charset="0"/>
                <a:ea typeface="Roboto" pitchFamily="34" charset="-122"/>
                <a:cs typeface="Roboto" pitchFamily="34" charset="-120"/>
              </a:rPr>
              <a:t>La polis. Atenes i la democràcia</a:t>
            </a:r>
            <a:endParaRPr lang="en-US" sz="3400" dirty="0"/>
          </a:p>
        </p:txBody>
      </p:sp>
      <p:sp>
        <p:nvSpPr>
          <p:cNvPr id="7" name="Pregunta guia"/>
          <p:cNvSpPr/>
          <p:nvPr/>
        </p:nvSpPr>
        <p:spPr>
          <a:xfrm>
            <a:off x="548640" y="4389120"/>
            <a:ext cx="6720840" cy="1645920"/>
          </a:xfrm>
          <a:prstGeom prst="roundRect">
            <a:avLst>
              <a:gd name="adj" fmla="val 6111"/>
            </a:avLst>
          </a:prstGeom>
          <a:solidFill>
            <a:srgbClr val="F6F8FB"/>
          </a:solidFill>
          <a:ln/>
        </p:spPr>
      </p:sp>
      <p:sp>
        <p:nvSpPr>
          <p:cNvPr id="8" name="Text 5"/>
          <p:cNvSpPr txBox="1"/>
          <p:nvPr/>
        </p:nvSpPr>
        <p:spPr>
          <a:xfrm>
            <a:off x="914400" y="4590288"/>
            <a:ext cx="4572000" cy="320040"/>
          </a:xfrm>
          <a:prstGeom prst="rect">
            <a:avLst/>
          </a:prstGeom>
          <a:noFill/>
          <a:ln/>
        </p:spPr>
        <p:txBody>
          <a:bodyPr wrap="square" lIns="0" tIns="0" rIns="0" bIns="0" rtlCol="0" anchor="t"/>
          <a:lstStyle/>
          <a:p>
            <a:pPr indent="0" marL="0">
              <a:buNone/>
            </a:pPr>
            <a:r>
              <a:rPr lang="en-US" sz="1300" b="1" dirty="0">
                <a:solidFill>
                  <a:srgbClr val="188038"/>
                </a:solidFill>
                <a:latin typeface="Roboto" pitchFamily="34" charset="0"/>
                <a:ea typeface="Roboto" pitchFamily="34" charset="-122"/>
                <a:cs typeface="Roboto" pitchFamily="34" charset="-120"/>
              </a:rPr>
              <a:t>Pregunta guia</a:t>
            </a:r>
            <a:endParaRPr lang="en-US" sz="1300" dirty="0"/>
          </a:p>
        </p:txBody>
      </p:sp>
      <p:sp>
        <p:nvSpPr>
          <p:cNvPr id="9" name="Text 6"/>
          <p:cNvSpPr txBox="1"/>
          <p:nvPr/>
        </p:nvSpPr>
        <p:spPr>
          <a:xfrm>
            <a:off x="914400" y="4937760"/>
            <a:ext cx="6035040" cy="914400"/>
          </a:xfrm>
          <a:prstGeom prst="rect">
            <a:avLst/>
          </a:prstGeom>
          <a:noFill/>
          <a:ln/>
        </p:spPr>
        <p:txBody>
          <a:bodyPr wrap="square" lIns="0" tIns="0" rIns="0" bIns="0" rtlCol="0" anchor="t"/>
          <a:lstStyle/>
          <a:p>
            <a:pPr indent="0" marL="0">
              <a:buNone/>
            </a:pPr>
            <a:r>
              <a:rPr lang="en-US" sz="1900" dirty="0">
                <a:solidFill>
                  <a:srgbClr val="5F6368"/>
                </a:solidFill>
                <a:latin typeface="Roboto" pitchFamily="34" charset="0"/>
                <a:ea typeface="Roboto" pitchFamily="34" charset="-122"/>
                <a:cs typeface="Roboto" pitchFamily="34" charset="-120"/>
              </a:rPr>
              <a:t>Si a la teva classe decidíssiu totes les normes votant a mà alçada, seria una democràcia com la d'Atenes?</a:t>
            </a:r>
            <a:endParaRPr lang="en-US" sz="1900" dirty="0"/>
          </a:p>
        </p:txBody>
      </p:sp>
      <p:sp>
        <p:nvSpPr>
          <p:cNvPr id="10" name="Fons La polis. Atenes i la democràcia"/>
          <p:cNvSpPr/>
          <p:nvPr/>
        </p:nvSpPr>
        <p:spPr>
          <a:xfrm>
            <a:off x="7635240" y="859652"/>
            <a:ext cx="4007815" cy="4068848"/>
          </a:xfrm>
          <a:prstGeom prst="roundRect">
            <a:avLst>
              <a:gd name="adj" fmla="val 2510"/>
            </a:avLst>
          </a:prstGeom>
          <a:solidFill>
            <a:srgbClr val="F6F8FB"/>
          </a:solidFill>
          <a:ln/>
        </p:spPr>
      </p:sp>
      <p:pic>
        <p:nvPicPr>
          <p:cNvPr id="11" name="La polis. Atenes i la democràcia" descr="/home/claude/work/build/img/ostrakon.jpg">    </p:cNvPr>
          <p:cNvPicPr>
            <a:picLocks noChangeAspect="1"/>
          </p:cNvPicPr>
          <p:nvPr/>
        </p:nvPicPr>
        <p:blipFill>
          <a:blip r:embed="rId2"/>
          <a:stretch>
            <a:fillRect/>
          </a:stretch>
        </p:blipFill>
        <p:spPr>
          <a:xfrm>
            <a:off x="7635240" y="859652"/>
            <a:ext cx="4007815" cy="4068848"/>
          </a:xfrm>
          <a:prstGeom prst="rect">
            <a:avLst/>
          </a:prstGeom>
        </p:spPr>
      </p:pic>
      <p:sp>
        <p:nvSpPr>
          <p:cNvPr id="12" name="Text 8"/>
          <p:cNvSpPr txBox="1"/>
          <p:nvPr/>
        </p:nvSpPr>
        <p:spPr>
          <a:xfrm>
            <a:off x="7635240" y="5038228"/>
            <a:ext cx="4007815"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Un òstrakon amb el nom de Temístocles, l'heroi de Salamina, desterrat per ostracisme cap al 472 o el 471 aC. Museu de l'Àgora Antiga d'Atenes. Foto: Marsyas, Wikimedia Commons, CC BY 4.0.</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2</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Què era una polis?</a:t>
            </a:r>
            <a:endParaRPr lang="en-US" sz="2800" dirty="0"/>
          </a:p>
        </p:txBody>
      </p:sp>
      <p:sp>
        <p:nvSpPr>
          <p:cNvPr id="5" name="Fons Com era una polis"/>
          <p:cNvSpPr/>
          <p:nvPr/>
        </p:nvSpPr>
        <p:spPr>
          <a:xfrm>
            <a:off x="548640" y="1371600"/>
            <a:ext cx="7086600" cy="4488030"/>
          </a:xfrm>
          <a:prstGeom prst="roundRect">
            <a:avLst>
              <a:gd name="adj" fmla="val 2241"/>
            </a:avLst>
          </a:prstGeom>
          <a:solidFill>
            <a:srgbClr val="F6F8FB"/>
          </a:solidFill>
          <a:ln/>
        </p:spPr>
      </p:sp>
      <p:pic>
        <p:nvPicPr>
          <p:cNvPr id="6" name="Com era una polis" descr="/home/claude/work/build/img/polis.jpg">    </p:cNvPr>
          <p:cNvPicPr>
            <a:picLocks noChangeAspect="1"/>
          </p:cNvPicPr>
          <p:nvPr/>
        </p:nvPicPr>
        <p:blipFill>
          <a:blip r:embed="rId1"/>
          <a:stretch>
            <a:fillRect/>
          </a:stretch>
        </p:blipFill>
        <p:spPr>
          <a:xfrm>
            <a:off x="548640" y="1371600"/>
            <a:ext cx="7086600" cy="4488030"/>
          </a:xfrm>
          <a:prstGeom prst="rect">
            <a:avLst/>
          </a:prstGeom>
        </p:spPr>
      </p:pic>
      <p:sp>
        <p:nvSpPr>
          <p:cNvPr id="7" name="Text 4"/>
          <p:cNvSpPr txBox="1"/>
          <p:nvPr/>
        </p:nvSpPr>
        <p:spPr>
          <a:xfrm>
            <a:off x="548640" y="5951070"/>
            <a:ext cx="7086600"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Com era una polis. Esquema sense escala. Dibuix: professordesocials.cat, CC BY-SA 4.0.</a:t>
            </a:r>
            <a:endParaRPr lang="en-US" sz="1000" dirty="0"/>
          </a:p>
        </p:txBody>
      </p:sp>
      <p:sp>
        <p:nvSpPr>
          <p:cNvPr id="8" name="Text 5"/>
          <p:cNvSpPr txBox="1"/>
          <p:nvPr/>
        </p:nvSpPr>
        <p:spPr>
          <a:xfrm>
            <a:off x="8001000" y="1371600"/>
            <a:ext cx="3642055" cy="685800"/>
          </a:xfrm>
          <a:prstGeom prst="rect">
            <a:avLst/>
          </a:prstGeom>
          <a:noFill/>
          <a:ln/>
        </p:spPr>
        <p:txBody>
          <a:bodyPr wrap="square" lIns="0" tIns="0" rIns="0" bIns="0" rtlCol="0" anchor="t"/>
          <a:lstStyle/>
          <a:p>
            <a:pPr indent="0" marL="0">
              <a:buNone/>
            </a:pPr>
            <a:r>
              <a:rPr lang="en-US" sz="1800" b="1" dirty="0">
                <a:solidFill>
                  <a:srgbClr val="202124"/>
                </a:solidFill>
                <a:latin typeface="Roboto" pitchFamily="34" charset="0"/>
                <a:ea typeface="Roboto" pitchFamily="34" charset="-122"/>
                <a:cs typeface="Roboto" pitchFamily="34" charset="-120"/>
              </a:rPr>
              <a:t>Una ciutat-estat. Una ciutat independent que tenia…</a:t>
            </a:r>
            <a:endParaRPr lang="en-US" sz="1800" dirty="0"/>
          </a:p>
        </p:txBody>
      </p:sp>
      <p:sp>
        <p:nvSpPr>
          <p:cNvPr id="9" name="Cercle icona"/>
          <p:cNvSpPr/>
          <p:nvPr/>
        </p:nvSpPr>
        <p:spPr>
          <a:xfrm>
            <a:off x="8001000" y="2194560"/>
            <a:ext cx="566928" cy="566928"/>
          </a:xfrm>
          <a:prstGeom prst="ellipse">
            <a:avLst/>
          </a:prstGeom>
          <a:solidFill>
            <a:srgbClr val="E6F4EA"/>
          </a:solidFill>
          <a:ln/>
        </p:spPr>
      </p:sp>
      <p:pic>
        <p:nvPicPr>
          <p:cNvPr id="10" name="Icona TbPlant2" descr="/home/claude/work/build/img/ic/TbPlant2-g.png">    </p:cNvPr>
          <p:cNvPicPr>
            <a:picLocks noChangeAspect="1"/>
          </p:cNvPicPr>
          <p:nvPr/>
        </p:nvPicPr>
        <p:blipFill>
          <a:blip r:embed="rId2"/>
          <a:stretch>
            <a:fillRect/>
          </a:stretch>
        </p:blipFill>
        <p:spPr>
          <a:xfrm>
            <a:off x="8125724" y="2319284"/>
            <a:ext cx="317480" cy="317480"/>
          </a:xfrm>
          <a:prstGeom prst="rect">
            <a:avLst/>
          </a:prstGeom>
        </p:spPr>
      </p:pic>
      <p:sp>
        <p:nvSpPr>
          <p:cNvPr id="11" name="Text 7"/>
          <p:cNvSpPr txBox="1"/>
          <p:nvPr/>
        </p:nvSpPr>
        <p:spPr>
          <a:xfrm>
            <a:off x="8769096" y="2194560"/>
            <a:ext cx="2873959" cy="658368"/>
          </a:xfrm>
          <a:prstGeom prst="rect">
            <a:avLst/>
          </a:prstGeom>
          <a:noFill/>
          <a:ln/>
        </p:spPr>
        <p:txBody>
          <a:bodyPr wrap="square" lIns="0" tIns="0" rIns="0" bIns="0" rtlCol="0" anchor="ctr"/>
          <a:lstStyle/>
          <a:p>
            <a:pPr indent="0" marL="0">
              <a:buNone/>
            </a:pPr>
            <a:r>
              <a:rPr lang="en-US" sz="1800" dirty="0">
                <a:solidFill>
                  <a:srgbClr val="202124"/>
                </a:solidFill>
                <a:latin typeface="Roboto" pitchFamily="34" charset="0"/>
                <a:ea typeface="Roboto" pitchFamily="34" charset="-122"/>
                <a:cs typeface="Roboto" pitchFamily="34" charset="-120"/>
              </a:rPr>
              <a:t>el seu territori agrícola</a:t>
            </a:r>
            <a:endParaRPr lang="en-US" sz="1800" dirty="0"/>
          </a:p>
        </p:txBody>
      </p:sp>
      <p:sp>
        <p:nvSpPr>
          <p:cNvPr id="12" name="Cercle icona"/>
          <p:cNvSpPr/>
          <p:nvPr/>
        </p:nvSpPr>
        <p:spPr>
          <a:xfrm>
            <a:off x="8001000" y="2944368"/>
            <a:ext cx="566928" cy="566928"/>
          </a:xfrm>
          <a:prstGeom prst="ellipse">
            <a:avLst/>
          </a:prstGeom>
          <a:solidFill>
            <a:srgbClr val="E6F4EA"/>
          </a:solidFill>
          <a:ln/>
        </p:spPr>
      </p:sp>
      <p:pic>
        <p:nvPicPr>
          <p:cNvPr id="13" name="Icona TbUsersGroup" descr="/home/claude/work/build/img/ic/TbUsersGroup-g.png">    </p:cNvPr>
          <p:cNvPicPr>
            <a:picLocks noChangeAspect="1"/>
          </p:cNvPicPr>
          <p:nvPr/>
        </p:nvPicPr>
        <p:blipFill>
          <a:blip r:embed="rId3"/>
          <a:stretch>
            <a:fillRect/>
          </a:stretch>
        </p:blipFill>
        <p:spPr>
          <a:xfrm>
            <a:off x="8125724" y="3069092"/>
            <a:ext cx="317480" cy="317480"/>
          </a:xfrm>
          <a:prstGeom prst="rect">
            <a:avLst/>
          </a:prstGeom>
        </p:spPr>
      </p:pic>
      <p:sp>
        <p:nvSpPr>
          <p:cNvPr id="14" name="Text 9"/>
          <p:cNvSpPr txBox="1"/>
          <p:nvPr/>
        </p:nvSpPr>
        <p:spPr>
          <a:xfrm>
            <a:off x="8769096" y="2944368"/>
            <a:ext cx="2873959" cy="658368"/>
          </a:xfrm>
          <a:prstGeom prst="rect">
            <a:avLst/>
          </a:prstGeom>
          <a:noFill/>
          <a:ln/>
        </p:spPr>
        <p:txBody>
          <a:bodyPr wrap="square" lIns="0" tIns="0" rIns="0" bIns="0" rtlCol="0" anchor="ctr"/>
          <a:lstStyle/>
          <a:p>
            <a:pPr indent="0" marL="0">
              <a:buNone/>
            </a:pPr>
            <a:r>
              <a:rPr lang="en-US" sz="1800" dirty="0">
                <a:solidFill>
                  <a:srgbClr val="202124"/>
                </a:solidFill>
                <a:latin typeface="Roboto" pitchFamily="34" charset="0"/>
                <a:ea typeface="Roboto" pitchFamily="34" charset="-122"/>
                <a:cs typeface="Roboto" pitchFamily="34" charset="-120"/>
              </a:rPr>
              <a:t>el seu govern</a:t>
            </a:r>
            <a:endParaRPr lang="en-US" sz="1800" dirty="0"/>
          </a:p>
        </p:txBody>
      </p:sp>
      <p:sp>
        <p:nvSpPr>
          <p:cNvPr id="15" name="Cercle icona"/>
          <p:cNvSpPr/>
          <p:nvPr/>
        </p:nvSpPr>
        <p:spPr>
          <a:xfrm>
            <a:off x="8001000" y="3694176"/>
            <a:ext cx="566928" cy="566928"/>
          </a:xfrm>
          <a:prstGeom prst="ellipse">
            <a:avLst/>
          </a:prstGeom>
          <a:solidFill>
            <a:srgbClr val="E6F4EA"/>
          </a:solidFill>
          <a:ln/>
        </p:spPr>
      </p:sp>
      <p:pic>
        <p:nvPicPr>
          <p:cNvPr id="16" name="Icona TbScale" descr="/home/claude/work/build/img/ic/TbScale-g.png">    </p:cNvPr>
          <p:cNvPicPr>
            <a:picLocks noChangeAspect="1"/>
          </p:cNvPicPr>
          <p:nvPr/>
        </p:nvPicPr>
        <p:blipFill>
          <a:blip r:embed="rId4"/>
          <a:stretch>
            <a:fillRect/>
          </a:stretch>
        </p:blipFill>
        <p:spPr>
          <a:xfrm>
            <a:off x="8125724" y="3818900"/>
            <a:ext cx="317480" cy="317480"/>
          </a:xfrm>
          <a:prstGeom prst="rect">
            <a:avLst/>
          </a:prstGeom>
        </p:spPr>
      </p:pic>
      <p:sp>
        <p:nvSpPr>
          <p:cNvPr id="17" name="Text 11"/>
          <p:cNvSpPr txBox="1"/>
          <p:nvPr/>
        </p:nvSpPr>
        <p:spPr>
          <a:xfrm>
            <a:off x="8769096" y="3694176"/>
            <a:ext cx="2873959" cy="658368"/>
          </a:xfrm>
          <a:prstGeom prst="rect">
            <a:avLst/>
          </a:prstGeom>
          <a:noFill/>
          <a:ln/>
        </p:spPr>
        <p:txBody>
          <a:bodyPr wrap="square" lIns="0" tIns="0" rIns="0" bIns="0" rtlCol="0" anchor="ctr"/>
          <a:lstStyle/>
          <a:p>
            <a:pPr indent="0" marL="0">
              <a:buNone/>
            </a:pPr>
            <a:r>
              <a:rPr lang="en-US" sz="1800" dirty="0">
                <a:solidFill>
                  <a:srgbClr val="202124"/>
                </a:solidFill>
                <a:latin typeface="Roboto" pitchFamily="34" charset="0"/>
                <a:ea typeface="Roboto" pitchFamily="34" charset="-122"/>
                <a:cs typeface="Roboto" pitchFamily="34" charset="-120"/>
              </a:rPr>
              <a:t>les seves lleis</a:t>
            </a:r>
            <a:endParaRPr lang="en-US" sz="1800" dirty="0"/>
          </a:p>
        </p:txBody>
      </p:sp>
      <p:sp>
        <p:nvSpPr>
          <p:cNvPr id="18" name="Cercle icona"/>
          <p:cNvSpPr/>
          <p:nvPr/>
        </p:nvSpPr>
        <p:spPr>
          <a:xfrm>
            <a:off x="8001000" y="4443984"/>
            <a:ext cx="566928" cy="566928"/>
          </a:xfrm>
          <a:prstGeom prst="ellipse">
            <a:avLst/>
          </a:prstGeom>
          <a:solidFill>
            <a:srgbClr val="E6F4EA"/>
          </a:solidFill>
          <a:ln/>
        </p:spPr>
      </p:sp>
      <p:pic>
        <p:nvPicPr>
          <p:cNvPr id="19" name="Icona TbCoins" descr="/home/claude/work/build/img/ic/TbCoins-g.png">    </p:cNvPr>
          <p:cNvPicPr>
            <a:picLocks noChangeAspect="1"/>
          </p:cNvPicPr>
          <p:nvPr/>
        </p:nvPicPr>
        <p:blipFill>
          <a:blip r:embed="rId5"/>
          <a:stretch>
            <a:fillRect/>
          </a:stretch>
        </p:blipFill>
        <p:spPr>
          <a:xfrm>
            <a:off x="8125724" y="4568708"/>
            <a:ext cx="317480" cy="317480"/>
          </a:xfrm>
          <a:prstGeom prst="rect">
            <a:avLst/>
          </a:prstGeom>
        </p:spPr>
      </p:pic>
      <p:sp>
        <p:nvSpPr>
          <p:cNvPr id="20" name="Text 13"/>
          <p:cNvSpPr txBox="1"/>
          <p:nvPr/>
        </p:nvSpPr>
        <p:spPr>
          <a:xfrm>
            <a:off x="8769096" y="4443984"/>
            <a:ext cx="2873959" cy="658368"/>
          </a:xfrm>
          <a:prstGeom prst="rect">
            <a:avLst/>
          </a:prstGeom>
          <a:noFill/>
          <a:ln/>
        </p:spPr>
        <p:txBody>
          <a:bodyPr wrap="square" lIns="0" tIns="0" rIns="0" bIns="0" rtlCol="0" anchor="ctr"/>
          <a:lstStyle/>
          <a:p>
            <a:pPr indent="0" marL="0">
              <a:buNone/>
            </a:pPr>
            <a:r>
              <a:rPr lang="en-US" sz="1800" dirty="0">
                <a:solidFill>
                  <a:srgbClr val="202124"/>
                </a:solidFill>
                <a:latin typeface="Roboto" pitchFamily="34" charset="0"/>
                <a:ea typeface="Roboto" pitchFamily="34" charset="-122"/>
                <a:cs typeface="Roboto" pitchFamily="34" charset="-120"/>
              </a:rPr>
              <a:t>la seva moneda</a:t>
            </a:r>
            <a:endParaRPr lang="en-US" sz="1800" dirty="0"/>
          </a:p>
        </p:txBody>
      </p:sp>
      <p:sp>
        <p:nvSpPr>
          <p:cNvPr id="21" name="Cercle icona"/>
          <p:cNvSpPr/>
          <p:nvPr/>
        </p:nvSpPr>
        <p:spPr>
          <a:xfrm>
            <a:off x="8001000" y="5193792"/>
            <a:ext cx="566928" cy="566928"/>
          </a:xfrm>
          <a:prstGeom prst="ellipse">
            <a:avLst/>
          </a:prstGeom>
          <a:solidFill>
            <a:srgbClr val="E6F4EA"/>
          </a:solidFill>
          <a:ln/>
        </p:spPr>
      </p:sp>
      <p:pic>
        <p:nvPicPr>
          <p:cNvPr id="22" name="Icona TbShield" descr="/home/claude/work/build/img/ic/TbShield-g.png">    </p:cNvPr>
          <p:cNvPicPr>
            <a:picLocks noChangeAspect="1"/>
          </p:cNvPicPr>
          <p:nvPr/>
        </p:nvPicPr>
        <p:blipFill>
          <a:blip r:embed="rId6"/>
          <a:stretch>
            <a:fillRect/>
          </a:stretch>
        </p:blipFill>
        <p:spPr>
          <a:xfrm>
            <a:off x="8125724" y="5318516"/>
            <a:ext cx="317480" cy="317480"/>
          </a:xfrm>
          <a:prstGeom prst="rect">
            <a:avLst/>
          </a:prstGeom>
        </p:spPr>
      </p:pic>
      <p:sp>
        <p:nvSpPr>
          <p:cNvPr id="23" name="Text 15"/>
          <p:cNvSpPr txBox="1"/>
          <p:nvPr/>
        </p:nvSpPr>
        <p:spPr>
          <a:xfrm>
            <a:off x="8769096" y="5193792"/>
            <a:ext cx="2873959" cy="658368"/>
          </a:xfrm>
          <a:prstGeom prst="rect">
            <a:avLst/>
          </a:prstGeom>
          <a:noFill/>
          <a:ln/>
        </p:spPr>
        <p:txBody>
          <a:bodyPr wrap="square" lIns="0" tIns="0" rIns="0" bIns="0" rtlCol="0" anchor="ctr"/>
          <a:lstStyle/>
          <a:p>
            <a:pPr indent="0" marL="0">
              <a:buNone/>
            </a:pPr>
            <a:r>
              <a:rPr lang="en-US" sz="1800" dirty="0">
                <a:solidFill>
                  <a:srgbClr val="202124"/>
                </a:solidFill>
                <a:latin typeface="Roboto" pitchFamily="34" charset="0"/>
                <a:ea typeface="Roboto" pitchFamily="34" charset="-122"/>
                <a:cs typeface="Roboto" pitchFamily="34" charset="-120"/>
              </a:rPr>
              <a:t>el seu exèrcit</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2</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L'acròpolis i l'àgora</a:t>
            </a:r>
            <a:endParaRPr lang="en-US" sz="2800" dirty="0"/>
          </a:p>
        </p:txBody>
      </p:sp>
      <p:sp>
        <p:nvSpPr>
          <p:cNvPr id="5" name="Fons L'Acròpolis d'Atenes, la «ciutat alta», vista des del turó de Filopap"/>
          <p:cNvSpPr/>
          <p:nvPr/>
        </p:nvSpPr>
        <p:spPr>
          <a:xfrm>
            <a:off x="548640" y="1371600"/>
            <a:ext cx="6583680" cy="4389120"/>
          </a:xfrm>
          <a:prstGeom prst="roundRect">
            <a:avLst>
              <a:gd name="adj" fmla="val 2292"/>
            </a:avLst>
          </a:prstGeom>
          <a:solidFill>
            <a:srgbClr val="F6F8FB"/>
          </a:solidFill>
          <a:ln/>
        </p:spPr>
      </p:sp>
      <p:pic>
        <p:nvPicPr>
          <p:cNvPr id="6" name="L'Acròpolis d'Atenes, la «ciutat alta», vista des del turó de Filopap" descr="/home/claude/work/build/img/acropolis.jpg">    </p:cNvPr>
          <p:cNvPicPr>
            <a:picLocks noChangeAspect="1"/>
          </p:cNvPicPr>
          <p:nvPr/>
        </p:nvPicPr>
        <p:blipFill>
          <a:blip r:embed="rId1"/>
          <a:stretch>
            <a:fillRect/>
          </a:stretch>
        </p:blipFill>
        <p:spPr>
          <a:xfrm>
            <a:off x="555224" y="1371600"/>
            <a:ext cx="6570513" cy="4389120"/>
          </a:xfrm>
          <a:prstGeom prst="rect">
            <a:avLst/>
          </a:prstGeom>
        </p:spPr>
      </p:pic>
      <p:sp>
        <p:nvSpPr>
          <p:cNvPr id="7" name="Text 4"/>
          <p:cNvSpPr txBox="1"/>
          <p:nvPr/>
        </p:nvSpPr>
        <p:spPr>
          <a:xfrm>
            <a:off x="548640" y="5852160"/>
            <a:ext cx="6583680"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L'Acròpolis d'Atenes, la «ciutat alta», vista des del turó de Filopap. Foto: Jakub Hałun, Wikimedia Commons, CC BY 4.0.</a:t>
            </a:r>
            <a:endParaRPr lang="en-US" sz="1000" dirty="0"/>
          </a:p>
        </p:txBody>
      </p:sp>
      <p:sp>
        <p:nvSpPr>
          <p:cNvPr id="8" name="Targeta L'acròpolis"/>
          <p:cNvSpPr/>
          <p:nvPr/>
        </p:nvSpPr>
        <p:spPr>
          <a:xfrm>
            <a:off x="7406640" y="1371600"/>
            <a:ext cx="4236415" cy="2194560"/>
          </a:xfrm>
          <a:prstGeom prst="roundRect">
            <a:avLst>
              <a:gd name="adj" fmla="val 4583"/>
            </a:avLst>
          </a:prstGeom>
          <a:solidFill>
            <a:srgbClr val="FFFFFF"/>
          </a:solidFill>
          <a:ln w="12700">
            <a:solidFill>
              <a:srgbClr val="DADCE0"/>
            </a:solidFill>
            <a:prstDash val="solid"/>
          </a:ln>
        </p:spPr>
      </p:sp>
      <p:sp>
        <p:nvSpPr>
          <p:cNvPr id="9" name="Cercle icona"/>
          <p:cNvSpPr/>
          <p:nvPr/>
        </p:nvSpPr>
        <p:spPr>
          <a:xfrm>
            <a:off x="7635240" y="1600200"/>
            <a:ext cx="640080" cy="640080"/>
          </a:xfrm>
          <a:prstGeom prst="ellipse">
            <a:avLst/>
          </a:prstGeom>
          <a:solidFill>
            <a:srgbClr val="E6F4EA"/>
          </a:solidFill>
          <a:ln/>
        </p:spPr>
      </p:sp>
      <p:pic>
        <p:nvPicPr>
          <p:cNvPr id="10" name="Icona TbBuildingBank" descr="/home/claude/work/build/img/ic/TbBuildingBank-g.png">    </p:cNvPr>
          <p:cNvPicPr>
            <a:picLocks noChangeAspect="1"/>
          </p:cNvPicPr>
          <p:nvPr/>
        </p:nvPicPr>
        <p:blipFill>
          <a:blip r:embed="rId2"/>
          <a:stretch>
            <a:fillRect/>
          </a:stretch>
        </p:blipFill>
        <p:spPr>
          <a:xfrm>
            <a:off x="7776058" y="1741018"/>
            <a:ext cx="358445" cy="358445"/>
          </a:xfrm>
          <a:prstGeom prst="rect">
            <a:avLst/>
          </a:prstGeom>
        </p:spPr>
      </p:pic>
      <p:sp>
        <p:nvSpPr>
          <p:cNvPr id="11" name="Text 7"/>
          <p:cNvSpPr txBox="1"/>
          <p:nvPr/>
        </p:nvSpPr>
        <p:spPr>
          <a:xfrm>
            <a:off x="7635240" y="2377440"/>
            <a:ext cx="3779215" cy="289560"/>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L'acròpolis</a:t>
            </a:r>
            <a:endParaRPr lang="en-US" sz="1900" dirty="0"/>
          </a:p>
        </p:txBody>
      </p:sp>
      <p:sp>
        <p:nvSpPr>
          <p:cNvPr id="12" name="Text 8"/>
          <p:cNvSpPr txBox="1"/>
          <p:nvPr/>
        </p:nvSpPr>
        <p:spPr>
          <a:xfrm>
            <a:off x="7635240" y="2758440"/>
            <a:ext cx="3779215" cy="670560"/>
          </a:xfrm>
          <a:prstGeom prst="rect">
            <a:avLst/>
          </a:prstGeom>
          <a:noFill/>
          <a:ln/>
        </p:spPr>
        <p:txBody>
          <a:bodyPr wrap="square" lIns="0" tIns="0" rIns="0" bIns="0" rtlCol="0" anchor="t"/>
          <a:lstStyle/>
          <a:p>
            <a:pPr indent="0" marL="0">
              <a:buNone/>
            </a:pPr>
            <a:r>
              <a:rPr lang="en-US" sz="1650" dirty="0">
                <a:solidFill>
                  <a:srgbClr val="202124"/>
                </a:solidFill>
                <a:latin typeface="Roboto" pitchFamily="34" charset="0"/>
                <a:ea typeface="Roboto" pitchFamily="34" charset="-122"/>
                <a:cs typeface="Roboto" pitchFamily="34" charset="-120"/>
              </a:rPr>
              <a:t>El recinte fortificat del turó, amb els temples principals.</a:t>
            </a:r>
            <a:endParaRPr lang="en-US" sz="1650" dirty="0"/>
          </a:p>
        </p:txBody>
      </p:sp>
      <p:sp>
        <p:nvSpPr>
          <p:cNvPr id="13" name="Targeta L'àgora"/>
          <p:cNvSpPr/>
          <p:nvPr/>
        </p:nvSpPr>
        <p:spPr>
          <a:xfrm>
            <a:off x="7406640" y="3794760"/>
            <a:ext cx="4236415" cy="2194560"/>
          </a:xfrm>
          <a:prstGeom prst="roundRect">
            <a:avLst>
              <a:gd name="adj" fmla="val 4583"/>
            </a:avLst>
          </a:prstGeom>
          <a:solidFill>
            <a:srgbClr val="FFFFFF"/>
          </a:solidFill>
          <a:ln w="12700">
            <a:solidFill>
              <a:srgbClr val="DADCE0"/>
            </a:solidFill>
            <a:prstDash val="solid"/>
          </a:ln>
        </p:spPr>
      </p:sp>
      <p:sp>
        <p:nvSpPr>
          <p:cNvPr id="14" name="Cercle icona"/>
          <p:cNvSpPr/>
          <p:nvPr/>
        </p:nvSpPr>
        <p:spPr>
          <a:xfrm>
            <a:off x="7635240" y="4023360"/>
            <a:ext cx="640080" cy="640080"/>
          </a:xfrm>
          <a:prstGeom prst="ellipse">
            <a:avLst/>
          </a:prstGeom>
          <a:solidFill>
            <a:srgbClr val="E6F4EA"/>
          </a:solidFill>
          <a:ln/>
        </p:spPr>
      </p:sp>
      <p:pic>
        <p:nvPicPr>
          <p:cNvPr id="15" name="Icona TbBuildingStore" descr="/home/claude/work/build/img/ic/TbBuildingStore-g.png">    </p:cNvPr>
          <p:cNvPicPr>
            <a:picLocks noChangeAspect="1"/>
          </p:cNvPicPr>
          <p:nvPr/>
        </p:nvPicPr>
        <p:blipFill>
          <a:blip r:embed="rId3"/>
          <a:stretch>
            <a:fillRect/>
          </a:stretch>
        </p:blipFill>
        <p:spPr>
          <a:xfrm>
            <a:off x="7776058" y="4164178"/>
            <a:ext cx="358445" cy="358445"/>
          </a:xfrm>
          <a:prstGeom prst="rect">
            <a:avLst/>
          </a:prstGeom>
        </p:spPr>
      </p:pic>
      <p:sp>
        <p:nvSpPr>
          <p:cNvPr id="16" name="Text 11"/>
          <p:cNvSpPr txBox="1"/>
          <p:nvPr/>
        </p:nvSpPr>
        <p:spPr>
          <a:xfrm>
            <a:off x="7635240" y="4800600"/>
            <a:ext cx="3779215" cy="289560"/>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L'àgora</a:t>
            </a:r>
            <a:endParaRPr lang="en-US" sz="1900" dirty="0"/>
          </a:p>
        </p:txBody>
      </p:sp>
      <p:sp>
        <p:nvSpPr>
          <p:cNvPr id="17" name="Text 12"/>
          <p:cNvSpPr txBox="1"/>
          <p:nvPr/>
        </p:nvSpPr>
        <p:spPr>
          <a:xfrm>
            <a:off x="7635240" y="5181600"/>
            <a:ext cx="3779215" cy="670560"/>
          </a:xfrm>
          <a:prstGeom prst="rect">
            <a:avLst/>
          </a:prstGeom>
          <a:noFill/>
          <a:ln/>
        </p:spPr>
        <p:txBody>
          <a:bodyPr wrap="square" lIns="0" tIns="0" rIns="0" bIns="0" rtlCol="0" anchor="t"/>
          <a:lstStyle/>
          <a:p>
            <a:pPr indent="0" marL="0">
              <a:buNone/>
            </a:pPr>
            <a:r>
              <a:rPr lang="en-US" sz="1650" dirty="0">
                <a:solidFill>
                  <a:srgbClr val="202124"/>
                </a:solidFill>
                <a:latin typeface="Roboto" pitchFamily="34" charset="0"/>
                <a:ea typeface="Roboto" pitchFamily="34" charset="-122"/>
                <a:cs typeface="Roboto" pitchFamily="34" charset="-120"/>
              </a:rPr>
              <a:t>La plaça pública de la ciutat baixa, amb el mercat. Era el cor de la polis.</a:t>
            </a:r>
            <a:endParaRPr lang="en-US" sz="16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2</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Qui manava a Atenes?</a:t>
            </a:r>
            <a:endParaRPr lang="en-US" sz="2800" dirty="0"/>
          </a:p>
        </p:txBody>
      </p:sp>
      <p:sp>
        <p:nvSpPr>
          <p:cNvPr id="5" name="Text 3"/>
          <p:cNvSpPr txBox="1"/>
          <p:nvPr/>
        </p:nvSpPr>
        <p:spPr>
          <a:xfrm>
            <a:off x="548640" y="1371600"/>
            <a:ext cx="11094415" cy="82296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Durant segles, el poder va anar canviant de mans. Al segle VI aC, Atenes va inventar una cosa mai vista.</a:t>
            </a:r>
            <a:endParaRPr lang="en-US" sz="1800" dirty="0"/>
          </a:p>
        </p:txBody>
      </p:sp>
      <p:sp>
        <p:nvSpPr>
          <p:cNvPr id="6" name="Targeta Reis"/>
          <p:cNvSpPr/>
          <p:nvPr/>
        </p:nvSpPr>
        <p:spPr>
          <a:xfrm>
            <a:off x="548640" y="2240280"/>
            <a:ext cx="2464994" cy="2468880"/>
          </a:xfrm>
          <a:prstGeom prst="roundRect">
            <a:avLst>
              <a:gd name="adj" fmla="val 4080"/>
            </a:avLst>
          </a:prstGeom>
          <a:solidFill>
            <a:srgbClr val="FFFFFF"/>
          </a:solidFill>
          <a:ln w="12700">
            <a:solidFill>
              <a:srgbClr val="DADCE0"/>
            </a:solidFill>
            <a:prstDash val="solid"/>
          </a:ln>
        </p:spPr>
      </p:sp>
      <p:sp>
        <p:nvSpPr>
          <p:cNvPr id="7" name="Cercle icona"/>
          <p:cNvSpPr/>
          <p:nvPr/>
        </p:nvSpPr>
        <p:spPr>
          <a:xfrm>
            <a:off x="777240" y="2468880"/>
            <a:ext cx="731520" cy="731520"/>
          </a:xfrm>
          <a:prstGeom prst="ellipse">
            <a:avLst/>
          </a:prstGeom>
          <a:solidFill>
            <a:srgbClr val="E6F4EA"/>
          </a:solidFill>
          <a:ln/>
        </p:spPr>
      </p:sp>
      <p:pic>
        <p:nvPicPr>
          <p:cNvPr id="8" name="Icona TbCrown" descr="/home/claude/work/build/img/ic/TbCrown-g.png">    </p:cNvPr>
          <p:cNvPicPr>
            <a:picLocks noChangeAspect="1"/>
          </p:cNvPicPr>
          <p:nvPr/>
        </p:nvPicPr>
        <p:blipFill>
          <a:blip r:embed="rId1"/>
          <a:stretch>
            <a:fillRect/>
          </a:stretch>
        </p:blipFill>
        <p:spPr>
          <a:xfrm>
            <a:off x="938174" y="2629814"/>
            <a:ext cx="409651" cy="409651"/>
          </a:xfrm>
          <a:prstGeom prst="rect">
            <a:avLst/>
          </a:prstGeom>
        </p:spPr>
      </p:pic>
      <p:sp>
        <p:nvSpPr>
          <p:cNvPr id="9" name="Text 6"/>
          <p:cNvSpPr txBox="1"/>
          <p:nvPr/>
        </p:nvSpPr>
        <p:spPr>
          <a:xfrm>
            <a:off x="777240" y="3337560"/>
            <a:ext cx="2007794" cy="289560"/>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Reis</a:t>
            </a:r>
            <a:endParaRPr lang="en-US" sz="1900" dirty="0"/>
          </a:p>
        </p:txBody>
      </p:sp>
      <p:sp>
        <p:nvSpPr>
          <p:cNvPr id="10" name="Text 7"/>
          <p:cNvSpPr txBox="1"/>
          <p:nvPr/>
        </p:nvSpPr>
        <p:spPr>
          <a:xfrm>
            <a:off x="777240" y="3718560"/>
            <a:ext cx="2007794" cy="85344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Un sol home, el rei.</a:t>
            </a:r>
            <a:endParaRPr lang="en-US" sz="1550" dirty="0"/>
          </a:p>
        </p:txBody>
      </p:sp>
      <p:sp>
        <p:nvSpPr>
          <p:cNvPr id="11" name="Targeta Nobles"/>
          <p:cNvSpPr/>
          <p:nvPr/>
        </p:nvSpPr>
        <p:spPr>
          <a:xfrm>
            <a:off x="3425114" y="2240280"/>
            <a:ext cx="2464994" cy="2468880"/>
          </a:xfrm>
          <a:prstGeom prst="roundRect">
            <a:avLst>
              <a:gd name="adj" fmla="val 4080"/>
            </a:avLst>
          </a:prstGeom>
          <a:solidFill>
            <a:srgbClr val="FFFFFF"/>
          </a:solidFill>
          <a:ln w="12700">
            <a:solidFill>
              <a:srgbClr val="DADCE0"/>
            </a:solidFill>
            <a:prstDash val="solid"/>
          </a:ln>
        </p:spPr>
      </p:sp>
      <p:sp>
        <p:nvSpPr>
          <p:cNvPr id="12" name="Cercle icona"/>
          <p:cNvSpPr/>
          <p:nvPr/>
        </p:nvSpPr>
        <p:spPr>
          <a:xfrm>
            <a:off x="3653714" y="2468880"/>
            <a:ext cx="731520" cy="731520"/>
          </a:xfrm>
          <a:prstGeom prst="ellipse">
            <a:avLst/>
          </a:prstGeom>
          <a:solidFill>
            <a:srgbClr val="E6F4EA"/>
          </a:solidFill>
          <a:ln/>
        </p:spPr>
      </p:sp>
      <p:pic>
        <p:nvPicPr>
          <p:cNvPr id="13" name="Icona TbUsers" descr="/home/claude/work/build/img/ic/TbUsers-g.png">    </p:cNvPr>
          <p:cNvPicPr>
            <a:picLocks noChangeAspect="1"/>
          </p:cNvPicPr>
          <p:nvPr/>
        </p:nvPicPr>
        <p:blipFill>
          <a:blip r:embed="rId2"/>
          <a:stretch>
            <a:fillRect/>
          </a:stretch>
        </p:blipFill>
        <p:spPr>
          <a:xfrm>
            <a:off x="3814648" y="2629814"/>
            <a:ext cx="409651" cy="409651"/>
          </a:xfrm>
          <a:prstGeom prst="rect">
            <a:avLst/>
          </a:prstGeom>
        </p:spPr>
      </p:pic>
      <p:sp>
        <p:nvSpPr>
          <p:cNvPr id="14" name="Text 10"/>
          <p:cNvSpPr txBox="1"/>
          <p:nvPr/>
        </p:nvSpPr>
        <p:spPr>
          <a:xfrm>
            <a:off x="3653714" y="3337560"/>
            <a:ext cx="2007794" cy="289560"/>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Nobles</a:t>
            </a:r>
            <a:endParaRPr lang="en-US" sz="1900" dirty="0"/>
          </a:p>
        </p:txBody>
      </p:sp>
      <p:sp>
        <p:nvSpPr>
          <p:cNvPr id="15" name="Text 11"/>
          <p:cNvSpPr txBox="1"/>
          <p:nvPr/>
        </p:nvSpPr>
        <p:spPr>
          <a:xfrm>
            <a:off x="3653714" y="3718560"/>
            <a:ext cx="2007794" cy="85344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Uns pocs. L'aristocràcia, «el govern dels millors».</a:t>
            </a:r>
            <a:endParaRPr lang="en-US" sz="1550" dirty="0"/>
          </a:p>
        </p:txBody>
      </p:sp>
      <p:sp>
        <p:nvSpPr>
          <p:cNvPr id="16" name="Targeta Tirans"/>
          <p:cNvSpPr/>
          <p:nvPr/>
        </p:nvSpPr>
        <p:spPr>
          <a:xfrm>
            <a:off x="6301588" y="2240280"/>
            <a:ext cx="2464994" cy="2468880"/>
          </a:xfrm>
          <a:prstGeom prst="roundRect">
            <a:avLst>
              <a:gd name="adj" fmla="val 4080"/>
            </a:avLst>
          </a:prstGeom>
          <a:solidFill>
            <a:srgbClr val="FFFFFF"/>
          </a:solidFill>
          <a:ln w="12700">
            <a:solidFill>
              <a:srgbClr val="DADCE0"/>
            </a:solidFill>
            <a:prstDash val="solid"/>
          </a:ln>
        </p:spPr>
      </p:sp>
      <p:sp>
        <p:nvSpPr>
          <p:cNvPr id="17" name="Cercle icona"/>
          <p:cNvSpPr/>
          <p:nvPr/>
        </p:nvSpPr>
        <p:spPr>
          <a:xfrm>
            <a:off x="6530188" y="2468880"/>
            <a:ext cx="731520" cy="731520"/>
          </a:xfrm>
          <a:prstGeom prst="ellipse">
            <a:avLst/>
          </a:prstGeom>
          <a:solidFill>
            <a:srgbClr val="E6F4EA"/>
          </a:solidFill>
          <a:ln/>
        </p:spPr>
      </p:sp>
      <p:pic>
        <p:nvPicPr>
          <p:cNvPr id="18" name="Icona TbUserBolt" descr="/home/claude/work/build/img/ic/TbUserBolt-g.png">    </p:cNvPr>
          <p:cNvPicPr>
            <a:picLocks noChangeAspect="1"/>
          </p:cNvPicPr>
          <p:nvPr/>
        </p:nvPicPr>
        <p:blipFill>
          <a:blip r:embed="rId3"/>
          <a:stretch>
            <a:fillRect/>
          </a:stretch>
        </p:blipFill>
        <p:spPr>
          <a:xfrm>
            <a:off x="6691122" y="2629814"/>
            <a:ext cx="409651" cy="409651"/>
          </a:xfrm>
          <a:prstGeom prst="rect">
            <a:avLst/>
          </a:prstGeom>
        </p:spPr>
      </p:pic>
      <p:sp>
        <p:nvSpPr>
          <p:cNvPr id="19" name="Text 14"/>
          <p:cNvSpPr txBox="1"/>
          <p:nvPr/>
        </p:nvSpPr>
        <p:spPr>
          <a:xfrm>
            <a:off x="6530188" y="3337560"/>
            <a:ext cx="2007794" cy="289560"/>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Tirans</a:t>
            </a:r>
            <a:endParaRPr lang="en-US" sz="1900" dirty="0"/>
          </a:p>
        </p:txBody>
      </p:sp>
      <p:sp>
        <p:nvSpPr>
          <p:cNvPr id="20" name="Text 15"/>
          <p:cNvSpPr txBox="1"/>
          <p:nvPr/>
        </p:nvSpPr>
        <p:spPr>
          <a:xfrm>
            <a:off x="6530188" y="3718560"/>
            <a:ext cx="2007794" cy="85344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Fins i tot va tenir tirans.</a:t>
            </a:r>
            <a:endParaRPr lang="en-US" sz="1550" dirty="0"/>
          </a:p>
        </p:txBody>
      </p:sp>
      <p:sp>
        <p:nvSpPr>
          <p:cNvPr id="21" name="Targeta Tots els ciutadans"/>
          <p:cNvSpPr/>
          <p:nvPr/>
        </p:nvSpPr>
        <p:spPr>
          <a:xfrm>
            <a:off x="9178061" y="2240280"/>
            <a:ext cx="2464994" cy="2468880"/>
          </a:xfrm>
          <a:prstGeom prst="roundRect">
            <a:avLst>
              <a:gd name="adj" fmla="val 4080"/>
            </a:avLst>
          </a:prstGeom>
          <a:solidFill>
            <a:srgbClr val="188038"/>
          </a:solidFill>
          <a:ln/>
        </p:spPr>
      </p:sp>
      <p:sp>
        <p:nvSpPr>
          <p:cNvPr id="22" name="Cercle icona"/>
          <p:cNvSpPr/>
          <p:nvPr/>
        </p:nvSpPr>
        <p:spPr>
          <a:xfrm>
            <a:off x="9406661" y="2468880"/>
            <a:ext cx="731520" cy="731520"/>
          </a:xfrm>
          <a:prstGeom prst="ellipse">
            <a:avLst/>
          </a:prstGeom>
          <a:solidFill>
            <a:srgbClr val="FFFFFF"/>
          </a:solidFill>
          <a:ln/>
        </p:spPr>
      </p:sp>
      <p:pic>
        <p:nvPicPr>
          <p:cNvPr id="23" name="Icona TbUsersGroup" descr="/home/claude/work/build/img/ic/TbUsersGroup-g.png">    </p:cNvPr>
          <p:cNvPicPr>
            <a:picLocks noChangeAspect="1"/>
          </p:cNvPicPr>
          <p:nvPr/>
        </p:nvPicPr>
        <p:blipFill>
          <a:blip r:embed="rId4"/>
          <a:stretch>
            <a:fillRect/>
          </a:stretch>
        </p:blipFill>
        <p:spPr>
          <a:xfrm>
            <a:off x="9567596" y="2629814"/>
            <a:ext cx="409651" cy="409651"/>
          </a:xfrm>
          <a:prstGeom prst="rect">
            <a:avLst/>
          </a:prstGeom>
        </p:spPr>
      </p:pic>
      <p:sp>
        <p:nvSpPr>
          <p:cNvPr id="24" name="Text 18"/>
          <p:cNvSpPr txBox="1"/>
          <p:nvPr/>
        </p:nvSpPr>
        <p:spPr>
          <a:xfrm>
            <a:off x="9406661" y="3337560"/>
            <a:ext cx="2007794" cy="289560"/>
          </a:xfrm>
          <a:prstGeom prst="rect">
            <a:avLst/>
          </a:prstGeom>
          <a:noFill/>
          <a:ln/>
        </p:spPr>
        <p:txBody>
          <a:bodyPr wrap="square" lIns="0" tIns="0" rIns="0" bIns="0" rtlCol="0" anchor="t"/>
          <a:lstStyle/>
          <a:p>
            <a:pPr indent="0" marL="0">
              <a:buNone/>
            </a:pPr>
            <a:r>
              <a:rPr lang="en-US" sz="1900" b="1" dirty="0">
                <a:solidFill>
                  <a:srgbClr val="FFFFFF"/>
                </a:solidFill>
                <a:latin typeface="Roboto" pitchFamily="34" charset="0"/>
                <a:ea typeface="Roboto" pitchFamily="34" charset="-122"/>
                <a:cs typeface="Roboto" pitchFamily="34" charset="-120"/>
              </a:rPr>
              <a:t>Tots els ciutadans</a:t>
            </a:r>
            <a:endParaRPr lang="en-US" sz="1900" dirty="0"/>
          </a:p>
        </p:txBody>
      </p:sp>
      <p:sp>
        <p:nvSpPr>
          <p:cNvPr id="25" name="Text 19"/>
          <p:cNvSpPr txBox="1"/>
          <p:nvPr/>
        </p:nvSpPr>
        <p:spPr>
          <a:xfrm>
            <a:off x="9406661" y="3718560"/>
            <a:ext cx="2007794" cy="853440"/>
          </a:xfrm>
          <a:prstGeom prst="rect">
            <a:avLst/>
          </a:prstGeom>
          <a:noFill/>
          <a:ln/>
        </p:spPr>
        <p:txBody>
          <a:bodyPr wrap="square" lIns="0" tIns="0" rIns="0" bIns="0" rtlCol="0" anchor="t"/>
          <a:lstStyle/>
          <a:p>
            <a:pPr indent="0" marL="0">
              <a:buNone/>
            </a:pPr>
            <a:r>
              <a:rPr lang="en-US" sz="1550" dirty="0">
                <a:solidFill>
                  <a:srgbClr val="FFFFFF"/>
                </a:solidFill>
                <a:latin typeface="Roboto" pitchFamily="34" charset="0"/>
                <a:ea typeface="Roboto" pitchFamily="34" charset="-122"/>
                <a:cs typeface="Roboto" pitchFamily="34" charset="-120"/>
              </a:rPr>
              <a:t>Soló i Clístenes (508 aC) els donen el poder.</a:t>
            </a:r>
            <a:endParaRPr lang="en-US" sz="1550" dirty="0"/>
          </a:p>
        </p:txBody>
      </p:sp>
      <p:sp>
        <p:nvSpPr>
          <p:cNvPr id="26" name="Fletxa"/>
          <p:cNvSpPr/>
          <p:nvPr/>
        </p:nvSpPr>
        <p:spPr>
          <a:xfrm>
            <a:off x="3123362" y="3383280"/>
            <a:ext cx="182880" cy="274320"/>
          </a:xfrm>
          <a:prstGeom prst="chevron">
            <a:avLst/>
          </a:prstGeom>
          <a:solidFill>
            <a:srgbClr val="188038"/>
          </a:solidFill>
          <a:ln/>
        </p:spPr>
      </p:sp>
      <p:sp>
        <p:nvSpPr>
          <p:cNvPr id="27" name="Fletxa"/>
          <p:cNvSpPr/>
          <p:nvPr/>
        </p:nvSpPr>
        <p:spPr>
          <a:xfrm>
            <a:off x="5999836" y="3383280"/>
            <a:ext cx="182880" cy="274320"/>
          </a:xfrm>
          <a:prstGeom prst="chevron">
            <a:avLst/>
          </a:prstGeom>
          <a:solidFill>
            <a:srgbClr val="188038"/>
          </a:solidFill>
          <a:ln/>
        </p:spPr>
      </p:sp>
      <p:sp>
        <p:nvSpPr>
          <p:cNvPr id="28" name="Fletxa"/>
          <p:cNvSpPr/>
          <p:nvPr/>
        </p:nvSpPr>
        <p:spPr>
          <a:xfrm>
            <a:off x="8876309" y="3383280"/>
            <a:ext cx="182880" cy="274320"/>
          </a:xfrm>
          <a:prstGeom prst="chevron">
            <a:avLst/>
          </a:prstGeom>
          <a:solidFill>
            <a:srgbClr val="188038"/>
          </a:solidFill>
          <a:ln/>
        </p:spPr>
      </p:sp>
      <p:sp>
        <p:nvSpPr>
          <p:cNvPr id="29" name="Paraula clau · Democràcia"/>
          <p:cNvSpPr/>
          <p:nvPr/>
        </p:nvSpPr>
        <p:spPr>
          <a:xfrm>
            <a:off x="548640" y="4846320"/>
            <a:ext cx="11094415" cy="1143000"/>
          </a:xfrm>
          <a:prstGeom prst="roundRect">
            <a:avLst>
              <a:gd name="adj" fmla="val 8800"/>
            </a:avLst>
          </a:prstGeom>
          <a:solidFill>
            <a:srgbClr val="E6F4EA"/>
          </a:solidFill>
          <a:ln/>
        </p:spPr>
      </p:sp>
      <p:sp>
        <p:nvSpPr>
          <p:cNvPr id="30" name="Text 24"/>
          <p:cNvSpPr txBox="1"/>
          <p:nvPr/>
        </p:nvSpPr>
        <p:spPr>
          <a:xfrm>
            <a:off x="868680" y="5001768"/>
            <a:ext cx="1045433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Paraula clau · Democràcia</a:t>
            </a:r>
            <a:endParaRPr lang="en-US" sz="1400" dirty="0"/>
          </a:p>
        </p:txBody>
      </p:sp>
      <p:sp>
        <p:nvSpPr>
          <p:cNvPr id="31" name="Text 25"/>
          <p:cNvSpPr txBox="1"/>
          <p:nvPr/>
        </p:nvSpPr>
        <p:spPr>
          <a:xfrm>
            <a:off x="868680" y="5349240"/>
            <a:ext cx="10454335" cy="50292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Sistema de govern en què el poder resideix en el conjunt dels ciutadans. Literalment vol dir «govern del poble».</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2</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Com funcionava?</a:t>
            </a:r>
            <a:endParaRPr lang="en-US" sz="2800" dirty="0"/>
          </a:p>
        </p:txBody>
      </p:sp>
      <p:sp>
        <p:nvSpPr>
          <p:cNvPr id="5" name="Targeta L'Ekklesia"/>
          <p:cNvSpPr/>
          <p:nvPr/>
        </p:nvSpPr>
        <p:spPr>
          <a:xfrm>
            <a:off x="548640" y="1371600"/>
            <a:ext cx="2057949" cy="3520440"/>
          </a:xfrm>
          <a:prstGeom prst="roundRect">
            <a:avLst>
              <a:gd name="adj" fmla="val 4888"/>
            </a:avLst>
          </a:prstGeom>
          <a:solidFill>
            <a:srgbClr val="FFFFFF"/>
          </a:solidFill>
          <a:ln w="12700">
            <a:solidFill>
              <a:srgbClr val="DADCE0"/>
            </a:solidFill>
            <a:prstDash val="solid"/>
          </a:ln>
        </p:spPr>
      </p:sp>
      <p:sp>
        <p:nvSpPr>
          <p:cNvPr id="6" name="Cercle icona"/>
          <p:cNvSpPr/>
          <p:nvPr/>
        </p:nvSpPr>
        <p:spPr>
          <a:xfrm>
            <a:off x="777240" y="1600200"/>
            <a:ext cx="777240" cy="777240"/>
          </a:xfrm>
          <a:prstGeom prst="ellipse">
            <a:avLst/>
          </a:prstGeom>
          <a:solidFill>
            <a:srgbClr val="E6F4EA"/>
          </a:solidFill>
          <a:ln/>
        </p:spPr>
      </p:sp>
      <p:pic>
        <p:nvPicPr>
          <p:cNvPr id="7" name="Icona TbHandStop" descr="/home/claude/work/build/img/ic/TbHandStop-g.png">    </p:cNvPr>
          <p:cNvPicPr>
            <a:picLocks noChangeAspect="1"/>
          </p:cNvPicPr>
          <p:nvPr/>
        </p:nvPicPr>
        <p:blipFill>
          <a:blip r:embed="rId1"/>
          <a:stretch>
            <a:fillRect/>
          </a:stretch>
        </p:blipFill>
        <p:spPr>
          <a:xfrm>
            <a:off x="948233" y="1771193"/>
            <a:ext cx="435254" cy="435254"/>
          </a:xfrm>
          <a:prstGeom prst="rect">
            <a:avLst/>
          </a:prstGeom>
        </p:spPr>
      </p:pic>
      <p:sp>
        <p:nvSpPr>
          <p:cNvPr id="8" name="Text 5"/>
          <p:cNvSpPr txBox="1"/>
          <p:nvPr/>
        </p:nvSpPr>
        <p:spPr>
          <a:xfrm>
            <a:off x="777240" y="2514600"/>
            <a:ext cx="1600749" cy="274320"/>
          </a:xfrm>
          <a:prstGeom prst="rect">
            <a:avLst/>
          </a:prstGeom>
          <a:noFill/>
          <a:ln/>
        </p:spPr>
        <p:txBody>
          <a:bodyPr wrap="square" lIns="0" tIns="0" rIns="0" bIns="0" rtlCol="0" anchor="t"/>
          <a:lstStyle/>
          <a:p>
            <a:pPr indent="0" marL="0">
              <a:buNone/>
            </a:pPr>
            <a:r>
              <a:rPr lang="en-US" sz="1800" b="1" dirty="0">
                <a:solidFill>
                  <a:srgbClr val="188038"/>
                </a:solidFill>
                <a:latin typeface="Roboto" pitchFamily="34" charset="0"/>
                <a:ea typeface="Roboto" pitchFamily="34" charset="-122"/>
                <a:cs typeface="Roboto" pitchFamily="34" charset="-120"/>
              </a:rPr>
              <a:t>L'Ekklesia</a:t>
            </a:r>
            <a:endParaRPr lang="en-US" sz="1800" dirty="0"/>
          </a:p>
        </p:txBody>
      </p:sp>
      <p:sp>
        <p:nvSpPr>
          <p:cNvPr id="9" name="Text 6"/>
          <p:cNvSpPr txBox="1"/>
          <p:nvPr/>
        </p:nvSpPr>
        <p:spPr>
          <a:xfrm>
            <a:off x="777240" y="2880360"/>
            <a:ext cx="1600749" cy="1874520"/>
          </a:xfrm>
          <a:prstGeom prst="rect">
            <a:avLst/>
          </a:prstGeom>
          <a:noFill/>
          <a:ln/>
        </p:spPr>
        <p:txBody>
          <a:bodyPr wrap="square" lIns="0" tIns="0" rIns="0" bIns="0" rtlCol="0" anchor="t"/>
          <a:lstStyle/>
          <a:p>
            <a:pPr indent="0" marL="0">
              <a:buNone/>
            </a:pPr>
            <a:r>
              <a:rPr lang="en-US" sz="1600" dirty="0">
                <a:solidFill>
                  <a:srgbClr val="202124"/>
                </a:solidFill>
                <a:latin typeface="Roboto" pitchFamily="34" charset="0"/>
                <a:ea typeface="Roboto" pitchFamily="34" charset="-122"/>
                <a:cs typeface="Roboto" pitchFamily="34" charset="-120"/>
              </a:rPr>
              <a:t>L'assemblea. Tots els ciutadans hi votaven a mà alçada les lleis, la guerra i la pau. Unes 40 vegades l'any, a la Pnyx.</a:t>
            </a:r>
            <a:endParaRPr lang="en-US" sz="1600" dirty="0"/>
          </a:p>
        </p:txBody>
      </p:sp>
      <p:sp>
        <p:nvSpPr>
          <p:cNvPr id="10" name="Targeta La Bulé"/>
          <p:cNvSpPr/>
          <p:nvPr/>
        </p:nvSpPr>
        <p:spPr>
          <a:xfrm>
            <a:off x="2807757" y="1371600"/>
            <a:ext cx="2057949" cy="3520440"/>
          </a:xfrm>
          <a:prstGeom prst="roundRect">
            <a:avLst>
              <a:gd name="adj" fmla="val 4888"/>
            </a:avLst>
          </a:prstGeom>
          <a:solidFill>
            <a:srgbClr val="FFFFFF"/>
          </a:solidFill>
          <a:ln w="12700">
            <a:solidFill>
              <a:srgbClr val="DADCE0"/>
            </a:solidFill>
            <a:prstDash val="solid"/>
          </a:ln>
        </p:spPr>
      </p:sp>
      <p:sp>
        <p:nvSpPr>
          <p:cNvPr id="11" name="Cercle icona"/>
          <p:cNvSpPr/>
          <p:nvPr/>
        </p:nvSpPr>
        <p:spPr>
          <a:xfrm>
            <a:off x="3036357" y="1600200"/>
            <a:ext cx="777240" cy="777240"/>
          </a:xfrm>
          <a:prstGeom prst="ellipse">
            <a:avLst/>
          </a:prstGeom>
          <a:solidFill>
            <a:srgbClr val="E6F4EA"/>
          </a:solidFill>
          <a:ln/>
        </p:spPr>
      </p:sp>
      <p:pic>
        <p:nvPicPr>
          <p:cNvPr id="12" name="Icona TbUsersGroup" descr="/home/claude/work/build/img/ic/TbUsersGroup-g.png">    </p:cNvPr>
          <p:cNvPicPr>
            <a:picLocks noChangeAspect="1"/>
          </p:cNvPicPr>
          <p:nvPr/>
        </p:nvPicPr>
        <p:blipFill>
          <a:blip r:embed="rId2"/>
          <a:stretch>
            <a:fillRect/>
          </a:stretch>
        </p:blipFill>
        <p:spPr>
          <a:xfrm>
            <a:off x="3207349" y="1771193"/>
            <a:ext cx="435254" cy="435254"/>
          </a:xfrm>
          <a:prstGeom prst="rect">
            <a:avLst/>
          </a:prstGeom>
        </p:spPr>
      </p:pic>
      <p:sp>
        <p:nvSpPr>
          <p:cNvPr id="13" name="Text 9"/>
          <p:cNvSpPr txBox="1"/>
          <p:nvPr/>
        </p:nvSpPr>
        <p:spPr>
          <a:xfrm>
            <a:off x="3036357" y="2514600"/>
            <a:ext cx="1600749" cy="274320"/>
          </a:xfrm>
          <a:prstGeom prst="rect">
            <a:avLst/>
          </a:prstGeom>
          <a:noFill/>
          <a:ln/>
        </p:spPr>
        <p:txBody>
          <a:bodyPr wrap="square" lIns="0" tIns="0" rIns="0" bIns="0" rtlCol="0" anchor="t"/>
          <a:lstStyle/>
          <a:p>
            <a:pPr indent="0" marL="0">
              <a:buNone/>
            </a:pPr>
            <a:r>
              <a:rPr lang="en-US" sz="1800" b="1" dirty="0">
                <a:solidFill>
                  <a:srgbClr val="188038"/>
                </a:solidFill>
                <a:latin typeface="Roboto" pitchFamily="34" charset="0"/>
                <a:ea typeface="Roboto" pitchFamily="34" charset="-122"/>
                <a:cs typeface="Roboto" pitchFamily="34" charset="-120"/>
              </a:rPr>
              <a:t>La Bulé</a:t>
            </a:r>
            <a:endParaRPr lang="en-US" sz="1800" dirty="0"/>
          </a:p>
        </p:txBody>
      </p:sp>
      <p:sp>
        <p:nvSpPr>
          <p:cNvPr id="14" name="Text 10"/>
          <p:cNvSpPr txBox="1"/>
          <p:nvPr/>
        </p:nvSpPr>
        <p:spPr>
          <a:xfrm>
            <a:off x="3036357" y="2880360"/>
            <a:ext cx="1600749" cy="1874520"/>
          </a:xfrm>
          <a:prstGeom prst="rect">
            <a:avLst/>
          </a:prstGeom>
          <a:noFill/>
          <a:ln/>
        </p:spPr>
        <p:txBody>
          <a:bodyPr wrap="square" lIns="0" tIns="0" rIns="0" bIns="0" rtlCol="0" anchor="t"/>
          <a:lstStyle/>
          <a:p>
            <a:pPr indent="0" marL="0">
              <a:buNone/>
            </a:pPr>
            <a:r>
              <a:rPr lang="en-US" sz="1600" dirty="0">
                <a:solidFill>
                  <a:srgbClr val="202124"/>
                </a:solidFill>
                <a:latin typeface="Roboto" pitchFamily="34" charset="0"/>
                <a:ea typeface="Roboto" pitchFamily="34" charset="-122"/>
                <a:cs typeface="Roboto" pitchFamily="34" charset="-120"/>
              </a:rPr>
              <a:t>Un consell de 500, triats per sorteig. Preparava els temes de l'assemblea.</a:t>
            </a:r>
            <a:endParaRPr lang="en-US" sz="1600" dirty="0"/>
          </a:p>
        </p:txBody>
      </p:sp>
      <p:sp>
        <p:nvSpPr>
          <p:cNvPr id="15" name="Targeta Els magistrats"/>
          <p:cNvSpPr/>
          <p:nvPr/>
        </p:nvSpPr>
        <p:spPr>
          <a:xfrm>
            <a:off x="5066873" y="1371600"/>
            <a:ext cx="2057949" cy="3520440"/>
          </a:xfrm>
          <a:prstGeom prst="roundRect">
            <a:avLst>
              <a:gd name="adj" fmla="val 4888"/>
            </a:avLst>
          </a:prstGeom>
          <a:solidFill>
            <a:srgbClr val="FFFFFF"/>
          </a:solidFill>
          <a:ln w="12700">
            <a:solidFill>
              <a:srgbClr val="DADCE0"/>
            </a:solidFill>
            <a:prstDash val="solid"/>
          </a:ln>
        </p:spPr>
      </p:sp>
      <p:sp>
        <p:nvSpPr>
          <p:cNvPr id="16" name="Cercle icona"/>
          <p:cNvSpPr/>
          <p:nvPr/>
        </p:nvSpPr>
        <p:spPr>
          <a:xfrm>
            <a:off x="5295473" y="1600200"/>
            <a:ext cx="777240" cy="777240"/>
          </a:xfrm>
          <a:prstGeom prst="ellipse">
            <a:avLst/>
          </a:prstGeom>
          <a:solidFill>
            <a:srgbClr val="E6F4EA"/>
          </a:solidFill>
          <a:ln/>
        </p:spPr>
      </p:sp>
      <p:pic>
        <p:nvPicPr>
          <p:cNvPr id="17" name="Icona TbClipboardList" descr="/home/claude/work/build/img/ic/TbClipboardList-g.png">    </p:cNvPr>
          <p:cNvPicPr>
            <a:picLocks noChangeAspect="1"/>
          </p:cNvPicPr>
          <p:nvPr/>
        </p:nvPicPr>
        <p:blipFill>
          <a:blip r:embed="rId3"/>
          <a:stretch>
            <a:fillRect/>
          </a:stretch>
        </p:blipFill>
        <p:spPr>
          <a:xfrm>
            <a:off x="5466466" y="1771193"/>
            <a:ext cx="435254" cy="435254"/>
          </a:xfrm>
          <a:prstGeom prst="rect">
            <a:avLst/>
          </a:prstGeom>
        </p:spPr>
      </p:pic>
      <p:sp>
        <p:nvSpPr>
          <p:cNvPr id="18" name="Text 13"/>
          <p:cNvSpPr txBox="1"/>
          <p:nvPr/>
        </p:nvSpPr>
        <p:spPr>
          <a:xfrm>
            <a:off x="5295473" y="2514600"/>
            <a:ext cx="1600749" cy="274320"/>
          </a:xfrm>
          <a:prstGeom prst="rect">
            <a:avLst/>
          </a:prstGeom>
          <a:noFill/>
          <a:ln/>
        </p:spPr>
        <p:txBody>
          <a:bodyPr wrap="square" lIns="0" tIns="0" rIns="0" bIns="0" rtlCol="0" anchor="t"/>
          <a:lstStyle/>
          <a:p>
            <a:pPr indent="0" marL="0">
              <a:buNone/>
            </a:pPr>
            <a:r>
              <a:rPr lang="en-US" sz="1800" b="1" dirty="0">
                <a:solidFill>
                  <a:srgbClr val="188038"/>
                </a:solidFill>
                <a:latin typeface="Roboto" pitchFamily="34" charset="0"/>
                <a:ea typeface="Roboto" pitchFamily="34" charset="-122"/>
                <a:cs typeface="Roboto" pitchFamily="34" charset="-120"/>
              </a:rPr>
              <a:t>Els magistrats</a:t>
            </a:r>
            <a:endParaRPr lang="en-US" sz="1800" dirty="0"/>
          </a:p>
        </p:txBody>
      </p:sp>
      <p:sp>
        <p:nvSpPr>
          <p:cNvPr id="19" name="Text 14"/>
          <p:cNvSpPr txBox="1"/>
          <p:nvPr/>
        </p:nvSpPr>
        <p:spPr>
          <a:xfrm>
            <a:off x="5295473" y="2880360"/>
            <a:ext cx="1600749" cy="1874520"/>
          </a:xfrm>
          <a:prstGeom prst="rect">
            <a:avLst/>
          </a:prstGeom>
          <a:noFill/>
          <a:ln/>
        </p:spPr>
        <p:txBody>
          <a:bodyPr wrap="square" lIns="0" tIns="0" rIns="0" bIns="0" rtlCol="0" anchor="t"/>
          <a:lstStyle/>
          <a:p>
            <a:pPr indent="0" marL="0">
              <a:buNone/>
            </a:pPr>
            <a:r>
              <a:rPr lang="en-US" sz="1600" dirty="0">
                <a:solidFill>
                  <a:srgbClr val="202124"/>
                </a:solidFill>
                <a:latin typeface="Roboto" pitchFamily="34" charset="0"/>
                <a:ea typeface="Roboto" pitchFamily="34" charset="-122"/>
                <a:cs typeface="Roboto" pitchFamily="34" charset="-120"/>
              </a:rPr>
              <a:t>Governaven el dia a dia. La majoria, per sorteig i per un any. Els deu estrategs, per elecció.</a:t>
            </a:r>
            <a:endParaRPr lang="en-US" sz="1600" dirty="0"/>
          </a:p>
        </p:txBody>
      </p:sp>
      <p:sp>
        <p:nvSpPr>
          <p:cNvPr id="20" name="Targeta Els tribunals"/>
          <p:cNvSpPr/>
          <p:nvPr/>
        </p:nvSpPr>
        <p:spPr>
          <a:xfrm>
            <a:off x="7325990" y="1371600"/>
            <a:ext cx="2057949" cy="3520440"/>
          </a:xfrm>
          <a:prstGeom prst="roundRect">
            <a:avLst>
              <a:gd name="adj" fmla="val 4888"/>
            </a:avLst>
          </a:prstGeom>
          <a:solidFill>
            <a:srgbClr val="FFFFFF"/>
          </a:solidFill>
          <a:ln w="12700">
            <a:solidFill>
              <a:srgbClr val="DADCE0"/>
            </a:solidFill>
            <a:prstDash val="solid"/>
          </a:ln>
        </p:spPr>
      </p:sp>
      <p:sp>
        <p:nvSpPr>
          <p:cNvPr id="21" name="Cercle icona"/>
          <p:cNvSpPr/>
          <p:nvPr/>
        </p:nvSpPr>
        <p:spPr>
          <a:xfrm>
            <a:off x="7554590" y="1600200"/>
            <a:ext cx="777240" cy="777240"/>
          </a:xfrm>
          <a:prstGeom prst="ellipse">
            <a:avLst/>
          </a:prstGeom>
          <a:solidFill>
            <a:srgbClr val="E6F4EA"/>
          </a:solidFill>
          <a:ln/>
        </p:spPr>
      </p:sp>
      <p:pic>
        <p:nvPicPr>
          <p:cNvPr id="22" name="Icona TbScale" descr="/home/claude/work/build/img/ic/TbScale-g.png">    </p:cNvPr>
          <p:cNvPicPr>
            <a:picLocks noChangeAspect="1"/>
          </p:cNvPicPr>
          <p:nvPr/>
        </p:nvPicPr>
        <p:blipFill>
          <a:blip r:embed="rId4"/>
          <a:stretch>
            <a:fillRect/>
          </a:stretch>
        </p:blipFill>
        <p:spPr>
          <a:xfrm>
            <a:off x="7725583" y="1771193"/>
            <a:ext cx="435254" cy="435254"/>
          </a:xfrm>
          <a:prstGeom prst="rect">
            <a:avLst/>
          </a:prstGeom>
        </p:spPr>
      </p:pic>
      <p:sp>
        <p:nvSpPr>
          <p:cNvPr id="23" name="Text 17"/>
          <p:cNvSpPr txBox="1"/>
          <p:nvPr/>
        </p:nvSpPr>
        <p:spPr>
          <a:xfrm>
            <a:off x="7554590" y="2514600"/>
            <a:ext cx="1600749" cy="274320"/>
          </a:xfrm>
          <a:prstGeom prst="rect">
            <a:avLst/>
          </a:prstGeom>
          <a:noFill/>
          <a:ln/>
        </p:spPr>
        <p:txBody>
          <a:bodyPr wrap="square" lIns="0" tIns="0" rIns="0" bIns="0" rtlCol="0" anchor="t"/>
          <a:lstStyle/>
          <a:p>
            <a:pPr indent="0" marL="0">
              <a:buNone/>
            </a:pPr>
            <a:r>
              <a:rPr lang="en-US" sz="1800" b="1" dirty="0">
                <a:solidFill>
                  <a:srgbClr val="188038"/>
                </a:solidFill>
                <a:latin typeface="Roboto" pitchFamily="34" charset="0"/>
                <a:ea typeface="Roboto" pitchFamily="34" charset="-122"/>
                <a:cs typeface="Roboto" pitchFamily="34" charset="-120"/>
              </a:rPr>
              <a:t>Els tribunals</a:t>
            </a:r>
            <a:endParaRPr lang="en-US" sz="1800" dirty="0"/>
          </a:p>
        </p:txBody>
      </p:sp>
      <p:sp>
        <p:nvSpPr>
          <p:cNvPr id="24" name="Text 18"/>
          <p:cNvSpPr txBox="1"/>
          <p:nvPr/>
        </p:nvSpPr>
        <p:spPr>
          <a:xfrm>
            <a:off x="7554590" y="2880360"/>
            <a:ext cx="1600749" cy="1874520"/>
          </a:xfrm>
          <a:prstGeom prst="rect">
            <a:avLst/>
          </a:prstGeom>
          <a:noFill/>
          <a:ln/>
        </p:spPr>
        <p:txBody>
          <a:bodyPr wrap="square" lIns="0" tIns="0" rIns="0" bIns="0" rtlCol="0" anchor="t"/>
          <a:lstStyle/>
          <a:p>
            <a:pPr indent="0" marL="0">
              <a:buNone/>
            </a:pPr>
            <a:r>
              <a:rPr lang="en-US" sz="1600" dirty="0">
                <a:solidFill>
                  <a:srgbClr val="202124"/>
                </a:solidFill>
                <a:latin typeface="Roboto" pitchFamily="34" charset="0"/>
                <a:ea typeface="Roboto" pitchFamily="34" charset="-122"/>
                <a:cs typeface="Roboto" pitchFamily="34" charset="-120"/>
              </a:rPr>
              <a:t>Jurats de centenars de ciutadans, triats per sorteig.</a:t>
            </a:r>
            <a:endParaRPr lang="en-US" sz="1600" dirty="0"/>
          </a:p>
        </p:txBody>
      </p:sp>
      <p:sp>
        <p:nvSpPr>
          <p:cNvPr id="25" name="Targeta L'ostracisme"/>
          <p:cNvSpPr/>
          <p:nvPr/>
        </p:nvSpPr>
        <p:spPr>
          <a:xfrm>
            <a:off x="9585107" y="1371600"/>
            <a:ext cx="2057949" cy="3520440"/>
          </a:xfrm>
          <a:prstGeom prst="roundRect">
            <a:avLst>
              <a:gd name="adj" fmla="val 4888"/>
            </a:avLst>
          </a:prstGeom>
          <a:solidFill>
            <a:srgbClr val="FFFFFF"/>
          </a:solidFill>
          <a:ln w="12700">
            <a:solidFill>
              <a:srgbClr val="DADCE0"/>
            </a:solidFill>
            <a:prstDash val="solid"/>
          </a:ln>
        </p:spPr>
      </p:sp>
      <p:sp>
        <p:nvSpPr>
          <p:cNvPr id="26" name="Cercle icona"/>
          <p:cNvSpPr/>
          <p:nvPr/>
        </p:nvSpPr>
        <p:spPr>
          <a:xfrm>
            <a:off x="9813707" y="1600200"/>
            <a:ext cx="777240" cy="777240"/>
          </a:xfrm>
          <a:prstGeom prst="ellipse">
            <a:avLst/>
          </a:prstGeom>
          <a:solidFill>
            <a:srgbClr val="E6F4EA"/>
          </a:solidFill>
          <a:ln/>
        </p:spPr>
      </p:sp>
      <p:pic>
        <p:nvPicPr>
          <p:cNvPr id="27" name="Icona TbDoorExit" descr="/home/claude/work/build/img/ic/TbDoorExit-g.png">    </p:cNvPr>
          <p:cNvPicPr>
            <a:picLocks noChangeAspect="1"/>
          </p:cNvPicPr>
          <p:nvPr/>
        </p:nvPicPr>
        <p:blipFill>
          <a:blip r:embed="rId5"/>
          <a:stretch>
            <a:fillRect/>
          </a:stretch>
        </p:blipFill>
        <p:spPr>
          <a:xfrm>
            <a:off x="9984699" y="1771193"/>
            <a:ext cx="435254" cy="435254"/>
          </a:xfrm>
          <a:prstGeom prst="rect">
            <a:avLst/>
          </a:prstGeom>
        </p:spPr>
      </p:pic>
      <p:sp>
        <p:nvSpPr>
          <p:cNvPr id="28" name="Text 21"/>
          <p:cNvSpPr txBox="1"/>
          <p:nvPr/>
        </p:nvSpPr>
        <p:spPr>
          <a:xfrm>
            <a:off x="9813707" y="2514600"/>
            <a:ext cx="1600749" cy="274320"/>
          </a:xfrm>
          <a:prstGeom prst="rect">
            <a:avLst/>
          </a:prstGeom>
          <a:noFill/>
          <a:ln/>
        </p:spPr>
        <p:txBody>
          <a:bodyPr wrap="square" lIns="0" tIns="0" rIns="0" bIns="0" rtlCol="0" anchor="t"/>
          <a:lstStyle/>
          <a:p>
            <a:pPr indent="0" marL="0">
              <a:buNone/>
            </a:pPr>
            <a:r>
              <a:rPr lang="en-US" sz="1800" b="1" dirty="0">
                <a:solidFill>
                  <a:srgbClr val="188038"/>
                </a:solidFill>
                <a:latin typeface="Roboto" pitchFamily="34" charset="0"/>
                <a:ea typeface="Roboto" pitchFamily="34" charset="-122"/>
                <a:cs typeface="Roboto" pitchFamily="34" charset="-120"/>
              </a:rPr>
              <a:t>L'ostracisme</a:t>
            </a:r>
            <a:endParaRPr lang="en-US" sz="1800" dirty="0"/>
          </a:p>
        </p:txBody>
      </p:sp>
      <p:sp>
        <p:nvSpPr>
          <p:cNvPr id="29" name="Text 22"/>
          <p:cNvSpPr txBox="1"/>
          <p:nvPr/>
        </p:nvSpPr>
        <p:spPr>
          <a:xfrm>
            <a:off x="9813707" y="2880360"/>
            <a:ext cx="1600749" cy="1874520"/>
          </a:xfrm>
          <a:prstGeom prst="rect">
            <a:avLst/>
          </a:prstGeom>
          <a:noFill/>
          <a:ln/>
        </p:spPr>
        <p:txBody>
          <a:bodyPr wrap="square" lIns="0" tIns="0" rIns="0" bIns="0" rtlCol="0" anchor="t"/>
          <a:lstStyle/>
          <a:p>
            <a:pPr indent="0" marL="0">
              <a:buNone/>
            </a:pPr>
            <a:r>
              <a:rPr lang="en-US" sz="1600" dirty="0">
                <a:solidFill>
                  <a:srgbClr val="202124"/>
                </a:solidFill>
                <a:latin typeface="Roboto" pitchFamily="34" charset="0"/>
                <a:ea typeface="Roboto" pitchFamily="34" charset="-122"/>
                <a:cs typeface="Roboto" pitchFamily="34" charset="-120"/>
              </a:rPr>
              <a:t>Un cop l'any, l'assemblea podia desterrar deu anys un polític perillós.</a:t>
            </a:r>
            <a:endParaRPr lang="en-US" sz="1600" dirty="0"/>
          </a:p>
        </p:txBody>
      </p:sp>
      <p:sp>
        <p:nvSpPr>
          <p:cNvPr id="30" name="Gairebé tot, per sorteig"/>
          <p:cNvSpPr/>
          <p:nvPr/>
        </p:nvSpPr>
        <p:spPr>
          <a:xfrm>
            <a:off x="548640" y="5120640"/>
            <a:ext cx="11094415" cy="868680"/>
          </a:xfrm>
          <a:prstGeom prst="roundRect">
            <a:avLst>
              <a:gd name="adj" fmla="val 11579"/>
            </a:avLst>
          </a:prstGeom>
          <a:solidFill>
            <a:srgbClr val="E6F4EA"/>
          </a:solidFill>
          <a:ln/>
        </p:spPr>
      </p:sp>
      <p:sp>
        <p:nvSpPr>
          <p:cNvPr id="31" name="Text 24"/>
          <p:cNvSpPr txBox="1"/>
          <p:nvPr/>
        </p:nvSpPr>
        <p:spPr>
          <a:xfrm>
            <a:off x="868680" y="5276088"/>
            <a:ext cx="1045433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Gairebé tot, per sorteig</a:t>
            </a:r>
            <a:endParaRPr lang="en-US" sz="1400" dirty="0"/>
          </a:p>
        </p:txBody>
      </p:sp>
      <p:sp>
        <p:nvSpPr>
          <p:cNvPr id="32" name="Text 25"/>
          <p:cNvSpPr txBox="1"/>
          <p:nvPr/>
        </p:nvSpPr>
        <p:spPr>
          <a:xfrm>
            <a:off x="868680" y="5623560"/>
            <a:ext cx="10454335" cy="228600"/>
          </a:xfrm>
          <a:prstGeom prst="rect">
            <a:avLst/>
          </a:prstGeom>
          <a:noFill/>
          <a:ln/>
        </p:spPr>
        <p:txBody>
          <a:bodyPr wrap="square" lIns="0" tIns="0" rIns="0" bIns="0" rtlCol="0" anchor="t"/>
          <a:lstStyle/>
          <a:p>
            <a:pPr indent="0" marL="0">
              <a:buNone/>
            </a:pPr>
            <a:r>
              <a:rPr lang="en-US" sz="1600" dirty="0">
                <a:solidFill>
                  <a:srgbClr val="202124"/>
                </a:solidFill>
                <a:latin typeface="Roboto" pitchFamily="34" charset="0"/>
                <a:ea typeface="Roboto" pitchFamily="34" charset="-122"/>
                <a:cs typeface="Roboto" pitchFamily="34" charset="-120"/>
              </a:rPr>
              <a:t>La Bulé, la majoria de magistrats i els jurats es triaven a la sort. Com ho feien? Ho veiem a la diapositiva següent.</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2</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Per sorteig!</a:t>
            </a:r>
            <a:endParaRPr lang="en-US" sz="2800" dirty="0"/>
          </a:p>
        </p:txBody>
      </p:sp>
      <p:sp>
        <p:nvSpPr>
          <p:cNvPr id="5" name="Fons Un kleroterion, la màquina de pedra que feien servir per sortejar"/>
          <p:cNvSpPr/>
          <p:nvPr/>
        </p:nvSpPr>
        <p:spPr>
          <a:xfrm>
            <a:off x="548640" y="1371600"/>
            <a:ext cx="6583680" cy="4383276"/>
          </a:xfrm>
          <a:prstGeom prst="roundRect">
            <a:avLst>
              <a:gd name="adj" fmla="val 2295"/>
            </a:avLst>
          </a:prstGeom>
          <a:solidFill>
            <a:srgbClr val="F6F8FB"/>
          </a:solidFill>
          <a:ln/>
        </p:spPr>
      </p:sp>
      <p:pic>
        <p:nvPicPr>
          <p:cNvPr id="6" name="Un kleroterion, la màquina de pedra que feien servir per sortejar" descr="/home/claude/work/build/img/kleroterion.jpg">    </p:cNvPr>
          <p:cNvPicPr>
            <a:picLocks noChangeAspect="1"/>
          </p:cNvPicPr>
          <p:nvPr/>
        </p:nvPicPr>
        <p:blipFill>
          <a:blip r:embed="rId1"/>
          <a:stretch>
            <a:fillRect/>
          </a:stretch>
        </p:blipFill>
        <p:spPr>
          <a:xfrm>
            <a:off x="548640" y="1371600"/>
            <a:ext cx="6583680" cy="4383276"/>
          </a:xfrm>
          <a:prstGeom prst="rect">
            <a:avLst/>
          </a:prstGeom>
        </p:spPr>
      </p:pic>
      <p:sp>
        <p:nvSpPr>
          <p:cNvPr id="7" name="Text 4"/>
          <p:cNvSpPr txBox="1"/>
          <p:nvPr/>
        </p:nvSpPr>
        <p:spPr>
          <a:xfrm>
            <a:off x="548640" y="5846316"/>
            <a:ext cx="6583680"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Un kleroterion, la màquina de pedra que feien servir per sortejar. Aquest és del segle II aC. Museu de l'Àgora Antiga d'Atenes. Foto: Zde, Wikimedia Commons, CC BY-SA 4.0.</a:t>
            </a:r>
            <a:endParaRPr lang="en-US" sz="1000" dirty="0"/>
          </a:p>
        </p:txBody>
      </p:sp>
      <p:sp>
        <p:nvSpPr>
          <p:cNvPr id="8" name="Cercle icona"/>
          <p:cNvSpPr/>
          <p:nvPr/>
        </p:nvSpPr>
        <p:spPr>
          <a:xfrm>
            <a:off x="7406640" y="1371600"/>
            <a:ext cx="868680" cy="868680"/>
          </a:xfrm>
          <a:prstGeom prst="ellipse">
            <a:avLst/>
          </a:prstGeom>
          <a:solidFill>
            <a:srgbClr val="E6F4EA"/>
          </a:solidFill>
          <a:ln/>
        </p:spPr>
      </p:sp>
      <p:pic>
        <p:nvPicPr>
          <p:cNvPr id="9" name="Icona TbDice5" descr="/home/claude/work/build/img/ic/TbDice5-g.png">    </p:cNvPr>
          <p:cNvPicPr>
            <a:picLocks noChangeAspect="1"/>
          </p:cNvPicPr>
          <p:nvPr/>
        </p:nvPicPr>
        <p:blipFill>
          <a:blip r:embed="rId2"/>
          <a:stretch>
            <a:fillRect/>
          </a:stretch>
        </p:blipFill>
        <p:spPr>
          <a:xfrm>
            <a:off x="7597750" y="1562710"/>
            <a:ext cx="486461" cy="486461"/>
          </a:xfrm>
          <a:prstGeom prst="rect">
            <a:avLst/>
          </a:prstGeom>
        </p:spPr>
      </p:pic>
      <p:sp>
        <p:nvSpPr>
          <p:cNvPr id="10" name="Text 6"/>
          <p:cNvSpPr txBox="1"/>
          <p:nvPr/>
        </p:nvSpPr>
        <p:spPr>
          <a:xfrm>
            <a:off x="8458200" y="1371600"/>
            <a:ext cx="3184855" cy="868680"/>
          </a:xfrm>
          <a:prstGeom prst="rect">
            <a:avLst/>
          </a:prstGeom>
          <a:noFill/>
          <a:ln/>
        </p:spPr>
        <p:txBody>
          <a:bodyPr wrap="square" lIns="0" tIns="0" rIns="0" bIns="0" rtlCol="0" anchor="ctr"/>
          <a:lstStyle/>
          <a:p>
            <a:pPr indent="0" marL="0">
              <a:buNone/>
            </a:pPr>
            <a:r>
              <a:rPr lang="en-US" sz="2000" b="1" dirty="0">
                <a:solidFill>
                  <a:srgbClr val="188038"/>
                </a:solidFill>
                <a:latin typeface="Roboto" pitchFamily="34" charset="0"/>
                <a:ea typeface="Roboto" pitchFamily="34" charset="-122"/>
                <a:cs typeface="Roboto" pitchFamily="34" charset="-120"/>
              </a:rPr>
              <a:t>Per què el sorteig?</a:t>
            </a:r>
            <a:endParaRPr lang="en-US" sz="2000" dirty="0"/>
          </a:p>
        </p:txBody>
      </p:sp>
      <p:sp>
        <p:nvSpPr>
          <p:cNvPr id="11" name="Text 7"/>
          <p:cNvSpPr txBox="1"/>
          <p:nvPr/>
        </p:nvSpPr>
        <p:spPr>
          <a:xfrm>
            <a:off x="7406640" y="2423160"/>
            <a:ext cx="4236415" cy="128016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Els atenesos pensaven que les eleccions afavorien els rics i famosos. El sorteig era realment igualitari.</a:t>
            </a:r>
            <a:endParaRPr lang="en-US" sz="1800" dirty="0"/>
          </a:p>
        </p:txBody>
      </p:sp>
      <p:sp>
        <p:nvSpPr>
          <p:cNvPr id="12" name="Com funcionava la màquina?"/>
          <p:cNvSpPr/>
          <p:nvPr/>
        </p:nvSpPr>
        <p:spPr>
          <a:xfrm>
            <a:off x="7406640" y="3840480"/>
            <a:ext cx="4236415" cy="2148840"/>
          </a:xfrm>
          <a:prstGeom prst="roundRect">
            <a:avLst>
              <a:gd name="adj" fmla="val 4681"/>
            </a:avLst>
          </a:prstGeom>
          <a:solidFill>
            <a:srgbClr val="F6F8FB"/>
          </a:solidFill>
          <a:ln/>
        </p:spPr>
      </p:sp>
      <p:sp>
        <p:nvSpPr>
          <p:cNvPr id="13" name="Text 9"/>
          <p:cNvSpPr txBox="1"/>
          <p:nvPr/>
        </p:nvSpPr>
        <p:spPr>
          <a:xfrm>
            <a:off x="7726680" y="3995928"/>
            <a:ext cx="3596335"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Com funcionava la màquina?</a:t>
            </a:r>
            <a:endParaRPr lang="en-US" sz="1400" dirty="0"/>
          </a:p>
        </p:txBody>
      </p:sp>
      <p:sp>
        <p:nvSpPr>
          <p:cNvPr id="14" name="Text 10"/>
          <p:cNvSpPr txBox="1"/>
          <p:nvPr/>
        </p:nvSpPr>
        <p:spPr>
          <a:xfrm>
            <a:off x="7726680" y="4343400"/>
            <a:ext cx="3596335" cy="1508760"/>
          </a:xfrm>
          <a:prstGeom prst="rect">
            <a:avLst/>
          </a:prstGeom>
          <a:noFill/>
          <a:ln/>
        </p:spPr>
        <p:txBody>
          <a:bodyPr wrap="square" lIns="0" tIns="0" rIns="0" bIns="0" rtlCol="0" anchor="t"/>
          <a:lstStyle/>
          <a:p>
            <a:pPr indent="0" marL="0">
              <a:buNone/>
            </a:pPr>
            <a:r>
              <a:rPr lang="en-US" sz="1550" dirty="0">
                <a:solidFill>
                  <a:srgbClr val="5F6368"/>
                </a:solidFill>
                <a:latin typeface="Roboto" pitchFamily="34" charset="0"/>
                <a:ea typeface="Roboto" pitchFamily="34" charset="-122"/>
                <a:cs typeface="Roboto" pitchFamily="34" charset="-120"/>
              </a:rPr>
              <a:t>Cada ciutadà posava la seva placa amb el nom en una ranura. Després, uns daus de dos colors deixats caure per un tub decidien quines files quedaven triades.</a:t>
            </a:r>
            <a:endParaRPr lang="en-US" sz="15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2</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Una democràcia model?</a:t>
            </a:r>
            <a:endParaRPr lang="en-US" sz="2800" dirty="0"/>
          </a:p>
        </p:txBody>
      </p:sp>
      <p:sp>
        <p:nvSpPr>
          <p:cNvPr id="5" name="Font directa · Tucídides, discurs fúnebre de Pèricles (c. 431 aC)"/>
          <p:cNvSpPr/>
          <p:nvPr/>
        </p:nvSpPr>
        <p:spPr>
          <a:xfrm>
            <a:off x="548640" y="1371600"/>
            <a:ext cx="11094415" cy="2651760"/>
          </a:xfrm>
          <a:prstGeom prst="roundRect">
            <a:avLst>
              <a:gd name="adj" fmla="val 3793"/>
            </a:avLst>
          </a:prstGeom>
          <a:solidFill>
            <a:srgbClr val="F6F8FB"/>
          </a:solidFill>
          <a:ln/>
        </p:spPr>
      </p:sp>
      <p:sp>
        <p:nvSpPr>
          <p:cNvPr id="6" name="Text 4"/>
          <p:cNvSpPr txBox="1"/>
          <p:nvPr/>
        </p:nvSpPr>
        <p:spPr>
          <a:xfrm>
            <a:off x="914400" y="1554480"/>
            <a:ext cx="10362895"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Font directa · Tucídides, discurs fúnebre de Pèricles (c. 431 aC)</a:t>
            </a:r>
            <a:endParaRPr lang="en-US" sz="1400" dirty="0"/>
          </a:p>
        </p:txBody>
      </p:sp>
      <p:sp>
        <p:nvSpPr>
          <p:cNvPr id="7" name="Text 5"/>
          <p:cNvSpPr txBox="1"/>
          <p:nvPr/>
        </p:nvSpPr>
        <p:spPr>
          <a:xfrm>
            <a:off x="914400" y="1965960"/>
            <a:ext cx="10362895" cy="1325880"/>
          </a:xfrm>
          <a:prstGeom prst="rect">
            <a:avLst/>
          </a:prstGeom>
          <a:noFill/>
          <a:ln/>
        </p:spPr>
        <p:txBody>
          <a:bodyPr wrap="square" lIns="0" tIns="0" rIns="0" bIns="0" rtlCol="0" anchor="t"/>
          <a:lstStyle/>
          <a:p>
            <a:pPr indent="0" marL="0">
              <a:buNone/>
            </a:pPr>
            <a:r>
              <a:rPr lang="en-US" sz="2100" i="1" dirty="0">
                <a:solidFill>
                  <a:srgbClr val="202124"/>
                </a:solidFill>
                <a:latin typeface="Roboto" pitchFamily="34" charset="0"/>
                <a:ea typeface="Roboto" pitchFamily="34" charset="-122"/>
                <a:cs typeface="Roboto" pitchFamily="34" charset="-120"/>
              </a:rPr>
              <a:t>«Tenim un règim polític que no es proposa imitar les lleis dels veïns, sinó que més aviat és el model a seguir pels altres. I el seu nom, com que les coses no depenen d'una minoria, sinó de la majoria, és Democràcia.»</a:t>
            </a:r>
            <a:endParaRPr lang="en-US" sz="2100" dirty="0"/>
          </a:p>
        </p:txBody>
      </p:sp>
      <p:sp>
        <p:nvSpPr>
          <p:cNvPr id="8" name="Text 6"/>
          <p:cNvSpPr txBox="1"/>
          <p:nvPr/>
        </p:nvSpPr>
        <p:spPr>
          <a:xfrm>
            <a:off x="914400" y="3127248"/>
            <a:ext cx="10362895" cy="777240"/>
          </a:xfrm>
          <a:prstGeom prst="rect">
            <a:avLst/>
          </a:prstGeom>
          <a:noFill/>
          <a:ln/>
        </p:spPr>
        <p:txBody>
          <a:bodyPr wrap="square" lIns="0" tIns="0" rIns="0" bIns="0" rtlCol="0" anchor="b"/>
          <a:lstStyle/>
          <a:p>
            <a:pPr indent="0" marL="0">
              <a:buNone/>
            </a:pPr>
            <a:r>
              <a:rPr lang="en-US" sz="1300" dirty="0">
                <a:solidFill>
                  <a:srgbClr val="5F6368"/>
                </a:solidFill>
                <a:latin typeface="Roboto" pitchFamily="34" charset="0"/>
                <a:ea typeface="Roboto" pitchFamily="34" charset="-122"/>
                <a:cs typeface="Roboto" pitchFamily="34" charset="-120"/>
              </a:rPr>
              <a:t>Tucídides, Història de la guerra del Peloponès, II, 37. Pèricles parla en honor dels atenesos morts el primer any de la guerra.</a:t>
            </a:r>
            <a:endParaRPr lang="en-US" sz="1300" dirty="0"/>
          </a:p>
        </p:txBody>
      </p:sp>
      <p:sp>
        <p:nvSpPr>
          <p:cNvPr id="9" name="Pensa-hi"/>
          <p:cNvSpPr/>
          <p:nvPr/>
        </p:nvSpPr>
        <p:spPr>
          <a:xfrm>
            <a:off x="548640" y="4251960"/>
            <a:ext cx="11094415" cy="1783080"/>
          </a:xfrm>
          <a:prstGeom prst="roundRect">
            <a:avLst>
              <a:gd name="adj" fmla="val 5641"/>
            </a:avLst>
          </a:prstGeom>
          <a:solidFill>
            <a:srgbClr val="E6F4EA"/>
          </a:solidFill>
          <a:ln/>
        </p:spPr>
      </p:sp>
      <p:sp>
        <p:nvSpPr>
          <p:cNvPr id="10" name="Text 8"/>
          <p:cNvSpPr txBox="1"/>
          <p:nvPr/>
        </p:nvSpPr>
        <p:spPr>
          <a:xfrm>
            <a:off x="868680" y="4407408"/>
            <a:ext cx="1045433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Pensa-hi</a:t>
            </a:r>
            <a:endParaRPr lang="en-US" sz="1400" dirty="0"/>
          </a:p>
        </p:txBody>
      </p:sp>
      <p:sp>
        <p:nvSpPr>
          <p:cNvPr id="11" name="Text 9"/>
          <p:cNvSpPr txBox="1"/>
          <p:nvPr/>
        </p:nvSpPr>
        <p:spPr>
          <a:xfrm>
            <a:off x="868680" y="4754880"/>
            <a:ext cx="10454335" cy="114300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És un retrat idealitzat. Tots els habitants d'Atenes formaven part d'aquesta «majoria»?</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2</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Els límits. Una democràcia de minories</a:t>
            </a:r>
            <a:endParaRPr lang="en-US" sz="2800" dirty="0"/>
          </a:p>
        </p:txBody>
      </p:sp>
      <p:sp>
        <p:nvSpPr>
          <p:cNvPr id="5" name="Text 3"/>
          <p:cNvSpPr txBox="1"/>
          <p:nvPr/>
        </p:nvSpPr>
        <p:spPr>
          <a:xfrm>
            <a:off x="548640" y="1371600"/>
            <a:ext cx="11094415" cy="45720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Només eren ciutadans els homes adults, lliures, fills de pare i mare atenesos.</a:t>
            </a:r>
            <a:endParaRPr lang="en-US" sz="1800" dirty="0"/>
          </a:p>
        </p:txBody>
      </p:sp>
      <p:sp>
        <p:nvSpPr>
          <p:cNvPr id="6" name="Pictograma"/>
          <p:cNvSpPr/>
          <p:nvPr/>
        </p:nvSpPr>
        <p:spPr>
          <a:xfrm>
            <a:off x="548640" y="1965960"/>
            <a:ext cx="3931920" cy="4023360"/>
          </a:xfrm>
          <a:prstGeom prst="roundRect">
            <a:avLst>
              <a:gd name="adj" fmla="val 2558"/>
            </a:avLst>
          </a:prstGeom>
          <a:solidFill>
            <a:srgbClr val="F6F8FB"/>
          </a:solidFill>
          <a:ln/>
        </p:spPr>
      </p:sp>
      <p:sp>
        <p:nvSpPr>
          <p:cNvPr id="7" name="Persona"/>
          <p:cNvSpPr/>
          <p:nvPr/>
        </p:nvSpPr>
        <p:spPr>
          <a:xfrm>
            <a:off x="1014984" y="2194560"/>
            <a:ext cx="256032" cy="256032"/>
          </a:xfrm>
          <a:prstGeom prst="ellipse">
            <a:avLst/>
          </a:prstGeom>
          <a:solidFill>
            <a:srgbClr val="188038"/>
          </a:solidFill>
          <a:ln/>
        </p:spPr>
      </p:sp>
      <p:sp>
        <p:nvSpPr>
          <p:cNvPr id="8" name="Persona"/>
          <p:cNvSpPr/>
          <p:nvPr/>
        </p:nvSpPr>
        <p:spPr>
          <a:xfrm>
            <a:off x="918972" y="2488997"/>
            <a:ext cx="448056" cy="448056"/>
          </a:xfrm>
          <a:prstGeom prst="roundRect">
            <a:avLst>
              <a:gd name="adj" fmla="val 35714"/>
            </a:avLst>
          </a:prstGeom>
          <a:solidFill>
            <a:srgbClr val="188038"/>
          </a:solidFill>
          <a:ln/>
        </p:spPr>
      </p:sp>
      <p:sp>
        <p:nvSpPr>
          <p:cNvPr id="9" name="Persona"/>
          <p:cNvSpPr/>
          <p:nvPr/>
        </p:nvSpPr>
        <p:spPr>
          <a:xfrm>
            <a:off x="1700784" y="2194560"/>
            <a:ext cx="256032" cy="256032"/>
          </a:xfrm>
          <a:prstGeom prst="ellipse">
            <a:avLst/>
          </a:prstGeom>
          <a:solidFill>
            <a:srgbClr val="C4C7C5"/>
          </a:solidFill>
          <a:ln/>
        </p:spPr>
      </p:sp>
      <p:sp>
        <p:nvSpPr>
          <p:cNvPr id="10" name="Persona"/>
          <p:cNvSpPr/>
          <p:nvPr/>
        </p:nvSpPr>
        <p:spPr>
          <a:xfrm>
            <a:off x="1604772" y="2488997"/>
            <a:ext cx="448056" cy="448056"/>
          </a:xfrm>
          <a:prstGeom prst="roundRect">
            <a:avLst>
              <a:gd name="adj" fmla="val 35714"/>
            </a:avLst>
          </a:prstGeom>
          <a:solidFill>
            <a:srgbClr val="C4C7C5"/>
          </a:solidFill>
          <a:ln/>
        </p:spPr>
      </p:sp>
      <p:sp>
        <p:nvSpPr>
          <p:cNvPr id="11" name="Persona"/>
          <p:cNvSpPr/>
          <p:nvPr/>
        </p:nvSpPr>
        <p:spPr>
          <a:xfrm>
            <a:off x="2386584" y="2194560"/>
            <a:ext cx="256032" cy="256032"/>
          </a:xfrm>
          <a:prstGeom prst="ellipse">
            <a:avLst/>
          </a:prstGeom>
          <a:solidFill>
            <a:srgbClr val="C4C7C5"/>
          </a:solidFill>
          <a:ln/>
        </p:spPr>
      </p:sp>
      <p:sp>
        <p:nvSpPr>
          <p:cNvPr id="12" name="Persona"/>
          <p:cNvSpPr/>
          <p:nvPr/>
        </p:nvSpPr>
        <p:spPr>
          <a:xfrm>
            <a:off x="2290572" y="2488997"/>
            <a:ext cx="448056" cy="448056"/>
          </a:xfrm>
          <a:prstGeom prst="roundRect">
            <a:avLst>
              <a:gd name="adj" fmla="val 35714"/>
            </a:avLst>
          </a:prstGeom>
          <a:solidFill>
            <a:srgbClr val="C4C7C5"/>
          </a:solidFill>
          <a:ln/>
        </p:spPr>
      </p:sp>
      <p:sp>
        <p:nvSpPr>
          <p:cNvPr id="13" name="Persona"/>
          <p:cNvSpPr/>
          <p:nvPr/>
        </p:nvSpPr>
        <p:spPr>
          <a:xfrm>
            <a:off x="3072384" y="2194560"/>
            <a:ext cx="256032" cy="256032"/>
          </a:xfrm>
          <a:prstGeom prst="ellipse">
            <a:avLst/>
          </a:prstGeom>
          <a:solidFill>
            <a:srgbClr val="C4C7C5"/>
          </a:solidFill>
          <a:ln/>
        </p:spPr>
      </p:sp>
      <p:sp>
        <p:nvSpPr>
          <p:cNvPr id="14" name="Persona"/>
          <p:cNvSpPr/>
          <p:nvPr/>
        </p:nvSpPr>
        <p:spPr>
          <a:xfrm>
            <a:off x="2976372" y="2488997"/>
            <a:ext cx="448056" cy="448056"/>
          </a:xfrm>
          <a:prstGeom prst="roundRect">
            <a:avLst>
              <a:gd name="adj" fmla="val 35714"/>
            </a:avLst>
          </a:prstGeom>
          <a:solidFill>
            <a:srgbClr val="C4C7C5"/>
          </a:solidFill>
          <a:ln/>
        </p:spPr>
      </p:sp>
      <p:sp>
        <p:nvSpPr>
          <p:cNvPr id="15" name="Persona"/>
          <p:cNvSpPr/>
          <p:nvPr/>
        </p:nvSpPr>
        <p:spPr>
          <a:xfrm>
            <a:off x="3758184" y="2194560"/>
            <a:ext cx="256032" cy="256032"/>
          </a:xfrm>
          <a:prstGeom prst="ellipse">
            <a:avLst/>
          </a:prstGeom>
          <a:solidFill>
            <a:srgbClr val="C4C7C5"/>
          </a:solidFill>
          <a:ln/>
        </p:spPr>
      </p:sp>
      <p:sp>
        <p:nvSpPr>
          <p:cNvPr id="16" name="Persona"/>
          <p:cNvSpPr/>
          <p:nvPr/>
        </p:nvSpPr>
        <p:spPr>
          <a:xfrm>
            <a:off x="3662172" y="2488997"/>
            <a:ext cx="448056" cy="448056"/>
          </a:xfrm>
          <a:prstGeom prst="roundRect">
            <a:avLst>
              <a:gd name="adj" fmla="val 35714"/>
            </a:avLst>
          </a:prstGeom>
          <a:solidFill>
            <a:srgbClr val="C4C7C5"/>
          </a:solidFill>
          <a:ln/>
        </p:spPr>
      </p:sp>
      <p:sp>
        <p:nvSpPr>
          <p:cNvPr id="17" name="Persona"/>
          <p:cNvSpPr/>
          <p:nvPr/>
        </p:nvSpPr>
        <p:spPr>
          <a:xfrm>
            <a:off x="1014984" y="3108960"/>
            <a:ext cx="256032" cy="256032"/>
          </a:xfrm>
          <a:prstGeom prst="ellipse">
            <a:avLst/>
          </a:prstGeom>
          <a:solidFill>
            <a:srgbClr val="C4C7C5"/>
          </a:solidFill>
          <a:ln/>
        </p:spPr>
      </p:sp>
      <p:sp>
        <p:nvSpPr>
          <p:cNvPr id="18" name="Persona"/>
          <p:cNvSpPr/>
          <p:nvPr/>
        </p:nvSpPr>
        <p:spPr>
          <a:xfrm>
            <a:off x="918972" y="3403397"/>
            <a:ext cx="448056" cy="448056"/>
          </a:xfrm>
          <a:prstGeom prst="roundRect">
            <a:avLst>
              <a:gd name="adj" fmla="val 35714"/>
            </a:avLst>
          </a:prstGeom>
          <a:solidFill>
            <a:srgbClr val="C4C7C5"/>
          </a:solidFill>
          <a:ln/>
        </p:spPr>
      </p:sp>
      <p:sp>
        <p:nvSpPr>
          <p:cNvPr id="19" name="Persona"/>
          <p:cNvSpPr/>
          <p:nvPr/>
        </p:nvSpPr>
        <p:spPr>
          <a:xfrm>
            <a:off x="1700784" y="3108960"/>
            <a:ext cx="256032" cy="256032"/>
          </a:xfrm>
          <a:prstGeom prst="ellipse">
            <a:avLst/>
          </a:prstGeom>
          <a:solidFill>
            <a:srgbClr val="C4C7C5"/>
          </a:solidFill>
          <a:ln/>
        </p:spPr>
      </p:sp>
      <p:sp>
        <p:nvSpPr>
          <p:cNvPr id="20" name="Persona"/>
          <p:cNvSpPr/>
          <p:nvPr/>
        </p:nvSpPr>
        <p:spPr>
          <a:xfrm>
            <a:off x="1604772" y="3403397"/>
            <a:ext cx="448056" cy="448056"/>
          </a:xfrm>
          <a:prstGeom prst="roundRect">
            <a:avLst>
              <a:gd name="adj" fmla="val 35714"/>
            </a:avLst>
          </a:prstGeom>
          <a:solidFill>
            <a:srgbClr val="C4C7C5"/>
          </a:solidFill>
          <a:ln/>
        </p:spPr>
      </p:sp>
      <p:sp>
        <p:nvSpPr>
          <p:cNvPr id="21" name="Persona"/>
          <p:cNvSpPr/>
          <p:nvPr/>
        </p:nvSpPr>
        <p:spPr>
          <a:xfrm>
            <a:off x="2386584" y="3108960"/>
            <a:ext cx="256032" cy="256032"/>
          </a:xfrm>
          <a:prstGeom prst="ellipse">
            <a:avLst/>
          </a:prstGeom>
          <a:solidFill>
            <a:srgbClr val="C4C7C5"/>
          </a:solidFill>
          <a:ln/>
        </p:spPr>
      </p:sp>
      <p:sp>
        <p:nvSpPr>
          <p:cNvPr id="22" name="Persona"/>
          <p:cNvSpPr/>
          <p:nvPr/>
        </p:nvSpPr>
        <p:spPr>
          <a:xfrm>
            <a:off x="2290572" y="3403397"/>
            <a:ext cx="448056" cy="448056"/>
          </a:xfrm>
          <a:prstGeom prst="roundRect">
            <a:avLst>
              <a:gd name="adj" fmla="val 35714"/>
            </a:avLst>
          </a:prstGeom>
          <a:solidFill>
            <a:srgbClr val="C4C7C5"/>
          </a:solidFill>
          <a:ln/>
        </p:spPr>
      </p:sp>
      <p:sp>
        <p:nvSpPr>
          <p:cNvPr id="23" name="Persona"/>
          <p:cNvSpPr/>
          <p:nvPr/>
        </p:nvSpPr>
        <p:spPr>
          <a:xfrm>
            <a:off x="3072384" y="3108960"/>
            <a:ext cx="256032" cy="256032"/>
          </a:xfrm>
          <a:prstGeom prst="ellipse">
            <a:avLst/>
          </a:prstGeom>
          <a:solidFill>
            <a:srgbClr val="C4C7C5"/>
          </a:solidFill>
          <a:ln/>
        </p:spPr>
      </p:sp>
      <p:sp>
        <p:nvSpPr>
          <p:cNvPr id="24" name="Persona"/>
          <p:cNvSpPr/>
          <p:nvPr/>
        </p:nvSpPr>
        <p:spPr>
          <a:xfrm>
            <a:off x="2976372" y="3403397"/>
            <a:ext cx="448056" cy="448056"/>
          </a:xfrm>
          <a:prstGeom prst="roundRect">
            <a:avLst>
              <a:gd name="adj" fmla="val 35714"/>
            </a:avLst>
          </a:prstGeom>
          <a:solidFill>
            <a:srgbClr val="C4C7C5"/>
          </a:solidFill>
          <a:ln/>
        </p:spPr>
      </p:sp>
      <p:sp>
        <p:nvSpPr>
          <p:cNvPr id="25" name="Persona"/>
          <p:cNvSpPr/>
          <p:nvPr/>
        </p:nvSpPr>
        <p:spPr>
          <a:xfrm>
            <a:off x="3758184" y="3108960"/>
            <a:ext cx="256032" cy="256032"/>
          </a:xfrm>
          <a:prstGeom prst="ellipse">
            <a:avLst/>
          </a:prstGeom>
          <a:solidFill>
            <a:srgbClr val="C4C7C5"/>
          </a:solidFill>
          <a:ln/>
        </p:spPr>
      </p:sp>
      <p:sp>
        <p:nvSpPr>
          <p:cNvPr id="26" name="Persona"/>
          <p:cNvSpPr/>
          <p:nvPr/>
        </p:nvSpPr>
        <p:spPr>
          <a:xfrm>
            <a:off x="3662172" y="3403397"/>
            <a:ext cx="448056" cy="448056"/>
          </a:xfrm>
          <a:prstGeom prst="roundRect">
            <a:avLst>
              <a:gd name="adj" fmla="val 35714"/>
            </a:avLst>
          </a:prstGeom>
          <a:solidFill>
            <a:srgbClr val="C4C7C5"/>
          </a:solidFill>
          <a:ln/>
        </p:spPr>
      </p:sp>
      <p:sp>
        <p:nvSpPr>
          <p:cNvPr id="27" name="Text 25"/>
          <p:cNvSpPr txBox="1"/>
          <p:nvPr/>
        </p:nvSpPr>
        <p:spPr>
          <a:xfrm>
            <a:off x="822960" y="4206240"/>
            <a:ext cx="3474720" cy="1645920"/>
          </a:xfrm>
          <a:prstGeom prst="rect">
            <a:avLst/>
          </a:prstGeom>
          <a:noFill/>
          <a:ln/>
        </p:spPr>
        <p:txBody>
          <a:bodyPr wrap="square" lIns="0" tIns="0" rIns="0" bIns="0" rtlCol="0" anchor="t"/>
          <a:lstStyle/>
          <a:p>
            <a:pPr indent="0" marL="0">
              <a:buNone/>
            </a:pPr>
            <a:r>
              <a:rPr lang="en-US" sz="2600" b="1" dirty="0">
                <a:solidFill>
                  <a:srgbClr val="188038"/>
                </a:solidFill>
                <a:latin typeface="Roboto" pitchFamily="34" charset="0"/>
                <a:ea typeface="Roboto" pitchFamily="34" charset="-122"/>
                <a:cs typeface="Roboto" pitchFamily="34" charset="-120"/>
              </a:rPr>
              <a:t>1 de cada 10</a:t>
            </a:r>
            <a:endParaRPr lang="en-US" sz="2600" dirty="0"/>
          </a:p>
          <a:p>
            <a:pPr indent="0" marL="0">
              <a:buNone/>
            </a:pPr>
            <a:r>
              <a:rPr lang="en-US" sz="1700" dirty="0">
                <a:solidFill>
                  <a:srgbClr val="202124"/>
                </a:solidFill>
                <a:latin typeface="Roboto" pitchFamily="34" charset="0"/>
                <a:ea typeface="Roboto" pitchFamily="34" charset="-122"/>
                <a:cs typeface="Roboto" pitchFamily="34" charset="-120"/>
              </a:rPr>
              <a:t>habitants de l'Àtica podia participar en política.</a:t>
            </a:r>
            <a:endParaRPr lang="en-US" sz="2600" dirty="0"/>
          </a:p>
        </p:txBody>
      </p:sp>
      <p:sp>
        <p:nvSpPr>
          <p:cNvPr id="28" name="Targeta Les dones"/>
          <p:cNvSpPr/>
          <p:nvPr/>
        </p:nvSpPr>
        <p:spPr>
          <a:xfrm>
            <a:off x="4754880" y="1965960"/>
            <a:ext cx="2143658" cy="4023360"/>
          </a:xfrm>
          <a:prstGeom prst="roundRect">
            <a:avLst>
              <a:gd name="adj" fmla="val 4692"/>
            </a:avLst>
          </a:prstGeom>
          <a:solidFill>
            <a:srgbClr val="FFFFFF"/>
          </a:solidFill>
          <a:ln w="12700">
            <a:solidFill>
              <a:srgbClr val="DADCE0"/>
            </a:solidFill>
            <a:prstDash val="solid"/>
          </a:ln>
        </p:spPr>
      </p:sp>
      <p:sp>
        <p:nvSpPr>
          <p:cNvPr id="29" name="Cercle icona"/>
          <p:cNvSpPr/>
          <p:nvPr/>
        </p:nvSpPr>
        <p:spPr>
          <a:xfrm>
            <a:off x="4983480" y="2194560"/>
            <a:ext cx="731520" cy="731520"/>
          </a:xfrm>
          <a:prstGeom prst="ellipse">
            <a:avLst/>
          </a:prstGeom>
          <a:solidFill>
            <a:srgbClr val="E6F4EA"/>
          </a:solidFill>
          <a:ln/>
        </p:spPr>
      </p:sp>
      <p:pic>
        <p:nvPicPr>
          <p:cNvPr id="30" name="Icona TbGenderFemale" descr="/home/claude/work/build/img/ic/TbGenderFemale-g.png">    </p:cNvPr>
          <p:cNvPicPr>
            <a:picLocks noChangeAspect="1"/>
          </p:cNvPicPr>
          <p:nvPr/>
        </p:nvPicPr>
        <p:blipFill>
          <a:blip r:embed="rId1"/>
          <a:stretch>
            <a:fillRect/>
          </a:stretch>
        </p:blipFill>
        <p:spPr>
          <a:xfrm>
            <a:off x="5144414" y="2355494"/>
            <a:ext cx="409651" cy="409651"/>
          </a:xfrm>
          <a:prstGeom prst="rect">
            <a:avLst/>
          </a:prstGeom>
        </p:spPr>
      </p:pic>
      <p:sp>
        <p:nvSpPr>
          <p:cNvPr id="31" name="Text 28"/>
          <p:cNvSpPr txBox="1"/>
          <p:nvPr/>
        </p:nvSpPr>
        <p:spPr>
          <a:xfrm>
            <a:off x="4983480" y="3063240"/>
            <a:ext cx="1686458" cy="289560"/>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Les dones</a:t>
            </a:r>
            <a:endParaRPr lang="en-US" sz="1900" dirty="0"/>
          </a:p>
        </p:txBody>
      </p:sp>
      <p:sp>
        <p:nvSpPr>
          <p:cNvPr id="32" name="Text 29"/>
          <p:cNvSpPr txBox="1"/>
          <p:nvPr/>
        </p:nvSpPr>
        <p:spPr>
          <a:xfrm>
            <a:off x="4983480" y="3444240"/>
            <a:ext cx="1686458" cy="2407920"/>
          </a:xfrm>
          <a:prstGeom prst="rect">
            <a:avLst/>
          </a:prstGeom>
          <a:noFill/>
          <a:ln/>
        </p:spPr>
        <p:txBody>
          <a:bodyPr wrap="square" lIns="0" tIns="0" rIns="0" bIns="0" rtlCol="0" anchor="t"/>
          <a:lstStyle/>
          <a:p>
            <a:pPr indent="0" marL="0">
              <a:buNone/>
            </a:pPr>
            <a:r>
              <a:rPr lang="en-US" sz="1600" dirty="0">
                <a:solidFill>
                  <a:srgbClr val="202124"/>
                </a:solidFill>
                <a:latin typeface="Roboto" pitchFamily="34" charset="0"/>
                <a:ea typeface="Roboto" pitchFamily="34" charset="-122"/>
                <a:cs typeface="Roboto" pitchFamily="34" charset="-120"/>
              </a:rPr>
              <a:t>Sense cap dret polític, ni a Atenes ni enlloc del món grec.</a:t>
            </a:r>
            <a:endParaRPr lang="en-US" sz="1600" dirty="0"/>
          </a:p>
        </p:txBody>
      </p:sp>
      <p:sp>
        <p:nvSpPr>
          <p:cNvPr id="33" name="Targeta Els metecs"/>
          <p:cNvSpPr/>
          <p:nvPr/>
        </p:nvSpPr>
        <p:spPr>
          <a:xfrm>
            <a:off x="7127138" y="1965960"/>
            <a:ext cx="2143658" cy="4023360"/>
          </a:xfrm>
          <a:prstGeom prst="roundRect">
            <a:avLst>
              <a:gd name="adj" fmla="val 4692"/>
            </a:avLst>
          </a:prstGeom>
          <a:solidFill>
            <a:srgbClr val="FFFFFF"/>
          </a:solidFill>
          <a:ln w="12700">
            <a:solidFill>
              <a:srgbClr val="DADCE0"/>
            </a:solidFill>
            <a:prstDash val="solid"/>
          </a:ln>
        </p:spPr>
      </p:sp>
      <p:sp>
        <p:nvSpPr>
          <p:cNvPr id="34" name="Cercle icona"/>
          <p:cNvSpPr/>
          <p:nvPr/>
        </p:nvSpPr>
        <p:spPr>
          <a:xfrm>
            <a:off x="7355738" y="2194560"/>
            <a:ext cx="731520" cy="731520"/>
          </a:xfrm>
          <a:prstGeom prst="ellipse">
            <a:avLst/>
          </a:prstGeom>
          <a:solidFill>
            <a:srgbClr val="E6F4EA"/>
          </a:solidFill>
          <a:ln/>
        </p:spPr>
      </p:sp>
      <p:pic>
        <p:nvPicPr>
          <p:cNvPr id="35" name="Icona TbShip" descr="/home/claude/work/build/img/ic/TbShip-g.png">    </p:cNvPr>
          <p:cNvPicPr>
            <a:picLocks noChangeAspect="1"/>
          </p:cNvPicPr>
          <p:nvPr/>
        </p:nvPicPr>
        <p:blipFill>
          <a:blip r:embed="rId2"/>
          <a:stretch>
            <a:fillRect/>
          </a:stretch>
        </p:blipFill>
        <p:spPr>
          <a:xfrm>
            <a:off x="7516673" y="2355494"/>
            <a:ext cx="409651" cy="409651"/>
          </a:xfrm>
          <a:prstGeom prst="rect">
            <a:avLst/>
          </a:prstGeom>
        </p:spPr>
      </p:pic>
      <p:sp>
        <p:nvSpPr>
          <p:cNvPr id="36" name="Text 32"/>
          <p:cNvSpPr txBox="1"/>
          <p:nvPr/>
        </p:nvSpPr>
        <p:spPr>
          <a:xfrm>
            <a:off x="7355738" y="3063240"/>
            <a:ext cx="1686458" cy="289560"/>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Els metecs</a:t>
            </a:r>
            <a:endParaRPr lang="en-US" sz="1900" dirty="0"/>
          </a:p>
        </p:txBody>
      </p:sp>
      <p:sp>
        <p:nvSpPr>
          <p:cNvPr id="37" name="Text 33"/>
          <p:cNvSpPr txBox="1"/>
          <p:nvPr/>
        </p:nvSpPr>
        <p:spPr>
          <a:xfrm>
            <a:off x="7355738" y="3444240"/>
            <a:ext cx="1686458" cy="2407920"/>
          </a:xfrm>
          <a:prstGeom prst="rect">
            <a:avLst/>
          </a:prstGeom>
          <a:noFill/>
          <a:ln/>
        </p:spPr>
        <p:txBody>
          <a:bodyPr wrap="square" lIns="0" tIns="0" rIns="0" bIns="0" rtlCol="0" anchor="t"/>
          <a:lstStyle/>
          <a:p>
            <a:pPr indent="0" marL="0">
              <a:buNone/>
            </a:pPr>
            <a:r>
              <a:rPr lang="en-US" sz="1600" dirty="0">
                <a:solidFill>
                  <a:srgbClr val="202124"/>
                </a:solidFill>
                <a:latin typeface="Roboto" pitchFamily="34" charset="0"/>
                <a:ea typeface="Roboto" pitchFamily="34" charset="-122"/>
                <a:cs typeface="Roboto" pitchFamily="34" charset="-120"/>
              </a:rPr>
              <a:t>Estrangers residents, lliures i sovint comerciants. Sense drets polítics i amb impostos especials.</a:t>
            </a:r>
            <a:endParaRPr lang="en-US" sz="1600" dirty="0"/>
          </a:p>
        </p:txBody>
      </p:sp>
      <p:sp>
        <p:nvSpPr>
          <p:cNvPr id="38" name="Targeta Els esclaus"/>
          <p:cNvSpPr/>
          <p:nvPr/>
        </p:nvSpPr>
        <p:spPr>
          <a:xfrm>
            <a:off x="9499397" y="1965960"/>
            <a:ext cx="2143658" cy="4023360"/>
          </a:xfrm>
          <a:prstGeom prst="roundRect">
            <a:avLst>
              <a:gd name="adj" fmla="val 4692"/>
            </a:avLst>
          </a:prstGeom>
          <a:solidFill>
            <a:srgbClr val="FFFFFF"/>
          </a:solidFill>
          <a:ln w="12700">
            <a:solidFill>
              <a:srgbClr val="DADCE0"/>
            </a:solidFill>
            <a:prstDash val="solid"/>
          </a:ln>
        </p:spPr>
      </p:sp>
      <p:sp>
        <p:nvSpPr>
          <p:cNvPr id="39" name="Cercle icona"/>
          <p:cNvSpPr/>
          <p:nvPr/>
        </p:nvSpPr>
        <p:spPr>
          <a:xfrm>
            <a:off x="9727997" y="2194560"/>
            <a:ext cx="731520" cy="731520"/>
          </a:xfrm>
          <a:prstGeom prst="ellipse">
            <a:avLst/>
          </a:prstGeom>
          <a:solidFill>
            <a:srgbClr val="E6F4EA"/>
          </a:solidFill>
          <a:ln/>
        </p:spPr>
      </p:sp>
      <p:pic>
        <p:nvPicPr>
          <p:cNvPr id="40" name="Icona TbLink" descr="/home/claude/work/build/img/ic/TbLink-g.png">    </p:cNvPr>
          <p:cNvPicPr>
            <a:picLocks noChangeAspect="1"/>
          </p:cNvPicPr>
          <p:nvPr/>
        </p:nvPicPr>
        <p:blipFill>
          <a:blip r:embed="rId3"/>
          <a:stretch>
            <a:fillRect/>
          </a:stretch>
        </p:blipFill>
        <p:spPr>
          <a:xfrm>
            <a:off x="9888931" y="2355494"/>
            <a:ext cx="409651" cy="409651"/>
          </a:xfrm>
          <a:prstGeom prst="rect">
            <a:avLst/>
          </a:prstGeom>
        </p:spPr>
      </p:pic>
      <p:sp>
        <p:nvSpPr>
          <p:cNvPr id="41" name="Text 36"/>
          <p:cNvSpPr txBox="1"/>
          <p:nvPr/>
        </p:nvSpPr>
        <p:spPr>
          <a:xfrm>
            <a:off x="9727997" y="3063240"/>
            <a:ext cx="1686458" cy="289560"/>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Els esclaus</a:t>
            </a:r>
            <a:endParaRPr lang="en-US" sz="1900" dirty="0"/>
          </a:p>
        </p:txBody>
      </p:sp>
      <p:sp>
        <p:nvSpPr>
          <p:cNvPr id="42" name="Text 37"/>
          <p:cNvSpPr txBox="1"/>
          <p:nvPr/>
        </p:nvSpPr>
        <p:spPr>
          <a:xfrm>
            <a:off x="9727997" y="3444240"/>
            <a:ext cx="1686458" cy="2407920"/>
          </a:xfrm>
          <a:prstGeom prst="rect">
            <a:avLst/>
          </a:prstGeom>
          <a:noFill/>
          <a:ln/>
        </p:spPr>
        <p:txBody>
          <a:bodyPr wrap="square" lIns="0" tIns="0" rIns="0" bIns="0" rtlCol="0" anchor="t"/>
          <a:lstStyle/>
          <a:p>
            <a:pPr indent="0" marL="0">
              <a:buNone/>
            </a:pPr>
            <a:r>
              <a:rPr lang="en-US" sz="1600" dirty="0">
                <a:solidFill>
                  <a:srgbClr val="202124"/>
                </a:solidFill>
                <a:latin typeface="Roboto" pitchFamily="34" charset="0"/>
                <a:ea typeface="Roboto" pitchFamily="34" charset="-122"/>
                <a:cs typeface="Roboto" pitchFamily="34" charset="-120"/>
              </a:rPr>
              <a:t>Potser un terç de la població, tot i que les xifres són molt discutides. Sense cap dret.</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2</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Directa o representativa?</a:t>
            </a:r>
            <a:endParaRPr lang="en-US" sz="2800" dirty="0"/>
          </a:p>
        </p:txBody>
      </p:sp>
      <p:sp>
        <p:nvSpPr>
          <p:cNvPr id="5" name="Atenes"/>
          <p:cNvSpPr/>
          <p:nvPr/>
        </p:nvSpPr>
        <p:spPr>
          <a:xfrm>
            <a:off x="548640" y="1371600"/>
            <a:ext cx="5410048" cy="3246120"/>
          </a:xfrm>
          <a:prstGeom prst="roundRect">
            <a:avLst>
              <a:gd name="adj" fmla="val 3099"/>
            </a:avLst>
          </a:prstGeom>
          <a:solidFill>
            <a:srgbClr val="FFFFFF"/>
          </a:solidFill>
          <a:ln w="12700">
            <a:solidFill>
              <a:srgbClr val="DADCE0"/>
            </a:solidFill>
            <a:prstDash val="solid"/>
          </a:ln>
        </p:spPr>
      </p:sp>
      <p:sp>
        <p:nvSpPr>
          <p:cNvPr id="6" name="Fons La Pnyx, on es reunia l'assemblea"/>
          <p:cNvSpPr/>
          <p:nvPr/>
        </p:nvSpPr>
        <p:spPr>
          <a:xfrm>
            <a:off x="777240" y="1600200"/>
            <a:ext cx="2286000" cy="1514911"/>
          </a:xfrm>
          <a:prstGeom prst="roundRect">
            <a:avLst>
              <a:gd name="adj" fmla="val 6640"/>
            </a:avLst>
          </a:prstGeom>
          <a:solidFill>
            <a:srgbClr val="F6F8FB"/>
          </a:solidFill>
          <a:ln/>
        </p:spPr>
      </p:sp>
      <p:pic>
        <p:nvPicPr>
          <p:cNvPr id="7" name="La Pnyx, on es reunia l'assemblea" descr="/home/claude/work/build/img/acropnyx.jpg">    </p:cNvPr>
          <p:cNvPicPr>
            <a:picLocks noChangeAspect="1"/>
          </p:cNvPicPr>
          <p:nvPr/>
        </p:nvPicPr>
        <p:blipFill>
          <a:blip r:embed="rId1"/>
          <a:stretch>
            <a:fillRect/>
          </a:stretch>
        </p:blipFill>
        <p:spPr>
          <a:xfrm>
            <a:off x="777240" y="1600200"/>
            <a:ext cx="2286000" cy="1514911"/>
          </a:xfrm>
          <a:prstGeom prst="rect">
            <a:avLst/>
          </a:prstGeom>
        </p:spPr>
      </p:pic>
      <p:sp>
        <p:nvSpPr>
          <p:cNvPr id="8" name="Text 5"/>
          <p:cNvSpPr txBox="1"/>
          <p:nvPr/>
        </p:nvSpPr>
        <p:spPr>
          <a:xfrm>
            <a:off x="777240" y="3206551"/>
            <a:ext cx="2286000"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La Pnyx, on es reunia l'assemblea. Al fons, l'Acròpolis. Foto: Peulle, Wikimedia Commons, CC BY-SA 4.0.</a:t>
            </a:r>
            <a:endParaRPr lang="en-US" sz="1000" dirty="0"/>
          </a:p>
        </p:txBody>
      </p:sp>
      <p:sp>
        <p:nvSpPr>
          <p:cNvPr id="9" name="Text 6"/>
          <p:cNvSpPr txBox="1"/>
          <p:nvPr/>
        </p:nvSpPr>
        <p:spPr>
          <a:xfrm>
            <a:off x="3291840" y="1600200"/>
            <a:ext cx="2438248" cy="640080"/>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Atenes · directa</a:t>
            </a:r>
            <a:endParaRPr lang="en-US" sz="1900" dirty="0"/>
          </a:p>
        </p:txBody>
      </p:sp>
      <p:sp>
        <p:nvSpPr>
          <p:cNvPr id="10" name="Text 7"/>
          <p:cNvSpPr txBox="1"/>
          <p:nvPr/>
        </p:nvSpPr>
        <p:spPr>
          <a:xfrm>
            <a:off x="3291840" y="2286000"/>
            <a:ext cx="2438248" cy="219456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Els ciutadans votaven personalment cada llei, sense diputats pel mig.</a:t>
            </a:r>
            <a:endParaRPr lang="en-US" sz="1700" dirty="0"/>
          </a:p>
        </p:txBody>
      </p:sp>
      <p:sp>
        <p:nvSpPr>
          <p:cNvPr id="11" name="Avui"/>
          <p:cNvSpPr/>
          <p:nvPr/>
        </p:nvSpPr>
        <p:spPr>
          <a:xfrm>
            <a:off x="6233008" y="1371600"/>
            <a:ext cx="5410048" cy="3246120"/>
          </a:xfrm>
          <a:prstGeom prst="roundRect">
            <a:avLst>
              <a:gd name="adj" fmla="val 3099"/>
            </a:avLst>
          </a:prstGeom>
          <a:solidFill>
            <a:srgbClr val="FFFFFF"/>
          </a:solidFill>
          <a:ln w="12700">
            <a:solidFill>
              <a:srgbClr val="DADCE0"/>
            </a:solidFill>
            <a:prstDash val="solid"/>
          </a:ln>
        </p:spPr>
      </p:sp>
      <p:sp>
        <p:nvSpPr>
          <p:cNvPr id="12" name="Cercle icona"/>
          <p:cNvSpPr/>
          <p:nvPr/>
        </p:nvSpPr>
        <p:spPr>
          <a:xfrm>
            <a:off x="6461608" y="1600200"/>
            <a:ext cx="1005840" cy="1005840"/>
          </a:xfrm>
          <a:prstGeom prst="ellipse">
            <a:avLst/>
          </a:prstGeom>
          <a:solidFill>
            <a:srgbClr val="E6F4EA"/>
          </a:solidFill>
          <a:ln/>
        </p:spPr>
      </p:sp>
      <p:pic>
        <p:nvPicPr>
          <p:cNvPr id="13" name="Icona TbUserCheck" descr="/home/claude/work/build/img/ic/TbUserCheck-g.png">    </p:cNvPr>
          <p:cNvPicPr>
            <a:picLocks noChangeAspect="1"/>
          </p:cNvPicPr>
          <p:nvPr/>
        </p:nvPicPr>
        <p:blipFill>
          <a:blip r:embed="rId2"/>
          <a:stretch>
            <a:fillRect/>
          </a:stretch>
        </p:blipFill>
        <p:spPr>
          <a:xfrm>
            <a:off x="6682892" y="1821485"/>
            <a:ext cx="563270" cy="563270"/>
          </a:xfrm>
          <a:prstGeom prst="rect">
            <a:avLst/>
          </a:prstGeom>
        </p:spPr>
      </p:pic>
      <p:sp>
        <p:nvSpPr>
          <p:cNvPr id="14" name="Text 10"/>
          <p:cNvSpPr txBox="1"/>
          <p:nvPr/>
        </p:nvSpPr>
        <p:spPr>
          <a:xfrm>
            <a:off x="7696048" y="1600200"/>
            <a:ext cx="3444088" cy="1005840"/>
          </a:xfrm>
          <a:prstGeom prst="rect">
            <a:avLst/>
          </a:prstGeom>
          <a:noFill/>
          <a:ln/>
        </p:spPr>
        <p:txBody>
          <a:bodyPr wrap="square" lIns="0" tIns="0" rIns="0" bIns="0" rtlCol="0" anchor="ctr"/>
          <a:lstStyle/>
          <a:p>
            <a:pPr indent="0" marL="0">
              <a:buNone/>
            </a:pPr>
            <a:r>
              <a:rPr lang="en-US" sz="1900" b="1" dirty="0">
                <a:solidFill>
                  <a:srgbClr val="188038"/>
                </a:solidFill>
                <a:latin typeface="Roboto" pitchFamily="34" charset="0"/>
                <a:ea typeface="Roboto" pitchFamily="34" charset="-122"/>
                <a:cs typeface="Roboto" pitchFamily="34" charset="-120"/>
              </a:rPr>
              <a:t>Avui · representativa</a:t>
            </a:r>
            <a:endParaRPr lang="en-US" sz="1900" dirty="0"/>
          </a:p>
        </p:txBody>
      </p:sp>
      <p:sp>
        <p:nvSpPr>
          <p:cNvPr id="15" name="Text 11"/>
          <p:cNvSpPr txBox="1"/>
          <p:nvPr/>
        </p:nvSpPr>
        <p:spPr>
          <a:xfrm>
            <a:off x="6461608" y="2834640"/>
            <a:ext cx="4678528" cy="164592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Triem representants perquè decideixin per nosaltres.</a:t>
            </a:r>
            <a:endParaRPr lang="en-US" sz="1700" dirty="0"/>
          </a:p>
        </p:txBody>
      </p:sp>
      <p:sp>
        <p:nvSpPr>
          <p:cNvPr id="16" name="Saps que…?"/>
          <p:cNvSpPr/>
          <p:nvPr/>
        </p:nvSpPr>
        <p:spPr>
          <a:xfrm>
            <a:off x="548640" y="4846320"/>
            <a:ext cx="11094415" cy="1143000"/>
          </a:xfrm>
          <a:prstGeom prst="roundRect">
            <a:avLst>
              <a:gd name="adj" fmla="val 8800"/>
            </a:avLst>
          </a:prstGeom>
          <a:solidFill>
            <a:srgbClr val="E6F4EA"/>
          </a:solidFill>
          <a:ln/>
        </p:spPr>
      </p:sp>
      <p:sp>
        <p:nvSpPr>
          <p:cNvPr id="17" name="Text 13"/>
          <p:cNvSpPr txBox="1"/>
          <p:nvPr/>
        </p:nvSpPr>
        <p:spPr>
          <a:xfrm>
            <a:off x="868680" y="5001768"/>
            <a:ext cx="1045433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Saps que…?</a:t>
            </a:r>
            <a:endParaRPr lang="en-US" sz="1400" dirty="0"/>
          </a:p>
        </p:txBody>
      </p:sp>
      <p:sp>
        <p:nvSpPr>
          <p:cNvPr id="18" name="Text 14"/>
          <p:cNvSpPr txBox="1"/>
          <p:nvPr/>
        </p:nvSpPr>
        <p:spPr>
          <a:xfrm>
            <a:off x="868680" y="5349240"/>
            <a:ext cx="10454335" cy="50292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Dins la teva vida, què s'assembla més a l'esperit atenès? Potser votar a mà alçada les decisions de la classe o del consell de delegats.</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2</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La vida quotidiana a Atenes</a:t>
            </a:r>
            <a:endParaRPr lang="en-US" sz="2800" dirty="0"/>
          </a:p>
        </p:txBody>
      </p:sp>
      <p:sp>
        <p:nvSpPr>
          <p:cNvPr id="5" name="Text 3"/>
          <p:cNvSpPr txBox="1"/>
          <p:nvPr/>
        </p:nvSpPr>
        <p:spPr>
          <a:xfrm>
            <a:off x="548640" y="1371600"/>
            <a:ext cx="11094415" cy="82296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Ser ciutadà o no ser-ho ho canviava tot. A Atenes no vivia igual un home que una dona, una persona lliure que un esclau, ni un ric que un pobre.</a:t>
            </a:r>
            <a:endParaRPr lang="en-US" sz="1800" dirty="0"/>
          </a:p>
        </p:txBody>
      </p:sp>
      <p:sp>
        <p:nvSpPr>
          <p:cNvPr id="6" name="Text 4"/>
          <p:cNvSpPr txBox="1"/>
          <p:nvPr/>
        </p:nvSpPr>
        <p:spPr>
          <a:xfrm>
            <a:off x="548640" y="2331720"/>
            <a:ext cx="11094415" cy="411480"/>
          </a:xfrm>
          <a:prstGeom prst="rect">
            <a:avLst/>
          </a:prstGeom>
          <a:noFill/>
          <a:ln/>
        </p:spPr>
        <p:txBody>
          <a:bodyPr wrap="square" lIns="0" tIns="0" rIns="0" bIns="0" rtlCol="0" anchor="t"/>
          <a:lstStyle/>
          <a:p>
            <a:pPr indent="0" marL="0">
              <a:buNone/>
            </a:pPr>
            <a:r>
              <a:rPr lang="en-US" sz="1800" b="1" dirty="0">
                <a:solidFill>
                  <a:srgbClr val="188038"/>
                </a:solidFill>
                <a:latin typeface="Roboto" pitchFamily="34" charset="0"/>
                <a:ea typeface="Roboto" pitchFamily="34" charset="-122"/>
                <a:cs typeface="Roboto" pitchFamily="34" charset="-120"/>
              </a:rPr>
              <a:t>El centre de la vida era l'oikos. Què hi havia a dins?</a:t>
            </a:r>
            <a:endParaRPr lang="en-US" sz="1800" dirty="0"/>
          </a:p>
        </p:txBody>
      </p:sp>
      <p:sp>
        <p:nvSpPr>
          <p:cNvPr id="7" name="Oikos la casa"/>
          <p:cNvSpPr/>
          <p:nvPr/>
        </p:nvSpPr>
        <p:spPr>
          <a:xfrm>
            <a:off x="548640" y="2880360"/>
            <a:ext cx="2331720" cy="1828800"/>
          </a:xfrm>
          <a:prstGeom prst="roundRect">
            <a:avLst>
              <a:gd name="adj" fmla="val 5500"/>
            </a:avLst>
          </a:prstGeom>
          <a:solidFill>
            <a:srgbClr val="FFFFFF"/>
          </a:solidFill>
          <a:ln w="12700">
            <a:solidFill>
              <a:srgbClr val="DADCE0"/>
            </a:solidFill>
            <a:prstDash val="solid"/>
          </a:ln>
        </p:spPr>
      </p:sp>
      <p:sp>
        <p:nvSpPr>
          <p:cNvPr id="8" name="Cercle icona"/>
          <p:cNvSpPr/>
          <p:nvPr/>
        </p:nvSpPr>
        <p:spPr>
          <a:xfrm>
            <a:off x="1257300" y="3063240"/>
            <a:ext cx="914400" cy="914400"/>
          </a:xfrm>
          <a:prstGeom prst="ellipse">
            <a:avLst/>
          </a:prstGeom>
          <a:solidFill>
            <a:srgbClr val="E6F4EA"/>
          </a:solidFill>
          <a:ln/>
        </p:spPr>
      </p:sp>
      <p:pic>
        <p:nvPicPr>
          <p:cNvPr id="9" name="Icona TbHome" descr="/home/claude/work/build/img/ic/TbHome-g.png">    </p:cNvPr>
          <p:cNvPicPr>
            <a:picLocks noChangeAspect="1"/>
          </p:cNvPicPr>
          <p:nvPr/>
        </p:nvPicPr>
        <p:blipFill>
          <a:blip r:embed="rId1"/>
          <a:stretch>
            <a:fillRect/>
          </a:stretch>
        </p:blipFill>
        <p:spPr>
          <a:xfrm>
            <a:off x="1458468" y="3264408"/>
            <a:ext cx="512064" cy="512064"/>
          </a:xfrm>
          <a:prstGeom prst="rect">
            <a:avLst/>
          </a:prstGeom>
        </p:spPr>
      </p:pic>
      <p:sp>
        <p:nvSpPr>
          <p:cNvPr id="10" name="Text 7"/>
          <p:cNvSpPr txBox="1"/>
          <p:nvPr/>
        </p:nvSpPr>
        <p:spPr>
          <a:xfrm>
            <a:off x="548640" y="4114800"/>
            <a:ext cx="2331720" cy="411480"/>
          </a:xfrm>
          <a:prstGeom prst="rect">
            <a:avLst/>
          </a:prstGeom>
          <a:noFill/>
          <a:ln/>
        </p:spPr>
        <p:txBody>
          <a:bodyPr wrap="square" lIns="0" tIns="0" rIns="0" bIns="0" rtlCol="0" anchor="t"/>
          <a:lstStyle/>
          <a:p>
            <a:pPr algn="ctr" indent="0" marL="0">
              <a:buNone/>
            </a:pPr>
            <a:r>
              <a:rPr lang="en-US" sz="1900" b="1" dirty="0">
                <a:solidFill>
                  <a:srgbClr val="202124"/>
                </a:solidFill>
                <a:latin typeface="Roboto" pitchFamily="34" charset="0"/>
                <a:ea typeface="Roboto" pitchFamily="34" charset="-122"/>
                <a:cs typeface="Roboto" pitchFamily="34" charset="-120"/>
              </a:rPr>
              <a:t>la casa</a:t>
            </a:r>
            <a:endParaRPr lang="en-US" sz="1900" dirty="0"/>
          </a:p>
        </p:txBody>
      </p:sp>
      <p:sp>
        <p:nvSpPr>
          <p:cNvPr id="11" name="Text 8"/>
          <p:cNvSpPr txBox="1"/>
          <p:nvPr/>
        </p:nvSpPr>
        <p:spPr>
          <a:xfrm>
            <a:off x="2880360" y="3429000"/>
            <a:ext cx="589178" cy="548640"/>
          </a:xfrm>
          <a:prstGeom prst="rect">
            <a:avLst/>
          </a:prstGeom>
          <a:noFill/>
          <a:ln/>
        </p:spPr>
        <p:txBody>
          <a:bodyPr wrap="square" lIns="0" tIns="0" rIns="0" bIns="0" rtlCol="0" anchor="t"/>
          <a:lstStyle/>
          <a:p>
            <a:pPr algn="ctr" indent="0" marL="0">
              <a:buNone/>
            </a:pPr>
            <a:r>
              <a:rPr lang="en-US" sz="3000" b="1" dirty="0">
                <a:solidFill>
                  <a:srgbClr val="188038"/>
                </a:solidFill>
                <a:latin typeface="Roboto" pitchFamily="34" charset="0"/>
                <a:ea typeface="Roboto" pitchFamily="34" charset="-122"/>
                <a:cs typeface="Roboto" pitchFamily="34" charset="-120"/>
              </a:rPr>
              <a:t>+</a:t>
            </a:r>
            <a:endParaRPr lang="en-US" sz="3000" dirty="0"/>
          </a:p>
        </p:txBody>
      </p:sp>
      <p:sp>
        <p:nvSpPr>
          <p:cNvPr id="12" name="Oikos la família"/>
          <p:cNvSpPr/>
          <p:nvPr/>
        </p:nvSpPr>
        <p:spPr>
          <a:xfrm>
            <a:off x="3469538" y="2880360"/>
            <a:ext cx="2331720" cy="1828800"/>
          </a:xfrm>
          <a:prstGeom prst="roundRect">
            <a:avLst>
              <a:gd name="adj" fmla="val 5500"/>
            </a:avLst>
          </a:prstGeom>
          <a:solidFill>
            <a:srgbClr val="FFFFFF"/>
          </a:solidFill>
          <a:ln w="12700">
            <a:solidFill>
              <a:srgbClr val="DADCE0"/>
            </a:solidFill>
            <a:prstDash val="solid"/>
          </a:ln>
        </p:spPr>
      </p:sp>
      <p:sp>
        <p:nvSpPr>
          <p:cNvPr id="13" name="Cercle icona"/>
          <p:cNvSpPr/>
          <p:nvPr/>
        </p:nvSpPr>
        <p:spPr>
          <a:xfrm>
            <a:off x="4178198" y="3063240"/>
            <a:ext cx="914400" cy="914400"/>
          </a:xfrm>
          <a:prstGeom prst="ellipse">
            <a:avLst/>
          </a:prstGeom>
          <a:solidFill>
            <a:srgbClr val="E6F4EA"/>
          </a:solidFill>
          <a:ln/>
        </p:spPr>
      </p:sp>
      <p:pic>
        <p:nvPicPr>
          <p:cNvPr id="14" name="Icona TbUsers" descr="/home/claude/work/build/img/ic/TbUsers-g.png">    </p:cNvPr>
          <p:cNvPicPr>
            <a:picLocks noChangeAspect="1"/>
          </p:cNvPicPr>
          <p:nvPr/>
        </p:nvPicPr>
        <p:blipFill>
          <a:blip r:embed="rId2"/>
          <a:stretch>
            <a:fillRect/>
          </a:stretch>
        </p:blipFill>
        <p:spPr>
          <a:xfrm>
            <a:off x="4379366" y="3264408"/>
            <a:ext cx="512064" cy="512064"/>
          </a:xfrm>
          <a:prstGeom prst="rect">
            <a:avLst/>
          </a:prstGeom>
        </p:spPr>
      </p:pic>
      <p:sp>
        <p:nvSpPr>
          <p:cNvPr id="15" name="Text 11"/>
          <p:cNvSpPr txBox="1"/>
          <p:nvPr/>
        </p:nvSpPr>
        <p:spPr>
          <a:xfrm>
            <a:off x="3469538" y="4114800"/>
            <a:ext cx="2331720" cy="411480"/>
          </a:xfrm>
          <a:prstGeom prst="rect">
            <a:avLst/>
          </a:prstGeom>
          <a:noFill/>
          <a:ln/>
        </p:spPr>
        <p:txBody>
          <a:bodyPr wrap="square" lIns="0" tIns="0" rIns="0" bIns="0" rtlCol="0" anchor="t"/>
          <a:lstStyle/>
          <a:p>
            <a:pPr algn="ctr" indent="0" marL="0">
              <a:buNone/>
            </a:pPr>
            <a:r>
              <a:rPr lang="en-US" sz="1900" b="1" dirty="0">
                <a:solidFill>
                  <a:srgbClr val="202124"/>
                </a:solidFill>
                <a:latin typeface="Roboto" pitchFamily="34" charset="0"/>
                <a:ea typeface="Roboto" pitchFamily="34" charset="-122"/>
                <a:cs typeface="Roboto" pitchFamily="34" charset="-120"/>
              </a:rPr>
              <a:t>la família</a:t>
            </a:r>
            <a:endParaRPr lang="en-US" sz="1900" dirty="0"/>
          </a:p>
        </p:txBody>
      </p:sp>
      <p:sp>
        <p:nvSpPr>
          <p:cNvPr id="16" name="Text 12"/>
          <p:cNvSpPr txBox="1"/>
          <p:nvPr/>
        </p:nvSpPr>
        <p:spPr>
          <a:xfrm>
            <a:off x="5801258" y="3429000"/>
            <a:ext cx="589178" cy="548640"/>
          </a:xfrm>
          <a:prstGeom prst="rect">
            <a:avLst/>
          </a:prstGeom>
          <a:noFill/>
          <a:ln/>
        </p:spPr>
        <p:txBody>
          <a:bodyPr wrap="square" lIns="0" tIns="0" rIns="0" bIns="0" rtlCol="0" anchor="t"/>
          <a:lstStyle/>
          <a:p>
            <a:pPr algn="ctr" indent="0" marL="0">
              <a:buNone/>
            </a:pPr>
            <a:r>
              <a:rPr lang="en-US" sz="3000" b="1" dirty="0">
                <a:solidFill>
                  <a:srgbClr val="188038"/>
                </a:solidFill>
                <a:latin typeface="Roboto" pitchFamily="34" charset="0"/>
                <a:ea typeface="Roboto" pitchFamily="34" charset="-122"/>
                <a:cs typeface="Roboto" pitchFamily="34" charset="-120"/>
              </a:rPr>
              <a:t>+</a:t>
            </a:r>
            <a:endParaRPr lang="en-US" sz="3000" dirty="0"/>
          </a:p>
        </p:txBody>
      </p:sp>
      <p:sp>
        <p:nvSpPr>
          <p:cNvPr id="17" name="Oikos els esclaus"/>
          <p:cNvSpPr/>
          <p:nvPr/>
        </p:nvSpPr>
        <p:spPr>
          <a:xfrm>
            <a:off x="6390437" y="2880360"/>
            <a:ext cx="2331720" cy="1828800"/>
          </a:xfrm>
          <a:prstGeom prst="roundRect">
            <a:avLst>
              <a:gd name="adj" fmla="val 5500"/>
            </a:avLst>
          </a:prstGeom>
          <a:solidFill>
            <a:srgbClr val="FFFFFF"/>
          </a:solidFill>
          <a:ln w="12700">
            <a:solidFill>
              <a:srgbClr val="DADCE0"/>
            </a:solidFill>
            <a:prstDash val="solid"/>
          </a:ln>
        </p:spPr>
      </p:sp>
      <p:sp>
        <p:nvSpPr>
          <p:cNvPr id="18" name="Cercle icona"/>
          <p:cNvSpPr/>
          <p:nvPr/>
        </p:nvSpPr>
        <p:spPr>
          <a:xfrm>
            <a:off x="7099097" y="3063240"/>
            <a:ext cx="914400" cy="914400"/>
          </a:xfrm>
          <a:prstGeom prst="ellipse">
            <a:avLst/>
          </a:prstGeom>
          <a:solidFill>
            <a:srgbClr val="E6F4EA"/>
          </a:solidFill>
          <a:ln/>
        </p:spPr>
      </p:sp>
      <p:pic>
        <p:nvPicPr>
          <p:cNvPr id="19" name="Icona TbLink" descr="/home/claude/work/build/img/ic/TbLink-g.png">    </p:cNvPr>
          <p:cNvPicPr>
            <a:picLocks noChangeAspect="1"/>
          </p:cNvPicPr>
          <p:nvPr/>
        </p:nvPicPr>
        <p:blipFill>
          <a:blip r:embed="rId3"/>
          <a:stretch>
            <a:fillRect/>
          </a:stretch>
        </p:blipFill>
        <p:spPr>
          <a:xfrm>
            <a:off x="7300265" y="3264408"/>
            <a:ext cx="512064" cy="512064"/>
          </a:xfrm>
          <a:prstGeom prst="rect">
            <a:avLst/>
          </a:prstGeom>
        </p:spPr>
      </p:pic>
      <p:sp>
        <p:nvSpPr>
          <p:cNvPr id="20" name="Text 15"/>
          <p:cNvSpPr txBox="1"/>
          <p:nvPr/>
        </p:nvSpPr>
        <p:spPr>
          <a:xfrm>
            <a:off x="6390437" y="4114800"/>
            <a:ext cx="2331720" cy="411480"/>
          </a:xfrm>
          <a:prstGeom prst="rect">
            <a:avLst/>
          </a:prstGeom>
          <a:noFill/>
          <a:ln/>
        </p:spPr>
        <p:txBody>
          <a:bodyPr wrap="square" lIns="0" tIns="0" rIns="0" bIns="0" rtlCol="0" anchor="t"/>
          <a:lstStyle/>
          <a:p>
            <a:pPr algn="ctr" indent="0" marL="0">
              <a:buNone/>
            </a:pPr>
            <a:r>
              <a:rPr lang="en-US" sz="1900" b="1" dirty="0">
                <a:solidFill>
                  <a:srgbClr val="202124"/>
                </a:solidFill>
                <a:latin typeface="Roboto" pitchFamily="34" charset="0"/>
                <a:ea typeface="Roboto" pitchFamily="34" charset="-122"/>
                <a:cs typeface="Roboto" pitchFamily="34" charset="-120"/>
              </a:rPr>
              <a:t>els esclaus</a:t>
            </a:r>
            <a:endParaRPr lang="en-US" sz="1900" dirty="0"/>
          </a:p>
        </p:txBody>
      </p:sp>
      <p:sp>
        <p:nvSpPr>
          <p:cNvPr id="21" name="Text 16"/>
          <p:cNvSpPr txBox="1"/>
          <p:nvPr/>
        </p:nvSpPr>
        <p:spPr>
          <a:xfrm>
            <a:off x="8722157" y="3429000"/>
            <a:ext cx="589178" cy="548640"/>
          </a:xfrm>
          <a:prstGeom prst="rect">
            <a:avLst/>
          </a:prstGeom>
          <a:noFill/>
          <a:ln/>
        </p:spPr>
        <p:txBody>
          <a:bodyPr wrap="square" lIns="0" tIns="0" rIns="0" bIns="0" rtlCol="0" anchor="t"/>
          <a:lstStyle/>
          <a:p>
            <a:pPr algn="ctr" indent="0" marL="0">
              <a:buNone/>
            </a:pPr>
            <a:r>
              <a:rPr lang="en-US" sz="3000" b="1" dirty="0">
                <a:solidFill>
                  <a:srgbClr val="188038"/>
                </a:solidFill>
                <a:latin typeface="Roboto" pitchFamily="34" charset="0"/>
                <a:ea typeface="Roboto" pitchFamily="34" charset="-122"/>
                <a:cs typeface="Roboto" pitchFamily="34" charset="-120"/>
              </a:rPr>
              <a:t>+</a:t>
            </a:r>
            <a:endParaRPr lang="en-US" sz="3000" dirty="0"/>
          </a:p>
        </p:txBody>
      </p:sp>
      <p:sp>
        <p:nvSpPr>
          <p:cNvPr id="22" name="Oikos els béns"/>
          <p:cNvSpPr/>
          <p:nvPr/>
        </p:nvSpPr>
        <p:spPr>
          <a:xfrm>
            <a:off x="9311335" y="2880360"/>
            <a:ext cx="2331720" cy="1828800"/>
          </a:xfrm>
          <a:prstGeom prst="roundRect">
            <a:avLst>
              <a:gd name="adj" fmla="val 5500"/>
            </a:avLst>
          </a:prstGeom>
          <a:solidFill>
            <a:srgbClr val="FFFFFF"/>
          </a:solidFill>
          <a:ln w="12700">
            <a:solidFill>
              <a:srgbClr val="DADCE0"/>
            </a:solidFill>
            <a:prstDash val="solid"/>
          </a:ln>
        </p:spPr>
      </p:sp>
      <p:sp>
        <p:nvSpPr>
          <p:cNvPr id="23" name="Cercle icona"/>
          <p:cNvSpPr/>
          <p:nvPr/>
        </p:nvSpPr>
        <p:spPr>
          <a:xfrm>
            <a:off x="10019995" y="3063240"/>
            <a:ext cx="914400" cy="914400"/>
          </a:xfrm>
          <a:prstGeom prst="ellipse">
            <a:avLst/>
          </a:prstGeom>
          <a:solidFill>
            <a:srgbClr val="E6F4EA"/>
          </a:solidFill>
          <a:ln/>
        </p:spPr>
      </p:sp>
      <p:pic>
        <p:nvPicPr>
          <p:cNvPr id="24" name="Icona TbCoins" descr="/home/claude/work/build/img/ic/TbCoins-g.png">    </p:cNvPr>
          <p:cNvPicPr>
            <a:picLocks noChangeAspect="1"/>
          </p:cNvPicPr>
          <p:nvPr/>
        </p:nvPicPr>
        <p:blipFill>
          <a:blip r:embed="rId4"/>
          <a:stretch>
            <a:fillRect/>
          </a:stretch>
        </p:blipFill>
        <p:spPr>
          <a:xfrm>
            <a:off x="10221163" y="3264408"/>
            <a:ext cx="512064" cy="512064"/>
          </a:xfrm>
          <a:prstGeom prst="rect">
            <a:avLst/>
          </a:prstGeom>
        </p:spPr>
      </p:pic>
      <p:sp>
        <p:nvSpPr>
          <p:cNvPr id="25" name="Text 19"/>
          <p:cNvSpPr txBox="1"/>
          <p:nvPr/>
        </p:nvSpPr>
        <p:spPr>
          <a:xfrm>
            <a:off x="9311335" y="4114800"/>
            <a:ext cx="2331720" cy="411480"/>
          </a:xfrm>
          <a:prstGeom prst="rect">
            <a:avLst/>
          </a:prstGeom>
          <a:noFill/>
          <a:ln/>
        </p:spPr>
        <p:txBody>
          <a:bodyPr wrap="square" lIns="0" tIns="0" rIns="0" bIns="0" rtlCol="0" anchor="t"/>
          <a:lstStyle/>
          <a:p>
            <a:pPr algn="ctr" indent="0" marL="0">
              <a:buNone/>
            </a:pPr>
            <a:r>
              <a:rPr lang="en-US" sz="1900" b="1" dirty="0">
                <a:solidFill>
                  <a:srgbClr val="202124"/>
                </a:solidFill>
                <a:latin typeface="Roboto" pitchFamily="34" charset="0"/>
                <a:ea typeface="Roboto" pitchFamily="34" charset="-122"/>
                <a:cs typeface="Roboto" pitchFamily="34" charset="-120"/>
              </a:rPr>
              <a:t>els béns</a:t>
            </a:r>
            <a:endParaRPr lang="en-US" sz="1900" dirty="0"/>
          </a:p>
        </p:txBody>
      </p:sp>
      <p:sp>
        <p:nvSpPr>
          <p:cNvPr id="26" name="Paraula clau · Oikos"/>
          <p:cNvSpPr/>
          <p:nvPr/>
        </p:nvSpPr>
        <p:spPr>
          <a:xfrm>
            <a:off x="548640" y="4937760"/>
            <a:ext cx="11094415" cy="1051560"/>
          </a:xfrm>
          <a:prstGeom prst="roundRect">
            <a:avLst>
              <a:gd name="adj" fmla="val 9565"/>
            </a:avLst>
          </a:prstGeom>
          <a:solidFill>
            <a:srgbClr val="E6F4EA"/>
          </a:solidFill>
          <a:ln/>
        </p:spPr>
      </p:sp>
      <p:sp>
        <p:nvSpPr>
          <p:cNvPr id="27" name="Text 21"/>
          <p:cNvSpPr txBox="1"/>
          <p:nvPr/>
        </p:nvSpPr>
        <p:spPr>
          <a:xfrm>
            <a:off x="868680" y="5093208"/>
            <a:ext cx="1045433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Paraula clau · Oikos</a:t>
            </a:r>
            <a:endParaRPr lang="en-US" sz="1400" dirty="0"/>
          </a:p>
        </p:txBody>
      </p:sp>
      <p:sp>
        <p:nvSpPr>
          <p:cNvPr id="28" name="Text 22"/>
          <p:cNvSpPr txBox="1"/>
          <p:nvPr/>
        </p:nvSpPr>
        <p:spPr>
          <a:xfrm>
            <a:off x="868680" y="5440680"/>
            <a:ext cx="10454335" cy="41148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La casa i la família que hi vivia, amb els esclaus i els béns. Era la unitat bàsica de la societat grega.</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2</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Una casa al voltant d'un pati</a:t>
            </a:r>
            <a:endParaRPr lang="en-US" sz="2800" dirty="0"/>
          </a:p>
        </p:txBody>
      </p:sp>
      <p:sp>
        <p:nvSpPr>
          <p:cNvPr id="5" name="Fons Planta d'una casa atenesa"/>
          <p:cNvSpPr/>
          <p:nvPr/>
        </p:nvSpPr>
        <p:spPr>
          <a:xfrm>
            <a:off x="548640" y="1371600"/>
            <a:ext cx="5943600" cy="4516413"/>
          </a:xfrm>
          <a:prstGeom prst="roundRect">
            <a:avLst>
              <a:gd name="adj" fmla="val 2227"/>
            </a:avLst>
          </a:prstGeom>
          <a:solidFill>
            <a:srgbClr val="F6F8FB"/>
          </a:solidFill>
          <a:ln/>
        </p:spPr>
      </p:sp>
      <p:pic>
        <p:nvPicPr>
          <p:cNvPr id="6" name="Planta d'una casa atenesa" descr="/home/claude/work/build/img/casa.jpg">    </p:cNvPr>
          <p:cNvPicPr>
            <a:picLocks noChangeAspect="1"/>
          </p:cNvPicPr>
          <p:nvPr/>
        </p:nvPicPr>
        <p:blipFill>
          <a:blip r:embed="rId1"/>
          <a:stretch>
            <a:fillRect/>
          </a:stretch>
        </p:blipFill>
        <p:spPr>
          <a:xfrm>
            <a:off x="548640" y="1371600"/>
            <a:ext cx="5943600" cy="4516413"/>
          </a:xfrm>
          <a:prstGeom prst="rect">
            <a:avLst/>
          </a:prstGeom>
        </p:spPr>
      </p:pic>
      <p:sp>
        <p:nvSpPr>
          <p:cNvPr id="7" name="Text 4"/>
          <p:cNvSpPr txBox="1"/>
          <p:nvPr/>
        </p:nvSpPr>
        <p:spPr>
          <a:xfrm>
            <a:off x="548640" y="5979453"/>
            <a:ext cx="5943600"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Planta d'una casa atenesa. Esquema, no és una casa real. Dibuix: professordesocials.cat, CC BY-SA 4.0.</a:t>
            </a:r>
            <a:endParaRPr lang="en-US" sz="1000" dirty="0"/>
          </a:p>
        </p:txBody>
      </p:sp>
      <p:sp>
        <p:nvSpPr>
          <p:cNvPr id="8" name="Cercle icona"/>
          <p:cNvSpPr/>
          <p:nvPr/>
        </p:nvSpPr>
        <p:spPr>
          <a:xfrm>
            <a:off x="6858000" y="1572768"/>
            <a:ext cx="548640" cy="548640"/>
          </a:xfrm>
          <a:prstGeom prst="ellipse">
            <a:avLst/>
          </a:prstGeom>
          <a:solidFill>
            <a:srgbClr val="E6F4EA"/>
          </a:solidFill>
          <a:ln/>
        </p:spPr>
      </p:sp>
      <p:pic>
        <p:nvPicPr>
          <p:cNvPr id="9" name="Icona TbWall" descr="/home/claude/work/build/img/ic/TbWall-g.png">    </p:cNvPr>
          <p:cNvPicPr>
            <a:picLocks noChangeAspect="1"/>
          </p:cNvPicPr>
          <p:nvPr/>
        </p:nvPicPr>
        <p:blipFill>
          <a:blip r:embed="rId2"/>
          <a:stretch>
            <a:fillRect/>
          </a:stretch>
        </p:blipFill>
        <p:spPr>
          <a:xfrm>
            <a:off x="6978701" y="1693469"/>
            <a:ext cx="307238" cy="307238"/>
          </a:xfrm>
          <a:prstGeom prst="rect">
            <a:avLst/>
          </a:prstGeom>
        </p:spPr>
      </p:pic>
      <p:sp>
        <p:nvSpPr>
          <p:cNvPr id="10" name="Text 6"/>
          <p:cNvSpPr txBox="1"/>
          <p:nvPr/>
        </p:nvSpPr>
        <p:spPr>
          <a:xfrm>
            <a:off x="7607808" y="1371600"/>
            <a:ext cx="4035247" cy="1060704"/>
          </a:xfrm>
          <a:prstGeom prst="rect">
            <a:avLst/>
          </a:prstGeom>
          <a:noFill/>
          <a:ln/>
        </p:spPr>
        <p:txBody>
          <a:bodyPr wrap="square" lIns="0" tIns="0" rIns="0" bIns="0" rtlCol="0" anchor="ctr"/>
          <a:lstStyle/>
          <a:p>
            <a:pPr indent="0" marL="0">
              <a:buNone/>
            </a:pPr>
            <a:r>
              <a:rPr lang="en-US" sz="1600" b="1" dirty="0">
                <a:solidFill>
                  <a:srgbClr val="202124"/>
                </a:solidFill>
                <a:latin typeface="Roboto" pitchFamily="34" charset="0"/>
                <a:ea typeface="Roboto" pitchFamily="34" charset="-122"/>
                <a:cs typeface="Roboto" pitchFamily="34" charset="-120"/>
              </a:rPr>
              <a:t>Parets de tova. </a:t>
            </a:r>
            <a:pPr indent="0" marL="0">
              <a:buNone/>
            </a:pPr>
            <a:r>
              <a:rPr lang="en-US" sz="1600" dirty="0">
                <a:solidFill>
                  <a:srgbClr val="202124"/>
                </a:solidFill>
                <a:latin typeface="Roboto" pitchFamily="34" charset="0"/>
                <a:ea typeface="Roboto" pitchFamily="34" charset="-122"/>
                <a:cs typeface="Roboto" pitchFamily="34" charset="-120"/>
              </a:rPr>
              <a:t>Maons de fang assecats al sol, sobre una base de pedra, i teulada de teules.</a:t>
            </a:r>
            <a:endParaRPr lang="en-US" sz="1600" dirty="0"/>
          </a:p>
        </p:txBody>
      </p:sp>
      <p:sp>
        <p:nvSpPr>
          <p:cNvPr id="11" name="Cercle icona"/>
          <p:cNvSpPr/>
          <p:nvPr/>
        </p:nvSpPr>
        <p:spPr>
          <a:xfrm>
            <a:off x="6858000" y="2724912"/>
            <a:ext cx="548640" cy="548640"/>
          </a:xfrm>
          <a:prstGeom prst="ellipse">
            <a:avLst/>
          </a:prstGeom>
          <a:solidFill>
            <a:srgbClr val="E6F4EA"/>
          </a:solidFill>
          <a:ln/>
        </p:spPr>
      </p:sp>
      <p:pic>
        <p:nvPicPr>
          <p:cNvPr id="12" name="Icona TbSun" descr="/home/claude/work/build/img/ic/TbSun-g.png">    </p:cNvPr>
          <p:cNvPicPr>
            <a:picLocks noChangeAspect="1"/>
          </p:cNvPicPr>
          <p:nvPr/>
        </p:nvPicPr>
        <p:blipFill>
          <a:blip r:embed="rId3"/>
          <a:stretch>
            <a:fillRect/>
          </a:stretch>
        </p:blipFill>
        <p:spPr>
          <a:xfrm>
            <a:off x="6978701" y="2845613"/>
            <a:ext cx="307238" cy="307238"/>
          </a:xfrm>
          <a:prstGeom prst="rect">
            <a:avLst/>
          </a:prstGeom>
        </p:spPr>
      </p:pic>
      <p:sp>
        <p:nvSpPr>
          <p:cNvPr id="13" name="Text 8"/>
          <p:cNvSpPr txBox="1"/>
          <p:nvPr/>
        </p:nvSpPr>
        <p:spPr>
          <a:xfrm>
            <a:off x="7607808" y="2523744"/>
            <a:ext cx="4035247" cy="1060704"/>
          </a:xfrm>
          <a:prstGeom prst="rect">
            <a:avLst/>
          </a:prstGeom>
          <a:noFill/>
          <a:ln/>
        </p:spPr>
        <p:txBody>
          <a:bodyPr wrap="square" lIns="0" tIns="0" rIns="0" bIns="0" rtlCol="0" anchor="ctr"/>
          <a:lstStyle/>
          <a:p>
            <a:pPr indent="0" marL="0">
              <a:buNone/>
            </a:pPr>
            <a:r>
              <a:rPr lang="en-US" sz="1600" b="1" dirty="0">
                <a:solidFill>
                  <a:srgbClr val="202124"/>
                </a:solidFill>
                <a:latin typeface="Roboto" pitchFamily="34" charset="0"/>
                <a:ea typeface="Roboto" pitchFamily="34" charset="-122"/>
                <a:cs typeface="Roboto" pitchFamily="34" charset="-120"/>
              </a:rPr>
              <a:t>El pati. </a:t>
            </a:r>
            <a:pPr indent="0" marL="0">
              <a:buNone/>
            </a:pPr>
            <a:r>
              <a:rPr lang="en-US" sz="1600" dirty="0">
                <a:solidFill>
                  <a:srgbClr val="202124"/>
                </a:solidFill>
                <a:latin typeface="Roboto" pitchFamily="34" charset="0"/>
                <a:ea typeface="Roboto" pitchFamily="34" charset="-122"/>
                <a:cs typeface="Roboto" pitchFamily="34" charset="-120"/>
              </a:rPr>
              <a:t>Donava llum i aire. Les dones hi feien bona part de la feina.</a:t>
            </a:r>
            <a:endParaRPr lang="en-US" sz="1600" dirty="0"/>
          </a:p>
        </p:txBody>
      </p:sp>
      <p:sp>
        <p:nvSpPr>
          <p:cNvPr id="14" name="Cercle icona"/>
          <p:cNvSpPr/>
          <p:nvPr/>
        </p:nvSpPr>
        <p:spPr>
          <a:xfrm>
            <a:off x="6858000" y="3877056"/>
            <a:ext cx="548640" cy="548640"/>
          </a:xfrm>
          <a:prstGeom prst="ellipse">
            <a:avLst/>
          </a:prstGeom>
          <a:solidFill>
            <a:srgbClr val="E6F4EA"/>
          </a:solidFill>
          <a:ln/>
        </p:spPr>
      </p:sp>
      <p:pic>
        <p:nvPicPr>
          <p:cNvPr id="15" name="Icona TbGlassFull" descr="/home/claude/work/build/img/ic/TbGlassFull-g.png">    </p:cNvPr>
          <p:cNvPicPr>
            <a:picLocks noChangeAspect="1"/>
          </p:cNvPicPr>
          <p:nvPr/>
        </p:nvPicPr>
        <p:blipFill>
          <a:blip r:embed="rId4"/>
          <a:stretch>
            <a:fillRect/>
          </a:stretch>
        </p:blipFill>
        <p:spPr>
          <a:xfrm>
            <a:off x="6978701" y="3997757"/>
            <a:ext cx="307238" cy="307238"/>
          </a:xfrm>
          <a:prstGeom prst="rect">
            <a:avLst/>
          </a:prstGeom>
        </p:spPr>
      </p:pic>
      <p:sp>
        <p:nvSpPr>
          <p:cNvPr id="16" name="Text 10"/>
          <p:cNvSpPr txBox="1"/>
          <p:nvPr/>
        </p:nvSpPr>
        <p:spPr>
          <a:xfrm>
            <a:off x="7607808" y="3675888"/>
            <a:ext cx="4035247" cy="1060704"/>
          </a:xfrm>
          <a:prstGeom prst="rect">
            <a:avLst/>
          </a:prstGeom>
          <a:noFill/>
          <a:ln/>
        </p:spPr>
        <p:txBody>
          <a:bodyPr wrap="square" lIns="0" tIns="0" rIns="0" bIns="0" rtlCol="0" anchor="ctr"/>
          <a:lstStyle/>
          <a:p>
            <a:pPr indent="0" marL="0">
              <a:buNone/>
            </a:pPr>
            <a:r>
              <a:rPr lang="en-US" sz="1600" b="1" dirty="0">
                <a:solidFill>
                  <a:srgbClr val="202124"/>
                </a:solidFill>
                <a:latin typeface="Roboto" pitchFamily="34" charset="0"/>
                <a:ea typeface="Roboto" pitchFamily="34" charset="-122"/>
                <a:cs typeface="Roboto" pitchFamily="34" charset="-120"/>
              </a:rPr>
              <a:t>L'andró. </a:t>
            </a:r>
            <a:pPr indent="0" marL="0">
              <a:buNone/>
            </a:pPr>
            <a:r>
              <a:rPr lang="en-US" sz="1600" dirty="0">
                <a:solidFill>
                  <a:srgbClr val="202124"/>
                </a:solidFill>
                <a:latin typeface="Roboto" pitchFamily="34" charset="0"/>
                <a:ea typeface="Roboto" pitchFamily="34" charset="-122"/>
                <a:cs typeface="Roboto" pitchFamily="34" charset="-120"/>
              </a:rPr>
              <a:t>L'home hi rebia els amics i hi feia banquets.</a:t>
            </a:r>
            <a:endParaRPr lang="en-US" sz="1600" dirty="0"/>
          </a:p>
        </p:txBody>
      </p:sp>
      <p:sp>
        <p:nvSpPr>
          <p:cNvPr id="17" name="Cercle icona"/>
          <p:cNvSpPr/>
          <p:nvPr/>
        </p:nvSpPr>
        <p:spPr>
          <a:xfrm>
            <a:off x="6858000" y="5029200"/>
            <a:ext cx="548640" cy="548640"/>
          </a:xfrm>
          <a:prstGeom prst="ellipse">
            <a:avLst/>
          </a:prstGeom>
          <a:solidFill>
            <a:srgbClr val="E6F4EA"/>
          </a:solidFill>
          <a:ln/>
        </p:spPr>
      </p:sp>
      <p:pic>
        <p:nvPicPr>
          <p:cNvPr id="18" name="Icona TbStairsUp" descr="/home/claude/work/build/img/ic/TbStairsUp-g.png">    </p:cNvPr>
          <p:cNvPicPr>
            <a:picLocks noChangeAspect="1"/>
          </p:cNvPicPr>
          <p:nvPr/>
        </p:nvPicPr>
        <p:blipFill>
          <a:blip r:embed="rId5"/>
          <a:stretch>
            <a:fillRect/>
          </a:stretch>
        </p:blipFill>
        <p:spPr>
          <a:xfrm>
            <a:off x="6978701" y="5149901"/>
            <a:ext cx="307238" cy="307238"/>
          </a:xfrm>
          <a:prstGeom prst="rect">
            <a:avLst/>
          </a:prstGeom>
        </p:spPr>
      </p:pic>
      <p:sp>
        <p:nvSpPr>
          <p:cNvPr id="19" name="Text 12"/>
          <p:cNvSpPr txBox="1"/>
          <p:nvPr/>
        </p:nvSpPr>
        <p:spPr>
          <a:xfrm>
            <a:off x="7607808" y="4828032"/>
            <a:ext cx="4035247" cy="1060704"/>
          </a:xfrm>
          <a:prstGeom prst="rect">
            <a:avLst/>
          </a:prstGeom>
          <a:noFill/>
          <a:ln/>
        </p:spPr>
        <p:txBody>
          <a:bodyPr wrap="square" lIns="0" tIns="0" rIns="0" bIns="0" rtlCol="0" anchor="ctr"/>
          <a:lstStyle/>
          <a:p>
            <a:pPr indent="0" marL="0">
              <a:buNone/>
            </a:pPr>
            <a:r>
              <a:rPr lang="en-US" sz="1600" b="1" dirty="0">
                <a:solidFill>
                  <a:srgbClr val="202124"/>
                </a:solidFill>
                <a:latin typeface="Roboto" pitchFamily="34" charset="0"/>
                <a:ea typeface="Roboto" pitchFamily="34" charset="-122"/>
                <a:cs typeface="Roboto" pitchFamily="34" charset="-120"/>
              </a:rPr>
              <a:t>El gineceu. </a:t>
            </a:r>
            <a:pPr indent="0" marL="0">
              <a:buNone/>
            </a:pPr>
            <a:r>
              <a:rPr lang="en-US" sz="1600" dirty="0">
                <a:solidFill>
                  <a:srgbClr val="202124"/>
                </a:solidFill>
                <a:latin typeface="Roboto" pitchFamily="34" charset="0"/>
                <a:ea typeface="Roboto" pitchFamily="34" charset="-122"/>
                <a:cs typeface="Roboto" pitchFamily="34" charset="-120"/>
              </a:rPr>
              <a:t>La part de les dones, de vegades al pis de dalt.</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2</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Les dones i la família</a:t>
            </a:r>
            <a:endParaRPr lang="en-US" sz="2800" dirty="0"/>
          </a:p>
        </p:txBody>
      </p:sp>
      <p:sp>
        <p:nvSpPr>
          <p:cNvPr id="5" name="Cercle icona"/>
          <p:cNvSpPr/>
          <p:nvPr/>
        </p:nvSpPr>
        <p:spPr>
          <a:xfrm>
            <a:off x="548640" y="1453896"/>
            <a:ext cx="548640" cy="548640"/>
          </a:xfrm>
          <a:prstGeom prst="ellipse">
            <a:avLst/>
          </a:prstGeom>
          <a:solidFill>
            <a:srgbClr val="E6F4EA"/>
          </a:solidFill>
          <a:ln/>
        </p:spPr>
      </p:sp>
      <p:pic>
        <p:nvPicPr>
          <p:cNvPr id="6" name="Icona TbUserShield" descr="/home/claude/work/build/img/ic/TbUserShield-g.png">    </p:cNvPr>
          <p:cNvPicPr>
            <a:picLocks noChangeAspect="1"/>
          </p:cNvPicPr>
          <p:nvPr/>
        </p:nvPicPr>
        <p:blipFill>
          <a:blip r:embed="rId1"/>
          <a:stretch>
            <a:fillRect/>
          </a:stretch>
        </p:blipFill>
        <p:spPr>
          <a:xfrm>
            <a:off x="669341" y="1574597"/>
            <a:ext cx="307238" cy="307238"/>
          </a:xfrm>
          <a:prstGeom prst="rect">
            <a:avLst/>
          </a:prstGeom>
        </p:spPr>
      </p:pic>
      <p:sp>
        <p:nvSpPr>
          <p:cNvPr id="7" name="Text 4"/>
          <p:cNvSpPr txBox="1"/>
          <p:nvPr/>
        </p:nvSpPr>
        <p:spPr>
          <a:xfrm>
            <a:off x="1298448" y="1371600"/>
            <a:ext cx="5833872" cy="822960"/>
          </a:xfrm>
          <a:prstGeom prst="rect">
            <a:avLst/>
          </a:prstGeom>
          <a:noFill/>
          <a:ln/>
        </p:spPr>
        <p:txBody>
          <a:bodyPr wrap="square" lIns="0" tIns="0" rIns="0" bIns="0" rtlCol="0" anchor="ctr"/>
          <a:lstStyle/>
          <a:p>
            <a:pPr indent="0" marL="0">
              <a:buNone/>
            </a:pPr>
            <a:r>
              <a:rPr lang="en-US" sz="1600" b="1" dirty="0">
                <a:solidFill>
                  <a:srgbClr val="202124"/>
                </a:solidFill>
                <a:latin typeface="Roboto" pitchFamily="34" charset="0"/>
                <a:ea typeface="Roboto" pitchFamily="34" charset="-122"/>
                <a:cs typeface="Roboto" pitchFamily="34" charset="-120"/>
              </a:rPr>
              <a:t>Sota un tutor. </a:t>
            </a:r>
            <a:pPr indent="0" marL="0">
              <a:buNone/>
            </a:pPr>
            <a:r>
              <a:rPr lang="en-US" sz="1600" dirty="0">
                <a:solidFill>
                  <a:srgbClr val="202124"/>
                </a:solidFill>
                <a:latin typeface="Roboto" pitchFamily="34" charset="0"/>
                <a:ea typeface="Roboto" pitchFamily="34" charset="-122"/>
                <a:cs typeface="Roboto" pitchFamily="34" charset="-120"/>
              </a:rPr>
              <a:t>Sempre sota l'autoritat d'un home, el kyrios. Primer el pare i després el marit.</a:t>
            </a:r>
            <a:endParaRPr lang="en-US" sz="1600" dirty="0"/>
          </a:p>
        </p:txBody>
      </p:sp>
      <p:sp>
        <p:nvSpPr>
          <p:cNvPr id="8" name="Cercle icona"/>
          <p:cNvSpPr/>
          <p:nvPr/>
        </p:nvSpPr>
        <p:spPr>
          <a:xfrm>
            <a:off x="548640" y="2368296"/>
            <a:ext cx="548640" cy="548640"/>
          </a:xfrm>
          <a:prstGeom prst="ellipse">
            <a:avLst/>
          </a:prstGeom>
          <a:solidFill>
            <a:srgbClr val="E6F4EA"/>
          </a:solidFill>
          <a:ln/>
        </p:spPr>
      </p:sp>
      <p:pic>
        <p:nvPicPr>
          <p:cNvPr id="9" name="Icona TbRings" descr="/home/claude/work/build/img/ic/TbRings-g.png">    </p:cNvPr>
          <p:cNvPicPr>
            <a:picLocks noChangeAspect="1"/>
          </p:cNvPicPr>
          <p:nvPr/>
        </p:nvPicPr>
        <p:blipFill>
          <a:blip r:embed="rId2"/>
          <a:stretch>
            <a:fillRect/>
          </a:stretch>
        </p:blipFill>
        <p:spPr>
          <a:xfrm>
            <a:off x="669341" y="2488997"/>
            <a:ext cx="307238" cy="307238"/>
          </a:xfrm>
          <a:prstGeom prst="rect">
            <a:avLst/>
          </a:prstGeom>
        </p:spPr>
      </p:pic>
      <p:sp>
        <p:nvSpPr>
          <p:cNvPr id="10" name="Text 6"/>
          <p:cNvSpPr txBox="1"/>
          <p:nvPr/>
        </p:nvSpPr>
        <p:spPr>
          <a:xfrm>
            <a:off x="1298448" y="2286000"/>
            <a:ext cx="5833872" cy="822960"/>
          </a:xfrm>
          <a:prstGeom prst="rect">
            <a:avLst/>
          </a:prstGeom>
          <a:noFill/>
          <a:ln/>
        </p:spPr>
        <p:txBody>
          <a:bodyPr wrap="square" lIns="0" tIns="0" rIns="0" bIns="0" rtlCol="0" anchor="ctr"/>
          <a:lstStyle/>
          <a:p>
            <a:pPr indent="0" marL="0">
              <a:buNone/>
            </a:pPr>
            <a:r>
              <a:rPr lang="en-US" sz="1600" b="1" dirty="0">
                <a:solidFill>
                  <a:srgbClr val="202124"/>
                </a:solidFill>
                <a:latin typeface="Roboto" pitchFamily="34" charset="0"/>
                <a:ea typeface="Roboto" pitchFamily="34" charset="-122"/>
                <a:cs typeface="Roboto" pitchFamily="34" charset="-120"/>
              </a:rPr>
              <a:t>Casades molt joves. </a:t>
            </a:r>
            <a:pPr indent="0" marL="0">
              <a:buNone/>
            </a:pPr>
            <a:r>
              <a:rPr lang="en-US" sz="1600" dirty="0">
                <a:solidFill>
                  <a:srgbClr val="202124"/>
                </a:solidFill>
                <a:latin typeface="Roboto" pitchFamily="34" charset="0"/>
                <a:ea typeface="Roboto" pitchFamily="34" charset="-122"/>
                <a:cs typeface="Roboto" pitchFamily="34" charset="-120"/>
              </a:rPr>
              <a:t>Cap als catorze o quinze anys, amb un home d'uns trenta que havia triat el pare.</a:t>
            </a:r>
            <a:endParaRPr lang="en-US" sz="1600" dirty="0"/>
          </a:p>
        </p:txBody>
      </p:sp>
      <p:sp>
        <p:nvSpPr>
          <p:cNvPr id="11" name="Cercle icona"/>
          <p:cNvSpPr/>
          <p:nvPr/>
        </p:nvSpPr>
        <p:spPr>
          <a:xfrm>
            <a:off x="548640" y="3282696"/>
            <a:ext cx="548640" cy="548640"/>
          </a:xfrm>
          <a:prstGeom prst="ellipse">
            <a:avLst/>
          </a:prstGeom>
          <a:solidFill>
            <a:srgbClr val="E6F4EA"/>
          </a:solidFill>
          <a:ln/>
        </p:spPr>
      </p:sp>
      <p:pic>
        <p:nvPicPr>
          <p:cNvPr id="12" name="Icona TbNeedleThread" descr="/home/claude/work/build/img/ic/TbNeedleThread-g.png">    </p:cNvPr>
          <p:cNvPicPr>
            <a:picLocks noChangeAspect="1"/>
          </p:cNvPicPr>
          <p:nvPr/>
        </p:nvPicPr>
        <p:blipFill>
          <a:blip r:embed="rId3"/>
          <a:stretch>
            <a:fillRect/>
          </a:stretch>
        </p:blipFill>
        <p:spPr>
          <a:xfrm>
            <a:off x="669341" y="3403397"/>
            <a:ext cx="307238" cy="307238"/>
          </a:xfrm>
          <a:prstGeom prst="rect">
            <a:avLst/>
          </a:prstGeom>
        </p:spPr>
      </p:pic>
      <p:sp>
        <p:nvSpPr>
          <p:cNvPr id="13" name="Text 8"/>
          <p:cNvSpPr txBox="1"/>
          <p:nvPr/>
        </p:nvSpPr>
        <p:spPr>
          <a:xfrm>
            <a:off x="1298448" y="3200400"/>
            <a:ext cx="5833872" cy="822960"/>
          </a:xfrm>
          <a:prstGeom prst="rect">
            <a:avLst/>
          </a:prstGeom>
          <a:noFill/>
          <a:ln/>
        </p:spPr>
        <p:txBody>
          <a:bodyPr wrap="square" lIns="0" tIns="0" rIns="0" bIns="0" rtlCol="0" anchor="ctr"/>
          <a:lstStyle/>
          <a:p>
            <a:pPr indent="0" marL="0">
              <a:buNone/>
            </a:pPr>
            <a:r>
              <a:rPr lang="en-US" sz="1600" b="1" dirty="0">
                <a:solidFill>
                  <a:srgbClr val="202124"/>
                </a:solidFill>
                <a:latin typeface="Roboto" pitchFamily="34" charset="0"/>
                <a:ea typeface="Roboto" pitchFamily="34" charset="-122"/>
                <a:cs typeface="Roboto" pitchFamily="34" charset="-120"/>
              </a:rPr>
              <a:t>Governaven la casa. </a:t>
            </a:r>
            <a:pPr indent="0" marL="0">
              <a:buNone/>
            </a:pPr>
            <a:r>
              <a:rPr lang="en-US" sz="1600" dirty="0">
                <a:solidFill>
                  <a:srgbClr val="202124"/>
                </a:solidFill>
                <a:latin typeface="Roboto" pitchFamily="34" charset="0"/>
                <a:ea typeface="Roboto" pitchFamily="34" charset="-122"/>
                <a:cs typeface="Roboto" pitchFamily="34" charset="-120"/>
              </a:rPr>
              <a:t>Dirigien els esclaus, criaven els fills i filaven i teixien la roba.</a:t>
            </a:r>
            <a:endParaRPr lang="en-US" sz="1600" dirty="0"/>
          </a:p>
        </p:txBody>
      </p:sp>
      <p:sp>
        <p:nvSpPr>
          <p:cNvPr id="14" name="Cercle icona"/>
          <p:cNvSpPr/>
          <p:nvPr/>
        </p:nvSpPr>
        <p:spPr>
          <a:xfrm>
            <a:off x="548640" y="4197096"/>
            <a:ext cx="548640" cy="548640"/>
          </a:xfrm>
          <a:prstGeom prst="ellipse">
            <a:avLst/>
          </a:prstGeom>
          <a:solidFill>
            <a:srgbClr val="E6F4EA"/>
          </a:solidFill>
          <a:ln/>
        </p:spPr>
      </p:sp>
      <p:pic>
        <p:nvPicPr>
          <p:cNvPr id="15" name="Icona TbFlame" descr="/home/claude/work/build/img/ic/TbFlame-g.png">    </p:cNvPr>
          <p:cNvPicPr>
            <a:picLocks noChangeAspect="1"/>
          </p:cNvPicPr>
          <p:nvPr/>
        </p:nvPicPr>
        <p:blipFill>
          <a:blip r:embed="rId4"/>
          <a:stretch>
            <a:fillRect/>
          </a:stretch>
        </p:blipFill>
        <p:spPr>
          <a:xfrm>
            <a:off x="669341" y="4317797"/>
            <a:ext cx="307238" cy="307238"/>
          </a:xfrm>
          <a:prstGeom prst="rect">
            <a:avLst/>
          </a:prstGeom>
        </p:spPr>
      </p:pic>
      <p:sp>
        <p:nvSpPr>
          <p:cNvPr id="16" name="Text 10"/>
          <p:cNvSpPr txBox="1"/>
          <p:nvPr/>
        </p:nvSpPr>
        <p:spPr>
          <a:xfrm>
            <a:off x="1298448" y="4114800"/>
            <a:ext cx="5833872" cy="822960"/>
          </a:xfrm>
          <a:prstGeom prst="rect">
            <a:avLst/>
          </a:prstGeom>
          <a:noFill/>
          <a:ln/>
        </p:spPr>
        <p:txBody>
          <a:bodyPr wrap="square" lIns="0" tIns="0" rIns="0" bIns="0" rtlCol="0" anchor="ctr"/>
          <a:lstStyle/>
          <a:p>
            <a:pPr indent="0" marL="0">
              <a:buNone/>
            </a:pPr>
            <a:r>
              <a:rPr lang="en-US" sz="1600" b="1" dirty="0">
                <a:solidFill>
                  <a:srgbClr val="202124"/>
                </a:solidFill>
                <a:latin typeface="Roboto" pitchFamily="34" charset="0"/>
                <a:ea typeface="Roboto" pitchFamily="34" charset="-122"/>
                <a:cs typeface="Roboto" pitchFamily="34" charset="-120"/>
              </a:rPr>
              <a:t>Un paper a la religió. </a:t>
            </a:r>
            <a:pPr indent="0" marL="0">
              <a:buNone/>
            </a:pPr>
            <a:r>
              <a:rPr lang="en-US" sz="1600" dirty="0">
                <a:solidFill>
                  <a:srgbClr val="202124"/>
                </a:solidFill>
                <a:latin typeface="Roboto" pitchFamily="34" charset="0"/>
                <a:ea typeface="Roboto" pitchFamily="34" charset="-122"/>
                <a:cs typeface="Roboto" pitchFamily="34" charset="-120"/>
              </a:rPr>
              <a:t>Hi havia festes només per a dones, i ser sacerdotessa d'Atena tenia gran prestigi.</a:t>
            </a:r>
            <a:endParaRPr lang="en-US" sz="1600" dirty="0"/>
          </a:p>
        </p:txBody>
      </p:sp>
      <p:sp>
        <p:nvSpPr>
          <p:cNvPr id="17" name="Cercle icona"/>
          <p:cNvSpPr/>
          <p:nvPr/>
        </p:nvSpPr>
        <p:spPr>
          <a:xfrm>
            <a:off x="548640" y="5111496"/>
            <a:ext cx="548640" cy="548640"/>
          </a:xfrm>
          <a:prstGeom prst="ellipse">
            <a:avLst/>
          </a:prstGeom>
          <a:solidFill>
            <a:srgbClr val="E6F4EA"/>
          </a:solidFill>
          <a:ln/>
        </p:spPr>
      </p:sp>
      <p:pic>
        <p:nvPicPr>
          <p:cNvPr id="18" name="Icona TbBasket" descr="/home/claude/work/build/img/ic/TbBasket-g.png">    </p:cNvPr>
          <p:cNvPicPr>
            <a:picLocks noChangeAspect="1"/>
          </p:cNvPicPr>
          <p:nvPr/>
        </p:nvPicPr>
        <p:blipFill>
          <a:blip r:embed="rId5"/>
          <a:stretch>
            <a:fillRect/>
          </a:stretch>
        </p:blipFill>
        <p:spPr>
          <a:xfrm>
            <a:off x="669341" y="5232197"/>
            <a:ext cx="307238" cy="307238"/>
          </a:xfrm>
          <a:prstGeom prst="rect">
            <a:avLst/>
          </a:prstGeom>
        </p:spPr>
      </p:pic>
      <p:sp>
        <p:nvSpPr>
          <p:cNvPr id="19" name="Text 12"/>
          <p:cNvSpPr txBox="1"/>
          <p:nvPr/>
        </p:nvSpPr>
        <p:spPr>
          <a:xfrm>
            <a:off x="1298448" y="5029200"/>
            <a:ext cx="5833872" cy="822960"/>
          </a:xfrm>
          <a:prstGeom prst="rect">
            <a:avLst/>
          </a:prstGeom>
          <a:noFill/>
          <a:ln/>
        </p:spPr>
        <p:txBody>
          <a:bodyPr wrap="square" lIns="0" tIns="0" rIns="0" bIns="0" rtlCol="0" anchor="ctr"/>
          <a:lstStyle/>
          <a:p>
            <a:pPr indent="0" marL="0">
              <a:buNone/>
            </a:pPr>
            <a:r>
              <a:rPr lang="en-US" sz="1600" b="1" dirty="0">
                <a:solidFill>
                  <a:srgbClr val="202124"/>
                </a:solidFill>
                <a:latin typeface="Roboto" pitchFamily="34" charset="0"/>
                <a:ea typeface="Roboto" pitchFamily="34" charset="-122"/>
                <a:cs typeface="Roboto" pitchFamily="34" charset="-120"/>
              </a:rPr>
              <a:t>Les pobres, a treballar. </a:t>
            </a:r>
            <a:pPr indent="0" marL="0">
              <a:buNone/>
            </a:pPr>
            <a:r>
              <a:rPr lang="en-US" sz="1600" dirty="0">
                <a:solidFill>
                  <a:srgbClr val="202124"/>
                </a:solidFill>
                <a:latin typeface="Roboto" pitchFamily="34" charset="0"/>
                <a:ea typeface="Roboto" pitchFamily="34" charset="-122"/>
                <a:cs typeface="Roboto" pitchFamily="34" charset="-120"/>
              </a:rPr>
              <a:t>Venien al mercat, rentaven roba o feien de dides.</a:t>
            </a:r>
            <a:endParaRPr lang="en-US" sz="1600" dirty="0"/>
          </a:p>
        </p:txBody>
      </p:sp>
      <p:sp>
        <p:nvSpPr>
          <p:cNvPr id="20" name="Fons Dues dones teixint en un teler vertical (cap al 550-530 aC)"/>
          <p:cNvSpPr/>
          <p:nvPr/>
        </p:nvSpPr>
        <p:spPr>
          <a:xfrm>
            <a:off x="7452360" y="1371600"/>
            <a:ext cx="4190695" cy="3657600"/>
          </a:xfrm>
          <a:prstGeom prst="roundRect">
            <a:avLst>
              <a:gd name="adj" fmla="val 2750"/>
            </a:avLst>
          </a:prstGeom>
          <a:solidFill>
            <a:srgbClr val="F6F8FB"/>
          </a:solidFill>
          <a:ln/>
        </p:spPr>
      </p:sp>
      <p:pic>
        <p:nvPicPr>
          <p:cNvPr id="21" name="Dues dones teixint en un teler vertical (cap al 550-530 aC)" descr="/home/claude/work/build/img/dones.jpg">    </p:cNvPr>
          <p:cNvPicPr>
            <a:picLocks noChangeAspect="1"/>
          </p:cNvPicPr>
          <p:nvPr/>
        </p:nvPicPr>
        <p:blipFill>
          <a:blip r:embed="rId6"/>
          <a:stretch>
            <a:fillRect/>
          </a:stretch>
        </p:blipFill>
        <p:spPr>
          <a:xfrm>
            <a:off x="7640269" y="1371600"/>
            <a:ext cx="3814877" cy="3657600"/>
          </a:xfrm>
          <a:prstGeom prst="rect">
            <a:avLst/>
          </a:prstGeom>
        </p:spPr>
      </p:pic>
      <p:sp>
        <p:nvSpPr>
          <p:cNvPr id="22" name="Text 14"/>
          <p:cNvSpPr txBox="1"/>
          <p:nvPr/>
        </p:nvSpPr>
        <p:spPr>
          <a:xfrm>
            <a:off x="7452360" y="5120640"/>
            <a:ext cx="4190695"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Dues dones teixint en un teler vertical (cap al 550-530 aC). Detall d'un lècit atribuït al pintor d'Amasis. Metropolitan Museum of Art, Nova York. Foto: The Met, domini públic (CC0).</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2</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Una casa ideal?</a:t>
            </a:r>
            <a:endParaRPr lang="en-US" sz="2800" dirty="0"/>
          </a:p>
        </p:txBody>
      </p:sp>
      <p:sp>
        <p:nvSpPr>
          <p:cNvPr id="5" name="Font directa · Xenofont, Economia (segle IV aC)"/>
          <p:cNvSpPr/>
          <p:nvPr/>
        </p:nvSpPr>
        <p:spPr>
          <a:xfrm>
            <a:off x="548640" y="1371600"/>
            <a:ext cx="11094415" cy="2834640"/>
          </a:xfrm>
          <a:prstGeom prst="roundRect">
            <a:avLst>
              <a:gd name="adj" fmla="val 3548"/>
            </a:avLst>
          </a:prstGeom>
          <a:solidFill>
            <a:srgbClr val="F6F8FB"/>
          </a:solidFill>
          <a:ln/>
        </p:spPr>
      </p:sp>
      <p:sp>
        <p:nvSpPr>
          <p:cNvPr id="6" name="Text 4"/>
          <p:cNvSpPr txBox="1"/>
          <p:nvPr/>
        </p:nvSpPr>
        <p:spPr>
          <a:xfrm>
            <a:off x="914400" y="1554480"/>
            <a:ext cx="10362895"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Font directa · Xenofont, Economia (segle IV aC)</a:t>
            </a:r>
            <a:endParaRPr lang="en-US" sz="1400" dirty="0"/>
          </a:p>
        </p:txBody>
      </p:sp>
      <p:sp>
        <p:nvSpPr>
          <p:cNvPr id="7" name="Text 5"/>
          <p:cNvSpPr txBox="1"/>
          <p:nvPr/>
        </p:nvSpPr>
        <p:spPr>
          <a:xfrm>
            <a:off x="914400" y="1965960"/>
            <a:ext cx="10362895" cy="1508760"/>
          </a:xfrm>
          <a:prstGeom prst="rect">
            <a:avLst/>
          </a:prstGeom>
          <a:noFill/>
          <a:ln/>
        </p:spPr>
        <p:txBody>
          <a:bodyPr wrap="square" lIns="0" tIns="0" rIns="0" bIns="0" rtlCol="0" anchor="t"/>
          <a:lstStyle/>
          <a:p>
            <a:pPr indent="0" marL="0">
              <a:buNone/>
            </a:pPr>
            <a:r>
              <a:rPr lang="en-US" sz="1900" i="1" dirty="0">
                <a:solidFill>
                  <a:srgbClr val="202124"/>
                </a:solidFill>
                <a:latin typeface="Roboto" pitchFamily="34" charset="0"/>
                <a:ea typeface="Roboto" pitchFamily="34" charset="-122"/>
                <a:cs typeface="Roboto" pitchFamily="34" charset="-120"/>
              </a:rPr>
              <a:t>«Déu ha disposat per endavant, em sembla a mi, la natura de la dona per a les feines i les cures de dins casa. [...] És més honest per a la dona de romandre a casa que de rodar per vila, i més vergonyós per a l'home de romandre a casa que de captenir-se dels afers de fora.»</a:t>
            </a:r>
            <a:endParaRPr lang="en-US" sz="1900" dirty="0"/>
          </a:p>
        </p:txBody>
      </p:sp>
      <p:sp>
        <p:nvSpPr>
          <p:cNvPr id="8" name="Text 6"/>
          <p:cNvSpPr txBox="1"/>
          <p:nvPr/>
        </p:nvSpPr>
        <p:spPr>
          <a:xfrm>
            <a:off x="914400" y="3310128"/>
            <a:ext cx="10362895" cy="777240"/>
          </a:xfrm>
          <a:prstGeom prst="rect">
            <a:avLst/>
          </a:prstGeom>
          <a:noFill/>
          <a:ln/>
        </p:spPr>
        <p:txBody>
          <a:bodyPr wrap="square" lIns="0" tIns="0" rIns="0" bIns="0" rtlCol="0" anchor="b"/>
          <a:lstStyle/>
          <a:p>
            <a:pPr indent="0" marL="0">
              <a:buNone/>
            </a:pPr>
            <a:r>
              <a:rPr lang="en-US" sz="1300" dirty="0">
                <a:solidFill>
                  <a:srgbClr val="5F6368"/>
                </a:solidFill>
                <a:latin typeface="Roboto" pitchFamily="34" charset="0"/>
                <a:ea typeface="Roboto" pitchFamily="34" charset="-122"/>
                <a:cs typeface="Roboto" pitchFamily="34" charset="-120"/>
              </a:rPr>
              <a:t>Xenofont, Economia, VII, 22 i 30. Traducció de Carles Riba (Fundació Bernat Metge). Iscòmac, un atenès ric, explica a Sòcrates com va ensenyar a portar la casa a la seva dona.</a:t>
            </a:r>
            <a:endParaRPr lang="en-US" sz="1300" dirty="0"/>
          </a:p>
        </p:txBody>
      </p:sp>
      <p:sp>
        <p:nvSpPr>
          <p:cNvPr id="9" name="Paraules difícils"/>
          <p:cNvSpPr/>
          <p:nvPr/>
        </p:nvSpPr>
        <p:spPr>
          <a:xfrm>
            <a:off x="548640" y="4434840"/>
            <a:ext cx="5410048" cy="1600200"/>
          </a:xfrm>
          <a:prstGeom prst="roundRect">
            <a:avLst>
              <a:gd name="adj" fmla="val 6286"/>
            </a:avLst>
          </a:prstGeom>
          <a:solidFill>
            <a:srgbClr val="F6F8FB"/>
          </a:solidFill>
          <a:ln/>
        </p:spPr>
      </p:sp>
      <p:sp>
        <p:nvSpPr>
          <p:cNvPr id="10" name="Text 8"/>
          <p:cNvSpPr txBox="1"/>
          <p:nvPr/>
        </p:nvSpPr>
        <p:spPr>
          <a:xfrm>
            <a:off x="868680" y="4590288"/>
            <a:ext cx="4769968"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Paraules difícils</a:t>
            </a:r>
            <a:endParaRPr lang="en-US" sz="1400" dirty="0"/>
          </a:p>
        </p:txBody>
      </p:sp>
      <p:sp>
        <p:nvSpPr>
          <p:cNvPr id="11" name="Text 9"/>
          <p:cNvSpPr txBox="1"/>
          <p:nvPr/>
        </p:nvSpPr>
        <p:spPr>
          <a:xfrm>
            <a:off x="868680" y="4937760"/>
            <a:ext cx="4769968" cy="960120"/>
          </a:xfrm>
          <a:prstGeom prst="rect">
            <a:avLst/>
          </a:prstGeom>
          <a:noFill/>
          <a:ln/>
        </p:spPr>
        <p:txBody>
          <a:bodyPr wrap="square" lIns="0" tIns="0" rIns="0" bIns="0" rtlCol="0" anchor="t"/>
          <a:lstStyle/>
          <a:p>
            <a:pPr indent="0" marL="0">
              <a:buNone/>
            </a:pPr>
            <a:r>
              <a:rPr lang="en-US" sz="1600" dirty="0">
                <a:solidFill>
                  <a:srgbClr val="5F6368"/>
                </a:solidFill>
                <a:latin typeface="Roboto" pitchFamily="34" charset="0"/>
                <a:ea typeface="Roboto" pitchFamily="34" charset="-122"/>
                <a:cs typeface="Roboto" pitchFamily="34" charset="-120"/>
              </a:rPr>
              <a:t>Rodar per vila vol dir anar pel carrer. Captenir-se dels afers de fora és ocupar-se dels assumptes de fora de casa.</a:t>
            </a:r>
            <a:endParaRPr lang="en-US" sz="1600" dirty="0"/>
          </a:p>
        </p:txBody>
      </p:sp>
      <p:sp>
        <p:nvSpPr>
          <p:cNvPr id="12" name="Pensa-hi"/>
          <p:cNvSpPr/>
          <p:nvPr/>
        </p:nvSpPr>
        <p:spPr>
          <a:xfrm>
            <a:off x="6233008" y="4434840"/>
            <a:ext cx="5410048" cy="1600200"/>
          </a:xfrm>
          <a:prstGeom prst="roundRect">
            <a:avLst>
              <a:gd name="adj" fmla="val 6286"/>
            </a:avLst>
          </a:prstGeom>
          <a:solidFill>
            <a:srgbClr val="E6F4EA"/>
          </a:solidFill>
          <a:ln/>
        </p:spPr>
      </p:sp>
      <p:sp>
        <p:nvSpPr>
          <p:cNvPr id="13" name="Text 11"/>
          <p:cNvSpPr txBox="1"/>
          <p:nvPr/>
        </p:nvSpPr>
        <p:spPr>
          <a:xfrm>
            <a:off x="6553048" y="4590288"/>
            <a:ext cx="4769968"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Pensa-hi</a:t>
            </a:r>
            <a:endParaRPr lang="en-US" sz="1400" dirty="0"/>
          </a:p>
        </p:txBody>
      </p:sp>
      <p:sp>
        <p:nvSpPr>
          <p:cNvPr id="14" name="Text 12"/>
          <p:cNvSpPr txBox="1"/>
          <p:nvPr/>
        </p:nvSpPr>
        <p:spPr>
          <a:xfrm>
            <a:off x="6553048" y="4937760"/>
            <a:ext cx="4769968" cy="960120"/>
          </a:xfrm>
          <a:prstGeom prst="rect">
            <a:avLst/>
          </a:prstGeom>
          <a:noFill/>
          <a:ln/>
        </p:spPr>
        <p:txBody>
          <a:bodyPr wrap="square" lIns="0" tIns="0" rIns="0" bIns="0" rtlCol="0" anchor="t"/>
          <a:lstStyle/>
          <a:p>
            <a:pPr indent="0" marL="0">
              <a:buNone/>
            </a:pPr>
            <a:r>
              <a:rPr lang="en-US" sz="1600" dirty="0">
                <a:solidFill>
                  <a:srgbClr val="202124"/>
                </a:solidFill>
                <a:latin typeface="Roboto" pitchFamily="34" charset="0"/>
                <a:ea typeface="Roboto" pitchFamily="34" charset="-122"/>
                <a:cs typeface="Roboto" pitchFamily="34" charset="-120"/>
              </a:rPr>
              <a:t>Aquest text explica com vivien totes les atenenques?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2</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L'escola, només per als nois que la podien pagar</a:t>
            </a:r>
            <a:endParaRPr lang="en-US" sz="2800" dirty="0"/>
          </a:p>
        </p:txBody>
      </p:sp>
      <p:sp>
        <p:nvSpPr>
          <p:cNvPr id="5" name="Text 3"/>
          <p:cNvSpPr txBox="1"/>
          <p:nvPr/>
        </p:nvSpPr>
        <p:spPr>
          <a:xfrm>
            <a:off x="548640" y="1371600"/>
            <a:ext cx="11094415" cy="77724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A Atenes no hi havia escoles públiques. Les famílies que s'ho podien permetre pagaven mestres particulars als fills.</a:t>
            </a:r>
            <a:endParaRPr lang="en-US" sz="1800" dirty="0"/>
          </a:p>
        </p:txBody>
      </p:sp>
      <p:sp>
        <p:nvSpPr>
          <p:cNvPr id="6" name="Fons Una escola a Atenes (cap al 480 aC)"/>
          <p:cNvSpPr/>
          <p:nvPr/>
        </p:nvSpPr>
        <p:spPr>
          <a:xfrm>
            <a:off x="548640" y="2286000"/>
            <a:ext cx="6309360" cy="3194613"/>
          </a:xfrm>
          <a:prstGeom prst="roundRect">
            <a:avLst>
              <a:gd name="adj" fmla="val 3149"/>
            </a:avLst>
          </a:prstGeom>
          <a:solidFill>
            <a:srgbClr val="F6F8FB"/>
          </a:solidFill>
          <a:ln/>
        </p:spPr>
      </p:sp>
      <p:pic>
        <p:nvPicPr>
          <p:cNvPr id="7" name="Una escola a Atenes (cap al 480 aC)" descr="/home/claude/work/build/img/escola.jpg">    </p:cNvPr>
          <p:cNvPicPr>
            <a:picLocks noChangeAspect="1"/>
          </p:cNvPicPr>
          <p:nvPr/>
        </p:nvPicPr>
        <p:blipFill>
          <a:blip r:embed="rId1"/>
          <a:stretch>
            <a:fillRect/>
          </a:stretch>
        </p:blipFill>
        <p:spPr>
          <a:xfrm>
            <a:off x="548640" y="2286000"/>
            <a:ext cx="6309360" cy="3194613"/>
          </a:xfrm>
          <a:prstGeom prst="rect">
            <a:avLst/>
          </a:prstGeom>
        </p:spPr>
      </p:pic>
      <p:sp>
        <p:nvSpPr>
          <p:cNvPr id="8" name="Text 5"/>
          <p:cNvSpPr txBox="1"/>
          <p:nvPr/>
        </p:nvSpPr>
        <p:spPr>
          <a:xfrm>
            <a:off x="548640" y="5572053"/>
            <a:ext cx="6309360"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Una escola a Atenes (cap al 480 aC). Copa del pintor Duris. Antikensammlung, Museus Estatals de Berlín. Foto: ArchaiOptix, Wikimedia Commons, CC BY-SA 4.0.</a:t>
            </a:r>
            <a:endParaRPr lang="en-US" sz="1000" dirty="0"/>
          </a:p>
        </p:txBody>
      </p:sp>
      <p:sp>
        <p:nvSpPr>
          <p:cNvPr id="9" name="Cercle icona"/>
          <p:cNvSpPr/>
          <p:nvPr/>
        </p:nvSpPr>
        <p:spPr>
          <a:xfrm>
            <a:off x="7178040" y="2459736"/>
            <a:ext cx="640080" cy="640080"/>
          </a:xfrm>
          <a:prstGeom prst="ellipse">
            <a:avLst/>
          </a:prstGeom>
          <a:solidFill>
            <a:srgbClr val="E6F4EA"/>
          </a:solidFill>
          <a:ln/>
        </p:spPr>
      </p:sp>
      <p:pic>
        <p:nvPicPr>
          <p:cNvPr id="10" name="Icona TbAbc" descr="/home/claude/work/build/img/ic/TbAbc-g.png">    </p:cNvPr>
          <p:cNvPicPr>
            <a:picLocks noChangeAspect="1"/>
          </p:cNvPicPr>
          <p:nvPr/>
        </p:nvPicPr>
        <p:blipFill>
          <a:blip r:embed="rId2"/>
          <a:stretch>
            <a:fillRect/>
          </a:stretch>
        </p:blipFill>
        <p:spPr>
          <a:xfrm>
            <a:off x="7318858" y="2600554"/>
            <a:ext cx="358445" cy="358445"/>
          </a:xfrm>
          <a:prstGeom prst="rect">
            <a:avLst/>
          </a:prstGeom>
        </p:spPr>
      </p:pic>
      <p:sp>
        <p:nvSpPr>
          <p:cNvPr id="11" name="Text 7"/>
          <p:cNvSpPr txBox="1"/>
          <p:nvPr/>
        </p:nvSpPr>
        <p:spPr>
          <a:xfrm>
            <a:off x="8019288" y="2286000"/>
            <a:ext cx="3623767" cy="1097280"/>
          </a:xfrm>
          <a:prstGeom prst="rect">
            <a:avLst/>
          </a:prstGeom>
          <a:noFill/>
          <a:ln/>
        </p:spPr>
        <p:txBody>
          <a:bodyPr wrap="square" lIns="0" tIns="0" rIns="0" bIns="0" rtlCol="0" anchor="ctr"/>
          <a:lstStyle/>
          <a:p>
            <a:pPr indent="0" marL="0">
              <a:buNone/>
            </a:pPr>
            <a:r>
              <a:rPr lang="en-US" sz="1700" b="1" dirty="0">
                <a:solidFill>
                  <a:srgbClr val="202124"/>
                </a:solidFill>
                <a:latin typeface="Roboto" pitchFamily="34" charset="0"/>
                <a:ea typeface="Roboto" pitchFamily="34" charset="-122"/>
                <a:cs typeface="Roboto" pitchFamily="34" charset="-120"/>
              </a:rPr>
              <a:t>Lletres. </a:t>
            </a:r>
            <a:pPr indent="0" marL="0">
              <a:buNone/>
            </a:pPr>
            <a:r>
              <a:rPr lang="en-US" sz="1700" dirty="0">
                <a:solidFill>
                  <a:srgbClr val="202124"/>
                </a:solidFill>
                <a:latin typeface="Roboto" pitchFamily="34" charset="0"/>
                <a:ea typeface="Roboto" pitchFamily="34" charset="-122"/>
                <a:cs typeface="Roboto" pitchFamily="34" charset="-120"/>
              </a:rPr>
              <a:t>Llegir, escriure, comptar i recitar Homer de memòria.</a:t>
            </a:r>
            <a:endParaRPr lang="en-US" sz="1700" dirty="0"/>
          </a:p>
        </p:txBody>
      </p:sp>
      <p:sp>
        <p:nvSpPr>
          <p:cNvPr id="12" name="Cercle icona"/>
          <p:cNvSpPr/>
          <p:nvPr/>
        </p:nvSpPr>
        <p:spPr>
          <a:xfrm>
            <a:off x="7178040" y="3648456"/>
            <a:ext cx="640080" cy="640080"/>
          </a:xfrm>
          <a:prstGeom prst="ellipse">
            <a:avLst/>
          </a:prstGeom>
          <a:solidFill>
            <a:srgbClr val="E6F4EA"/>
          </a:solidFill>
          <a:ln/>
        </p:spPr>
      </p:sp>
      <p:pic>
        <p:nvPicPr>
          <p:cNvPr id="13" name="Icona TbMusic" descr="/home/claude/work/build/img/ic/TbMusic-g.png">    </p:cNvPr>
          <p:cNvPicPr>
            <a:picLocks noChangeAspect="1"/>
          </p:cNvPicPr>
          <p:nvPr/>
        </p:nvPicPr>
        <p:blipFill>
          <a:blip r:embed="rId3"/>
          <a:stretch>
            <a:fillRect/>
          </a:stretch>
        </p:blipFill>
        <p:spPr>
          <a:xfrm>
            <a:off x="7318858" y="3789274"/>
            <a:ext cx="358445" cy="358445"/>
          </a:xfrm>
          <a:prstGeom prst="rect">
            <a:avLst/>
          </a:prstGeom>
        </p:spPr>
      </p:pic>
      <p:sp>
        <p:nvSpPr>
          <p:cNvPr id="14" name="Text 9"/>
          <p:cNvSpPr txBox="1"/>
          <p:nvPr/>
        </p:nvSpPr>
        <p:spPr>
          <a:xfrm>
            <a:off x="8019288" y="3474720"/>
            <a:ext cx="3623767" cy="1097280"/>
          </a:xfrm>
          <a:prstGeom prst="rect">
            <a:avLst/>
          </a:prstGeom>
          <a:noFill/>
          <a:ln/>
        </p:spPr>
        <p:txBody>
          <a:bodyPr wrap="square" lIns="0" tIns="0" rIns="0" bIns="0" rtlCol="0" anchor="ctr"/>
          <a:lstStyle/>
          <a:p>
            <a:pPr indent="0" marL="0">
              <a:buNone/>
            </a:pPr>
            <a:r>
              <a:rPr lang="en-US" sz="1700" b="1" dirty="0">
                <a:solidFill>
                  <a:srgbClr val="202124"/>
                </a:solidFill>
                <a:latin typeface="Roboto" pitchFamily="34" charset="0"/>
                <a:ea typeface="Roboto" pitchFamily="34" charset="-122"/>
                <a:cs typeface="Roboto" pitchFamily="34" charset="-120"/>
              </a:rPr>
              <a:t>Música. </a:t>
            </a:r>
            <a:pPr indent="0" marL="0">
              <a:buNone/>
            </a:pPr>
            <a:r>
              <a:rPr lang="en-US" sz="1700" dirty="0">
                <a:solidFill>
                  <a:srgbClr val="202124"/>
                </a:solidFill>
                <a:latin typeface="Roboto" pitchFamily="34" charset="0"/>
                <a:ea typeface="Roboto" pitchFamily="34" charset="-122"/>
                <a:cs typeface="Roboto" pitchFamily="34" charset="-120"/>
              </a:rPr>
              <a:t>Tocar la lira i cantar.</a:t>
            </a:r>
            <a:endParaRPr lang="en-US" sz="1700" dirty="0"/>
          </a:p>
        </p:txBody>
      </p:sp>
      <p:sp>
        <p:nvSpPr>
          <p:cNvPr id="15" name="Cercle icona"/>
          <p:cNvSpPr/>
          <p:nvPr/>
        </p:nvSpPr>
        <p:spPr>
          <a:xfrm>
            <a:off x="7178040" y="4837176"/>
            <a:ext cx="640080" cy="640080"/>
          </a:xfrm>
          <a:prstGeom prst="ellipse">
            <a:avLst/>
          </a:prstGeom>
          <a:solidFill>
            <a:srgbClr val="E6F4EA"/>
          </a:solidFill>
          <a:ln/>
        </p:spPr>
      </p:sp>
      <p:pic>
        <p:nvPicPr>
          <p:cNvPr id="16" name="Icona TbBarbell" descr="/home/claude/work/build/img/ic/TbBarbell-g.png">    </p:cNvPr>
          <p:cNvPicPr>
            <a:picLocks noChangeAspect="1"/>
          </p:cNvPicPr>
          <p:nvPr/>
        </p:nvPicPr>
        <p:blipFill>
          <a:blip r:embed="rId4"/>
          <a:stretch>
            <a:fillRect/>
          </a:stretch>
        </p:blipFill>
        <p:spPr>
          <a:xfrm>
            <a:off x="7318858" y="4977994"/>
            <a:ext cx="358445" cy="358445"/>
          </a:xfrm>
          <a:prstGeom prst="rect">
            <a:avLst/>
          </a:prstGeom>
        </p:spPr>
      </p:pic>
      <p:sp>
        <p:nvSpPr>
          <p:cNvPr id="17" name="Text 11"/>
          <p:cNvSpPr txBox="1"/>
          <p:nvPr/>
        </p:nvSpPr>
        <p:spPr>
          <a:xfrm>
            <a:off x="8019288" y="4663440"/>
            <a:ext cx="3623767" cy="1097280"/>
          </a:xfrm>
          <a:prstGeom prst="rect">
            <a:avLst/>
          </a:prstGeom>
          <a:noFill/>
          <a:ln/>
        </p:spPr>
        <p:txBody>
          <a:bodyPr wrap="square" lIns="0" tIns="0" rIns="0" bIns="0" rtlCol="0" anchor="ctr"/>
          <a:lstStyle/>
          <a:p>
            <a:pPr indent="0" marL="0">
              <a:buNone/>
            </a:pPr>
            <a:r>
              <a:rPr lang="en-US" sz="1700" b="1" dirty="0">
                <a:solidFill>
                  <a:srgbClr val="202124"/>
                </a:solidFill>
                <a:latin typeface="Roboto" pitchFamily="34" charset="0"/>
                <a:ea typeface="Roboto" pitchFamily="34" charset="-122"/>
                <a:cs typeface="Roboto" pitchFamily="34" charset="-120"/>
              </a:rPr>
              <a:t>La palestra. </a:t>
            </a:r>
            <a:pPr indent="0" marL="0">
              <a:buNone/>
            </a:pPr>
            <a:r>
              <a:rPr lang="en-US" sz="1700" dirty="0">
                <a:solidFill>
                  <a:srgbClr val="202124"/>
                </a:solidFill>
                <a:latin typeface="Roboto" pitchFamily="34" charset="0"/>
                <a:ea typeface="Roboto" pitchFamily="34" charset="-122"/>
                <a:cs typeface="Roboto" pitchFamily="34" charset="-120"/>
              </a:rPr>
              <a:t>Gimnàstica i lluita, amb un entrenador.</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2</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Qui anava a l'escola?</a:t>
            </a:r>
            <a:endParaRPr lang="en-US" sz="2800" dirty="0"/>
          </a:p>
        </p:txBody>
      </p:sp>
      <p:sp>
        <p:nvSpPr>
          <p:cNvPr id="5" name="Targeta El pedagog"/>
          <p:cNvSpPr/>
          <p:nvPr/>
        </p:nvSpPr>
        <p:spPr>
          <a:xfrm>
            <a:off x="548640" y="1371600"/>
            <a:ext cx="3515258" cy="3017520"/>
          </a:xfrm>
          <a:prstGeom prst="roundRect">
            <a:avLst>
              <a:gd name="adj" fmla="val 3333"/>
            </a:avLst>
          </a:prstGeom>
          <a:solidFill>
            <a:srgbClr val="FFFFFF"/>
          </a:solidFill>
          <a:ln w="12700">
            <a:solidFill>
              <a:srgbClr val="DADCE0"/>
            </a:solidFill>
            <a:prstDash val="solid"/>
          </a:ln>
        </p:spPr>
      </p:sp>
      <p:sp>
        <p:nvSpPr>
          <p:cNvPr id="6" name="Cercle icona"/>
          <p:cNvSpPr/>
          <p:nvPr/>
        </p:nvSpPr>
        <p:spPr>
          <a:xfrm>
            <a:off x="777240" y="1600200"/>
            <a:ext cx="777240" cy="777240"/>
          </a:xfrm>
          <a:prstGeom prst="ellipse">
            <a:avLst/>
          </a:prstGeom>
          <a:solidFill>
            <a:srgbClr val="E6F4EA"/>
          </a:solidFill>
          <a:ln/>
        </p:spPr>
      </p:sp>
      <p:pic>
        <p:nvPicPr>
          <p:cNvPr id="7" name="Icona TbWalk" descr="/home/claude/work/build/img/ic/TbWalk-g.png">    </p:cNvPr>
          <p:cNvPicPr>
            <a:picLocks noChangeAspect="1"/>
          </p:cNvPicPr>
          <p:nvPr/>
        </p:nvPicPr>
        <p:blipFill>
          <a:blip r:embed="rId1"/>
          <a:stretch>
            <a:fillRect/>
          </a:stretch>
        </p:blipFill>
        <p:spPr>
          <a:xfrm>
            <a:off x="948233" y="1771193"/>
            <a:ext cx="435254" cy="435254"/>
          </a:xfrm>
          <a:prstGeom prst="rect">
            <a:avLst/>
          </a:prstGeom>
        </p:spPr>
      </p:pic>
      <p:sp>
        <p:nvSpPr>
          <p:cNvPr id="8" name="Text 5"/>
          <p:cNvSpPr txBox="1"/>
          <p:nvPr/>
        </p:nvSpPr>
        <p:spPr>
          <a:xfrm>
            <a:off x="777240" y="2514600"/>
            <a:ext cx="3058058" cy="289560"/>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El pedagog</a:t>
            </a:r>
            <a:endParaRPr lang="en-US" sz="1900" dirty="0"/>
          </a:p>
        </p:txBody>
      </p:sp>
      <p:sp>
        <p:nvSpPr>
          <p:cNvPr id="9" name="Text 6"/>
          <p:cNvSpPr txBox="1"/>
          <p:nvPr/>
        </p:nvSpPr>
        <p:spPr>
          <a:xfrm>
            <a:off x="777240" y="2895600"/>
            <a:ext cx="3058058" cy="135636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Un esclau acompanyava el noi a classe i el vigilava. D'aquí ve pedagogia.</a:t>
            </a:r>
            <a:endParaRPr lang="en-US" sz="1700" dirty="0"/>
          </a:p>
        </p:txBody>
      </p:sp>
      <p:sp>
        <p:nvSpPr>
          <p:cNvPr id="10" name="Targeta Les noies"/>
          <p:cNvSpPr/>
          <p:nvPr/>
        </p:nvSpPr>
        <p:spPr>
          <a:xfrm>
            <a:off x="4338218" y="1371600"/>
            <a:ext cx="3515258" cy="3017520"/>
          </a:xfrm>
          <a:prstGeom prst="roundRect">
            <a:avLst>
              <a:gd name="adj" fmla="val 3333"/>
            </a:avLst>
          </a:prstGeom>
          <a:solidFill>
            <a:srgbClr val="FFFFFF"/>
          </a:solidFill>
          <a:ln w="12700">
            <a:solidFill>
              <a:srgbClr val="DADCE0"/>
            </a:solidFill>
            <a:prstDash val="solid"/>
          </a:ln>
        </p:spPr>
      </p:sp>
      <p:sp>
        <p:nvSpPr>
          <p:cNvPr id="11" name="Cercle icona"/>
          <p:cNvSpPr/>
          <p:nvPr/>
        </p:nvSpPr>
        <p:spPr>
          <a:xfrm>
            <a:off x="4566818" y="1600200"/>
            <a:ext cx="777240" cy="777240"/>
          </a:xfrm>
          <a:prstGeom prst="ellipse">
            <a:avLst/>
          </a:prstGeom>
          <a:solidFill>
            <a:srgbClr val="E6F4EA"/>
          </a:solidFill>
          <a:ln/>
        </p:spPr>
      </p:sp>
      <p:pic>
        <p:nvPicPr>
          <p:cNvPr id="12" name="Icona TbNeedleThread" descr="/home/claude/work/build/img/ic/TbNeedleThread-g.png">    </p:cNvPr>
          <p:cNvPicPr>
            <a:picLocks noChangeAspect="1"/>
          </p:cNvPicPr>
          <p:nvPr/>
        </p:nvPicPr>
        <p:blipFill>
          <a:blip r:embed="rId2"/>
          <a:stretch>
            <a:fillRect/>
          </a:stretch>
        </p:blipFill>
        <p:spPr>
          <a:xfrm>
            <a:off x="4737811" y="1771193"/>
            <a:ext cx="435254" cy="435254"/>
          </a:xfrm>
          <a:prstGeom prst="rect">
            <a:avLst/>
          </a:prstGeom>
        </p:spPr>
      </p:pic>
      <p:sp>
        <p:nvSpPr>
          <p:cNvPr id="13" name="Text 9"/>
          <p:cNvSpPr txBox="1"/>
          <p:nvPr/>
        </p:nvSpPr>
        <p:spPr>
          <a:xfrm>
            <a:off x="4566818" y="2514600"/>
            <a:ext cx="3058058" cy="289560"/>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Les noies</a:t>
            </a:r>
            <a:endParaRPr lang="en-US" sz="1900" dirty="0"/>
          </a:p>
        </p:txBody>
      </p:sp>
      <p:sp>
        <p:nvSpPr>
          <p:cNvPr id="14" name="Text 10"/>
          <p:cNvSpPr txBox="1"/>
          <p:nvPr/>
        </p:nvSpPr>
        <p:spPr>
          <a:xfrm>
            <a:off x="4566818" y="2895600"/>
            <a:ext cx="3058058" cy="135636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No hi anaven. A casa, amb la mare, aprenien a filar, teixir i portar la casa, i algunes, a llegir.</a:t>
            </a:r>
            <a:endParaRPr lang="en-US" sz="1700" dirty="0"/>
          </a:p>
        </p:txBody>
      </p:sp>
      <p:sp>
        <p:nvSpPr>
          <p:cNvPr id="15" name="Targeta Els fills dels pobres"/>
          <p:cNvSpPr/>
          <p:nvPr/>
        </p:nvSpPr>
        <p:spPr>
          <a:xfrm>
            <a:off x="8127797" y="1371600"/>
            <a:ext cx="3515258" cy="3017520"/>
          </a:xfrm>
          <a:prstGeom prst="roundRect">
            <a:avLst>
              <a:gd name="adj" fmla="val 3333"/>
            </a:avLst>
          </a:prstGeom>
          <a:solidFill>
            <a:srgbClr val="FFFFFF"/>
          </a:solidFill>
          <a:ln w="12700">
            <a:solidFill>
              <a:srgbClr val="DADCE0"/>
            </a:solidFill>
            <a:prstDash val="solid"/>
          </a:ln>
        </p:spPr>
      </p:sp>
      <p:sp>
        <p:nvSpPr>
          <p:cNvPr id="16" name="Cercle icona"/>
          <p:cNvSpPr/>
          <p:nvPr/>
        </p:nvSpPr>
        <p:spPr>
          <a:xfrm>
            <a:off x="8356397" y="1600200"/>
            <a:ext cx="777240" cy="777240"/>
          </a:xfrm>
          <a:prstGeom prst="ellipse">
            <a:avLst/>
          </a:prstGeom>
          <a:solidFill>
            <a:srgbClr val="E6F4EA"/>
          </a:solidFill>
          <a:ln/>
        </p:spPr>
      </p:sp>
      <p:pic>
        <p:nvPicPr>
          <p:cNvPr id="17" name="Icona TbHammer" descr="/home/claude/work/build/img/ic/TbHammer-g.png">    </p:cNvPr>
          <p:cNvPicPr>
            <a:picLocks noChangeAspect="1"/>
          </p:cNvPicPr>
          <p:nvPr/>
        </p:nvPicPr>
        <p:blipFill>
          <a:blip r:embed="rId3"/>
          <a:stretch>
            <a:fillRect/>
          </a:stretch>
        </p:blipFill>
        <p:spPr>
          <a:xfrm>
            <a:off x="8527390" y="1771193"/>
            <a:ext cx="435254" cy="435254"/>
          </a:xfrm>
          <a:prstGeom prst="rect">
            <a:avLst/>
          </a:prstGeom>
        </p:spPr>
      </p:pic>
      <p:sp>
        <p:nvSpPr>
          <p:cNvPr id="18" name="Text 13"/>
          <p:cNvSpPr txBox="1"/>
          <p:nvPr/>
        </p:nvSpPr>
        <p:spPr>
          <a:xfrm>
            <a:off x="8356397" y="2514600"/>
            <a:ext cx="3058058" cy="289560"/>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Els fills dels pobres</a:t>
            </a:r>
            <a:endParaRPr lang="en-US" sz="1900" dirty="0"/>
          </a:p>
        </p:txBody>
      </p:sp>
      <p:sp>
        <p:nvSpPr>
          <p:cNvPr id="19" name="Text 14"/>
          <p:cNvSpPr txBox="1"/>
          <p:nvPr/>
        </p:nvSpPr>
        <p:spPr>
          <a:xfrm>
            <a:off x="8356397" y="2895600"/>
            <a:ext cx="3058058" cy="135636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Aprenien l'ofici del pare.</a:t>
            </a:r>
            <a:endParaRPr lang="en-US" sz="1700" dirty="0"/>
          </a:p>
        </p:txBody>
      </p:sp>
      <p:sp>
        <p:nvSpPr>
          <p:cNvPr id="20" name="Una llei atribuïda a Soló"/>
          <p:cNvSpPr/>
          <p:nvPr/>
        </p:nvSpPr>
        <p:spPr>
          <a:xfrm>
            <a:off x="548640" y="4617720"/>
            <a:ext cx="11094415" cy="1371600"/>
          </a:xfrm>
          <a:prstGeom prst="roundRect">
            <a:avLst>
              <a:gd name="adj" fmla="val 7333"/>
            </a:avLst>
          </a:prstGeom>
          <a:solidFill>
            <a:srgbClr val="F6F8FB"/>
          </a:solidFill>
          <a:ln/>
        </p:spPr>
      </p:sp>
      <p:sp>
        <p:nvSpPr>
          <p:cNvPr id="21" name="Text 16"/>
          <p:cNvSpPr txBox="1"/>
          <p:nvPr/>
        </p:nvSpPr>
        <p:spPr>
          <a:xfrm>
            <a:off x="868680" y="4773168"/>
            <a:ext cx="10454335"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Una llei atribuïda a Soló</a:t>
            </a:r>
            <a:endParaRPr lang="en-US" sz="1400" dirty="0"/>
          </a:p>
        </p:txBody>
      </p:sp>
      <p:sp>
        <p:nvSpPr>
          <p:cNvPr id="22" name="Text 17"/>
          <p:cNvSpPr txBox="1"/>
          <p:nvPr/>
        </p:nvSpPr>
        <p:spPr>
          <a:xfrm>
            <a:off x="868680" y="5120640"/>
            <a:ext cx="10454335" cy="731520"/>
          </a:xfrm>
          <a:prstGeom prst="rect">
            <a:avLst/>
          </a:prstGeom>
          <a:noFill/>
          <a:ln/>
        </p:spPr>
        <p:txBody>
          <a:bodyPr wrap="square" lIns="0" tIns="0" rIns="0" bIns="0" rtlCol="0" anchor="t"/>
          <a:lstStyle/>
          <a:p>
            <a:pPr indent="0" marL="0">
              <a:buNone/>
            </a:pPr>
            <a:r>
              <a:rPr lang="en-US" sz="1800" dirty="0">
                <a:solidFill>
                  <a:srgbClr val="5F6368"/>
                </a:solidFill>
                <a:latin typeface="Roboto" pitchFamily="34" charset="0"/>
                <a:ea typeface="Roboto" pitchFamily="34" charset="-122"/>
                <a:cs typeface="Roboto" pitchFamily="34" charset="-120"/>
              </a:rPr>
              <a:t>Un fill no estava obligat a mantenir de vell el pare que no li hagués ensenyat un ofici.</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2</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Esclaus i metecs a la feina</a:t>
            </a:r>
            <a:endParaRPr lang="en-US" sz="2800" dirty="0"/>
          </a:p>
        </p:txBody>
      </p:sp>
      <p:sp>
        <p:nvSpPr>
          <p:cNvPr id="5" name="Els esclaus"/>
          <p:cNvSpPr/>
          <p:nvPr/>
        </p:nvSpPr>
        <p:spPr>
          <a:xfrm>
            <a:off x="548640" y="1371600"/>
            <a:ext cx="5410048" cy="4617720"/>
          </a:xfrm>
          <a:prstGeom prst="roundRect">
            <a:avLst>
              <a:gd name="adj" fmla="val 2178"/>
            </a:avLst>
          </a:prstGeom>
          <a:solidFill>
            <a:srgbClr val="FFFFFF"/>
          </a:solidFill>
          <a:ln w="12700">
            <a:solidFill>
              <a:srgbClr val="DADCE0"/>
            </a:solidFill>
            <a:prstDash val="solid"/>
          </a:ln>
        </p:spPr>
      </p:sp>
      <p:sp>
        <p:nvSpPr>
          <p:cNvPr id="6" name="Cercle icona"/>
          <p:cNvSpPr/>
          <p:nvPr/>
        </p:nvSpPr>
        <p:spPr>
          <a:xfrm>
            <a:off x="777240" y="1554480"/>
            <a:ext cx="685800" cy="685800"/>
          </a:xfrm>
          <a:prstGeom prst="ellipse">
            <a:avLst/>
          </a:prstGeom>
          <a:solidFill>
            <a:srgbClr val="188038"/>
          </a:solidFill>
          <a:ln/>
        </p:spPr>
      </p:sp>
      <p:pic>
        <p:nvPicPr>
          <p:cNvPr id="7" name="Icona TbLink" descr="/home/claude/work/build/img/ic/TbLink-w.png">    </p:cNvPr>
          <p:cNvPicPr>
            <a:picLocks noChangeAspect="1"/>
          </p:cNvPicPr>
          <p:nvPr/>
        </p:nvPicPr>
        <p:blipFill>
          <a:blip r:embed="rId1"/>
          <a:stretch>
            <a:fillRect/>
          </a:stretch>
        </p:blipFill>
        <p:spPr>
          <a:xfrm>
            <a:off x="928116" y="1705356"/>
            <a:ext cx="384048" cy="384048"/>
          </a:xfrm>
          <a:prstGeom prst="rect">
            <a:avLst/>
          </a:prstGeom>
        </p:spPr>
      </p:pic>
      <p:sp>
        <p:nvSpPr>
          <p:cNvPr id="8" name="Text 5"/>
          <p:cNvSpPr txBox="1"/>
          <p:nvPr/>
        </p:nvSpPr>
        <p:spPr>
          <a:xfrm>
            <a:off x="1645920" y="1554480"/>
            <a:ext cx="4129888" cy="685800"/>
          </a:xfrm>
          <a:prstGeom prst="rect">
            <a:avLst/>
          </a:prstGeom>
          <a:noFill/>
          <a:ln/>
        </p:spPr>
        <p:txBody>
          <a:bodyPr wrap="square" lIns="0" tIns="0" rIns="0" bIns="0" rtlCol="0" anchor="ctr"/>
          <a:lstStyle/>
          <a:p>
            <a:pPr indent="0" marL="0">
              <a:buNone/>
            </a:pPr>
            <a:r>
              <a:rPr lang="en-US" sz="2000" b="1" dirty="0">
                <a:solidFill>
                  <a:srgbClr val="188038"/>
                </a:solidFill>
                <a:latin typeface="Roboto" pitchFamily="34" charset="0"/>
                <a:ea typeface="Roboto" pitchFamily="34" charset="-122"/>
                <a:cs typeface="Roboto" pitchFamily="34" charset="-120"/>
              </a:rPr>
              <a:t>Els esclaus</a:t>
            </a:r>
            <a:endParaRPr lang="en-US" sz="2000" dirty="0"/>
          </a:p>
        </p:txBody>
      </p:sp>
      <p:sp>
        <p:nvSpPr>
          <p:cNvPr id="9" name="Cercle icona"/>
          <p:cNvSpPr/>
          <p:nvPr/>
        </p:nvSpPr>
        <p:spPr>
          <a:xfrm>
            <a:off x="822960" y="2528316"/>
            <a:ext cx="457200" cy="457200"/>
          </a:xfrm>
          <a:prstGeom prst="ellipse">
            <a:avLst/>
          </a:prstGeom>
          <a:solidFill>
            <a:srgbClr val="E6F4EA"/>
          </a:solidFill>
          <a:ln/>
        </p:spPr>
      </p:sp>
      <p:pic>
        <p:nvPicPr>
          <p:cNvPr id="10" name="Icona TbWorld" descr="/home/claude/work/build/img/ic/TbWorld-g.png">    </p:cNvPr>
          <p:cNvPicPr>
            <a:picLocks noChangeAspect="1"/>
          </p:cNvPicPr>
          <p:nvPr/>
        </p:nvPicPr>
        <p:blipFill>
          <a:blip r:embed="rId2"/>
          <a:stretch>
            <a:fillRect/>
          </a:stretch>
        </p:blipFill>
        <p:spPr>
          <a:xfrm>
            <a:off x="923544" y="2628900"/>
            <a:ext cx="256032" cy="256032"/>
          </a:xfrm>
          <a:prstGeom prst="rect">
            <a:avLst/>
          </a:prstGeom>
        </p:spPr>
      </p:pic>
      <p:sp>
        <p:nvSpPr>
          <p:cNvPr id="11" name="Text 7"/>
          <p:cNvSpPr txBox="1"/>
          <p:nvPr/>
        </p:nvSpPr>
        <p:spPr>
          <a:xfrm>
            <a:off x="1481328" y="2423160"/>
            <a:ext cx="4248760" cy="777240"/>
          </a:xfrm>
          <a:prstGeom prst="rect">
            <a:avLst/>
          </a:prstGeom>
          <a:noFill/>
          <a:ln/>
        </p:spPr>
        <p:txBody>
          <a:bodyPr wrap="square" lIns="0" tIns="0" rIns="0" bIns="0" rtlCol="0" anchor="ctr"/>
          <a:lstStyle/>
          <a:p>
            <a:pPr indent="0" marL="0">
              <a:buNone/>
            </a:pPr>
            <a:r>
              <a:rPr lang="en-US" sz="1600" dirty="0">
                <a:solidFill>
                  <a:srgbClr val="202124"/>
                </a:solidFill>
                <a:latin typeface="Roboto" pitchFamily="34" charset="0"/>
                <a:ea typeface="Roboto" pitchFamily="34" charset="-122"/>
                <a:cs typeface="Roboto" pitchFamily="34" charset="-120"/>
              </a:rPr>
              <a:t>La majoria no eren grecs. Presoners de guerra o comprats.</a:t>
            </a:r>
            <a:endParaRPr lang="en-US" sz="1600" dirty="0"/>
          </a:p>
        </p:txBody>
      </p:sp>
      <p:sp>
        <p:nvSpPr>
          <p:cNvPr id="12" name="Cercle icona"/>
          <p:cNvSpPr/>
          <p:nvPr/>
        </p:nvSpPr>
        <p:spPr>
          <a:xfrm>
            <a:off x="822960" y="3396996"/>
            <a:ext cx="457200" cy="457200"/>
          </a:xfrm>
          <a:prstGeom prst="ellipse">
            <a:avLst/>
          </a:prstGeom>
          <a:solidFill>
            <a:srgbClr val="E6F4EA"/>
          </a:solidFill>
          <a:ln/>
        </p:spPr>
      </p:sp>
      <p:pic>
        <p:nvPicPr>
          <p:cNvPr id="13" name="Icona TbToolsKitchen2" descr="/home/claude/work/build/img/ic/TbToolsKitchen2-g.png">    </p:cNvPr>
          <p:cNvPicPr>
            <a:picLocks noChangeAspect="1"/>
          </p:cNvPicPr>
          <p:nvPr/>
        </p:nvPicPr>
        <p:blipFill>
          <a:blip r:embed="rId3"/>
          <a:stretch>
            <a:fillRect/>
          </a:stretch>
        </p:blipFill>
        <p:spPr>
          <a:xfrm>
            <a:off x="923544" y="3497580"/>
            <a:ext cx="256032" cy="256032"/>
          </a:xfrm>
          <a:prstGeom prst="rect">
            <a:avLst/>
          </a:prstGeom>
        </p:spPr>
      </p:pic>
      <p:sp>
        <p:nvSpPr>
          <p:cNvPr id="14" name="Text 9"/>
          <p:cNvSpPr txBox="1"/>
          <p:nvPr/>
        </p:nvSpPr>
        <p:spPr>
          <a:xfrm>
            <a:off x="1481328" y="3291840"/>
            <a:ext cx="4248760" cy="777240"/>
          </a:xfrm>
          <a:prstGeom prst="rect">
            <a:avLst/>
          </a:prstGeom>
          <a:noFill/>
          <a:ln/>
        </p:spPr>
        <p:txBody>
          <a:bodyPr wrap="square" lIns="0" tIns="0" rIns="0" bIns="0" rtlCol="0" anchor="ctr"/>
          <a:lstStyle/>
          <a:p>
            <a:pPr indent="0" marL="0">
              <a:buNone/>
            </a:pPr>
            <a:r>
              <a:rPr lang="en-US" sz="1600" dirty="0">
                <a:solidFill>
                  <a:srgbClr val="202124"/>
                </a:solidFill>
                <a:latin typeface="Roboto" pitchFamily="34" charset="0"/>
                <a:ea typeface="Roboto" pitchFamily="34" charset="-122"/>
                <a:cs typeface="Roboto" pitchFamily="34" charset="-120"/>
              </a:rPr>
              <a:t>A les cases cuinaven, netejaven i cuidaven els nens.</a:t>
            </a:r>
            <a:endParaRPr lang="en-US" sz="1600" dirty="0"/>
          </a:p>
        </p:txBody>
      </p:sp>
      <p:sp>
        <p:nvSpPr>
          <p:cNvPr id="15" name="Cercle icona"/>
          <p:cNvSpPr/>
          <p:nvPr/>
        </p:nvSpPr>
        <p:spPr>
          <a:xfrm>
            <a:off x="822960" y="4265676"/>
            <a:ext cx="457200" cy="457200"/>
          </a:xfrm>
          <a:prstGeom prst="ellipse">
            <a:avLst/>
          </a:prstGeom>
          <a:solidFill>
            <a:srgbClr val="E6F4EA"/>
          </a:solidFill>
          <a:ln/>
        </p:spPr>
      </p:sp>
      <p:pic>
        <p:nvPicPr>
          <p:cNvPr id="16" name="Icona TbHammer" descr="/home/claude/work/build/img/ic/TbHammer-g.png">    </p:cNvPr>
          <p:cNvPicPr>
            <a:picLocks noChangeAspect="1"/>
          </p:cNvPicPr>
          <p:nvPr/>
        </p:nvPicPr>
        <p:blipFill>
          <a:blip r:embed="rId4"/>
          <a:stretch>
            <a:fillRect/>
          </a:stretch>
        </p:blipFill>
        <p:spPr>
          <a:xfrm>
            <a:off x="923544" y="4366260"/>
            <a:ext cx="256032" cy="256032"/>
          </a:xfrm>
          <a:prstGeom prst="rect">
            <a:avLst/>
          </a:prstGeom>
        </p:spPr>
      </p:pic>
      <p:sp>
        <p:nvSpPr>
          <p:cNvPr id="17" name="Text 11"/>
          <p:cNvSpPr txBox="1"/>
          <p:nvPr/>
        </p:nvSpPr>
        <p:spPr>
          <a:xfrm>
            <a:off x="1481328" y="4160520"/>
            <a:ext cx="4248760" cy="777240"/>
          </a:xfrm>
          <a:prstGeom prst="rect">
            <a:avLst/>
          </a:prstGeom>
          <a:noFill/>
          <a:ln/>
        </p:spPr>
        <p:txBody>
          <a:bodyPr wrap="square" lIns="0" tIns="0" rIns="0" bIns="0" rtlCol="0" anchor="ctr"/>
          <a:lstStyle/>
          <a:p>
            <a:pPr indent="0" marL="0">
              <a:buNone/>
            </a:pPr>
            <a:r>
              <a:rPr lang="en-US" sz="1600" dirty="0">
                <a:solidFill>
                  <a:srgbClr val="202124"/>
                </a:solidFill>
                <a:latin typeface="Roboto" pitchFamily="34" charset="0"/>
                <a:ea typeface="Roboto" pitchFamily="34" charset="-122"/>
                <a:cs typeface="Roboto" pitchFamily="34" charset="-120"/>
              </a:rPr>
              <a:t>Als tallers feien armes, mobles i altres objectes.</a:t>
            </a:r>
            <a:endParaRPr lang="en-US" sz="1600" dirty="0"/>
          </a:p>
        </p:txBody>
      </p:sp>
      <p:sp>
        <p:nvSpPr>
          <p:cNvPr id="18" name="Cercle icona"/>
          <p:cNvSpPr/>
          <p:nvPr/>
        </p:nvSpPr>
        <p:spPr>
          <a:xfrm>
            <a:off x="822960" y="5134356"/>
            <a:ext cx="457200" cy="457200"/>
          </a:xfrm>
          <a:prstGeom prst="ellipse">
            <a:avLst/>
          </a:prstGeom>
          <a:solidFill>
            <a:srgbClr val="E6F4EA"/>
          </a:solidFill>
          <a:ln/>
        </p:spPr>
      </p:sp>
      <p:pic>
        <p:nvPicPr>
          <p:cNvPr id="19" name="Icona TbPick" descr="/home/claude/work/build/img/ic/TbPick-g.png">    </p:cNvPr>
          <p:cNvPicPr>
            <a:picLocks noChangeAspect="1"/>
          </p:cNvPicPr>
          <p:nvPr/>
        </p:nvPicPr>
        <p:blipFill>
          <a:blip r:embed="rId5"/>
          <a:stretch>
            <a:fillRect/>
          </a:stretch>
        </p:blipFill>
        <p:spPr>
          <a:xfrm>
            <a:off x="923544" y="5234940"/>
            <a:ext cx="256032" cy="256032"/>
          </a:xfrm>
          <a:prstGeom prst="rect">
            <a:avLst/>
          </a:prstGeom>
        </p:spPr>
      </p:pic>
      <p:sp>
        <p:nvSpPr>
          <p:cNvPr id="20" name="Text 13"/>
          <p:cNvSpPr txBox="1"/>
          <p:nvPr/>
        </p:nvSpPr>
        <p:spPr>
          <a:xfrm>
            <a:off x="1481328" y="5029200"/>
            <a:ext cx="4248760" cy="777240"/>
          </a:xfrm>
          <a:prstGeom prst="rect">
            <a:avLst/>
          </a:prstGeom>
          <a:noFill/>
          <a:ln/>
        </p:spPr>
        <p:txBody>
          <a:bodyPr wrap="square" lIns="0" tIns="0" rIns="0" bIns="0" rtlCol="0" anchor="ctr"/>
          <a:lstStyle/>
          <a:p>
            <a:pPr indent="0" marL="0">
              <a:buNone/>
            </a:pPr>
            <a:r>
              <a:rPr lang="en-US" sz="1600" dirty="0">
                <a:solidFill>
                  <a:srgbClr val="202124"/>
                </a:solidFill>
                <a:latin typeface="Roboto" pitchFamily="34" charset="0"/>
                <a:ea typeface="Roboto" pitchFamily="34" charset="-122"/>
                <a:cs typeface="Roboto" pitchFamily="34" charset="-120"/>
              </a:rPr>
              <a:t>A les mines de plata de Làurion, la vida era duríssima.</a:t>
            </a:r>
            <a:endParaRPr lang="en-US" sz="1600" dirty="0"/>
          </a:p>
        </p:txBody>
      </p:sp>
      <p:sp>
        <p:nvSpPr>
          <p:cNvPr id="21" name="Els metecs"/>
          <p:cNvSpPr/>
          <p:nvPr/>
        </p:nvSpPr>
        <p:spPr>
          <a:xfrm>
            <a:off x="6233008" y="1371600"/>
            <a:ext cx="5410048" cy="4617720"/>
          </a:xfrm>
          <a:prstGeom prst="roundRect">
            <a:avLst>
              <a:gd name="adj" fmla="val 2178"/>
            </a:avLst>
          </a:prstGeom>
          <a:solidFill>
            <a:srgbClr val="FFFFFF"/>
          </a:solidFill>
          <a:ln w="12700">
            <a:solidFill>
              <a:srgbClr val="DADCE0"/>
            </a:solidFill>
            <a:prstDash val="solid"/>
          </a:ln>
        </p:spPr>
      </p:sp>
      <p:sp>
        <p:nvSpPr>
          <p:cNvPr id="22" name="Cercle icona"/>
          <p:cNvSpPr/>
          <p:nvPr/>
        </p:nvSpPr>
        <p:spPr>
          <a:xfrm>
            <a:off x="6461608" y="1554480"/>
            <a:ext cx="685800" cy="685800"/>
          </a:xfrm>
          <a:prstGeom prst="ellipse">
            <a:avLst/>
          </a:prstGeom>
          <a:solidFill>
            <a:srgbClr val="188038"/>
          </a:solidFill>
          <a:ln/>
        </p:spPr>
      </p:sp>
      <p:pic>
        <p:nvPicPr>
          <p:cNvPr id="23" name="Icona TbShip" descr="/home/claude/work/build/img/ic/TbShip-w.png">    </p:cNvPr>
          <p:cNvPicPr>
            <a:picLocks noChangeAspect="1"/>
          </p:cNvPicPr>
          <p:nvPr/>
        </p:nvPicPr>
        <p:blipFill>
          <a:blip r:embed="rId6"/>
          <a:stretch>
            <a:fillRect/>
          </a:stretch>
        </p:blipFill>
        <p:spPr>
          <a:xfrm>
            <a:off x="6612484" y="1705356"/>
            <a:ext cx="384048" cy="384048"/>
          </a:xfrm>
          <a:prstGeom prst="rect">
            <a:avLst/>
          </a:prstGeom>
        </p:spPr>
      </p:pic>
      <p:sp>
        <p:nvSpPr>
          <p:cNvPr id="24" name="Text 16"/>
          <p:cNvSpPr txBox="1"/>
          <p:nvPr/>
        </p:nvSpPr>
        <p:spPr>
          <a:xfrm>
            <a:off x="7330288" y="1554480"/>
            <a:ext cx="4129888" cy="685800"/>
          </a:xfrm>
          <a:prstGeom prst="rect">
            <a:avLst/>
          </a:prstGeom>
          <a:noFill/>
          <a:ln/>
        </p:spPr>
        <p:txBody>
          <a:bodyPr wrap="square" lIns="0" tIns="0" rIns="0" bIns="0" rtlCol="0" anchor="ctr"/>
          <a:lstStyle/>
          <a:p>
            <a:pPr indent="0" marL="0">
              <a:buNone/>
            </a:pPr>
            <a:r>
              <a:rPr lang="en-US" sz="2000" b="1" dirty="0">
                <a:solidFill>
                  <a:srgbClr val="188038"/>
                </a:solidFill>
                <a:latin typeface="Roboto" pitchFamily="34" charset="0"/>
                <a:ea typeface="Roboto" pitchFamily="34" charset="-122"/>
                <a:cs typeface="Roboto" pitchFamily="34" charset="-120"/>
              </a:rPr>
              <a:t>Els metecs</a:t>
            </a:r>
            <a:endParaRPr lang="en-US" sz="2000" dirty="0"/>
          </a:p>
        </p:txBody>
      </p:sp>
      <p:sp>
        <p:nvSpPr>
          <p:cNvPr id="25" name="Cercle icona"/>
          <p:cNvSpPr/>
          <p:nvPr/>
        </p:nvSpPr>
        <p:spPr>
          <a:xfrm>
            <a:off x="6507328" y="2528316"/>
            <a:ext cx="457200" cy="457200"/>
          </a:xfrm>
          <a:prstGeom prst="ellipse">
            <a:avLst/>
          </a:prstGeom>
          <a:solidFill>
            <a:srgbClr val="E6F4EA"/>
          </a:solidFill>
          <a:ln/>
        </p:spPr>
      </p:sp>
      <p:pic>
        <p:nvPicPr>
          <p:cNvPr id="26" name="Icona TbWorld" descr="/home/claude/work/build/img/ic/TbWorld-g.png">    </p:cNvPr>
          <p:cNvPicPr>
            <a:picLocks noChangeAspect="1"/>
          </p:cNvPicPr>
          <p:nvPr/>
        </p:nvPicPr>
        <p:blipFill>
          <a:blip r:embed="rId7"/>
          <a:stretch>
            <a:fillRect/>
          </a:stretch>
        </p:blipFill>
        <p:spPr>
          <a:xfrm>
            <a:off x="6607912" y="2628900"/>
            <a:ext cx="256032" cy="256032"/>
          </a:xfrm>
          <a:prstGeom prst="rect">
            <a:avLst/>
          </a:prstGeom>
        </p:spPr>
      </p:pic>
      <p:sp>
        <p:nvSpPr>
          <p:cNvPr id="27" name="Text 18"/>
          <p:cNvSpPr txBox="1"/>
          <p:nvPr/>
        </p:nvSpPr>
        <p:spPr>
          <a:xfrm>
            <a:off x="7165696" y="2423160"/>
            <a:ext cx="4248760" cy="777240"/>
          </a:xfrm>
          <a:prstGeom prst="rect">
            <a:avLst/>
          </a:prstGeom>
          <a:noFill/>
          <a:ln/>
        </p:spPr>
        <p:txBody>
          <a:bodyPr wrap="square" lIns="0" tIns="0" rIns="0" bIns="0" rtlCol="0" anchor="ctr"/>
          <a:lstStyle/>
          <a:p>
            <a:pPr indent="0" marL="0">
              <a:buNone/>
            </a:pPr>
            <a:r>
              <a:rPr lang="en-US" sz="1600" dirty="0">
                <a:solidFill>
                  <a:srgbClr val="202124"/>
                </a:solidFill>
                <a:latin typeface="Roboto" pitchFamily="34" charset="0"/>
                <a:ea typeface="Roboto" pitchFamily="34" charset="-122"/>
                <a:cs typeface="Roboto" pitchFamily="34" charset="-120"/>
              </a:rPr>
              <a:t>Estrangers lliures, molts d'altres polis, i antics esclaus.</a:t>
            </a:r>
            <a:endParaRPr lang="en-US" sz="1600" dirty="0"/>
          </a:p>
        </p:txBody>
      </p:sp>
      <p:sp>
        <p:nvSpPr>
          <p:cNvPr id="28" name="Cercle icona"/>
          <p:cNvSpPr/>
          <p:nvPr/>
        </p:nvSpPr>
        <p:spPr>
          <a:xfrm>
            <a:off x="6507328" y="3396996"/>
            <a:ext cx="457200" cy="457200"/>
          </a:xfrm>
          <a:prstGeom prst="ellipse">
            <a:avLst/>
          </a:prstGeom>
          <a:solidFill>
            <a:srgbClr val="E6F4EA"/>
          </a:solidFill>
          <a:ln/>
        </p:spPr>
      </p:sp>
      <p:pic>
        <p:nvPicPr>
          <p:cNvPr id="29" name="Icona TbCoins" descr="/home/claude/work/build/img/ic/TbCoins-g.png">    </p:cNvPr>
          <p:cNvPicPr>
            <a:picLocks noChangeAspect="1"/>
          </p:cNvPicPr>
          <p:nvPr/>
        </p:nvPicPr>
        <p:blipFill>
          <a:blip r:embed="rId8"/>
          <a:stretch>
            <a:fillRect/>
          </a:stretch>
        </p:blipFill>
        <p:spPr>
          <a:xfrm>
            <a:off x="6607912" y="3497580"/>
            <a:ext cx="256032" cy="256032"/>
          </a:xfrm>
          <a:prstGeom prst="rect">
            <a:avLst/>
          </a:prstGeom>
        </p:spPr>
      </p:pic>
      <p:sp>
        <p:nvSpPr>
          <p:cNvPr id="30" name="Text 20"/>
          <p:cNvSpPr txBox="1"/>
          <p:nvPr/>
        </p:nvSpPr>
        <p:spPr>
          <a:xfrm>
            <a:off x="7165696" y="3291840"/>
            <a:ext cx="4248760" cy="777240"/>
          </a:xfrm>
          <a:prstGeom prst="rect">
            <a:avLst/>
          </a:prstGeom>
          <a:noFill/>
          <a:ln/>
        </p:spPr>
        <p:txBody>
          <a:bodyPr wrap="square" lIns="0" tIns="0" rIns="0" bIns="0" rtlCol="0" anchor="ctr"/>
          <a:lstStyle/>
          <a:p>
            <a:pPr indent="0" marL="0">
              <a:buNone/>
            </a:pPr>
            <a:r>
              <a:rPr lang="en-US" sz="1600" dirty="0">
                <a:solidFill>
                  <a:srgbClr val="202124"/>
                </a:solidFill>
                <a:latin typeface="Roboto" pitchFamily="34" charset="0"/>
                <a:ea typeface="Roboto" pitchFamily="34" charset="-122"/>
                <a:cs typeface="Roboto" pitchFamily="34" charset="-120"/>
              </a:rPr>
              <a:t>Pagaven un impost especial i necessitaven un ciutadà que en respongués.</a:t>
            </a:r>
            <a:endParaRPr lang="en-US" sz="1600" dirty="0"/>
          </a:p>
        </p:txBody>
      </p:sp>
      <p:sp>
        <p:nvSpPr>
          <p:cNvPr id="31" name="Cercle icona"/>
          <p:cNvSpPr/>
          <p:nvPr/>
        </p:nvSpPr>
        <p:spPr>
          <a:xfrm>
            <a:off x="6507328" y="4265676"/>
            <a:ext cx="457200" cy="457200"/>
          </a:xfrm>
          <a:prstGeom prst="ellipse">
            <a:avLst/>
          </a:prstGeom>
          <a:solidFill>
            <a:srgbClr val="E6F4EA"/>
          </a:solidFill>
          <a:ln/>
        </p:spPr>
      </p:sp>
      <p:pic>
        <p:nvPicPr>
          <p:cNvPr id="32" name="Icona TbHomeOff" descr="/home/claude/work/build/img/ic/TbHomeOff-g.png">    </p:cNvPr>
          <p:cNvPicPr>
            <a:picLocks noChangeAspect="1"/>
          </p:cNvPicPr>
          <p:nvPr/>
        </p:nvPicPr>
        <p:blipFill>
          <a:blip r:embed="rId9"/>
          <a:stretch>
            <a:fillRect/>
          </a:stretch>
        </p:blipFill>
        <p:spPr>
          <a:xfrm>
            <a:off x="6607912" y="4366260"/>
            <a:ext cx="256032" cy="256032"/>
          </a:xfrm>
          <a:prstGeom prst="rect">
            <a:avLst/>
          </a:prstGeom>
        </p:spPr>
      </p:pic>
      <p:sp>
        <p:nvSpPr>
          <p:cNvPr id="33" name="Text 22"/>
          <p:cNvSpPr txBox="1"/>
          <p:nvPr/>
        </p:nvSpPr>
        <p:spPr>
          <a:xfrm>
            <a:off x="7165696" y="4160520"/>
            <a:ext cx="4248760" cy="777240"/>
          </a:xfrm>
          <a:prstGeom prst="rect">
            <a:avLst/>
          </a:prstGeom>
          <a:noFill/>
          <a:ln/>
        </p:spPr>
        <p:txBody>
          <a:bodyPr wrap="square" lIns="0" tIns="0" rIns="0" bIns="0" rtlCol="0" anchor="ctr"/>
          <a:lstStyle/>
          <a:p>
            <a:pPr indent="0" marL="0">
              <a:buNone/>
            </a:pPr>
            <a:r>
              <a:rPr lang="en-US" sz="1600" dirty="0">
                <a:solidFill>
                  <a:srgbClr val="202124"/>
                </a:solidFill>
                <a:latin typeface="Roboto" pitchFamily="34" charset="0"/>
                <a:ea typeface="Roboto" pitchFamily="34" charset="-122"/>
                <a:cs typeface="Roboto" pitchFamily="34" charset="-120"/>
              </a:rPr>
              <a:t>Sense un permís especial, no podien comprar terres ni cases.</a:t>
            </a:r>
            <a:endParaRPr lang="en-US" sz="1600" dirty="0"/>
          </a:p>
        </p:txBody>
      </p:sp>
      <p:sp>
        <p:nvSpPr>
          <p:cNvPr id="34" name="Cercle icona"/>
          <p:cNvSpPr/>
          <p:nvPr/>
        </p:nvSpPr>
        <p:spPr>
          <a:xfrm>
            <a:off x="6507328" y="5134356"/>
            <a:ext cx="457200" cy="457200"/>
          </a:xfrm>
          <a:prstGeom prst="ellipse">
            <a:avLst/>
          </a:prstGeom>
          <a:solidFill>
            <a:srgbClr val="E6F4EA"/>
          </a:solidFill>
          <a:ln/>
        </p:spPr>
      </p:sp>
      <p:pic>
        <p:nvPicPr>
          <p:cNvPr id="35" name="Icona TbBuildingStore" descr="/home/claude/work/build/img/ic/TbBuildingStore-g.png">    </p:cNvPr>
          <p:cNvPicPr>
            <a:picLocks noChangeAspect="1"/>
          </p:cNvPicPr>
          <p:nvPr/>
        </p:nvPicPr>
        <p:blipFill>
          <a:blip r:embed="rId10"/>
          <a:stretch>
            <a:fillRect/>
          </a:stretch>
        </p:blipFill>
        <p:spPr>
          <a:xfrm>
            <a:off x="6607912" y="5234940"/>
            <a:ext cx="256032" cy="256032"/>
          </a:xfrm>
          <a:prstGeom prst="rect">
            <a:avLst/>
          </a:prstGeom>
        </p:spPr>
      </p:pic>
      <p:sp>
        <p:nvSpPr>
          <p:cNvPr id="36" name="Text 24"/>
          <p:cNvSpPr txBox="1"/>
          <p:nvPr/>
        </p:nvSpPr>
        <p:spPr>
          <a:xfrm>
            <a:off x="7165696" y="5029200"/>
            <a:ext cx="4248760" cy="777240"/>
          </a:xfrm>
          <a:prstGeom prst="rect">
            <a:avLst/>
          </a:prstGeom>
          <a:noFill/>
          <a:ln/>
        </p:spPr>
        <p:txBody>
          <a:bodyPr wrap="square" lIns="0" tIns="0" rIns="0" bIns="0" rtlCol="0" anchor="ctr"/>
          <a:lstStyle/>
          <a:p>
            <a:pPr indent="0" marL="0">
              <a:buNone/>
            </a:pPr>
            <a:r>
              <a:rPr lang="en-US" sz="1600" dirty="0">
                <a:solidFill>
                  <a:srgbClr val="202124"/>
                </a:solidFill>
                <a:latin typeface="Roboto" pitchFamily="34" charset="0"/>
                <a:ea typeface="Roboto" pitchFamily="34" charset="-122"/>
                <a:cs typeface="Roboto" pitchFamily="34" charset="-120"/>
              </a:rPr>
              <a:t>Molts es van fer rics amb el comerç, la banca o els tallers.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2</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Treballant plegats</a:t>
            </a:r>
            <a:endParaRPr lang="en-US" sz="2800" dirty="0"/>
          </a:p>
        </p:txBody>
      </p:sp>
      <p:sp>
        <p:nvSpPr>
          <p:cNvPr id="5" name="Fons L'Erectèon, un dels temples de l'Acròpolis d'Atenes"/>
          <p:cNvSpPr/>
          <p:nvPr/>
        </p:nvSpPr>
        <p:spPr>
          <a:xfrm>
            <a:off x="548640" y="1371600"/>
            <a:ext cx="6035040" cy="4018003"/>
          </a:xfrm>
          <a:prstGeom prst="roundRect">
            <a:avLst>
              <a:gd name="adj" fmla="val 2503"/>
            </a:avLst>
          </a:prstGeom>
          <a:solidFill>
            <a:srgbClr val="F6F8FB"/>
          </a:solidFill>
          <a:ln/>
        </p:spPr>
      </p:sp>
      <p:pic>
        <p:nvPicPr>
          <p:cNvPr id="6" name="L'Erectèon, un dels temples de l'Acròpolis d'Atenes" descr="/home/claude/work/build/img/erecteon.jpg">    </p:cNvPr>
          <p:cNvPicPr>
            <a:picLocks noChangeAspect="1"/>
          </p:cNvPicPr>
          <p:nvPr/>
        </p:nvPicPr>
        <p:blipFill>
          <a:blip r:embed="rId1"/>
          <a:stretch>
            <a:fillRect/>
          </a:stretch>
        </p:blipFill>
        <p:spPr>
          <a:xfrm>
            <a:off x="548640" y="1371600"/>
            <a:ext cx="6035040" cy="4018003"/>
          </a:xfrm>
          <a:prstGeom prst="rect">
            <a:avLst/>
          </a:prstGeom>
        </p:spPr>
      </p:pic>
      <p:sp>
        <p:nvSpPr>
          <p:cNvPr id="7" name="Text 4"/>
          <p:cNvSpPr txBox="1"/>
          <p:nvPr/>
        </p:nvSpPr>
        <p:spPr>
          <a:xfrm>
            <a:off x="548640" y="5481043"/>
            <a:ext cx="6035040"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L'Erectèon, un dels temples de l'Acròpolis d'Atenes. Foto: Jebulon, Wikimedia Commons, domini públic (CC0).</a:t>
            </a:r>
            <a:endParaRPr lang="en-US" sz="1000" dirty="0"/>
          </a:p>
        </p:txBody>
      </p:sp>
      <p:sp>
        <p:nvSpPr>
          <p:cNvPr id="8" name="Text 5"/>
          <p:cNvSpPr txBox="1"/>
          <p:nvPr/>
        </p:nvSpPr>
        <p:spPr>
          <a:xfrm>
            <a:off x="6858000" y="1371600"/>
            <a:ext cx="4785055" cy="160020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Els comptes de les obres de l'Erectèon es van gravar en pedra i encara es conserven. Hi surten picapedrers i fusters que cobraven el mateix per la mateixa feina.</a:t>
            </a:r>
            <a:endParaRPr lang="en-US" sz="1700" dirty="0"/>
          </a:p>
        </p:txBody>
      </p:sp>
      <p:sp>
        <p:nvSpPr>
          <p:cNvPr id="9" name="Ciutadà"/>
          <p:cNvSpPr/>
          <p:nvPr/>
        </p:nvSpPr>
        <p:spPr>
          <a:xfrm>
            <a:off x="6858000" y="3154680"/>
            <a:ext cx="4785055" cy="822960"/>
          </a:xfrm>
          <a:prstGeom prst="roundRect">
            <a:avLst>
              <a:gd name="adj" fmla="val 12222"/>
            </a:avLst>
          </a:prstGeom>
          <a:solidFill>
            <a:srgbClr val="FFFFFF"/>
          </a:solidFill>
          <a:ln w="12700">
            <a:solidFill>
              <a:srgbClr val="DADCE0"/>
            </a:solidFill>
            <a:prstDash val="solid"/>
          </a:ln>
        </p:spPr>
      </p:sp>
      <p:sp>
        <p:nvSpPr>
          <p:cNvPr id="10" name="Persona"/>
          <p:cNvSpPr/>
          <p:nvPr/>
        </p:nvSpPr>
        <p:spPr>
          <a:xfrm>
            <a:off x="7205472" y="3264408"/>
            <a:ext cx="219456" cy="219456"/>
          </a:xfrm>
          <a:prstGeom prst="ellipse">
            <a:avLst/>
          </a:prstGeom>
          <a:solidFill>
            <a:srgbClr val="188038"/>
          </a:solidFill>
          <a:ln/>
        </p:spPr>
      </p:sp>
      <p:sp>
        <p:nvSpPr>
          <p:cNvPr id="11" name="Persona"/>
          <p:cNvSpPr/>
          <p:nvPr/>
        </p:nvSpPr>
        <p:spPr>
          <a:xfrm>
            <a:off x="7123176" y="3516782"/>
            <a:ext cx="384048" cy="384048"/>
          </a:xfrm>
          <a:prstGeom prst="roundRect">
            <a:avLst>
              <a:gd name="adj" fmla="val 35714"/>
            </a:avLst>
          </a:prstGeom>
          <a:solidFill>
            <a:srgbClr val="188038"/>
          </a:solidFill>
          <a:ln/>
        </p:spPr>
      </p:sp>
      <p:sp>
        <p:nvSpPr>
          <p:cNvPr id="12" name="Text 9"/>
          <p:cNvSpPr txBox="1"/>
          <p:nvPr/>
        </p:nvSpPr>
        <p:spPr>
          <a:xfrm>
            <a:off x="7726680" y="3154680"/>
            <a:ext cx="3230575" cy="822960"/>
          </a:xfrm>
          <a:prstGeom prst="rect">
            <a:avLst/>
          </a:prstGeom>
          <a:noFill/>
          <a:ln/>
        </p:spPr>
        <p:txBody>
          <a:bodyPr wrap="square" lIns="0" tIns="0" rIns="0" bIns="0" rtlCol="0" anchor="ctr"/>
          <a:lstStyle/>
          <a:p>
            <a:pPr indent="0" marL="0">
              <a:buNone/>
            </a:pPr>
            <a:r>
              <a:rPr lang="en-US" sz="1600" b="1" dirty="0">
                <a:solidFill>
                  <a:srgbClr val="188038"/>
                </a:solidFill>
                <a:latin typeface="Roboto" pitchFamily="34" charset="0"/>
                <a:ea typeface="Roboto" pitchFamily="34" charset="-122"/>
                <a:cs typeface="Roboto" pitchFamily="34" charset="-120"/>
              </a:rPr>
              <a:t>Ciutadà  </a:t>
            </a:r>
            <a:pPr indent="0" marL="0">
              <a:buNone/>
            </a:pPr>
            <a:r>
              <a:rPr lang="en-US" sz="1600" dirty="0">
                <a:solidFill>
                  <a:srgbClr val="202124"/>
                </a:solidFill>
                <a:latin typeface="Roboto" pitchFamily="34" charset="0"/>
                <a:ea typeface="Roboto" pitchFamily="34" charset="-122"/>
                <a:cs typeface="Roboto" pitchFamily="34" charset="-120"/>
              </a:rPr>
              <a:t>Una dracma al dia. Per a ell.</a:t>
            </a:r>
            <a:endParaRPr lang="en-US" sz="1600" dirty="0"/>
          </a:p>
        </p:txBody>
      </p:sp>
      <p:pic>
        <p:nvPicPr>
          <p:cNvPr id="13" name="Icona TbCoin" descr="/home/claude/work/build/img/ic/TbCoin-g.png">    </p:cNvPr>
          <p:cNvPicPr>
            <a:picLocks noChangeAspect="1"/>
          </p:cNvPicPr>
          <p:nvPr/>
        </p:nvPicPr>
        <p:blipFill>
          <a:blip r:embed="rId2"/>
          <a:stretch>
            <a:fillRect/>
          </a:stretch>
        </p:blipFill>
        <p:spPr>
          <a:xfrm>
            <a:off x="11002975" y="3337560"/>
            <a:ext cx="457200" cy="457200"/>
          </a:xfrm>
          <a:prstGeom prst="rect">
            <a:avLst/>
          </a:prstGeom>
        </p:spPr>
      </p:pic>
      <p:sp>
        <p:nvSpPr>
          <p:cNvPr id="14" name="Metec"/>
          <p:cNvSpPr/>
          <p:nvPr/>
        </p:nvSpPr>
        <p:spPr>
          <a:xfrm>
            <a:off x="6858000" y="4114800"/>
            <a:ext cx="4785055" cy="822960"/>
          </a:xfrm>
          <a:prstGeom prst="roundRect">
            <a:avLst>
              <a:gd name="adj" fmla="val 12222"/>
            </a:avLst>
          </a:prstGeom>
          <a:solidFill>
            <a:srgbClr val="FFFFFF"/>
          </a:solidFill>
          <a:ln w="12700">
            <a:solidFill>
              <a:srgbClr val="DADCE0"/>
            </a:solidFill>
            <a:prstDash val="solid"/>
          </a:ln>
        </p:spPr>
      </p:sp>
      <p:sp>
        <p:nvSpPr>
          <p:cNvPr id="15" name="Persona"/>
          <p:cNvSpPr/>
          <p:nvPr/>
        </p:nvSpPr>
        <p:spPr>
          <a:xfrm>
            <a:off x="7205472" y="4224528"/>
            <a:ext cx="219456" cy="219456"/>
          </a:xfrm>
          <a:prstGeom prst="ellipse">
            <a:avLst/>
          </a:prstGeom>
          <a:solidFill>
            <a:srgbClr val="188038"/>
          </a:solidFill>
          <a:ln/>
        </p:spPr>
      </p:sp>
      <p:sp>
        <p:nvSpPr>
          <p:cNvPr id="16" name="Persona"/>
          <p:cNvSpPr/>
          <p:nvPr/>
        </p:nvSpPr>
        <p:spPr>
          <a:xfrm>
            <a:off x="7123176" y="4476902"/>
            <a:ext cx="384048" cy="384048"/>
          </a:xfrm>
          <a:prstGeom prst="roundRect">
            <a:avLst>
              <a:gd name="adj" fmla="val 35714"/>
            </a:avLst>
          </a:prstGeom>
          <a:solidFill>
            <a:srgbClr val="188038"/>
          </a:solidFill>
          <a:ln/>
        </p:spPr>
      </p:sp>
      <p:sp>
        <p:nvSpPr>
          <p:cNvPr id="17" name="Text 13"/>
          <p:cNvSpPr txBox="1"/>
          <p:nvPr/>
        </p:nvSpPr>
        <p:spPr>
          <a:xfrm>
            <a:off x="7726680" y="4114800"/>
            <a:ext cx="3230575" cy="822960"/>
          </a:xfrm>
          <a:prstGeom prst="rect">
            <a:avLst/>
          </a:prstGeom>
          <a:noFill/>
          <a:ln/>
        </p:spPr>
        <p:txBody>
          <a:bodyPr wrap="square" lIns="0" tIns="0" rIns="0" bIns="0" rtlCol="0" anchor="ctr"/>
          <a:lstStyle/>
          <a:p>
            <a:pPr indent="0" marL="0">
              <a:buNone/>
            </a:pPr>
            <a:r>
              <a:rPr lang="en-US" sz="1600" b="1" dirty="0">
                <a:solidFill>
                  <a:srgbClr val="188038"/>
                </a:solidFill>
                <a:latin typeface="Roboto" pitchFamily="34" charset="0"/>
                <a:ea typeface="Roboto" pitchFamily="34" charset="-122"/>
                <a:cs typeface="Roboto" pitchFamily="34" charset="-120"/>
              </a:rPr>
              <a:t>Metec  </a:t>
            </a:r>
            <a:pPr indent="0" marL="0">
              <a:buNone/>
            </a:pPr>
            <a:r>
              <a:rPr lang="en-US" sz="1600" dirty="0">
                <a:solidFill>
                  <a:srgbClr val="202124"/>
                </a:solidFill>
                <a:latin typeface="Roboto" pitchFamily="34" charset="0"/>
                <a:ea typeface="Roboto" pitchFamily="34" charset="-122"/>
                <a:cs typeface="Roboto" pitchFamily="34" charset="-120"/>
              </a:rPr>
              <a:t>Una dracma al dia. Per a ell.</a:t>
            </a:r>
            <a:endParaRPr lang="en-US" sz="1600" dirty="0"/>
          </a:p>
        </p:txBody>
      </p:sp>
      <p:pic>
        <p:nvPicPr>
          <p:cNvPr id="18" name="Icona TbCoin" descr="/home/claude/work/build/img/ic/TbCoin-g.png">    </p:cNvPr>
          <p:cNvPicPr>
            <a:picLocks noChangeAspect="1"/>
          </p:cNvPicPr>
          <p:nvPr/>
        </p:nvPicPr>
        <p:blipFill>
          <a:blip r:embed="rId3"/>
          <a:stretch>
            <a:fillRect/>
          </a:stretch>
        </p:blipFill>
        <p:spPr>
          <a:xfrm>
            <a:off x="11002975" y="4297680"/>
            <a:ext cx="457200" cy="457200"/>
          </a:xfrm>
          <a:prstGeom prst="rect">
            <a:avLst/>
          </a:prstGeom>
        </p:spPr>
      </p:pic>
      <p:sp>
        <p:nvSpPr>
          <p:cNvPr id="19" name="Esclau"/>
          <p:cNvSpPr/>
          <p:nvPr/>
        </p:nvSpPr>
        <p:spPr>
          <a:xfrm>
            <a:off x="6858000" y="5074920"/>
            <a:ext cx="4785055" cy="822960"/>
          </a:xfrm>
          <a:prstGeom prst="roundRect">
            <a:avLst>
              <a:gd name="adj" fmla="val 12222"/>
            </a:avLst>
          </a:prstGeom>
          <a:solidFill>
            <a:srgbClr val="FFFFFF"/>
          </a:solidFill>
          <a:ln w="12700">
            <a:solidFill>
              <a:srgbClr val="DADCE0"/>
            </a:solidFill>
            <a:prstDash val="solid"/>
          </a:ln>
        </p:spPr>
      </p:sp>
      <p:sp>
        <p:nvSpPr>
          <p:cNvPr id="20" name="Persona"/>
          <p:cNvSpPr/>
          <p:nvPr/>
        </p:nvSpPr>
        <p:spPr>
          <a:xfrm>
            <a:off x="7205472" y="5184648"/>
            <a:ext cx="219456" cy="219456"/>
          </a:xfrm>
          <a:prstGeom prst="ellipse">
            <a:avLst/>
          </a:prstGeom>
          <a:solidFill>
            <a:srgbClr val="C4C7C5"/>
          </a:solidFill>
          <a:ln/>
        </p:spPr>
      </p:sp>
      <p:sp>
        <p:nvSpPr>
          <p:cNvPr id="21" name="Persona"/>
          <p:cNvSpPr/>
          <p:nvPr/>
        </p:nvSpPr>
        <p:spPr>
          <a:xfrm>
            <a:off x="7123176" y="5437022"/>
            <a:ext cx="384048" cy="384048"/>
          </a:xfrm>
          <a:prstGeom prst="roundRect">
            <a:avLst>
              <a:gd name="adj" fmla="val 35714"/>
            </a:avLst>
          </a:prstGeom>
          <a:solidFill>
            <a:srgbClr val="C4C7C5"/>
          </a:solidFill>
          <a:ln/>
        </p:spPr>
      </p:sp>
      <p:sp>
        <p:nvSpPr>
          <p:cNvPr id="22" name="Text 17"/>
          <p:cNvSpPr txBox="1"/>
          <p:nvPr/>
        </p:nvSpPr>
        <p:spPr>
          <a:xfrm>
            <a:off x="7726680" y="5074920"/>
            <a:ext cx="3230575" cy="822960"/>
          </a:xfrm>
          <a:prstGeom prst="rect">
            <a:avLst/>
          </a:prstGeom>
          <a:noFill/>
          <a:ln/>
        </p:spPr>
        <p:txBody>
          <a:bodyPr wrap="square" lIns="0" tIns="0" rIns="0" bIns="0" rtlCol="0" anchor="ctr"/>
          <a:lstStyle/>
          <a:p>
            <a:pPr indent="0" marL="0">
              <a:buNone/>
            </a:pPr>
            <a:r>
              <a:rPr lang="en-US" sz="1600" b="1" dirty="0">
                <a:solidFill>
                  <a:srgbClr val="188038"/>
                </a:solidFill>
                <a:latin typeface="Roboto" pitchFamily="34" charset="0"/>
                <a:ea typeface="Roboto" pitchFamily="34" charset="-122"/>
                <a:cs typeface="Roboto" pitchFamily="34" charset="-120"/>
              </a:rPr>
              <a:t>Esclau  </a:t>
            </a:r>
            <a:pPr indent="0" marL="0">
              <a:buNone/>
            </a:pPr>
            <a:r>
              <a:rPr lang="en-US" sz="1600" dirty="0">
                <a:solidFill>
                  <a:srgbClr val="202124"/>
                </a:solidFill>
                <a:latin typeface="Roboto" pitchFamily="34" charset="0"/>
                <a:ea typeface="Roboto" pitchFamily="34" charset="-122"/>
                <a:cs typeface="Roboto" pitchFamily="34" charset="-120"/>
              </a:rPr>
              <a:t>Una dracma al dia. Però se l'emportava l'amo.</a:t>
            </a:r>
            <a:endParaRPr lang="en-US" sz="1600" dirty="0"/>
          </a:p>
        </p:txBody>
      </p:sp>
      <p:pic>
        <p:nvPicPr>
          <p:cNvPr id="23" name="Icona TbCoin" descr="/home/claude/work/build/img/ic/TbCoin-k.png">    </p:cNvPr>
          <p:cNvPicPr>
            <a:picLocks noChangeAspect="1"/>
          </p:cNvPicPr>
          <p:nvPr/>
        </p:nvPicPr>
        <p:blipFill>
          <a:blip r:embed="rId4"/>
          <a:stretch>
            <a:fillRect/>
          </a:stretch>
        </p:blipFill>
        <p:spPr>
          <a:xfrm>
            <a:off x="11002975" y="5257800"/>
            <a:ext cx="457200" cy="45720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2</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Comprova-ho</a:t>
            </a:r>
            <a:endParaRPr lang="en-US" sz="2800" dirty="0"/>
          </a:p>
        </p:txBody>
      </p:sp>
      <p:sp>
        <p:nvSpPr>
          <p:cNvPr id="5" name="Text 3"/>
          <p:cNvSpPr txBox="1"/>
          <p:nvPr/>
        </p:nvSpPr>
        <p:spPr>
          <a:xfrm>
            <a:off x="548640" y="1371600"/>
            <a:ext cx="3657600" cy="320040"/>
          </a:xfrm>
          <a:prstGeom prst="rect">
            <a:avLst/>
          </a:prstGeom>
          <a:noFill/>
          <a:ln/>
        </p:spPr>
        <p:txBody>
          <a:bodyPr wrap="square" lIns="0" tIns="0" rIns="0" bIns="0" rtlCol="0" anchor="t"/>
          <a:lstStyle/>
          <a:p>
            <a:pPr indent="0" marL="0">
              <a:buNone/>
            </a:pPr>
            <a:r>
              <a:rPr lang="en-US" sz="1400" b="1" dirty="0">
                <a:solidFill>
                  <a:srgbClr val="5F6368"/>
                </a:solidFill>
                <a:latin typeface="Roboto" pitchFamily="34" charset="0"/>
                <a:ea typeface="Roboto" pitchFamily="34" charset="-122"/>
                <a:cs typeface="Roboto" pitchFamily="34" charset="-120"/>
              </a:rPr>
              <a:t>Paraules clau</a:t>
            </a:r>
            <a:endParaRPr lang="en-US" sz="1400" dirty="0"/>
          </a:p>
        </p:txBody>
      </p:sp>
      <p:sp>
        <p:nvSpPr>
          <p:cNvPr id="6" name="Etiqueta Acròpolis"/>
          <p:cNvSpPr/>
          <p:nvPr/>
        </p:nvSpPr>
        <p:spPr>
          <a:xfrm>
            <a:off x="548640" y="1755648"/>
            <a:ext cx="1216152" cy="384048"/>
          </a:xfrm>
          <a:prstGeom prst="roundRect">
            <a:avLst>
              <a:gd name="adj" fmla="val 50000"/>
            </a:avLst>
          </a:prstGeom>
          <a:solidFill>
            <a:srgbClr val="E6F4EA"/>
          </a:solidFill>
          <a:ln/>
        </p:spPr>
      </p:sp>
      <p:sp>
        <p:nvSpPr>
          <p:cNvPr id="7" name="Text 5"/>
          <p:cNvSpPr txBox="1"/>
          <p:nvPr/>
        </p:nvSpPr>
        <p:spPr>
          <a:xfrm>
            <a:off x="548640" y="1755648"/>
            <a:ext cx="1216152"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Acròpolis</a:t>
            </a:r>
            <a:endParaRPr lang="en-US" sz="1500" dirty="0"/>
          </a:p>
        </p:txBody>
      </p:sp>
      <p:sp>
        <p:nvSpPr>
          <p:cNvPr id="8" name="Etiqueta Àgora"/>
          <p:cNvSpPr/>
          <p:nvPr/>
        </p:nvSpPr>
        <p:spPr>
          <a:xfrm>
            <a:off x="1874520" y="1755648"/>
            <a:ext cx="813816" cy="384048"/>
          </a:xfrm>
          <a:prstGeom prst="roundRect">
            <a:avLst>
              <a:gd name="adj" fmla="val 50000"/>
            </a:avLst>
          </a:prstGeom>
          <a:solidFill>
            <a:srgbClr val="E6F4EA"/>
          </a:solidFill>
          <a:ln/>
        </p:spPr>
      </p:sp>
      <p:sp>
        <p:nvSpPr>
          <p:cNvPr id="9" name="Text 7"/>
          <p:cNvSpPr txBox="1"/>
          <p:nvPr/>
        </p:nvSpPr>
        <p:spPr>
          <a:xfrm>
            <a:off x="1874520" y="1755648"/>
            <a:ext cx="81381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Àgora</a:t>
            </a:r>
            <a:endParaRPr lang="en-US" sz="1500" dirty="0"/>
          </a:p>
        </p:txBody>
      </p:sp>
      <p:sp>
        <p:nvSpPr>
          <p:cNvPr id="10" name="Etiqueta Democràcia"/>
          <p:cNvSpPr/>
          <p:nvPr/>
        </p:nvSpPr>
        <p:spPr>
          <a:xfrm>
            <a:off x="2798064" y="1755648"/>
            <a:ext cx="1316736" cy="384048"/>
          </a:xfrm>
          <a:prstGeom prst="roundRect">
            <a:avLst>
              <a:gd name="adj" fmla="val 50000"/>
            </a:avLst>
          </a:prstGeom>
          <a:solidFill>
            <a:srgbClr val="E6F4EA"/>
          </a:solidFill>
          <a:ln/>
        </p:spPr>
      </p:sp>
      <p:sp>
        <p:nvSpPr>
          <p:cNvPr id="11" name="Text 9"/>
          <p:cNvSpPr txBox="1"/>
          <p:nvPr/>
        </p:nvSpPr>
        <p:spPr>
          <a:xfrm>
            <a:off x="2798064" y="1755648"/>
            <a:ext cx="131673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Democràcia</a:t>
            </a:r>
            <a:endParaRPr lang="en-US" sz="1500" dirty="0"/>
          </a:p>
        </p:txBody>
      </p:sp>
      <p:sp>
        <p:nvSpPr>
          <p:cNvPr id="12" name="Etiqueta Ostracisme"/>
          <p:cNvSpPr/>
          <p:nvPr/>
        </p:nvSpPr>
        <p:spPr>
          <a:xfrm>
            <a:off x="4224528" y="1755648"/>
            <a:ext cx="1316736" cy="384048"/>
          </a:xfrm>
          <a:prstGeom prst="roundRect">
            <a:avLst>
              <a:gd name="adj" fmla="val 50000"/>
            </a:avLst>
          </a:prstGeom>
          <a:solidFill>
            <a:srgbClr val="E6F4EA"/>
          </a:solidFill>
          <a:ln/>
        </p:spPr>
      </p:sp>
      <p:sp>
        <p:nvSpPr>
          <p:cNvPr id="13" name="Text 11"/>
          <p:cNvSpPr txBox="1"/>
          <p:nvPr/>
        </p:nvSpPr>
        <p:spPr>
          <a:xfrm>
            <a:off x="4224528" y="1755648"/>
            <a:ext cx="131673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Ostracisme</a:t>
            </a:r>
            <a:endParaRPr lang="en-US" sz="1500" dirty="0"/>
          </a:p>
        </p:txBody>
      </p:sp>
      <p:sp>
        <p:nvSpPr>
          <p:cNvPr id="14" name="Etiqueta Metec"/>
          <p:cNvSpPr/>
          <p:nvPr/>
        </p:nvSpPr>
        <p:spPr>
          <a:xfrm>
            <a:off x="5650992" y="1755648"/>
            <a:ext cx="813816" cy="384048"/>
          </a:xfrm>
          <a:prstGeom prst="roundRect">
            <a:avLst>
              <a:gd name="adj" fmla="val 50000"/>
            </a:avLst>
          </a:prstGeom>
          <a:solidFill>
            <a:srgbClr val="E6F4EA"/>
          </a:solidFill>
          <a:ln/>
        </p:spPr>
      </p:sp>
      <p:sp>
        <p:nvSpPr>
          <p:cNvPr id="15" name="Text 13"/>
          <p:cNvSpPr txBox="1"/>
          <p:nvPr/>
        </p:nvSpPr>
        <p:spPr>
          <a:xfrm>
            <a:off x="5650992" y="1755648"/>
            <a:ext cx="81381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Metec</a:t>
            </a:r>
            <a:endParaRPr lang="en-US" sz="1500" dirty="0"/>
          </a:p>
        </p:txBody>
      </p:sp>
      <p:sp>
        <p:nvSpPr>
          <p:cNvPr id="16" name="Etiqueta Oikos"/>
          <p:cNvSpPr/>
          <p:nvPr/>
        </p:nvSpPr>
        <p:spPr>
          <a:xfrm>
            <a:off x="6574536" y="1755648"/>
            <a:ext cx="813816" cy="384048"/>
          </a:xfrm>
          <a:prstGeom prst="roundRect">
            <a:avLst>
              <a:gd name="adj" fmla="val 50000"/>
            </a:avLst>
          </a:prstGeom>
          <a:solidFill>
            <a:srgbClr val="E6F4EA"/>
          </a:solidFill>
          <a:ln/>
        </p:spPr>
      </p:sp>
      <p:sp>
        <p:nvSpPr>
          <p:cNvPr id="17" name="Text 15"/>
          <p:cNvSpPr txBox="1"/>
          <p:nvPr/>
        </p:nvSpPr>
        <p:spPr>
          <a:xfrm>
            <a:off x="6574536" y="1755648"/>
            <a:ext cx="81381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Oikos</a:t>
            </a:r>
            <a:endParaRPr lang="en-US" sz="1500" dirty="0"/>
          </a:p>
        </p:txBody>
      </p:sp>
      <p:sp>
        <p:nvSpPr>
          <p:cNvPr id="18" name="Etiqueta Pedagog"/>
          <p:cNvSpPr/>
          <p:nvPr/>
        </p:nvSpPr>
        <p:spPr>
          <a:xfrm>
            <a:off x="7498080" y="1755648"/>
            <a:ext cx="1014984" cy="384048"/>
          </a:xfrm>
          <a:prstGeom prst="roundRect">
            <a:avLst>
              <a:gd name="adj" fmla="val 50000"/>
            </a:avLst>
          </a:prstGeom>
          <a:solidFill>
            <a:srgbClr val="E6F4EA"/>
          </a:solidFill>
          <a:ln/>
        </p:spPr>
      </p:sp>
      <p:sp>
        <p:nvSpPr>
          <p:cNvPr id="19" name="Text 17"/>
          <p:cNvSpPr txBox="1"/>
          <p:nvPr/>
        </p:nvSpPr>
        <p:spPr>
          <a:xfrm>
            <a:off x="7498080" y="1755648"/>
            <a:ext cx="1014984"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Pedagog</a:t>
            </a:r>
            <a:endParaRPr lang="en-US" sz="1500" dirty="0"/>
          </a:p>
        </p:txBody>
      </p:sp>
      <p:sp>
        <p:nvSpPr>
          <p:cNvPr id="20" name="Pregunta 1"/>
          <p:cNvSpPr/>
          <p:nvPr/>
        </p:nvSpPr>
        <p:spPr>
          <a:xfrm>
            <a:off x="548640" y="2514600"/>
            <a:ext cx="5410048" cy="960120"/>
          </a:xfrm>
          <a:prstGeom prst="roundRect">
            <a:avLst>
              <a:gd name="adj" fmla="val 10476"/>
            </a:avLst>
          </a:prstGeom>
          <a:solidFill>
            <a:srgbClr val="FFFFFF"/>
          </a:solidFill>
          <a:ln w="12700">
            <a:solidFill>
              <a:srgbClr val="DADCE0"/>
            </a:solidFill>
            <a:prstDash val="solid"/>
          </a:ln>
        </p:spPr>
      </p:sp>
      <p:sp>
        <p:nvSpPr>
          <p:cNvPr id="21" name="Número 1"/>
          <p:cNvSpPr/>
          <p:nvPr/>
        </p:nvSpPr>
        <p:spPr>
          <a:xfrm>
            <a:off x="822960" y="2766060"/>
            <a:ext cx="457200" cy="457200"/>
          </a:xfrm>
          <a:prstGeom prst="ellipse">
            <a:avLst/>
          </a:prstGeom>
          <a:solidFill>
            <a:srgbClr val="188038"/>
          </a:solidFill>
          <a:ln/>
        </p:spPr>
      </p:sp>
      <p:sp>
        <p:nvSpPr>
          <p:cNvPr id="22" name="Text 20"/>
          <p:cNvSpPr txBox="1"/>
          <p:nvPr/>
        </p:nvSpPr>
        <p:spPr>
          <a:xfrm>
            <a:off x="822960" y="27660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1</a:t>
            </a:r>
            <a:endParaRPr lang="en-US" sz="1700" dirty="0"/>
          </a:p>
        </p:txBody>
      </p:sp>
      <p:sp>
        <p:nvSpPr>
          <p:cNvPr id="23" name="Text 21"/>
          <p:cNvSpPr txBox="1"/>
          <p:nvPr/>
        </p:nvSpPr>
        <p:spPr>
          <a:xfrm>
            <a:off x="1508760" y="2514600"/>
            <a:ext cx="4221328" cy="960120"/>
          </a:xfrm>
          <a:prstGeom prst="rect">
            <a:avLst/>
          </a:prstGeom>
          <a:noFill/>
          <a:ln/>
        </p:spPr>
        <p:txBody>
          <a:bodyPr wrap="square" lIns="0" tIns="0" rIns="0" bIns="0" rtlCol="0" anchor="ctr"/>
          <a:lstStyle/>
          <a:p>
            <a:pPr indent="0" marL="0">
              <a:buNone/>
            </a:pPr>
            <a:r>
              <a:rPr lang="en-US" sz="1700" dirty="0">
                <a:solidFill>
                  <a:srgbClr val="202124"/>
                </a:solidFill>
                <a:latin typeface="Roboto" pitchFamily="34" charset="0"/>
                <a:ea typeface="Roboto" pitchFamily="34" charset="-122"/>
                <a:cs typeface="Roboto" pitchFamily="34" charset="-120"/>
              </a:rPr>
              <a:t>Quina diferència hi ha entre l'acròpolis i l'àgora?</a:t>
            </a:r>
            <a:endParaRPr lang="en-US" sz="1700" dirty="0"/>
          </a:p>
        </p:txBody>
      </p:sp>
      <p:sp>
        <p:nvSpPr>
          <p:cNvPr id="24" name="Pregunta 2"/>
          <p:cNvSpPr/>
          <p:nvPr/>
        </p:nvSpPr>
        <p:spPr>
          <a:xfrm>
            <a:off x="6233008" y="2514600"/>
            <a:ext cx="5410048" cy="960120"/>
          </a:xfrm>
          <a:prstGeom prst="roundRect">
            <a:avLst>
              <a:gd name="adj" fmla="val 10476"/>
            </a:avLst>
          </a:prstGeom>
          <a:solidFill>
            <a:srgbClr val="FFFFFF"/>
          </a:solidFill>
          <a:ln w="12700">
            <a:solidFill>
              <a:srgbClr val="DADCE0"/>
            </a:solidFill>
            <a:prstDash val="solid"/>
          </a:ln>
        </p:spPr>
      </p:sp>
      <p:sp>
        <p:nvSpPr>
          <p:cNvPr id="25" name="Número 2"/>
          <p:cNvSpPr/>
          <p:nvPr/>
        </p:nvSpPr>
        <p:spPr>
          <a:xfrm>
            <a:off x="6507328" y="2766060"/>
            <a:ext cx="457200" cy="457200"/>
          </a:xfrm>
          <a:prstGeom prst="ellipse">
            <a:avLst/>
          </a:prstGeom>
          <a:solidFill>
            <a:srgbClr val="188038"/>
          </a:solidFill>
          <a:ln/>
        </p:spPr>
      </p:sp>
      <p:sp>
        <p:nvSpPr>
          <p:cNvPr id="26" name="Text 24"/>
          <p:cNvSpPr txBox="1"/>
          <p:nvPr/>
        </p:nvSpPr>
        <p:spPr>
          <a:xfrm>
            <a:off x="6507328" y="27660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2</a:t>
            </a:r>
            <a:endParaRPr lang="en-US" sz="1700" dirty="0"/>
          </a:p>
        </p:txBody>
      </p:sp>
      <p:sp>
        <p:nvSpPr>
          <p:cNvPr id="27" name="Text 25"/>
          <p:cNvSpPr txBox="1"/>
          <p:nvPr/>
        </p:nvSpPr>
        <p:spPr>
          <a:xfrm>
            <a:off x="7193128" y="2514600"/>
            <a:ext cx="4221328" cy="960120"/>
          </a:xfrm>
          <a:prstGeom prst="rect">
            <a:avLst/>
          </a:prstGeom>
          <a:noFill/>
          <a:ln/>
        </p:spPr>
        <p:txBody>
          <a:bodyPr wrap="square" lIns="0" tIns="0" rIns="0" bIns="0" rtlCol="0" anchor="ctr"/>
          <a:lstStyle/>
          <a:p>
            <a:pPr indent="0" marL="0">
              <a:buNone/>
            </a:pPr>
            <a:r>
              <a:rPr lang="en-US" sz="1700" dirty="0">
                <a:solidFill>
                  <a:srgbClr val="202124"/>
                </a:solidFill>
                <a:latin typeface="Roboto" pitchFamily="34" charset="0"/>
                <a:ea typeface="Roboto" pitchFamily="34" charset="-122"/>
                <a:cs typeface="Roboto" pitchFamily="34" charset="-120"/>
              </a:rPr>
              <a:t>Per què els atenesos preferien el sorteig a les eleccions per a molts càrrecs?</a:t>
            </a:r>
            <a:endParaRPr lang="en-US" sz="1700" dirty="0"/>
          </a:p>
        </p:txBody>
      </p:sp>
      <p:sp>
        <p:nvSpPr>
          <p:cNvPr id="28" name="Pregunta 3"/>
          <p:cNvSpPr/>
          <p:nvPr/>
        </p:nvSpPr>
        <p:spPr>
          <a:xfrm>
            <a:off x="548640" y="3675888"/>
            <a:ext cx="5410048" cy="960120"/>
          </a:xfrm>
          <a:prstGeom prst="roundRect">
            <a:avLst>
              <a:gd name="adj" fmla="val 10476"/>
            </a:avLst>
          </a:prstGeom>
          <a:solidFill>
            <a:srgbClr val="FFFFFF"/>
          </a:solidFill>
          <a:ln w="12700">
            <a:solidFill>
              <a:srgbClr val="DADCE0"/>
            </a:solidFill>
            <a:prstDash val="solid"/>
          </a:ln>
        </p:spPr>
      </p:sp>
      <p:sp>
        <p:nvSpPr>
          <p:cNvPr id="29" name="Número 3"/>
          <p:cNvSpPr/>
          <p:nvPr/>
        </p:nvSpPr>
        <p:spPr>
          <a:xfrm>
            <a:off x="822960" y="3927348"/>
            <a:ext cx="457200" cy="457200"/>
          </a:xfrm>
          <a:prstGeom prst="ellipse">
            <a:avLst/>
          </a:prstGeom>
          <a:solidFill>
            <a:srgbClr val="188038"/>
          </a:solidFill>
          <a:ln/>
        </p:spPr>
      </p:sp>
      <p:sp>
        <p:nvSpPr>
          <p:cNvPr id="30" name="Text 28"/>
          <p:cNvSpPr txBox="1"/>
          <p:nvPr/>
        </p:nvSpPr>
        <p:spPr>
          <a:xfrm>
            <a:off x="822960" y="3927348"/>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3</a:t>
            </a:r>
            <a:endParaRPr lang="en-US" sz="1700" dirty="0"/>
          </a:p>
        </p:txBody>
      </p:sp>
      <p:sp>
        <p:nvSpPr>
          <p:cNvPr id="31" name="Text 29"/>
          <p:cNvSpPr txBox="1"/>
          <p:nvPr/>
        </p:nvSpPr>
        <p:spPr>
          <a:xfrm>
            <a:off x="1508760" y="3675888"/>
            <a:ext cx="4221328" cy="960120"/>
          </a:xfrm>
          <a:prstGeom prst="rect">
            <a:avLst/>
          </a:prstGeom>
          <a:noFill/>
          <a:ln/>
        </p:spPr>
        <p:txBody>
          <a:bodyPr wrap="square" lIns="0" tIns="0" rIns="0" bIns="0" rtlCol="0" anchor="ctr"/>
          <a:lstStyle/>
          <a:p>
            <a:pPr indent="0" marL="0">
              <a:buNone/>
            </a:pPr>
            <a:r>
              <a:rPr lang="en-US" sz="1700" dirty="0">
                <a:solidFill>
                  <a:srgbClr val="202124"/>
                </a:solidFill>
                <a:latin typeface="Roboto" pitchFamily="34" charset="0"/>
                <a:ea typeface="Roboto" pitchFamily="34" charset="-122"/>
                <a:cs typeface="Roboto" pitchFamily="34" charset="-120"/>
              </a:rPr>
              <a:t>Qui no podia participar en política a Atenes?</a:t>
            </a:r>
            <a:endParaRPr lang="en-US" sz="1700" dirty="0"/>
          </a:p>
        </p:txBody>
      </p:sp>
      <p:sp>
        <p:nvSpPr>
          <p:cNvPr id="32" name="Pregunta 4"/>
          <p:cNvSpPr/>
          <p:nvPr/>
        </p:nvSpPr>
        <p:spPr>
          <a:xfrm>
            <a:off x="6233008" y="3675888"/>
            <a:ext cx="5410048" cy="960120"/>
          </a:xfrm>
          <a:prstGeom prst="roundRect">
            <a:avLst>
              <a:gd name="adj" fmla="val 10476"/>
            </a:avLst>
          </a:prstGeom>
          <a:solidFill>
            <a:srgbClr val="FFFFFF"/>
          </a:solidFill>
          <a:ln w="12700">
            <a:solidFill>
              <a:srgbClr val="DADCE0"/>
            </a:solidFill>
            <a:prstDash val="solid"/>
          </a:ln>
        </p:spPr>
      </p:sp>
      <p:sp>
        <p:nvSpPr>
          <p:cNvPr id="33" name="Número 4"/>
          <p:cNvSpPr/>
          <p:nvPr/>
        </p:nvSpPr>
        <p:spPr>
          <a:xfrm>
            <a:off x="6507328" y="3927348"/>
            <a:ext cx="457200" cy="457200"/>
          </a:xfrm>
          <a:prstGeom prst="ellipse">
            <a:avLst/>
          </a:prstGeom>
          <a:solidFill>
            <a:srgbClr val="188038"/>
          </a:solidFill>
          <a:ln/>
        </p:spPr>
      </p:sp>
      <p:sp>
        <p:nvSpPr>
          <p:cNvPr id="34" name="Text 32"/>
          <p:cNvSpPr txBox="1"/>
          <p:nvPr/>
        </p:nvSpPr>
        <p:spPr>
          <a:xfrm>
            <a:off x="6507328" y="3927348"/>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4</a:t>
            </a:r>
            <a:endParaRPr lang="en-US" sz="1700" dirty="0"/>
          </a:p>
        </p:txBody>
      </p:sp>
      <p:sp>
        <p:nvSpPr>
          <p:cNvPr id="35" name="Text 33"/>
          <p:cNvSpPr txBox="1"/>
          <p:nvPr/>
        </p:nvSpPr>
        <p:spPr>
          <a:xfrm>
            <a:off x="7193128" y="3675888"/>
            <a:ext cx="4221328" cy="960120"/>
          </a:xfrm>
          <a:prstGeom prst="rect">
            <a:avLst/>
          </a:prstGeom>
          <a:noFill/>
          <a:ln/>
        </p:spPr>
        <p:txBody>
          <a:bodyPr wrap="square" lIns="0" tIns="0" rIns="0" bIns="0" rtlCol="0" anchor="ctr"/>
          <a:lstStyle/>
          <a:p>
            <a:pPr indent="0" marL="0">
              <a:buNone/>
            </a:pPr>
            <a:r>
              <a:rPr lang="en-US" sz="1700" dirty="0">
                <a:solidFill>
                  <a:srgbClr val="202124"/>
                </a:solidFill>
                <a:latin typeface="Roboto" pitchFamily="34" charset="0"/>
                <a:ea typeface="Roboto" pitchFamily="34" charset="-122"/>
                <a:cs typeface="Roboto" pitchFamily="34" charset="-120"/>
              </a:rPr>
              <a:t>Per què diem que viure tancada a casa era un ideal de les famílies riques?</a:t>
            </a:r>
            <a:endParaRPr lang="en-US" sz="1700" dirty="0"/>
          </a:p>
        </p:txBody>
      </p:sp>
      <p:sp>
        <p:nvSpPr>
          <p:cNvPr id="36" name="Pregunta 5"/>
          <p:cNvSpPr/>
          <p:nvPr/>
        </p:nvSpPr>
        <p:spPr>
          <a:xfrm>
            <a:off x="548640" y="4837176"/>
            <a:ext cx="5410048" cy="960120"/>
          </a:xfrm>
          <a:prstGeom prst="roundRect">
            <a:avLst>
              <a:gd name="adj" fmla="val 10476"/>
            </a:avLst>
          </a:prstGeom>
          <a:solidFill>
            <a:srgbClr val="FFFFFF"/>
          </a:solidFill>
          <a:ln w="12700">
            <a:solidFill>
              <a:srgbClr val="DADCE0"/>
            </a:solidFill>
            <a:prstDash val="solid"/>
          </a:ln>
        </p:spPr>
      </p:sp>
      <p:sp>
        <p:nvSpPr>
          <p:cNvPr id="37" name="Número 5"/>
          <p:cNvSpPr/>
          <p:nvPr/>
        </p:nvSpPr>
        <p:spPr>
          <a:xfrm>
            <a:off x="822960" y="5088636"/>
            <a:ext cx="457200" cy="457200"/>
          </a:xfrm>
          <a:prstGeom prst="ellipse">
            <a:avLst/>
          </a:prstGeom>
          <a:solidFill>
            <a:srgbClr val="188038"/>
          </a:solidFill>
          <a:ln/>
        </p:spPr>
      </p:sp>
      <p:sp>
        <p:nvSpPr>
          <p:cNvPr id="38" name="Text 36"/>
          <p:cNvSpPr txBox="1"/>
          <p:nvPr/>
        </p:nvSpPr>
        <p:spPr>
          <a:xfrm>
            <a:off x="822960" y="5088636"/>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5</a:t>
            </a:r>
            <a:endParaRPr lang="en-US" sz="1700" dirty="0"/>
          </a:p>
        </p:txBody>
      </p:sp>
      <p:sp>
        <p:nvSpPr>
          <p:cNvPr id="39" name="Text 37"/>
          <p:cNvSpPr txBox="1"/>
          <p:nvPr/>
        </p:nvSpPr>
        <p:spPr>
          <a:xfrm>
            <a:off x="1508760" y="4837176"/>
            <a:ext cx="4221328" cy="960120"/>
          </a:xfrm>
          <a:prstGeom prst="rect">
            <a:avLst/>
          </a:prstGeom>
          <a:noFill/>
          <a:ln/>
        </p:spPr>
        <p:txBody>
          <a:bodyPr wrap="square" lIns="0" tIns="0" rIns="0" bIns="0" rtlCol="0" anchor="ctr"/>
          <a:lstStyle/>
          <a:p>
            <a:pPr indent="0" marL="0">
              <a:buNone/>
            </a:pPr>
            <a:r>
              <a:rPr lang="en-US" sz="1700" dirty="0">
                <a:solidFill>
                  <a:srgbClr val="202124"/>
                </a:solidFill>
                <a:latin typeface="Roboto" pitchFamily="34" charset="0"/>
                <a:ea typeface="Roboto" pitchFamily="34" charset="-122"/>
                <a:cs typeface="Roboto" pitchFamily="34" charset="-120"/>
              </a:rPr>
              <a:t>Què feia el pedagog?</a:t>
            </a:r>
            <a:endParaRPr lang="en-US" sz="1700" dirty="0"/>
          </a:p>
        </p:txBody>
      </p:sp>
      <p:sp>
        <p:nvSpPr>
          <p:cNvPr id="40" name="Pregunta 6"/>
          <p:cNvSpPr/>
          <p:nvPr/>
        </p:nvSpPr>
        <p:spPr>
          <a:xfrm>
            <a:off x="6233008" y="4837176"/>
            <a:ext cx="5410048" cy="960120"/>
          </a:xfrm>
          <a:prstGeom prst="roundRect">
            <a:avLst>
              <a:gd name="adj" fmla="val 10476"/>
            </a:avLst>
          </a:prstGeom>
          <a:solidFill>
            <a:srgbClr val="FFFFFF"/>
          </a:solidFill>
          <a:ln w="12700">
            <a:solidFill>
              <a:srgbClr val="DADCE0"/>
            </a:solidFill>
            <a:prstDash val="solid"/>
          </a:ln>
        </p:spPr>
      </p:sp>
      <p:sp>
        <p:nvSpPr>
          <p:cNvPr id="41" name="Número 6"/>
          <p:cNvSpPr/>
          <p:nvPr/>
        </p:nvSpPr>
        <p:spPr>
          <a:xfrm>
            <a:off x="6507328" y="5088636"/>
            <a:ext cx="457200" cy="457200"/>
          </a:xfrm>
          <a:prstGeom prst="ellipse">
            <a:avLst/>
          </a:prstGeom>
          <a:solidFill>
            <a:srgbClr val="188038"/>
          </a:solidFill>
          <a:ln/>
        </p:spPr>
      </p:sp>
      <p:sp>
        <p:nvSpPr>
          <p:cNvPr id="42" name="Text 40"/>
          <p:cNvSpPr txBox="1"/>
          <p:nvPr/>
        </p:nvSpPr>
        <p:spPr>
          <a:xfrm>
            <a:off x="6507328" y="5088636"/>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6</a:t>
            </a:r>
            <a:endParaRPr lang="en-US" sz="1700" dirty="0"/>
          </a:p>
        </p:txBody>
      </p:sp>
      <p:sp>
        <p:nvSpPr>
          <p:cNvPr id="43" name="Text 41"/>
          <p:cNvSpPr txBox="1"/>
          <p:nvPr/>
        </p:nvSpPr>
        <p:spPr>
          <a:xfrm>
            <a:off x="7193128" y="4837176"/>
            <a:ext cx="4221328" cy="960120"/>
          </a:xfrm>
          <a:prstGeom prst="rect">
            <a:avLst/>
          </a:prstGeom>
          <a:noFill/>
          <a:ln/>
        </p:spPr>
        <p:txBody>
          <a:bodyPr wrap="square" lIns="0" tIns="0" rIns="0" bIns="0" rtlCol="0" anchor="ctr"/>
          <a:lstStyle/>
          <a:p>
            <a:pPr indent="0" marL="0">
              <a:buNone/>
            </a:pPr>
            <a:r>
              <a:rPr lang="en-US" sz="1700" dirty="0">
                <a:solidFill>
                  <a:srgbClr val="202124"/>
                </a:solidFill>
                <a:latin typeface="Roboto" pitchFamily="34" charset="0"/>
                <a:ea typeface="Roboto" pitchFamily="34" charset="-122"/>
                <a:cs typeface="Roboto" pitchFamily="34" charset="-120"/>
              </a:rPr>
              <a:t>Digues una diferència entre un metec i un esclau.</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Capçalera"/>
          <p:cNvSpPr/>
          <p:nvPr/>
        </p:nvSpPr>
        <p:spPr>
          <a:xfrm>
            <a:off x="548640" y="548640"/>
            <a:ext cx="6720840" cy="3657600"/>
          </a:xfrm>
          <a:prstGeom prst="roundRect">
            <a:avLst>
              <a:gd name="adj" fmla="val 2750"/>
            </a:avLst>
          </a:prstGeom>
          <a:solidFill>
            <a:srgbClr val="188038"/>
          </a:solidFill>
          <a:ln/>
        </p:spPr>
      </p:sp>
      <p:pic>
        <p:nvPicPr>
          <p:cNvPr id="3" name="Il·lustració d'un temple grec i el sol" descr="/home/claude/work/build/hero-crop.png">    </p:cNvPr>
          <p:cNvPicPr>
            <a:picLocks noChangeAspect="1"/>
          </p:cNvPicPr>
          <p:nvPr/>
        </p:nvPicPr>
        <p:blipFill>
          <a:blip r:embed="rId1"/>
          <a:stretch>
            <a:fillRect/>
          </a:stretch>
        </p:blipFill>
        <p:spPr>
          <a:xfrm>
            <a:off x="3520440" y="2395912"/>
            <a:ext cx="3566160" cy="1792040"/>
          </a:xfrm>
          <a:prstGeom prst="rect">
            <a:avLst/>
          </a:prstGeom>
        </p:spPr>
      </p:pic>
      <p:sp>
        <p:nvSpPr>
          <p:cNvPr id="4" name="Etiqueta Apartat 3"/>
          <p:cNvSpPr/>
          <p:nvPr/>
        </p:nvSpPr>
        <p:spPr>
          <a:xfrm>
            <a:off x="960120" y="896112"/>
            <a:ext cx="1035101" cy="310896"/>
          </a:xfrm>
          <a:prstGeom prst="roundRect">
            <a:avLst>
              <a:gd name="adj" fmla="val 50000"/>
            </a:avLst>
          </a:prstGeom>
          <a:solidFill>
            <a:srgbClr val="FFFFFF">
              <a:alpha val="18000"/>
            </a:srgbClr>
          </a:solidFill>
          <a:ln/>
        </p:spPr>
      </p:sp>
      <p:sp>
        <p:nvSpPr>
          <p:cNvPr id="5" name="Text 2"/>
          <p:cNvSpPr txBox="1"/>
          <p:nvPr/>
        </p:nvSpPr>
        <p:spPr>
          <a:xfrm>
            <a:off x="960120" y="896112"/>
            <a:ext cx="1035101" cy="310896"/>
          </a:xfrm>
          <a:prstGeom prst="rect">
            <a:avLst/>
          </a:prstGeom>
          <a:noFill/>
          <a:ln/>
        </p:spPr>
        <p:txBody>
          <a:bodyPr wrap="square" lIns="0" tIns="0" rIns="0" bIns="0" rtlCol="0" anchor="ctr"/>
          <a:lstStyle/>
          <a:p>
            <a:pPr algn="ctr" indent="0" marL="0">
              <a:buNone/>
            </a:pPr>
            <a:r>
              <a:rPr lang="en-US" sz="1250" dirty="0">
                <a:solidFill>
                  <a:srgbClr val="FFFFFF"/>
                </a:solidFill>
                <a:latin typeface="Roboto" pitchFamily="34" charset="0"/>
                <a:ea typeface="Roboto" pitchFamily="34" charset="-122"/>
                <a:cs typeface="Roboto" pitchFamily="34" charset="-120"/>
              </a:rPr>
              <a:t>Apartat 3</a:t>
            </a:r>
            <a:endParaRPr lang="en-US" sz="1250" dirty="0"/>
          </a:p>
        </p:txBody>
      </p:sp>
      <p:sp>
        <p:nvSpPr>
          <p:cNvPr id="6" name="Text 3"/>
          <p:cNvSpPr txBox="1"/>
          <p:nvPr/>
        </p:nvSpPr>
        <p:spPr>
          <a:xfrm>
            <a:off x="960120" y="1371600"/>
            <a:ext cx="5760720" cy="1280160"/>
          </a:xfrm>
          <a:prstGeom prst="rect">
            <a:avLst/>
          </a:prstGeom>
          <a:noFill/>
          <a:ln/>
        </p:spPr>
        <p:txBody>
          <a:bodyPr wrap="square" lIns="0" tIns="0" rIns="0" bIns="0" rtlCol="0" anchor="t"/>
          <a:lstStyle/>
          <a:p>
            <a:pPr indent="0" marL="0">
              <a:lnSpc>
                <a:spcPct val="95000"/>
              </a:lnSpc>
              <a:buNone/>
            </a:pPr>
            <a:r>
              <a:rPr lang="en-US" sz="3800" b="1" dirty="0">
                <a:solidFill>
                  <a:srgbClr val="FFFFFF"/>
                </a:solidFill>
                <a:latin typeface="Roboto" pitchFamily="34" charset="0"/>
                <a:ea typeface="Roboto" pitchFamily="34" charset="-122"/>
                <a:cs typeface="Roboto" pitchFamily="34" charset="-120"/>
              </a:rPr>
              <a:t>Esparta. La polis militar</a:t>
            </a:r>
            <a:endParaRPr lang="en-US" sz="3800" dirty="0"/>
          </a:p>
        </p:txBody>
      </p:sp>
      <p:sp>
        <p:nvSpPr>
          <p:cNvPr id="7" name="Pregunta guia"/>
          <p:cNvSpPr/>
          <p:nvPr/>
        </p:nvSpPr>
        <p:spPr>
          <a:xfrm>
            <a:off x="548640" y="4389120"/>
            <a:ext cx="6720840" cy="1645920"/>
          </a:xfrm>
          <a:prstGeom prst="roundRect">
            <a:avLst>
              <a:gd name="adj" fmla="val 6111"/>
            </a:avLst>
          </a:prstGeom>
          <a:solidFill>
            <a:srgbClr val="F6F8FB"/>
          </a:solidFill>
          <a:ln/>
        </p:spPr>
      </p:sp>
      <p:sp>
        <p:nvSpPr>
          <p:cNvPr id="8" name="Text 5"/>
          <p:cNvSpPr txBox="1"/>
          <p:nvPr/>
        </p:nvSpPr>
        <p:spPr>
          <a:xfrm>
            <a:off x="914400" y="4590288"/>
            <a:ext cx="4572000" cy="320040"/>
          </a:xfrm>
          <a:prstGeom prst="rect">
            <a:avLst/>
          </a:prstGeom>
          <a:noFill/>
          <a:ln/>
        </p:spPr>
        <p:txBody>
          <a:bodyPr wrap="square" lIns="0" tIns="0" rIns="0" bIns="0" rtlCol="0" anchor="t"/>
          <a:lstStyle/>
          <a:p>
            <a:pPr indent="0" marL="0">
              <a:buNone/>
            </a:pPr>
            <a:r>
              <a:rPr lang="en-US" sz="1300" b="1" dirty="0">
                <a:solidFill>
                  <a:srgbClr val="188038"/>
                </a:solidFill>
                <a:latin typeface="Roboto" pitchFamily="34" charset="0"/>
                <a:ea typeface="Roboto" pitchFamily="34" charset="-122"/>
                <a:cs typeface="Roboto" pitchFamily="34" charset="-120"/>
              </a:rPr>
              <a:t>Pregunta guia</a:t>
            </a:r>
            <a:endParaRPr lang="en-US" sz="1300" dirty="0"/>
          </a:p>
        </p:txBody>
      </p:sp>
      <p:sp>
        <p:nvSpPr>
          <p:cNvPr id="9" name="Text 6"/>
          <p:cNvSpPr txBox="1"/>
          <p:nvPr/>
        </p:nvSpPr>
        <p:spPr>
          <a:xfrm>
            <a:off x="914400" y="4937760"/>
            <a:ext cx="6035040" cy="914400"/>
          </a:xfrm>
          <a:prstGeom prst="rect">
            <a:avLst/>
          </a:prstGeom>
          <a:noFill/>
          <a:ln/>
        </p:spPr>
        <p:txBody>
          <a:bodyPr wrap="square" lIns="0" tIns="0" rIns="0" bIns="0" rtlCol="0" anchor="t"/>
          <a:lstStyle/>
          <a:p>
            <a:pPr indent="0" marL="0">
              <a:buNone/>
            </a:pPr>
            <a:r>
              <a:rPr lang="en-US" sz="1900" dirty="0">
                <a:solidFill>
                  <a:srgbClr val="5F6368"/>
                </a:solidFill>
                <a:latin typeface="Roboto" pitchFamily="34" charset="0"/>
                <a:ea typeface="Roboto" pitchFamily="34" charset="-122"/>
                <a:cs typeface="Roboto" pitchFamily="34" charset="-120"/>
              </a:rPr>
              <a:t>Què passaria si l'escola només et preparés per ser soldat?</a:t>
            </a:r>
            <a:endParaRPr lang="en-US" sz="1900" dirty="0"/>
          </a:p>
        </p:txBody>
      </p:sp>
      <p:sp>
        <p:nvSpPr>
          <p:cNvPr id="10" name="Fons Esparta. La polis militar"/>
          <p:cNvSpPr/>
          <p:nvPr/>
        </p:nvSpPr>
        <p:spPr>
          <a:xfrm>
            <a:off x="7635240" y="608076"/>
            <a:ext cx="4007815" cy="4572000"/>
          </a:xfrm>
          <a:prstGeom prst="roundRect">
            <a:avLst>
              <a:gd name="adj" fmla="val 2510"/>
            </a:avLst>
          </a:prstGeom>
          <a:solidFill>
            <a:srgbClr val="F6F8FB"/>
          </a:solidFill>
          <a:ln/>
        </p:spPr>
      </p:sp>
      <p:pic>
        <p:nvPicPr>
          <p:cNvPr id="11" name="Esparta. La polis militar" descr="/home/claude/work/build/img/esparta.jpg">    </p:cNvPr>
          <p:cNvPicPr>
            <a:picLocks noChangeAspect="1"/>
          </p:cNvPicPr>
          <p:nvPr/>
        </p:nvPicPr>
        <p:blipFill>
          <a:blip r:embed="rId2"/>
          <a:stretch>
            <a:fillRect/>
          </a:stretch>
        </p:blipFill>
        <p:spPr>
          <a:xfrm>
            <a:off x="7922362" y="608076"/>
            <a:ext cx="3433572" cy="4572000"/>
          </a:xfrm>
          <a:prstGeom prst="rect">
            <a:avLst/>
          </a:prstGeom>
        </p:spPr>
      </p:pic>
      <p:sp>
        <p:nvSpPr>
          <p:cNvPr id="12" name="Text 8"/>
          <p:cNvSpPr txBox="1"/>
          <p:nvPr/>
        </p:nvSpPr>
        <p:spPr>
          <a:xfrm>
            <a:off x="7635240" y="5289804"/>
            <a:ext cx="4007815"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Estàtua d'un hoplita, coneguda com «Leònides» (480-470 aC), trobada el 1925 a l'acròpolis d'Esparta. No sabem del cert a qui representa. Museu Arqueològic d'Esparta. Foto: Mary Harrsch, Wikimedia Commons, CC BY-SA 4.0.</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3</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Atenes i Esparta, cara a cara</a:t>
            </a:r>
            <a:endParaRPr lang="en-US" sz="28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103120"/>
                <a:gridCol w="4495648"/>
                <a:gridCol w="4495648"/>
              </a:tblGrid>
              <a:tr h="502920">
                <a:tc>
                  <a:txBody>
                    <a:bodyPr/>
                    <a:lstStyle/>
                    <a:p>
                      <a:pPr indent="0" marL="0">
                        <a:buNone/>
                      </a:pPr>
                      <a:endParaRPr lang="en-US" sz="1800" dirty="0">
                        <a:latin typeface="Roboto" charset="0"/>
                        <a:ea typeface="Roboto" charset="0"/>
                        <a:cs typeface="Roboto" charset="0"/>
                      </a:endParaRPr>
                    </a:p>
                  </a:txBody>
                  <a:tcPr marL="127000" marR="127000" marT="50800" marB="508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188038"/>
                    </a:solidFill>
                  </a:tcPr>
                </a:tc>
                <a:tc>
                  <a:txBody>
                    <a:bodyPr/>
                    <a:lstStyle/>
                    <a:p>
                      <a:pPr indent="0" marL="0">
                        <a:buNone/>
                      </a:pPr>
                      <a:r>
                        <a:rPr lang="en-US" sz="1800" b="1" dirty="0">
                          <a:solidFill>
                            <a:srgbClr val="FFFFFF"/>
                          </a:solidFill>
                          <a:latin typeface="Roboto" pitchFamily="34" charset="0"/>
                          <a:ea typeface="Roboto" pitchFamily="34" charset="-122"/>
                          <a:cs typeface="Roboto" pitchFamily="34" charset="-120"/>
                        </a:rPr>
                        <a:t>Atenes</a:t>
                      </a:r>
                      <a:endParaRPr lang="en-US" sz="1800" dirty="0">
                        <a:latin typeface="Roboto" charset="0"/>
                        <a:ea typeface="Roboto" charset="0"/>
                        <a:cs typeface="Roboto" charset="0"/>
                      </a:endParaRPr>
                    </a:p>
                  </a:txBody>
                  <a:tcPr marL="127000" marR="127000" marT="50800" marB="508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188038"/>
                    </a:solidFill>
                  </a:tcPr>
                </a:tc>
                <a:tc>
                  <a:txBody>
                    <a:bodyPr/>
                    <a:lstStyle/>
                    <a:p>
                      <a:pPr indent="0" marL="0">
                        <a:buNone/>
                      </a:pPr>
                      <a:r>
                        <a:rPr lang="en-US" sz="1800" b="1" dirty="0">
                          <a:solidFill>
                            <a:srgbClr val="FFFFFF"/>
                          </a:solidFill>
                          <a:latin typeface="Roboto" pitchFamily="34" charset="0"/>
                          <a:ea typeface="Roboto" pitchFamily="34" charset="-122"/>
                          <a:cs typeface="Roboto" pitchFamily="34" charset="-120"/>
                        </a:rPr>
                        <a:t>Esparta</a:t>
                      </a:r>
                      <a:endParaRPr lang="en-US" sz="1800" dirty="0">
                        <a:latin typeface="Roboto" charset="0"/>
                        <a:ea typeface="Roboto" charset="0"/>
                        <a:cs typeface="Roboto" charset="0"/>
                      </a:endParaRPr>
                    </a:p>
                  </a:txBody>
                  <a:tcPr marL="127000" marR="127000" marT="50800" marB="508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188038"/>
                    </a:solidFill>
                  </a:tcPr>
                </a:tc>
              </a:tr>
              <a:tr h="868680">
                <a:tc>
                  <a:txBody>
                    <a:bodyPr/>
                    <a:lstStyle/>
                    <a:p>
                      <a:pPr indent="0" marL="0">
                        <a:buNone/>
                      </a:pPr>
                      <a:r>
                        <a:rPr lang="en-US" sz="1650" b="1" dirty="0">
                          <a:solidFill>
                            <a:srgbClr val="188038"/>
                          </a:solidFill>
                          <a:latin typeface="Roboto" pitchFamily="34" charset="0"/>
                          <a:ea typeface="Roboto" pitchFamily="34" charset="-122"/>
                          <a:cs typeface="Roboto" pitchFamily="34" charset="-120"/>
                        </a:rPr>
                        <a:t>Govern</a:t>
                      </a:r>
                      <a:endParaRPr lang="en-US" sz="1650" dirty="0">
                        <a:latin typeface="Roboto" charset="0"/>
                        <a:ea typeface="Roboto" charset="0"/>
                        <a:cs typeface="Roboto" charset="0"/>
                      </a:endParaRPr>
                    </a:p>
                  </a:txBody>
                  <a:tcPr marL="584200" marR="101600" marT="50800" marB="508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E6F4EA"/>
                    </a:solidFill>
                  </a:tcPr>
                </a:tc>
                <a:tc>
                  <a:txBody>
                    <a:bodyPr/>
                    <a:lstStyle/>
                    <a:p>
                      <a:pPr indent="0" marL="0">
                        <a:buNone/>
                      </a:pPr>
                      <a:r>
                        <a:rPr lang="en-US" sz="1650" dirty="0">
                          <a:solidFill>
                            <a:srgbClr val="202124"/>
                          </a:solidFill>
                          <a:latin typeface="Roboto" pitchFamily="34" charset="0"/>
                          <a:ea typeface="Roboto" pitchFamily="34" charset="-122"/>
                          <a:cs typeface="Roboto" pitchFamily="34" charset="-120"/>
                        </a:rPr>
                        <a:t>Democràcia. Els ciutadans decideixen a l'assemblea.</a:t>
                      </a:r>
                      <a:endParaRPr lang="en-US" sz="1650" dirty="0">
                        <a:latin typeface="Roboto" charset="0"/>
                        <a:ea typeface="Roboto" charset="0"/>
                        <a:cs typeface="Roboto" charset="0"/>
                      </a:endParaRPr>
                    </a:p>
                  </a:txBody>
                  <a:tcPr marL="127000" marR="127000" marT="50800" marB="508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tcPr>
                </a:tc>
                <a:tc>
                  <a:txBody>
                    <a:bodyPr/>
                    <a:lstStyle/>
                    <a:p>
                      <a:pPr indent="0" marL="0">
                        <a:buNone/>
                      </a:pPr>
                      <a:r>
                        <a:rPr lang="en-US" sz="1650" dirty="0">
                          <a:solidFill>
                            <a:srgbClr val="202124"/>
                          </a:solidFill>
                          <a:latin typeface="Roboto" pitchFamily="34" charset="0"/>
                          <a:ea typeface="Roboto" pitchFamily="34" charset="-122"/>
                          <a:cs typeface="Roboto" pitchFamily="34" charset="-120"/>
                        </a:rPr>
                        <a:t>Oligarquia militar. Dos reis, un consell d'ancians i una minoria que controla el poder.</a:t>
                      </a:r>
                      <a:endParaRPr lang="en-US" sz="1650" dirty="0">
                        <a:latin typeface="Roboto" charset="0"/>
                        <a:ea typeface="Roboto" charset="0"/>
                        <a:cs typeface="Roboto" charset="0"/>
                      </a:endParaRPr>
                    </a:p>
                  </a:txBody>
                  <a:tcPr marL="127000" marR="127000" marT="50800" marB="508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tcPr>
                </a:tc>
              </a:tr>
              <a:tr h="868680">
                <a:tc>
                  <a:txBody>
                    <a:bodyPr/>
                    <a:lstStyle/>
                    <a:p>
                      <a:pPr indent="0" marL="0">
                        <a:buNone/>
                      </a:pPr>
                      <a:r>
                        <a:rPr lang="en-US" sz="1650" b="1" dirty="0">
                          <a:solidFill>
                            <a:srgbClr val="188038"/>
                          </a:solidFill>
                          <a:latin typeface="Roboto" pitchFamily="34" charset="0"/>
                          <a:ea typeface="Roboto" pitchFamily="34" charset="-122"/>
                          <a:cs typeface="Roboto" pitchFamily="34" charset="-120"/>
                        </a:rPr>
                        <a:t>Economia</a:t>
                      </a:r>
                      <a:endParaRPr lang="en-US" sz="1650" dirty="0">
                        <a:latin typeface="Roboto" charset="0"/>
                        <a:ea typeface="Roboto" charset="0"/>
                        <a:cs typeface="Roboto" charset="0"/>
                      </a:endParaRPr>
                    </a:p>
                  </a:txBody>
                  <a:tcPr marL="584200" marR="101600" marT="50800" marB="508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E6F4EA"/>
                    </a:solidFill>
                  </a:tcPr>
                </a:tc>
                <a:tc>
                  <a:txBody>
                    <a:bodyPr/>
                    <a:lstStyle/>
                    <a:p>
                      <a:pPr indent="0" marL="0">
                        <a:buNone/>
                      </a:pPr>
                      <a:r>
                        <a:rPr lang="en-US" sz="1650" dirty="0">
                          <a:solidFill>
                            <a:srgbClr val="202124"/>
                          </a:solidFill>
                          <a:latin typeface="Roboto" pitchFamily="34" charset="0"/>
                          <a:ea typeface="Roboto" pitchFamily="34" charset="-122"/>
                          <a:cs typeface="Roboto" pitchFamily="34" charset="-120"/>
                        </a:rPr>
                        <a:t>Comerç marítim, artesania i un gran port, el Pireu.</a:t>
                      </a:r>
                      <a:endParaRPr lang="en-US" sz="1650" dirty="0">
                        <a:latin typeface="Roboto" charset="0"/>
                        <a:ea typeface="Roboto" charset="0"/>
                        <a:cs typeface="Roboto" charset="0"/>
                      </a:endParaRPr>
                    </a:p>
                  </a:txBody>
                  <a:tcPr marL="127000" marR="127000" marT="50800" marB="508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tcPr>
                </a:tc>
                <a:tc>
                  <a:txBody>
                    <a:bodyPr/>
                    <a:lstStyle/>
                    <a:p>
                      <a:pPr indent="0" marL="0">
                        <a:buNone/>
                      </a:pPr>
                      <a:r>
                        <a:rPr lang="en-US" sz="1650" dirty="0">
                          <a:solidFill>
                            <a:srgbClr val="202124"/>
                          </a:solidFill>
                          <a:latin typeface="Roboto" pitchFamily="34" charset="0"/>
                          <a:ea typeface="Roboto" pitchFamily="34" charset="-122"/>
                          <a:cs typeface="Roboto" pitchFamily="34" charset="-120"/>
                        </a:rPr>
                        <a:t>Agricultura treballada pels ilotes, camperols sotmesos.</a:t>
                      </a:r>
                      <a:endParaRPr lang="en-US" sz="1650" dirty="0">
                        <a:latin typeface="Roboto" charset="0"/>
                        <a:ea typeface="Roboto" charset="0"/>
                        <a:cs typeface="Roboto" charset="0"/>
                      </a:endParaRPr>
                    </a:p>
                  </a:txBody>
                  <a:tcPr marL="127000" marR="127000" marT="50800" marB="508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tcPr>
                </a:tc>
              </a:tr>
              <a:tr h="685800">
                <a:tc>
                  <a:txBody>
                    <a:bodyPr/>
                    <a:lstStyle/>
                    <a:p>
                      <a:pPr indent="0" marL="0">
                        <a:buNone/>
                      </a:pPr>
                      <a:r>
                        <a:rPr lang="en-US" sz="1650" b="1" dirty="0">
                          <a:solidFill>
                            <a:srgbClr val="188038"/>
                          </a:solidFill>
                          <a:latin typeface="Roboto" pitchFamily="34" charset="0"/>
                          <a:ea typeface="Roboto" pitchFamily="34" charset="-122"/>
                          <a:cs typeface="Roboto" pitchFamily="34" charset="-120"/>
                        </a:rPr>
                        <a:t>Valors</a:t>
                      </a:r>
                      <a:endParaRPr lang="en-US" sz="1650" dirty="0">
                        <a:latin typeface="Roboto" charset="0"/>
                        <a:ea typeface="Roboto" charset="0"/>
                        <a:cs typeface="Roboto" charset="0"/>
                      </a:endParaRPr>
                    </a:p>
                  </a:txBody>
                  <a:tcPr marL="584200" marR="101600" marT="50800" marB="508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E6F4EA"/>
                    </a:solidFill>
                  </a:tcPr>
                </a:tc>
                <a:tc>
                  <a:txBody>
                    <a:bodyPr/>
                    <a:lstStyle/>
                    <a:p>
                      <a:pPr indent="0" marL="0">
                        <a:buNone/>
                      </a:pPr>
                      <a:r>
                        <a:rPr lang="en-US" sz="1650" dirty="0">
                          <a:solidFill>
                            <a:srgbClr val="202124"/>
                          </a:solidFill>
                          <a:latin typeface="Roboto" pitchFamily="34" charset="0"/>
                          <a:ea typeface="Roboto" pitchFamily="34" charset="-122"/>
                          <a:cs typeface="Roboto" pitchFamily="34" charset="-120"/>
                        </a:rPr>
                        <a:t>La paraula, la cultura, la bellesa, la participació.</a:t>
                      </a:r>
                      <a:endParaRPr lang="en-US" sz="1650" dirty="0">
                        <a:latin typeface="Roboto" charset="0"/>
                        <a:ea typeface="Roboto" charset="0"/>
                        <a:cs typeface="Roboto" charset="0"/>
                      </a:endParaRPr>
                    </a:p>
                  </a:txBody>
                  <a:tcPr marL="127000" marR="127000" marT="50800" marB="508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tcPr>
                </a:tc>
                <a:tc>
                  <a:txBody>
                    <a:bodyPr/>
                    <a:lstStyle/>
                    <a:p>
                      <a:pPr indent="0" marL="0">
                        <a:buNone/>
                      </a:pPr>
                      <a:r>
                        <a:rPr lang="en-US" sz="1650" dirty="0">
                          <a:solidFill>
                            <a:srgbClr val="202124"/>
                          </a:solidFill>
                          <a:latin typeface="Roboto" pitchFamily="34" charset="0"/>
                          <a:ea typeface="Roboto" pitchFamily="34" charset="-122"/>
                          <a:cs typeface="Roboto" pitchFamily="34" charset="-120"/>
                        </a:rPr>
                        <a:t>La disciplina, l'obediència, la força militar.</a:t>
                      </a:r>
                      <a:endParaRPr lang="en-US" sz="1650" dirty="0">
                        <a:latin typeface="Roboto" charset="0"/>
                        <a:ea typeface="Roboto" charset="0"/>
                        <a:cs typeface="Roboto" charset="0"/>
                      </a:endParaRPr>
                    </a:p>
                  </a:txBody>
                  <a:tcPr marL="127000" marR="127000" marT="50800" marB="508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tcPr>
                </a:tc>
              </a:tr>
              <a:tr h="868680">
                <a:tc>
                  <a:txBody>
                    <a:bodyPr/>
                    <a:lstStyle/>
                    <a:p>
                      <a:pPr indent="0" marL="0">
                        <a:buNone/>
                      </a:pPr>
                      <a:r>
                        <a:rPr lang="en-US" sz="1650" b="1" dirty="0">
                          <a:solidFill>
                            <a:srgbClr val="188038"/>
                          </a:solidFill>
                          <a:latin typeface="Roboto" pitchFamily="34" charset="0"/>
                          <a:ea typeface="Roboto" pitchFamily="34" charset="-122"/>
                          <a:cs typeface="Roboto" pitchFamily="34" charset="-120"/>
                        </a:rPr>
                        <a:t>Educació</a:t>
                      </a:r>
                      <a:endParaRPr lang="en-US" sz="1650" dirty="0">
                        <a:latin typeface="Roboto" charset="0"/>
                        <a:ea typeface="Roboto" charset="0"/>
                        <a:cs typeface="Roboto" charset="0"/>
                      </a:endParaRPr>
                    </a:p>
                  </a:txBody>
                  <a:tcPr marL="584200" marR="101600" marT="50800" marB="508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E6F4EA"/>
                    </a:solidFill>
                  </a:tcPr>
                </a:tc>
                <a:tc>
                  <a:txBody>
                    <a:bodyPr/>
                    <a:lstStyle/>
                    <a:p>
                      <a:pPr indent="0" marL="0">
                        <a:buNone/>
                      </a:pPr>
                      <a:r>
                        <a:rPr lang="en-US" sz="1650" dirty="0">
                          <a:solidFill>
                            <a:srgbClr val="202124"/>
                          </a:solidFill>
                          <a:latin typeface="Roboto" pitchFamily="34" charset="0"/>
                          <a:ea typeface="Roboto" pitchFamily="34" charset="-122"/>
                          <a:cs typeface="Roboto" pitchFamily="34" charset="-120"/>
                        </a:rPr>
                        <a:t>Lectura, escriptura, música, gimnàstica i retòrica per als nois de famílies ciutadanes.</a:t>
                      </a:r>
                      <a:endParaRPr lang="en-US" sz="1650" dirty="0">
                        <a:latin typeface="Roboto" charset="0"/>
                        <a:ea typeface="Roboto" charset="0"/>
                        <a:cs typeface="Roboto" charset="0"/>
                      </a:endParaRPr>
                    </a:p>
                  </a:txBody>
                  <a:tcPr marL="127000" marR="127000" marT="50800" marB="508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tcPr>
                </a:tc>
                <a:tc>
                  <a:txBody>
                    <a:bodyPr/>
                    <a:lstStyle/>
                    <a:p>
                      <a:pPr indent="0" marL="0">
                        <a:buNone/>
                      </a:pPr>
                      <a:r>
                        <a:rPr lang="en-US" sz="1650" dirty="0">
                          <a:solidFill>
                            <a:srgbClr val="202124"/>
                          </a:solidFill>
                          <a:latin typeface="Roboto" pitchFamily="34" charset="0"/>
                          <a:ea typeface="Roboto" pitchFamily="34" charset="-122"/>
                          <a:cs typeface="Roboto" pitchFamily="34" charset="-120"/>
                        </a:rPr>
                        <a:t>L'agogé. Educació militar estatal des dels 7 anys, duríssima.</a:t>
                      </a:r>
                      <a:endParaRPr lang="en-US" sz="1650" dirty="0">
                        <a:latin typeface="Roboto" charset="0"/>
                        <a:ea typeface="Roboto" charset="0"/>
                        <a:cs typeface="Roboto" charset="0"/>
                      </a:endParaRPr>
                    </a:p>
                  </a:txBody>
                  <a:tcPr marL="127000" marR="127000" marT="50800" marB="508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tcPr>
                </a:tc>
              </a:tr>
              <a:tr h="868680">
                <a:tc>
                  <a:txBody>
                    <a:bodyPr/>
                    <a:lstStyle/>
                    <a:p>
                      <a:pPr indent="0" marL="0">
                        <a:buNone/>
                      </a:pPr>
                      <a:r>
                        <a:rPr lang="en-US" sz="1650" b="1" dirty="0">
                          <a:solidFill>
                            <a:srgbClr val="188038"/>
                          </a:solidFill>
                          <a:latin typeface="Roboto" pitchFamily="34" charset="0"/>
                          <a:ea typeface="Roboto" pitchFamily="34" charset="-122"/>
                          <a:cs typeface="Roboto" pitchFamily="34" charset="-120"/>
                        </a:rPr>
                        <a:t>Les dones</a:t>
                      </a:r>
                      <a:endParaRPr lang="en-US" sz="1650" dirty="0">
                        <a:latin typeface="Roboto" charset="0"/>
                        <a:ea typeface="Roboto" charset="0"/>
                        <a:cs typeface="Roboto" charset="0"/>
                      </a:endParaRPr>
                    </a:p>
                  </a:txBody>
                  <a:tcPr marL="584200" marR="101600" marT="50800" marB="508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E6F4EA"/>
                    </a:solidFill>
                  </a:tcPr>
                </a:tc>
                <a:tc>
                  <a:txBody>
                    <a:bodyPr/>
                    <a:lstStyle/>
                    <a:p>
                      <a:pPr indent="0" marL="0">
                        <a:buNone/>
                      </a:pPr>
                      <a:r>
                        <a:rPr lang="en-US" sz="1650" dirty="0">
                          <a:solidFill>
                            <a:srgbClr val="202124"/>
                          </a:solidFill>
                          <a:latin typeface="Roboto" pitchFamily="34" charset="0"/>
                          <a:ea typeface="Roboto" pitchFamily="34" charset="-122"/>
                          <a:cs typeface="Roboto" pitchFamily="34" charset="-120"/>
                        </a:rPr>
                        <a:t>Recloses a casa, sense drets polítics, dedicades a la llar.</a:t>
                      </a:r>
                      <a:endParaRPr lang="en-US" sz="1650" dirty="0">
                        <a:latin typeface="Roboto" charset="0"/>
                        <a:ea typeface="Roboto" charset="0"/>
                        <a:cs typeface="Roboto" charset="0"/>
                      </a:endParaRPr>
                    </a:p>
                  </a:txBody>
                  <a:tcPr marL="127000" marR="127000" marT="50800" marB="508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tcPr>
                </a:tc>
                <a:tc>
                  <a:txBody>
                    <a:bodyPr/>
                    <a:lstStyle/>
                    <a:p>
                      <a:pPr indent="0" marL="0">
                        <a:buNone/>
                      </a:pPr>
                      <a:r>
                        <a:rPr lang="en-US" sz="1650" dirty="0">
                          <a:solidFill>
                            <a:srgbClr val="202124"/>
                          </a:solidFill>
                          <a:latin typeface="Roboto" pitchFamily="34" charset="0"/>
                          <a:ea typeface="Roboto" pitchFamily="34" charset="-122"/>
                          <a:cs typeface="Roboto" pitchFamily="34" charset="-120"/>
                        </a:rPr>
                        <a:t>Més llibertat i educació física. Havien de criar futurs guerrers forts.</a:t>
                      </a:r>
                      <a:endParaRPr lang="en-US" sz="1650" dirty="0">
                        <a:latin typeface="Roboto" charset="0"/>
                        <a:ea typeface="Roboto" charset="0"/>
                        <a:cs typeface="Roboto" charset="0"/>
                      </a:endParaRPr>
                    </a:p>
                  </a:txBody>
                  <a:tcPr marL="127000" marR="127000" marT="50800" marB="508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tcPr>
                </a:tc>
              </a:tr>
            </a:tbl>
          </a:graphicData>
        </a:graphic>
      </p:graphicFrame>
      <p:pic>
        <p:nvPicPr>
          <p:cNvPr id="6" name="Icona TbUsersGroup" descr="/home/claude/work/build/img/ic/TbUsersGroup-g.png">    </p:cNvPr>
          <p:cNvPicPr>
            <a:picLocks noChangeAspect="1"/>
          </p:cNvPicPr>
          <p:nvPr/>
        </p:nvPicPr>
        <p:blipFill>
          <a:blip r:embed="rId1"/>
          <a:stretch>
            <a:fillRect/>
          </a:stretch>
        </p:blipFill>
        <p:spPr>
          <a:xfrm>
            <a:off x="658368" y="2125980"/>
            <a:ext cx="365760" cy="365760"/>
          </a:xfrm>
          <a:prstGeom prst="rect">
            <a:avLst/>
          </a:prstGeom>
        </p:spPr>
      </p:pic>
      <p:pic>
        <p:nvPicPr>
          <p:cNvPr id="7" name="Icona TbCoins" descr="/home/claude/work/build/img/ic/TbCoins-g.png">    </p:cNvPr>
          <p:cNvPicPr>
            <a:picLocks noChangeAspect="1"/>
          </p:cNvPicPr>
          <p:nvPr/>
        </p:nvPicPr>
        <p:blipFill>
          <a:blip r:embed="rId2"/>
          <a:stretch>
            <a:fillRect/>
          </a:stretch>
        </p:blipFill>
        <p:spPr>
          <a:xfrm>
            <a:off x="658368" y="2994660"/>
            <a:ext cx="365760" cy="365760"/>
          </a:xfrm>
          <a:prstGeom prst="rect">
            <a:avLst/>
          </a:prstGeom>
        </p:spPr>
      </p:pic>
      <p:pic>
        <p:nvPicPr>
          <p:cNvPr id="8" name="Icona TbHeart" descr="/home/claude/work/build/img/ic/TbHeart-g.png">    </p:cNvPr>
          <p:cNvPicPr>
            <a:picLocks noChangeAspect="1"/>
          </p:cNvPicPr>
          <p:nvPr/>
        </p:nvPicPr>
        <p:blipFill>
          <a:blip r:embed="rId3"/>
          <a:stretch>
            <a:fillRect/>
          </a:stretch>
        </p:blipFill>
        <p:spPr>
          <a:xfrm>
            <a:off x="658368" y="3771900"/>
            <a:ext cx="365760" cy="365760"/>
          </a:xfrm>
          <a:prstGeom prst="rect">
            <a:avLst/>
          </a:prstGeom>
        </p:spPr>
      </p:pic>
      <p:pic>
        <p:nvPicPr>
          <p:cNvPr id="9" name="Icona TbSchool" descr="/home/claude/work/build/img/ic/TbSchool-g.png">    </p:cNvPr>
          <p:cNvPicPr>
            <a:picLocks noChangeAspect="1"/>
          </p:cNvPicPr>
          <p:nvPr/>
        </p:nvPicPr>
        <p:blipFill>
          <a:blip r:embed="rId4"/>
          <a:stretch>
            <a:fillRect/>
          </a:stretch>
        </p:blipFill>
        <p:spPr>
          <a:xfrm>
            <a:off x="658368" y="4549140"/>
            <a:ext cx="365760" cy="365760"/>
          </a:xfrm>
          <a:prstGeom prst="rect">
            <a:avLst/>
          </a:prstGeom>
        </p:spPr>
      </p:pic>
      <p:pic>
        <p:nvPicPr>
          <p:cNvPr id="10" name="Icona TbGenderFemale" descr="/home/claude/work/build/img/ic/TbGenderFemale-g.png">    </p:cNvPr>
          <p:cNvPicPr>
            <a:picLocks noChangeAspect="1"/>
          </p:cNvPicPr>
          <p:nvPr/>
        </p:nvPicPr>
        <p:blipFill>
          <a:blip r:embed="rId5"/>
          <a:stretch>
            <a:fillRect/>
          </a:stretch>
        </p:blipFill>
        <p:spPr>
          <a:xfrm>
            <a:off x="658368" y="5417820"/>
            <a:ext cx="365760" cy="36576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3</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Espartiates, periecs i ilotes</a:t>
            </a:r>
            <a:endParaRPr lang="en-US" sz="2800" dirty="0"/>
          </a:p>
        </p:txBody>
      </p:sp>
      <p:sp>
        <p:nvSpPr>
          <p:cNvPr id="5" name="Grup Espartiates"/>
          <p:cNvSpPr/>
          <p:nvPr/>
        </p:nvSpPr>
        <p:spPr>
          <a:xfrm>
            <a:off x="1828800" y="1371600"/>
            <a:ext cx="3566160" cy="1078992"/>
          </a:xfrm>
          <a:prstGeom prst="roundRect">
            <a:avLst>
              <a:gd name="adj" fmla="val 9322"/>
            </a:avLst>
          </a:prstGeom>
          <a:solidFill>
            <a:srgbClr val="188038"/>
          </a:solidFill>
          <a:ln/>
        </p:spPr>
      </p:sp>
      <p:pic>
        <p:nvPicPr>
          <p:cNvPr id="6" name="Icona TbShield" descr="/home/claude/work/build/img/ic/TbShield-w.png">    </p:cNvPr>
          <p:cNvPicPr>
            <a:picLocks noChangeAspect="1"/>
          </p:cNvPicPr>
          <p:nvPr/>
        </p:nvPicPr>
        <p:blipFill>
          <a:blip r:embed="rId1"/>
          <a:stretch>
            <a:fillRect/>
          </a:stretch>
        </p:blipFill>
        <p:spPr>
          <a:xfrm>
            <a:off x="2011680" y="1673352"/>
            <a:ext cx="475488" cy="475488"/>
          </a:xfrm>
          <a:prstGeom prst="rect">
            <a:avLst/>
          </a:prstGeom>
        </p:spPr>
      </p:pic>
      <p:sp>
        <p:nvSpPr>
          <p:cNvPr id="7" name="Text 4"/>
          <p:cNvSpPr txBox="1"/>
          <p:nvPr/>
        </p:nvSpPr>
        <p:spPr>
          <a:xfrm>
            <a:off x="2606040" y="1426464"/>
            <a:ext cx="2697480" cy="969264"/>
          </a:xfrm>
          <a:prstGeom prst="rect">
            <a:avLst/>
          </a:prstGeom>
          <a:noFill/>
          <a:ln/>
        </p:spPr>
        <p:txBody>
          <a:bodyPr wrap="square" lIns="0" tIns="0" rIns="0" bIns="0" rtlCol="0" anchor="ctr"/>
          <a:lstStyle/>
          <a:p>
            <a:pPr indent="0" marL="0">
              <a:buNone/>
            </a:pPr>
            <a:r>
              <a:rPr lang="en-US" sz="1800" b="1" dirty="0">
                <a:solidFill>
                  <a:srgbClr val="FFFFFF"/>
                </a:solidFill>
                <a:latin typeface="Roboto" pitchFamily="34" charset="0"/>
                <a:ea typeface="Roboto" pitchFamily="34" charset="-122"/>
                <a:cs typeface="Roboto" pitchFamily="34" charset="-120"/>
              </a:rPr>
              <a:t>Espartiates</a:t>
            </a:r>
            <a:endParaRPr lang="en-US" sz="1800" dirty="0"/>
          </a:p>
          <a:p>
            <a:pPr indent="0" marL="0">
              <a:buNone/>
            </a:pPr>
            <a:r>
              <a:rPr lang="en-US" sz="1400" dirty="0">
                <a:solidFill>
                  <a:srgbClr val="FFFFFF"/>
                </a:solidFill>
                <a:latin typeface="Roboto" pitchFamily="34" charset="0"/>
                <a:ea typeface="Roboto" pitchFamily="34" charset="-122"/>
                <a:cs typeface="Roboto" pitchFamily="34" charset="-120"/>
              </a:rPr>
              <a:t>Ciutadans de ple dret. Soldats professionals.</a:t>
            </a:r>
            <a:endParaRPr lang="en-US" sz="1800" dirty="0"/>
          </a:p>
        </p:txBody>
      </p:sp>
      <p:sp>
        <p:nvSpPr>
          <p:cNvPr id="8" name="Grup Periecs"/>
          <p:cNvSpPr/>
          <p:nvPr/>
        </p:nvSpPr>
        <p:spPr>
          <a:xfrm>
            <a:off x="1143000" y="2560320"/>
            <a:ext cx="4937760" cy="1078992"/>
          </a:xfrm>
          <a:prstGeom prst="roundRect">
            <a:avLst>
              <a:gd name="adj" fmla="val 9322"/>
            </a:avLst>
          </a:prstGeom>
          <a:solidFill>
            <a:srgbClr val="E6F4EA"/>
          </a:solidFill>
          <a:ln/>
        </p:spPr>
      </p:sp>
      <p:pic>
        <p:nvPicPr>
          <p:cNvPr id="9" name="Icona TbHammer" descr="/home/claude/work/build/img/ic/TbHammer-g.png">    </p:cNvPr>
          <p:cNvPicPr>
            <a:picLocks noChangeAspect="1"/>
          </p:cNvPicPr>
          <p:nvPr/>
        </p:nvPicPr>
        <p:blipFill>
          <a:blip r:embed="rId2"/>
          <a:stretch>
            <a:fillRect/>
          </a:stretch>
        </p:blipFill>
        <p:spPr>
          <a:xfrm>
            <a:off x="1325880" y="2862072"/>
            <a:ext cx="475488" cy="475488"/>
          </a:xfrm>
          <a:prstGeom prst="rect">
            <a:avLst/>
          </a:prstGeom>
        </p:spPr>
      </p:pic>
      <p:sp>
        <p:nvSpPr>
          <p:cNvPr id="10" name="Text 6"/>
          <p:cNvSpPr txBox="1"/>
          <p:nvPr/>
        </p:nvSpPr>
        <p:spPr>
          <a:xfrm>
            <a:off x="1920240" y="2615184"/>
            <a:ext cx="4069080" cy="969264"/>
          </a:xfrm>
          <a:prstGeom prst="rect">
            <a:avLst/>
          </a:prstGeom>
          <a:noFill/>
          <a:ln/>
        </p:spPr>
        <p:txBody>
          <a:bodyPr wrap="square" lIns="0" tIns="0" rIns="0" bIns="0" rtlCol="0" anchor="ctr"/>
          <a:lstStyle/>
          <a:p>
            <a:pPr indent="0" marL="0">
              <a:buNone/>
            </a:pPr>
            <a:r>
              <a:rPr lang="en-US" sz="1800" b="1" dirty="0">
                <a:solidFill>
                  <a:srgbClr val="202124"/>
                </a:solidFill>
                <a:latin typeface="Roboto" pitchFamily="34" charset="0"/>
                <a:ea typeface="Roboto" pitchFamily="34" charset="-122"/>
                <a:cs typeface="Roboto" pitchFamily="34" charset="-120"/>
              </a:rPr>
              <a:t>Periecs</a:t>
            </a:r>
            <a:endParaRPr lang="en-US" sz="1800" dirty="0"/>
          </a:p>
          <a:p>
            <a:pPr indent="0" marL="0">
              <a:buNone/>
            </a:pPr>
            <a:r>
              <a:rPr lang="en-US" sz="1400" dirty="0">
                <a:solidFill>
                  <a:srgbClr val="202124"/>
                </a:solidFill>
                <a:latin typeface="Roboto" pitchFamily="34" charset="0"/>
                <a:ea typeface="Roboto" pitchFamily="34" charset="-122"/>
                <a:cs typeface="Roboto" pitchFamily="34" charset="-120"/>
              </a:rPr>
              <a:t>Homes lliures. Comerç i artesania, però sense drets polítics.</a:t>
            </a:r>
            <a:endParaRPr lang="en-US" sz="1800" dirty="0"/>
          </a:p>
        </p:txBody>
      </p:sp>
      <p:sp>
        <p:nvSpPr>
          <p:cNvPr id="11" name="Grup Ilotes"/>
          <p:cNvSpPr/>
          <p:nvPr/>
        </p:nvSpPr>
        <p:spPr>
          <a:xfrm>
            <a:off x="548640" y="3749040"/>
            <a:ext cx="6126480" cy="1078992"/>
          </a:xfrm>
          <a:prstGeom prst="roundRect">
            <a:avLst>
              <a:gd name="adj" fmla="val 9322"/>
            </a:avLst>
          </a:prstGeom>
          <a:solidFill>
            <a:srgbClr val="E8EAED"/>
          </a:solidFill>
          <a:ln/>
        </p:spPr>
      </p:sp>
      <p:pic>
        <p:nvPicPr>
          <p:cNvPr id="12" name="Icona TbWheat" descr="/home/claude/work/build/img/ic/TbWheat-k.png">    </p:cNvPr>
          <p:cNvPicPr>
            <a:picLocks noChangeAspect="1"/>
          </p:cNvPicPr>
          <p:nvPr/>
        </p:nvPicPr>
        <p:blipFill>
          <a:blip r:embed="rId3"/>
          <a:stretch>
            <a:fillRect/>
          </a:stretch>
        </p:blipFill>
        <p:spPr>
          <a:xfrm>
            <a:off x="731520" y="4050792"/>
            <a:ext cx="475488" cy="475488"/>
          </a:xfrm>
          <a:prstGeom prst="rect">
            <a:avLst/>
          </a:prstGeom>
        </p:spPr>
      </p:pic>
      <p:sp>
        <p:nvSpPr>
          <p:cNvPr id="13" name="Text 8"/>
          <p:cNvSpPr txBox="1"/>
          <p:nvPr/>
        </p:nvSpPr>
        <p:spPr>
          <a:xfrm>
            <a:off x="1325880" y="3803904"/>
            <a:ext cx="5257800" cy="969264"/>
          </a:xfrm>
          <a:prstGeom prst="rect">
            <a:avLst/>
          </a:prstGeom>
          <a:noFill/>
          <a:ln/>
        </p:spPr>
        <p:txBody>
          <a:bodyPr wrap="square" lIns="0" tIns="0" rIns="0" bIns="0" rtlCol="0" anchor="ctr"/>
          <a:lstStyle/>
          <a:p>
            <a:pPr indent="0" marL="0">
              <a:buNone/>
            </a:pPr>
            <a:r>
              <a:rPr lang="en-US" sz="1800" b="1" dirty="0">
                <a:solidFill>
                  <a:srgbClr val="202124"/>
                </a:solidFill>
                <a:latin typeface="Roboto" pitchFamily="34" charset="0"/>
                <a:ea typeface="Roboto" pitchFamily="34" charset="-122"/>
                <a:cs typeface="Roboto" pitchFamily="34" charset="-120"/>
              </a:rPr>
              <a:t>Ilotes</a:t>
            </a:r>
            <a:endParaRPr lang="en-US" sz="1800" dirty="0"/>
          </a:p>
          <a:p>
            <a:pPr indent="0" marL="0">
              <a:buNone/>
            </a:pPr>
            <a:r>
              <a:rPr lang="en-US" sz="1400" dirty="0">
                <a:solidFill>
                  <a:srgbClr val="202124"/>
                </a:solidFill>
                <a:latin typeface="Roboto" pitchFamily="34" charset="0"/>
                <a:ea typeface="Roboto" pitchFamily="34" charset="-122"/>
                <a:cs typeface="Roboto" pitchFamily="34" charset="-120"/>
              </a:rPr>
              <a:t>Població sotmesa, molt més nombrosa. Treballava la terra per als espartiates.</a:t>
            </a:r>
            <a:endParaRPr lang="en-US" sz="1800" dirty="0"/>
          </a:p>
        </p:txBody>
      </p:sp>
      <p:sp>
        <p:nvSpPr>
          <p:cNvPr id="14" name="Per què tant d'exèrcit?"/>
          <p:cNvSpPr/>
          <p:nvPr/>
        </p:nvSpPr>
        <p:spPr>
          <a:xfrm>
            <a:off x="548640" y="4956048"/>
            <a:ext cx="6126480" cy="1033272"/>
          </a:xfrm>
          <a:prstGeom prst="roundRect">
            <a:avLst>
              <a:gd name="adj" fmla="val 9735"/>
            </a:avLst>
          </a:prstGeom>
          <a:solidFill>
            <a:srgbClr val="F6F8FB"/>
          </a:solidFill>
          <a:ln/>
        </p:spPr>
      </p:sp>
      <p:sp>
        <p:nvSpPr>
          <p:cNvPr id="15" name="Text 10"/>
          <p:cNvSpPr txBox="1"/>
          <p:nvPr/>
        </p:nvSpPr>
        <p:spPr>
          <a:xfrm>
            <a:off x="868680" y="5111496"/>
            <a:ext cx="5486400"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Per què tant d'exèrcit?</a:t>
            </a:r>
            <a:endParaRPr lang="en-US" sz="1400" dirty="0"/>
          </a:p>
        </p:txBody>
      </p:sp>
      <p:sp>
        <p:nvSpPr>
          <p:cNvPr id="16" name="Text 11"/>
          <p:cNvSpPr txBox="1"/>
          <p:nvPr/>
        </p:nvSpPr>
        <p:spPr>
          <a:xfrm>
            <a:off x="868680" y="5458968"/>
            <a:ext cx="5486400" cy="393192"/>
          </a:xfrm>
          <a:prstGeom prst="rect">
            <a:avLst/>
          </a:prstGeom>
          <a:noFill/>
          <a:ln/>
        </p:spPr>
        <p:txBody>
          <a:bodyPr wrap="square" lIns="0" tIns="0" rIns="0" bIns="0" rtlCol="0" anchor="t"/>
          <a:lstStyle/>
          <a:p>
            <a:pPr indent="0" marL="0">
              <a:buNone/>
            </a:pPr>
            <a:r>
              <a:rPr lang="en-US" sz="1550" dirty="0">
                <a:solidFill>
                  <a:srgbClr val="5F6368"/>
                </a:solidFill>
                <a:latin typeface="Roboto" pitchFamily="34" charset="0"/>
                <a:ea typeface="Roboto" pitchFamily="34" charset="-122"/>
                <a:cs typeface="Roboto" pitchFamily="34" charset="-120"/>
              </a:rPr>
              <a:t>La por constant a una revolta dels ilotes explica, en bona part, l'obsessió militar d'Esparta.</a:t>
            </a:r>
            <a:endParaRPr lang="en-US" sz="1550" dirty="0"/>
          </a:p>
        </p:txBody>
      </p:sp>
      <p:sp>
        <p:nvSpPr>
          <p:cNvPr id="17" name="Fons Un casc corinti de bronze, com el de molts hoplites"/>
          <p:cNvSpPr/>
          <p:nvPr/>
        </p:nvSpPr>
        <p:spPr>
          <a:xfrm>
            <a:off x="6995160" y="1371600"/>
            <a:ext cx="4647895" cy="2468880"/>
          </a:xfrm>
          <a:prstGeom prst="roundRect">
            <a:avLst>
              <a:gd name="adj" fmla="val 4074"/>
            </a:avLst>
          </a:prstGeom>
          <a:solidFill>
            <a:srgbClr val="F6F8FB"/>
          </a:solidFill>
          <a:ln/>
        </p:spPr>
      </p:sp>
      <p:pic>
        <p:nvPicPr>
          <p:cNvPr id="18" name="Un casc corinti de bronze, com el de molts hoplites" descr="/home/claude/work/build/img/casc.jpg">    </p:cNvPr>
          <p:cNvPicPr>
            <a:picLocks noChangeAspect="1"/>
          </p:cNvPicPr>
          <p:nvPr/>
        </p:nvPicPr>
        <p:blipFill>
          <a:blip r:embed="rId4"/>
          <a:stretch>
            <a:fillRect/>
          </a:stretch>
        </p:blipFill>
        <p:spPr>
          <a:xfrm>
            <a:off x="8084668" y="1371600"/>
            <a:ext cx="2468880" cy="2468880"/>
          </a:xfrm>
          <a:prstGeom prst="rect">
            <a:avLst/>
          </a:prstGeom>
        </p:spPr>
      </p:pic>
      <p:sp>
        <p:nvSpPr>
          <p:cNvPr id="19" name="Text 13"/>
          <p:cNvSpPr txBox="1"/>
          <p:nvPr/>
        </p:nvSpPr>
        <p:spPr>
          <a:xfrm>
            <a:off x="6995160" y="3931920"/>
            <a:ext cx="4647895"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Un casc corinti de bronze, com el de molts hoplites. Metropolitan Museum of Art, Nova York. Foto: The Met, domini públic (CC0).</a:t>
            </a:r>
            <a:endParaRPr lang="en-US" sz="1000" dirty="0"/>
          </a:p>
        </p:txBody>
      </p:sp>
      <p:sp>
        <p:nvSpPr>
          <p:cNvPr id="20" name="Paraula clau · Hoplita"/>
          <p:cNvSpPr/>
          <p:nvPr/>
        </p:nvSpPr>
        <p:spPr>
          <a:xfrm>
            <a:off x="6995160" y="4434840"/>
            <a:ext cx="4647895" cy="1554480"/>
          </a:xfrm>
          <a:prstGeom prst="roundRect">
            <a:avLst>
              <a:gd name="adj" fmla="val 6471"/>
            </a:avLst>
          </a:prstGeom>
          <a:solidFill>
            <a:srgbClr val="E6F4EA"/>
          </a:solidFill>
          <a:ln/>
        </p:spPr>
      </p:sp>
      <p:sp>
        <p:nvSpPr>
          <p:cNvPr id="21" name="Text 15"/>
          <p:cNvSpPr txBox="1"/>
          <p:nvPr/>
        </p:nvSpPr>
        <p:spPr>
          <a:xfrm>
            <a:off x="7315200" y="4590288"/>
            <a:ext cx="400781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Paraula clau · Hoplita</a:t>
            </a:r>
            <a:endParaRPr lang="en-US" sz="1400" dirty="0"/>
          </a:p>
        </p:txBody>
      </p:sp>
      <p:sp>
        <p:nvSpPr>
          <p:cNvPr id="22" name="Text 16"/>
          <p:cNvSpPr txBox="1"/>
          <p:nvPr/>
        </p:nvSpPr>
        <p:spPr>
          <a:xfrm>
            <a:off x="7315200" y="4937760"/>
            <a:ext cx="4007815" cy="91440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Soldat d'infanteria grec armat amb llança, escut rodó i casc, que combatia en una formació tancada anomenada falange.</a:t>
            </a:r>
            <a:endParaRPr lang="en-US" sz="15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3</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Espartà i lacònic</a:t>
            </a:r>
            <a:endParaRPr lang="en-US" sz="2800" dirty="0"/>
          </a:p>
        </p:txBody>
      </p:sp>
      <p:sp>
        <p:nvSpPr>
          <p:cNvPr id="5" name="Fons Lacònia, la regió d'Esparta, al Peloponès"/>
          <p:cNvSpPr/>
          <p:nvPr/>
        </p:nvSpPr>
        <p:spPr>
          <a:xfrm>
            <a:off x="548640" y="1371600"/>
            <a:ext cx="5120640" cy="4206240"/>
          </a:xfrm>
          <a:prstGeom prst="roundRect">
            <a:avLst>
              <a:gd name="adj" fmla="val 2391"/>
            </a:avLst>
          </a:prstGeom>
          <a:solidFill>
            <a:srgbClr val="F6F8FB"/>
          </a:solidFill>
          <a:ln/>
        </p:spPr>
      </p:sp>
      <p:pic>
        <p:nvPicPr>
          <p:cNvPr id="6" name="Lacònia, la regió d'Esparta, al Peloponès" descr="/home/claude/work/build/img/laconia.jpg">    </p:cNvPr>
          <p:cNvPicPr>
            <a:picLocks noChangeAspect="1"/>
          </p:cNvPicPr>
          <p:nvPr/>
        </p:nvPicPr>
        <p:blipFill>
          <a:blip r:embed="rId1"/>
          <a:stretch>
            <a:fillRect/>
          </a:stretch>
        </p:blipFill>
        <p:spPr>
          <a:xfrm>
            <a:off x="639897" y="1371600"/>
            <a:ext cx="4938126" cy="4206240"/>
          </a:xfrm>
          <a:prstGeom prst="rect">
            <a:avLst/>
          </a:prstGeom>
        </p:spPr>
      </p:pic>
      <p:sp>
        <p:nvSpPr>
          <p:cNvPr id="7" name="Text 4"/>
          <p:cNvSpPr txBox="1"/>
          <p:nvPr/>
        </p:nvSpPr>
        <p:spPr>
          <a:xfrm>
            <a:off x="548640" y="5669280"/>
            <a:ext cx="5120640"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Lacònia, la regió d'Esparta, al Peloponès. Mapa: professordesocials.cat, CC BY-SA 4.0. Base cartogràfica: Natural Earth (domini públic).</a:t>
            </a:r>
            <a:endParaRPr lang="en-US" sz="1000" dirty="0"/>
          </a:p>
        </p:txBody>
      </p:sp>
      <p:sp>
        <p:nvSpPr>
          <p:cNvPr id="8" name="Text 5"/>
          <p:cNvSpPr txBox="1"/>
          <p:nvPr/>
        </p:nvSpPr>
        <p:spPr>
          <a:xfrm>
            <a:off x="5989320" y="1371600"/>
            <a:ext cx="5653735" cy="457200"/>
          </a:xfrm>
          <a:prstGeom prst="rect">
            <a:avLst/>
          </a:prstGeom>
          <a:noFill/>
          <a:ln/>
        </p:spPr>
        <p:txBody>
          <a:bodyPr wrap="square" lIns="0" tIns="0" rIns="0" bIns="0" rtlCol="0" anchor="t"/>
          <a:lstStyle/>
          <a:p>
            <a:pPr indent="0" marL="0">
              <a:buNone/>
            </a:pPr>
            <a:r>
              <a:rPr lang="en-US" sz="1600" b="1" dirty="0">
                <a:solidFill>
                  <a:srgbClr val="202124"/>
                </a:solidFill>
                <a:latin typeface="Roboto" pitchFamily="34" charset="0"/>
                <a:ea typeface="Roboto" pitchFamily="34" charset="-122"/>
                <a:cs typeface="Roboto" pitchFamily="34" charset="-120"/>
              </a:rPr>
              <a:t>Encara avui fem servir aquests dos noms com a adjectius.</a:t>
            </a:r>
            <a:endParaRPr lang="en-US" sz="1600" dirty="0"/>
          </a:p>
        </p:txBody>
      </p:sp>
      <p:sp>
        <p:nvSpPr>
          <p:cNvPr id="9" name="Targeta Espartà"/>
          <p:cNvSpPr/>
          <p:nvPr/>
        </p:nvSpPr>
        <p:spPr>
          <a:xfrm>
            <a:off x="5989320" y="1874520"/>
            <a:ext cx="5653735" cy="1303020"/>
          </a:xfrm>
          <a:prstGeom prst="roundRect">
            <a:avLst>
              <a:gd name="adj" fmla="val 7719"/>
            </a:avLst>
          </a:prstGeom>
          <a:solidFill>
            <a:srgbClr val="FFFFFF"/>
          </a:solidFill>
          <a:ln w="12700">
            <a:solidFill>
              <a:srgbClr val="DADCE0"/>
            </a:solidFill>
            <a:prstDash val="solid"/>
          </a:ln>
        </p:spPr>
      </p:sp>
      <p:sp>
        <p:nvSpPr>
          <p:cNvPr id="10" name="Cercle icona"/>
          <p:cNvSpPr/>
          <p:nvPr/>
        </p:nvSpPr>
        <p:spPr>
          <a:xfrm>
            <a:off x="6217920" y="2103120"/>
            <a:ext cx="502920" cy="502920"/>
          </a:xfrm>
          <a:prstGeom prst="ellipse">
            <a:avLst/>
          </a:prstGeom>
          <a:solidFill>
            <a:srgbClr val="E6F4EA"/>
          </a:solidFill>
          <a:ln/>
        </p:spPr>
      </p:sp>
      <p:pic>
        <p:nvPicPr>
          <p:cNvPr id="11" name="Icona TbShield" descr="/home/claude/work/build/img/ic/TbShield-g.png">    </p:cNvPr>
          <p:cNvPicPr>
            <a:picLocks noChangeAspect="1"/>
          </p:cNvPicPr>
          <p:nvPr/>
        </p:nvPicPr>
        <p:blipFill>
          <a:blip r:embed="rId2"/>
          <a:stretch>
            <a:fillRect/>
          </a:stretch>
        </p:blipFill>
        <p:spPr>
          <a:xfrm>
            <a:off x="6328562" y="2213762"/>
            <a:ext cx="281635" cy="281635"/>
          </a:xfrm>
          <a:prstGeom prst="rect">
            <a:avLst/>
          </a:prstGeom>
        </p:spPr>
      </p:pic>
      <p:sp>
        <p:nvSpPr>
          <p:cNvPr id="12" name="Text 8"/>
          <p:cNvSpPr txBox="1"/>
          <p:nvPr/>
        </p:nvSpPr>
        <p:spPr>
          <a:xfrm>
            <a:off x="6858000" y="2103120"/>
            <a:ext cx="4556455" cy="502920"/>
          </a:xfrm>
          <a:prstGeom prst="rect">
            <a:avLst/>
          </a:prstGeom>
          <a:noFill/>
          <a:ln/>
        </p:spPr>
        <p:txBody>
          <a:bodyPr wrap="square" lIns="0" tIns="0" rIns="0" bIns="0" rtlCol="0" anchor="ctr"/>
          <a:lstStyle/>
          <a:p>
            <a:pPr indent="0" marL="0">
              <a:buNone/>
            </a:pPr>
            <a:r>
              <a:rPr lang="en-US" sz="1900" b="1" dirty="0">
                <a:solidFill>
                  <a:srgbClr val="188038"/>
                </a:solidFill>
                <a:latin typeface="Roboto" pitchFamily="34" charset="0"/>
                <a:ea typeface="Roboto" pitchFamily="34" charset="-122"/>
                <a:cs typeface="Roboto" pitchFamily="34" charset="-120"/>
              </a:rPr>
              <a:t>Espartà</a:t>
            </a:r>
            <a:endParaRPr lang="en-US" sz="1900" dirty="0"/>
          </a:p>
        </p:txBody>
      </p:sp>
      <p:sp>
        <p:nvSpPr>
          <p:cNvPr id="13" name="Text 9"/>
          <p:cNvSpPr txBox="1"/>
          <p:nvPr/>
        </p:nvSpPr>
        <p:spPr>
          <a:xfrm>
            <a:off x="6217920" y="2743200"/>
            <a:ext cx="5196535" cy="29718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D'una vida austera i dura en diem espartana.</a:t>
            </a:r>
            <a:endParaRPr lang="en-US" sz="1550" dirty="0"/>
          </a:p>
        </p:txBody>
      </p:sp>
      <p:sp>
        <p:nvSpPr>
          <p:cNvPr id="14" name="Targeta Lacònic"/>
          <p:cNvSpPr/>
          <p:nvPr/>
        </p:nvSpPr>
        <p:spPr>
          <a:xfrm>
            <a:off x="5989320" y="3360420"/>
            <a:ext cx="5653735" cy="1303020"/>
          </a:xfrm>
          <a:prstGeom prst="roundRect">
            <a:avLst>
              <a:gd name="adj" fmla="val 7719"/>
            </a:avLst>
          </a:prstGeom>
          <a:solidFill>
            <a:srgbClr val="FFFFFF"/>
          </a:solidFill>
          <a:ln w="12700">
            <a:solidFill>
              <a:srgbClr val="DADCE0"/>
            </a:solidFill>
            <a:prstDash val="solid"/>
          </a:ln>
        </p:spPr>
      </p:sp>
      <p:sp>
        <p:nvSpPr>
          <p:cNvPr id="15" name="Cercle icona"/>
          <p:cNvSpPr/>
          <p:nvPr/>
        </p:nvSpPr>
        <p:spPr>
          <a:xfrm>
            <a:off x="6217920" y="3589020"/>
            <a:ext cx="502920" cy="502920"/>
          </a:xfrm>
          <a:prstGeom prst="ellipse">
            <a:avLst/>
          </a:prstGeom>
          <a:solidFill>
            <a:srgbClr val="E6F4EA"/>
          </a:solidFill>
          <a:ln/>
        </p:spPr>
      </p:sp>
      <p:pic>
        <p:nvPicPr>
          <p:cNvPr id="16" name="Icona TbMessages" descr="/home/claude/work/build/img/ic/TbMessages-g.png">    </p:cNvPr>
          <p:cNvPicPr>
            <a:picLocks noChangeAspect="1"/>
          </p:cNvPicPr>
          <p:nvPr/>
        </p:nvPicPr>
        <p:blipFill>
          <a:blip r:embed="rId3"/>
          <a:stretch>
            <a:fillRect/>
          </a:stretch>
        </p:blipFill>
        <p:spPr>
          <a:xfrm>
            <a:off x="6328562" y="3699662"/>
            <a:ext cx="281635" cy="281635"/>
          </a:xfrm>
          <a:prstGeom prst="rect">
            <a:avLst/>
          </a:prstGeom>
        </p:spPr>
      </p:pic>
      <p:sp>
        <p:nvSpPr>
          <p:cNvPr id="17" name="Text 12"/>
          <p:cNvSpPr txBox="1"/>
          <p:nvPr/>
        </p:nvSpPr>
        <p:spPr>
          <a:xfrm>
            <a:off x="6858000" y="3589020"/>
            <a:ext cx="4556455" cy="502920"/>
          </a:xfrm>
          <a:prstGeom prst="rect">
            <a:avLst/>
          </a:prstGeom>
          <a:noFill/>
          <a:ln/>
        </p:spPr>
        <p:txBody>
          <a:bodyPr wrap="square" lIns="0" tIns="0" rIns="0" bIns="0" rtlCol="0" anchor="ctr"/>
          <a:lstStyle/>
          <a:p>
            <a:pPr indent="0" marL="0">
              <a:buNone/>
            </a:pPr>
            <a:r>
              <a:rPr lang="en-US" sz="1900" b="1" dirty="0">
                <a:solidFill>
                  <a:srgbClr val="188038"/>
                </a:solidFill>
                <a:latin typeface="Roboto" pitchFamily="34" charset="0"/>
                <a:ea typeface="Roboto" pitchFamily="34" charset="-122"/>
                <a:cs typeface="Roboto" pitchFamily="34" charset="-120"/>
              </a:rPr>
              <a:t>Lacònic</a:t>
            </a:r>
            <a:endParaRPr lang="en-US" sz="1900" dirty="0"/>
          </a:p>
        </p:txBody>
      </p:sp>
      <p:sp>
        <p:nvSpPr>
          <p:cNvPr id="18" name="Text 13"/>
          <p:cNvSpPr txBox="1"/>
          <p:nvPr/>
        </p:nvSpPr>
        <p:spPr>
          <a:xfrm>
            <a:off x="6217920" y="4229100"/>
            <a:ext cx="5196535" cy="29718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D'una resposta breu i contundent en diem lacònica.</a:t>
            </a:r>
            <a:endParaRPr lang="en-US" sz="1550" dirty="0"/>
          </a:p>
        </p:txBody>
      </p:sp>
      <p:sp>
        <p:nvSpPr>
          <p:cNvPr id="19" name="Saps que…?"/>
          <p:cNvSpPr/>
          <p:nvPr/>
        </p:nvSpPr>
        <p:spPr>
          <a:xfrm>
            <a:off x="5989320" y="4846320"/>
            <a:ext cx="5653735" cy="1143000"/>
          </a:xfrm>
          <a:prstGeom prst="roundRect">
            <a:avLst>
              <a:gd name="adj" fmla="val 8800"/>
            </a:avLst>
          </a:prstGeom>
          <a:solidFill>
            <a:srgbClr val="E6F4EA"/>
          </a:solidFill>
          <a:ln/>
        </p:spPr>
      </p:sp>
      <p:sp>
        <p:nvSpPr>
          <p:cNvPr id="20" name="Text 15"/>
          <p:cNvSpPr txBox="1"/>
          <p:nvPr/>
        </p:nvSpPr>
        <p:spPr>
          <a:xfrm>
            <a:off x="6309360" y="5001768"/>
            <a:ext cx="501365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Saps que…?</a:t>
            </a:r>
            <a:endParaRPr lang="en-US" sz="1400" dirty="0"/>
          </a:p>
        </p:txBody>
      </p:sp>
      <p:sp>
        <p:nvSpPr>
          <p:cNvPr id="21" name="Text 16"/>
          <p:cNvSpPr txBox="1"/>
          <p:nvPr/>
        </p:nvSpPr>
        <p:spPr>
          <a:xfrm>
            <a:off x="6309360" y="5349240"/>
            <a:ext cx="5013655" cy="50292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Filip II de Macedònia va amenaçar Esparta. «Si entro a Lacònia, ho arrasaré tot». La resposta va ser «Si».</a:t>
            </a:r>
            <a:endParaRPr lang="en-US" sz="14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3</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Comprova-ho</a:t>
            </a:r>
            <a:endParaRPr lang="en-US" sz="2800" dirty="0"/>
          </a:p>
        </p:txBody>
      </p:sp>
      <p:sp>
        <p:nvSpPr>
          <p:cNvPr id="5" name="Text 3"/>
          <p:cNvSpPr txBox="1"/>
          <p:nvPr/>
        </p:nvSpPr>
        <p:spPr>
          <a:xfrm>
            <a:off x="548640" y="1371600"/>
            <a:ext cx="3657600" cy="320040"/>
          </a:xfrm>
          <a:prstGeom prst="rect">
            <a:avLst/>
          </a:prstGeom>
          <a:noFill/>
          <a:ln/>
        </p:spPr>
        <p:txBody>
          <a:bodyPr wrap="square" lIns="0" tIns="0" rIns="0" bIns="0" rtlCol="0" anchor="t"/>
          <a:lstStyle/>
          <a:p>
            <a:pPr indent="0" marL="0">
              <a:buNone/>
            </a:pPr>
            <a:r>
              <a:rPr lang="en-US" sz="1400" b="1" dirty="0">
                <a:solidFill>
                  <a:srgbClr val="5F6368"/>
                </a:solidFill>
                <a:latin typeface="Roboto" pitchFamily="34" charset="0"/>
                <a:ea typeface="Roboto" pitchFamily="34" charset="-122"/>
                <a:cs typeface="Roboto" pitchFamily="34" charset="-120"/>
              </a:rPr>
              <a:t>Paraules clau</a:t>
            </a:r>
            <a:endParaRPr lang="en-US" sz="1400" dirty="0"/>
          </a:p>
        </p:txBody>
      </p:sp>
      <p:sp>
        <p:nvSpPr>
          <p:cNvPr id="6" name="Etiqueta Oligarquia"/>
          <p:cNvSpPr/>
          <p:nvPr/>
        </p:nvSpPr>
        <p:spPr>
          <a:xfrm>
            <a:off x="548640" y="1755648"/>
            <a:ext cx="1316736" cy="384048"/>
          </a:xfrm>
          <a:prstGeom prst="roundRect">
            <a:avLst>
              <a:gd name="adj" fmla="val 50000"/>
            </a:avLst>
          </a:prstGeom>
          <a:solidFill>
            <a:srgbClr val="E6F4EA"/>
          </a:solidFill>
          <a:ln/>
        </p:spPr>
      </p:sp>
      <p:sp>
        <p:nvSpPr>
          <p:cNvPr id="7" name="Text 5"/>
          <p:cNvSpPr txBox="1"/>
          <p:nvPr/>
        </p:nvSpPr>
        <p:spPr>
          <a:xfrm>
            <a:off x="548640" y="1755648"/>
            <a:ext cx="131673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Oligarquia</a:t>
            </a:r>
            <a:endParaRPr lang="en-US" sz="1500" dirty="0"/>
          </a:p>
        </p:txBody>
      </p:sp>
      <p:sp>
        <p:nvSpPr>
          <p:cNvPr id="8" name="Etiqueta Agogé"/>
          <p:cNvSpPr/>
          <p:nvPr/>
        </p:nvSpPr>
        <p:spPr>
          <a:xfrm>
            <a:off x="1975104" y="1755648"/>
            <a:ext cx="813816" cy="384048"/>
          </a:xfrm>
          <a:prstGeom prst="roundRect">
            <a:avLst>
              <a:gd name="adj" fmla="val 50000"/>
            </a:avLst>
          </a:prstGeom>
          <a:solidFill>
            <a:srgbClr val="E6F4EA"/>
          </a:solidFill>
          <a:ln/>
        </p:spPr>
      </p:sp>
      <p:sp>
        <p:nvSpPr>
          <p:cNvPr id="9" name="Text 7"/>
          <p:cNvSpPr txBox="1"/>
          <p:nvPr/>
        </p:nvSpPr>
        <p:spPr>
          <a:xfrm>
            <a:off x="1975104" y="1755648"/>
            <a:ext cx="81381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Agogé</a:t>
            </a:r>
            <a:endParaRPr lang="en-US" sz="1500" dirty="0"/>
          </a:p>
        </p:txBody>
      </p:sp>
      <p:sp>
        <p:nvSpPr>
          <p:cNvPr id="10" name="Etiqueta Espartiates"/>
          <p:cNvSpPr/>
          <p:nvPr/>
        </p:nvSpPr>
        <p:spPr>
          <a:xfrm>
            <a:off x="2898648" y="1755648"/>
            <a:ext cx="1417320" cy="384048"/>
          </a:xfrm>
          <a:prstGeom prst="roundRect">
            <a:avLst>
              <a:gd name="adj" fmla="val 50000"/>
            </a:avLst>
          </a:prstGeom>
          <a:solidFill>
            <a:srgbClr val="E6F4EA"/>
          </a:solidFill>
          <a:ln/>
        </p:spPr>
      </p:sp>
      <p:sp>
        <p:nvSpPr>
          <p:cNvPr id="11" name="Text 9"/>
          <p:cNvSpPr txBox="1"/>
          <p:nvPr/>
        </p:nvSpPr>
        <p:spPr>
          <a:xfrm>
            <a:off x="2898648" y="1755648"/>
            <a:ext cx="1417320"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Espartiates</a:t>
            </a:r>
            <a:endParaRPr lang="en-US" sz="1500" dirty="0"/>
          </a:p>
        </p:txBody>
      </p:sp>
      <p:sp>
        <p:nvSpPr>
          <p:cNvPr id="12" name="Etiqueta Periecs"/>
          <p:cNvSpPr/>
          <p:nvPr/>
        </p:nvSpPr>
        <p:spPr>
          <a:xfrm>
            <a:off x="4425696" y="1755648"/>
            <a:ext cx="1014984" cy="384048"/>
          </a:xfrm>
          <a:prstGeom prst="roundRect">
            <a:avLst>
              <a:gd name="adj" fmla="val 50000"/>
            </a:avLst>
          </a:prstGeom>
          <a:solidFill>
            <a:srgbClr val="E6F4EA"/>
          </a:solidFill>
          <a:ln/>
        </p:spPr>
      </p:sp>
      <p:sp>
        <p:nvSpPr>
          <p:cNvPr id="13" name="Text 11"/>
          <p:cNvSpPr txBox="1"/>
          <p:nvPr/>
        </p:nvSpPr>
        <p:spPr>
          <a:xfrm>
            <a:off x="4425696" y="1755648"/>
            <a:ext cx="1014984"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Periecs</a:t>
            </a:r>
            <a:endParaRPr lang="en-US" sz="1500" dirty="0"/>
          </a:p>
        </p:txBody>
      </p:sp>
      <p:sp>
        <p:nvSpPr>
          <p:cNvPr id="14" name="Etiqueta Ilotes"/>
          <p:cNvSpPr/>
          <p:nvPr/>
        </p:nvSpPr>
        <p:spPr>
          <a:xfrm>
            <a:off x="5550408" y="1755648"/>
            <a:ext cx="914400" cy="384048"/>
          </a:xfrm>
          <a:prstGeom prst="roundRect">
            <a:avLst>
              <a:gd name="adj" fmla="val 50000"/>
            </a:avLst>
          </a:prstGeom>
          <a:solidFill>
            <a:srgbClr val="E6F4EA"/>
          </a:solidFill>
          <a:ln/>
        </p:spPr>
      </p:sp>
      <p:sp>
        <p:nvSpPr>
          <p:cNvPr id="15" name="Text 13"/>
          <p:cNvSpPr txBox="1"/>
          <p:nvPr/>
        </p:nvSpPr>
        <p:spPr>
          <a:xfrm>
            <a:off x="5550408" y="1755648"/>
            <a:ext cx="914400"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Ilotes</a:t>
            </a:r>
            <a:endParaRPr lang="en-US" sz="1500" dirty="0"/>
          </a:p>
        </p:txBody>
      </p:sp>
      <p:sp>
        <p:nvSpPr>
          <p:cNvPr id="16" name="Etiqueta Hoplita"/>
          <p:cNvSpPr/>
          <p:nvPr/>
        </p:nvSpPr>
        <p:spPr>
          <a:xfrm>
            <a:off x="6574536" y="1755648"/>
            <a:ext cx="1014984" cy="384048"/>
          </a:xfrm>
          <a:prstGeom prst="roundRect">
            <a:avLst>
              <a:gd name="adj" fmla="val 50000"/>
            </a:avLst>
          </a:prstGeom>
          <a:solidFill>
            <a:srgbClr val="E6F4EA"/>
          </a:solidFill>
          <a:ln/>
        </p:spPr>
      </p:sp>
      <p:sp>
        <p:nvSpPr>
          <p:cNvPr id="17" name="Text 15"/>
          <p:cNvSpPr txBox="1"/>
          <p:nvPr/>
        </p:nvSpPr>
        <p:spPr>
          <a:xfrm>
            <a:off x="6574536" y="1755648"/>
            <a:ext cx="1014984"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Hoplita</a:t>
            </a:r>
            <a:endParaRPr lang="en-US" sz="1500" dirty="0"/>
          </a:p>
        </p:txBody>
      </p:sp>
      <p:sp>
        <p:nvSpPr>
          <p:cNvPr id="18" name="Pregunta 1"/>
          <p:cNvSpPr/>
          <p:nvPr/>
        </p:nvSpPr>
        <p:spPr>
          <a:xfrm>
            <a:off x="548640" y="2514600"/>
            <a:ext cx="11094415" cy="960120"/>
          </a:xfrm>
          <a:prstGeom prst="roundRect">
            <a:avLst>
              <a:gd name="adj" fmla="val 10476"/>
            </a:avLst>
          </a:prstGeom>
          <a:solidFill>
            <a:srgbClr val="FFFFFF"/>
          </a:solidFill>
          <a:ln w="12700">
            <a:solidFill>
              <a:srgbClr val="DADCE0"/>
            </a:solidFill>
            <a:prstDash val="solid"/>
          </a:ln>
        </p:spPr>
      </p:sp>
      <p:sp>
        <p:nvSpPr>
          <p:cNvPr id="19" name="Número 1"/>
          <p:cNvSpPr/>
          <p:nvPr/>
        </p:nvSpPr>
        <p:spPr>
          <a:xfrm>
            <a:off x="822960" y="2766060"/>
            <a:ext cx="457200" cy="457200"/>
          </a:xfrm>
          <a:prstGeom prst="ellipse">
            <a:avLst/>
          </a:prstGeom>
          <a:solidFill>
            <a:srgbClr val="188038"/>
          </a:solidFill>
          <a:ln/>
        </p:spPr>
      </p:sp>
      <p:sp>
        <p:nvSpPr>
          <p:cNvPr id="20" name="Text 18"/>
          <p:cNvSpPr txBox="1"/>
          <p:nvPr/>
        </p:nvSpPr>
        <p:spPr>
          <a:xfrm>
            <a:off x="822960" y="27660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1</a:t>
            </a:r>
            <a:endParaRPr lang="en-US" sz="1700" dirty="0"/>
          </a:p>
        </p:txBody>
      </p:sp>
      <p:sp>
        <p:nvSpPr>
          <p:cNvPr id="21" name="Text 19"/>
          <p:cNvSpPr txBox="1"/>
          <p:nvPr/>
        </p:nvSpPr>
        <p:spPr>
          <a:xfrm>
            <a:off x="1508760" y="2514600"/>
            <a:ext cx="9905695" cy="960120"/>
          </a:xfrm>
          <a:prstGeom prst="rect">
            <a:avLst/>
          </a:prstGeom>
          <a:noFill/>
          <a:ln/>
        </p:spPr>
        <p:txBody>
          <a:bodyPr wrap="square" lIns="0" tIns="0" rIns="0" bIns="0" rtlCol="0" anchor="ctr"/>
          <a:lstStyle/>
          <a:p>
            <a:pPr indent="0" marL="0">
              <a:buNone/>
            </a:pPr>
            <a:r>
              <a:rPr lang="en-US" sz="2000" dirty="0">
                <a:solidFill>
                  <a:srgbClr val="202124"/>
                </a:solidFill>
                <a:latin typeface="Roboto" pitchFamily="34" charset="0"/>
                <a:ea typeface="Roboto" pitchFamily="34" charset="-122"/>
                <a:cs typeface="Roboto" pitchFamily="34" charset="-120"/>
              </a:rPr>
              <a:t>Digues dues diferències entre Atenes i Esparta.</a:t>
            </a:r>
            <a:endParaRPr lang="en-US" sz="2000" dirty="0"/>
          </a:p>
        </p:txBody>
      </p:sp>
      <p:sp>
        <p:nvSpPr>
          <p:cNvPr id="22" name="Pregunta 2"/>
          <p:cNvSpPr/>
          <p:nvPr/>
        </p:nvSpPr>
        <p:spPr>
          <a:xfrm>
            <a:off x="548640" y="3657600"/>
            <a:ext cx="11094415" cy="960120"/>
          </a:xfrm>
          <a:prstGeom prst="roundRect">
            <a:avLst>
              <a:gd name="adj" fmla="val 10476"/>
            </a:avLst>
          </a:prstGeom>
          <a:solidFill>
            <a:srgbClr val="FFFFFF"/>
          </a:solidFill>
          <a:ln w="12700">
            <a:solidFill>
              <a:srgbClr val="DADCE0"/>
            </a:solidFill>
            <a:prstDash val="solid"/>
          </a:ln>
        </p:spPr>
      </p:sp>
      <p:sp>
        <p:nvSpPr>
          <p:cNvPr id="23" name="Número 2"/>
          <p:cNvSpPr/>
          <p:nvPr/>
        </p:nvSpPr>
        <p:spPr>
          <a:xfrm>
            <a:off x="822960" y="3909060"/>
            <a:ext cx="457200" cy="457200"/>
          </a:xfrm>
          <a:prstGeom prst="ellipse">
            <a:avLst/>
          </a:prstGeom>
          <a:solidFill>
            <a:srgbClr val="188038"/>
          </a:solidFill>
          <a:ln/>
        </p:spPr>
      </p:sp>
      <p:sp>
        <p:nvSpPr>
          <p:cNvPr id="24" name="Text 22"/>
          <p:cNvSpPr txBox="1"/>
          <p:nvPr/>
        </p:nvSpPr>
        <p:spPr>
          <a:xfrm>
            <a:off x="822960" y="39090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2</a:t>
            </a:r>
            <a:endParaRPr lang="en-US" sz="1700" dirty="0"/>
          </a:p>
        </p:txBody>
      </p:sp>
      <p:sp>
        <p:nvSpPr>
          <p:cNvPr id="25" name="Text 23"/>
          <p:cNvSpPr txBox="1"/>
          <p:nvPr/>
        </p:nvSpPr>
        <p:spPr>
          <a:xfrm>
            <a:off x="1508760" y="3657600"/>
            <a:ext cx="9905695" cy="960120"/>
          </a:xfrm>
          <a:prstGeom prst="rect">
            <a:avLst/>
          </a:prstGeom>
          <a:noFill/>
          <a:ln/>
        </p:spPr>
        <p:txBody>
          <a:bodyPr wrap="square" lIns="0" tIns="0" rIns="0" bIns="0" rtlCol="0" anchor="ctr"/>
          <a:lstStyle/>
          <a:p>
            <a:pPr indent="0" marL="0">
              <a:buNone/>
            </a:pPr>
            <a:r>
              <a:rPr lang="en-US" sz="2000" dirty="0">
                <a:solidFill>
                  <a:srgbClr val="202124"/>
                </a:solidFill>
                <a:latin typeface="Roboto" pitchFamily="34" charset="0"/>
                <a:ea typeface="Roboto" pitchFamily="34" charset="-122"/>
                <a:cs typeface="Roboto" pitchFamily="34" charset="-120"/>
              </a:rPr>
              <a:t>Què era l'agogé?</a:t>
            </a:r>
            <a:endParaRPr lang="en-US" sz="2000" dirty="0"/>
          </a:p>
        </p:txBody>
      </p:sp>
      <p:sp>
        <p:nvSpPr>
          <p:cNvPr id="26" name="Pregunta 3"/>
          <p:cNvSpPr/>
          <p:nvPr/>
        </p:nvSpPr>
        <p:spPr>
          <a:xfrm>
            <a:off x="548640" y="4800600"/>
            <a:ext cx="11094415" cy="960120"/>
          </a:xfrm>
          <a:prstGeom prst="roundRect">
            <a:avLst>
              <a:gd name="adj" fmla="val 10476"/>
            </a:avLst>
          </a:prstGeom>
          <a:solidFill>
            <a:srgbClr val="FFFFFF"/>
          </a:solidFill>
          <a:ln w="12700">
            <a:solidFill>
              <a:srgbClr val="DADCE0"/>
            </a:solidFill>
            <a:prstDash val="solid"/>
          </a:ln>
        </p:spPr>
      </p:sp>
      <p:sp>
        <p:nvSpPr>
          <p:cNvPr id="27" name="Número 3"/>
          <p:cNvSpPr/>
          <p:nvPr/>
        </p:nvSpPr>
        <p:spPr>
          <a:xfrm>
            <a:off x="822960" y="5052060"/>
            <a:ext cx="457200" cy="457200"/>
          </a:xfrm>
          <a:prstGeom prst="ellipse">
            <a:avLst/>
          </a:prstGeom>
          <a:solidFill>
            <a:srgbClr val="188038"/>
          </a:solidFill>
          <a:ln/>
        </p:spPr>
      </p:sp>
      <p:sp>
        <p:nvSpPr>
          <p:cNvPr id="28" name="Text 26"/>
          <p:cNvSpPr txBox="1"/>
          <p:nvPr/>
        </p:nvSpPr>
        <p:spPr>
          <a:xfrm>
            <a:off x="822960" y="50520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3</a:t>
            </a:r>
            <a:endParaRPr lang="en-US" sz="1700" dirty="0"/>
          </a:p>
        </p:txBody>
      </p:sp>
      <p:sp>
        <p:nvSpPr>
          <p:cNvPr id="29" name="Text 27"/>
          <p:cNvSpPr txBox="1"/>
          <p:nvPr/>
        </p:nvSpPr>
        <p:spPr>
          <a:xfrm>
            <a:off x="1508760" y="4800600"/>
            <a:ext cx="9905695" cy="960120"/>
          </a:xfrm>
          <a:prstGeom prst="rect">
            <a:avLst/>
          </a:prstGeom>
          <a:noFill/>
          <a:ln/>
        </p:spPr>
        <p:txBody>
          <a:bodyPr wrap="square" lIns="0" tIns="0" rIns="0" bIns="0" rtlCol="0" anchor="ctr"/>
          <a:lstStyle/>
          <a:p>
            <a:pPr indent="0" marL="0">
              <a:buNone/>
            </a:pPr>
            <a:r>
              <a:rPr lang="en-US" sz="2000" dirty="0">
                <a:solidFill>
                  <a:srgbClr val="202124"/>
                </a:solidFill>
                <a:latin typeface="Roboto" pitchFamily="34" charset="0"/>
                <a:ea typeface="Roboto" pitchFamily="34" charset="-122"/>
                <a:cs typeface="Roboto" pitchFamily="34" charset="-120"/>
              </a:rPr>
              <a:t>Per què Esparta estava tan obsessionada amb l'exèrcit?</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Capçalera"/>
          <p:cNvSpPr/>
          <p:nvPr/>
        </p:nvSpPr>
        <p:spPr>
          <a:xfrm>
            <a:off x="548640" y="548640"/>
            <a:ext cx="6720840" cy="3657600"/>
          </a:xfrm>
          <a:prstGeom prst="roundRect">
            <a:avLst>
              <a:gd name="adj" fmla="val 2750"/>
            </a:avLst>
          </a:prstGeom>
          <a:solidFill>
            <a:srgbClr val="188038"/>
          </a:solidFill>
          <a:ln/>
        </p:spPr>
      </p:sp>
      <p:pic>
        <p:nvPicPr>
          <p:cNvPr id="3" name="Il·lustració d'un temple grec i el sol" descr="/home/claude/work/build/hero-crop.png">    </p:cNvPr>
          <p:cNvPicPr>
            <a:picLocks noChangeAspect="1"/>
          </p:cNvPicPr>
          <p:nvPr/>
        </p:nvPicPr>
        <p:blipFill>
          <a:blip r:embed="rId1"/>
          <a:stretch>
            <a:fillRect/>
          </a:stretch>
        </p:blipFill>
        <p:spPr>
          <a:xfrm>
            <a:off x="3520440" y="2395912"/>
            <a:ext cx="3566160" cy="1792040"/>
          </a:xfrm>
          <a:prstGeom prst="rect">
            <a:avLst/>
          </a:prstGeom>
        </p:spPr>
      </p:pic>
      <p:sp>
        <p:nvSpPr>
          <p:cNvPr id="4" name="Etiqueta Apartat 4"/>
          <p:cNvSpPr/>
          <p:nvPr/>
        </p:nvSpPr>
        <p:spPr>
          <a:xfrm>
            <a:off x="960120" y="896112"/>
            <a:ext cx="1035101" cy="310896"/>
          </a:xfrm>
          <a:prstGeom prst="roundRect">
            <a:avLst>
              <a:gd name="adj" fmla="val 50000"/>
            </a:avLst>
          </a:prstGeom>
          <a:solidFill>
            <a:srgbClr val="FFFFFF">
              <a:alpha val="18000"/>
            </a:srgbClr>
          </a:solidFill>
          <a:ln/>
        </p:spPr>
      </p:sp>
      <p:sp>
        <p:nvSpPr>
          <p:cNvPr id="5" name="Text 2"/>
          <p:cNvSpPr txBox="1"/>
          <p:nvPr/>
        </p:nvSpPr>
        <p:spPr>
          <a:xfrm>
            <a:off x="960120" y="896112"/>
            <a:ext cx="1035101" cy="310896"/>
          </a:xfrm>
          <a:prstGeom prst="rect">
            <a:avLst/>
          </a:prstGeom>
          <a:noFill/>
          <a:ln/>
        </p:spPr>
        <p:txBody>
          <a:bodyPr wrap="square" lIns="0" tIns="0" rIns="0" bIns="0" rtlCol="0" anchor="ctr"/>
          <a:lstStyle/>
          <a:p>
            <a:pPr algn="ctr" indent="0" marL="0">
              <a:buNone/>
            </a:pPr>
            <a:r>
              <a:rPr lang="en-US" sz="1250" dirty="0">
                <a:solidFill>
                  <a:srgbClr val="FFFFFF"/>
                </a:solidFill>
                <a:latin typeface="Roboto" pitchFamily="34" charset="0"/>
                <a:ea typeface="Roboto" pitchFamily="34" charset="-122"/>
                <a:cs typeface="Roboto" pitchFamily="34" charset="-120"/>
              </a:rPr>
              <a:t>Apartat 4</a:t>
            </a:r>
            <a:endParaRPr lang="en-US" sz="1250" dirty="0"/>
          </a:p>
        </p:txBody>
      </p:sp>
      <p:sp>
        <p:nvSpPr>
          <p:cNvPr id="6" name="Text 3"/>
          <p:cNvSpPr txBox="1"/>
          <p:nvPr/>
        </p:nvSpPr>
        <p:spPr>
          <a:xfrm>
            <a:off x="960120" y="1371600"/>
            <a:ext cx="5760720" cy="1280160"/>
          </a:xfrm>
          <a:prstGeom prst="rect">
            <a:avLst/>
          </a:prstGeom>
          <a:noFill/>
          <a:ln/>
        </p:spPr>
        <p:txBody>
          <a:bodyPr wrap="square" lIns="0" tIns="0" rIns="0" bIns="0" rtlCol="0" anchor="t"/>
          <a:lstStyle/>
          <a:p>
            <a:pPr indent="0" marL="0">
              <a:lnSpc>
                <a:spcPct val="95000"/>
              </a:lnSpc>
              <a:buNone/>
            </a:pPr>
            <a:r>
              <a:rPr lang="en-US" sz="3400" b="1" dirty="0">
                <a:solidFill>
                  <a:srgbClr val="FFFFFF"/>
                </a:solidFill>
                <a:latin typeface="Roboto" pitchFamily="34" charset="0"/>
                <a:ea typeface="Roboto" pitchFamily="34" charset="-122"/>
                <a:cs typeface="Roboto" pitchFamily="34" charset="-120"/>
              </a:rPr>
              <a:t>Les guerres mèdiques i el segle de Pèricles</a:t>
            </a:r>
            <a:endParaRPr lang="en-US" sz="3400" dirty="0"/>
          </a:p>
        </p:txBody>
      </p:sp>
      <p:sp>
        <p:nvSpPr>
          <p:cNvPr id="7" name="Pregunta guia"/>
          <p:cNvSpPr/>
          <p:nvPr/>
        </p:nvSpPr>
        <p:spPr>
          <a:xfrm>
            <a:off x="548640" y="4389120"/>
            <a:ext cx="6720840" cy="1645920"/>
          </a:xfrm>
          <a:prstGeom prst="roundRect">
            <a:avLst>
              <a:gd name="adj" fmla="val 6111"/>
            </a:avLst>
          </a:prstGeom>
          <a:solidFill>
            <a:srgbClr val="F6F8FB"/>
          </a:solidFill>
          <a:ln/>
        </p:spPr>
      </p:sp>
      <p:sp>
        <p:nvSpPr>
          <p:cNvPr id="8" name="Text 5"/>
          <p:cNvSpPr txBox="1"/>
          <p:nvPr/>
        </p:nvSpPr>
        <p:spPr>
          <a:xfrm>
            <a:off x="914400" y="4590288"/>
            <a:ext cx="4572000" cy="320040"/>
          </a:xfrm>
          <a:prstGeom prst="rect">
            <a:avLst/>
          </a:prstGeom>
          <a:noFill/>
          <a:ln/>
        </p:spPr>
        <p:txBody>
          <a:bodyPr wrap="square" lIns="0" tIns="0" rIns="0" bIns="0" rtlCol="0" anchor="t"/>
          <a:lstStyle/>
          <a:p>
            <a:pPr indent="0" marL="0">
              <a:buNone/>
            </a:pPr>
            <a:r>
              <a:rPr lang="en-US" sz="1300" b="1" dirty="0">
                <a:solidFill>
                  <a:srgbClr val="188038"/>
                </a:solidFill>
                <a:latin typeface="Roboto" pitchFamily="34" charset="0"/>
                <a:ea typeface="Roboto" pitchFamily="34" charset="-122"/>
                <a:cs typeface="Roboto" pitchFamily="34" charset="-120"/>
              </a:rPr>
              <a:t>Pregunta guia</a:t>
            </a:r>
            <a:endParaRPr lang="en-US" sz="1300" dirty="0"/>
          </a:p>
        </p:txBody>
      </p:sp>
      <p:sp>
        <p:nvSpPr>
          <p:cNvPr id="9" name="Text 6"/>
          <p:cNvSpPr txBox="1"/>
          <p:nvPr/>
        </p:nvSpPr>
        <p:spPr>
          <a:xfrm>
            <a:off x="914400" y="4937760"/>
            <a:ext cx="6035040" cy="914400"/>
          </a:xfrm>
          <a:prstGeom prst="rect">
            <a:avLst/>
          </a:prstGeom>
          <a:noFill/>
          <a:ln/>
        </p:spPr>
        <p:txBody>
          <a:bodyPr wrap="square" lIns="0" tIns="0" rIns="0" bIns="0" rtlCol="0" anchor="t"/>
          <a:lstStyle/>
          <a:p>
            <a:pPr indent="0" marL="0">
              <a:buNone/>
            </a:pPr>
            <a:r>
              <a:rPr lang="en-US" sz="1900" dirty="0">
                <a:solidFill>
                  <a:srgbClr val="5F6368"/>
                </a:solidFill>
                <a:latin typeface="Roboto" pitchFamily="34" charset="0"/>
                <a:ea typeface="Roboto" pitchFamily="34" charset="-122"/>
                <a:cs typeface="Roboto" pitchFamily="34" charset="-120"/>
              </a:rPr>
              <a:t>Com van poder unes ciutats petites aturar l'imperi més gran del món?</a:t>
            </a:r>
            <a:endParaRPr lang="en-US" sz="1900" dirty="0"/>
          </a:p>
        </p:txBody>
      </p:sp>
      <p:sp>
        <p:nvSpPr>
          <p:cNvPr id="10" name="Fons Les guerres mèdiques i el segle de Pèricles"/>
          <p:cNvSpPr/>
          <p:nvPr/>
        </p:nvSpPr>
        <p:spPr>
          <a:xfrm>
            <a:off x="7635240" y="608076"/>
            <a:ext cx="4007815" cy="4572000"/>
          </a:xfrm>
          <a:prstGeom prst="roundRect">
            <a:avLst>
              <a:gd name="adj" fmla="val 2510"/>
            </a:avLst>
          </a:prstGeom>
          <a:solidFill>
            <a:srgbClr val="F6F8FB"/>
          </a:solidFill>
          <a:ln/>
        </p:spPr>
      </p:sp>
      <p:pic>
        <p:nvPicPr>
          <p:cNvPr id="11" name="Les guerres mèdiques i el segle de Pèricles" descr="/home/claude/work/build/img/pericles.jpg">    </p:cNvPr>
          <p:cNvPicPr>
            <a:picLocks noChangeAspect="1"/>
          </p:cNvPicPr>
          <p:nvPr/>
        </p:nvPicPr>
        <p:blipFill>
          <a:blip r:embed="rId2"/>
          <a:stretch>
            <a:fillRect/>
          </a:stretch>
        </p:blipFill>
        <p:spPr>
          <a:xfrm>
            <a:off x="8500720" y="608076"/>
            <a:ext cx="2276856" cy="4572000"/>
          </a:xfrm>
          <a:prstGeom prst="rect">
            <a:avLst/>
          </a:prstGeom>
        </p:spPr>
      </p:pic>
      <p:sp>
        <p:nvSpPr>
          <p:cNvPr id="12" name="Text 8"/>
          <p:cNvSpPr txBox="1"/>
          <p:nvPr/>
        </p:nvSpPr>
        <p:spPr>
          <a:xfrm>
            <a:off x="7635240" y="5289804"/>
            <a:ext cx="4007815"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Bust de Pèricles amb el casc d'estrateg. Còpia romana d'un original grec de cap al 430 aC. Museus Vaticans. Foto: Jastrow, Wikimedia Commons, domini públic.</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4</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Les guerres mèdiques. David contra Goliat</a:t>
            </a:r>
            <a:endParaRPr lang="en-US" sz="2800" dirty="0"/>
          </a:p>
        </p:txBody>
      </p:sp>
      <p:sp>
        <p:nvSpPr>
          <p:cNvPr id="5" name="Fons Les guerres mèdiques"/>
          <p:cNvSpPr/>
          <p:nvPr/>
        </p:nvSpPr>
        <p:spPr>
          <a:xfrm>
            <a:off x="548640" y="1371600"/>
            <a:ext cx="6217920" cy="4343400"/>
          </a:xfrm>
          <a:prstGeom prst="roundRect">
            <a:avLst>
              <a:gd name="adj" fmla="val 2316"/>
            </a:avLst>
          </a:prstGeom>
          <a:solidFill>
            <a:srgbClr val="F6F8FB"/>
          </a:solidFill>
          <a:ln/>
        </p:spPr>
      </p:sp>
      <p:pic>
        <p:nvPicPr>
          <p:cNvPr id="6" name="Les guerres mèdiques" descr="/home/claude/work/build/img/mediques.jpg">    </p:cNvPr>
          <p:cNvPicPr>
            <a:picLocks noChangeAspect="1"/>
          </p:cNvPicPr>
          <p:nvPr/>
        </p:nvPicPr>
        <p:blipFill>
          <a:blip r:embed="rId1"/>
          <a:stretch>
            <a:fillRect/>
          </a:stretch>
        </p:blipFill>
        <p:spPr>
          <a:xfrm>
            <a:off x="730148" y="1371600"/>
            <a:ext cx="5854903" cy="4343400"/>
          </a:xfrm>
          <a:prstGeom prst="rect">
            <a:avLst/>
          </a:prstGeom>
        </p:spPr>
      </p:pic>
      <p:sp>
        <p:nvSpPr>
          <p:cNvPr id="7" name="Text 4"/>
          <p:cNvSpPr txBox="1"/>
          <p:nvPr/>
        </p:nvSpPr>
        <p:spPr>
          <a:xfrm>
            <a:off x="548640" y="5806440"/>
            <a:ext cx="6217920"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Les guerres mèdiques. Les rutes dels atacs perses són aproximades. Mapa: professordesocials.cat, CC BY-SA 4.0. Base cartogràfica: Natural Earth (domini públic).</a:t>
            </a:r>
            <a:endParaRPr lang="en-US" sz="1000" dirty="0"/>
          </a:p>
        </p:txBody>
      </p:sp>
      <p:sp>
        <p:nvSpPr>
          <p:cNvPr id="8" name="Text 5"/>
          <p:cNvSpPr txBox="1"/>
          <p:nvPr/>
        </p:nvSpPr>
        <p:spPr>
          <a:xfrm>
            <a:off x="6995160" y="1371600"/>
            <a:ext cx="4647895" cy="1188720"/>
          </a:xfrm>
          <a:prstGeom prst="rect">
            <a:avLst/>
          </a:prstGeom>
          <a:noFill/>
          <a:ln/>
        </p:spPr>
        <p:txBody>
          <a:bodyPr wrap="square" lIns="0" tIns="0" rIns="0" bIns="0" rtlCol="0" anchor="t"/>
          <a:lstStyle/>
          <a:p>
            <a:pPr indent="0" marL="0">
              <a:buNone/>
            </a:pPr>
            <a:r>
              <a:rPr lang="en-US" sz="1600" dirty="0">
                <a:solidFill>
                  <a:srgbClr val="202124"/>
                </a:solidFill>
                <a:latin typeface="Roboto" pitchFamily="34" charset="0"/>
                <a:ea typeface="Roboto" pitchFamily="34" charset="-122"/>
                <a:cs typeface="Roboto" pitchFamily="34" charset="-120"/>
              </a:rPr>
              <a:t>A principis del segle V aC, l'Imperi persa, el més gran del món, va intentar conquerir Grècia. Les polis, unides per primera vegada, el van aturar.</a:t>
            </a:r>
            <a:endParaRPr lang="en-US" sz="1600" dirty="0"/>
          </a:p>
        </p:txBody>
      </p:sp>
      <p:sp>
        <p:nvSpPr>
          <p:cNvPr id="9" name="Línia del temps"/>
          <p:cNvSpPr/>
          <p:nvPr/>
        </p:nvSpPr>
        <p:spPr>
          <a:xfrm>
            <a:off x="7095744" y="2834640"/>
            <a:ext cx="0" cy="1792224"/>
          </a:xfrm>
          <a:prstGeom prst="line">
            <a:avLst/>
          </a:prstGeom>
          <a:noFill/>
          <a:ln w="31750">
            <a:solidFill>
              <a:srgbClr val="DADCE0"/>
            </a:solidFill>
            <a:prstDash val="solid"/>
          </a:ln>
        </p:spPr>
      </p:sp>
      <p:sp>
        <p:nvSpPr>
          <p:cNvPr id="10" name="Fita 490 aC"/>
          <p:cNvSpPr/>
          <p:nvPr/>
        </p:nvSpPr>
        <p:spPr>
          <a:xfrm>
            <a:off x="6995160" y="2734056"/>
            <a:ext cx="201168" cy="201168"/>
          </a:xfrm>
          <a:prstGeom prst="ellipse">
            <a:avLst/>
          </a:prstGeom>
          <a:solidFill>
            <a:srgbClr val="FFFFFF"/>
          </a:solidFill>
          <a:ln w="28575">
            <a:solidFill>
              <a:srgbClr val="188038"/>
            </a:solidFill>
            <a:prstDash val="solid"/>
          </a:ln>
        </p:spPr>
      </p:sp>
      <p:sp>
        <p:nvSpPr>
          <p:cNvPr id="11" name="Text 8"/>
          <p:cNvSpPr txBox="1"/>
          <p:nvPr/>
        </p:nvSpPr>
        <p:spPr>
          <a:xfrm>
            <a:off x="7379208" y="2697480"/>
            <a:ext cx="960120" cy="292608"/>
          </a:xfrm>
          <a:prstGeom prst="rect">
            <a:avLst/>
          </a:prstGeom>
          <a:noFill/>
          <a:ln/>
        </p:spPr>
        <p:txBody>
          <a:bodyPr wrap="square" lIns="0" tIns="0" rIns="0" bIns="0" rtlCol="0" anchor="t"/>
          <a:lstStyle/>
          <a:p>
            <a:pPr indent="0" marL="0">
              <a:buNone/>
            </a:pPr>
            <a:r>
              <a:rPr lang="en-US" sz="1500" b="1" dirty="0">
                <a:solidFill>
                  <a:srgbClr val="188038"/>
                </a:solidFill>
                <a:latin typeface="Roboto" pitchFamily="34" charset="0"/>
                <a:ea typeface="Roboto" pitchFamily="34" charset="-122"/>
                <a:cs typeface="Roboto" pitchFamily="34" charset="-120"/>
              </a:rPr>
              <a:t>490 aC</a:t>
            </a:r>
            <a:endParaRPr lang="en-US" sz="1500" dirty="0"/>
          </a:p>
        </p:txBody>
      </p:sp>
      <p:sp>
        <p:nvSpPr>
          <p:cNvPr id="12" name="Text 9"/>
          <p:cNvSpPr txBox="1"/>
          <p:nvPr/>
        </p:nvSpPr>
        <p:spPr>
          <a:xfrm>
            <a:off x="8339328" y="2697480"/>
            <a:ext cx="3303727" cy="850392"/>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Marató. Els atenesos derroten el primer atac.</a:t>
            </a:r>
            <a:endParaRPr lang="en-US" sz="1500" dirty="0"/>
          </a:p>
        </p:txBody>
      </p:sp>
      <p:sp>
        <p:nvSpPr>
          <p:cNvPr id="13" name="Fita 480 aC"/>
          <p:cNvSpPr/>
          <p:nvPr/>
        </p:nvSpPr>
        <p:spPr>
          <a:xfrm>
            <a:off x="6995160" y="3630168"/>
            <a:ext cx="201168" cy="201168"/>
          </a:xfrm>
          <a:prstGeom prst="ellipse">
            <a:avLst/>
          </a:prstGeom>
          <a:solidFill>
            <a:srgbClr val="FFFFFF"/>
          </a:solidFill>
          <a:ln w="28575">
            <a:solidFill>
              <a:srgbClr val="188038"/>
            </a:solidFill>
            <a:prstDash val="solid"/>
          </a:ln>
        </p:spPr>
      </p:sp>
      <p:sp>
        <p:nvSpPr>
          <p:cNvPr id="14" name="Text 11"/>
          <p:cNvSpPr txBox="1"/>
          <p:nvPr/>
        </p:nvSpPr>
        <p:spPr>
          <a:xfrm>
            <a:off x="7379208" y="3593592"/>
            <a:ext cx="960120" cy="292608"/>
          </a:xfrm>
          <a:prstGeom prst="rect">
            <a:avLst/>
          </a:prstGeom>
          <a:noFill/>
          <a:ln/>
        </p:spPr>
        <p:txBody>
          <a:bodyPr wrap="square" lIns="0" tIns="0" rIns="0" bIns="0" rtlCol="0" anchor="t"/>
          <a:lstStyle/>
          <a:p>
            <a:pPr indent="0" marL="0">
              <a:buNone/>
            </a:pPr>
            <a:r>
              <a:rPr lang="en-US" sz="1500" b="1" dirty="0">
                <a:solidFill>
                  <a:srgbClr val="188038"/>
                </a:solidFill>
                <a:latin typeface="Roboto" pitchFamily="34" charset="0"/>
                <a:ea typeface="Roboto" pitchFamily="34" charset="-122"/>
                <a:cs typeface="Roboto" pitchFamily="34" charset="-120"/>
              </a:rPr>
              <a:t>480 aC</a:t>
            </a:r>
            <a:endParaRPr lang="en-US" sz="1500" dirty="0"/>
          </a:p>
        </p:txBody>
      </p:sp>
      <p:sp>
        <p:nvSpPr>
          <p:cNvPr id="15" name="Text 12"/>
          <p:cNvSpPr txBox="1"/>
          <p:nvPr/>
        </p:nvSpPr>
        <p:spPr>
          <a:xfrm>
            <a:off x="8339328" y="3593592"/>
            <a:ext cx="3303727" cy="850392"/>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Termòpiles. Leònides i els seus 300 hoplites resisteixen, però Xerxes arrasa Grècia central.</a:t>
            </a:r>
            <a:endParaRPr lang="en-US" sz="1500" dirty="0"/>
          </a:p>
        </p:txBody>
      </p:sp>
      <p:sp>
        <p:nvSpPr>
          <p:cNvPr id="16" name="Fita 480 aC"/>
          <p:cNvSpPr/>
          <p:nvPr/>
        </p:nvSpPr>
        <p:spPr>
          <a:xfrm>
            <a:off x="6995160" y="4526280"/>
            <a:ext cx="201168" cy="201168"/>
          </a:xfrm>
          <a:prstGeom prst="ellipse">
            <a:avLst/>
          </a:prstGeom>
          <a:solidFill>
            <a:srgbClr val="188038"/>
          </a:solidFill>
          <a:ln w="28575">
            <a:solidFill>
              <a:srgbClr val="188038"/>
            </a:solidFill>
            <a:prstDash val="solid"/>
          </a:ln>
        </p:spPr>
      </p:sp>
      <p:sp>
        <p:nvSpPr>
          <p:cNvPr id="17" name="Text 14"/>
          <p:cNvSpPr txBox="1"/>
          <p:nvPr/>
        </p:nvSpPr>
        <p:spPr>
          <a:xfrm>
            <a:off x="7379208" y="4489704"/>
            <a:ext cx="960120" cy="292608"/>
          </a:xfrm>
          <a:prstGeom prst="rect">
            <a:avLst/>
          </a:prstGeom>
          <a:noFill/>
          <a:ln/>
        </p:spPr>
        <p:txBody>
          <a:bodyPr wrap="square" lIns="0" tIns="0" rIns="0" bIns="0" rtlCol="0" anchor="t"/>
          <a:lstStyle/>
          <a:p>
            <a:pPr indent="0" marL="0">
              <a:buNone/>
            </a:pPr>
            <a:r>
              <a:rPr lang="en-US" sz="1500" b="1" dirty="0">
                <a:solidFill>
                  <a:srgbClr val="188038"/>
                </a:solidFill>
                <a:latin typeface="Roboto" pitchFamily="34" charset="0"/>
                <a:ea typeface="Roboto" pitchFamily="34" charset="-122"/>
                <a:cs typeface="Roboto" pitchFamily="34" charset="-120"/>
              </a:rPr>
              <a:t>480 aC</a:t>
            </a:r>
            <a:endParaRPr lang="en-US" sz="1500" dirty="0"/>
          </a:p>
        </p:txBody>
      </p:sp>
      <p:sp>
        <p:nvSpPr>
          <p:cNvPr id="18" name="Text 15"/>
          <p:cNvSpPr txBox="1"/>
          <p:nvPr/>
        </p:nvSpPr>
        <p:spPr>
          <a:xfrm>
            <a:off x="8339328" y="4489704"/>
            <a:ext cx="3303727" cy="850392"/>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Salamina. La flota atenesa destrueix la persa i decideix la guerra.</a:t>
            </a:r>
            <a:endParaRPr lang="en-US" sz="1500" dirty="0"/>
          </a:p>
        </p:txBody>
      </p:sp>
      <p:sp>
        <p:nvSpPr>
          <p:cNvPr id="19" name="Per què «mèdiques»?"/>
          <p:cNvSpPr/>
          <p:nvPr/>
        </p:nvSpPr>
        <p:spPr>
          <a:xfrm>
            <a:off x="6995160" y="5212080"/>
            <a:ext cx="4647895" cy="777240"/>
          </a:xfrm>
          <a:prstGeom prst="roundRect">
            <a:avLst>
              <a:gd name="adj" fmla="val 12941"/>
            </a:avLst>
          </a:prstGeom>
          <a:solidFill>
            <a:srgbClr val="F6F8FB"/>
          </a:solidFill>
          <a:ln/>
        </p:spPr>
      </p:sp>
      <p:sp>
        <p:nvSpPr>
          <p:cNvPr id="20" name="Text 17"/>
          <p:cNvSpPr txBox="1"/>
          <p:nvPr/>
        </p:nvSpPr>
        <p:spPr>
          <a:xfrm>
            <a:off x="7315200" y="5367528"/>
            <a:ext cx="4007815"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Per què «mèdiques»?</a:t>
            </a:r>
            <a:endParaRPr lang="en-US" sz="1400" dirty="0"/>
          </a:p>
        </p:txBody>
      </p:sp>
      <p:sp>
        <p:nvSpPr>
          <p:cNvPr id="21" name="Text 18"/>
          <p:cNvSpPr txBox="1"/>
          <p:nvPr/>
        </p:nvSpPr>
        <p:spPr>
          <a:xfrm>
            <a:off x="7315200" y="5715000"/>
            <a:ext cx="4007815" cy="137160"/>
          </a:xfrm>
          <a:prstGeom prst="rect">
            <a:avLst/>
          </a:prstGeom>
          <a:noFill/>
          <a:ln/>
        </p:spPr>
        <p:txBody>
          <a:bodyPr wrap="square" lIns="0" tIns="0" rIns="0" bIns="0" rtlCol="0" anchor="t"/>
          <a:lstStyle/>
          <a:p>
            <a:pPr indent="0" marL="0">
              <a:buNone/>
            </a:pPr>
            <a:r>
              <a:rPr lang="en-US" sz="1500" dirty="0">
                <a:solidFill>
                  <a:srgbClr val="5F6368"/>
                </a:solidFill>
                <a:latin typeface="Roboto" pitchFamily="34" charset="0"/>
                <a:ea typeface="Roboto" pitchFamily="34" charset="-122"/>
                <a:cs typeface="Roboto" pitchFamily="34" charset="-120"/>
              </a:rPr>
              <a:t>Els grecs anomenaven «medes» els perses.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4</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Perses contra grecs</a:t>
            </a:r>
            <a:endParaRPr lang="en-US" sz="2800" dirty="0"/>
          </a:p>
        </p:txBody>
      </p:sp>
      <p:sp>
        <p:nvSpPr>
          <p:cNvPr id="5" name="Fons Un soldat de la guàrdia del rei persa"/>
          <p:cNvSpPr/>
          <p:nvPr/>
        </p:nvSpPr>
        <p:spPr>
          <a:xfrm>
            <a:off x="548640" y="1371600"/>
            <a:ext cx="3515258" cy="2331720"/>
          </a:xfrm>
          <a:prstGeom prst="roundRect">
            <a:avLst>
              <a:gd name="adj" fmla="val 4314"/>
            </a:avLst>
          </a:prstGeom>
          <a:solidFill>
            <a:srgbClr val="F6F8FB"/>
          </a:solidFill>
          <a:ln/>
        </p:spPr>
      </p:sp>
      <p:pic>
        <p:nvPicPr>
          <p:cNvPr id="6" name="Un soldat de la guàrdia del rei persa" descr="/home/claude/work/build/img/immortal.jpg">    </p:cNvPr>
          <p:cNvPicPr>
            <a:picLocks noChangeAspect="1"/>
          </p:cNvPicPr>
          <p:nvPr/>
        </p:nvPicPr>
        <p:blipFill>
          <a:blip r:embed="rId1"/>
          <a:stretch>
            <a:fillRect/>
          </a:stretch>
        </p:blipFill>
        <p:spPr>
          <a:xfrm>
            <a:off x="752178" y="1371600"/>
            <a:ext cx="3108183" cy="2331720"/>
          </a:xfrm>
          <a:prstGeom prst="rect">
            <a:avLst/>
          </a:prstGeom>
        </p:spPr>
      </p:pic>
      <p:sp>
        <p:nvSpPr>
          <p:cNvPr id="7" name="Text 4"/>
          <p:cNvSpPr txBox="1"/>
          <p:nvPr/>
        </p:nvSpPr>
        <p:spPr>
          <a:xfrm>
            <a:off x="548640" y="3794760"/>
            <a:ext cx="3515258"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Un soldat de la guàrdia del rei persa. Rajoles del palau de Susa (Iran). Museu del Louvre. Foto: dynamosquito, Wikimedia Commons, CC BY-SA 2.0.</a:t>
            </a:r>
            <a:endParaRPr lang="en-US" sz="1000" dirty="0"/>
          </a:p>
        </p:txBody>
      </p:sp>
      <p:sp>
        <p:nvSpPr>
          <p:cNvPr id="8" name="Text 5"/>
          <p:cNvSpPr txBox="1"/>
          <p:nvPr/>
        </p:nvSpPr>
        <p:spPr>
          <a:xfrm>
            <a:off x="548640" y="4343400"/>
            <a:ext cx="3515258" cy="365760"/>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L'Imperi persa</a:t>
            </a:r>
            <a:endParaRPr lang="en-US" sz="1900" dirty="0"/>
          </a:p>
        </p:txBody>
      </p:sp>
      <p:sp>
        <p:nvSpPr>
          <p:cNvPr id="9" name="Text 6"/>
          <p:cNvSpPr txBox="1"/>
          <p:nvPr/>
        </p:nvSpPr>
        <p:spPr>
          <a:xfrm>
            <a:off x="548640" y="4736592"/>
            <a:ext cx="3515258" cy="123444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L'imperi més gran del món. El rei Xerxes va dirigir el segon atac.</a:t>
            </a:r>
            <a:endParaRPr lang="en-US" sz="1550" dirty="0"/>
          </a:p>
        </p:txBody>
      </p:sp>
      <p:sp>
        <p:nvSpPr>
          <p:cNvPr id="10" name="Fons El túmul de Marató, on es van enterrar els atenesos morts a la batalla"/>
          <p:cNvSpPr/>
          <p:nvPr/>
        </p:nvSpPr>
        <p:spPr>
          <a:xfrm>
            <a:off x="4338218" y="1371600"/>
            <a:ext cx="3515258" cy="2331720"/>
          </a:xfrm>
          <a:prstGeom prst="roundRect">
            <a:avLst>
              <a:gd name="adj" fmla="val 4314"/>
            </a:avLst>
          </a:prstGeom>
          <a:solidFill>
            <a:srgbClr val="F6F8FB"/>
          </a:solidFill>
          <a:ln/>
        </p:spPr>
      </p:sp>
      <p:pic>
        <p:nvPicPr>
          <p:cNvPr id="11" name="El túmul de Marató, on es van enterrar els atenesos morts a la batalla" descr="/home/claude/work/build/img/marato.jpg">    </p:cNvPr>
          <p:cNvPicPr>
            <a:picLocks noChangeAspect="1"/>
          </p:cNvPicPr>
          <p:nvPr/>
        </p:nvPicPr>
        <p:blipFill>
          <a:blip r:embed="rId2"/>
          <a:stretch>
            <a:fillRect/>
          </a:stretch>
        </p:blipFill>
        <p:spPr>
          <a:xfrm>
            <a:off x="4345892" y="1371600"/>
            <a:ext cx="3499912" cy="2331720"/>
          </a:xfrm>
          <a:prstGeom prst="rect">
            <a:avLst/>
          </a:prstGeom>
        </p:spPr>
      </p:pic>
      <p:sp>
        <p:nvSpPr>
          <p:cNvPr id="12" name="Text 8"/>
          <p:cNvSpPr txBox="1"/>
          <p:nvPr/>
        </p:nvSpPr>
        <p:spPr>
          <a:xfrm>
            <a:off x="4338218" y="3794760"/>
            <a:ext cx="3515258"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El túmul de Marató, on es van enterrar els atenesos morts a la batalla. Foto: George E. Koronaios, Wikimedia Commons, CC0.</a:t>
            </a:r>
            <a:endParaRPr lang="en-US" sz="1000" dirty="0"/>
          </a:p>
        </p:txBody>
      </p:sp>
      <p:sp>
        <p:nvSpPr>
          <p:cNvPr id="13" name="Text 9"/>
          <p:cNvSpPr txBox="1"/>
          <p:nvPr/>
        </p:nvSpPr>
        <p:spPr>
          <a:xfrm>
            <a:off x="4338218" y="4343400"/>
            <a:ext cx="3515258" cy="365760"/>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Marató, 490 aC</a:t>
            </a:r>
            <a:endParaRPr lang="en-US" sz="1900" dirty="0"/>
          </a:p>
        </p:txBody>
      </p:sp>
      <p:sp>
        <p:nvSpPr>
          <p:cNvPr id="14" name="Text 10"/>
          <p:cNvSpPr txBox="1"/>
          <p:nvPr/>
        </p:nvSpPr>
        <p:spPr>
          <a:xfrm>
            <a:off x="4338218" y="4736592"/>
            <a:ext cx="3515258" cy="123444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Els atenesos guanyen. Segons la llegenda, un missatger va córrer uns 40 km fins a Atenes per donar la notícia.</a:t>
            </a:r>
            <a:endParaRPr lang="en-US" sz="1550" dirty="0"/>
          </a:p>
        </p:txBody>
      </p:sp>
      <p:sp>
        <p:nvSpPr>
          <p:cNvPr id="15" name="Fons L'Olympias, rèplica moderna d'un trirrem, el vaixell de guerra atenès"/>
          <p:cNvSpPr/>
          <p:nvPr/>
        </p:nvSpPr>
        <p:spPr>
          <a:xfrm>
            <a:off x="8127797" y="1371600"/>
            <a:ext cx="3515258" cy="2331720"/>
          </a:xfrm>
          <a:prstGeom prst="roundRect">
            <a:avLst>
              <a:gd name="adj" fmla="val 4314"/>
            </a:avLst>
          </a:prstGeom>
          <a:solidFill>
            <a:srgbClr val="F6F8FB"/>
          </a:solidFill>
          <a:ln/>
        </p:spPr>
      </p:sp>
      <p:pic>
        <p:nvPicPr>
          <p:cNvPr id="16" name="L'Olympias, rèplica moderna d'un trirrem, el vaixell de guerra atenès" descr="/home/claude/work/build/img/trirrem.jpg">    </p:cNvPr>
          <p:cNvPicPr>
            <a:picLocks noChangeAspect="1"/>
          </p:cNvPicPr>
          <p:nvPr/>
        </p:nvPicPr>
        <p:blipFill>
          <a:blip r:embed="rId3"/>
          <a:stretch>
            <a:fillRect/>
          </a:stretch>
        </p:blipFill>
        <p:spPr>
          <a:xfrm>
            <a:off x="8135470" y="1371600"/>
            <a:ext cx="3499912" cy="2331720"/>
          </a:xfrm>
          <a:prstGeom prst="rect">
            <a:avLst/>
          </a:prstGeom>
        </p:spPr>
      </p:pic>
      <p:sp>
        <p:nvSpPr>
          <p:cNvPr id="17" name="Text 12"/>
          <p:cNvSpPr txBox="1"/>
          <p:nvPr/>
        </p:nvSpPr>
        <p:spPr>
          <a:xfrm>
            <a:off x="8127797" y="3794760"/>
            <a:ext cx="3515258"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L'Olympias, rèplica moderna d'un trirrem, el vaixell de guerra atenès. Foto: George E. Koronaios, Wikimedia Commons, CC BY-SA 4.0.</a:t>
            </a:r>
            <a:endParaRPr lang="en-US" sz="1000" dirty="0"/>
          </a:p>
        </p:txBody>
      </p:sp>
      <p:sp>
        <p:nvSpPr>
          <p:cNvPr id="18" name="Text 13"/>
          <p:cNvSpPr txBox="1"/>
          <p:nvPr/>
        </p:nvSpPr>
        <p:spPr>
          <a:xfrm>
            <a:off x="8127797" y="4343400"/>
            <a:ext cx="3515258" cy="365760"/>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Salamina, 480 aC</a:t>
            </a:r>
            <a:endParaRPr lang="en-US" sz="1900" dirty="0"/>
          </a:p>
        </p:txBody>
      </p:sp>
      <p:sp>
        <p:nvSpPr>
          <p:cNvPr id="19" name="Text 14"/>
          <p:cNvSpPr txBox="1"/>
          <p:nvPr/>
        </p:nvSpPr>
        <p:spPr>
          <a:xfrm>
            <a:off x="8127797" y="4736592"/>
            <a:ext cx="3515258" cy="123444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La flota atenesa destrueix la persa a l'estret de Salamina.</a:t>
            </a:r>
            <a:endParaRPr lang="en-US" sz="15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4</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El primer historiador</a:t>
            </a:r>
            <a:endParaRPr lang="en-US" sz="2800" dirty="0"/>
          </a:p>
        </p:txBody>
      </p:sp>
      <p:sp>
        <p:nvSpPr>
          <p:cNvPr id="5" name="Font directa · Heròdot"/>
          <p:cNvSpPr/>
          <p:nvPr/>
        </p:nvSpPr>
        <p:spPr>
          <a:xfrm>
            <a:off x="548640" y="1371600"/>
            <a:ext cx="8442655" cy="3017520"/>
          </a:xfrm>
          <a:prstGeom prst="roundRect">
            <a:avLst>
              <a:gd name="adj" fmla="val 3333"/>
            </a:avLst>
          </a:prstGeom>
          <a:solidFill>
            <a:srgbClr val="F6F8FB"/>
          </a:solidFill>
          <a:ln/>
        </p:spPr>
      </p:sp>
      <p:sp>
        <p:nvSpPr>
          <p:cNvPr id="6" name="Text 4"/>
          <p:cNvSpPr txBox="1"/>
          <p:nvPr/>
        </p:nvSpPr>
        <p:spPr>
          <a:xfrm>
            <a:off x="914400" y="1554480"/>
            <a:ext cx="7711135"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Font directa · Heròdot, Històries (segle V aC)</a:t>
            </a:r>
            <a:endParaRPr lang="en-US" sz="1400" dirty="0"/>
          </a:p>
        </p:txBody>
      </p:sp>
      <p:sp>
        <p:nvSpPr>
          <p:cNvPr id="7" name="Text 5"/>
          <p:cNvSpPr txBox="1"/>
          <p:nvPr/>
        </p:nvSpPr>
        <p:spPr>
          <a:xfrm>
            <a:off x="914400" y="1965960"/>
            <a:ext cx="7711135" cy="1737360"/>
          </a:xfrm>
          <a:prstGeom prst="rect">
            <a:avLst/>
          </a:prstGeom>
          <a:noFill/>
          <a:ln/>
        </p:spPr>
        <p:txBody>
          <a:bodyPr wrap="square" lIns="0" tIns="0" rIns="0" bIns="0" rtlCol="0" anchor="t"/>
          <a:lstStyle/>
          <a:p>
            <a:pPr indent="0" marL="0">
              <a:buNone/>
            </a:pPr>
            <a:r>
              <a:rPr lang="en-US" sz="1800" i="1" dirty="0">
                <a:solidFill>
                  <a:srgbClr val="202124"/>
                </a:solidFill>
                <a:latin typeface="Roboto" pitchFamily="34" charset="0"/>
                <a:ea typeface="Roboto" pitchFamily="34" charset="-122"/>
                <a:cs typeface="Roboto" pitchFamily="34" charset="-120"/>
              </a:rPr>
              <a:t>«Aquesta és la raó de la investigació d'Heròdot d'Halicarnàs, de manera que el que ha fet l'ésser humà no s'esvaeixi, ni les grans i meravelloses accions mostrades per grecs i bàrbars han de romandre sense la seva glòria, i també per quina causa van guerrejar els uns amb els altres.»</a:t>
            </a:r>
            <a:endParaRPr lang="en-US" sz="1800" dirty="0"/>
          </a:p>
        </p:txBody>
      </p:sp>
      <p:sp>
        <p:nvSpPr>
          <p:cNvPr id="8" name="Text 6"/>
          <p:cNvSpPr txBox="1"/>
          <p:nvPr/>
        </p:nvSpPr>
        <p:spPr>
          <a:xfrm>
            <a:off x="914400" y="3703320"/>
            <a:ext cx="7711135" cy="548640"/>
          </a:xfrm>
          <a:prstGeom prst="rect">
            <a:avLst/>
          </a:prstGeom>
          <a:noFill/>
          <a:ln/>
        </p:spPr>
        <p:txBody>
          <a:bodyPr wrap="square" lIns="0" tIns="0" rIns="0" bIns="0" rtlCol="0" anchor="b"/>
          <a:lstStyle/>
          <a:p>
            <a:pPr indent="0" marL="0">
              <a:buNone/>
            </a:pPr>
            <a:r>
              <a:rPr lang="en-US" sz="1250" dirty="0">
                <a:solidFill>
                  <a:srgbClr val="5F6368"/>
                </a:solidFill>
                <a:latin typeface="Roboto" pitchFamily="34" charset="0"/>
                <a:ea typeface="Roboto" pitchFamily="34" charset="-122"/>
                <a:cs typeface="Roboto" pitchFamily="34" charset="-120"/>
              </a:rPr>
              <a:t>Inici de les Històries, dedicades a les guerres mèdiques. Traducció de la Viquipèdia. En català, l'obra completa és a la col·lecció Bernat Metge.</a:t>
            </a:r>
            <a:endParaRPr lang="en-US" sz="1250" dirty="0"/>
          </a:p>
        </p:txBody>
      </p:sp>
      <p:sp>
        <p:nvSpPr>
          <p:cNvPr id="9" name="Fons Heròdot"/>
          <p:cNvSpPr/>
          <p:nvPr/>
        </p:nvSpPr>
        <p:spPr>
          <a:xfrm>
            <a:off x="9265615" y="1371600"/>
            <a:ext cx="2377440" cy="2514600"/>
          </a:xfrm>
          <a:prstGeom prst="roundRect">
            <a:avLst>
              <a:gd name="adj" fmla="val 4231"/>
            </a:avLst>
          </a:prstGeom>
          <a:solidFill>
            <a:srgbClr val="F6F8FB"/>
          </a:solidFill>
          <a:ln/>
        </p:spPr>
      </p:sp>
      <p:pic>
        <p:nvPicPr>
          <p:cNvPr id="10" name="Heròdot" descr="/home/claude/work/build/img/herodot.jpg">    </p:cNvPr>
          <p:cNvPicPr>
            <a:picLocks noChangeAspect="1"/>
          </p:cNvPicPr>
          <p:nvPr/>
        </p:nvPicPr>
        <p:blipFill>
          <a:blip r:embed="rId1"/>
          <a:stretch>
            <a:fillRect/>
          </a:stretch>
        </p:blipFill>
        <p:spPr>
          <a:xfrm>
            <a:off x="9512618" y="1371600"/>
            <a:ext cx="1883435" cy="2514600"/>
          </a:xfrm>
          <a:prstGeom prst="rect">
            <a:avLst/>
          </a:prstGeom>
        </p:spPr>
      </p:pic>
      <p:sp>
        <p:nvSpPr>
          <p:cNvPr id="11" name="Text 8"/>
          <p:cNvSpPr txBox="1"/>
          <p:nvPr/>
        </p:nvSpPr>
        <p:spPr>
          <a:xfrm>
            <a:off x="9265615" y="3977640"/>
            <a:ext cx="2377440"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Heròdot. Còpia romana. Metropolitan Museum of Art. Foto: The Met, CC0.</a:t>
            </a:r>
            <a:endParaRPr lang="en-US" sz="1000" dirty="0"/>
          </a:p>
        </p:txBody>
      </p:sp>
      <p:sp>
        <p:nvSpPr>
          <p:cNvPr id="12" name="Saps que…?"/>
          <p:cNvSpPr/>
          <p:nvPr/>
        </p:nvSpPr>
        <p:spPr>
          <a:xfrm>
            <a:off x="548640" y="4617720"/>
            <a:ext cx="11094415" cy="1371600"/>
          </a:xfrm>
          <a:prstGeom prst="roundRect">
            <a:avLst>
              <a:gd name="adj" fmla="val 7333"/>
            </a:avLst>
          </a:prstGeom>
          <a:solidFill>
            <a:srgbClr val="E6F4EA"/>
          </a:solidFill>
          <a:ln/>
        </p:spPr>
      </p:sp>
      <p:sp>
        <p:nvSpPr>
          <p:cNvPr id="13" name="Text 10"/>
          <p:cNvSpPr txBox="1"/>
          <p:nvPr/>
        </p:nvSpPr>
        <p:spPr>
          <a:xfrm>
            <a:off x="868680" y="4773168"/>
            <a:ext cx="1045433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Saps que…?</a:t>
            </a:r>
            <a:endParaRPr lang="en-US" sz="1400" dirty="0"/>
          </a:p>
        </p:txBody>
      </p:sp>
      <p:sp>
        <p:nvSpPr>
          <p:cNvPr id="14" name="Text 11"/>
          <p:cNvSpPr txBox="1"/>
          <p:nvPr/>
        </p:nvSpPr>
        <p:spPr>
          <a:xfrm>
            <a:off x="868680" y="5120640"/>
            <a:ext cx="10454335" cy="73152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La marató moderna no fa la distància de la llegenda. A Atenes 1896 va fer uns 40 km. Els 42,195 km actuals són dels Jocs de Londres del 1908, i són oficials des del 1921.</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4</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La lliga de Delos. D'aliança a imperi</a:t>
            </a:r>
            <a:endParaRPr lang="en-US" sz="2800" dirty="0"/>
          </a:p>
        </p:txBody>
      </p:sp>
      <p:sp>
        <p:nvSpPr>
          <p:cNvPr id="5" name="Fons La terrassa dels lleons de Delos, l'illa on es guardava el tresor de la lliga"/>
          <p:cNvSpPr/>
          <p:nvPr/>
        </p:nvSpPr>
        <p:spPr>
          <a:xfrm>
            <a:off x="548640" y="1371600"/>
            <a:ext cx="4937760" cy="2889269"/>
          </a:xfrm>
          <a:prstGeom prst="roundRect">
            <a:avLst>
              <a:gd name="adj" fmla="val 3481"/>
            </a:avLst>
          </a:prstGeom>
          <a:solidFill>
            <a:srgbClr val="F6F8FB"/>
          </a:solidFill>
          <a:ln/>
        </p:spPr>
      </p:sp>
      <p:pic>
        <p:nvPicPr>
          <p:cNvPr id="6" name="La terrassa dels lleons de Delos, l'illa on es guardava el tresor de la lliga" descr="/home/claude/work/build/img/delos.jpg">    </p:cNvPr>
          <p:cNvPicPr>
            <a:picLocks noChangeAspect="1"/>
          </p:cNvPicPr>
          <p:nvPr/>
        </p:nvPicPr>
        <p:blipFill>
          <a:blip r:embed="rId1"/>
          <a:stretch>
            <a:fillRect/>
          </a:stretch>
        </p:blipFill>
        <p:spPr>
          <a:xfrm>
            <a:off x="548640" y="1371600"/>
            <a:ext cx="4937760" cy="2889269"/>
          </a:xfrm>
          <a:prstGeom prst="rect">
            <a:avLst/>
          </a:prstGeom>
        </p:spPr>
      </p:pic>
      <p:sp>
        <p:nvSpPr>
          <p:cNvPr id="7" name="Text 4"/>
          <p:cNvSpPr txBox="1"/>
          <p:nvPr/>
        </p:nvSpPr>
        <p:spPr>
          <a:xfrm>
            <a:off x="548640" y="4352309"/>
            <a:ext cx="4937760"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La terrassa dels lleons de Delos, l'illa on es guardava el tresor de la lliga. Foto: Bernard Gagnon, Wikimedia Commons, CC BY-SA 3.0.</a:t>
            </a:r>
            <a:endParaRPr lang="en-US" sz="1000" dirty="0"/>
          </a:p>
        </p:txBody>
      </p:sp>
      <p:sp>
        <p:nvSpPr>
          <p:cNvPr id="8" name="Cercle icona"/>
          <p:cNvSpPr/>
          <p:nvPr/>
        </p:nvSpPr>
        <p:spPr>
          <a:xfrm>
            <a:off x="5760720" y="1435608"/>
            <a:ext cx="512064" cy="512064"/>
          </a:xfrm>
          <a:prstGeom prst="ellipse">
            <a:avLst/>
          </a:prstGeom>
          <a:solidFill>
            <a:srgbClr val="E6F4EA"/>
          </a:solidFill>
          <a:ln/>
        </p:spPr>
      </p:sp>
      <p:pic>
        <p:nvPicPr>
          <p:cNvPr id="9" name="Icona TbUsersGroup" descr="/home/claude/work/build/img/ic/TbUsersGroup-g.png">    </p:cNvPr>
          <p:cNvPicPr>
            <a:picLocks noChangeAspect="1"/>
          </p:cNvPicPr>
          <p:nvPr/>
        </p:nvPicPr>
        <p:blipFill>
          <a:blip r:embed="rId2"/>
          <a:stretch>
            <a:fillRect/>
          </a:stretch>
        </p:blipFill>
        <p:spPr>
          <a:xfrm>
            <a:off x="5873374" y="1548262"/>
            <a:ext cx="286756" cy="286756"/>
          </a:xfrm>
          <a:prstGeom prst="rect">
            <a:avLst/>
          </a:prstGeom>
        </p:spPr>
      </p:pic>
      <p:sp>
        <p:nvSpPr>
          <p:cNvPr id="10" name="Text 6"/>
          <p:cNvSpPr txBox="1"/>
          <p:nvPr/>
        </p:nvSpPr>
        <p:spPr>
          <a:xfrm>
            <a:off x="6473952" y="1371600"/>
            <a:ext cx="5169103" cy="749808"/>
          </a:xfrm>
          <a:prstGeom prst="rect">
            <a:avLst/>
          </a:prstGeom>
          <a:noFill/>
          <a:ln/>
        </p:spPr>
        <p:txBody>
          <a:bodyPr wrap="square" lIns="0" tIns="0" rIns="0" bIns="0" rtlCol="0" anchor="ctr"/>
          <a:lstStyle/>
          <a:p>
            <a:pPr indent="0" marL="0">
              <a:buNone/>
            </a:pPr>
            <a:r>
              <a:rPr lang="en-US" sz="1550" b="1" dirty="0">
                <a:solidFill>
                  <a:srgbClr val="202124"/>
                </a:solidFill>
                <a:latin typeface="Roboto" pitchFamily="34" charset="0"/>
                <a:ea typeface="Roboto" pitchFamily="34" charset="-122"/>
                <a:cs typeface="Roboto" pitchFamily="34" charset="-120"/>
              </a:rPr>
              <a:t>Una aliança. </a:t>
            </a:r>
            <a:pPr indent="0" marL="0">
              <a:buNone/>
            </a:pPr>
            <a:r>
              <a:rPr lang="en-US" sz="1550" dirty="0">
                <a:solidFill>
                  <a:srgbClr val="202124"/>
                </a:solidFill>
                <a:latin typeface="Roboto" pitchFamily="34" charset="0"/>
                <a:ea typeface="Roboto" pitchFamily="34" charset="-122"/>
                <a:cs typeface="Roboto" pitchFamily="34" charset="-120"/>
              </a:rPr>
              <a:t>Cap al 478 aC, Atenes i moltes polis de l'Egeu s'uneixen contra els perses.</a:t>
            </a:r>
            <a:endParaRPr lang="en-US" sz="1550" dirty="0"/>
          </a:p>
        </p:txBody>
      </p:sp>
      <p:sp>
        <p:nvSpPr>
          <p:cNvPr id="11" name="Cercle icona"/>
          <p:cNvSpPr/>
          <p:nvPr/>
        </p:nvSpPr>
        <p:spPr>
          <a:xfrm>
            <a:off x="5760720" y="2276856"/>
            <a:ext cx="512064" cy="512064"/>
          </a:xfrm>
          <a:prstGeom prst="ellipse">
            <a:avLst/>
          </a:prstGeom>
          <a:solidFill>
            <a:srgbClr val="E6F4EA"/>
          </a:solidFill>
          <a:ln/>
        </p:spPr>
      </p:sp>
      <p:pic>
        <p:nvPicPr>
          <p:cNvPr id="12" name="Icona TbCoins" descr="/home/claude/work/build/img/ic/TbCoins-g.png">    </p:cNvPr>
          <p:cNvPicPr>
            <a:picLocks noChangeAspect="1"/>
          </p:cNvPicPr>
          <p:nvPr/>
        </p:nvPicPr>
        <p:blipFill>
          <a:blip r:embed="rId3"/>
          <a:stretch>
            <a:fillRect/>
          </a:stretch>
        </p:blipFill>
        <p:spPr>
          <a:xfrm>
            <a:off x="5873374" y="2389510"/>
            <a:ext cx="286756" cy="286756"/>
          </a:xfrm>
          <a:prstGeom prst="rect">
            <a:avLst/>
          </a:prstGeom>
        </p:spPr>
      </p:pic>
      <p:sp>
        <p:nvSpPr>
          <p:cNvPr id="13" name="Text 8"/>
          <p:cNvSpPr txBox="1"/>
          <p:nvPr/>
        </p:nvSpPr>
        <p:spPr>
          <a:xfrm>
            <a:off x="6473952" y="2212848"/>
            <a:ext cx="5169103" cy="749808"/>
          </a:xfrm>
          <a:prstGeom prst="rect">
            <a:avLst/>
          </a:prstGeom>
          <a:noFill/>
          <a:ln/>
        </p:spPr>
        <p:txBody>
          <a:bodyPr wrap="square" lIns="0" tIns="0" rIns="0" bIns="0" rtlCol="0" anchor="ctr"/>
          <a:lstStyle/>
          <a:p>
            <a:pPr indent="0" marL="0">
              <a:buNone/>
            </a:pPr>
            <a:r>
              <a:rPr lang="en-US" sz="1550" b="1" dirty="0">
                <a:solidFill>
                  <a:srgbClr val="202124"/>
                </a:solidFill>
                <a:latin typeface="Roboto" pitchFamily="34" charset="0"/>
                <a:ea typeface="Roboto" pitchFamily="34" charset="-122"/>
                <a:cs typeface="Roboto" pitchFamily="34" charset="-120"/>
              </a:rPr>
              <a:t>Vaixells o diners. </a:t>
            </a:r>
            <a:pPr indent="0" marL="0">
              <a:buNone/>
            </a:pPr>
            <a:r>
              <a:rPr lang="en-US" sz="1550" dirty="0">
                <a:solidFill>
                  <a:srgbClr val="202124"/>
                </a:solidFill>
                <a:latin typeface="Roboto" pitchFamily="34" charset="0"/>
                <a:ea typeface="Roboto" pitchFamily="34" charset="-122"/>
                <a:cs typeface="Roboto" pitchFamily="34" charset="-120"/>
              </a:rPr>
              <a:t>Cada membre aporta vaixells o paga un tribut. El tresor es guarda a Delos.</a:t>
            </a:r>
            <a:endParaRPr lang="en-US" sz="1550" dirty="0"/>
          </a:p>
        </p:txBody>
      </p:sp>
      <p:sp>
        <p:nvSpPr>
          <p:cNvPr id="14" name="Cercle icona"/>
          <p:cNvSpPr/>
          <p:nvPr/>
        </p:nvSpPr>
        <p:spPr>
          <a:xfrm>
            <a:off x="5760720" y="3118104"/>
            <a:ext cx="512064" cy="512064"/>
          </a:xfrm>
          <a:prstGeom prst="ellipse">
            <a:avLst/>
          </a:prstGeom>
          <a:solidFill>
            <a:srgbClr val="E6F4EA"/>
          </a:solidFill>
          <a:ln/>
        </p:spPr>
      </p:sp>
      <p:pic>
        <p:nvPicPr>
          <p:cNvPr id="15" name="Icona TbShip" descr="/home/claude/work/build/img/ic/TbShip-g.png">    </p:cNvPr>
          <p:cNvPicPr>
            <a:picLocks noChangeAspect="1"/>
          </p:cNvPicPr>
          <p:nvPr/>
        </p:nvPicPr>
        <p:blipFill>
          <a:blip r:embed="rId4"/>
          <a:stretch>
            <a:fillRect/>
          </a:stretch>
        </p:blipFill>
        <p:spPr>
          <a:xfrm>
            <a:off x="5873374" y="3230758"/>
            <a:ext cx="286756" cy="286756"/>
          </a:xfrm>
          <a:prstGeom prst="rect">
            <a:avLst/>
          </a:prstGeom>
        </p:spPr>
      </p:pic>
      <p:sp>
        <p:nvSpPr>
          <p:cNvPr id="16" name="Text 10"/>
          <p:cNvSpPr txBox="1"/>
          <p:nvPr/>
        </p:nvSpPr>
        <p:spPr>
          <a:xfrm>
            <a:off x="6473952" y="3054096"/>
            <a:ext cx="5169103" cy="749808"/>
          </a:xfrm>
          <a:prstGeom prst="rect">
            <a:avLst/>
          </a:prstGeom>
          <a:noFill/>
          <a:ln/>
        </p:spPr>
        <p:txBody>
          <a:bodyPr wrap="square" lIns="0" tIns="0" rIns="0" bIns="0" rtlCol="0" anchor="ctr"/>
          <a:lstStyle/>
          <a:p>
            <a:pPr indent="0" marL="0">
              <a:buNone/>
            </a:pPr>
            <a:r>
              <a:rPr lang="en-US" sz="1550" b="1" dirty="0">
                <a:solidFill>
                  <a:srgbClr val="202124"/>
                </a:solidFill>
                <a:latin typeface="Roboto" pitchFamily="34" charset="0"/>
                <a:ea typeface="Roboto" pitchFamily="34" charset="-122"/>
                <a:cs typeface="Roboto" pitchFamily="34" charset="-120"/>
              </a:rPr>
              <a:t>Atenes mana. </a:t>
            </a:r>
            <a:pPr indent="0" marL="0">
              <a:buNone/>
            </a:pPr>
            <a:r>
              <a:rPr lang="en-US" sz="1550" dirty="0">
                <a:solidFill>
                  <a:srgbClr val="202124"/>
                </a:solidFill>
                <a:latin typeface="Roboto" pitchFamily="34" charset="0"/>
                <a:ea typeface="Roboto" pitchFamily="34" charset="-122"/>
                <a:cs typeface="Roboto" pitchFamily="34" charset="-120"/>
              </a:rPr>
              <a:t>Té la flota més gran. Si una polis vol sortir, com Naxos, l'obliga a quedar-s'hi.</a:t>
            </a:r>
            <a:endParaRPr lang="en-US" sz="1550" dirty="0"/>
          </a:p>
        </p:txBody>
      </p:sp>
      <p:sp>
        <p:nvSpPr>
          <p:cNvPr id="17" name="Cercle icona"/>
          <p:cNvSpPr/>
          <p:nvPr/>
        </p:nvSpPr>
        <p:spPr>
          <a:xfrm>
            <a:off x="5760720" y="3959352"/>
            <a:ext cx="512064" cy="512064"/>
          </a:xfrm>
          <a:prstGeom prst="ellipse">
            <a:avLst/>
          </a:prstGeom>
          <a:solidFill>
            <a:srgbClr val="E6F4EA"/>
          </a:solidFill>
          <a:ln/>
        </p:spPr>
      </p:sp>
      <p:pic>
        <p:nvPicPr>
          <p:cNvPr id="18" name="Icona TbBuildingBank" descr="/home/claude/work/build/img/ic/TbBuildingBank-g.png">    </p:cNvPr>
          <p:cNvPicPr>
            <a:picLocks noChangeAspect="1"/>
          </p:cNvPicPr>
          <p:nvPr/>
        </p:nvPicPr>
        <p:blipFill>
          <a:blip r:embed="rId5"/>
          <a:stretch>
            <a:fillRect/>
          </a:stretch>
        </p:blipFill>
        <p:spPr>
          <a:xfrm>
            <a:off x="5873374" y="4072006"/>
            <a:ext cx="286756" cy="286756"/>
          </a:xfrm>
          <a:prstGeom prst="rect">
            <a:avLst/>
          </a:prstGeom>
        </p:spPr>
      </p:pic>
      <p:sp>
        <p:nvSpPr>
          <p:cNvPr id="19" name="Text 12"/>
          <p:cNvSpPr txBox="1"/>
          <p:nvPr/>
        </p:nvSpPr>
        <p:spPr>
          <a:xfrm>
            <a:off x="6473952" y="3895344"/>
            <a:ext cx="5169103" cy="749808"/>
          </a:xfrm>
          <a:prstGeom prst="rect">
            <a:avLst/>
          </a:prstGeom>
          <a:noFill/>
          <a:ln/>
        </p:spPr>
        <p:txBody>
          <a:bodyPr wrap="square" lIns="0" tIns="0" rIns="0" bIns="0" rtlCol="0" anchor="ctr"/>
          <a:lstStyle/>
          <a:p>
            <a:pPr indent="0" marL="0">
              <a:buNone/>
            </a:pPr>
            <a:r>
              <a:rPr lang="en-US" sz="1550" b="1" dirty="0">
                <a:solidFill>
                  <a:srgbClr val="202124"/>
                </a:solidFill>
                <a:latin typeface="Roboto" pitchFamily="34" charset="0"/>
                <a:ea typeface="Roboto" pitchFamily="34" charset="-122"/>
                <a:cs typeface="Roboto" pitchFamily="34" charset="-120"/>
              </a:rPr>
              <a:t>Un imperi. </a:t>
            </a:r>
            <a:pPr indent="0" marL="0">
              <a:buNone/>
            </a:pPr>
            <a:r>
              <a:rPr lang="en-US" sz="1550" dirty="0">
                <a:solidFill>
                  <a:srgbClr val="202124"/>
                </a:solidFill>
                <a:latin typeface="Roboto" pitchFamily="34" charset="0"/>
                <a:ea typeface="Roboto" pitchFamily="34" charset="-122"/>
                <a:cs typeface="Roboto" pitchFamily="34" charset="-120"/>
              </a:rPr>
              <a:t>El 454 aC el tresor passa a Atenes. Una part paga la nova Acròpolis.</a:t>
            </a:r>
            <a:endParaRPr lang="en-US" sz="1550" dirty="0"/>
          </a:p>
        </p:txBody>
      </p:sp>
      <p:sp>
        <p:nvSpPr>
          <p:cNvPr id="20" name="Paraula clau · Lliga de Delos"/>
          <p:cNvSpPr/>
          <p:nvPr/>
        </p:nvSpPr>
        <p:spPr>
          <a:xfrm>
            <a:off x="548640" y="4846320"/>
            <a:ext cx="11094415" cy="1143000"/>
          </a:xfrm>
          <a:prstGeom prst="roundRect">
            <a:avLst>
              <a:gd name="adj" fmla="val 8800"/>
            </a:avLst>
          </a:prstGeom>
          <a:solidFill>
            <a:srgbClr val="E6F4EA"/>
          </a:solidFill>
          <a:ln/>
        </p:spPr>
      </p:sp>
      <p:sp>
        <p:nvSpPr>
          <p:cNvPr id="21" name="Text 14"/>
          <p:cNvSpPr txBox="1"/>
          <p:nvPr/>
        </p:nvSpPr>
        <p:spPr>
          <a:xfrm>
            <a:off x="868680" y="5001768"/>
            <a:ext cx="1045433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Paraula clau · Lliga de Delos</a:t>
            </a:r>
            <a:endParaRPr lang="en-US" sz="1400" dirty="0"/>
          </a:p>
        </p:txBody>
      </p:sp>
      <p:sp>
        <p:nvSpPr>
          <p:cNvPr id="22" name="Text 15"/>
          <p:cNvSpPr txBox="1"/>
          <p:nvPr/>
        </p:nvSpPr>
        <p:spPr>
          <a:xfrm>
            <a:off x="868680" y="5349240"/>
            <a:ext cx="10454335" cy="502920"/>
          </a:xfrm>
          <a:prstGeom prst="rect">
            <a:avLst/>
          </a:prstGeom>
          <a:noFill/>
          <a:ln/>
        </p:spPr>
        <p:txBody>
          <a:bodyPr wrap="square" lIns="0" tIns="0" rIns="0" bIns="0" rtlCol="0" anchor="t"/>
          <a:lstStyle/>
          <a:p>
            <a:pPr indent="0" marL="0">
              <a:buNone/>
            </a:pPr>
            <a:r>
              <a:rPr lang="en-US" sz="1650" dirty="0">
                <a:solidFill>
                  <a:srgbClr val="202124"/>
                </a:solidFill>
                <a:latin typeface="Roboto" pitchFamily="34" charset="0"/>
                <a:ea typeface="Roboto" pitchFamily="34" charset="-122"/>
                <a:cs typeface="Roboto" pitchFamily="34" charset="-120"/>
              </a:rPr>
              <a:t>Aliança de polis gregues dirigida per Atenes i creada cap al 478 aC per defensar-se dels perses. Atenes la va acabar convertint en un imperi.</a:t>
            </a:r>
            <a:endParaRPr lang="en-US" sz="16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4</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El segle de Pèricles</a:t>
            </a:r>
            <a:endParaRPr lang="en-US" sz="2800" dirty="0"/>
          </a:p>
        </p:txBody>
      </p:sp>
      <p:sp>
        <p:nvSpPr>
          <p:cNvPr id="5" name="Xifra"/>
          <p:cNvSpPr/>
          <p:nvPr/>
        </p:nvSpPr>
        <p:spPr>
          <a:xfrm>
            <a:off x="548640" y="1371600"/>
            <a:ext cx="3291840" cy="2880360"/>
          </a:xfrm>
          <a:prstGeom prst="roundRect">
            <a:avLst>
              <a:gd name="adj" fmla="val 3492"/>
            </a:avLst>
          </a:prstGeom>
          <a:solidFill>
            <a:srgbClr val="F6F8FB"/>
          </a:solidFill>
          <a:ln/>
        </p:spPr>
      </p:sp>
      <p:sp>
        <p:nvSpPr>
          <p:cNvPr id="6" name="Text 4"/>
          <p:cNvSpPr txBox="1"/>
          <p:nvPr/>
        </p:nvSpPr>
        <p:spPr>
          <a:xfrm>
            <a:off x="822960" y="1600200"/>
            <a:ext cx="2743200" cy="868680"/>
          </a:xfrm>
          <a:prstGeom prst="rect">
            <a:avLst/>
          </a:prstGeom>
          <a:noFill/>
          <a:ln/>
        </p:spPr>
        <p:txBody>
          <a:bodyPr wrap="square" lIns="0" tIns="0" rIns="0" bIns="0" rtlCol="0" anchor="t"/>
          <a:lstStyle/>
          <a:p>
            <a:pPr indent="0" marL="0">
              <a:buNone/>
            </a:pPr>
            <a:r>
              <a:rPr lang="en-US" sz="3600" b="1" dirty="0">
                <a:solidFill>
                  <a:srgbClr val="188038"/>
                </a:solidFill>
                <a:latin typeface="Roboto" pitchFamily="34" charset="0"/>
                <a:ea typeface="Roboto" pitchFamily="34" charset="-122"/>
                <a:cs typeface="Roboto" pitchFamily="34" charset="-120"/>
              </a:rPr>
              <a:t>461-429 aC</a:t>
            </a:r>
            <a:endParaRPr lang="en-US" sz="3600" dirty="0"/>
          </a:p>
        </p:txBody>
      </p:sp>
      <p:sp>
        <p:nvSpPr>
          <p:cNvPr id="7" name="Text 5"/>
          <p:cNvSpPr txBox="1"/>
          <p:nvPr/>
        </p:nvSpPr>
        <p:spPr>
          <a:xfrm>
            <a:off x="822960" y="2514600"/>
            <a:ext cx="2743200" cy="137160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Pèricles dirigeix la política atenesa durant més de 30 anys.</a:t>
            </a:r>
            <a:endParaRPr lang="en-US" sz="1700" dirty="0"/>
          </a:p>
        </p:txBody>
      </p:sp>
      <p:sp>
        <p:nvSpPr>
          <p:cNvPr id="8" name="Targeta La polis més poderosa"/>
          <p:cNvSpPr/>
          <p:nvPr/>
        </p:nvSpPr>
        <p:spPr>
          <a:xfrm>
            <a:off x="4114800" y="1371600"/>
            <a:ext cx="2357018" cy="2880360"/>
          </a:xfrm>
          <a:prstGeom prst="roundRect">
            <a:avLst>
              <a:gd name="adj" fmla="val 4267"/>
            </a:avLst>
          </a:prstGeom>
          <a:solidFill>
            <a:srgbClr val="FFFFFF"/>
          </a:solidFill>
          <a:ln w="12700">
            <a:solidFill>
              <a:srgbClr val="DADCE0"/>
            </a:solidFill>
            <a:prstDash val="solid"/>
          </a:ln>
        </p:spPr>
      </p:sp>
      <p:sp>
        <p:nvSpPr>
          <p:cNvPr id="9" name="Cercle icona"/>
          <p:cNvSpPr/>
          <p:nvPr/>
        </p:nvSpPr>
        <p:spPr>
          <a:xfrm>
            <a:off x="4343400" y="1600200"/>
            <a:ext cx="594360" cy="594360"/>
          </a:xfrm>
          <a:prstGeom prst="ellipse">
            <a:avLst/>
          </a:prstGeom>
          <a:solidFill>
            <a:srgbClr val="E6F4EA"/>
          </a:solidFill>
          <a:ln/>
        </p:spPr>
      </p:sp>
      <p:pic>
        <p:nvPicPr>
          <p:cNvPr id="10" name="Icona TbCoins" descr="/home/claude/work/build/img/ic/TbCoins-g.png">    </p:cNvPr>
          <p:cNvPicPr>
            <a:picLocks noChangeAspect="1"/>
          </p:cNvPicPr>
          <p:nvPr/>
        </p:nvPicPr>
        <p:blipFill>
          <a:blip r:embed="rId1"/>
          <a:stretch>
            <a:fillRect/>
          </a:stretch>
        </p:blipFill>
        <p:spPr>
          <a:xfrm>
            <a:off x="4474159" y="1730959"/>
            <a:ext cx="332842" cy="332842"/>
          </a:xfrm>
          <a:prstGeom prst="rect">
            <a:avLst/>
          </a:prstGeom>
        </p:spPr>
      </p:pic>
      <p:sp>
        <p:nvSpPr>
          <p:cNvPr id="11" name="Text 8"/>
          <p:cNvSpPr txBox="1"/>
          <p:nvPr/>
        </p:nvSpPr>
        <p:spPr>
          <a:xfrm>
            <a:off x="4343400" y="2331720"/>
            <a:ext cx="1899818" cy="518160"/>
          </a:xfrm>
          <a:prstGeom prst="rect">
            <a:avLst/>
          </a:prstGeom>
          <a:noFill/>
          <a:ln/>
        </p:spPr>
        <p:txBody>
          <a:bodyPr wrap="square" lIns="0" tIns="0" rIns="0" bIns="0" rtlCol="0" anchor="t"/>
          <a:lstStyle/>
          <a:p>
            <a:pPr indent="0" marL="0">
              <a:buNone/>
            </a:pPr>
            <a:r>
              <a:rPr lang="en-US" sz="1700" b="1" dirty="0">
                <a:solidFill>
                  <a:srgbClr val="188038"/>
                </a:solidFill>
                <a:latin typeface="Roboto" pitchFamily="34" charset="0"/>
                <a:ea typeface="Roboto" pitchFamily="34" charset="-122"/>
                <a:cs typeface="Roboto" pitchFamily="34" charset="-120"/>
              </a:rPr>
              <a:t>La polis més poderosa</a:t>
            </a:r>
            <a:endParaRPr lang="en-US" sz="1700" dirty="0"/>
          </a:p>
        </p:txBody>
      </p:sp>
      <p:sp>
        <p:nvSpPr>
          <p:cNvPr id="12" name="Text 9"/>
          <p:cNvSpPr txBox="1"/>
          <p:nvPr/>
        </p:nvSpPr>
        <p:spPr>
          <a:xfrm>
            <a:off x="4343400" y="2941320"/>
            <a:ext cx="1899818" cy="117348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Atenes és la més rica de Grècia, al capdavant de la lliga de Delos.</a:t>
            </a:r>
            <a:endParaRPr lang="en-US" sz="1500" dirty="0"/>
          </a:p>
        </p:txBody>
      </p:sp>
      <p:sp>
        <p:nvSpPr>
          <p:cNvPr id="13" name="Targeta La democràcia es consolida"/>
          <p:cNvSpPr/>
          <p:nvPr/>
        </p:nvSpPr>
        <p:spPr>
          <a:xfrm>
            <a:off x="6700418" y="1371600"/>
            <a:ext cx="2357018" cy="2880360"/>
          </a:xfrm>
          <a:prstGeom prst="roundRect">
            <a:avLst>
              <a:gd name="adj" fmla="val 4267"/>
            </a:avLst>
          </a:prstGeom>
          <a:solidFill>
            <a:srgbClr val="FFFFFF"/>
          </a:solidFill>
          <a:ln w="12700">
            <a:solidFill>
              <a:srgbClr val="DADCE0"/>
            </a:solidFill>
            <a:prstDash val="solid"/>
          </a:ln>
        </p:spPr>
      </p:sp>
      <p:sp>
        <p:nvSpPr>
          <p:cNvPr id="14" name="Cercle icona"/>
          <p:cNvSpPr/>
          <p:nvPr/>
        </p:nvSpPr>
        <p:spPr>
          <a:xfrm>
            <a:off x="6929018" y="1600200"/>
            <a:ext cx="594360" cy="594360"/>
          </a:xfrm>
          <a:prstGeom prst="ellipse">
            <a:avLst/>
          </a:prstGeom>
          <a:solidFill>
            <a:srgbClr val="E6F4EA"/>
          </a:solidFill>
          <a:ln/>
        </p:spPr>
      </p:sp>
      <p:pic>
        <p:nvPicPr>
          <p:cNvPr id="15" name="Icona TbUsersGroup" descr="/home/claude/work/build/img/ic/TbUsersGroup-g.png">    </p:cNvPr>
          <p:cNvPicPr>
            <a:picLocks noChangeAspect="1"/>
          </p:cNvPicPr>
          <p:nvPr/>
        </p:nvPicPr>
        <p:blipFill>
          <a:blip r:embed="rId2"/>
          <a:stretch>
            <a:fillRect/>
          </a:stretch>
        </p:blipFill>
        <p:spPr>
          <a:xfrm>
            <a:off x="7059778" y="1730959"/>
            <a:ext cx="332842" cy="332842"/>
          </a:xfrm>
          <a:prstGeom prst="rect">
            <a:avLst/>
          </a:prstGeom>
        </p:spPr>
      </p:pic>
      <p:sp>
        <p:nvSpPr>
          <p:cNvPr id="16" name="Text 12"/>
          <p:cNvSpPr txBox="1"/>
          <p:nvPr/>
        </p:nvSpPr>
        <p:spPr>
          <a:xfrm>
            <a:off x="6929018" y="2331720"/>
            <a:ext cx="1899818" cy="518160"/>
          </a:xfrm>
          <a:prstGeom prst="rect">
            <a:avLst/>
          </a:prstGeom>
          <a:noFill/>
          <a:ln/>
        </p:spPr>
        <p:txBody>
          <a:bodyPr wrap="square" lIns="0" tIns="0" rIns="0" bIns="0" rtlCol="0" anchor="t"/>
          <a:lstStyle/>
          <a:p>
            <a:pPr indent="0" marL="0">
              <a:buNone/>
            </a:pPr>
            <a:r>
              <a:rPr lang="en-US" sz="1700" b="1" dirty="0">
                <a:solidFill>
                  <a:srgbClr val="188038"/>
                </a:solidFill>
                <a:latin typeface="Roboto" pitchFamily="34" charset="0"/>
                <a:ea typeface="Roboto" pitchFamily="34" charset="-122"/>
                <a:cs typeface="Roboto" pitchFamily="34" charset="-120"/>
              </a:rPr>
              <a:t>La democràcia es consolida</a:t>
            </a:r>
            <a:endParaRPr lang="en-US" sz="1700" dirty="0"/>
          </a:p>
        </p:txBody>
      </p:sp>
      <p:sp>
        <p:nvSpPr>
          <p:cNvPr id="17" name="Text 13"/>
          <p:cNvSpPr txBox="1"/>
          <p:nvPr/>
        </p:nvSpPr>
        <p:spPr>
          <a:xfrm>
            <a:off x="6929018" y="2941320"/>
            <a:ext cx="1899818" cy="117348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I la ciutat viu la seva màxima esplendor.</a:t>
            </a:r>
            <a:endParaRPr lang="en-US" sz="1500" dirty="0"/>
          </a:p>
        </p:txBody>
      </p:sp>
      <p:sp>
        <p:nvSpPr>
          <p:cNvPr id="18" name="Targeta L'Acròpolis reconstruïda"/>
          <p:cNvSpPr/>
          <p:nvPr/>
        </p:nvSpPr>
        <p:spPr>
          <a:xfrm>
            <a:off x="9286037" y="1371600"/>
            <a:ext cx="2357018" cy="2880360"/>
          </a:xfrm>
          <a:prstGeom prst="roundRect">
            <a:avLst>
              <a:gd name="adj" fmla="val 4267"/>
            </a:avLst>
          </a:prstGeom>
          <a:solidFill>
            <a:srgbClr val="FFFFFF"/>
          </a:solidFill>
          <a:ln w="12700">
            <a:solidFill>
              <a:srgbClr val="DADCE0"/>
            </a:solidFill>
            <a:prstDash val="solid"/>
          </a:ln>
        </p:spPr>
      </p:sp>
      <p:sp>
        <p:nvSpPr>
          <p:cNvPr id="19" name="Cercle icona"/>
          <p:cNvSpPr/>
          <p:nvPr/>
        </p:nvSpPr>
        <p:spPr>
          <a:xfrm>
            <a:off x="9514637" y="1600200"/>
            <a:ext cx="594360" cy="594360"/>
          </a:xfrm>
          <a:prstGeom prst="ellipse">
            <a:avLst/>
          </a:prstGeom>
          <a:solidFill>
            <a:srgbClr val="E6F4EA"/>
          </a:solidFill>
          <a:ln/>
        </p:spPr>
      </p:sp>
      <p:pic>
        <p:nvPicPr>
          <p:cNvPr id="20" name="Icona TbBuildingBank" descr="/home/claude/work/build/img/ic/TbBuildingBank-g.png">    </p:cNvPr>
          <p:cNvPicPr>
            <a:picLocks noChangeAspect="1"/>
          </p:cNvPicPr>
          <p:nvPr/>
        </p:nvPicPr>
        <p:blipFill>
          <a:blip r:embed="rId3"/>
          <a:stretch>
            <a:fillRect/>
          </a:stretch>
        </p:blipFill>
        <p:spPr>
          <a:xfrm>
            <a:off x="9645396" y="1730959"/>
            <a:ext cx="332842" cy="332842"/>
          </a:xfrm>
          <a:prstGeom prst="rect">
            <a:avLst/>
          </a:prstGeom>
        </p:spPr>
      </p:pic>
      <p:sp>
        <p:nvSpPr>
          <p:cNvPr id="21" name="Text 16"/>
          <p:cNvSpPr txBox="1"/>
          <p:nvPr/>
        </p:nvSpPr>
        <p:spPr>
          <a:xfrm>
            <a:off x="9514637" y="2331720"/>
            <a:ext cx="1899818" cy="518160"/>
          </a:xfrm>
          <a:prstGeom prst="rect">
            <a:avLst/>
          </a:prstGeom>
          <a:noFill/>
          <a:ln/>
        </p:spPr>
        <p:txBody>
          <a:bodyPr wrap="square" lIns="0" tIns="0" rIns="0" bIns="0" rtlCol="0" anchor="t"/>
          <a:lstStyle/>
          <a:p>
            <a:pPr indent="0" marL="0">
              <a:buNone/>
            </a:pPr>
            <a:r>
              <a:rPr lang="en-US" sz="1700" b="1" dirty="0">
                <a:solidFill>
                  <a:srgbClr val="188038"/>
                </a:solidFill>
                <a:latin typeface="Roboto" pitchFamily="34" charset="0"/>
                <a:ea typeface="Roboto" pitchFamily="34" charset="-122"/>
                <a:cs typeface="Roboto" pitchFamily="34" charset="-120"/>
              </a:rPr>
              <a:t>L'Acròpolis reconstruïda</a:t>
            </a:r>
            <a:endParaRPr lang="en-US" sz="1700" dirty="0"/>
          </a:p>
        </p:txBody>
      </p:sp>
      <p:sp>
        <p:nvSpPr>
          <p:cNvPr id="22" name="Text 17"/>
          <p:cNvSpPr txBox="1"/>
          <p:nvPr/>
        </p:nvSpPr>
        <p:spPr>
          <a:xfrm>
            <a:off x="9514637" y="2941320"/>
            <a:ext cx="1899818" cy="117348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Amb el Partenó. Hi arriben els millors artistes, filòsofs i científics.</a:t>
            </a:r>
            <a:endParaRPr lang="en-US" sz="1500" dirty="0"/>
          </a:p>
        </p:txBody>
      </p:sp>
      <p:sp>
        <p:nvSpPr>
          <p:cNvPr id="23" name="L'edat d'or d'Atenes"/>
          <p:cNvSpPr/>
          <p:nvPr/>
        </p:nvSpPr>
        <p:spPr>
          <a:xfrm>
            <a:off x="548640" y="4480560"/>
            <a:ext cx="11094415" cy="1508760"/>
          </a:xfrm>
          <a:prstGeom prst="roundRect">
            <a:avLst>
              <a:gd name="adj" fmla="val 6667"/>
            </a:avLst>
          </a:prstGeom>
          <a:solidFill>
            <a:srgbClr val="E6F4EA"/>
          </a:solidFill>
          <a:ln/>
        </p:spPr>
      </p:sp>
      <p:sp>
        <p:nvSpPr>
          <p:cNvPr id="24" name="Text 19"/>
          <p:cNvSpPr txBox="1"/>
          <p:nvPr/>
        </p:nvSpPr>
        <p:spPr>
          <a:xfrm>
            <a:off x="868680" y="4636008"/>
            <a:ext cx="1045433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L'edat d'or d'Atenes</a:t>
            </a:r>
            <a:endParaRPr lang="en-US" sz="1400" dirty="0"/>
          </a:p>
        </p:txBody>
      </p:sp>
      <p:sp>
        <p:nvSpPr>
          <p:cNvPr id="25" name="Text 20"/>
          <p:cNvSpPr txBox="1"/>
          <p:nvPr/>
        </p:nvSpPr>
        <p:spPr>
          <a:xfrm>
            <a:off x="868680" y="4983480"/>
            <a:ext cx="10454335" cy="868680"/>
          </a:xfrm>
          <a:prstGeom prst="rect">
            <a:avLst/>
          </a:prstGeom>
          <a:noFill/>
          <a:ln/>
        </p:spPr>
        <p:txBody>
          <a:bodyPr wrap="square" lIns="0" tIns="0" rIns="0" bIns="0" rtlCol="0" anchor="t"/>
          <a:lstStyle/>
          <a:p>
            <a:pPr indent="0" marL="0">
              <a:buNone/>
            </a:pPr>
            <a:r>
              <a:rPr lang="en-US" sz="1900" dirty="0">
                <a:solidFill>
                  <a:srgbClr val="202124"/>
                </a:solidFill>
                <a:latin typeface="Roboto" pitchFamily="34" charset="0"/>
                <a:ea typeface="Roboto" pitchFamily="34" charset="-122"/>
                <a:cs typeface="Roboto" pitchFamily="34" charset="-120"/>
              </a:rPr>
              <a:t>Per això el segle V aC s'anomena el «segle de Pèricles» o l'edat d'or d'Atenes.</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4</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La guerra del Peloponès</a:t>
            </a:r>
            <a:endParaRPr lang="en-US" sz="2800" dirty="0"/>
          </a:p>
        </p:txBody>
      </p:sp>
      <p:sp>
        <p:nvSpPr>
          <p:cNvPr id="5" name="Atenes"/>
          <p:cNvSpPr/>
          <p:nvPr/>
        </p:nvSpPr>
        <p:spPr>
          <a:xfrm>
            <a:off x="548640" y="1371600"/>
            <a:ext cx="5090008" cy="960120"/>
          </a:xfrm>
          <a:prstGeom prst="roundRect">
            <a:avLst>
              <a:gd name="adj" fmla="val 10476"/>
            </a:avLst>
          </a:prstGeom>
          <a:solidFill>
            <a:srgbClr val="FFFFFF"/>
          </a:solidFill>
          <a:ln w="12700">
            <a:solidFill>
              <a:srgbClr val="DADCE0"/>
            </a:solidFill>
            <a:prstDash val="solid"/>
          </a:ln>
        </p:spPr>
      </p:sp>
      <p:sp>
        <p:nvSpPr>
          <p:cNvPr id="6" name="Cercle icona"/>
          <p:cNvSpPr/>
          <p:nvPr/>
        </p:nvSpPr>
        <p:spPr>
          <a:xfrm>
            <a:off x="777240" y="1508760"/>
            <a:ext cx="685800" cy="685800"/>
          </a:xfrm>
          <a:prstGeom prst="ellipse">
            <a:avLst/>
          </a:prstGeom>
          <a:solidFill>
            <a:srgbClr val="E6F4EA"/>
          </a:solidFill>
          <a:ln/>
        </p:spPr>
      </p:sp>
      <p:pic>
        <p:nvPicPr>
          <p:cNvPr id="7" name="Icona TbShip" descr="/home/claude/work/build/img/ic/TbShip-g.png">    </p:cNvPr>
          <p:cNvPicPr>
            <a:picLocks noChangeAspect="1"/>
          </p:cNvPicPr>
          <p:nvPr/>
        </p:nvPicPr>
        <p:blipFill>
          <a:blip r:embed="rId1"/>
          <a:stretch>
            <a:fillRect/>
          </a:stretch>
        </p:blipFill>
        <p:spPr>
          <a:xfrm>
            <a:off x="928116" y="1659636"/>
            <a:ext cx="384048" cy="384048"/>
          </a:xfrm>
          <a:prstGeom prst="rect">
            <a:avLst/>
          </a:prstGeom>
        </p:spPr>
      </p:pic>
      <p:sp>
        <p:nvSpPr>
          <p:cNvPr id="8" name="Text 5"/>
          <p:cNvSpPr txBox="1"/>
          <p:nvPr/>
        </p:nvSpPr>
        <p:spPr>
          <a:xfrm>
            <a:off x="1645920" y="1371600"/>
            <a:ext cx="3809848" cy="960120"/>
          </a:xfrm>
          <a:prstGeom prst="rect">
            <a:avLst/>
          </a:prstGeom>
          <a:noFill/>
          <a:ln/>
        </p:spPr>
        <p:txBody>
          <a:bodyPr wrap="square" lIns="0" tIns="0" rIns="0" bIns="0" rtlCol="0" anchor="ctr"/>
          <a:lstStyle/>
          <a:p>
            <a:pPr indent="0" marL="0">
              <a:buNone/>
            </a:pPr>
            <a:r>
              <a:rPr lang="en-US" sz="1900" b="1" dirty="0">
                <a:solidFill>
                  <a:srgbClr val="188038"/>
                </a:solidFill>
                <a:latin typeface="Roboto" pitchFamily="34" charset="0"/>
                <a:ea typeface="Roboto" pitchFamily="34" charset="-122"/>
                <a:cs typeface="Roboto" pitchFamily="34" charset="-120"/>
              </a:rPr>
              <a:t>Atenes </a:t>
            </a:r>
            <a:pPr indent="0" marL="0">
              <a:buNone/>
            </a:pPr>
            <a:r>
              <a:rPr lang="en-US" sz="1900" dirty="0">
                <a:solidFill>
                  <a:srgbClr val="202124"/>
                </a:solidFill>
                <a:latin typeface="Roboto" pitchFamily="34" charset="0"/>
                <a:ea typeface="Roboto" pitchFamily="34" charset="-122"/>
                <a:cs typeface="Roboto" pitchFamily="34" charset="-120"/>
              </a:rPr>
              <a:t>i la lliga de Delos</a:t>
            </a:r>
            <a:endParaRPr lang="en-US" sz="1900" dirty="0"/>
          </a:p>
        </p:txBody>
      </p:sp>
      <p:sp>
        <p:nvSpPr>
          <p:cNvPr id="9" name="Esparta"/>
          <p:cNvSpPr/>
          <p:nvPr/>
        </p:nvSpPr>
        <p:spPr>
          <a:xfrm>
            <a:off x="6553048" y="1371600"/>
            <a:ext cx="5090008" cy="960120"/>
          </a:xfrm>
          <a:prstGeom prst="roundRect">
            <a:avLst>
              <a:gd name="adj" fmla="val 10476"/>
            </a:avLst>
          </a:prstGeom>
          <a:solidFill>
            <a:srgbClr val="FFFFFF"/>
          </a:solidFill>
          <a:ln w="12700">
            <a:solidFill>
              <a:srgbClr val="DADCE0"/>
            </a:solidFill>
            <a:prstDash val="solid"/>
          </a:ln>
        </p:spPr>
      </p:sp>
      <p:sp>
        <p:nvSpPr>
          <p:cNvPr id="10" name="Cercle icona"/>
          <p:cNvSpPr/>
          <p:nvPr/>
        </p:nvSpPr>
        <p:spPr>
          <a:xfrm>
            <a:off x="6781648" y="1508760"/>
            <a:ext cx="685800" cy="685800"/>
          </a:xfrm>
          <a:prstGeom prst="ellipse">
            <a:avLst/>
          </a:prstGeom>
          <a:solidFill>
            <a:srgbClr val="E6F4EA"/>
          </a:solidFill>
          <a:ln/>
        </p:spPr>
      </p:sp>
      <p:pic>
        <p:nvPicPr>
          <p:cNvPr id="11" name="Icona TbShield" descr="/home/claude/work/build/img/ic/TbShield-g.png">    </p:cNvPr>
          <p:cNvPicPr>
            <a:picLocks noChangeAspect="1"/>
          </p:cNvPicPr>
          <p:nvPr/>
        </p:nvPicPr>
        <p:blipFill>
          <a:blip r:embed="rId2"/>
          <a:stretch>
            <a:fillRect/>
          </a:stretch>
        </p:blipFill>
        <p:spPr>
          <a:xfrm>
            <a:off x="6932524" y="1659636"/>
            <a:ext cx="384048" cy="384048"/>
          </a:xfrm>
          <a:prstGeom prst="rect">
            <a:avLst/>
          </a:prstGeom>
        </p:spPr>
      </p:pic>
      <p:sp>
        <p:nvSpPr>
          <p:cNvPr id="12" name="Text 8"/>
          <p:cNvSpPr txBox="1"/>
          <p:nvPr/>
        </p:nvSpPr>
        <p:spPr>
          <a:xfrm>
            <a:off x="7650328" y="1371600"/>
            <a:ext cx="3809848" cy="960120"/>
          </a:xfrm>
          <a:prstGeom prst="rect">
            <a:avLst/>
          </a:prstGeom>
          <a:noFill/>
          <a:ln/>
        </p:spPr>
        <p:txBody>
          <a:bodyPr wrap="square" lIns="0" tIns="0" rIns="0" bIns="0" rtlCol="0" anchor="ctr"/>
          <a:lstStyle/>
          <a:p>
            <a:pPr indent="0" marL="0">
              <a:buNone/>
            </a:pPr>
            <a:r>
              <a:rPr lang="en-US" sz="1900" b="1" dirty="0">
                <a:solidFill>
                  <a:srgbClr val="188038"/>
                </a:solidFill>
                <a:latin typeface="Roboto" pitchFamily="34" charset="0"/>
                <a:ea typeface="Roboto" pitchFamily="34" charset="-122"/>
                <a:cs typeface="Roboto" pitchFamily="34" charset="-120"/>
              </a:rPr>
              <a:t>Esparta </a:t>
            </a:r>
            <a:pPr indent="0" marL="0">
              <a:buNone/>
            </a:pPr>
            <a:r>
              <a:rPr lang="en-US" sz="1900" dirty="0">
                <a:solidFill>
                  <a:srgbClr val="202124"/>
                </a:solidFill>
                <a:latin typeface="Roboto" pitchFamily="34" charset="0"/>
                <a:ea typeface="Roboto" pitchFamily="34" charset="-122"/>
                <a:cs typeface="Roboto" pitchFamily="34" charset="-120"/>
              </a:rPr>
              <a:t>i la lliga del Peloponès</a:t>
            </a:r>
            <a:endParaRPr lang="en-US" sz="1900" dirty="0"/>
          </a:p>
        </p:txBody>
      </p:sp>
      <p:sp>
        <p:nvSpPr>
          <p:cNvPr id="13" name="Text 9"/>
          <p:cNvSpPr txBox="1"/>
          <p:nvPr/>
        </p:nvSpPr>
        <p:spPr>
          <a:xfrm>
            <a:off x="5638648" y="1371600"/>
            <a:ext cx="914400" cy="960120"/>
          </a:xfrm>
          <a:prstGeom prst="rect">
            <a:avLst/>
          </a:prstGeom>
          <a:noFill/>
          <a:ln/>
        </p:spPr>
        <p:txBody>
          <a:bodyPr wrap="square" lIns="0" tIns="0" rIns="0" bIns="0" rtlCol="0" anchor="ctr"/>
          <a:lstStyle/>
          <a:p>
            <a:pPr algn="ctr" indent="0" marL="0">
              <a:buNone/>
            </a:pPr>
            <a:r>
              <a:rPr lang="en-US" sz="1600" b="1" dirty="0">
                <a:solidFill>
                  <a:srgbClr val="5F6368"/>
                </a:solidFill>
                <a:latin typeface="Roboto" pitchFamily="34" charset="0"/>
                <a:ea typeface="Roboto" pitchFamily="34" charset="-122"/>
                <a:cs typeface="Roboto" pitchFamily="34" charset="-120"/>
              </a:rPr>
              <a:t>contra</a:t>
            </a:r>
            <a:endParaRPr lang="en-US" sz="1600" dirty="0"/>
          </a:p>
        </p:txBody>
      </p:sp>
      <p:sp>
        <p:nvSpPr>
          <p:cNvPr id="14" name="Línia del temps"/>
          <p:cNvSpPr/>
          <p:nvPr/>
        </p:nvSpPr>
        <p:spPr>
          <a:xfrm>
            <a:off x="649224" y="2788920"/>
            <a:ext cx="0" cy="2103120"/>
          </a:xfrm>
          <a:prstGeom prst="line">
            <a:avLst/>
          </a:prstGeom>
          <a:noFill/>
          <a:ln w="31750">
            <a:solidFill>
              <a:srgbClr val="DADCE0"/>
            </a:solidFill>
            <a:prstDash val="solid"/>
          </a:ln>
        </p:spPr>
      </p:sp>
      <p:sp>
        <p:nvSpPr>
          <p:cNvPr id="15" name="Fita 431 aC"/>
          <p:cNvSpPr/>
          <p:nvPr/>
        </p:nvSpPr>
        <p:spPr>
          <a:xfrm>
            <a:off x="548640" y="2688336"/>
            <a:ext cx="201168" cy="201168"/>
          </a:xfrm>
          <a:prstGeom prst="ellipse">
            <a:avLst/>
          </a:prstGeom>
          <a:solidFill>
            <a:srgbClr val="FFFFFF"/>
          </a:solidFill>
          <a:ln w="28575">
            <a:solidFill>
              <a:srgbClr val="188038"/>
            </a:solidFill>
            <a:prstDash val="solid"/>
          </a:ln>
        </p:spPr>
      </p:sp>
      <p:sp>
        <p:nvSpPr>
          <p:cNvPr id="16" name="Text 12"/>
          <p:cNvSpPr txBox="1"/>
          <p:nvPr/>
        </p:nvSpPr>
        <p:spPr>
          <a:xfrm>
            <a:off x="932688" y="2651760"/>
            <a:ext cx="1188720" cy="292608"/>
          </a:xfrm>
          <a:prstGeom prst="rect">
            <a:avLst/>
          </a:prstGeom>
          <a:noFill/>
          <a:ln/>
        </p:spPr>
        <p:txBody>
          <a:bodyPr wrap="square" lIns="0" tIns="0" rIns="0" bIns="0" rtlCol="0" anchor="t"/>
          <a:lstStyle/>
          <a:p>
            <a:pPr indent="0" marL="0">
              <a:buNone/>
            </a:pPr>
            <a:r>
              <a:rPr lang="en-US" sz="1700" b="1" dirty="0">
                <a:solidFill>
                  <a:srgbClr val="188038"/>
                </a:solidFill>
                <a:latin typeface="Roboto" pitchFamily="34" charset="0"/>
                <a:ea typeface="Roboto" pitchFamily="34" charset="-122"/>
                <a:cs typeface="Roboto" pitchFamily="34" charset="-120"/>
              </a:rPr>
              <a:t>431 aC</a:t>
            </a:r>
            <a:endParaRPr lang="en-US" sz="1700" dirty="0"/>
          </a:p>
        </p:txBody>
      </p:sp>
      <p:sp>
        <p:nvSpPr>
          <p:cNvPr id="17" name="Text 13"/>
          <p:cNvSpPr txBox="1"/>
          <p:nvPr/>
        </p:nvSpPr>
        <p:spPr>
          <a:xfrm>
            <a:off x="2121408" y="2651760"/>
            <a:ext cx="5376672" cy="100584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Esclata la guerra, llarga i devastadora.</a:t>
            </a:r>
            <a:endParaRPr lang="en-US" sz="1700" dirty="0"/>
          </a:p>
        </p:txBody>
      </p:sp>
      <p:sp>
        <p:nvSpPr>
          <p:cNvPr id="18" name="Fita 405 aC"/>
          <p:cNvSpPr/>
          <p:nvPr/>
        </p:nvSpPr>
        <p:spPr>
          <a:xfrm>
            <a:off x="548640" y="3739896"/>
            <a:ext cx="201168" cy="201168"/>
          </a:xfrm>
          <a:prstGeom prst="ellipse">
            <a:avLst/>
          </a:prstGeom>
          <a:solidFill>
            <a:srgbClr val="FFFFFF"/>
          </a:solidFill>
          <a:ln w="28575">
            <a:solidFill>
              <a:srgbClr val="188038"/>
            </a:solidFill>
            <a:prstDash val="solid"/>
          </a:ln>
        </p:spPr>
      </p:sp>
      <p:sp>
        <p:nvSpPr>
          <p:cNvPr id="19" name="Text 15"/>
          <p:cNvSpPr txBox="1"/>
          <p:nvPr/>
        </p:nvSpPr>
        <p:spPr>
          <a:xfrm>
            <a:off x="932688" y="3703320"/>
            <a:ext cx="1188720" cy="292608"/>
          </a:xfrm>
          <a:prstGeom prst="rect">
            <a:avLst/>
          </a:prstGeom>
          <a:noFill/>
          <a:ln/>
        </p:spPr>
        <p:txBody>
          <a:bodyPr wrap="square" lIns="0" tIns="0" rIns="0" bIns="0" rtlCol="0" anchor="t"/>
          <a:lstStyle/>
          <a:p>
            <a:pPr indent="0" marL="0">
              <a:buNone/>
            </a:pPr>
            <a:r>
              <a:rPr lang="en-US" sz="1700" b="1" dirty="0">
                <a:solidFill>
                  <a:srgbClr val="188038"/>
                </a:solidFill>
                <a:latin typeface="Roboto" pitchFamily="34" charset="0"/>
                <a:ea typeface="Roboto" pitchFamily="34" charset="-122"/>
                <a:cs typeface="Roboto" pitchFamily="34" charset="-120"/>
              </a:rPr>
              <a:t>405 aC</a:t>
            </a:r>
            <a:endParaRPr lang="en-US" sz="1700" dirty="0"/>
          </a:p>
        </p:txBody>
      </p:sp>
      <p:sp>
        <p:nvSpPr>
          <p:cNvPr id="20" name="Text 16"/>
          <p:cNvSpPr txBox="1"/>
          <p:nvPr/>
        </p:nvSpPr>
        <p:spPr>
          <a:xfrm>
            <a:off x="2121408" y="3703320"/>
            <a:ext cx="5376672" cy="100584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Esparta destrueix la flota atenesa.</a:t>
            </a:r>
            <a:endParaRPr lang="en-US" sz="1700" dirty="0"/>
          </a:p>
        </p:txBody>
      </p:sp>
      <p:sp>
        <p:nvSpPr>
          <p:cNvPr id="21" name="Fita 404 aC"/>
          <p:cNvSpPr/>
          <p:nvPr/>
        </p:nvSpPr>
        <p:spPr>
          <a:xfrm>
            <a:off x="548640" y="4791456"/>
            <a:ext cx="201168" cy="201168"/>
          </a:xfrm>
          <a:prstGeom prst="ellipse">
            <a:avLst/>
          </a:prstGeom>
          <a:solidFill>
            <a:srgbClr val="188038"/>
          </a:solidFill>
          <a:ln w="28575">
            <a:solidFill>
              <a:srgbClr val="188038"/>
            </a:solidFill>
            <a:prstDash val="solid"/>
          </a:ln>
        </p:spPr>
      </p:sp>
      <p:sp>
        <p:nvSpPr>
          <p:cNvPr id="22" name="Text 18"/>
          <p:cNvSpPr txBox="1"/>
          <p:nvPr/>
        </p:nvSpPr>
        <p:spPr>
          <a:xfrm>
            <a:off x="932688" y="4754880"/>
            <a:ext cx="1188720" cy="292608"/>
          </a:xfrm>
          <a:prstGeom prst="rect">
            <a:avLst/>
          </a:prstGeom>
          <a:noFill/>
          <a:ln/>
        </p:spPr>
        <p:txBody>
          <a:bodyPr wrap="square" lIns="0" tIns="0" rIns="0" bIns="0" rtlCol="0" anchor="t"/>
          <a:lstStyle/>
          <a:p>
            <a:pPr indent="0" marL="0">
              <a:buNone/>
            </a:pPr>
            <a:r>
              <a:rPr lang="en-US" sz="1700" b="1" dirty="0">
                <a:solidFill>
                  <a:srgbClr val="188038"/>
                </a:solidFill>
                <a:latin typeface="Roboto" pitchFamily="34" charset="0"/>
                <a:ea typeface="Roboto" pitchFamily="34" charset="-122"/>
                <a:cs typeface="Roboto" pitchFamily="34" charset="-120"/>
              </a:rPr>
              <a:t>404 aC</a:t>
            </a:r>
            <a:endParaRPr lang="en-US" sz="1700" dirty="0"/>
          </a:p>
        </p:txBody>
      </p:sp>
      <p:sp>
        <p:nvSpPr>
          <p:cNvPr id="23" name="Text 19"/>
          <p:cNvSpPr txBox="1"/>
          <p:nvPr/>
        </p:nvSpPr>
        <p:spPr>
          <a:xfrm>
            <a:off x="2121408" y="4754880"/>
            <a:ext cx="5376672" cy="100584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Atenes, assetjada i sense menjar, es rendeix. Perd la flota, les muralles i l'imperi.</a:t>
            </a:r>
            <a:endParaRPr lang="en-US" sz="1700" dirty="0"/>
          </a:p>
        </p:txBody>
      </p:sp>
      <p:sp>
        <p:nvSpPr>
          <p:cNvPr id="24" name="La causa, segons Tucídides"/>
          <p:cNvSpPr/>
          <p:nvPr/>
        </p:nvSpPr>
        <p:spPr>
          <a:xfrm>
            <a:off x="8001000" y="2606040"/>
            <a:ext cx="3642055" cy="2011680"/>
          </a:xfrm>
          <a:prstGeom prst="roundRect">
            <a:avLst>
              <a:gd name="adj" fmla="val 5000"/>
            </a:avLst>
          </a:prstGeom>
          <a:solidFill>
            <a:srgbClr val="F6F8FB"/>
          </a:solidFill>
          <a:ln/>
        </p:spPr>
      </p:sp>
      <p:sp>
        <p:nvSpPr>
          <p:cNvPr id="25" name="Text 21"/>
          <p:cNvSpPr txBox="1"/>
          <p:nvPr/>
        </p:nvSpPr>
        <p:spPr>
          <a:xfrm>
            <a:off x="8321040" y="2761488"/>
            <a:ext cx="3001975"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La causa, segons Tucídides</a:t>
            </a:r>
            <a:endParaRPr lang="en-US" sz="1400" dirty="0"/>
          </a:p>
        </p:txBody>
      </p:sp>
      <p:sp>
        <p:nvSpPr>
          <p:cNvPr id="26" name="Text 22"/>
          <p:cNvSpPr txBox="1"/>
          <p:nvPr/>
        </p:nvSpPr>
        <p:spPr>
          <a:xfrm>
            <a:off x="8321040" y="3108960"/>
            <a:ext cx="3001975" cy="1371600"/>
          </a:xfrm>
          <a:prstGeom prst="rect">
            <a:avLst/>
          </a:prstGeom>
          <a:noFill/>
          <a:ln/>
        </p:spPr>
        <p:txBody>
          <a:bodyPr wrap="square" lIns="0" tIns="0" rIns="0" bIns="0" rtlCol="0" anchor="t"/>
          <a:lstStyle/>
          <a:p>
            <a:pPr indent="0" marL="0">
              <a:buNone/>
            </a:pPr>
            <a:r>
              <a:rPr lang="en-US" sz="1500" dirty="0">
                <a:solidFill>
                  <a:srgbClr val="5F6368"/>
                </a:solidFill>
                <a:latin typeface="Roboto" pitchFamily="34" charset="0"/>
                <a:ea typeface="Roboto" pitchFamily="34" charset="-122"/>
                <a:cs typeface="Roboto" pitchFamily="34" charset="-120"/>
              </a:rPr>
              <a:t>Esparta veia amb por com creixia el poder d'Atenes. Segons Tucídides, que la va viure, aquesta por va ser la causa més profunda de la guerra.</a:t>
            </a:r>
            <a:endParaRPr lang="en-US" sz="1500" dirty="0"/>
          </a:p>
        </p:txBody>
      </p:sp>
      <p:sp>
        <p:nvSpPr>
          <p:cNvPr id="27" name="Conseqüència"/>
          <p:cNvSpPr/>
          <p:nvPr/>
        </p:nvSpPr>
        <p:spPr>
          <a:xfrm>
            <a:off x="8001000" y="4800600"/>
            <a:ext cx="3642055" cy="1188720"/>
          </a:xfrm>
          <a:prstGeom prst="roundRect">
            <a:avLst>
              <a:gd name="adj" fmla="val 8462"/>
            </a:avLst>
          </a:prstGeom>
          <a:solidFill>
            <a:srgbClr val="E6F4EA"/>
          </a:solidFill>
          <a:ln/>
        </p:spPr>
      </p:sp>
      <p:sp>
        <p:nvSpPr>
          <p:cNvPr id="28" name="Text 24"/>
          <p:cNvSpPr txBox="1"/>
          <p:nvPr/>
        </p:nvSpPr>
        <p:spPr>
          <a:xfrm>
            <a:off x="8321040" y="4956048"/>
            <a:ext cx="300197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Conseqüència</a:t>
            </a:r>
            <a:endParaRPr lang="en-US" sz="1400" dirty="0"/>
          </a:p>
        </p:txBody>
      </p:sp>
      <p:sp>
        <p:nvSpPr>
          <p:cNvPr id="29" name="Text 25"/>
          <p:cNvSpPr txBox="1"/>
          <p:nvPr/>
        </p:nvSpPr>
        <p:spPr>
          <a:xfrm>
            <a:off x="8321040" y="5303520"/>
            <a:ext cx="3001975" cy="54864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La guerra va deixar totes les polis exhaustes i enfrontades.</a:t>
            </a:r>
            <a:endParaRPr lang="en-US" sz="15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4</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Comprova-ho</a:t>
            </a:r>
            <a:endParaRPr lang="en-US" sz="2800" dirty="0"/>
          </a:p>
        </p:txBody>
      </p:sp>
      <p:sp>
        <p:nvSpPr>
          <p:cNvPr id="5" name="Text 3"/>
          <p:cNvSpPr txBox="1"/>
          <p:nvPr/>
        </p:nvSpPr>
        <p:spPr>
          <a:xfrm>
            <a:off x="548640" y="1371600"/>
            <a:ext cx="3657600" cy="320040"/>
          </a:xfrm>
          <a:prstGeom prst="rect">
            <a:avLst/>
          </a:prstGeom>
          <a:noFill/>
          <a:ln/>
        </p:spPr>
        <p:txBody>
          <a:bodyPr wrap="square" lIns="0" tIns="0" rIns="0" bIns="0" rtlCol="0" anchor="t"/>
          <a:lstStyle/>
          <a:p>
            <a:pPr indent="0" marL="0">
              <a:buNone/>
            </a:pPr>
            <a:r>
              <a:rPr lang="en-US" sz="1400" b="1" dirty="0">
                <a:solidFill>
                  <a:srgbClr val="5F6368"/>
                </a:solidFill>
                <a:latin typeface="Roboto" pitchFamily="34" charset="0"/>
                <a:ea typeface="Roboto" pitchFamily="34" charset="-122"/>
                <a:cs typeface="Roboto" pitchFamily="34" charset="-120"/>
              </a:rPr>
              <a:t>Paraules clau</a:t>
            </a:r>
            <a:endParaRPr lang="en-US" sz="1400" dirty="0"/>
          </a:p>
        </p:txBody>
      </p:sp>
      <p:sp>
        <p:nvSpPr>
          <p:cNvPr id="6" name="Etiqueta Guerres mèdiques"/>
          <p:cNvSpPr/>
          <p:nvPr/>
        </p:nvSpPr>
        <p:spPr>
          <a:xfrm>
            <a:off x="548640" y="1755648"/>
            <a:ext cx="1920240" cy="384048"/>
          </a:xfrm>
          <a:prstGeom prst="roundRect">
            <a:avLst>
              <a:gd name="adj" fmla="val 50000"/>
            </a:avLst>
          </a:prstGeom>
          <a:solidFill>
            <a:srgbClr val="E6F4EA"/>
          </a:solidFill>
          <a:ln/>
        </p:spPr>
      </p:sp>
      <p:sp>
        <p:nvSpPr>
          <p:cNvPr id="7" name="Text 5"/>
          <p:cNvSpPr txBox="1"/>
          <p:nvPr/>
        </p:nvSpPr>
        <p:spPr>
          <a:xfrm>
            <a:off x="548640" y="1755648"/>
            <a:ext cx="1920240"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Guerres mèdiques</a:t>
            </a:r>
            <a:endParaRPr lang="en-US" sz="1500" dirty="0"/>
          </a:p>
        </p:txBody>
      </p:sp>
      <p:sp>
        <p:nvSpPr>
          <p:cNvPr id="8" name="Etiqueta Marató"/>
          <p:cNvSpPr/>
          <p:nvPr/>
        </p:nvSpPr>
        <p:spPr>
          <a:xfrm>
            <a:off x="2578608" y="1755648"/>
            <a:ext cx="914400" cy="384048"/>
          </a:xfrm>
          <a:prstGeom prst="roundRect">
            <a:avLst>
              <a:gd name="adj" fmla="val 50000"/>
            </a:avLst>
          </a:prstGeom>
          <a:solidFill>
            <a:srgbClr val="E6F4EA"/>
          </a:solidFill>
          <a:ln/>
        </p:spPr>
      </p:sp>
      <p:sp>
        <p:nvSpPr>
          <p:cNvPr id="9" name="Text 7"/>
          <p:cNvSpPr txBox="1"/>
          <p:nvPr/>
        </p:nvSpPr>
        <p:spPr>
          <a:xfrm>
            <a:off x="2578608" y="1755648"/>
            <a:ext cx="914400"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Marató</a:t>
            </a:r>
            <a:endParaRPr lang="en-US" sz="1500" dirty="0"/>
          </a:p>
        </p:txBody>
      </p:sp>
      <p:sp>
        <p:nvSpPr>
          <p:cNvPr id="10" name="Etiqueta Salamina"/>
          <p:cNvSpPr/>
          <p:nvPr/>
        </p:nvSpPr>
        <p:spPr>
          <a:xfrm>
            <a:off x="3602736" y="1755648"/>
            <a:ext cx="1115568" cy="384048"/>
          </a:xfrm>
          <a:prstGeom prst="roundRect">
            <a:avLst>
              <a:gd name="adj" fmla="val 50000"/>
            </a:avLst>
          </a:prstGeom>
          <a:solidFill>
            <a:srgbClr val="E6F4EA"/>
          </a:solidFill>
          <a:ln/>
        </p:spPr>
      </p:sp>
      <p:sp>
        <p:nvSpPr>
          <p:cNvPr id="11" name="Text 9"/>
          <p:cNvSpPr txBox="1"/>
          <p:nvPr/>
        </p:nvSpPr>
        <p:spPr>
          <a:xfrm>
            <a:off x="3602736" y="1755648"/>
            <a:ext cx="1115568"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Salamina</a:t>
            </a:r>
            <a:endParaRPr lang="en-US" sz="1500" dirty="0"/>
          </a:p>
        </p:txBody>
      </p:sp>
      <p:sp>
        <p:nvSpPr>
          <p:cNvPr id="12" name="Etiqueta Lliga de Delos"/>
          <p:cNvSpPr/>
          <p:nvPr/>
        </p:nvSpPr>
        <p:spPr>
          <a:xfrm>
            <a:off x="4828032" y="1755648"/>
            <a:ext cx="1719072" cy="384048"/>
          </a:xfrm>
          <a:prstGeom prst="roundRect">
            <a:avLst>
              <a:gd name="adj" fmla="val 50000"/>
            </a:avLst>
          </a:prstGeom>
          <a:solidFill>
            <a:srgbClr val="E6F4EA"/>
          </a:solidFill>
          <a:ln/>
        </p:spPr>
      </p:sp>
      <p:sp>
        <p:nvSpPr>
          <p:cNvPr id="13" name="Text 11"/>
          <p:cNvSpPr txBox="1"/>
          <p:nvPr/>
        </p:nvSpPr>
        <p:spPr>
          <a:xfrm>
            <a:off x="4828032" y="1755648"/>
            <a:ext cx="1719072"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Lliga de Delos</a:t>
            </a:r>
            <a:endParaRPr lang="en-US" sz="1500" dirty="0"/>
          </a:p>
        </p:txBody>
      </p:sp>
      <p:sp>
        <p:nvSpPr>
          <p:cNvPr id="14" name="Etiqueta Segle de Pèricles"/>
          <p:cNvSpPr/>
          <p:nvPr/>
        </p:nvSpPr>
        <p:spPr>
          <a:xfrm>
            <a:off x="6656832" y="1755648"/>
            <a:ext cx="2020824" cy="384048"/>
          </a:xfrm>
          <a:prstGeom prst="roundRect">
            <a:avLst>
              <a:gd name="adj" fmla="val 50000"/>
            </a:avLst>
          </a:prstGeom>
          <a:solidFill>
            <a:srgbClr val="E6F4EA"/>
          </a:solidFill>
          <a:ln/>
        </p:spPr>
      </p:sp>
      <p:sp>
        <p:nvSpPr>
          <p:cNvPr id="15" name="Text 13"/>
          <p:cNvSpPr txBox="1"/>
          <p:nvPr/>
        </p:nvSpPr>
        <p:spPr>
          <a:xfrm>
            <a:off x="6656832" y="1755648"/>
            <a:ext cx="2020824"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Segle de Pèricles</a:t>
            </a:r>
            <a:endParaRPr lang="en-US" sz="1500" dirty="0"/>
          </a:p>
        </p:txBody>
      </p:sp>
      <p:sp>
        <p:nvSpPr>
          <p:cNvPr id="16" name="Etiqueta Peloponès"/>
          <p:cNvSpPr/>
          <p:nvPr/>
        </p:nvSpPr>
        <p:spPr>
          <a:xfrm>
            <a:off x="8787384" y="1755648"/>
            <a:ext cx="1216152" cy="384048"/>
          </a:xfrm>
          <a:prstGeom prst="roundRect">
            <a:avLst>
              <a:gd name="adj" fmla="val 50000"/>
            </a:avLst>
          </a:prstGeom>
          <a:solidFill>
            <a:srgbClr val="E6F4EA"/>
          </a:solidFill>
          <a:ln/>
        </p:spPr>
      </p:sp>
      <p:sp>
        <p:nvSpPr>
          <p:cNvPr id="17" name="Text 15"/>
          <p:cNvSpPr txBox="1"/>
          <p:nvPr/>
        </p:nvSpPr>
        <p:spPr>
          <a:xfrm>
            <a:off x="8787384" y="1755648"/>
            <a:ext cx="1216152"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Peloponès</a:t>
            </a:r>
            <a:endParaRPr lang="en-US" sz="1500" dirty="0"/>
          </a:p>
        </p:txBody>
      </p:sp>
      <p:sp>
        <p:nvSpPr>
          <p:cNvPr id="18" name="Pregunta 1"/>
          <p:cNvSpPr/>
          <p:nvPr/>
        </p:nvSpPr>
        <p:spPr>
          <a:xfrm>
            <a:off x="548640" y="2514600"/>
            <a:ext cx="5410048" cy="960120"/>
          </a:xfrm>
          <a:prstGeom prst="roundRect">
            <a:avLst>
              <a:gd name="adj" fmla="val 10476"/>
            </a:avLst>
          </a:prstGeom>
          <a:solidFill>
            <a:srgbClr val="FFFFFF"/>
          </a:solidFill>
          <a:ln w="12700">
            <a:solidFill>
              <a:srgbClr val="DADCE0"/>
            </a:solidFill>
            <a:prstDash val="solid"/>
          </a:ln>
        </p:spPr>
      </p:sp>
      <p:sp>
        <p:nvSpPr>
          <p:cNvPr id="19" name="Número 1"/>
          <p:cNvSpPr/>
          <p:nvPr/>
        </p:nvSpPr>
        <p:spPr>
          <a:xfrm>
            <a:off x="822960" y="2766060"/>
            <a:ext cx="457200" cy="457200"/>
          </a:xfrm>
          <a:prstGeom prst="ellipse">
            <a:avLst/>
          </a:prstGeom>
          <a:solidFill>
            <a:srgbClr val="188038"/>
          </a:solidFill>
          <a:ln/>
        </p:spPr>
      </p:sp>
      <p:sp>
        <p:nvSpPr>
          <p:cNvPr id="20" name="Text 18"/>
          <p:cNvSpPr txBox="1"/>
          <p:nvPr/>
        </p:nvSpPr>
        <p:spPr>
          <a:xfrm>
            <a:off x="822960" y="27660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1</a:t>
            </a:r>
            <a:endParaRPr lang="en-US" sz="1700" dirty="0"/>
          </a:p>
        </p:txBody>
      </p:sp>
      <p:sp>
        <p:nvSpPr>
          <p:cNvPr id="21" name="Text 19"/>
          <p:cNvSpPr txBox="1"/>
          <p:nvPr/>
        </p:nvSpPr>
        <p:spPr>
          <a:xfrm>
            <a:off x="1508760" y="2514600"/>
            <a:ext cx="4221328" cy="960120"/>
          </a:xfrm>
          <a:prstGeom prst="rect">
            <a:avLst/>
          </a:prstGeom>
          <a:noFill/>
          <a:ln/>
        </p:spPr>
        <p:txBody>
          <a:bodyPr wrap="square" lIns="0" tIns="0" rIns="0" bIns="0" rtlCol="0" anchor="ctr"/>
          <a:lstStyle/>
          <a:p>
            <a:pPr indent="0" marL="0">
              <a:buNone/>
            </a:pPr>
            <a:r>
              <a:rPr lang="en-US" sz="1700" dirty="0">
                <a:solidFill>
                  <a:srgbClr val="202124"/>
                </a:solidFill>
                <a:latin typeface="Roboto" pitchFamily="34" charset="0"/>
                <a:ea typeface="Roboto" pitchFamily="34" charset="-122"/>
                <a:cs typeface="Roboto" pitchFamily="34" charset="-120"/>
              </a:rPr>
              <a:t>Qui es va enfrontar a les guerres mèdiques i qui va guanyar?</a:t>
            </a:r>
            <a:endParaRPr lang="en-US" sz="1700" dirty="0"/>
          </a:p>
        </p:txBody>
      </p:sp>
      <p:sp>
        <p:nvSpPr>
          <p:cNvPr id="22" name="Pregunta 2"/>
          <p:cNvSpPr/>
          <p:nvPr/>
        </p:nvSpPr>
        <p:spPr>
          <a:xfrm>
            <a:off x="6233008" y="2514600"/>
            <a:ext cx="5410048" cy="960120"/>
          </a:xfrm>
          <a:prstGeom prst="roundRect">
            <a:avLst>
              <a:gd name="adj" fmla="val 10476"/>
            </a:avLst>
          </a:prstGeom>
          <a:solidFill>
            <a:srgbClr val="FFFFFF"/>
          </a:solidFill>
          <a:ln w="12700">
            <a:solidFill>
              <a:srgbClr val="DADCE0"/>
            </a:solidFill>
            <a:prstDash val="solid"/>
          </a:ln>
        </p:spPr>
      </p:sp>
      <p:sp>
        <p:nvSpPr>
          <p:cNvPr id="23" name="Número 2"/>
          <p:cNvSpPr/>
          <p:nvPr/>
        </p:nvSpPr>
        <p:spPr>
          <a:xfrm>
            <a:off x="6507328" y="2766060"/>
            <a:ext cx="457200" cy="457200"/>
          </a:xfrm>
          <a:prstGeom prst="ellipse">
            <a:avLst/>
          </a:prstGeom>
          <a:solidFill>
            <a:srgbClr val="188038"/>
          </a:solidFill>
          <a:ln/>
        </p:spPr>
      </p:sp>
      <p:sp>
        <p:nvSpPr>
          <p:cNvPr id="24" name="Text 22"/>
          <p:cNvSpPr txBox="1"/>
          <p:nvPr/>
        </p:nvSpPr>
        <p:spPr>
          <a:xfrm>
            <a:off x="6507328" y="27660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2</a:t>
            </a:r>
            <a:endParaRPr lang="en-US" sz="1700" dirty="0"/>
          </a:p>
        </p:txBody>
      </p:sp>
      <p:sp>
        <p:nvSpPr>
          <p:cNvPr id="25" name="Text 23"/>
          <p:cNvSpPr txBox="1"/>
          <p:nvPr/>
        </p:nvSpPr>
        <p:spPr>
          <a:xfrm>
            <a:off x="7193128" y="2514600"/>
            <a:ext cx="4221328" cy="960120"/>
          </a:xfrm>
          <a:prstGeom prst="rect">
            <a:avLst/>
          </a:prstGeom>
          <a:noFill/>
          <a:ln/>
        </p:spPr>
        <p:txBody>
          <a:bodyPr wrap="square" lIns="0" tIns="0" rIns="0" bIns="0" rtlCol="0" anchor="ctr"/>
          <a:lstStyle/>
          <a:p>
            <a:pPr indent="0" marL="0">
              <a:buNone/>
            </a:pPr>
            <a:r>
              <a:rPr lang="en-US" sz="1700" dirty="0">
                <a:solidFill>
                  <a:srgbClr val="202124"/>
                </a:solidFill>
                <a:latin typeface="Roboto" pitchFamily="34" charset="0"/>
                <a:ea typeface="Roboto" pitchFamily="34" charset="-122"/>
                <a:cs typeface="Roboto" pitchFamily="34" charset="-120"/>
              </a:rPr>
              <a:t>Què va passar a Salamina?</a:t>
            </a:r>
            <a:endParaRPr lang="en-US" sz="1700" dirty="0"/>
          </a:p>
        </p:txBody>
      </p:sp>
      <p:sp>
        <p:nvSpPr>
          <p:cNvPr id="26" name="Pregunta 3"/>
          <p:cNvSpPr/>
          <p:nvPr/>
        </p:nvSpPr>
        <p:spPr>
          <a:xfrm>
            <a:off x="548640" y="3675888"/>
            <a:ext cx="5410048" cy="960120"/>
          </a:xfrm>
          <a:prstGeom prst="roundRect">
            <a:avLst>
              <a:gd name="adj" fmla="val 10476"/>
            </a:avLst>
          </a:prstGeom>
          <a:solidFill>
            <a:srgbClr val="FFFFFF"/>
          </a:solidFill>
          <a:ln w="12700">
            <a:solidFill>
              <a:srgbClr val="DADCE0"/>
            </a:solidFill>
            <a:prstDash val="solid"/>
          </a:ln>
        </p:spPr>
      </p:sp>
      <p:sp>
        <p:nvSpPr>
          <p:cNvPr id="27" name="Número 3"/>
          <p:cNvSpPr/>
          <p:nvPr/>
        </p:nvSpPr>
        <p:spPr>
          <a:xfrm>
            <a:off x="822960" y="3927348"/>
            <a:ext cx="457200" cy="457200"/>
          </a:xfrm>
          <a:prstGeom prst="ellipse">
            <a:avLst/>
          </a:prstGeom>
          <a:solidFill>
            <a:srgbClr val="188038"/>
          </a:solidFill>
          <a:ln/>
        </p:spPr>
      </p:sp>
      <p:sp>
        <p:nvSpPr>
          <p:cNvPr id="28" name="Text 26"/>
          <p:cNvSpPr txBox="1"/>
          <p:nvPr/>
        </p:nvSpPr>
        <p:spPr>
          <a:xfrm>
            <a:off x="822960" y="3927348"/>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3</a:t>
            </a:r>
            <a:endParaRPr lang="en-US" sz="1700" dirty="0"/>
          </a:p>
        </p:txBody>
      </p:sp>
      <p:sp>
        <p:nvSpPr>
          <p:cNvPr id="29" name="Text 27"/>
          <p:cNvSpPr txBox="1"/>
          <p:nvPr/>
        </p:nvSpPr>
        <p:spPr>
          <a:xfrm>
            <a:off x="1508760" y="3675888"/>
            <a:ext cx="4221328" cy="960120"/>
          </a:xfrm>
          <a:prstGeom prst="rect">
            <a:avLst/>
          </a:prstGeom>
          <a:noFill/>
          <a:ln/>
        </p:spPr>
        <p:txBody>
          <a:bodyPr wrap="square" lIns="0" tIns="0" rIns="0" bIns="0" rtlCol="0" anchor="ctr"/>
          <a:lstStyle/>
          <a:p>
            <a:pPr indent="0" marL="0">
              <a:buNone/>
            </a:pPr>
            <a:r>
              <a:rPr lang="en-US" sz="1700" dirty="0">
                <a:solidFill>
                  <a:srgbClr val="202124"/>
                </a:solidFill>
                <a:latin typeface="Roboto" pitchFamily="34" charset="0"/>
                <a:ea typeface="Roboto" pitchFamily="34" charset="-122"/>
                <a:cs typeface="Roboto" pitchFamily="34" charset="-120"/>
              </a:rPr>
              <a:t>Per què el segle V aC s'anomena «segle de Pèricles»?</a:t>
            </a:r>
            <a:endParaRPr lang="en-US" sz="1700" dirty="0"/>
          </a:p>
        </p:txBody>
      </p:sp>
      <p:sp>
        <p:nvSpPr>
          <p:cNvPr id="30" name="Pregunta 4"/>
          <p:cNvSpPr/>
          <p:nvPr/>
        </p:nvSpPr>
        <p:spPr>
          <a:xfrm>
            <a:off x="6233008" y="3675888"/>
            <a:ext cx="5410048" cy="960120"/>
          </a:xfrm>
          <a:prstGeom prst="roundRect">
            <a:avLst>
              <a:gd name="adj" fmla="val 10476"/>
            </a:avLst>
          </a:prstGeom>
          <a:solidFill>
            <a:srgbClr val="FFFFFF"/>
          </a:solidFill>
          <a:ln w="12700">
            <a:solidFill>
              <a:srgbClr val="DADCE0"/>
            </a:solidFill>
            <a:prstDash val="solid"/>
          </a:ln>
        </p:spPr>
      </p:sp>
      <p:sp>
        <p:nvSpPr>
          <p:cNvPr id="31" name="Número 4"/>
          <p:cNvSpPr/>
          <p:nvPr/>
        </p:nvSpPr>
        <p:spPr>
          <a:xfrm>
            <a:off x="6507328" y="3927348"/>
            <a:ext cx="457200" cy="457200"/>
          </a:xfrm>
          <a:prstGeom prst="ellipse">
            <a:avLst/>
          </a:prstGeom>
          <a:solidFill>
            <a:srgbClr val="188038"/>
          </a:solidFill>
          <a:ln/>
        </p:spPr>
      </p:sp>
      <p:sp>
        <p:nvSpPr>
          <p:cNvPr id="32" name="Text 30"/>
          <p:cNvSpPr txBox="1"/>
          <p:nvPr/>
        </p:nvSpPr>
        <p:spPr>
          <a:xfrm>
            <a:off x="6507328" y="3927348"/>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4</a:t>
            </a:r>
            <a:endParaRPr lang="en-US" sz="1700" dirty="0"/>
          </a:p>
        </p:txBody>
      </p:sp>
      <p:sp>
        <p:nvSpPr>
          <p:cNvPr id="33" name="Text 31"/>
          <p:cNvSpPr txBox="1"/>
          <p:nvPr/>
        </p:nvSpPr>
        <p:spPr>
          <a:xfrm>
            <a:off x="7193128" y="3675888"/>
            <a:ext cx="4221328" cy="960120"/>
          </a:xfrm>
          <a:prstGeom prst="rect">
            <a:avLst/>
          </a:prstGeom>
          <a:noFill/>
          <a:ln/>
        </p:spPr>
        <p:txBody>
          <a:bodyPr wrap="square" lIns="0" tIns="0" rIns="0" bIns="0" rtlCol="0" anchor="ctr"/>
          <a:lstStyle/>
          <a:p>
            <a:pPr indent="0" marL="0">
              <a:buNone/>
            </a:pPr>
            <a:r>
              <a:rPr lang="en-US" sz="1700" dirty="0">
                <a:solidFill>
                  <a:srgbClr val="202124"/>
                </a:solidFill>
                <a:latin typeface="Roboto" pitchFamily="34" charset="0"/>
                <a:ea typeface="Roboto" pitchFamily="34" charset="-122"/>
                <a:cs typeface="Roboto" pitchFamily="34" charset="-120"/>
              </a:rPr>
              <a:t>Per què diem que la lliga de Delos es va convertir en un imperi d'Atenes?</a:t>
            </a:r>
            <a:endParaRPr lang="en-US" sz="1700" dirty="0"/>
          </a:p>
        </p:txBody>
      </p:sp>
      <p:sp>
        <p:nvSpPr>
          <p:cNvPr id="34" name="Pregunta 5"/>
          <p:cNvSpPr/>
          <p:nvPr/>
        </p:nvSpPr>
        <p:spPr>
          <a:xfrm>
            <a:off x="548640" y="4837176"/>
            <a:ext cx="5410048" cy="960120"/>
          </a:xfrm>
          <a:prstGeom prst="roundRect">
            <a:avLst>
              <a:gd name="adj" fmla="val 10476"/>
            </a:avLst>
          </a:prstGeom>
          <a:solidFill>
            <a:srgbClr val="FFFFFF"/>
          </a:solidFill>
          <a:ln w="12700">
            <a:solidFill>
              <a:srgbClr val="DADCE0"/>
            </a:solidFill>
            <a:prstDash val="solid"/>
          </a:ln>
        </p:spPr>
      </p:sp>
      <p:sp>
        <p:nvSpPr>
          <p:cNvPr id="35" name="Número 5"/>
          <p:cNvSpPr/>
          <p:nvPr/>
        </p:nvSpPr>
        <p:spPr>
          <a:xfrm>
            <a:off x="822960" y="5088636"/>
            <a:ext cx="457200" cy="457200"/>
          </a:xfrm>
          <a:prstGeom prst="ellipse">
            <a:avLst/>
          </a:prstGeom>
          <a:solidFill>
            <a:srgbClr val="188038"/>
          </a:solidFill>
          <a:ln/>
        </p:spPr>
      </p:sp>
      <p:sp>
        <p:nvSpPr>
          <p:cNvPr id="36" name="Text 34"/>
          <p:cNvSpPr txBox="1"/>
          <p:nvPr/>
        </p:nvSpPr>
        <p:spPr>
          <a:xfrm>
            <a:off x="822960" y="5088636"/>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5</a:t>
            </a:r>
            <a:endParaRPr lang="en-US" sz="1700" dirty="0"/>
          </a:p>
        </p:txBody>
      </p:sp>
      <p:sp>
        <p:nvSpPr>
          <p:cNvPr id="37" name="Text 35"/>
          <p:cNvSpPr txBox="1"/>
          <p:nvPr/>
        </p:nvSpPr>
        <p:spPr>
          <a:xfrm>
            <a:off x="1508760" y="4837176"/>
            <a:ext cx="4221328" cy="960120"/>
          </a:xfrm>
          <a:prstGeom prst="rect">
            <a:avLst/>
          </a:prstGeom>
          <a:noFill/>
          <a:ln/>
        </p:spPr>
        <p:txBody>
          <a:bodyPr wrap="square" lIns="0" tIns="0" rIns="0" bIns="0" rtlCol="0" anchor="ctr"/>
          <a:lstStyle/>
          <a:p>
            <a:pPr indent="0" marL="0">
              <a:buNone/>
            </a:pPr>
            <a:r>
              <a:rPr lang="en-US" sz="1700" dirty="0">
                <a:solidFill>
                  <a:srgbClr val="202124"/>
                </a:solidFill>
                <a:latin typeface="Roboto" pitchFamily="34" charset="0"/>
                <a:ea typeface="Roboto" pitchFamily="34" charset="-122"/>
                <a:cs typeface="Roboto" pitchFamily="34" charset="-120"/>
              </a:rPr>
              <a:t>Segons Tucídides, quina va ser la causa més profunda de la guerra del Peloponès?</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Capçalera"/>
          <p:cNvSpPr/>
          <p:nvPr/>
        </p:nvSpPr>
        <p:spPr>
          <a:xfrm>
            <a:off x="548640" y="548640"/>
            <a:ext cx="6720840" cy="3657600"/>
          </a:xfrm>
          <a:prstGeom prst="roundRect">
            <a:avLst>
              <a:gd name="adj" fmla="val 2750"/>
            </a:avLst>
          </a:prstGeom>
          <a:solidFill>
            <a:srgbClr val="188038"/>
          </a:solidFill>
          <a:ln/>
        </p:spPr>
      </p:sp>
      <p:pic>
        <p:nvPicPr>
          <p:cNvPr id="3" name="Il·lustració d'un temple grec i el sol" descr="/home/claude/work/build/hero-crop.png">    </p:cNvPr>
          <p:cNvPicPr>
            <a:picLocks noChangeAspect="1"/>
          </p:cNvPicPr>
          <p:nvPr/>
        </p:nvPicPr>
        <p:blipFill>
          <a:blip r:embed="rId1"/>
          <a:stretch>
            <a:fillRect/>
          </a:stretch>
        </p:blipFill>
        <p:spPr>
          <a:xfrm>
            <a:off x="3520440" y="2395912"/>
            <a:ext cx="3566160" cy="1792040"/>
          </a:xfrm>
          <a:prstGeom prst="rect">
            <a:avLst/>
          </a:prstGeom>
        </p:spPr>
      </p:pic>
      <p:sp>
        <p:nvSpPr>
          <p:cNvPr id="4" name="Etiqueta Apartat 5"/>
          <p:cNvSpPr/>
          <p:nvPr/>
        </p:nvSpPr>
        <p:spPr>
          <a:xfrm>
            <a:off x="960120" y="896112"/>
            <a:ext cx="1035101" cy="310896"/>
          </a:xfrm>
          <a:prstGeom prst="roundRect">
            <a:avLst>
              <a:gd name="adj" fmla="val 50000"/>
            </a:avLst>
          </a:prstGeom>
          <a:solidFill>
            <a:srgbClr val="FFFFFF">
              <a:alpha val="18000"/>
            </a:srgbClr>
          </a:solidFill>
          <a:ln/>
        </p:spPr>
      </p:sp>
      <p:sp>
        <p:nvSpPr>
          <p:cNvPr id="5" name="Text 2"/>
          <p:cNvSpPr txBox="1"/>
          <p:nvPr/>
        </p:nvSpPr>
        <p:spPr>
          <a:xfrm>
            <a:off x="960120" y="896112"/>
            <a:ext cx="1035101" cy="310896"/>
          </a:xfrm>
          <a:prstGeom prst="rect">
            <a:avLst/>
          </a:prstGeom>
          <a:noFill/>
          <a:ln/>
        </p:spPr>
        <p:txBody>
          <a:bodyPr wrap="square" lIns="0" tIns="0" rIns="0" bIns="0" rtlCol="0" anchor="ctr"/>
          <a:lstStyle/>
          <a:p>
            <a:pPr algn="ctr" indent="0" marL="0">
              <a:buNone/>
            </a:pPr>
            <a:r>
              <a:rPr lang="en-US" sz="1250" dirty="0">
                <a:solidFill>
                  <a:srgbClr val="FFFFFF"/>
                </a:solidFill>
                <a:latin typeface="Roboto" pitchFamily="34" charset="0"/>
                <a:ea typeface="Roboto" pitchFamily="34" charset="-122"/>
                <a:cs typeface="Roboto" pitchFamily="34" charset="-120"/>
              </a:rPr>
              <a:t>Apartat 5</a:t>
            </a:r>
            <a:endParaRPr lang="en-US" sz="1250" dirty="0"/>
          </a:p>
        </p:txBody>
      </p:sp>
      <p:sp>
        <p:nvSpPr>
          <p:cNvPr id="6" name="Text 3"/>
          <p:cNvSpPr txBox="1"/>
          <p:nvPr/>
        </p:nvSpPr>
        <p:spPr>
          <a:xfrm>
            <a:off x="960120" y="1371600"/>
            <a:ext cx="5760720" cy="1280160"/>
          </a:xfrm>
          <a:prstGeom prst="rect">
            <a:avLst/>
          </a:prstGeom>
          <a:noFill/>
          <a:ln/>
        </p:spPr>
        <p:txBody>
          <a:bodyPr wrap="square" lIns="0" tIns="0" rIns="0" bIns="0" rtlCol="0" anchor="t"/>
          <a:lstStyle/>
          <a:p>
            <a:pPr indent="0" marL="0">
              <a:lnSpc>
                <a:spcPct val="95000"/>
              </a:lnSpc>
              <a:buNone/>
            </a:pPr>
            <a:r>
              <a:rPr lang="en-US" sz="3400" b="1" dirty="0">
                <a:solidFill>
                  <a:srgbClr val="FFFFFF"/>
                </a:solidFill>
                <a:latin typeface="Roboto" pitchFamily="34" charset="0"/>
                <a:ea typeface="Roboto" pitchFamily="34" charset="-122"/>
                <a:cs typeface="Roboto" pitchFamily="34" charset="-120"/>
              </a:rPr>
              <a:t>Alexandre el Magne i l'època hel·lenística</a:t>
            </a:r>
            <a:endParaRPr lang="en-US" sz="3400" dirty="0"/>
          </a:p>
        </p:txBody>
      </p:sp>
      <p:sp>
        <p:nvSpPr>
          <p:cNvPr id="7" name="Pregunta guia"/>
          <p:cNvSpPr/>
          <p:nvPr/>
        </p:nvSpPr>
        <p:spPr>
          <a:xfrm>
            <a:off x="548640" y="4389120"/>
            <a:ext cx="6720840" cy="1645920"/>
          </a:xfrm>
          <a:prstGeom prst="roundRect">
            <a:avLst>
              <a:gd name="adj" fmla="val 6111"/>
            </a:avLst>
          </a:prstGeom>
          <a:solidFill>
            <a:srgbClr val="F6F8FB"/>
          </a:solidFill>
          <a:ln/>
        </p:spPr>
      </p:sp>
      <p:sp>
        <p:nvSpPr>
          <p:cNvPr id="8" name="Text 5"/>
          <p:cNvSpPr txBox="1"/>
          <p:nvPr/>
        </p:nvSpPr>
        <p:spPr>
          <a:xfrm>
            <a:off x="914400" y="4590288"/>
            <a:ext cx="4572000" cy="320040"/>
          </a:xfrm>
          <a:prstGeom prst="rect">
            <a:avLst/>
          </a:prstGeom>
          <a:noFill/>
          <a:ln/>
        </p:spPr>
        <p:txBody>
          <a:bodyPr wrap="square" lIns="0" tIns="0" rIns="0" bIns="0" rtlCol="0" anchor="t"/>
          <a:lstStyle/>
          <a:p>
            <a:pPr indent="0" marL="0">
              <a:buNone/>
            </a:pPr>
            <a:r>
              <a:rPr lang="en-US" sz="1300" b="1" dirty="0">
                <a:solidFill>
                  <a:srgbClr val="188038"/>
                </a:solidFill>
                <a:latin typeface="Roboto" pitchFamily="34" charset="0"/>
                <a:ea typeface="Roboto" pitchFamily="34" charset="-122"/>
                <a:cs typeface="Roboto" pitchFamily="34" charset="-120"/>
              </a:rPr>
              <a:t>Pregunta guia</a:t>
            </a:r>
            <a:endParaRPr lang="en-US" sz="1300" dirty="0"/>
          </a:p>
        </p:txBody>
      </p:sp>
      <p:sp>
        <p:nvSpPr>
          <p:cNvPr id="9" name="Text 6"/>
          <p:cNvSpPr txBox="1"/>
          <p:nvPr/>
        </p:nvSpPr>
        <p:spPr>
          <a:xfrm>
            <a:off x="914400" y="4937760"/>
            <a:ext cx="6035040" cy="914400"/>
          </a:xfrm>
          <a:prstGeom prst="rect">
            <a:avLst/>
          </a:prstGeom>
          <a:noFill/>
          <a:ln/>
        </p:spPr>
        <p:txBody>
          <a:bodyPr wrap="square" lIns="0" tIns="0" rIns="0" bIns="0" rtlCol="0" anchor="t"/>
          <a:lstStyle/>
          <a:p>
            <a:pPr indent="0" marL="0">
              <a:buNone/>
            </a:pPr>
            <a:r>
              <a:rPr lang="en-US" sz="1900" dirty="0">
                <a:solidFill>
                  <a:srgbClr val="5F6368"/>
                </a:solidFill>
                <a:latin typeface="Roboto" pitchFamily="34" charset="0"/>
                <a:ea typeface="Roboto" pitchFamily="34" charset="-122"/>
                <a:cs typeface="Roboto" pitchFamily="34" charset="-120"/>
              </a:rPr>
              <a:t>Com pot un sol rei, en onze anys, arribar de Grècia fins a l'Índia?</a:t>
            </a:r>
            <a:endParaRPr lang="en-US" sz="1900" dirty="0"/>
          </a:p>
        </p:txBody>
      </p:sp>
      <p:sp>
        <p:nvSpPr>
          <p:cNvPr id="10" name="Fons Alexandre el Magne i l'època hel·lenística"/>
          <p:cNvSpPr/>
          <p:nvPr/>
        </p:nvSpPr>
        <p:spPr>
          <a:xfrm>
            <a:off x="7635240" y="1511117"/>
            <a:ext cx="4007815" cy="2765918"/>
          </a:xfrm>
          <a:prstGeom prst="roundRect">
            <a:avLst>
              <a:gd name="adj" fmla="val 3637"/>
            </a:avLst>
          </a:prstGeom>
          <a:solidFill>
            <a:srgbClr val="F6F8FB"/>
          </a:solidFill>
          <a:ln/>
        </p:spPr>
      </p:sp>
      <p:pic>
        <p:nvPicPr>
          <p:cNvPr id="11" name="Alexandre el Magne i l'època hel·lenística" descr="/home/claude/work/build/img/alexandre.jpg">    </p:cNvPr>
          <p:cNvPicPr>
            <a:picLocks noChangeAspect="1"/>
          </p:cNvPicPr>
          <p:nvPr/>
        </p:nvPicPr>
        <p:blipFill>
          <a:blip r:embed="rId2"/>
          <a:stretch>
            <a:fillRect/>
          </a:stretch>
        </p:blipFill>
        <p:spPr>
          <a:xfrm>
            <a:off x="7635240" y="1511117"/>
            <a:ext cx="4007815" cy="2765918"/>
          </a:xfrm>
          <a:prstGeom prst="rect">
            <a:avLst/>
          </a:prstGeom>
        </p:spPr>
      </p:pic>
      <p:sp>
        <p:nvSpPr>
          <p:cNvPr id="12" name="Text 8"/>
          <p:cNvSpPr txBox="1"/>
          <p:nvPr/>
        </p:nvSpPr>
        <p:spPr>
          <a:xfrm>
            <a:off x="7635240" y="4386763"/>
            <a:ext cx="4007815"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Alexandre a la batalla d'Issos (333 aC), muntant el seu cavall, Bucèfal. Detall del mosaic d'Alexandre de Pompeia (cap al 100 aC). Museu Arqueològic Nacional de Nàpols. Foto: Ruthven, Wikimedia Commons, domini públic.</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5</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Macedònia i la batalla de Queronea</a:t>
            </a:r>
            <a:endParaRPr lang="en-US" sz="2800" dirty="0"/>
          </a:p>
        </p:txBody>
      </p:sp>
      <p:sp>
        <p:nvSpPr>
          <p:cNvPr id="5" name="Text 3"/>
          <p:cNvSpPr txBox="1"/>
          <p:nvPr/>
        </p:nvSpPr>
        <p:spPr>
          <a:xfrm>
            <a:off x="548640" y="1371600"/>
            <a:ext cx="11094415" cy="45720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La debilitat de les polis la va aprofitar un regne del nord que els grecs consideraven mig bàrbar, Macedònia.</a:t>
            </a:r>
            <a:endParaRPr lang="en-US" sz="1700" dirty="0"/>
          </a:p>
        </p:txBody>
      </p:sp>
      <p:sp>
        <p:nvSpPr>
          <p:cNvPr id="6" name="Targeta Un exèrcit nou"/>
          <p:cNvSpPr/>
          <p:nvPr/>
        </p:nvSpPr>
        <p:spPr>
          <a:xfrm>
            <a:off x="548640" y="1874520"/>
            <a:ext cx="2464994" cy="2423160"/>
          </a:xfrm>
          <a:prstGeom prst="roundRect">
            <a:avLst>
              <a:gd name="adj" fmla="val 4151"/>
            </a:avLst>
          </a:prstGeom>
          <a:solidFill>
            <a:srgbClr val="FFFFFF"/>
          </a:solidFill>
          <a:ln w="12700">
            <a:solidFill>
              <a:srgbClr val="DADCE0"/>
            </a:solidFill>
            <a:prstDash val="solid"/>
          </a:ln>
        </p:spPr>
      </p:sp>
      <p:sp>
        <p:nvSpPr>
          <p:cNvPr id="7" name="Cercle icona"/>
          <p:cNvSpPr/>
          <p:nvPr/>
        </p:nvSpPr>
        <p:spPr>
          <a:xfrm>
            <a:off x="777240" y="2103120"/>
            <a:ext cx="594360" cy="594360"/>
          </a:xfrm>
          <a:prstGeom prst="ellipse">
            <a:avLst/>
          </a:prstGeom>
          <a:solidFill>
            <a:srgbClr val="E6F4EA"/>
          </a:solidFill>
          <a:ln/>
        </p:spPr>
      </p:sp>
      <p:pic>
        <p:nvPicPr>
          <p:cNvPr id="8" name="Icona TbShield" descr="/home/claude/work/build/img/ic/TbShield-g.png">    </p:cNvPr>
          <p:cNvPicPr>
            <a:picLocks noChangeAspect="1"/>
          </p:cNvPicPr>
          <p:nvPr/>
        </p:nvPicPr>
        <p:blipFill>
          <a:blip r:embed="rId1"/>
          <a:stretch>
            <a:fillRect/>
          </a:stretch>
        </p:blipFill>
        <p:spPr>
          <a:xfrm>
            <a:off x="907999" y="2233879"/>
            <a:ext cx="332842" cy="332842"/>
          </a:xfrm>
          <a:prstGeom prst="rect">
            <a:avLst/>
          </a:prstGeom>
        </p:spPr>
      </p:pic>
      <p:sp>
        <p:nvSpPr>
          <p:cNvPr id="9" name="Text 6"/>
          <p:cNvSpPr txBox="1"/>
          <p:nvPr/>
        </p:nvSpPr>
        <p:spPr>
          <a:xfrm>
            <a:off x="777240" y="2834640"/>
            <a:ext cx="2007794" cy="274320"/>
          </a:xfrm>
          <a:prstGeom prst="rect">
            <a:avLst/>
          </a:prstGeom>
          <a:noFill/>
          <a:ln/>
        </p:spPr>
        <p:txBody>
          <a:bodyPr wrap="square" lIns="0" tIns="0" rIns="0" bIns="0" rtlCol="0" anchor="t"/>
          <a:lstStyle/>
          <a:p>
            <a:pPr indent="0" marL="0">
              <a:buNone/>
            </a:pPr>
            <a:r>
              <a:rPr lang="en-US" sz="1800" b="1" dirty="0">
                <a:solidFill>
                  <a:srgbClr val="188038"/>
                </a:solidFill>
                <a:latin typeface="Roboto" pitchFamily="34" charset="0"/>
                <a:ea typeface="Roboto" pitchFamily="34" charset="-122"/>
                <a:cs typeface="Roboto" pitchFamily="34" charset="-120"/>
              </a:rPr>
              <a:t>Un exèrcit nou</a:t>
            </a:r>
            <a:endParaRPr lang="en-US" sz="1800" dirty="0"/>
          </a:p>
        </p:txBody>
      </p:sp>
      <p:sp>
        <p:nvSpPr>
          <p:cNvPr id="10" name="Text 7"/>
          <p:cNvSpPr txBox="1"/>
          <p:nvPr/>
        </p:nvSpPr>
        <p:spPr>
          <a:xfrm>
            <a:off x="777240" y="3200400"/>
            <a:ext cx="2007794" cy="96012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Filip II arma la falange amb sarisses, llances molt més llargues.</a:t>
            </a:r>
            <a:endParaRPr lang="en-US" sz="1500" dirty="0"/>
          </a:p>
        </p:txBody>
      </p:sp>
      <p:sp>
        <p:nvSpPr>
          <p:cNvPr id="11" name="Targeta Queronea, 338 aC"/>
          <p:cNvSpPr/>
          <p:nvPr/>
        </p:nvSpPr>
        <p:spPr>
          <a:xfrm>
            <a:off x="3425114" y="1874520"/>
            <a:ext cx="2464994" cy="2423160"/>
          </a:xfrm>
          <a:prstGeom prst="roundRect">
            <a:avLst>
              <a:gd name="adj" fmla="val 4151"/>
            </a:avLst>
          </a:prstGeom>
          <a:solidFill>
            <a:srgbClr val="FFFFFF"/>
          </a:solidFill>
          <a:ln w="12700">
            <a:solidFill>
              <a:srgbClr val="DADCE0"/>
            </a:solidFill>
            <a:prstDash val="solid"/>
          </a:ln>
        </p:spPr>
      </p:sp>
      <p:sp>
        <p:nvSpPr>
          <p:cNvPr id="12" name="Cercle icona"/>
          <p:cNvSpPr/>
          <p:nvPr/>
        </p:nvSpPr>
        <p:spPr>
          <a:xfrm>
            <a:off x="3653714" y="2103120"/>
            <a:ext cx="594360" cy="594360"/>
          </a:xfrm>
          <a:prstGeom prst="ellipse">
            <a:avLst/>
          </a:prstGeom>
          <a:solidFill>
            <a:srgbClr val="E6F4EA"/>
          </a:solidFill>
          <a:ln/>
        </p:spPr>
      </p:sp>
      <p:pic>
        <p:nvPicPr>
          <p:cNvPr id="13" name="Icona TbSwords" descr="/home/claude/work/build/img/ic/TbSwords-g.png">    </p:cNvPr>
          <p:cNvPicPr>
            <a:picLocks noChangeAspect="1"/>
          </p:cNvPicPr>
          <p:nvPr/>
        </p:nvPicPr>
        <p:blipFill>
          <a:blip r:embed="rId2"/>
          <a:stretch>
            <a:fillRect/>
          </a:stretch>
        </p:blipFill>
        <p:spPr>
          <a:xfrm>
            <a:off x="3784473" y="2233879"/>
            <a:ext cx="332842" cy="332842"/>
          </a:xfrm>
          <a:prstGeom prst="rect">
            <a:avLst/>
          </a:prstGeom>
        </p:spPr>
      </p:pic>
      <p:sp>
        <p:nvSpPr>
          <p:cNvPr id="14" name="Text 10"/>
          <p:cNvSpPr txBox="1"/>
          <p:nvPr/>
        </p:nvSpPr>
        <p:spPr>
          <a:xfrm>
            <a:off x="3653714" y="2834640"/>
            <a:ext cx="2007794" cy="274320"/>
          </a:xfrm>
          <a:prstGeom prst="rect">
            <a:avLst/>
          </a:prstGeom>
          <a:noFill/>
          <a:ln/>
        </p:spPr>
        <p:txBody>
          <a:bodyPr wrap="square" lIns="0" tIns="0" rIns="0" bIns="0" rtlCol="0" anchor="t"/>
          <a:lstStyle/>
          <a:p>
            <a:pPr indent="0" marL="0">
              <a:buNone/>
            </a:pPr>
            <a:r>
              <a:rPr lang="en-US" sz="1800" b="1" dirty="0">
                <a:solidFill>
                  <a:srgbClr val="188038"/>
                </a:solidFill>
                <a:latin typeface="Roboto" pitchFamily="34" charset="0"/>
                <a:ea typeface="Roboto" pitchFamily="34" charset="-122"/>
                <a:cs typeface="Roboto" pitchFamily="34" charset="-120"/>
              </a:rPr>
              <a:t>Queronea, 338 aC</a:t>
            </a:r>
            <a:endParaRPr lang="en-US" sz="1800" dirty="0"/>
          </a:p>
        </p:txBody>
      </p:sp>
      <p:sp>
        <p:nvSpPr>
          <p:cNvPr id="15" name="Text 11"/>
          <p:cNvSpPr txBox="1"/>
          <p:nvPr/>
        </p:nvSpPr>
        <p:spPr>
          <a:xfrm>
            <a:off x="3653714" y="3200400"/>
            <a:ext cx="2007794" cy="96012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Filip derrota Atenes i Tebes.</a:t>
            </a:r>
            <a:endParaRPr lang="en-US" sz="1500" dirty="0"/>
          </a:p>
        </p:txBody>
      </p:sp>
      <p:sp>
        <p:nvSpPr>
          <p:cNvPr id="16" name="Targeta La lliga de Corint"/>
          <p:cNvSpPr/>
          <p:nvPr/>
        </p:nvSpPr>
        <p:spPr>
          <a:xfrm>
            <a:off x="6301588" y="1874520"/>
            <a:ext cx="2464994" cy="2423160"/>
          </a:xfrm>
          <a:prstGeom prst="roundRect">
            <a:avLst>
              <a:gd name="adj" fmla="val 4151"/>
            </a:avLst>
          </a:prstGeom>
          <a:solidFill>
            <a:srgbClr val="FFFFFF"/>
          </a:solidFill>
          <a:ln w="12700">
            <a:solidFill>
              <a:srgbClr val="DADCE0"/>
            </a:solidFill>
            <a:prstDash val="solid"/>
          </a:ln>
        </p:spPr>
      </p:sp>
      <p:sp>
        <p:nvSpPr>
          <p:cNvPr id="17" name="Cercle icona"/>
          <p:cNvSpPr/>
          <p:nvPr/>
        </p:nvSpPr>
        <p:spPr>
          <a:xfrm>
            <a:off x="6530188" y="2103120"/>
            <a:ext cx="594360" cy="594360"/>
          </a:xfrm>
          <a:prstGeom prst="ellipse">
            <a:avLst/>
          </a:prstGeom>
          <a:solidFill>
            <a:srgbClr val="E6F4EA"/>
          </a:solidFill>
          <a:ln/>
        </p:spPr>
      </p:sp>
      <p:pic>
        <p:nvPicPr>
          <p:cNvPr id="18" name="Icona TbUsersGroup" descr="/home/claude/work/build/img/ic/TbUsersGroup-g.png">    </p:cNvPr>
          <p:cNvPicPr>
            <a:picLocks noChangeAspect="1"/>
          </p:cNvPicPr>
          <p:nvPr/>
        </p:nvPicPr>
        <p:blipFill>
          <a:blip r:embed="rId3"/>
          <a:stretch>
            <a:fillRect/>
          </a:stretch>
        </p:blipFill>
        <p:spPr>
          <a:xfrm>
            <a:off x="6660947" y="2233879"/>
            <a:ext cx="332842" cy="332842"/>
          </a:xfrm>
          <a:prstGeom prst="rect">
            <a:avLst/>
          </a:prstGeom>
        </p:spPr>
      </p:pic>
      <p:sp>
        <p:nvSpPr>
          <p:cNvPr id="19" name="Text 14"/>
          <p:cNvSpPr txBox="1"/>
          <p:nvPr/>
        </p:nvSpPr>
        <p:spPr>
          <a:xfrm>
            <a:off x="6530188" y="2834640"/>
            <a:ext cx="2007794" cy="274320"/>
          </a:xfrm>
          <a:prstGeom prst="rect">
            <a:avLst/>
          </a:prstGeom>
          <a:noFill/>
          <a:ln/>
        </p:spPr>
        <p:txBody>
          <a:bodyPr wrap="square" lIns="0" tIns="0" rIns="0" bIns="0" rtlCol="0" anchor="t"/>
          <a:lstStyle/>
          <a:p>
            <a:pPr indent="0" marL="0">
              <a:buNone/>
            </a:pPr>
            <a:r>
              <a:rPr lang="en-US" sz="1800" b="1" dirty="0">
                <a:solidFill>
                  <a:srgbClr val="188038"/>
                </a:solidFill>
                <a:latin typeface="Roboto" pitchFamily="34" charset="0"/>
                <a:ea typeface="Roboto" pitchFamily="34" charset="-122"/>
                <a:cs typeface="Roboto" pitchFamily="34" charset="-120"/>
              </a:rPr>
              <a:t>La lliga de Corint</a:t>
            </a:r>
            <a:endParaRPr lang="en-US" sz="1800" dirty="0"/>
          </a:p>
        </p:txBody>
      </p:sp>
      <p:sp>
        <p:nvSpPr>
          <p:cNvPr id="20" name="Text 15"/>
          <p:cNvSpPr txBox="1"/>
          <p:nvPr/>
        </p:nvSpPr>
        <p:spPr>
          <a:xfrm>
            <a:off x="6530188" y="3200400"/>
            <a:ext cx="2007794" cy="96012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L'any següent reuneix les polis per atacar l'Imperi persa.</a:t>
            </a:r>
            <a:endParaRPr lang="en-US" sz="1500" dirty="0"/>
          </a:p>
        </p:txBody>
      </p:sp>
      <p:sp>
        <p:nvSpPr>
          <p:cNvPr id="21" name="Targeta 336 aC"/>
          <p:cNvSpPr/>
          <p:nvPr/>
        </p:nvSpPr>
        <p:spPr>
          <a:xfrm>
            <a:off x="9178061" y="1874520"/>
            <a:ext cx="2464994" cy="2423160"/>
          </a:xfrm>
          <a:prstGeom prst="roundRect">
            <a:avLst>
              <a:gd name="adj" fmla="val 4151"/>
            </a:avLst>
          </a:prstGeom>
          <a:solidFill>
            <a:srgbClr val="FFFFFF"/>
          </a:solidFill>
          <a:ln w="12700">
            <a:solidFill>
              <a:srgbClr val="DADCE0"/>
            </a:solidFill>
            <a:prstDash val="solid"/>
          </a:ln>
        </p:spPr>
      </p:sp>
      <p:sp>
        <p:nvSpPr>
          <p:cNvPr id="22" name="Cercle icona"/>
          <p:cNvSpPr/>
          <p:nvPr/>
        </p:nvSpPr>
        <p:spPr>
          <a:xfrm>
            <a:off x="9406661" y="2103120"/>
            <a:ext cx="594360" cy="594360"/>
          </a:xfrm>
          <a:prstGeom prst="ellipse">
            <a:avLst/>
          </a:prstGeom>
          <a:solidFill>
            <a:srgbClr val="E6F4EA"/>
          </a:solidFill>
          <a:ln/>
        </p:spPr>
      </p:sp>
      <p:pic>
        <p:nvPicPr>
          <p:cNvPr id="23" name="Icona TbCrown" descr="/home/claude/work/build/img/ic/TbCrown-g.png">    </p:cNvPr>
          <p:cNvPicPr>
            <a:picLocks noChangeAspect="1"/>
          </p:cNvPicPr>
          <p:nvPr/>
        </p:nvPicPr>
        <p:blipFill>
          <a:blip r:embed="rId4"/>
          <a:stretch>
            <a:fillRect/>
          </a:stretch>
        </p:blipFill>
        <p:spPr>
          <a:xfrm>
            <a:off x="9537421" y="2233879"/>
            <a:ext cx="332842" cy="332842"/>
          </a:xfrm>
          <a:prstGeom prst="rect">
            <a:avLst/>
          </a:prstGeom>
        </p:spPr>
      </p:pic>
      <p:sp>
        <p:nvSpPr>
          <p:cNvPr id="24" name="Text 18"/>
          <p:cNvSpPr txBox="1"/>
          <p:nvPr/>
        </p:nvSpPr>
        <p:spPr>
          <a:xfrm>
            <a:off x="9406661" y="2834640"/>
            <a:ext cx="2007794" cy="274320"/>
          </a:xfrm>
          <a:prstGeom prst="rect">
            <a:avLst/>
          </a:prstGeom>
          <a:noFill/>
          <a:ln/>
        </p:spPr>
        <p:txBody>
          <a:bodyPr wrap="square" lIns="0" tIns="0" rIns="0" bIns="0" rtlCol="0" anchor="t"/>
          <a:lstStyle/>
          <a:p>
            <a:pPr indent="0" marL="0">
              <a:buNone/>
            </a:pPr>
            <a:r>
              <a:rPr lang="en-US" sz="1800" b="1" dirty="0">
                <a:solidFill>
                  <a:srgbClr val="188038"/>
                </a:solidFill>
                <a:latin typeface="Roboto" pitchFamily="34" charset="0"/>
                <a:ea typeface="Roboto" pitchFamily="34" charset="-122"/>
                <a:cs typeface="Roboto" pitchFamily="34" charset="-120"/>
              </a:rPr>
              <a:t>336 aC</a:t>
            </a:r>
            <a:endParaRPr lang="en-US" sz="1800" dirty="0"/>
          </a:p>
        </p:txBody>
      </p:sp>
      <p:sp>
        <p:nvSpPr>
          <p:cNvPr id="25" name="Text 19"/>
          <p:cNvSpPr txBox="1"/>
          <p:nvPr/>
        </p:nvSpPr>
        <p:spPr>
          <a:xfrm>
            <a:off x="9406661" y="3200400"/>
            <a:ext cx="2007794" cy="96012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Filip és assassinat. El succeeix el seu fill, Alexandre.</a:t>
            </a:r>
            <a:endParaRPr lang="en-US" sz="1500" dirty="0"/>
          </a:p>
        </p:txBody>
      </p:sp>
      <p:sp>
        <p:nvSpPr>
          <p:cNvPr id="26" name="Fletxa"/>
          <p:cNvSpPr/>
          <p:nvPr/>
        </p:nvSpPr>
        <p:spPr>
          <a:xfrm>
            <a:off x="3123362" y="2926080"/>
            <a:ext cx="182880" cy="274320"/>
          </a:xfrm>
          <a:prstGeom prst="chevron">
            <a:avLst/>
          </a:prstGeom>
          <a:solidFill>
            <a:srgbClr val="188038"/>
          </a:solidFill>
          <a:ln/>
        </p:spPr>
      </p:sp>
      <p:sp>
        <p:nvSpPr>
          <p:cNvPr id="27" name="Fletxa"/>
          <p:cNvSpPr/>
          <p:nvPr/>
        </p:nvSpPr>
        <p:spPr>
          <a:xfrm>
            <a:off x="5999836" y="2926080"/>
            <a:ext cx="182880" cy="274320"/>
          </a:xfrm>
          <a:prstGeom prst="chevron">
            <a:avLst/>
          </a:prstGeom>
          <a:solidFill>
            <a:srgbClr val="188038"/>
          </a:solidFill>
          <a:ln/>
        </p:spPr>
      </p:sp>
      <p:sp>
        <p:nvSpPr>
          <p:cNvPr id="28" name="Fletxa"/>
          <p:cNvSpPr/>
          <p:nvPr/>
        </p:nvSpPr>
        <p:spPr>
          <a:xfrm>
            <a:off x="8876309" y="2926080"/>
            <a:ext cx="182880" cy="274320"/>
          </a:xfrm>
          <a:prstGeom prst="chevron">
            <a:avLst/>
          </a:prstGeom>
          <a:solidFill>
            <a:srgbClr val="188038"/>
          </a:solidFill>
          <a:ln/>
        </p:spPr>
      </p:sp>
      <p:sp>
        <p:nvSpPr>
          <p:cNvPr id="29" name="Comparació de llances"/>
          <p:cNvSpPr/>
          <p:nvPr/>
        </p:nvSpPr>
        <p:spPr>
          <a:xfrm>
            <a:off x="548640" y="4434840"/>
            <a:ext cx="11094415" cy="731520"/>
          </a:xfrm>
          <a:prstGeom prst="roundRect">
            <a:avLst>
              <a:gd name="adj" fmla="val 13750"/>
            </a:avLst>
          </a:prstGeom>
          <a:solidFill>
            <a:srgbClr val="F6F8FB"/>
          </a:solidFill>
          <a:ln/>
        </p:spPr>
      </p:sp>
      <p:sp>
        <p:nvSpPr>
          <p:cNvPr id="30" name="Persona"/>
          <p:cNvSpPr/>
          <p:nvPr/>
        </p:nvSpPr>
        <p:spPr>
          <a:xfrm>
            <a:off x="941832" y="4480560"/>
            <a:ext cx="219456" cy="219456"/>
          </a:xfrm>
          <a:prstGeom prst="ellipse">
            <a:avLst/>
          </a:prstGeom>
          <a:solidFill>
            <a:srgbClr val="80868B"/>
          </a:solidFill>
          <a:ln/>
        </p:spPr>
      </p:sp>
      <p:sp>
        <p:nvSpPr>
          <p:cNvPr id="31" name="Persona"/>
          <p:cNvSpPr/>
          <p:nvPr/>
        </p:nvSpPr>
        <p:spPr>
          <a:xfrm>
            <a:off x="859536" y="4732934"/>
            <a:ext cx="384048" cy="384048"/>
          </a:xfrm>
          <a:prstGeom prst="roundRect">
            <a:avLst>
              <a:gd name="adj" fmla="val 35714"/>
            </a:avLst>
          </a:prstGeom>
          <a:solidFill>
            <a:srgbClr val="80868B"/>
          </a:solidFill>
          <a:ln/>
        </p:spPr>
      </p:sp>
      <p:sp>
        <p:nvSpPr>
          <p:cNvPr id="32" name="Llança d'hoplita"/>
          <p:cNvSpPr/>
          <p:nvPr/>
        </p:nvSpPr>
        <p:spPr>
          <a:xfrm>
            <a:off x="1234440" y="4818888"/>
            <a:ext cx="1463040" cy="0"/>
          </a:xfrm>
          <a:prstGeom prst="line">
            <a:avLst/>
          </a:prstGeom>
          <a:noFill/>
          <a:ln w="50800">
            <a:solidFill>
              <a:srgbClr val="5F6368"/>
            </a:solidFill>
            <a:prstDash val="solid"/>
          </a:ln>
        </p:spPr>
      </p:sp>
      <p:sp>
        <p:nvSpPr>
          <p:cNvPr id="33" name="Text 27"/>
          <p:cNvSpPr txBox="1"/>
          <p:nvPr/>
        </p:nvSpPr>
        <p:spPr>
          <a:xfrm>
            <a:off x="2834640" y="4617720"/>
            <a:ext cx="1828800" cy="411480"/>
          </a:xfrm>
          <a:prstGeom prst="rect">
            <a:avLst/>
          </a:prstGeom>
          <a:noFill/>
          <a:ln/>
        </p:spPr>
        <p:txBody>
          <a:bodyPr wrap="square" lIns="0" tIns="0" rIns="0" bIns="0" rtlCol="0" anchor="ctr"/>
          <a:lstStyle/>
          <a:p>
            <a:pPr indent="0" marL="0">
              <a:buNone/>
            </a:pPr>
            <a:r>
              <a:rPr lang="en-US" sz="1500" dirty="0">
                <a:solidFill>
                  <a:srgbClr val="5F6368"/>
                </a:solidFill>
                <a:latin typeface="Roboto" pitchFamily="34" charset="0"/>
                <a:ea typeface="Roboto" pitchFamily="34" charset="-122"/>
                <a:cs typeface="Roboto" pitchFamily="34" charset="-120"/>
              </a:rPr>
              <a:t>Llança d'hoplita</a:t>
            </a:r>
            <a:endParaRPr lang="en-US" sz="1500" dirty="0"/>
          </a:p>
        </p:txBody>
      </p:sp>
      <p:sp>
        <p:nvSpPr>
          <p:cNvPr id="34" name="Persona"/>
          <p:cNvSpPr/>
          <p:nvPr/>
        </p:nvSpPr>
        <p:spPr>
          <a:xfrm>
            <a:off x="4919472" y="4480560"/>
            <a:ext cx="219456" cy="219456"/>
          </a:xfrm>
          <a:prstGeom prst="ellipse">
            <a:avLst/>
          </a:prstGeom>
          <a:solidFill>
            <a:srgbClr val="188038"/>
          </a:solidFill>
          <a:ln/>
        </p:spPr>
      </p:sp>
      <p:sp>
        <p:nvSpPr>
          <p:cNvPr id="35" name="Persona"/>
          <p:cNvSpPr/>
          <p:nvPr/>
        </p:nvSpPr>
        <p:spPr>
          <a:xfrm>
            <a:off x="4837176" y="4732934"/>
            <a:ext cx="384048" cy="384048"/>
          </a:xfrm>
          <a:prstGeom prst="roundRect">
            <a:avLst>
              <a:gd name="adj" fmla="val 35714"/>
            </a:avLst>
          </a:prstGeom>
          <a:solidFill>
            <a:srgbClr val="188038"/>
          </a:solidFill>
          <a:ln/>
        </p:spPr>
      </p:sp>
      <p:sp>
        <p:nvSpPr>
          <p:cNvPr id="36" name="Sarissa"/>
          <p:cNvSpPr/>
          <p:nvPr/>
        </p:nvSpPr>
        <p:spPr>
          <a:xfrm>
            <a:off x="5212080" y="4818888"/>
            <a:ext cx="3931920" cy="0"/>
          </a:xfrm>
          <a:prstGeom prst="line">
            <a:avLst/>
          </a:prstGeom>
          <a:noFill/>
          <a:ln w="50800">
            <a:solidFill>
              <a:srgbClr val="188038"/>
            </a:solidFill>
            <a:prstDash val="solid"/>
          </a:ln>
        </p:spPr>
      </p:sp>
      <p:sp>
        <p:nvSpPr>
          <p:cNvPr id="37" name="Text 31"/>
          <p:cNvSpPr txBox="1"/>
          <p:nvPr/>
        </p:nvSpPr>
        <p:spPr>
          <a:xfrm>
            <a:off x="9281160" y="4617720"/>
            <a:ext cx="2331720" cy="411480"/>
          </a:xfrm>
          <a:prstGeom prst="rect">
            <a:avLst/>
          </a:prstGeom>
          <a:noFill/>
          <a:ln/>
        </p:spPr>
        <p:txBody>
          <a:bodyPr wrap="square" lIns="0" tIns="0" rIns="0" bIns="0" rtlCol="0" anchor="ctr"/>
          <a:lstStyle/>
          <a:p>
            <a:pPr indent="0" marL="0">
              <a:buNone/>
            </a:pPr>
            <a:r>
              <a:rPr lang="en-US" sz="1500" b="1" dirty="0">
                <a:solidFill>
                  <a:srgbClr val="188038"/>
                </a:solidFill>
                <a:latin typeface="Roboto" pitchFamily="34" charset="0"/>
                <a:ea typeface="Roboto" pitchFamily="34" charset="-122"/>
                <a:cs typeface="Roboto" pitchFamily="34" charset="-120"/>
              </a:rPr>
              <a:t>Sarissa, de 4 a 7 metres</a:t>
            </a:r>
            <a:endParaRPr lang="en-US" sz="1500" dirty="0"/>
          </a:p>
        </p:txBody>
      </p:sp>
      <p:sp>
        <p:nvSpPr>
          <p:cNvPr id="38" name="El final de les polis lliures"/>
          <p:cNvSpPr/>
          <p:nvPr/>
        </p:nvSpPr>
        <p:spPr>
          <a:xfrm>
            <a:off x="548640" y="5257800"/>
            <a:ext cx="11094415" cy="749808"/>
          </a:xfrm>
          <a:prstGeom prst="roundRect">
            <a:avLst>
              <a:gd name="adj" fmla="val 13415"/>
            </a:avLst>
          </a:prstGeom>
          <a:solidFill>
            <a:srgbClr val="E6F4EA"/>
          </a:solidFill>
          <a:ln/>
        </p:spPr>
      </p:sp>
      <p:sp>
        <p:nvSpPr>
          <p:cNvPr id="39" name="Text 33"/>
          <p:cNvSpPr txBox="1"/>
          <p:nvPr/>
        </p:nvSpPr>
        <p:spPr>
          <a:xfrm>
            <a:off x="868680" y="5413248"/>
            <a:ext cx="1045433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El final de les polis lliures</a:t>
            </a:r>
            <a:endParaRPr lang="en-US" sz="1400" dirty="0"/>
          </a:p>
        </p:txBody>
      </p:sp>
      <p:sp>
        <p:nvSpPr>
          <p:cNvPr id="40" name="Text 34"/>
          <p:cNvSpPr txBox="1"/>
          <p:nvPr/>
        </p:nvSpPr>
        <p:spPr>
          <a:xfrm>
            <a:off x="868680" y="5760720"/>
            <a:ext cx="10454335" cy="109728"/>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Les polis continuaven governant-se, però ja no eren independents.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5</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Les conquestes d'Alexandre</a:t>
            </a:r>
            <a:endParaRPr lang="en-US" sz="2800" dirty="0"/>
          </a:p>
        </p:txBody>
      </p:sp>
      <p:sp>
        <p:nvSpPr>
          <p:cNvPr id="5" name="Fons La ruta d'Alexandre (334-323 aC)"/>
          <p:cNvSpPr/>
          <p:nvPr/>
        </p:nvSpPr>
        <p:spPr>
          <a:xfrm>
            <a:off x="548640" y="1371600"/>
            <a:ext cx="7223760" cy="4088149"/>
          </a:xfrm>
          <a:prstGeom prst="roundRect">
            <a:avLst>
              <a:gd name="adj" fmla="val 2460"/>
            </a:avLst>
          </a:prstGeom>
          <a:solidFill>
            <a:srgbClr val="F6F8FB"/>
          </a:solidFill>
          <a:ln/>
        </p:spPr>
      </p:sp>
      <p:pic>
        <p:nvPicPr>
          <p:cNvPr id="6" name="La ruta d'Alexandre (334-323 aC)" descr="/home/claude/work/build/img/ruta.jpg">    </p:cNvPr>
          <p:cNvPicPr>
            <a:picLocks noChangeAspect="1"/>
          </p:cNvPicPr>
          <p:nvPr/>
        </p:nvPicPr>
        <p:blipFill>
          <a:blip r:embed="rId1"/>
          <a:stretch>
            <a:fillRect/>
          </a:stretch>
        </p:blipFill>
        <p:spPr>
          <a:xfrm>
            <a:off x="548640" y="1371600"/>
            <a:ext cx="7223760" cy="4088149"/>
          </a:xfrm>
          <a:prstGeom prst="rect">
            <a:avLst/>
          </a:prstGeom>
        </p:spPr>
      </p:pic>
      <p:sp>
        <p:nvSpPr>
          <p:cNvPr id="7" name="Text 4"/>
          <p:cNvSpPr txBox="1"/>
          <p:nvPr/>
        </p:nvSpPr>
        <p:spPr>
          <a:xfrm>
            <a:off x="548640" y="5551189"/>
            <a:ext cx="7223760"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La ruta d'Alexandre (334-323 aC). La línia contínua és l'anada fins a l'Índia, i la discontínua, la tornada fins a Babilònia. Traçat aproximat. Mapa: professordesocials.cat, CC BY-SA 4.0. Base cartogràfica: Natural Earth (domini públic).</a:t>
            </a:r>
            <a:endParaRPr lang="en-US" sz="1000" dirty="0"/>
          </a:p>
        </p:txBody>
      </p:sp>
      <p:sp>
        <p:nvSpPr>
          <p:cNvPr id="8" name="Text 5"/>
          <p:cNvSpPr txBox="1"/>
          <p:nvPr/>
        </p:nvSpPr>
        <p:spPr>
          <a:xfrm>
            <a:off x="8092440" y="1371600"/>
            <a:ext cx="3550615" cy="868680"/>
          </a:xfrm>
          <a:prstGeom prst="rect">
            <a:avLst/>
          </a:prstGeom>
          <a:noFill/>
          <a:ln/>
        </p:spPr>
        <p:txBody>
          <a:bodyPr wrap="square" lIns="0" tIns="0" rIns="0" bIns="0" rtlCol="0" anchor="t"/>
          <a:lstStyle/>
          <a:p>
            <a:pPr indent="0" marL="0">
              <a:buNone/>
            </a:pPr>
            <a:r>
              <a:rPr lang="en-US" sz="4400" b="1" dirty="0">
                <a:solidFill>
                  <a:srgbClr val="188038"/>
                </a:solidFill>
                <a:latin typeface="Roboto" pitchFamily="34" charset="0"/>
                <a:ea typeface="Roboto" pitchFamily="34" charset="-122"/>
                <a:cs typeface="Roboto" pitchFamily="34" charset="-120"/>
              </a:rPr>
              <a:t>11 anys</a:t>
            </a:r>
            <a:endParaRPr lang="en-US" sz="4400" dirty="0"/>
          </a:p>
        </p:txBody>
      </p:sp>
      <p:sp>
        <p:nvSpPr>
          <p:cNvPr id="9" name="Text 6"/>
          <p:cNvSpPr txBox="1"/>
          <p:nvPr/>
        </p:nvSpPr>
        <p:spPr>
          <a:xfrm>
            <a:off x="8092440" y="2286000"/>
            <a:ext cx="3550615" cy="100584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(334-323 aC) per conquerir tot l'Imperi persa i arribar fins a Egipte i l'Índia.</a:t>
            </a:r>
            <a:endParaRPr lang="en-US" sz="1700" dirty="0"/>
          </a:p>
        </p:txBody>
      </p:sp>
      <p:sp>
        <p:nvSpPr>
          <p:cNvPr id="10" name="Cercle icona"/>
          <p:cNvSpPr/>
          <p:nvPr/>
        </p:nvSpPr>
        <p:spPr>
          <a:xfrm>
            <a:off x="8092440" y="3502152"/>
            <a:ext cx="475488" cy="475488"/>
          </a:xfrm>
          <a:prstGeom prst="ellipse">
            <a:avLst/>
          </a:prstGeom>
          <a:solidFill>
            <a:srgbClr val="E6F4EA"/>
          </a:solidFill>
          <a:ln/>
        </p:spPr>
      </p:sp>
      <p:pic>
        <p:nvPicPr>
          <p:cNvPr id="11" name="Icona TbSchool" descr="/home/claude/work/build/img/ic/TbSchool-g.png">    </p:cNvPr>
          <p:cNvPicPr>
            <a:picLocks noChangeAspect="1"/>
          </p:cNvPicPr>
          <p:nvPr/>
        </p:nvPicPr>
        <p:blipFill>
          <a:blip r:embed="rId2"/>
          <a:stretch>
            <a:fillRect/>
          </a:stretch>
        </p:blipFill>
        <p:spPr>
          <a:xfrm>
            <a:off x="8197047" y="3606759"/>
            <a:ext cx="266273" cy="266273"/>
          </a:xfrm>
          <a:prstGeom prst="rect">
            <a:avLst/>
          </a:prstGeom>
        </p:spPr>
      </p:pic>
      <p:sp>
        <p:nvSpPr>
          <p:cNvPr id="12" name="Text 8"/>
          <p:cNvSpPr txBox="1"/>
          <p:nvPr/>
        </p:nvSpPr>
        <p:spPr>
          <a:xfrm>
            <a:off x="8769096" y="3429000"/>
            <a:ext cx="2873959" cy="731520"/>
          </a:xfrm>
          <a:prstGeom prst="rect">
            <a:avLst/>
          </a:prstGeom>
          <a:noFill/>
          <a:ln/>
        </p:spPr>
        <p:txBody>
          <a:bodyPr wrap="square" lIns="0" tIns="0" rIns="0" bIns="0" rtlCol="0" anchor="ctr"/>
          <a:lstStyle/>
          <a:p>
            <a:pPr indent="0" marL="0">
              <a:buNone/>
            </a:pPr>
            <a:r>
              <a:rPr lang="en-US" sz="1600" dirty="0">
                <a:solidFill>
                  <a:srgbClr val="202124"/>
                </a:solidFill>
                <a:latin typeface="Roboto" pitchFamily="34" charset="0"/>
                <a:ea typeface="Roboto" pitchFamily="34" charset="-122"/>
                <a:cs typeface="Roboto" pitchFamily="34" charset="-120"/>
              </a:rPr>
              <a:t>Educat pel filòsof Aristòtil.</a:t>
            </a:r>
            <a:endParaRPr lang="en-US" sz="1600" dirty="0"/>
          </a:p>
        </p:txBody>
      </p:sp>
      <p:sp>
        <p:nvSpPr>
          <p:cNvPr id="13" name="Cercle icona"/>
          <p:cNvSpPr/>
          <p:nvPr/>
        </p:nvSpPr>
        <p:spPr>
          <a:xfrm>
            <a:off x="8092440" y="4325112"/>
            <a:ext cx="475488" cy="475488"/>
          </a:xfrm>
          <a:prstGeom prst="ellipse">
            <a:avLst/>
          </a:prstGeom>
          <a:solidFill>
            <a:srgbClr val="E6F4EA"/>
          </a:solidFill>
          <a:ln/>
        </p:spPr>
      </p:sp>
      <p:pic>
        <p:nvPicPr>
          <p:cNvPr id="14" name="Icona TbMap2" descr="/home/claude/work/build/img/ic/TbMap2-g.png">    </p:cNvPr>
          <p:cNvPicPr>
            <a:picLocks noChangeAspect="1"/>
          </p:cNvPicPr>
          <p:nvPr/>
        </p:nvPicPr>
        <p:blipFill>
          <a:blip r:embed="rId3"/>
          <a:stretch>
            <a:fillRect/>
          </a:stretch>
        </p:blipFill>
        <p:spPr>
          <a:xfrm>
            <a:off x="8197047" y="4429719"/>
            <a:ext cx="266273" cy="266273"/>
          </a:xfrm>
          <a:prstGeom prst="rect">
            <a:avLst/>
          </a:prstGeom>
        </p:spPr>
      </p:pic>
      <p:sp>
        <p:nvSpPr>
          <p:cNvPr id="15" name="Text 10"/>
          <p:cNvSpPr txBox="1"/>
          <p:nvPr/>
        </p:nvSpPr>
        <p:spPr>
          <a:xfrm>
            <a:off x="8769096" y="4251960"/>
            <a:ext cx="2873959" cy="731520"/>
          </a:xfrm>
          <a:prstGeom prst="rect">
            <a:avLst/>
          </a:prstGeom>
          <a:noFill/>
          <a:ln/>
        </p:spPr>
        <p:txBody>
          <a:bodyPr wrap="square" lIns="0" tIns="0" rIns="0" bIns="0" rtlCol="0" anchor="ctr"/>
          <a:lstStyle/>
          <a:p>
            <a:pPr indent="0" marL="0">
              <a:buNone/>
            </a:pPr>
            <a:r>
              <a:rPr lang="en-US" sz="1600" dirty="0">
                <a:solidFill>
                  <a:srgbClr val="202124"/>
                </a:solidFill>
                <a:latin typeface="Roboto" pitchFamily="34" charset="0"/>
                <a:ea typeface="Roboto" pitchFamily="34" charset="-122"/>
                <a:cs typeface="Roboto" pitchFamily="34" charset="-120"/>
              </a:rPr>
              <a:t>L'imperi més gran que s'havia vist mai.</a:t>
            </a:r>
            <a:endParaRPr lang="en-US" sz="1600" dirty="0"/>
          </a:p>
        </p:txBody>
      </p:sp>
      <p:sp>
        <p:nvSpPr>
          <p:cNvPr id="16" name="Cercle icona"/>
          <p:cNvSpPr/>
          <p:nvPr/>
        </p:nvSpPr>
        <p:spPr>
          <a:xfrm>
            <a:off x="8092440" y="5148072"/>
            <a:ext cx="475488" cy="475488"/>
          </a:xfrm>
          <a:prstGeom prst="ellipse">
            <a:avLst/>
          </a:prstGeom>
          <a:solidFill>
            <a:srgbClr val="E6F4EA"/>
          </a:solidFill>
          <a:ln/>
        </p:spPr>
      </p:sp>
      <p:pic>
        <p:nvPicPr>
          <p:cNvPr id="17" name="Icona TbHourglass" descr="/home/claude/work/build/img/ic/TbHourglass-g.png">    </p:cNvPr>
          <p:cNvPicPr>
            <a:picLocks noChangeAspect="1"/>
          </p:cNvPicPr>
          <p:nvPr/>
        </p:nvPicPr>
        <p:blipFill>
          <a:blip r:embed="rId4"/>
          <a:stretch>
            <a:fillRect/>
          </a:stretch>
        </p:blipFill>
        <p:spPr>
          <a:xfrm>
            <a:off x="8197047" y="5252679"/>
            <a:ext cx="266273" cy="266273"/>
          </a:xfrm>
          <a:prstGeom prst="rect">
            <a:avLst/>
          </a:prstGeom>
        </p:spPr>
      </p:pic>
      <p:sp>
        <p:nvSpPr>
          <p:cNvPr id="18" name="Text 12"/>
          <p:cNvSpPr txBox="1"/>
          <p:nvPr/>
        </p:nvSpPr>
        <p:spPr>
          <a:xfrm>
            <a:off x="8769096" y="5074920"/>
            <a:ext cx="2873959" cy="731520"/>
          </a:xfrm>
          <a:prstGeom prst="rect">
            <a:avLst/>
          </a:prstGeom>
          <a:noFill/>
          <a:ln/>
        </p:spPr>
        <p:txBody>
          <a:bodyPr wrap="square" lIns="0" tIns="0" rIns="0" bIns="0" rtlCol="0" anchor="ctr"/>
          <a:lstStyle/>
          <a:p>
            <a:pPr indent="0" marL="0">
              <a:buNone/>
            </a:pPr>
            <a:r>
              <a:rPr lang="en-US" sz="1600" dirty="0">
                <a:solidFill>
                  <a:srgbClr val="202124"/>
                </a:solidFill>
                <a:latin typeface="Roboto" pitchFamily="34" charset="0"/>
                <a:ea typeface="Roboto" pitchFamily="34" charset="-122"/>
                <a:cs typeface="Roboto" pitchFamily="34" charset="-120"/>
              </a:rPr>
              <a:t>Va morir a Babilònia als 32 anys.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5</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Els regnes hel·lenístics</a:t>
            </a:r>
            <a:endParaRPr lang="en-US" sz="2800" dirty="0"/>
          </a:p>
        </p:txBody>
      </p:sp>
      <p:sp>
        <p:nvSpPr>
          <p:cNvPr id="5" name="Text 3"/>
          <p:cNvSpPr txBox="1"/>
          <p:nvPr/>
        </p:nvSpPr>
        <p:spPr>
          <a:xfrm>
            <a:off x="548640" y="1371600"/>
            <a:ext cx="11094415" cy="86868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Alexandre va morir sense un hereu adult. Els seus generals, els diàdocs («successors»), es van fer la guerra durant dècades i es van repartir l'imperi.</a:t>
            </a:r>
            <a:endParaRPr lang="en-US" sz="1700" dirty="0"/>
          </a:p>
        </p:txBody>
      </p:sp>
      <p:sp>
        <p:nvSpPr>
          <p:cNvPr id="6" name="Targeta L'Egipte dels Ptolemeus"/>
          <p:cNvSpPr/>
          <p:nvPr/>
        </p:nvSpPr>
        <p:spPr>
          <a:xfrm>
            <a:off x="548640" y="2377440"/>
            <a:ext cx="3515258" cy="1965960"/>
          </a:xfrm>
          <a:prstGeom prst="roundRect">
            <a:avLst>
              <a:gd name="adj" fmla="val 5116"/>
            </a:avLst>
          </a:prstGeom>
          <a:solidFill>
            <a:srgbClr val="FFFFFF"/>
          </a:solidFill>
          <a:ln w="12700">
            <a:solidFill>
              <a:srgbClr val="DADCE0"/>
            </a:solidFill>
            <a:prstDash val="solid"/>
          </a:ln>
        </p:spPr>
      </p:sp>
      <p:sp>
        <p:nvSpPr>
          <p:cNvPr id="7" name="Cercle icona"/>
          <p:cNvSpPr/>
          <p:nvPr/>
        </p:nvSpPr>
        <p:spPr>
          <a:xfrm>
            <a:off x="777240" y="2606040"/>
            <a:ext cx="594360" cy="594360"/>
          </a:xfrm>
          <a:prstGeom prst="ellipse">
            <a:avLst/>
          </a:prstGeom>
          <a:solidFill>
            <a:srgbClr val="E6F4EA"/>
          </a:solidFill>
          <a:ln/>
        </p:spPr>
      </p:sp>
      <p:pic>
        <p:nvPicPr>
          <p:cNvPr id="8" name="Icona TbCrown" descr="/home/claude/work/build/img/ic/TbCrown-g.png">    </p:cNvPr>
          <p:cNvPicPr>
            <a:picLocks noChangeAspect="1"/>
          </p:cNvPicPr>
          <p:nvPr/>
        </p:nvPicPr>
        <p:blipFill>
          <a:blip r:embed="rId1"/>
          <a:stretch>
            <a:fillRect/>
          </a:stretch>
        </p:blipFill>
        <p:spPr>
          <a:xfrm>
            <a:off x="907999" y="2736799"/>
            <a:ext cx="332842" cy="332842"/>
          </a:xfrm>
          <a:prstGeom prst="rect">
            <a:avLst/>
          </a:prstGeom>
        </p:spPr>
      </p:pic>
      <p:sp>
        <p:nvSpPr>
          <p:cNvPr id="9" name="Text 6"/>
          <p:cNvSpPr txBox="1"/>
          <p:nvPr/>
        </p:nvSpPr>
        <p:spPr>
          <a:xfrm>
            <a:off x="1508760" y="2606040"/>
            <a:ext cx="2326538" cy="594360"/>
          </a:xfrm>
          <a:prstGeom prst="rect">
            <a:avLst/>
          </a:prstGeom>
          <a:noFill/>
          <a:ln/>
        </p:spPr>
        <p:txBody>
          <a:bodyPr wrap="square" lIns="0" tIns="0" rIns="0" bIns="0" rtlCol="0" anchor="ctr"/>
          <a:lstStyle/>
          <a:p>
            <a:pPr indent="0" marL="0">
              <a:buNone/>
            </a:pPr>
            <a:r>
              <a:rPr lang="en-US" sz="1800" b="1" dirty="0">
                <a:solidFill>
                  <a:srgbClr val="188038"/>
                </a:solidFill>
                <a:latin typeface="Roboto" pitchFamily="34" charset="0"/>
                <a:ea typeface="Roboto" pitchFamily="34" charset="-122"/>
                <a:cs typeface="Roboto" pitchFamily="34" charset="-120"/>
              </a:rPr>
              <a:t>L'Egipte dels Ptolemeus</a:t>
            </a:r>
            <a:endParaRPr lang="en-US" sz="1800" dirty="0"/>
          </a:p>
        </p:txBody>
      </p:sp>
      <p:sp>
        <p:nvSpPr>
          <p:cNvPr id="10" name="Text 7"/>
          <p:cNvSpPr txBox="1"/>
          <p:nvPr/>
        </p:nvSpPr>
        <p:spPr>
          <a:xfrm>
            <a:off x="777240" y="3337560"/>
            <a:ext cx="3058058" cy="868680"/>
          </a:xfrm>
          <a:prstGeom prst="rect">
            <a:avLst/>
          </a:prstGeom>
          <a:noFill/>
          <a:ln/>
        </p:spPr>
        <p:txBody>
          <a:bodyPr wrap="square" lIns="0" tIns="0" rIns="0" bIns="0" rtlCol="0" anchor="t"/>
          <a:lstStyle/>
          <a:p>
            <a:pPr indent="0" marL="0">
              <a:buNone/>
            </a:pPr>
            <a:r>
              <a:rPr lang="en-US" sz="1600" dirty="0">
                <a:solidFill>
                  <a:srgbClr val="202124"/>
                </a:solidFill>
                <a:latin typeface="Roboto" pitchFamily="34" charset="0"/>
                <a:ea typeface="Roboto" pitchFamily="34" charset="-122"/>
                <a:cs typeface="Roboto" pitchFamily="34" charset="-120"/>
              </a:rPr>
              <a:t>Capital a Alexandria. Els seus reis governaven com a faraons.</a:t>
            </a:r>
            <a:endParaRPr lang="en-US" sz="1600" dirty="0"/>
          </a:p>
        </p:txBody>
      </p:sp>
      <p:sp>
        <p:nvSpPr>
          <p:cNvPr id="11" name="Targeta Els Selèucides"/>
          <p:cNvSpPr/>
          <p:nvPr/>
        </p:nvSpPr>
        <p:spPr>
          <a:xfrm>
            <a:off x="4338218" y="2377440"/>
            <a:ext cx="3515258" cy="1965960"/>
          </a:xfrm>
          <a:prstGeom prst="roundRect">
            <a:avLst>
              <a:gd name="adj" fmla="val 5116"/>
            </a:avLst>
          </a:prstGeom>
          <a:solidFill>
            <a:srgbClr val="FFFFFF"/>
          </a:solidFill>
          <a:ln w="12700">
            <a:solidFill>
              <a:srgbClr val="DADCE0"/>
            </a:solidFill>
            <a:prstDash val="solid"/>
          </a:ln>
        </p:spPr>
      </p:sp>
      <p:sp>
        <p:nvSpPr>
          <p:cNvPr id="12" name="Cercle icona"/>
          <p:cNvSpPr/>
          <p:nvPr/>
        </p:nvSpPr>
        <p:spPr>
          <a:xfrm>
            <a:off x="4566818" y="2606040"/>
            <a:ext cx="594360" cy="594360"/>
          </a:xfrm>
          <a:prstGeom prst="ellipse">
            <a:avLst/>
          </a:prstGeom>
          <a:solidFill>
            <a:srgbClr val="E6F4EA"/>
          </a:solidFill>
          <a:ln/>
        </p:spPr>
      </p:sp>
      <p:pic>
        <p:nvPicPr>
          <p:cNvPr id="13" name="Icona TbCrown" descr="/home/claude/work/build/img/ic/TbCrown-g.png">    </p:cNvPr>
          <p:cNvPicPr>
            <a:picLocks noChangeAspect="1"/>
          </p:cNvPicPr>
          <p:nvPr/>
        </p:nvPicPr>
        <p:blipFill>
          <a:blip r:embed="rId2"/>
          <a:stretch>
            <a:fillRect/>
          </a:stretch>
        </p:blipFill>
        <p:spPr>
          <a:xfrm>
            <a:off x="4697578" y="2736799"/>
            <a:ext cx="332842" cy="332842"/>
          </a:xfrm>
          <a:prstGeom prst="rect">
            <a:avLst/>
          </a:prstGeom>
        </p:spPr>
      </p:pic>
      <p:sp>
        <p:nvSpPr>
          <p:cNvPr id="14" name="Text 10"/>
          <p:cNvSpPr txBox="1"/>
          <p:nvPr/>
        </p:nvSpPr>
        <p:spPr>
          <a:xfrm>
            <a:off x="5298338" y="2606040"/>
            <a:ext cx="2326538" cy="594360"/>
          </a:xfrm>
          <a:prstGeom prst="rect">
            <a:avLst/>
          </a:prstGeom>
          <a:noFill/>
          <a:ln/>
        </p:spPr>
        <p:txBody>
          <a:bodyPr wrap="square" lIns="0" tIns="0" rIns="0" bIns="0" rtlCol="0" anchor="ctr"/>
          <a:lstStyle/>
          <a:p>
            <a:pPr indent="0" marL="0">
              <a:buNone/>
            </a:pPr>
            <a:r>
              <a:rPr lang="en-US" sz="1800" b="1" dirty="0">
                <a:solidFill>
                  <a:srgbClr val="188038"/>
                </a:solidFill>
                <a:latin typeface="Roboto" pitchFamily="34" charset="0"/>
                <a:ea typeface="Roboto" pitchFamily="34" charset="-122"/>
                <a:cs typeface="Roboto" pitchFamily="34" charset="-120"/>
              </a:rPr>
              <a:t>Els Selèucides</a:t>
            </a:r>
            <a:endParaRPr lang="en-US" sz="1800" dirty="0"/>
          </a:p>
        </p:txBody>
      </p:sp>
      <p:sp>
        <p:nvSpPr>
          <p:cNvPr id="15" name="Text 11"/>
          <p:cNvSpPr txBox="1"/>
          <p:nvPr/>
        </p:nvSpPr>
        <p:spPr>
          <a:xfrm>
            <a:off x="4566818" y="3337560"/>
            <a:ext cx="3058058" cy="868680"/>
          </a:xfrm>
          <a:prstGeom prst="rect">
            <a:avLst/>
          </a:prstGeom>
          <a:noFill/>
          <a:ln/>
        </p:spPr>
        <p:txBody>
          <a:bodyPr wrap="square" lIns="0" tIns="0" rIns="0" bIns="0" rtlCol="0" anchor="t"/>
          <a:lstStyle/>
          <a:p>
            <a:pPr indent="0" marL="0">
              <a:buNone/>
            </a:pPr>
            <a:r>
              <a:rPr lang="en-US" sz="1600" dirty="0">
                <a:solidFill>
                  <a:srgbClr val="202124"/>
                </a:solidFill>
                <a:latin typeface="Roboto" pitchFamily="34" charset="0"/>
                <a:ea typeface="Roboto" pitchFamily="34" charset="-122"/>
                <a:cs typeface="Roboto" pitchFamily="34" charset="-120"/>
              </a:rPr>
              <a:t>A l'Àsia, amb capital a Antioquia, a Síria.</a:t>
            </a:r>
            <a:endParaRPr lang="en-US" sz="1600" dirty="0"/>
          </a:p>
        </p:txBody>
      </p:sp>
      <p:sp>
        <p:nvSpPr>
          <p:cNvPr id="16" name="Targeta Macedònia"/>
          <p:cNvSpPr/>
          <p:nvPr/>
        </p:nvSpPr>
        <p:spPr>
          <a:xfrm>
            <a:off x="8127797" y="2377440"/>
            <a:ext cx="3515258" cy="1965960"/>
          </a:xfrm>
          <a:prstGeom prst="roundRect">
            <a:avLst>
              <a:gd name="adj" fmla="val 5116"/>
            </a:avLst>
          </a:prstGeom>
          <a:solidFill>
            <a:srgbClr val="FFFFFF"/>
          </a:solidFill>
          <a:ln w="12700">
            <a:solidFill>
              <a:srgbClr val="DADCE0"/>
            </a:solidFill>
            <a:prstDash val="solid"/>
          </a:ln>
        </p:spPr>
      </p:sp>
      <p:sp>
        <p:nvSpPr>
          <p:cNvPr id="17" name="Cercle icona"/>
          <p:cNvSpPr/>
          <p:nvPr/>
        </p:nvSpPr>
        <p:spPr>
          <a:xfrm>
            <a:off x="8356397" y="2606040"/>
            <a:ext cx="594360" cy="594360"/>
          </a:xfrm>
          <a:prstGeom prst="ellipse">
            <a:avLst/>
          </a:prstGeom>
          <a:solidFill>
            <a:srgbClr val="E6F4EA"/>
          </a:solidFill>
          <a:ln/>
        </p:spPr>
      </p:sp>
      <p:pic>
        <p:nvPicPr>
          <p:cNvPr id="18" name="Icona TbCrown" descr="/home/claude/work/build/img/ic/TbCrown-g.png">    </p:cNvPr>
          <p:cNvPicPr>
            <a:picLocks noChangeAspect="1"/>
          </p:cNvPicPr>
          <p:nvPr/>
        </p:nvPicPr>
        <p:blipFill>
          <a:blip r:embed="rId3"/>
          <a:stretch>
            <a:fillRect/>
          </a:stretch>
        </p:blipFill>
        <p:spPr>
          <a:xfrm>
            <a:off x="8487156" y="2736799"/>
            <a:ext cx="332842" cy="332842"/>
          </a:xfrm>
          <a:prstGeom prst="rect">
            <a:avLst/>
          </a:prstGeom>
        </p:spPr>
      </p:pic>
      <p:sp>
        <p:nvSpPr>
          <p:cNvPr id="19" name="Text 14"/>
          <p:cNvSpPr txBox="1"/>
          <p:nvPr/>
        </p:nvSpPr>
        <p:spPr>
          <a:xfrm>
            <a:off x="9087917" y="2606040"/>
            <a:ext cx="2326538" cy="594360"/>
          </a:xfrm>
          <a:prstGeom prst="rect">
            <a:avLst/>
          </a:prstGeom>
          <a:noFill/>
          <a:ln/>
        </p:spPr>
        <p:txBody>
          <a:bodyPr wrap="square" lIns="0" tIns="0" rIns="0" bIns="0" rtlCol="0" anchor="ctr"/>
          <a:lstStyle/>
          <a:p>
            <a:pPr indent="0" marL="0">
              <a:buNone/>
            </a:pPr>
            <a:r>
              <a:rPr lang="en-US" sz="1800" b="1" dirty="0">
                <a:solidFill>
                  <a:srgbClr val="188038"/>
                </a:solidFill>
                <a:latin typeface="Roboto" pitchFamily="34" charset="0"/>
                <a:ea typeface="Roboto" pitchFamily="34" charset="-122"/>
                <a:cs typeface="Roboto" pitchFamily="34" charset="-120"/>
              </a:rPr>
              <a:t>Macedònia</a:t>
            </a:r>
            <a:endParaRPr lang="en-US" sz="1800" dirty="0"/>
          </a:p>
        </p:txBody>
      </p:sp>
      <p:sp>
        <p:nvSpPr>
          <p:cNvPr id="20" name="Text 15"/>
          <p:cNvSpPr txBox="1"/>
          <p:nvPr/>
        </p:nvSpPr>
        <p:spPr>
          <a:xfrm>
            <a:off x="8356397" y="3337560"/>
            <a:ext cx="3058058" cy="868680"/>
          </a:xfrm>
          <a:prstGeom prst="rect">
            <a:avLst/>
          </a:prstGeom>
          <a:noFill/>
          <a:ln/>
        </p:spPr>
        <p:txBody>
          <a:bodyPr wrap="square" lIns="0" tIns="0" rIns="0" bIns="0" rtlCol="0" anchor="t"/>
          <a:lstStyle/>
          <a:p>
            <a:pPr indent="0" marL="0">
              <a:buNone/>
            </a:pPr>
            <a:r>
              <a:rPr lang="en-US" sz="1600" dirty="0">
                <a:solidFill>
                  <a:srgbClr val="202124"/>
                </a:solidFill>
                <a:latin typeface="Roboto" pitchFamily="34" charset="0"/>
                <a:ea typeface="Roboto" pitchFamily="34" charset="-122"/>
                <a:cs typeface="Roboto" pitchFamily="34" charset="-120"/>
              </a:rPr>
              <a:t>Amb els Antigònides, dominava bona part de Grècia.</a:t>
            </a:r>
            <a:endParaRPr lang="en-US" sz="1600" dirty="0"/>
          </a:p>
        </p:txBody>
      </p:sp>
      <p:sp>
        <p:nvSpPr>
          <p:cNvPr id="21" name="Reis amb tot el poder"/>
          <p:cNvSpPr/>
          <p:nvPr/>
        </p:nvSpPr>
        <p:spPr>
          <a:xfrm>
            <a:off x="548640" y="4526280"/>
            <a:ext cx="5410048" cy="1463040"/>
          </a:xfrm>
          <a:prstGeom prst="roundRect">
            <a:avLst>
              <a:gd name="adj" fmla="val 6875"/>
            </a:avLst>
          </a:prstGeom>
          <a:solidFill>
            <a:srgbClr val="F6F8FB"/>
          </a:solidFill>
          <a:ln/>
        </p:spPr>
      </p:sp>
      <p:sp>
        <p:nvSpPr>
          <p:cNvPr id="22" name="Text 17"/>
          <p:cNvSpPr txBox="1"/>
          <p:nvPr/>
        </p:nvSpPr>
        <p:spPr>
          <a:xfrm>
            <a:off x="868680" y="4681728"/>
            <a:ext cx="4769968"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Reis amb tot el poder</a:t>
            </a:r>
            <a:endParaRPr lang="en-US" sz="1400" dirty="0"/>
          </a:p>
        </p:txBody>
      </p:sp>
      <p:sp>
        <p:nvSpPr>
          <p:cNvPr id="23" name="Text 18"/>
          <p:cNvSpPr txBox="1"/>
          <p:nvPr/>
        </p:nvSpPr>
        <p:spPr>
          <a:xfrm>
            <a:off x="868680" y="5029200"/>
            <a:ext cx="4769968" cy="822960"/>
          </a:xfrm>
          <a:prstGeom prst="rect">
            <a:avLst/>
          </a:prstGeom>
          <a:noFill/>
          <a:ln/>
        </p:spPr>
        <p:txBody>
          <a:bodyPr wrap="square" lIns="0" tIns="0" rIns="0" bIns="0" rtlCol="0" anchor="t"/>
          <a:lstStyle/>
          <a:p>
            <a:pPr indent="0" marL="0">
              <a:buNone/>
            </a:pPr>
            <a:r>
              <a:rPr lang="en-US" sz="1500" dirty="0">
                <a:solidFill>
                  <a:srgbClr val="5F6368"/>
                </a:solidFill>
                <a:latin typeface="Roboto" pitchFamily="34" charset="0"/>
                <a:ea typeface="Roboto" pitchFamily="34" charset="-122"/>
                <a:cs typeface="Roboto" pitchFamily="34" charset="-120"/>
              </a:rPr>
              <a:t>Eren macedonis o grecs, amb un poder absolut sobre pobles molt diversos. Alguns, com els Ptolemeus, es feien adorar com a déus.</a:t>
            </a:r>
            <a:endParaRPr lang="en-US" sz="1500" dirty="0"/>
          </a:p>
        </p:txBody>
      </p:sp>
      <p:sp>
        <p:nvSpPr>
          <p:cNvPr id="24" name="El final"/>
          <p:cNvSpPr/>
          <p:nvPr/>
        </p:nvSpPr>
        <p:spPr>
          <a:xfrm>
            <a:off x="6233008" y="4526280"/>
            <a:ext cx="5410048" cy="1463040"/>
          </a:xfrm>
          <a:prstGeom prst="roundRect">
            <a:avLst>
              <a:gd name="adj" fmla="val 6875"/>
            </a:avLst>
          </a:prstGeom>
          <a:solidFill>
            <a:srgbClr val="E6F4EA"/>
          </a:solidFill>
          <a:ln/>
        </p:spPr>
      </p:sp>
      <p:sp>
        <p:nvSpPr>
          <p:cNvPr id="25" name="Text 20"/>
          <p:cNvSpPr txBox="1"/>
          <p:nvPr/>
        </p:nvSpPr>
        <p:spPr>
          <a:xfrm>
            <a:off x="6553048" y="4681728"/>
            <a:ext cx="4769968"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El final</a:t>
            </a:r>
            <a:endParaRPr lang="en-US" sz="1400" dirty="0"/>
          </a:p>
        </p:txBody>
      </p:sp>
      <p:sp>
        <p:nvSpPr>
          <p:cNvPr id="26" name="Text 21"/>
          <p:cNvSpPr txBox="1"/>
          <p:nvPr/>
        </p:nvSpPr>
        <p:spPr>
          <a:xfrm>
            <a:off x="6553048" y="5029200"/>
            <a:ext cx="4769968" cy="82296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Roma els va anar conquerint. El darrer a caure va ser l'Egipte de Cleòpatra, després de la batalla d'Àccium (31 aC).</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5</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L'hel·lenisme. La cultura grega s'escampa</a:t>
            </a:r>
            <a:endParaRPr lang="en-US" sz="2800" dirty="0"/>
          </a:p>
        </p:txBody>
      </p:sp>
      <p:sp>
        <p:nvSpPr>
          <p:cNvPr id="5" name="Fons El far d'Alexandria, tal com el va imaginar l'arqueòleg Hermann Thiersch el 1909"/>
          <p:cNvSpPr/>
          <p:nvPr/>
        </p:nvSpPr>
        <p:spPr>
          <a:xfrm>
            <a:off x="548640" y="1371600"/>
            <a:ext cx="4480560" cy="3813048"/>
          </a:xfrm>
          <a:prstGeom prst="roundRect">
            <a:avLst>
              <a:gd name="adj" fmla="val 2638"/>
            </a:avLst>
          </a:prstGeom>
          <a:solidFill>
            <a:srgbClr val="F6F8FB"/>
          </a:solidFill>
          <a:ln/>
        </p:spPr>
      </p:sp>
      <p:pic>
        <p:nvPicPr>
          <p:cNvPr id="6" name="El far d'Alexandria, tal com el va imaginar l'arqueòleg Hermann Thiersch el 1909" descr="/home/claude/work/build/img/far.jpg">    </p:cNvPr>
          <p:cNvPicPr>
            <a:picLocks noChangeAspect="1"/>
          </p:cNvPicPr>
          <p:nvPr/>
        </p:nvPicPr>
        <p:blipFill>
          <a:blip r:embed="rId1"/>
          <a:stretch>
            <a:fillRect/>
          </a:stretch>
        </p:blipFill>
        <p:spPr>
          <a:xfrm>
            <a:off x="548754" y="1371600"/>
            <a:ext cx="4480331" cy="3813048"/>
          </a:xfrm>
          <a:prstGeom prst="rect">
            <a:avLst/>
          </a:prstGeom>
        </p:spPr>
      </p:pic>
      <p:sp>
        <p:nvSpPr>
          <p:cNvPr id="7" name="Text 4"/>
          <p:cNvSpPr txBox="1"/>
          <p:nvPr/>
        </p:nvSpPr>
        <p:spPr>
          <a:xfrm>
            <a:off x="548640" y="5276088"/>
            <a:ext cx="4480560"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El far d'Alexandria, tal com el va imaginar l'arqueòleg Hermann Thiersch el 1909. Dibuix: H. Thiersch, Wikimedia Commons, domini públic.</a:t>
            </a:r>
            <a:endParaRPr lang="en-US" sz="1000" dirty="0"/>
          </a:p>
        </p:txBody>
      </p:sp>
      <p:sp>
        <p:nvSpPr>
          <p:cNvPr id="8" name="Text 5"/>
          <p:cNvSpPr txBox="1"/>
          <p:nvPr/>
        </p:nvSpPr>
        <p:spPr>
          <a:xfrm>
            <a:off x="5349240" y="1371600"/>
            <a:ext cx="6293815" cy="91440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La llengua, l'art i el pensament grecs es van estendre per tot l'Orient i es van barrejar amb les cultures locals.</a:t>
            </a:r>
            <a:endParaRPr lang="en-US" sz="1700" dirty="0"/>
          </a:p>
        </p:txBody>
      </p:sp>
      <p:sp>
        <p:nvSpPr>
          <p:cNvPr id="9" name="Paraula clau · Hel·lenisme"/>
          <p:cNvSpPr/>
          <p:nvPr/>
        </p:nvSpPr>
        <p:spPr>
          <a:xfrm>
            <a:off x="5349240" y="2377440"/>
            <a:ext cx="6293815" cy="1188720"/>
          </a:xfrm>
          <a:prstGeom prst="roundRect">
            <a:avLst>
              <a:gd name="adj" fmla="val 8462"/>
            </a:avLst>
          </a:prstGeom>
          <a:solidFill>
            <a:srgbClr val="E6F4EA"/>
          </a:solidFill>
          <a:ln/>
        </p:spPr>
      </p:sp>
      <p:sp>
        <p:nvSpPr>
          <p:cNvPr id="10" name="Text 7"/>
          <p:cNvSpPr txBox="1"/>
          <p:nvPr/>
        </p:nvSpPr>
        <p:spPr>
          <a:xfrm>
            <a:off x="5669280" y="2532888"/>
            <a:ext cx="565373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Paraula clau · Hel·lenisme</a:t>
            </a:r>
            <a:endParaRPr lang="en-US" sz="1400" dirty="0"/>
          </a:p>
        </p:txBody>
      </p:sp>
      <p:sp>
        <p:nvSpPr>
          <p:cNvPr id="11" name="Text 8"/>
          <p:cNvSpPr txBox="1"/>
          <p:nvPr/>
        </p:nvSpPr>
        <p:spPr>
          <a:xfrm>
            <a:off x="5669280" y="2880360"/>
            <a:ext cx="5653735" cy="54864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Etapa posterior a Alexandre el Gran (323-31 aC) en què la cultura grega es va estendre i barrejar per tot l'Orient.</a:t>
            </a:r>
            <a:endParaRPr lang="en-US" sz="1550" dirty="0"/>
          </a:p>
        </p:txBody>
      </p:sp>
      <p:sp>
        <p:nvSpPr>
          <p:cNvPr id="12" name="Cercle icona"/>
          <p:cNvSpPr/>
          <p:nvPr/>
        </p:nvSpPr>
        <p:spPr>
          <a:xfrm>
            <a:off x="5349240" y="3703320"/>
            <a:ext cx="457200" cy="457200"/>
          </a:xfrm>
          <a:prstGeom prst="ellipse">
            <a:avLst/>
          </a:prstGeom>
          <a:solidFill>
            <a:srgbClr val="E6F4EA"/>
          </a:solidFill>
          <a:ln/>
        </p:spPr>
      </p:sp>
      <p:pic>
        <p:nvPicPr>
          <p:cNvPr id="13" name="Icona TbBuildingLighthouse" descr="/home/claude/work/build/img/ic/TbBuildingLighthouse-g.png">    </p:cNvPr>
          <p:cNvPicPr>
            <a:picLocks noChangeAspect="1"/>
          </p:cNvPicPr>
          <p:nvPr/>
        </p:nvPicPr>
        <p:blipFill>
          <a:blip r:embed="rId2"/>
          <a:stretch>
            <a:fillRect/>
          </a:stretch>
        </p:blipFill>
        <p:spPr>
          <a:xfrm>
            <a:off x="5449824" y="3803904"/>
            <a:ext cx="256032" cy="256032"/>
          </a:xfrm>
          <a:prstGeom prst="rect">
            <a:avLst/>
          </a:prstGeom>
        </p:spPr>
      </p:pic>
      <p:sp>
        <p:nvSpPr>
          <p:cNvPr id="14" name="Text 10"/>
          <p:cNvSpPr txBox="1"/>
          <p:nvPr/>
        </p:nvSpPr>
        <p:spPr>
          <a:xfrm>
            <a:off x="6007608" y="3703320"/>
            <a:ext cx="5635447" cy="475488"/>
          </a:xfrm>
          <a:prstGeom prst="rect">
            <a:avLst/>
          </a:prstGeom>
          <a:noFill/>
          <a:ln/>
        </p:spPr>
        <p:txBody>
          <a:bodyPr wrap="square" lIns="0" tIns="0" rIns="0" bIns="0" rtlCol="0" anchor="ctr"/>
          <a:lstStyle/>
          <a:p>
            <a:pPr indent="0" marL="0">
              <a:buNone/>
            </a:pPr>
            <a:r>
              <a:rPr lang="en-US" sz="1600" b="1" dirty="0">
                <a:solidFill>
                  <a:srgbClr val="202124"/>
                </a:solidFill>
                <a:latin typeface="Roboto" pitchFamily="34" charset="0"/>
                <a:ea typeface="Roboto" pitchFamily="34" charset="-122"/>
                <a:cs typeface="Roboto" pitchFamily="34" charset="-120"/>
              </a:rPr>
              <a:t>El far. </a:t>
            </a:r>
            <a:pPr indent="0" marL="0">
              <a:buNone/>
            </a:pPr>
            <a:r>
              <a:rPr lang="en-US" sz="1600" dirty="0">
                <a:solidFill>
                  <a:srgbClr val="202124"/>
                </a:solidFill>
                <a:latin typeface="Roboto" pitchFamily="34" charset="0"/>
                <a:ea typeface="Roboto" pitchFamily="34" charset="-122"/>
                <a:cs typeface="Roboto" pitchFamily="34" charset="-120"/>
              </a:rPr>
              <a:t>Una de les set meravelles del món antic.</a:t>
            </a:r>
            <a:endParaRPr lang="en-US" sz="1600" dirty="0"/>
          </a:p>
        </p:txBody>
      </p:sp>
      <p:sp>
        <p:nvSpPr>
          <p:cNvPr id="15" name="Cercle icona"/>
          <p:cNvSpPr/>
          <p:nvPr/>
        </p:nvSpPr>
        <p:spPr>
          <a:xfrm>
            <a:off x="5349240" y="4270248"/>
            <a:ext cx="457200" cy="457200"/>
          </a:xfrm>
          <a:prstGeom prst="ellipse">
            <a:avLst/>
          </a:prstGeom>
          <a:solidFill>
            <a:srgbClr val="E6F4EA"/>
          </a:solidFill>
          <a:ln/>
        </p:spPr>
      </p:sp>
      <p:pic>
        <p:nvPicPr>
          <p:cNvPr id="16" name="Icona TbBooks" descr="/home/claude/work/build/img/ic/TbBooks-g.png">    </p:cNvPr>
          <p:cNvPicPr>
            <a:picLocks noChangeAspect="1"/>
          </p:cNvPicPr>
          <p:nvPr/>
        </p:nvPicPr>
        <p:blipFill>
          <a:blip r:embed="rId3"/>
          <a:stretch>
            <a:fillRect/>
          </a:stretch>
        </p:blipFill>
        <p:spPr>
          <a:xfrm>
            <a:off x="5449824" y="4370832"/>
            <a:ext cx="256032" cy="256032"/>
          </a:xfrm>
          <a:prstGeom prst="rect">
            <a:avLst/>
          </a:prstGeom>
        </p:spPr>
      </p:pic>
      <p:sp>
        <p:nvSpPr>
          <p:cNvPr id="17" name="Text 12"/>
          <p:cNvSpPr txBox="1"/>
          <p:nvPr/>
        </p:nvSpPr>
        <p:spPr>
          <a:xfrm>
            <a:off x="6007608" y="4270248"/>
            <a:ext cx="5635447" cy="475488"/>
          </a:xfrm>
          <a:prstGeom prst="rect">
            <a:avLst/>
          </a:prstGeom>
          <a:noFill/>
          <a:ln/>
        </p:spPr>
        <p:txBody>
          <a:bodyPr wrap="square" lIns="0" tIns="0" rIns="0" bIns="0" rtlCol="0" anchor="ctr"/>
          <a:lstStyle/>
          <a:p>
            <a:pPr indent="0" marL="0">
              <a:buNone/>
            </a:pPr>
            <a:r>
              <a:rPr lang="en-US" sz="1600" b="1" dirty="0">
                <a:solidFill>
                  <a:srgbClr val="202124"/>
                </a:solidFill>
                <a:latin typeface="Roboto" pitchFamily="34" charset="0"/>
                <a:ea typeface="Roboto" pitchFamily="34" charset="-122"/>
                <a:cs typeface="Roboto" pitchFamily="34" charset="-120"/>
              </a:rPr>
              <a:t>La biblioteca. </a:t>
            </a:r>
            <a:pPr indent="0" marL="0">
              <a:buNone/>
            </a:pPr>
            <a:r>
              <a:rPr lang="en-US" sz="1600" dirty="0">
                <a:solidFill>
                  <a:srgbClr val="202124"/>
                </a:solidFill>
                <a:latin typeface="Roboto" pitchFamily="34" charset="0"/>
                <a:ea typeface="Roboto" pitchFamily="34" charset="-122"/>
                <a:cs typeface="Roboto" pitchFamily="34" charset="-120"/>
              </a:rPr>
              <a:t>La més gran de l'antiguitat.</a:t>
            </a:r>
            <a:endParaRPr lang="en-US" sz="1600" dirty="0"/>
          </a:p>
        </p:txBody>
      </p:sp>
      <p:sp>
        <p:nvSpPr>
          <p:cNvPr id="18" name="Saps que…?"/>
          <p:cNvSpPr/>
          <p:nvPr/>
        </p:nvSpPr>
        <p:spPr>
          <a:xfrm>
            <a:off x="5349240" y="4937760"/>
            <a:ext cx="6293815" cy="1051560"/>
          </a:xfrm>
          <a:prstGeom prst="roundRect">
            <a:avLst>
              <a:gd name="adj" fmla="val 9565"/>
            </a:avLst>
          </a:prstGeom>
          <a:solidFill>
            <a:srgbClr val="E6F4EA"/>
          </a:solidFill>
          <a:ln/>
        </p:spPr>
      </p:sp>
      <p:sp>
        <p:nvSpPr>
          <p:cNvPr id="19" name="Text 14"/>
          <p:cNvSpPr txBox="1"/>
          <p:nvPr/>
        </p:nvSpPr>
        <p:spPr>
          <a:xfrm>
            <a:off x="5669280" y="5093208"/>
            <a:ext cx="565373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Saps que…?</a:t>
            </a:r>
            <a:endParaRPr lang="en-US" sz="1400" dirty="0"/>
          </a:p>
        </p:txBody>
      </p:sp>
      <p:sp>
        <p:nvSpPr>
          <p:cNvPr id="20" name="Text 15"/>
          <p:cNvSpPr txBox="1"/>
          <p:nvPr/>
        </p:nvSpPr>
        <p:spPr>
          <a:xfrm>
            <a:off x="5669280" y="5440680"/>
            <a:ext cx="5653735" cy="41148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Segons Plutarc, Alexandre va fundar més de 70 ciutats. Avui se'n compten una vintena, moltes amb el nom d'Alexandria.</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5</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Comprova-ho</a:t>
            </a:r>
            <a:endParaRPr lang="en-US" sz="2800" dirty="0"/>
          </a:p>
        </p:txBody>
      </p:sp>
      <p:sp>
        <p:nvSpPr>
          <p:cNvPr id="5" name="Text 3"/>
          <p:cNvSpPr txBox="1"/>
          <p:nvPr/>
        </p:nvSpPr>
        <p:spPr>
          <a:xfrm>
            <a:off x="548640" y="1371600"/>
            <a:ext cx="3657600" cy="320040"/>
          </a:xfrm>
          <a:prstGeom prst="rect">
            <a:avLst/>
          </a:prstGeom>
          <a:noFill/>
          <a:ln/>
        </p:spPr>
        <p:txBody>
          <a:bodyPr wrap="square" lIns="0" tIns="0" rIns="0" bIns="0" rtlCol="0" anchor="t"/>
          <a:lstStyle/>
          <a:p>
            <a:pPr indent="0" marL="0">
              <a:buNone/>
            </a:pPr>
            <a:r>
              <a:rPr lang="en-US" sz="1400" b="1" dirty="0">
                <a:solidFill>
                  <a:srgbClr val="5F6368"/>
                </a:solidFill>
                <a:latin typeface="Roboto" pitchFamily="34" charset="0"/>
                <a:ea typeface="Roboto" pitchFamily="34" charset="-122"/>
                <a:cs typeface="Roboto" pitchFamily="34" charset="-120"/>
              </a:rPr>
              <a:t>Paraules clau</a:t>
            </a:r>
            <a:endParaRPr lang="en-US" sz="1400" dirty="0"/>
          </a:p>
        </p:txBody>
      </p:sp>
      <p:sp>
        <p:nvSpPr>
          <p:cNvPr id="6" name="Etiqueta Macedònia"/>
          <p:cNvSpPr/>
          <p:nvPr/>
        </p:nvSpPr>
        <p:spPr>
          <a:xfrm>
            <a:off x="548640" y="1755648"/>
            <a:ext cx="1216152" cy="384048"/>
          </a:xfrm>
          <a:prstGeom prst="roundRect">
            <a:avLst>
              <a:gd name="adj" fmla="val 50000"/>
            </a:avLst>
          </a:prstGeom>
          <a:solidFill>
            <a:srgbClr val="E6F4EA"/>
          </a:solidFill>
          <a:ln/>
        </p:spPr>
      </p:sp>
      <p:sp>
        <p:nvSpPr>
          <p:cNvPr id="7" name="Text 5"/>
          <p:cNvSpPr txBox="1"/>
          <p:nvPr/>
        </p:nvSpPr>
        <p:spPr>
          <a:xfrm>
            <a:off x="548640" y="1755648"/>
            <a:ext cx="1216152"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Macedònia</a:t>
            </a:r>
            <a:endParaRPr lang="en-US" sz="1500" dirty="0"/>
          </a:p>
        </p:txBody>
      </p:sp>
      <p:sp>
        <p:nvSpPr>
          <p:cNvPr id="8" name="Etiqueta Falange"/>
          <p:cNvSpPr/>
          <p:nvPr/>
        </p:nvSpPr>
        <p:spPr>
          <a:xfrm>
            <a:off x="1874520" y="1755648"/>
            <a:ext cx="1014984" cy="384048"/>
          </a:xfrm>
          <a:prstGeom prst="roundRect">
            <a:avLst>
              <a:gd name="adj" fmla="val 50000"/>
            </a:avLst>
          </a:prstGeom>
          <a:solidFill>
            <a:srgbClr val="E6F4EA"/>
          </a:solidFill>
          <a:ln/>
        </p:spPr>
      </p:sp>
      <p:sp>
        <p:nvSpPr>
          <p:cNvPr id="9" name="Text 7"/>
          <p:cNvSpPr txBox="1"/>
          <p:nvPr/>
        </p:nvSpPr>
        <p:spPr>
          <a:xfrm>
            <a:off x="1874520" y="1755648"/>
            <a:ext cx="1014984"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Falange</a:t>
            </a:r>
            <a:endParaRPr lang="en-US" sz="1500" dirty="0"/>
          </a:p>
        </p:txBody>
      </p:sp>
      <p:sp>
        <p:nvSpPr>
          <p:cNvPr id="10" name="Etiqueta Queronea"/>
          <p:cNvSpPr/>
          <p:nvPr/>
        </p:nvSpPr>
        <p:spPr>
          <a:xfrm>
            <a:off x="2999232" y="1755648"/>
            <a:ext cx="1115568" cy="384048"/>
          </a:xfrm>
          <a:prstGeom prst="roundRect">
            <a:avLst>
              <a:gd name="adj" fmla="val 50000"/>
            </a:avLst>
          </a:prstGeom>
          <a:solidFill>
            <a:srgbClr val="E6F4EA"/>
          </a:solidFill>
          <a:ln/>
        </p:spPr>
      </p:sp>
      <p:sp>
        <p:nvSpPr>
          <p:cNvPr id="11" name="Text 9"/>
          <p:cNvSpPr txBox="1"/>
          <p:nvPr/>
        </p:nvSpPr>
        <p:spPr>
          <a:xfrm>
            <a:off x="2999232" y="1755648"/>
            <a:ext cx="1115568"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Queronea</a:t>
            </a:r>
            <a:endParaRPr lang="en-US" sz="1500" dirty="0"/>
          </a:p>
        </p:txBody>
      </p:sp>
      <p:sp>
        <p:nvSpPr>
          <p:cNvPr id="12" name="Etiqueta Diàdocs"/>
          <p:cNvSpPr/>
          <p:nvPr/>
        </p:nvSpPr>
        <p:spPr>
          <a:xfrm>
            <a:off x="4224528" y="1755648"/>
            <a:ext cx="1014984" cy="384048"/>
          </a:xfrm>
          <a:prstGeom prst="roundRect">
            <a:avLst>
              <a:gd name="adj" fmla="val 50000"/>
            </a:avLst>
          </a:prstGeom>
          <a:solidFill>
            <a:srgbClr val="E6F4EA"/>
          </a:solidFill>
          <a:ln/>
        </p:spPr>
      </p:sp>
      <p:sp>
        <p:nvSpPr>
          <p:cNvPr id="13" name="Text 11"/>
          <p:cNvSpPr txBox="1"/>
          <p:nvPr/>
        </p:nvSpPr>
        <p:spPr>
          <a:xfrm>
            <a:off x="4224528" y="1755648"/>
            <a:ext cx="1014984"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Diàdocs</a:t>
            </a:r>
            <a:endParaRPr lang="en-US" sz="1500" dirty="0"/>
          </a:p>
        </p:txBody>
      </p:sp>
      <p:sp>
        <p:nvSpPr>
          <p:cNvPr id="14" name="Etiqueta Hel·lenisme"/>
          <p:cNvSpPr/>
          <p:nvPr/>
        </p:nvSpPr>
        <p:spPr>
          <a:xfrm>
            <a:off x="5349240" y="1755648"/>
            <a:ext cx="1417320" cy="384048"/>
          </a:xfrm>
          <a:prstGeom prst="roundRect">
            <a:avLst>
              <a:gd name="adj" fmla="val 50000"/>
            </a:avLst>
          </a:prstGeom>
          <a:solidFill>
            <a:srgbClr val="E6F4EA"/>
          </a:solidFill>
          <a:ln/>
        </p:spPr>
      </p:sp>
      <p:sp>
        <p:nvSpPr>
          <p:cNvPr id="15" name="Text 13"/>
          <p:cNvSpPr txBox="1"/>
          <p:nvPr/>
        </p:nvSpPr>
        <p:spPr>
          <a:xfrm>
            <a:off x="5349240" y="1755648"/>
            <a:ext cx="1417320"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Hel·lenisme</a:t>
            </a:r>
            <a:endParaRPr lang="en-US" sz="1500" dirty="0"/>
          </a:p>
        </p:txBody>
      </p:sp>
      <p:sp>
        <p:nvSpPr>
          <p:cNvPr id="16" name="Etiqueta Alexandria"/>
          <p:cNvSpPr/>
          <p:nvPr/>
        </p:nvSpPr>
        <p:spPr>
          <a:xfrm>
            <a:off x="6876288" y="1755648"/>
            <a:ext cx="1316736" cy="384048"/>
          </a:xfrm>
          <a:prstGeom prst="roundRect">
            <a:avLst>
              <a:gd name="adj" fmla="val 50000"/>
            </a:avLst>
          </a:prstGeom>
          <a:solidFill>
            <a:srgbClr val="E6F4EA"/>
          </a:solidFill>
          <a:ln/>
        </p:spPr>
      </p:sp>
      <p:sp>
        <p:nvSpPr>
          <p:cNvPr id="17" name="Text 15"/>
          <p:cNvSpPr txBox="1"/>
          <p:nvPr/>
        </p:nvSpPr>
        <p:spPr>
          <a:xfrm>
            <a:off x="6876288" y="1755648"/>
            <a:ext cx="131673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Alexandria</a:t>
            </a:r>
            <a:endParaRPr lang="en-US" sz="1500" dirty="0"/>
          </a:p>
        </p:txBody>
      </p:sp>
      <p:sp>
        <p:nvSpPr>
          <p:cNvPr id="18" name="Pregunta 1"/>
          <p:cNvSpPr/>
          <p:nvPr/>
        </p:nvSpPr>
        <p:spPr>
          <a:xfrm>
            <a:off x="548640" y="2514600"/>
            <a:ext cx="5410048" cy="960120"/>
          </a:xfrm>
          <a:prstGeom prst="roundRect">
            <a:avLst>
              <a:gd name="adj" fmla="val 10476"/>
            </a:avLst>
          </a:prstGeom>
          <a:solidFill>
            <a:srgbClr val="FFFFFF"/>
          </a:solidFill>
          <a:ln w="12700">
            <a:solidFill>
              <a:srgbClr val="DADCE0"/>
            </a:solidFill>
            <a:prstDash val="solid"/>
          </a:ln>
        </p:spPr>
      </p:sp>
      <p:sp>
        <p:nvSpPr>
          <p:cNvPr id="19" name="Número 1"/>
          <p:cNvSpPr/>
          <p:nvPr/>
        </p:nvSpPr>
        <p:spPr>
          <a:xfrm>
            <a:off x="822960" y="2766060"/>
            <a:ext cx="457200" cy="457200"/>
          </a:xfrm>
          <a:prstGeom prst="ellipse">
            <a:avLst/>
          </a:prstGeom>
          <a:solidFill>
            <a:srgbClr val="188038"/>
          </a:solidFill>
          <a:ln/>
        </p:spPr>
      </p:sp>
      <p:sp>
        <p:nvSpPr>
          <p:cNvPr id="20" name="Text 18"/>
          <p:cNvSpPr txBox="1"/>
          <p:nvPr/>
        </p:nvSpPr>
        <p:spPr>
          <a:xfrm>
            <a:off x="822960" y="27660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1</a:t>
            </a:r>
            <a:endParaRPr lang="en-US" sz="1700" dirty="0"/>
          </a:p>
        </p:txBody>
      </p:sp>
      <p:sp>
        <p:nvSpPr>
          <p:cNvPr id="21" name="Text 19"/>
          <p:cNvSpPr txBox="1"/>
          <p:nvPr/>
        </p:nvSpPr>
        <p:spPr>
          <a:xfrm>
            <a:off x="1508760" y="2514600"/>
            <a:ext cx="4221328" cy="960120"/>
          </a:xfrm>
          <a:prstGeom prst="rect">
            <a:avLst/>
          </a:prstGeom>
          <a:noFill/>
          <a:ln/>
        </p:spPr>
        <p:txBody>
          <a:bodyPr wrap="square" lIns="0" tIns="0" rIns="0" bIns="0" rtlCol="0" anchor="ctr"/>
          <a:lstStyle/>
          <a:p>
            <a:pPr indent="0" marL="0">
              <a:buNone/>
            </a:pPr>
            <a:r>
              <a:rPr lang="en-US" sz="1700" dirty="0">
                <a:solidFill>
                  <a:srgbClr val="202124"/>
                </a:solidFill>
                <a:latin typeface="Roboto" pitchFamily="34" charset="0"/>
                <a:ea typeface="Roboto" pitchFamily="34" charset="-122"/>
                <a:cs typeface="Roboto" pitchFamily="34" charset="-120"/>
              </a:rPr>
              <a:t>Quina relació tenien Filip II, Alexandre i Aristòtil?</a:t>
            </a:r>
            <a:endParaRPr lang="en-US" sz="1700" dirty="0"/>
          </a:p>
        </p:txBody>
      </p:sp>
      <p:sp>
        <p:nvSpPr>
          <p:cNvPr id="22" name="Pregunta 2"/>
          <p:cNvSpPr/>
          <p:nvPr/>
        </p:nvSpPr>
        <p:spPr>
          <a:xfrm>
            <a:off x="6233008" y="2514600"/>
            <a:ext cx="5410048" cy="960120"/>
          </a:xfrm>
          <a:prstGeom prst="roundRect">
            <a:avLst>
              <a:gd name="adj" fmla="val 10476"/>
            </a:avLst>
          </a:prstGeom>
          <a:solidFill>
            <a:srgbClr val="FFFFFF"/>
          </a:solidFill>
          <a:ln w="12700">
            <a:solidFill>
              <a:srgbClr val="DADCE0"/>
            </a:solidFill>
            <a:prstDash val="solid"/>
          </a:ln>
        </p:spPr>
      </p:sp>
      <p:sp>
        <p:nvSpPr>
          <p:cNvPr id="23" name="Número 2"/>
          <p:cNvSpPr/>
          <p:nvPr/>
        </p:nvSpPr>
        <p:spPr>
          <a:xfrm>
            <a:off x="6507328" y="2766060"/>
            <a:ext cx="457200" cy="457200"/>
          </a:xfrm>
          <a:prstGeom prst="ellipse">
            <a:avLst/>
          </a:prstGeom>
          <a:solidFill>
            <a:srgbClr val="188038"/>
          </a:solidFill>
          <a:ln/>
        </p:spPr>
      </p:sp>
      <p:sp>
        <p:nvSpPr>
          <p:cNvPr id="24" name="Text 22"/>
          <p:cNvSpPr txBox="1"/>
          <p:nvPr/>
        </p:nvSpPr>
        <p:spPr>
          <a:xfrm>
            <a:off x="6507328" y="27660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2</a:t>
            </a:r>
            <a:endParaRPr lang="en-US" sz="1700" dirty="0"/>
          </a:p>
        </p:txBody>
      </p:sp>
      <p:sp>
        <p:nvSpPr>
          <p:cNvPr id="25" name="Text 23"/>
          <p:cNvSpPr txBox="1"/>
          <p:nvPr/>
        </p:nvSpPr>
        <p:spPr>
          <a:xfrm>
            <a:off x="7193128" y="2514600"/>
            <a:ext cx="4221328" cy="960120"/>
          </a:xfrm>
          <a:prstGeom prst="rect">
            <a:avLst/>
          </a:prstGeom>
          <a:noFill/>
          <a:ln/>
        </p:spPr>
        <p:txBody>
          <a:bodyPr wrap="square" lIns="0" tIns="0" rIns="0" bIns="0" rtlCol="0" anchor="ctr"/>
          <a:lstStyle/>
          <a:p>
            <a:pPr indent="0" marL="0">
              <a:buNone/>
            </a:pPr>
            <a:r>
              <a:rPr lang="en-US" sz="1700" dirty="0">
                <a:solidFill>
                  <a:srgbClr val="202124"/>
                </a:solidFill>
                <a:latin typeface="Roboto" pitchFamily="34" charset="0"/>
                <a:ea typeface="Roboto" pitchFamily="34" charset="-122"/>
                <a:cs typeface="Roboto" pitchFamily="34" charset="-120"/>
              </a:rPr>
              <a:t>Fins on va arribar Alexandre amb les seves conquestes?</a:t>
            </a:r>
            <a:endParaRPr lang="en-US" sz="1700" dirty="0"/>
          </a:p>
        </p:txBody>
      </p:sp>
      <p:sp>
        <p:nvSpPr>
          <p:cNvPr id="26" name="Pregunta 3"/>
          <p:cNvSpPr/>
          <p:nvPr/>
        </p:nvSpPr>
        <p:spPr>
          <a:xfrm>
            <a:off x="548640" y="3675888"/>
            <a:ext cx="5410048" cy="960120"/>
          </a:xfrm>
          <a:prstGeom prst="roundRect">
            <a:avLst>
              <a:gd name="adj" fmla="val 10476"/>
            </a:avLst>
          </a:prstGeom>
          <a:solidFill>
            <a:srgbClr val="FFFFFF"/>
          </a:solidFill>
          <a:ln w="12700">
            <a:solidFill>
              <a:srgbClr val="DADCE0"/>
            </a:solidFill>
            <a:prstDash val="solid"/>
          </a:ln>
        </p:spPr>
      </p:sp>
      <p:sp>
        <p:nvSpPr>
          <p:cNvPr id="27" name="Número 3"/>
          <p:cNvSpPr/>
          <p:nvPr/>
        </p:nvSpPr>
        <p:spPr>
          <a:xfrm>
            <a:off x="822960" y="3927348"/>
            <a:ext cx="457200" cy="457200"/>
          </a:xfrm>
          <a:prstGeom prst="ellipse">
            <a:avLst/>
          </a:prstGeom>
          <a:solidFill>
            <a:srgbClr val="188038"/>
          </a:solidFill>
          <a:ln/>
        </p:spPr>
      </p:sp>
      <p:sp>
        <p:nvSpPr>
          <p:cNvPr id="28" name="Text 26"/>
          <p:cNvSpPr txBox="1"/>
          <p:nvPr/>
        </p:nvSpPr>
        <p:spPr>
          <a:xfrm>
            <a:off x="822960" y="3927348"/>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3</a:t>
            </a:r>
            <a:endParaRPr lang="en-US" sz="1700" dirty="0"/>
          </a:p>
        </p:txBody>
      </p:sp>
      <p:sp>
        <p:nvSpPr>
          <p:cNvPr id="29" name="Text 27"/>
          <p:cNvSpPr txBox="1"/>
          <p:nvPr/>
        </p:nvSpPr>
        <p:spPr>
          <a:xfrm>
            <a:off x="1508760" y="3675888"/>
            <a:ext cx="4221328" cy="960120"/>
          </a:xfrm>
          <a:prstGeom prst="rect">
            <a:avLst/>
          </a:prstGeom>
          <a:noFill/>
          <a:ln/>
        </p:spPr>
        <p:txBody>
          <a:bodyPr wrap="square" lIns="0" tIns="0" rIns="0" bIns="0" rtlCol="0" anchor="ctr"/>
          <a:lstStyle/>
          <a:p>
            <a:pPr indent="0" marL="0">
              <a:buNone/>
            </a:pPr>
            <a:r>
              <a:rPr lang="en-US" sz="1700" dirty="0">
                <a:solidFill>
                  <a:srgbClr val="202124"/>
                </a:solidFill>
                <a:latin typeface="Roboto" pitchFamily="34" charset="0"/>
                <a:ea typeface="Roboto" pitchFamily="34" charset="-122"/>
                <a:cs typeface="Roboto" pitchFamily="34" charset="-120"/>
              </a:rPr>
              <a:t>Què és l'hel·lenisme?</a:t>
            </a:r>
            <a:endParaRPr lang="en-US" sz="1700" dirty="0"/>
          </a:p>
        </p:txBody>
      </p:sp>
      <p:sp>
        <p:nvSpPr>
          <p:cNvPr id="30" name="Pregunta 4"/>
          <p:cNvSpPr/>
          <p:nvPr/>
        </p:nvSpPr>
        <p:spPr>
          <a:xfrm>
            <a:off x="6233008" y="3675888"/>
            <a:ext cx="5410048" cy="960120"/>
          </a:xfrm>
          <a:prstGeom prst="roundRect">
            <a:avLst>
              <a:gd name="adj" fmla="val 10476"/>
            </a:avLst>
          </a:prstGeom>
          <a:solidFill>
            <a:srgbClr val="FFFFFF"/>
          </a:solidFill>
          <a:ln w="12700">
            <a:solidFill>
              <a:srgbClr val="DADCE0"/>
            </a:solidFill>
            <a:prstDash val="solid"/>
          </a:ln>
        </p:spPr>
      </p:sp>
      <p:sp>
        <p:nvSpPr>
          <p:cNvPr id="31" name="Número 4"/>
          <p:cNvSpPr/>
          <p:nvPr/>
        </p:nvSpPr>
        <p:spPr>
          <a:xfrm>
            <a:off x="6507328" y="3927348"/>
            <a:ext cx="457200" cy="457200"/>
          </a:xfrm>
          <a:prstGeom prst="ellipse">
            <a:avLst/>
          </a:prstGeom>
          <a:solidFill>
            <a:srgbClr val="188038"/>
          </a:solidFill>
          <a:ln/>
        </p:spPr>
      </p:sp>
      <p:sp>
        <p:nvSpPr>
          <p:cNvPr id="32" name="Text 30"/>
          <p:cNvSpPr txBox="1"/>
          <p:nvPr/>
        </p:nvSpPr>
        <p:spPr>
          <a:xfrm>
            <a:off x="6507328" y="3927348"/>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4</a:t>
            </a:r>
            <a:endParaRPr lang="en-US" sz="1700" dirty="0"/>
          </a:p>
        </p:txBody>
      </p:sp>
      <p:sp>
        <p:nvSpPr>
          <p:cNvPr id="33" name="Text 31"/>
          <p:cNvSpPr txBox="1"/>
          <p:nvPr/>
        </p:nvSpPr>
        <p:spPr>
          <a:xfrm>
            <a:off x="7193128" y="3675888"/>
            <a:ext cx="4221328" cy="960120"/>
          </a:xfrm>
          <a:prstGeom prst="rect">
            <a:avLst/>
          </a:prstGeom>
          <a:noFill/>
          <a:ln/>
        </p:spPr>
        <p:txBody>
          <a:bodyPr wrap="square" lIns="0" tIns="0" rIns="0" bIns="0" rtlCol="0" anchor="ctr"/>
          <a:lstStyle/>
          <a:p>
            <a:pPr indent="0" marL="0">
              <a:buNone/>
            </a:pPr>
            <a:r>
              <a:rPr lang="en-US" sz="1700" dirty="0">
                <a:solidFill>
                  <a:srgbClr val="202124"/>
                </a:solidFill>
                <a:latin typeface="Roboto" pitchFamily="34" charset="0"/>
                <a:ea typeface="Roboto" pitchFamily="34" charset="-122"/>
                <a:cs typeface="Roboto" pitchFamily="34" charset="-120"/>
              </a:rPr>
              <a:t>Què va passar a Queronea el 338 aC?</a:t>
            </a:r>
            <a:endParaRPr lang="en-US" sz="1700" dirty="0"/>
          </a:p>
        </p:txBody>
      </p:sp>
      <p:sp>
        <p:nvSpPr>
          <p:cNvPr id="34" name="Pregunta 5"/>
          <p:cNvSpPr/>
          <p:nvPr/>
        </p:nvSpPr>
        <p:spPr>
          <a:xfrm>
            <a:off x="548640" y="4837176"/>
            <a:ext cx="5410048" cy="960120"/>
          </a:xfrm>
          <a:prstGeom prst="roundRect">
            <a:avLst>
              <a:gd name="adj" fmla="val 10476"/>
            </a:avLst>
          </a:prstGeom>
          <a:solidFill>
            <a:srgbClr val="FFFFFF"/>
          </a:solidFill>
          <a:ln w="12700">
            <a:solidFill>
              <a:srgbClr val="DADCE0"/>
            </a:solidFill>
            <a:prstDash val="solid"/>
          </a:ln>
        </p:spPr>
      </p:sp>
      <p:sp>
        <p:nvSpPr>
          <p:cNvPr id="35" name="Número 5"/>
          <p:cNvSpPr/>
          <p:nvPr/>
        </p:nvSpPr>
        <p:spPr>
          <a:xfrm>
            <a:off x="822960" y="5088636"/>
            <a:ext cx="457200" cy="457200"/>
          </a:xfrm>
          <a:prstGeom prst="ellipse">
            <a:avLst/>
          </a:prstGeom>
          <a:solidFill>
            <a:srgbClr val="188038"/>
          </a:solidFill>
          <a:ln/>
        </p:spPr>
      </p:sp>
      <p:sp>
        <p:nvSpPr>
          <p:cNvPr id="36" name="Text 34"/>
          <p:cNvSpPr txBox="1"/>
          <p:nvPr/>
        </p:nvSpPr>
        <p:spPr>
          <a:xfrm>
            <a:off x="822960" y="5088636"/>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5</a:t>
            </a:r>
            <a:endParaRPr lang="en-US" sz="1700" dirty="0"/>
          </a:p>
        </p:txBody>
      </p:sp>
      <p:sp>
        <p:nvSpPr>
          <p:cNvPr id="37" name="Text 35"/>
          <p:cNvSpPr txBox="1"/>
          <p:nvPr/>
        </p:nvSpPr>
        <p:spPr>
          <a:xfrm>
            <a:off x="1508760" y="4837176"/>
            <a:ext cx="4221328" cy="960120"/>
          </a:xfrm>
          <a:prstGeom prst="rect">
            <a:avLst/>
          </a:prstGeom>
          <a:noFill/>
          <a:ln/>
        </p:spPr>
        <p:txBody>
          <a:bodyPr wrap="square" lIns="0" tIns="0" rIns="0" bIns="0" rtlCol="0" anchor="ctr"/>
          <a:lstStyle/>
          <a:p>
            <a:pPr indent="0" marL="0">
              <a:buNone/>
            </a:pPr>
            <a:r>
              <a:rPr lang="en-US" sz="1700" dirty="0">
                <a:solidFill>
                  <a:srgbClr val="202124"/>
                </a:solidFill>
                <a:latin typeface="Roboto" pitchFamily="34" charset="0"/>
                <a:ea typeface="Roboto" pitchFamily="34" charset="-122"/>
                <a:cs typeface="Roboto" pitchFamily="34" charset="-120"/>
              </a:rPr>
              <a:t>Quins van ser els tres grans regnes hel·lenístics?</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Capçalera"/>
          <p:cNvSpPr/>
          <p:nvPr/>
        </p:nvSpPr>
        <p:spPr>
          <a:xfrm>
            <a:off x="548640" y="548640"/>
            <a:ext cx="6720840" cy="3657600"/>
          </a:xfrm>
          <a:prstGeom prst="roundRect">
            <a:avLst>
              <a:gd name="adj" fmla="val 2750"/>
            </a:avLst>
          </a:prstGeom>
          <a:solidFill>
            <a:srgbClr val="188038"/>
          </a:solidFill>
          <a:ln/>
        </p:spPr>
      </p:sp>
      <p:pic>
        <p:nvPicPr>
          <p:cNvPr id="3" name="Il·lustració d'un temple grec i el sol" descr="/home/claude/work/build/hero-crop.png">    </p:cNvPr>
          <p:cNvPicPr>
            <a:picLocks noChangeAspect="1"/>
          </p:cNvPicPr>
          <p:nvPr/>
        </p:nvPicPr>
        <p:blipFill>
          <a:blip r:embed="rId1"/>
          <a:stretch>
            <a:fillRect/>
          </a:stretch>
        </p:blipFill>
        <p:spPr>
          <a:xfrm>
            <a:off x="3520440" y="2395912"/>
            <a:ext cx="3566160" cy="1792040"/>
          </a:xfrm>
          <a:prstGeom prst="rect">
            <a:avLst/>
          </a:prstGeom>
        </p:spPr>
      </p:pic>
      <p:sp>
        <p:nvSpPr>
          <p:cNvPr id="4" name="Etiqueta Apartat 6"/>
          <p:cNvSpPr/>
          <p:nvPr/>
        </p:nvSpPr>
        <p:spPr>
          <a:xfrm>
            <a:off x="960120" y="896112"/>
            <a:ext cx="1035101" cy="310896"/>
          </a:xfrm>
          <a:prstGeom prst="roundRect">
            <a:avLst>
              <a:gd name="adj" fmla="val 50000"/>
            </a:avLst>
          </a:prstGeom>
          <a:solidFill>
            <a:srgbClr val="FFFFFF">
              <a:alpha val="18000"/>
            </a:srgbClr>
          </a:solidFill>
          <a:ln/>
        </p:spPr>
      </p:sp>
      <p:sp>
        <p:nvSpPr>
          <p:cNvPr id="5" name="Text 2"/>
          <p:cNvSpPr txBox="1"/>
          <p:nvPr/>
        </p:nvSpPr>
        <p:spPr>
          <a:xfrm>
            <a:off x="960120" y="896112"/>
            <a:ext cx="1035101" cy="310896"/>
          </a:xfrm>
          <a:prstGeom prst="rect">
            <a:avLst/>
          </a:prstGeom>
          <a:noFill/>
          <a:ln/>
        </p:spPr>
        <p:txBody>
          <a:bodyPr wrap="square" lIns="0" tIns="0" rIns="0" bIns="0" rtlCol="0" anchor="ctr"/>
          <a:lstStyle/>
          <a:p>
            <a:pPr algn="ctr" indent="0" marL="0">
              <a:buNone/>
            </a:pPr>
            <a:r>
              <a:rPr lang="en-US" sz="1250" dirty="0">
                <a:solidFill>
                  <a:srgbClr val="FFFFFF"/>
                </a:solidFill>
                <a:latin typeface="Roboto" pitchFamily="34" charset="0"/>
                <a:ea typeface="Roboto" pitchFamily="34" charset="-122"/>
                <a:cs typeface="Roboto" pitchFamily="34" charset="-120"/>
              </a:rPr>
              <a:t>Apartat 6</a:t>
            </a:r>
            <a:endParaRPr lang="en-US" sz="1250" dirty="0"/>
          </a:p>
        </p:txBody>
      </p:sp>
      <p:sp>
        <p:nvSpPr>
          <p:cNvPr id="6" name="Text 3"/>
          <p:cNvSpPr txBox="1"/>
          <p:nvPr/>
        </p:nvSpPr>
        <p:spPr>
          <a:xfrm>
            <a:off x="960120" y="1371600"/>
            <a:ext cx="5760720" cy="1280160"/>
          </a:xfrm>
          <a:prstGeom prst="rect">
            <a:avLst/>
          </a:prstGeom>
          <a:noFill/>
          <a:ln/>
        </p:spPr>
        <p:txBody>
          <a:bodyPr wrap="square" lIns="0" tIns="0" rIns="0" bIns="0" rtlCol="0" anchor="t"/>
          <a:lstStyle/>
          <a:p>
            <a:pPr indent="0" marL="0">
              <a:lnSpc>
                <a:spcPct val="95000"/>
              </a:lnSpc>
              <a:buNone/>
            </a:pPr>
            <a:r>
              <a:rPr lang="en-US" sz="3800" b="1" dirty="0">
                <a:solidFill>
                  <a:srgbClr val="FFFFFF"/>
                </a:solidFill>
                <a:latin typeface="Roboto" pitchFamily="34" charset="0"/>
                <a:ea typeface="Roboto" pitchFamily="34" charset="-122"/>
                <a:cs typeface="Roboto" pitchFamily="34" charset="-120"/>
              </a:rPr>
              <a:t>Déus, mites i Jocs Olímpics</a:t>
            </a:r>
            <a:endParaRPr lang="en-US" sz="3800" dirty="0"/>
          </a:p>
        </p:txBody>
      </p:sp>
      <p:sp>
        <p:nvSpPr>
          <p:cNvPr id="7" name="Pregunta guia"/>
          <p:cNvSpPr/>
          <p:nvPr/>
        </p:nvSpPr>
        <p:spPr>
          <a:xfrm>
            <a:off x="548640" y="4389120"/>
            <a:ext cx="6720840" cy="1645920"/>
          </a:xfrm>
          <a:prstGeom prst="roundRect">
            <a:avLst>
              <a:gd name="adj" fmla="val 6111"/>
            </a:avLst>
          </a:prstGeom>
          <a:solidFill>
            <a:srgbClr val="F6F8FB"/>
          </a:solidFill>
          <a:ln/>
        </p:spPr>
      </p:sp>
      <p:sp>
        <p:nvSpPr>
          <p:cNvPr id="8" name="Text 5"/>
          <p:cNvSpPr txBox="1"/>
          <p:nvPr/>
        </p:nvSpPr>
        <p:spPr>
          <a:xfrm>
            <a:off x="914400" y="4590288"/>
            <a:ext cx="4572000" cy="320040"/>
          </a:xfrm>
          <a:prstGeom prst="rect">
            <a:avLst/>
          </a:prstGeom>
          <a:noFill/>
          <a:ln/>
        </p:spPr>
        <p:txBody>
          <a:bodyPr wrap="square" lIns="0" tIns="0" rIns="0" bIns="0" rtlCol="0" anchor="t"/>
          <a:lstStyle/>
          <a:p>
            <a:pPr indent="0" marL="0">
              <a:buNone/>
            </a:pPr>
            <a:r>
              <a:rPr lang="en-US" sz="1300" b="1" dirty="0">
                <a:solidFill>
                  <a:srgbClr val="188038"/>
                </a:solidFill>
                <a:latin typeface="Roboto" pitchFamily="34" charset="0"/>
                <a:ea typeface="Roboto" pitchFamily="34" charset="-122"/>
                <a:cs typeface="Roboto" pitchFamily="34" charset="-120"/>
              </a:rPr>
              <a:t>Pregunta guia</a:t>
            </a:r>
            <a:endParaRPr lang="en-US" sz="1300" dirty="0"/>
          </a:p>
        </p:txBody>
      </p:sp>
      <p:sp>
        <p:nvSpPr>
          <p:cNvPr id="9" name="Text 6"/>
          <p:cNvSpPr txBox="1"/>
          <p:nvPr/>
        </p:nvSpPr>
        <p:spPr>
          <a:xfrm>
            <a:off x="914400" y="4937760"/>
            <a:ext cx="6035040" cy="914400"/>
          </a:xfrm>
          <a:prstGeom prst="rect">
            <a:avLst/>
          </a:prstGeom>
          <a:noFill/>
          <a:ln/>
        </p:spPr>
        <p:txBody>
          <a:bodyPr wrap="square" lIns="0" tIns="0" rIns="0" bIns="0" rtlCol="0" anchor="t"/>
          <a:lstStyle/>
          <a:p>
            <a:pPr indent="0" marL="0">
              <a:buNone/>
            </a:pPr>
            <a:r>
              <a:rPr lang="en-US" sz="1900" dirty="0">
                <a:solidFill>
                  <a:srgbClr val="5F6368"/>
                </a:solidFill>
                <a:latin typeface="Roboto" pitchFamily="34" charset="0"/>
                <a:ea typeface="Roboto" pitchFamily="34" charset="-122"/>
                <a:cs typeface="Roboto" pitchFamily="34" charset="-120"/>
              </a:rPr>
              <a:t>Per què uns déus que s'enfadaven i feien trampes eren tan importants per als grecs?</a:t>
            </a:r>
            <a:endParaRPr lang="en-US" sz="1900" dirty="0"/>
          </a:p>
        </p:txBody>
      </p:sp>
      <p:sp>
        <p:nvSpPr>
          <p:cNvPr id="10" name="Fons Déus, mites i Jocs Olímpics"/>
          <p:cNvSpPr/>
          <p:nvPr/>
        </p:nvSpPr>
        <p:spPr>
          <a:xfrm>
            <a:off x="7635240" y="1559028"/>
            <a:ext cx="4007815" cy="2670097"/>
          </a:xfrm>
          <a:prstGeom prst="roundRect">
            <a:avLst>
              <a:gd name="adj" fmla="val 3767"/>
            </a:avLst>
          </a:prstGeom>
          <a:solidFill>
            <a:srgbClr val="F6F8FB"/>
          </a:solidFill>
          <a:ln/>
        </p:spPr>
      </p:sp>
      <p:pic>
        <p:nvPicPr>
          <p:cNvPr id="11" name="Déus, mites i Jocs Olímpics" descr="/home/claude/work/build/img/heracles.jpg">    </p:cNvPr>
          <p:cNvPicPr>
            <a:picLocks noChangeAspect="1"/>
          </p:cNvPicPr>
          <p:nvPr/>
        </p:nvPicPr>
        <p:blipFill>
          <a:blip r:embed="rId2"/>
          <a:stretch>
            <a:fillRect/>
          </a:stretch>
        </p:blipFill>
        <p:spPr>
          <a:xfrm>
            <a:off x="7635240" y="1559028"/>
            <a:ext cx="4007815" cy="2670097"/>
          </a:xfrm>
          <a:prstGeom prst="rect">
            <a:avLst/>
          </a:prstGeom>
        </p:spPr>
      </p:pic>
      <p:sp>
        <p:nvSpPr>
          <p:cNvPr id="12" name="Text 8"/>
          <p:cNvSpPr txBox="1"/>
          <p:nvPr/>
        </p:nvSpPr>
        <p:spPr>
          <a:xfrm>
            <a:off x="7635240" y="4338852"/>
            <a:ext cx="4007815"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Hèracles lluita contra Tritó, amb la deessa Atena al costat. Àmfora àtica de figures negres (cap al 500 aC), atribuïda al pintor de Pasicles. Museu Arqueològic de Siracusa. Foto: Zde, Wikimedia Commons, CC BY-SA 4.0.</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6</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Una religió de déus molt humans</a:t>
            </a:r>
            <a:endParaRPr lang="en-US" sz="2800" dirty="0"/>
          </a:p>
        </p:txBody>
      </p:sp>
      <p:sp>
        <p:nvSpPr>
          <p:cNvPr id="5" name="Text 3"/>
          <p:cNvSpPr txBox="1"/>
          <p:nvPr/>
        </p:nvSpPr>
        <p:spPr>
          <a:xfrm>
            <a:off x="548640" y="1371600"/>
            <a:ext cx="11094415" cy="82296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La religió grega era politeista, i els seus déus eren antropomorfs, amb forma i caràcter humans.</a:t>
            </a:r>
            <a:endParaRPr lang="en-US" sz="1800" dirty="0"/>
          </a:p>
        </p:txBody>
      </p:sp>
      <p:sp>
        <p:nvSpPr>
          <p:cNvPr id="6" name="Targeta Com qualsevol família"/>
          <p:cNvSpPr/>
          <p:nvPr/>
        </p:nvSpPr>
        <p:spPr>
          <a:xfrm>
            <a:off x="548640" y="2286000"/>
            <a:ext cx="5410048" cy="2240280"/>
          </a:xfrm>
          <a:prstGeom prst="roundRect">
            <a:avLst>
              <a:gd name="adj" fmla="val 4490"/>
            </a:avLst>
          </a:prstGeom>
          <a:solidFill>
            <a:srgbClr val="FFFFFF"/>
          </a:solidFill>
          <a:ln w="12700">
            <a:solidFill>
              <a:srgbClr val="DADCE0"/>
            </a:solidFill>
            <a:prstDash val="solid"/>
          </a:ln>
        </p:spPr>
      </p:sp>
      <p:sp>
        <p:nvSpPr>
          <p:cNvPr id="7" name="Cercle icona"/>
          <p:cNvSpPr/>
          <p:nvPr/>
        </p:nvSpPr>
        <p:spPr>
          <a:xfrm>
            <a:off x="777240" y="2514600"/>
            <a:ext cx="685800" cy="685800"/>
          </a:xfrm>
          <a:prstGeom prst="ellipse">
            <a:avLst/>
          </a:prstGeom>
          <a:solidFill>
            <a:srgbClr val="E6F4EA"/>
          </a:solidFill>
          <a:ln/>
        </p:spPr>
      </p:sp>
      <p:pic>
        <p:nvPicPr>
          <p:cNvPr id="8" name="Icona TbUsers" descr="/home/claude/work/build/img/ic/TbUsers-g.png">    </p:cNvPr>
          <p:cNvPicPr>
            <a:picLocks noChangeAspect="1"/>
          </p:cNvPicPr>
          <p:nvPr/>
        </p:nvPicPr>
        <p:blipFill>
          <a:blip r:embed="rId1"/>
          <a:stretch>
            <a:fillRect/>
          </a:stretch>
        </p:blipFill>
        <p:spPr>
          <a:xfrm>
            <a:off x="928116" y="2665476"/>
            <a:ext cx="384048" cy="384048"/>
          </a:xfrm>
          <a:prstGeom prst="rect">
            <a:avLst/>
          </a:prstGeom>
        </p:spPr>
      </p:pic>
      <p:sp>
        <p:nvSpPr>
          <p:cNvPr id="9" name="Text 6"/>
          <p:cNvSpPr txBox="1"/>
          <p:nvPr/>
        </p:nvSpPr>
        <p:spPr>
          <a:xfrm>
            <a:off x="1600200" y="2514600"/>
            <a:ext cx="4129888" cy="685800"/>
          </a:xfrm>
          <a:prstGeom prst="rect">
            <a:avLst/>
          </a:prstGeom>
          <a:noFill/>
          <a:ln/>
        </p:spPr>
        <p:txBody>
          <a:bodyPr wrap="square" lIns="0" tIns="0" rIns="0" bIns="0" rtlCol="0" anchor="ctr"/>
          <a:lstStyle/>
          <a:p>
            <a:pPr indent="0" marL="0">
              <a:buNone/>
            </a:pPr>
            <a:r>
              <a:rPr lang="en-US" sz="2000" b="1" dirty="0">
                <a:solidFill>
                  <a:srgbClr val="188038"/>
                </a:solidFill>
                <a:latin typeface="Roboto" pitchFamily="34" charset="0"/>
                <a:ea typeface="Roboto" pitchFamily="34" charset="-122"/>
                <a:cs typeface="Roboto" pitchFamily="34" charset="-120"/>
              </a:rPr>
              <a:t>Com qualsevol família</a:t>
            </a:r>
            <a:endParaRPr lang="en-US" sz="2000" dirty="0"/>
          </a:p>
        </p:txBody>
      </p:sp>
      <p:sp>
        <p:nvSpPr>
          <p:cNvPr id="10" name="Text 7"/>
          <p:cNvSpPr txBox="1"/>
          <p:nvPr/>
        </p:nvSpPr>
        <p:spPr>
          <a:xfrm>
            <a:off x="777240" y="3337560"/>
            <a:ext cx="4952848" cy="1051560"/>
          </a:xfrm>
          <a:prstGeom prst="rect">
            <a:avLst/>
          </a:prstGeom>
          <a:noFill/>
          <a:ln/>
        </p:spPr>
        <p:txBody>
          <a:bodyPr wrap="square" lIns="0" tIns="0" rIns="0" bIns="0" rtlCol="0" anchor="t"/>
          <a:lstStyle/>
          <a:p>
            <a:pPr indent="0" marL="0">
              <a:buNone/>
            </a:pPr>
            <a:r>
              <a:rPr lang="en-US" sz="1750" dirty="0">
                <a:solidFill>
                  <a:srgbClr val="202124"/>
                </a:solidFill>
                <a:latin typeface="Roboto" pitchFamily="34" charset="0"/>
                <a:ea typeface="Roboto" pitchFamily="34" charset="-122"/>
                <a:cs typeface="Roboto" pitchFamily="34" charset="-120"/>
              </a:rPr>
              <a:t>S'enamoraven, s'enfadaven, es barallaven i feien trampes.</a:t>
            </a:r>
            <a:endParaRPr lang="en-US" sz="1750" dirty="0"/>
          </a:p>
        </p:txBody>
      </p:sp>
      <p:sp>
        <p:nvSpPr>
          <p:cNvPr id="11" name="Targeta Però no com nosaltres"/>
          <p:cNvSpPr/>
          <p:nvPr/>
        </p:nvSpPr>
        <p:spPr>
          <a:xfrm>
            <a:off x="6233008" y="2286000"/>
            <a:ext cx="5410048" cy="2240280"/>
          </a:xfrm>
          <a:prstGeom prst="roundRect">
            <a:avLst>
              <a:gd name="adj" fmla="val 4490"/>
            </a:avLst>
          </a:prstGeom>
          <a:solidFill>
            <a:srgbClr val="FFFFFF"/>
          </a:solidFill>
          <a:ln w="12700">
            <a:solidFill>
              <a:srgbClr val="DADCE0"/>
            </a:solidFill>
            <a:prstDash val="solid"/>
          </a:ln>
        </p:spPr>
      </p:sp>
      <p:sp>
        <p:nvSpPr>
          <p:cNvPr id="12" name="Cercle icona"/>
          <p:cNvSpPr/>
          <p:nvPr/>
        </p:nvSpPr>
        <p:spPr>
          <a:xfrm>
            <a:off x="6461608" y="2514600"/>
            <a:ext cx="685800" cy="685800"/>
          </a:xfrm>
          <a:prstGeom prst="ellipse">
            <a:avLst/>
          </a:prstGeom>
          <a:solidFill>
            <a:srgbClr val="E6F4EA"/>
          </a:solidFill>
          <a:ln/>
        </p:spPr>
      </p:sp>
      <p:pic>
        <p:nvPicPr>
          <p:cNvPr id="13" name="Icona TbBolt" descr="/home/claude/work/build/img/ic/TbBolt-g.png">    </p:cNvPr>
          <p:cNvPicPr>
            <a:picLocks noChangeAspect="1"/>
          </p:cNvPicPr>
          <p:nvPr/>
        </p:nvPicPr>
        <p:blipFill>
          <a:blip r:embed="rId2"/>
          <a:stretch>
            <a:fillRect/>
          </a:stretch>
        </p:blipFill>
        <p:spPr>
          <a:xfrm>
            <a:off x="6612484" y="2665476"/>
            <a:ext cx="384048" cy="384048"/>
          </a:xfrm>
          <a:prstGeom prst="rect">
            <a:avLst/>
          </a:prstGeom>
        </p:spPr>
      </p:pic>
      <p:sp>
        <p:nvSpPr>
          <p:cNvPr id="14" name="Text 10"/>
          <p:cNvSpPr txBox="1"/>
          <p:nvPr/>
        </p:nvSpPr>
        <p:spPr>
          <a:xfrm>
            <a:off x="7284568" y="2514600"/>
            <a:ext cx="4129888" cy="685800"/>
          </a:xfrm>
          <a:prstGeom prst="rect">
            <a:avLst/>
          </a:prstGeom>
          <a:noFill/>
          <a:ln/>
        </p:spPr>
        <p:txBody>
          <a:bodyPr wrap="square" lIns="0" tIns="0" rIns="0" bIns="0" rtlCol="0" anchor="ctr"/>
          <a:lstStyle/>
          <a:p>
            <a:pPr indent="0" marL="0">
              <a:buNone/>
            </a:pPr>
            <a:r>
              <a:rPr lang="en-US" sz="2000" b="1" dirty="0">
                <a:solidFill>
                  <a:srgbClr val="188038"/>
                </a:solidFill>
                <a:latin typeface="Roboto" pitchFamily="34" charset="0"/>
                <a:ea typeface="Roboto" pitchFamily="34" charset="-122"/>
                <a:cs typeface="Roboto" pitchFamily="34" charset="-120"/>
              </a:rPr>
              <a:t>Però no com nosaltres</a:t>
            </a:r>
            <a:endParaRPr lang="en-US" sz="2000" dirty="0"/>
          </a:p>
        </p:txBody>
      </p:sp>
      <p:sp>
        <p:nvSpPr>
          <p:cNvPr id="15" name="Text 11"/>
          <p:cNvSpPr txBox="1"/>
          <p:nvPr/>
        </p:nvSpPr>
        <p:spPr>
          <a:xfrm>
            <a:off x="6461608" y="3337560"/>
            <a:ext cx="4952848" cy="1051560"/>
          </a:xfrm>
          <a:prstGeom prst="rect">
            <a:avLst/>
          </a:prstGeom>
          <a:noFill/>
          <a:ln/>
        </p:spPr>
        <p:txBody>
          <a:bodyPr wrap="square" lIns="0" tIns="0" rIns="0" bIns="0" rtlCol="0" anchor="t"/>
          <a:lstStyle/>
          <a:p>
            <a:pPr indent="0" marL="0">
              <a:buNone/>
            </a:pPr>
            <a:r>
              <a:rPr lang="en-US" sz="1750" dirty="0">
                <a:solidFill>
                  <a:srgbClr val="202124"/>
                </a:solidFill>
                <a:latin typeface="Roboto" pitchFamily="34" charset="0"/>
                <a:ea typeface="Roboto" pitchFamily="34" charset="-122"/>
                <a:cs typeface="Roboto" pitchFamily="34" charset="-120"/>
              </a:rPr>
              <a:t>Eren immortals i totpoderosos. Els dotze principals vivien al cim de l'Olimp, la muntanya més alta de Grècia.</a:t>
            </a:r>
            <a:endParaRPr lang="en-US" sz="1750" dirty="0"/>
          </a:p>
        </p:txBody>
      </p:sp>
      <p:sp>
        <p:nvSpPr>
          <p:cNvPr id="16" name="Paraula clau · Politeisme"/>
          <p:cNvSpPr/>
          <p:nvPr/>
        </p:nvSpPr>
        <p:spPr>
          <a:xfrm>
            <a:off x="548640" y="4754880"/>
            <a:ext cx="11094415" cy="1234440"/>
          </a:xfrm>
          <a:prstGeom prst="roundRect">
            <a:avLst>
              <a:gd name="adj" fmla="val 8148"/>
            </a:avLst>
          </a:prstGeom>
          <a:solidFill>
            <a:srgbClr val="E6F4EA"/>
          </a:solidFill>
          <a:ln/>
        </p:spPr>
      </p:sp>
      <p:sp>
        <p:nvSpPr>
          <p:cNvPr id="17" name="Text 13"/>
          <p:cNvSpPr txBox="1"/>
          <p:nvPr/>
        </p:nvSpPr>
        <p:spPr>
          <a:xfrm>
            <a:off x="868680" y="4910328"/>
            <a:ext cx="1045433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Paraula clau · Politeisme</a:t>
            </a:r>
            <a:endParaRPr lang="en-US" sz="1400" dirty="0"/>
          </a:p>
        </p:txBody>
      </p:sp>
      <p:sp>
        <p:nvSpPr>
          <p:cNvPr id="18" name="Text 14"/>
          <p:cNvSpPr txBox="1"/>
          <p:nvPr/>
        </p:nvSpPr>
        <p:spPr>
          <a:xfrm>
            <a:off x="868680" y="5257800"/>
            <a:ext cx="10454335" cy="59436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Religió que adora molts déus. La grega, a més, era antropomorfa, perquè els déus tenien forma i caràcter humans.</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6</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Els dotze déus de l'Olimp</a:t>
            </a:r>
            <a:endParaRPr lang="en-US" sz="2800" dirty="0"/>
          </a:p>
        </p:txBody>
      </p:sp>
      <p:sp>
        <p:nvSpPr>
          <p:cNvPr id="5" name="Déu Zeus"/>
          <p:cNvSpPr/>
          <p:nvPr/>
        </p:nvSpPr>
        <p:spPr>
          <a:xfrm>
            <a:off x="548640" y="1371600"/>
            <a:ext cx="2602154" cy="1432560"/>
          </a:xfrm>
          <a:prstGeom prst="roundRect">
            <a:avLst>
              <a:gd name="adj" fmla="val 7021"/>
            </a:avLst>
          </a:prstGeom>
          <a:solidFill>
            <a:srgbClr val="FFFFFF"/>
          </a:solidFill>
          <a:ln w="12700">
            <a:solidFill>
              <a:srgbClr val="DADCE0"/>
            </a:solidFill>
            <a:prstDash val="solid"/>
          </a:ln>
        </p:spPr>
      </p:sp>
      <p:sp>
        <p:nvSpPr>
          <p:cNvPr id="6" name="Cercle icona"/>
          <p:cNvSpPr/>
          <p:nvPr/>
        </p:nvSpPr>
        <p:spPr>
          <a:xfrm>
            <a:off x="713232" y="1508760"/>
            <a:ext cx="502920" cy="502920"/>
          </a:xfrm>
          <a:prstGeom prst="ellipse">
            <a:avLst/>
          </a:prstGeom>
          <a:solidFill>
            <a:srgbClr val="E6F4EA"/>
          </a:solidFill>
          <a:ln/>
        </p:spPr>
      </p:sp>
      <p:pic>
        <p:nvPicPr>
          <p:cNvPr id="7" name="Icona TbBolt" descr="/home/claude/work/build/img/ic/TbBolt-g.png">    </p:cNvPr>
          <p:cNvPicPr>
            <a:picLocks noChangeAspect="1"/>
          </p:cNvPicPr>
          <p:nvPr/>
        </p:nvPicPr>
        <p:blipFill>
          <a:blip r:embed="rId1"/>
          <a:stretch>
            <a:fillRect/>
          </a:stretch>
        </p:blipFill>
        <p:spPr>
          <a:xfrm>
            <a:off x="823874" y="1619402"/>
            <a:ext cx="281635" cy="281635"/>
          </a:xfrm>
          <a:prstGeom prst="rect">
            <a:avLst/>
          </a:prstGeom>
        </p:spPr>
      </p:pic>
      <p:sp>
        <p:nvSpPr>
          <p:cNvPr id="8" name="Text 5"/>
          <p:cNvSpPr txBox="1"/>
          <p:nvPr/>
        </p:nvSpPr>
        <p:spPr>
          <a:xfrm>
            <a:off x="1325880" y="1508760"/>
            <a:ext cx="1687754" cy="502920"/>
          </a:xfrm>
          <a:prstGeom prst="rect">
            <a:avLst/>
          </a:prstGeom>
          <a:noFill/>
          <a:ln/>
        </p:spPr>
        <p:txBody>
          <a:bodyPr wrap="square" lIns="0" tIns="0" rIns="0" bIns="0" rtlCol="0" anchor="ctr"/>
          <a:lstStyle/>
          <a:p>
            <a:pPr indent="0" marL="0">
              <a:buNone/>
            </a:pPr>
            <a:r>
              <a:rPr lang="en-US" sz="1800" b="1" dirty="0">
                <a:solidFill>
                  <a:srgbClr val="188038"/>
                </a:solidFill>
                <a:latin typeface="Roboto" pitchFamily="34" charset="0"/>
                <a:ea typeface="Roboto" pitchFamily="34" charset="-122"/>
                <a:cs typeface="Roboto" pitchFamily="34" charset="-120"/>
              </a:rPr>
              <a:t>Zeus</a:t>
            </a:r>
            <a:endParaRPr lang="en-US" sz="1800" dirty="0"/>
          </a:p>
        </p:txBody>
      </p:sp>
      <p:sp>
        <p:nvSpPr>
          <p:cNvPr id="9" name="Text 6"/>
          <p:cNvSpPr txBox="1"/>
          <p:nvPr/>
        </p:nvSpPr>
        <p:spPr>
          <a:xfrm>
            <a:off x="731520" y="2029968"/>
            <a:ext cx="2236394" cy="457200"/>
          </a:xfrm>
          <a:prstGeom prst="rect">
            <a:avLst/>
          </a:prstGeom>
          <a:noFill/>
          <a:ln/>
        </p:spPr>
        <p:txBody>
          <a:bodyPr wrap="square" lIns="0" tIns="0" rIns="0" bIns="0" rtlCol="0" anchor="t"/>
          <a:lstStyle/>
          <a:p>
            <a:pPr indent="0" marL="0">
              <a:buNone/>
            </a:pPr>
            <a:r>
              <a:rPr lang="en-US" sz="1350" dirty="0">
                <a:solidFill>
                  <a:srgbClr val="202124"/>
                </a:solidFill>
                <a:latin typeface="Roboto" pitchFamily="34" charset="0"/>
                <a:ea typeface="Roboto" pitchFamily="34" charset="-122"/>
                <a:cs typeface="Roboto" pitchFamily="34" charset="-120"/>
              </a:rPr>
              <a:t>Rei dels déus, el cel i el llamp</a:t>
            </a:r>
            <a:endParaRPr lang="en-US" sz="1350" dirty="0"/>
          </a:p>
        </p:txBody>
      </p:sp>
      <p:sp>
        <p:nvSpPr>
          <p:cNvPr id="10" name="Text 7"/>
          <p:cNvSpPr txBox="1"/>
          <p:nvPr/>
        </p:nvSpPr>
        <p:spPr>
          <a:xfrm>
            <a:off x="731520" y="2502408"/>
            <a:ext cx="2236394" cy="256032"/>
          </a:xfrm>
          <a:prstGeom prst="rect">
            <a:avLst/>
          </a:prstGeom>
          <a:noFill/>
          <a:ln/>
        </p:spPr>
        <p:txBody>
          <a:bodyPr wrap="square" lIns="0" tIns="0" rIns="0" bIns="0" rtlCol="0" anchor="t"/>
          <a:lstStyle/>
          <a:p>
            <a:pPr indent="0" marL="0">
              <a:buNone/>
            </a:pPr>
            <a:r>
              <a:rPr lang="en-US" sz="1250" i="1" dirty="0">
                <a:solidFill>
                  <a:srgbClr val="5F6368"/>
                </a:solidFill>
                <a:latin typeface="Roboto" pitchFamily="34" charset="0"/>
                <a:ea typeface="Roboto" pitchFamily="34" charset="-122"/>
                <a:cs typeface="Roboto" pitchFamily="34" charset="-120"/>
              </a:rPr>
              <a:t>Llamp, àguila</a:t>
            </a:r>
            <a:endParaRPr lang="en-US" sz="1250" dirty="0"/>
          </a:p>
        </p:txBody>
      </p:sp>
      <p:sp>
        <p:nvSpPr>
          <p:cNvPr id="11" name="Déu Hera"/>
          <p:cNvSpPr/>
          <p:nvPr/>
        </p:nvSpPr>
        <p:spPr>
          <a:xfrm>
            <a:off x="3379394" y="1371600"/>
            <a:ext cx="2602154" cy="1432560"/>
          </a:xfrm>
          <a:prstGeom prst="roundRect">
            <a:avLst>
              <a:gd name="adj" fmla="val 7021"/>
            </a:avLst>
          </a:prstGeom>
          <a:solidFill>
            <a:srgbClr val="FFFFFF"/>
          </a:solidFill>
          <a:ln w="12700">
            <a:solidFill>
              <a:srgbClr val="DADCE0"/>
            </a:solidFill>
            <a:prstDash val="solid"/>
          </a:ln>
        </p:spPr>
      </p:sp>
      <p:sp>
        <p:nvSpPr>
          <p:cNvPr id="12" name="Cercle icona"/>
          <p:cNvSpPr/>
          <p:nvPr/>
        </p:nvSpPr>
        <p:spPr>
          <a:xfrm>
            <a:off x="3543986" y="1508760"/>
            <a:ext cx="502920" cy="502920"/>
          </a:xfrm>
          <a:prstGeom prst="ellipse">
            <a:avLst/>
          </a:prstGeom>
          <a:solidFill>
            <a:srgbClr val="E6F4EA"/>
          </a:solidFill>
          <a:ln/>
        </p:spPr>
      </p:sp>
      <p:pic>
        <p:nvPicPr>
          <p:cNvPr id="13" name="Icona TbCrown" descr="/home/claude/work/build/img/ic/TbCrown-g.png">    </p:cNvPr>
          <p:cNvPicPr>
            <a:picLocks noChangeAspect="1"/>
          </p:cNvPicPr>
          <p:nvPr/>
        </p:nvPicPr>
        <p:blipFill>
          <a:blip r:embed="rId2"/>
          <a:stretch>
            <a:fillRect/>
          </a:stretch>
        </p:blipFill>
        <p:spPr>
          <a:xfrm>
            <a:off x="3654628" y="1619402"/>
            <a:ext cx="281635" cy="281635"/>
          </a:xfrm>
          <a:prstGeom prst="rect">
            <a:avLst/>
          </a:prstGeom>
        </p:spPr>
      </p:pic>
      <p:sp>
        <p:nvSpPr>
          <p:cNvPr id="14" name="Text 10"/>
          <p:cNvSpPr txBox="1"/>
          <p:nvPr/>
        </p:nvSpPr>
        <p:spPr>
          <a:xfrm>
            <a:off x="4156634" y="1508760"/>
            <a:ext cx="1687754" cy="502920"/>
          </a:xfrm>
          <a:prstGeom prst="rect">
            <a:avLst/>
          </a:prstGeom>
          <a:noFill/>
          <a:ln/>
        </p:spPr>
        <p:txBody>
          <a:bodyPr wrap="square" lIns="0" tIns="0" rIns="0" bIns="0" rtlCol="0" anchor="ctr"/>
          <a:lstStyle/>
          <a:p>
            <a:pPr indent="0" marL="0">
              <a:buNone/>
            </a:pPr>
            <a:r>
              <a:rPr lang="en-US" sz="1800" b="1" dirty="0">
                <a:solidFill>
                  <a:srgbClr val="188038"/>
                </a:solidFill>
                <a:latin typeface="Roboto" pitchFamily="34" charset="0"/>
                <a:ea typeface="Roboto" pitchFamily="34" charset="-122"/>
                <a:cs typeface="Roboto" pitchFamily="34" charset="-120"/>
              </a:rPr>
              <a:t>Hera</a:t>
            </a:r>
            <a:endParaRPr lang="en-US" sz="1800" dirty="0"/>
          </a:p>
        </p:txBody>
      </p:sp>
      <p:sp>
        <p:nvSpPr>
          <p:cNvPr id="15" name="Text 11"/>
          <p:cNvSpPr txBox="1"/>
          <p:nvPr/>
        </p:nvSpPr>
        <p:spPr>
          <a:xfrm>
            <a:off x="3562274" y="2029968"/>
            <a:ext cx="2236394" cy="457200"/>
          </a:xfrm>
          <a:prstGeom prst="rect">
            <a:avLst/>
          </a:prstGeom>
          <a:noFill/>
          <a:ln/>
        </p:spPr>
        <p:txBody>
          <a:bodyPr wrap="square" lIns="0" tIns="0" rIns="0" bIns="0" rtlCol="0" anchor="t"/>
          <a:lstStyle/>
          <a:p>
            <a:pPr indent="0" marL="0">
              <a:buNone/>
            </a:pPr>
            <a:r>
              <a:rPr lang="en-US" sz="1350" dirty="0">
                <a:solidFill>
                  <a:srgbClr val="202124"/>
                </a:solidFill>
                <a:latin typeface="Roboto" pitchFamily="34" charset="0"/>
                <a:ea typeface="Roboto" pitchFamily="34" charset="-122"/>
                <a:cs typeface="Roboto" pitchFamily="34" charset="-120"/>
              </a:rPr>
              <a:t>Matrimoni i família</a:t>
            </a:r>
            <a:endParaRPr lang="en-US" sz="1350" dirty="0"/>
          </a:p>
        </p:txBody>
      </p:sp>
      <p:sp>
        <p:nvSpPr>
          <p:cNvPr id="16" name="Text 12"/>
          <p:cNvSpPr txBox="1"/>
          <p:nvPr/>
        </p:nvSpPr>
        <p:spPr>
          <a:xfrm>
            <a:off x="3562274" y="2502408"/>
            <a:ext cx="2236394" cy="256032"/>
          </a:xfrm>
          <a:prstGeom prst="rect">
            <a:avLst/>
          </a:prstGeom>
          <a:noFill/>
          <a:ln/>
        </p:spPr>
        <p:txBody>
          <a:bodyPr wrap="square" lIns="0" tIns="0" rIns="0" bIns="0" rtlCol="0" anchor="t"/>
          <a:lstStyle/>
          <a:p>
            <a:pPr indent="0" marL="0">
              <a:buNone/>
            </a:pPr>
            <a:r>
              <a:rPr lang="en-US" sz="1250" i="1" dirty="0">
                <a:solidFill>
                  <a:srgbClr val="5F6368"/>
                </a:solidFill>
                <a:latin typeface="Roboto" pitchFamily="34" charset="0"/>
                <a:ea typeface="Roboto" pitchFamily="34" charset="-122"/>
                <a:cs typeface="Roboto" pitchFamily="34" charset="-120"/>
              </a:rPr>
              <a:t>Paó, diadema</a:t>
            </a:r>
            <a:endParaRPr lang="en-US" sz="1250" dirty="0"/>
          </a:p>
        </p:txBody>
      </p:sp>
      <p:sp>
        <p:nvSpPr>
          <p:cNvPr id="17" name="Déu Posidó"/>
          <p:cNvSpPr/>
          <p:nvPr/>
        </p:nvSpPr>
        <p:spPr>
          <a:xfrm>
            <a:off x="6210148" y="1371600"/>
            <a:ext cx="2602154" cy="1432560"/>
          </a:xfrm>
          <a:prstGeom prst="roundRect">
            <a:avLst>
              <a:gd name="adj" fmla="val 7021"/>
            </a:avLst>
          </a:prstGeom>
          <a:solidFill>
            <a:srgbClr val="FFFFFF"/>
          </a:solidFill>
          <a:ln w="12700">
            <a:solidFill>
              <a:srgbClr val="DADCE0"/>
            </a:solidFill>
            <a:prstDash val="solid"/>
          </a:ln>
        </p:spPr>
      </p:sp>
      <p:sp>
        <p:nvSpPr>
          <p:cNvPr id="18" name="Cercle icona"/>
          <p:cNvSpPr/>
          <p:nvPr/>
        </p:nvSpPr>
        <p:spPr>
          <a:xfrm>
            <a:off x="6374740" y="1508760"/>
            <a:ext cx="502920" cy="502920"/>
          </a:xfrm>
          <a:prstGeom prst="ellipse">
            <a:avLst/>
          </a:prstGeom>
          <a:solidFill>
            <a:srgbClr val="E6F4EA"/>
          </a:solidFill>
          <a:ln/>
        </p:spPr>
      </p:sp>
      <p:pic>
        <p:nvPicPr>
          <p:cNvPr id="19" name="Icona TbTrident" descr="/home/claude/work/build/img/ic/TbTrident-g.png">    </p:cNvPr>
          <p:cNvPicPr>
            <a:picLocks noChangeAspect="1"/>
          </p:cNvPicPr>
          <p:nvPr/>
        </p:nvPicPr>
        <p:blipFill>
          <a:blip r:embed="rId3"/>
          <a:stretch>
            <a:fillRect/>
          </a:stretch>
        </p:blipFill>
        <p:spPr>
          <a:xfrm>
            <a:off x="6485382" y="1619402"/>
            <a:ext cx="281635" cy="281635"/>
          </a:xfrm>
          <a:prstGeom prst="rect">
            <a:avLst/>
          </a:prstGeom>
        </p:spPr>
      </p:pic>
      <p:sp>
        <p:nvSpPr>
          <p:cNvPr id="20" name="Text 15"/>
          <p:cNvSpPr txBox="1"/>
          <p:nvPr/>
        </p:nvSpPr>
        <p:spPr>
          <a:xfrm>
            <a:off x="6987388" y="1508760"/>
            <a:ext cx="1687754" cy="502920"/>
          </a:xfrm>
          <a:prstGeom prst="rect">
            <a:avLst/>
          </a:prstGeom>
          <a:noFill/>
          <a:ln/>
        </p:spPr>
        <p:txBody>
          <a:bodyPr wrap="square" lIns="0" tIns="0" rIns="0" bIns="0" rtlCol="0" anchor="ctr"/>
          <a:lstStyle/>
          <a:p>
            <a:pPr indent="0" marL="0">
              <a:buNone/>
            </a:pPr>
            <a:r>
              <a:rPr lang="en-US" sz="1800" b="1" dirty="0">
                <a:solidFill>
                  <a:srgbClr val="188038"/>
                </a:solidFill>
                <a:latin typeface="Roboto" pitchFamily="34" charset="0"/>
                <a:ea typeface="Roboto" pitchFamily="34" charset="-122"/>
                <a:cs typeface="Roboto" pitchFamily="34" charset="-120"/>
              </a:rPr>
              <a:t>Posidó</a:t>
            </a:r>
            <a:endParaRPr lang="en-US" sz="1800" dirty="0"/>
          </a:p>
        </p:txBody>
      </p:sp>
      <p:sp>
        <p:nvSpPr>
          <p:cNvPr id="21" name="Text 16"/>
          <p:cNvSpPr txBox="1"/>
          <p:nvPr/>
        </p:nvSpPr>
        <p:spPr>
          <a:xfrm>
            <a:off x="6393028" y="2029968"/>
            <a:ext cx="2236394" cy="457200"/>
          </a:xfrm>
          <a:prstGeom prst="rect">
            <a:avLst/>
          </a:prstGeom>
          <a:noFill/>
          <a:ln/>
        </p:spPr>
        <p:txBody>
          <a:bodyPr wrap="square" lIns="0" tIns="0" rIns="0" bIns="0" rtlCol="0" anchor="t"/>
          <a:lstStyle/>
          <a:p>
            <a:pPr indent="0" marL="0">
              <a:buNone/>
            </a:pPr>
            <a:r>
              <a:rPr lang="en-US" sz="1350" dirty="0">
                <a:solidFill>
                  <a:srgbClr val="202124"/>
                </a:solidFill>
                <a:latin typeface="Roboto" pitchFamily="34" charset="0"/>
                <a:ea typeface="Roboto" pitchFamily="34" charset="-122"/>
                <a:cs typeface="Roboto" pitchFamily="34" charset="-120"/>
              </a:rPr>
              <a:t>El mar i els terratrèmols</a:t>
            </a:r>
            <a:endParaRPr lang="en-US" sz="1350" dirty="0"/>
          </a:p>
        </p:txBody>
      </p:sp>
      <p:sp>
        <p:nvSpPr>
          <p:cNvPr id="22" name="Text 17"/>
          <p:cNvSpPr txBox="1"/>
          <p:nvPr/>
        </p:nvSpPr>
        <p:spPr>
          <a:xfrm>
            <a:off x="6393028" y="2502408"/>
            <a:ext cx="2236394" cy="256032"/>
          </a:xfrm>
          <a:prstGeom prst="rect">
            <a:avLst/>
          </a:prstGeom>
          <a:noFill/>
          <a:ln/>
        </p:spPr>
        <p:txBody>
          <a:bodyPr wrap="square" lIns="0" tIns="0" rIns="0" bIns="0" rtlCol="0" anchor="t"/>
          <a:lstStyle/>
          <a:p>
            <a:pPr indent="0" marL="0">
              <a:buNone/>
            </a:pPr>
            <a:r>
              <a:rPr lang="en-US" sz="1250" i="1" dirty="0">
                <a:solidFill>
                  <a:srgbClr val="5F6368"/>
                </a:solidFill>
                <a:latin typeface="Roboto" pitchFamily="34" charset="0"/>
                <a:ea typeface="Roboto" pitchFamily="34" charset="-122"/>
                <a:cs typeface="Roboto" pitchFamily="34" charset="-120"/>
              </a:rPr>
              <a:t>Trident, cavall</a:t>
            </a:r>
            <a:endParaRPr lang="en-US" sz="1250" dirty="0"/>
          </a:p>
        </p:txBody>
      </p:sp>
      <p:sp>
        <p:nvSpPr>
          <p:cNvPr id="23" name="Déu Atena"/>
          <p:cNvSpPr/>
          <p:nvPr/>
        </p:nvSpPr>
        <p:spPr>
          <a:xfrm>
            <a:off x="9040901" y="1371600"/>
            <a:ext cx="2602154" cy="1432560"/>
          </a:xfrm>
          <a:prstGeom prst="roundRect">
            <a:avLst>
              <a:gd name="adj" fmla="val 7021"/>
            </a:avLst>
          </a:prstGeom>
          <a:solidFill>
            <a:srgbClr val="FFFFFF"/>
          </a:solidFill>
          <a:ln w="12700">
            <a:solidFill>
              <a:srgbClr val="DADCE0"/>
            </a:solidFill>
            <a:prstDash val="solid"/>
          </a:ln>
        </p:spPr>
      </p:sp>
      <p:sp>
        <p:nvSpPr>
          <p:cNvPr id="24" name="Cercle icona"/>
          <p:cNvSpPr/>
          <p:nvPr/>
        </p:nvSpPr>
        <p:spPr>
          <a:xfrm>
            <a:off x="9205493" y="1508760"/>
            <a:ext cx="502920" cy="502920"/>
          </a:xfrm>
          <a:prstGeom prst="ellipse">
            <a:avLst/>
          </a:prstGeom>
          <a:solidFill>
            <a:srgbClr val="E6F4EA"/>
          </a:solidFill>
          <a:ln/>
        </p:spPr>
      </p:sp>
      <p:pic>
        <p:nvPicPr>
          <p:cNvPr id="25" name="Icona TbBulb" descr="/home/claude/work/build/img/ic/TbBulb-g.png">    </p:cNvPr>
          <p:cNvPicPr>
            <a:picLocks noChangeAspect="1"/>
          </p:cNvPicPr>
          <p:nvPr/>
        </p:nvPicPr>
        <p:blipFill>
          <a:blip r:embed="rId4"/>
          <a:stretch>
            <a:fillRect/>
          </a:stretch>
        </p:blipFill>
        <p:spPr>
          <a:xfrm>
            <a:off x="9316136" y="1619402"/>
            <a:ext cx="281635" cy="281635"/>
          </a:xfrm>
          <a:prstGeom prst="rect">
            <a:avLst/>
          </a:prstGeom>
        </p:spPr>
      </p:pic>
      <p:sp>
        <p:nvSpPr>
          <p:cNvPr id="26" name="Text 20"/>
          <p:cNvSpPr txBox="1"/>
          <p:nvPr/>
        </p:nvSpPr>
        <p:spPr>
          <a:xfrm>
            <a:off x="9818141" y="1508760"/>
            <a:ext cx="1687754" cy="502920"/>
          </a:xfrm>
          <a:prstGeom prst="rect">
            <a:avLst/>
          </a:prstGeom>
          <a:noFill/>
          <a:ln/>
        </p:spPr>
        <p:txBody>
          <a:bodyPr wrap="square" lIns="0" tIns="0" rIns="0" bIns="0" rtlCol="0" anchor="ctr"/>
          <a:lstStyle/>
          <a:p>
            <a:pPr indent="0" marL="0">
              <a:buNone/>
            </a:pPr>
            <a:r>
              <a:rPr lang="en-US" sz="1800" b="1" dirty="0">
                <a:solidFill>
                  <a:srgbClr val="188038"/>
                </a:solidFill>
                <a:latin typeface="Roboto" pitchFamily="34" charset="0"/>
                <a:ea typeface="Roboto" pitchFamily="34" charset="-122"/>
                <a:cs typeface="Roboto" pitchFamily="34" charset="-120"/>
              </a:rPr>
              <a:t>Atena</a:t>
            </a:r>
            <a:endParaRPr lang="en-US" sz="1800" dirty="0"/>
          </a:p>
        </p:txBody>
      </p:sp>
      <p:sp>
        <p:nvSpPr>
          <p:cNvPr id="27" name="Text 21"/>
          <p:cNvSpPr txBox="1"/>
          <p:nvPr/>
        </p:nvSpPr>
        <p:spPr>
          <a:xfrm>
            <a:off x="9223781" y="2029968"/>
            <a:ext cx="2236394" cy="457200"/>
          </a:xfrm>
          <a:prstGeom prst="rect">
            <a:avLst/>
          </a:prstGeom>
          <a:noFill/>
          <a:ln/>
        </p:spPr>
        <p:txBody>
          <a:bodyPr wrap="square" lIns="0" tIns="0" rIns="0" bIns="0" rtlCol="0" anchor="t"/>
          <a:lstStyle/>
          <a:p>
            <a:pPr indent="0" marL="0">
              <a:buNone/>
            </a:pPr>
            <a:r>
              <a:rPr lang="en-US" sz="1350" dirty="0">
                <a:solidFill>
                  <a:srgbClr val="202124"/>
                </a:solidFill>
                <a:latin typeface="Roboto" pitchFamily="34" charset="0"/>
                <a:ea typeface="Roboto" pitchFamily="34" charset="-122"/>
                <a:cs typeface="Roboto" pitchFamily="34" charset="-120"/>
              </a:rPr>
              <a:t>Saviesa i guerra intel·ligent</a:t>
            </a:r>
            <a:endParaRPr lang="en-US" sz="1350" dirty="0"/>
          </a:p>
        </p:txBody>
      </p:sp>
      <p:sp>
        <p:nvSpPr>
          <p:cNvPr id="28" name="Text 22"/>
          <p:cNvSpPr txBox="1"/>
          <p:nvPr/>
        </p:nvSpPr>
        <p:spPr>
          <a:xfrm>
            <a:off x="9223781" y="2502408"/>
            <a:ext cx="2236394" cy="256032"/>
          </a:xfrm>
          <a:prstGeom prst="rect">
            <a:avLst/>
          </a:prstGeom>
          <a:noFill/>
          <a:ln/>
        </p:spPr>
        <p:txBody>
          <a:bodyPr wrap="square" lIns="0" tIns="0" rIns="0" bIns="0" rtlCol="0" anchor="t"/>
          <a:lstStyle/>
          <a:p>
            <a:pPr indent="0" marL="0">
              <a:buNone/>
            </a:pPr>
            <a:r>
              <a:rPr lang="en-US" sz="1250" i="1" dirty="0">
                <a:solidFill>
                  <a:srgbClr val="5F6368"/>
                </a:solidFill>
                <a:latin typeface="Roboto" pitchFamily="34" charset="0"/>
                <a:ea typeface="Roboto" pitchFamily="34" charset="-122"/>
                <a:cs typeface="Roboto" pitchFamily="34" charset="-120"/>
              </a:rPr>
              <a:t>Òliba, casc, llança</a:t>
            </a:r>
            <a:endParaRPr lang="en-US" sz="1250" dirty="0"/>
          </a:p>
        </p:txBody>
      </p:sp>
      <p:sp>
        <p:nvSpPr>
          <p:cNvPr id="29" name="Déu Apol·lo"/>
          <p:cNvSpPr/>
          <p:nvPr/>
        </p:nvSpPr>
        <p:spPr>
          <a:xfrm>
            <a:off x="548640" y="2987040"/>
            <a:ext cx="2602154" cy="1432560"/>
          </a:xfrm>
          <a:prstGeom prst="roundRect">
            <a:avLst>
              <a:gd name="adj" fmla="val 7021"/>
            </a:avLst>
          </a:prstGeom>
          <a:solidFill>
            <a:srgbClr val="FFFFFF"/>
          </a:solidFill>
          <a:ln w="12700">
            <a:solidFill>
              <a:srgbClr val="DADCE0"/>
            </a:solidFill>
            <a:prstDash val="solid"/>
          </a:ln>
        </p:spPr>
      </p:sp>
      <p:sp>
        <p:nvSpPr>
          <p:cNvPr id="30" name="Cercle icona"/>
          <p:cNvSpPr/>
          <p:nvPr/>
        </p:nvSpPr>
        <p:spPr>
          <a:xfrm>
            <a:off x="713232" y="3124200"/>
            <a:ext cx="502920" cy="502920"/>
          </a:xfrm>
          <a:prstGeom prst="ellipse">
            <a:avLst/>
          </a:prstGeom>
          <a:solidFill>
            <a:srgbClr val="E6F4EA"/>
          </a:solidFill>
          <a:ln/>
        </p:spPr>
      </p:sp>
      <p:pic>
        <p:nvPicPr>
          <p:cNvPr id="31" name="Icona TbSun" descr="/home/claude/work/build/img/ic/TbSun-g.png">    </p:cNvPr>
          <p:cNvPicPr>
            <a:picLocks noChangeAspect="1"/>
          </p:cNvPicPr>
          <p:nvPr/>
        </p:nvPicPr>
        <p:blipFill>
          <a:blip r:embed="rId5"/>
          <a:stretch>
            <a:fillRect/>
          </a:stretch>
        </p:blipFill>
        <p:spPr>
          <a:xfrm>
            <a:off x="823874" y="3234842"/>
            <a:ext cx="281635" cy="281635"/>
          </a:xfrm>
          <a:prstGeom prst="rect">
            <a:avLst/>
          </a:prstGeom>
        </p:spPr>
      </p:pic>
      <p:sp>
        <p:nvSpPr>
          <p:cNvPr id="32" name="Text 25"/>
          <p:cNvSpPr txBox="1"/>
          <p:nvPr/>
        </p:nvSpPr>
        <p:spPr>
          <a:xfrm>
            <a:off x="1325880" y="3124200"/>
            <a:ext cx="1687754" cy="502920"/>
          </a:xfrm>
          <a:prstGeom prst="rect">
            <a:avLst/>
          </a:prstGeom>
          <a:noFill/>
          <a:ln/>
        </p:spPr>
        <p:txBody>
          <a:bodyPr wrap="square" lIns="0" tIns="0" rIns="0" bIns="0" rtlCol="0" anchor="ctr"/>
          <a:lstStyle/>
          <a:p>
            <a:pPr indent="0" marL="0">
              <a:buNone/>
            </a:pPr>
            <a:r>
              <a:rPr lang="en-US" sz="1800" b="1" dirty="0">
                <a:solidFill>
                  <a:srgbClr val="188038"/>
                </a:solidFill>
                <a:latin typeface="Roboto" pitchFamily="34" charset="0"/>
                <a:ea typeface="Roboto" pitchFamily="34" charset="-122"/>
                <a:cs typeface="Roboto" pitchFamily="34" charset="-120"/>
              </a:rPr>
              <a:t>Apol·lo</a:t>
            </a:r>
            <a:endParaRPr lang="en-US" sz="1800" dirty="0"/>
          </a:p>
        </p:txBody>
      </p:sp>
      <p:sp>
        <p:nvSpPr>
          <p:cNvPr id="33" name="Text 26"/>
          <p:cNvSpPr txBox="1"/>
          <p:nvPr/>
        </p:nvSpPr>
        <p:spPr>
          <a:xfrm>
            <a:off x="731520" y="3645408"/>
            <a:ext cx="2236394" cy="457200"/>
          </a:xfrm>
          <a:prstGeom prst="rect">
            <a:avLst/>
          </a:prstGeom>
          <a:noFill/>
          <a:ln/>
        </p:spPr>
        <p:txBody>
          <a:bodyPr wrap="square" lIns="0" tIns="0" rIns="0" bIns="0" rtlCol="0" anchor="t"/>
          <a:lstStyle/>
          <a:p>
            <a:pPr indent="0" marL="0">
              <a:buNone/>
            </a:pPr>
            <a:r>
              <a:rPr lang="en-US" sz="1350" dirty="0">
                <a:solidFill>
                  <a:srgbClr val="202124"/>
                </a:solidFill>
                <a:latin typeface="Roboto" pitchFamily="34" charset="0"/>
                <a:ea typeface="Roboto" pitchFamily="34" charset="-122"/>
                <a:cs typeface="Roboto" pitchFamily="34" charset="-120"/>
              </a:rPr>
              <a:t>El sol, la música i els oracles</a:t>
            </a:r>
            <a:endParaRPr lang="en-US" sz="1350" dirty="0"/>
          </a:p>
        </p:txBody>
      </p:sp>
      <p:sp>
        <p:nvSpPr>
          <p:cNvPr id="34" name="Text 27"/>
          <p:cNvSpPr txBox="1"/>
          <p:nvPr/>
        </p:nvSpPr>
        <p:spPr>
          <a:xfrm>
            <a:off x="731520" y="4117848"/>
            <a:ext cx="2236394" cy="256032"/>
          </a:xfrm>
          <a:prstGeom prst="rect">
            <a:avLst/>
          </a:prstGeom>
          <a:noFill/>
          <a:ln/>
        </p:spPr>
        <p:txBody>
          <a:bodyPr wrap="square" lIns="0" tIns="0" rIns="0" bIns="0" rtlCol="0" anchor="t"/>
          <a:lstStyle/>
          <a:p>
            <a:pPr indent="0" marL="0">
              <a:buNone/>
            </a:pPr>
            <a:r>
              <a:rPr lang="en-US" sz="1250" i="1" dirty="0">
                <a:solidFill>
                  <a:srgbClr val="5F6368"/>
                </a:solidFill>
                <a:latin typeface="Roboto" pitchFamily="34" charset="0"/>
                <a:ea typeface="Roboto" pitchFamily="34" charset="-122"/>
                <a:cs typeface="Roboto" pitchFamily="34" charset="-120"/>
              </a:rPr>
              <a:t>Lira, arc</a:t>
            </a:r>
            <a:endParaRPr lang="en-US" sz="1250" dirty="0"/>
          </a:p>
        </p:txBody>
      </p:sp>
      <p:sp>
        <p:nvSpPr>
          <p:cNvPr id="35" name="Déu Àrtemis"/>
          <p:cNvSpPr/>
          <p:nvPr/>
        </p:nvSpPr>
        <p:spPr>
          <a:xfrm>
            <a:off x="3379394" y="2987040"/>
            <a:ext cx="2602154" cy="1432560"/>
          </a:xfrm>
          <a:prstGeom prst="roundRect">
            <a:avLst>
              <a:gd name="adj" fmla="val 7021"/>
            </a:avLst>
          </a:prstGeom>
          <a:solidFill>
            <a:srgbClr val="FFFFFF"/>
          </a:solidFill>
          <a:ln w="12700">
            <a:solidFill>
              <a:srgbClr val="DADCE0"/>
            </a:solidFill>
            <a:prstDash val="solid"/>
          </a:ln>
        </p:spPr>
      </p:sp>
      <p:sp>
        <p:nvSpPr>
          <p:cNvPr id="36" name="Cercle icona"/>
          <p:cNvSpPr/>
          <p:nvPr/>
        </p:nvSpPr>
        <p:spPr>
          <a:xfrm>
            <a:off x="3543986" y="3124200"/>
            <a:ext cx="502920" cy="502920"/>
          </a:xfrm>
          <a:prstGeom prst="ellipse">
            <a:avLst/>
          </a:prstGeom>
          <a:solidFill>
            <a:srgbClr val="E6F4EA"/>
          </a:solidFill>
          <a:ln/>
        </p:spPr>
      </p:sp>
      <p:pic>
        <p:nvPicPr>
          <p:cNvPr id="37" name="Icona TbMoon" descr="/home/claude/work/build/img/ic/TbMoon-g.png">    </p:cNvPr>
          <p:cNvPicPr>
            <a:picLocks noChangeAspect="1"/>
          </p:cNvPicPr>
          <p:nvPr/>
        </p:nvPicPr>
        <p:blipFill>
          <a:blip r:embed="rId6"/>
          <a:stretch>
            <a:fillRect/>
          </a:stretch>
        </p:blipFill>
        <p:spPr>
          <a:xfrm>
            <a:off x="3654628" y="3234842"/>
            <a:ext cx="281635" cy="281635"/>
          </a:xfrm>
          <a:prstGeom prst="rect">
            <a:avLst/>
          </a:prstGeom>
        </p:spPr>
      </p:pic>
      <p:sp>
        <p:nvSpPr>
          <p:cNvPr id="38" name="Text 30"/>
          <p:cNvSpPr txBox="1"/>
          <p:nvPr/>
        </p:nvSpPr>
        <p:spPr>
          <a:xfrm>
            <a:off x="4156634" y="3124200"/>
            <a:ext cx="1687754" cy="502920"/>
          </a:xfrm>
          <a:prstGeom prst="rect">
            <a:avLst/>
          </a:prstGeom>
          <a:noFill/>
          <a:ln/>
        </p:spPr>
        <p:txBody>
          <a:bodyPr wrap="square" lIns="0" tIns="0" rIns="0" bIns="0" rtlCol="0" anchor="ctr"/>
          <a:lstStyle/>
          <a:p>
            <a:pPr indent="0" marL="0">
              <a:buNone/>
            </a:pPr>
            <a:r>
              <a:rPr lang="en-US" sz="1800" b="1" dirty="0">
                <a:solidFill>
                  <a:srgbClr val="188038"/>
                </a:solidFill>
                <a:latin typeface="Roboto" pitchFamily="34" charset="0"/>
                <a:ea typeface="Roboto" pitchFamily="34" charset="-122"/>
                <a:cs typeface="Roboto" pitchFamily="34" charset="-120"/>
              </a:rPr>
              <a:t>Àrtemis</a:t>
            </a:r>
            <a:endParaRPr lang="en-US" sz="1800" dirty="0"/>
          </a:p>
        </p:txBody>
      </p:sp>
      <p:sp>
        <p:nvSpPr>
          <p:cNvPr id="39" name="Text 31"/>
          <p:cNvSpPr txBox="1"/>
          <p:nvPr/>
        </p:nvSpPr>
        <p:spPr>
          <a:xfrm>
            <a:off x="3562274" y="3645408"/>
            <a:ext cx="2236394" cy="457200"/>
          </a:xfrm>
          <a:prstGeom prst="rect">
            <a:avLst/>
          </a:prstGeom>
          <a:noFill/>
          <a:ln/>
        </p:spPr>
        <p:txBody>
          <a:bodyPr wrap="square" lIns="0" tIns="0" rIns="0" bIns="0" rtlCol="0" anchor="t"/>
          <a:lstStyle/>
          <a:p>
            <a:pPr indent="0" marL="0">
              <a:buNone/>
            </a:pPr>
            <a:r>
              <a:rPr lang="en-US" sz="1350" dirty="0">
                <a:solidFill>
                  <a:srgbClr val="202124"/>
                </a:solidFill>
                <a:latin typeface="Roboto" pitchFamily="34" charset="0"/>
                <a:ea typeface="Roboto" pitchFamily="34" charset="-122"/>
                <a:cs typeface="Roboto" pitchFamily="34" charset="-120"/>
              </a:rPr>
              <a:t>La caça i la lluna</a:t>
            </a:r>
            <a:endParaRPr lang="en-US" sz="1350" dirty="0"/>
          </a:p>
        </p:txBody>
      </p:sp>
      <p:sp>
        <p:nvSpPr>
          <p:cNvPr id="40" name="Text 32"/>
          <p:cNvSpPr txBox="1"/>
          <p:nvPr/>
        </p:nvSpPr>
        <p:spPr>
          <a:xfrm>
            <a:off x="3562274" y="4117848"/>
            <a:ext cx="2236394" cy="256032"/>
          </a:xfrm>
          <a:prstGeom prst="rect">
            <a:avLst/>
          </a:prstGeom>
          <a:noFill/>
          <a:ln/>
        </p:spPr>
        <p:txBody>
          <a:bodyPr wrap="square" lIns="0" tIns="0" rIns="0" bIns="0" rtlCol="0" anchor="t"/>
          <a:lstStyle/>
          <a:p>
            <a:pPr indent="0" marL="0">
              <a:buNone/>
            </a:pPr>
            <a:r>
              <a:rPr lang="en-US" sz="1250" i="1" dirty="0">
                <a:solidFill>
                  <a:srgbClr val="5F6368"/>
                </a:solidFill>
                <a:latin typeface="Roboto" pitchFamily="34" charset="0"/>
                <a:ea typeface="Roboto" pitchFamily="34" charset="-122"/>
                <a:cs typeface="Roboto" pitchFamily="34" charset="-120"/>
              </a:rPr>
              <a:t>Arc i fletxes, cérvol</a:t>
            </a:r>
            <a:endParaRPr lang="en-US" sz="1250" dirty="0"/>
          </a:p>
        </p:txBody>
      </p:sp>
      <p:sp>
        <p:nvSpPr>
          <p:cNvPr id="41" name="Déu Afrodita"/>
          <p:cNvSpPr/>
          <p:nvPr/>
        </p:nvSpPr>
        <p:spPr>
          <a:xfrm>
            <a:off x="6210148" y="2987040"/>
            <a:ext cx="2602154" cy="1432560"/>
          </a:xfrm>
          <a:prstGeom prst="roundRect">
            <a:avLst>
              <a:gd name="adj" fmla="val 7021"/>
            </a:avLst>
          </a:prstGeom>
          <a:solidFill>
            <a:srgbClr val="FFFFFF"/>
          </a:solidFill>
          <a:ln w="12700">
            <a:solidFill>
              <a:srgbClr val="DADCE0"/>
            </a:solidFill>
            <a:prstDash val="solid"/>
          </a:ln>
        </p:spPr>
      </p:sp>
      <p:sp>
        <p:nvSpPr>
          <p:cNvPr id="42" name="Cercle icona"/>
          <p:cNvSpPr/>
          <p:nvPr/>
        </p:nvSpPr>
        <p:spPr>
          <a:xfrm>
            <a:off x="6374740" y="3124200"/>
            <a:ext cx="502920" cy="502920"/>
          </a:xfrm>
          <a:prstGeom prst="ellipse">
            <a:avLst/>
          </a:prstGeom>
          <a:solidFill>
            <a:srgbClr val="E6F4EA"/>
          </a:solidFill>
          <a:ln/>
        </p:spPr>
      </p:sp>
      <p:pic>
        <p:nvPicPr>
          <p:cNvPr id="43" name="Icona TbHeart" descr="/home/claude/work/build/img/ic/TbHeart-g.png">    </p:cNvPr>
          <p:cNvPicPr>
            <a:picLocks noChangeAspect="1"/>
          </p:cNvPicPr>
          <p:nvPr/>
        </p:nvPicPr>
        <p:blipFill>
          <a:blip r:embed="rId7"/>
          <a:stretch>
            <a:fillRect/>
          </a:stretch>
        </p:blipFill>
        <p:spPr>
          <a:xfrm>
            <a:off x="6485382" y="3234842"/>
            <a:ext cx="281635" cy="281635"/>
          </a:xfrm>
          <a:prstGeom prst="rect">
            <a:avLst/>
          </a:prstGeom>
        </p:spPr>
      </p:pic>
      <p:sp>
        <p:nvSpPr>
          <p:cNvPr id="44" name="Text 35"/>
          <p:cNvSpPr txBox="1"/>
          <p:nvPr/>
        </p:nvSpPr>
        <p:spPr>
          <a:xfrm>
            <a:off x="6987388" y="3124200"/>
            <a:ext cx="1687754" cy="502920"/>
          </a:xfrm>
          <a:prstGeom prst="rect">
            <a:avLst/>
          </a:prstGeom>
          <a:noFill/>
          <a:ln/>
        </p:spPr>
        <p:txBody>
          <a:bodyPr wrap="square" lIns="0" tIns="0" rIns="0" bIns="0" rtlCol="0" anchor="ctr"/>
          <a:lstStyle/>
          <a:p>
            <a:pPr indent="0" marL="0">
              <a:buNone/>
            </a:pPr>
            <a:r>
              <a:rPr lang="en-US" sz="1800" b="1" dirty="0">
                <a:solidFill>
                  <a:srgbClr val="188038"/>
                </a:solidFill>
                <a:latin typeface="Roboto" pitchFamily="34" charset="0"/>
                <a:ea typeface="Roboto" pitchFamily="34" charset="-122"/>
                <a:cs typeface="Roboto" pitchFamily="34" charset="-120"/>
              </a:rPr>
              <a:t>Afrodita</a:t>
            </a:r>
            <a:endParaRPr lang="en-US" sz="1800" dirty="0"/>
          </a:p>
        </p:txBody>
      </p:sp>
      <p:sp>
        <p:nvSpPr>
          <p:cNvPr id="45" name="Text 36"/>
          <p:cNvSpPr txBox="1"/>
          <p:nvPr/>
        </p:nvSpPr>
        <p:spPr>
          <a:xfrm>
            <a:off x="6393028" y="3645408"/>
            <a:ext cx="2236394" cy="457200"/>
          </a:xfrm>
          <a:prstGeom prst="rect">
            <a:avLst/>
          </a:prstGeom>
          <a:noFill/>
          <a:ln/>
        </p:spPr>
        <p:txBody>
          <a:bodyPr wrap="square" lIns="0" tIns="0" rIns="0" bIns="0" rtlCol="0" anchor="t"/>
          <a:lstStyle/>
          <a:p>
            <a:pPr indent="0" marL="0">
              <a:buNone/>
            </a:pPr>
            <a:r>
              <a:rPr lang="en-US" sz="1350" dirty="0">
                <a:solidFill>
                  <a:srgbClr val="202124"/>
                </a:solidFill>
                <a:latin typeface="Roboto" pitchFamily="34" charset="0"/>
                <a:ea typeface="Roboto" pitchFamily="34" charset="-122"/>
                <a:cs typeface="Roboto" pitchFamily="34" charset="-120"/>
              </a:rPr>
              <a:t>L'amor i la bellesa</a:t>
            </a:r>
            <a:endParaRPr lang="en-US" sz="1350" dirty="0"/>
          </a:p>
        </p:txBody>
      </p:sp>
      <p:sp>
        <p:nvSpPr>
          <p:cNvPr id="46" name="Text 37"/>
          <p:cNvSpPr txBox="1"/>
          <p:nvPr/>
        </p:nvSpPr>
        <p:spPr>
          <a:xfrm>
            <a:off x="6393028" y="4117848"/>
            <a:ext cx="2236394" cy="256032"/>
          </a:xfrm>
          <a:prstGeom prst="rect">
            <a:avLst/>
          </a:prstGeom>
          <a:noFill/>
          <a:ln/>
        </p:spPr>
        <p:txBody>
          <a:bodyPr wrap="square" lIns="0" tIns="0" rIns="0" bIns="0" rtlCol="0" anchor="t"/>
          <a:lstStyle/>
          <a:p>
            <a:pPr indent="0" marL="0">
              <a:buNone/>
            </a:pPr>
            <a:r>
              <a:rPr lang="en-US" sz="1250" i="1" dirty="0">
                <a:solidFill>
                  <a:srgbClr val="5F6368"/>
                </a:solidFill>
                <a:latin typeface="Roboto" pitchFamily="34" charset="0"/>
                <a:ea typeface="Roboto" pitchFamily="34" charset="-122"/>
                <a:cs typeface="Roboto" pitchFamily="34" charset="-120"/>
              </a:rPr>
              <a:t>Colom, mirall</a:t>
            </a:r>
            <a:endParaRPr lang="en-US" sz="1250" dirty="0"/>
          </a:p>
        </p:txBody>
      </p:sp>
      <p:sp>
        <p:nvSpPr>
          <p:cNvPr id="47" name="Déu Ares"/>
          <p:cNvSpPr/>
          <p:nvPr/>
        </p:nvSpPr>
        <p:spPr>
          <a:xfrm>
            <a:off x="9040901" y="2987040"/>
            <a:ext cx="2602154" cy="1432560"/>
          </a:xfrm>
          <a:prstGeom prst="roundRect">
            <a:avLst>
              <a:gd name="adj" fmla="val 7021"/>
            </a:avLst>
          </a:prstGeom>
          <a:solidFill>
            <a:srgbClr val="FFFFFF"/>
          </a:solidFill>
          <a:ln w="12700">
            <a:solidFill>
              <a:srgbClr val="DADCE0"/>
            </a:solidFill>
            <a:prstDash val="solid"/>
          </a:ln>
        </p:spPr>
      </p:sp>
      <p:sp>
        <p:nvSpPr>
          <p:cNvPr id="48" name="Cercle icona"/>
          <p:cNvSpPr/>
          <p:nvPr/>
        </p:nvSpPr>
        <p:spPr>
          <a:xfrm>
            <a:off x="9205493" y="3124200"/>
            <a:ext cx="502920" cy="502920"/>
          </a:xfrm>
          <a:prstGeom prst="ellipse">
            <a:avLst/>
          </a:prstGeom>
          <a:solidFill>
            <a:srgbClr val="E6F4EA"/>
          </a:solidFill>
          <a:ln/>
        </p:spPr>
      </p:sp>
      <p:pic>
        <p:nvPicPr>
          <p:cNvPr id="49" name="Icona TbSword" descr="/home/claude/work/build/img/ic/TbSword-g.png">    </p:cNvPr>
          <p:cNvPicPr>
            <a:picLocks noChangeAspect="1"/>
          </p:cNvPicPr>
          <p:nvPr/>
        </p:nvPicPr>
        <p:blipFill>
          <a:blip r:embed="rId8"/>
          <a:stretch>
            <a:fillRect/>
          </a:stretch>
        </p:blipFill>
        <p:spPr>
          <a:xfrm>
            <a:off x="9316136" y="3234842"/>
            <a:ext cx="281635" cy="281635"/>
          </a:xfrm>
          <a:prstGeom prst="rect">
            <a:avLst/>
          </a:prstGeom>
        </p:spPr>
      </p:pic>
      <p:sp>
        <p:nvSpPr>
          <p:cNvPr id="50" name="Text 40"/>
          <p:cNvSpPr txBox="1"/>
          <p:nvPr/>
        </p:nvSpPr>
        <p:spPr>
          <a:xfrm>
            <a:off x="9818141" y="3124200"/>
            <a:ext cx="1687754" cy="502920"/>
          </a:xfrm>
          <a:prstGeom prst="rect">
            <a:avLst/>
          </a:prstGeom>
          <a:noFill/>
          <a:ln/>
        </p:spPr>
        <p:txBody>
          <a:bodyPr wrap="square" lIns="0" tIns="0" rIns="0" bIns="0" rtlCol="0" anchor="ctr"/>
          <a:lstStyle/>
          <a:p>
            <a:pPr indent="0" marL="0">
              <a:buNone/>
            </a:pPr>
            <a:r>
              <a:rPr lang="en-US" sz="1800" b="1" dirty="0">
                <a:solidFill>
                  <a:srgbClr val="188038"/>
                </a:solidFill>
                <a:latin typeface="Roboto" pitchFamily="34" charset="0"/>
                <a:ea typeface="Roboto" pitchFamily="34" charset="-122"/>
                <a:cs typeface="Roboto" pitchFamily="34" charset="-120"/>
              </a:rPr>
              <a:t>Ares</a:t>
            </a:r>
            <a:endParaRPr lang="en-US" sz="1800" dirty="0"/>
          </a:p>
        </p:txBody>
      </p:sp>
      <p:sp>
        <p:nvSpPr>
          <p:cNvPr id="51" name="Text 41"/>
          <p:cNvSpPr txBox="1"/>
          <p:nvPr/>
        </p:nvSpPr>
        <p:spPr>
          <a:xfrm>
            <a:off x="9223781" y="3645408"/>
            <a:ext cx="2236394" cy="457200"/>
          </a:xfrm>
          <a:prstGeom prst="rect">
            <a:avLst/>
          </a:prstGeom>
          <a:noFill/>
          <a:ln/>
        </p:spPr>
        <p:txBody>
          <a:bodyPr wrap="square" lIns="0" tIns="0" rIns="0" bIns="0" rtlCol="0" anchor="t"/>
          <a:lstStyle/>
          <a:p>
            <a:pPr indent="0" marL="0">
              <a:buNone/>
            </a:pPr>
            <a:r>
              <a:rPr lang="en-US" sz="1350" dirty="0">
                <a:solidFill>
                  <a:srgbClr val="202124"/>
                </a:solidFill>
                <a:latin typeface="Roboto" pitchFamily="34" charset="0"/>
                <a:ea typeface="Roboto" pitchFamily="34" charset="-122"/>
                <a:cs typeface="Roboto" pitchFamily="34" charset="-120"/>
              </a:rPr>
              <a:t>La guerra violenta</a:t>
            </a:r>
            <a:endParaRPr lang="en-US" sz="1350" dirty="0"/>
          </a:p>
        </p:txBody>
      </p:sp>
      <p:sp>
        <p:nvSpPr>
          <p:cNvPr id="52" name="Text 42"/>
          <p:cNvSpPr txBox="1"/>
          <p:nvPr/>
        </p:nvSpPr>
        <p:spPr>
          <a:xfrm>
            <a:off x="9223781" y="4117848"/>
            <a:ext cx="2236394" cy="256032"/>
          </a:xfrm>
          <a:prstGeom prst="rect">
            <a:avLst/>
          </a:prstGeom>
          <a:noFill/>
          <a:ln/>
        </p:spPr>
        <p:txBody>
          <a:bodyPr wrap="square" lIns="0" tIns="0" rIns="0" bIns="0" rtlCol="0" anchor="t"/>
          <a:lstStyle/>
          <a:p>
            <a:pPr indent="0" marL="0">
              <a:buNone/>
            </a:pPr>
            <a:r>
              <a:rPr lang="en-US" sz="1250" i="1" dirty="0">
                <a:solidFill>
                  <a:srgbClr val="5F6368"/>
                </a:solidFill>
                <a:latin typeface="Roboto" pitchFamily="34" charset="0"/>
                <a:ea typeface="Roboto" pitchFamily="34" charset="-122"/>
                <a:cs typeface="Roboto" pitchFamily="34" charset="-120"/>
              </a:rPr>
              <a:t>Casc, llança, escut</a:t>
            </a:r>
            <a:endParaRPr lang="en-US" sz="1250" dirty="0"/>
          </a:p>
        </p:txBody>
      </p:sp>
      <p:sp>
        <p:nvSpPr>
          <p:cNvPr id="53" name="Déu Hermes"/>
          <p:cNvSpPr/>
          <p:nvPr/>
        </p:nvSpPr>
        <p:spPr>
          <a:xfrm>
            <a:off x="548640" y="4602480"/>
            <a:ext cx="2602154" cy="1432560"/>
          </a:xfrm>
          <a:prstGeom prst="roundRect">
            <a:avLst>
              <a:gd name="adj" fmla="val 7021"/>
            </a:avLst>
          </a:prstGeom>
          <a:solidFill>
            <a:srgbClr val="FFFFFF"/>
          </a:solidFill>
          <a:ln w="12700">
            <a:solidFill>
              <a:srgbClr val="DADCE0"/>
            </a:solidFill>
            <a:prstDash val="solid"/>
          </a:ln>
        </p:spPr>
      </p:sp>
      <p:sp>
        <p:nvSpPr>
          <p:cNvPr id="54" name="Cercle icona"/>
          <p:cNvSpPr/>
          <p:nvPr/>
        </p:nvSpPr>
        <p:spPr>
          <a:xfrm>
            <a:off x="713232" y="4739640"/>
            <a:ext cx="502920" cy="502920"/>
          </a:xfrm>
          <a:prstGeom prst="ellipse">
            <a:avLst/>
          </a:prstGeom>
          <a:solidFill>
            <a:srgbClr val="E6F4EA"/>
          </a:solidFill>
          <a:ln/>
        </p:spPr>
      </p:sp>
      <p:pic>
        <p:nvPicPr>
          <p:cNvPr id="55" name="Icona TbFeather" descr="/home/claude/work/build/img/ic/TbFeather-g.png">    </p:cNvPr>
          <p:cNvPicPr>
            <a:picLocks noChangeAspect="1"/>
          </p:cNvPicPr>
          <p:nvPr/>
        </p:nvPicPr>
        <p:blipFill>
          <a:blip r:embed="rId9"/>
          <a:stretch>
            <a:fillRect/>
          </a:stretch>
        </p:blipFill>
        <p:spPr>
          <a:xfrm>
            <a:off x="823874" y="4850282"/>
            <a:ext cx="281635" cy="281635"/>
          </a:xfrm>
          <a:prstGeom prst="rect">
            <a:avLst/>
          </a:prstGeom>
        </p:spPr>
      </p:pic>
      <p:sp>
        <p:nvSpPr>
          <p:cNvPr id="56" name="Text 45"/>
          <p:cNvSpPr txBox="1"/>
          <p:nvPr/>
        </p:nvSpPr>
        <p:spPr>
          <a:xfrm>
            <a:off x="1325880" y="4739640"/>
            <a:ext cx="1687754" cy="502920"/>
          </a:xfrm>
          <a:prstGeom prst="rect">
            <a:avLst/>
          </a:prstGeom>
          <a:noFill/>
          <a:ln/>
        </p:spPr>
        <p:txBody>
          <a:bodyPr wrap="square" lIns="0" tIns="0" rIns="0" bIns="0" rtlCol="0" anchor="ctr"/>
          <a:lstStyle/>
          <a:p>
            <a:pPr indent="0" marL="0">
              <a:buNone/>
            </a:pPr>
            <a:r>
              <a:rPr lang="en-US" sz="1800" b="1" dirty="0">
                <a:solidFill>
                  <a:srgbClr val="188038"/>
                </a:solidFill>
                <a:latin typeface="Roboto" pitchFamily="34" charset="0"/>
                <a:ea typeface="Roboto" pitchFamily="34" charset="-122"/>
                <a:cs typeface="Roboto" pitchFamily="34" charset="-120"/>
              </a:rPr>
              <a:t>Hermes</a:t>
            </a:r>
            <a:endParaRPr lang="en-US" sz="1800" dirty="0"/>
          </a:p>
        </p:txBody>
      </p:sp>
      <p:sp>
        <p:nvSpPr>
          <p:cNvPr id="57" name="Text 46"/>
          <p:cNvSpPr txBox="1"/>
          <p:nvPr/>
        </p:nvSpPr>
        <p:spPr>
          <a:xfrm>
            <a:off x="731520" y="5260848"/>
            <a:ext cx="2236394" cy="457200"/>
          </a:xfrm>
          <a:prstGeom prst="rect">
            <a:avLst/>
          </a:prstGeom>
          <a:noFill/>
          <a:ln/>
        </p:spPr>
        <p:txBody>
          <a:bodyPr wrap="square" lIns="0" tIns="0" rIns="0" bIns="0" rtlCol="0" anchor="t"/>
          <a:lstStyle/>
          <a:p>
            <a:pPr indent="0" marL="0">
              <a:buNone/>
            </a:pPr>
            <a:r>
              <a:rPr lang="en-US" sz="1350" dirty="0">
                <a:solidFill>
                  <a:srgbClr val="202124"/>
                </a:solidFill>
                <a:latin typeface="Roboto" pitchFamily="34" charset="0"/>
                <a:ea typeface="Roboto" pitchFamily="34" charset="-122"/>
                <a:cs typeface="Roboto" pitchFamily="34" charset="-120"/>
              </a:rPr>
              <a:t>Missatger dels déus, comerç i viatgers</a:t>
            </a:r>
            <a:endParaRPr lang="en-US" sz="1350" dirty="0"/>
          </a:p>
        </p:txBody>
      </p:sp>
      <p:sp>
        <p:nvSpPr>
          <p:cNvPr id="58" name="Text 47"/>
          <p:cNvSpPr txBox="1"/>
          <p:nvPr/>
        </p:nvSpPr>
        <p:spPr>
          <a:xfrm>
            <a:off x="731520" y="5733288"/>
            <a:ext cx="2236394" cy="256032"/>
          </a:xfrm>
          <a:prstGeom prst="rect">
            <a:avLst/>
          </a:prstGeom>
          <a:noFill/>
          <a:ln/>
        </p:spPr>
        <p:txBody>
          <a:bodyPr wrap="square" lIns="0" tIns="0" rIns="0" bIns="0" rtlCol="0" anchor="t"/>
          <a:lstStyle/>
          <a:p>
            <a:pPr indent="0" marL="0">
              <a:buNone/>
            </a:pPr>
            <a:r>
              <a:rPr lang="en-US" sz="1250" i="1" dirty="0">
                <a:solidFill>
                  <a:srgbClr val="5F6368"/>
                </a:solidFill>
                <a:latin typeface="Roboto" pitchFamily="34" charset="0"/>
                <a:ea typeface="Roboto" pitchFamily="34" charset="-122"/>
                <a:cs typeface="Roboto" pitchFamily="34" charset="-120"/>
              </a:rPr>
              <a:t>Sandàlies alades, caduceu</a:t>
            </a:r>
            <a:endParaRPr lang="en-US" sz="1250" dirty="0"/>
          </a:p>
        </p:txBody>
      </p:sp>
      <p:sp>
        <p:nvSpPr>
          <p:cNvPr id="59" name="Déu Hefest"/>
          <p:cNvSpPr/>
          <p:nvPr/>
        </p:nvSpPr>
        <p:spPr>
          <a:xfrm>
            <a:off x="3379394" y="4602480"/>
            <a:ext cx="2602154" cy="1432560"/>
          </a:xfrm>
          <a:prstGeom prst="roundRect">
            <a:avLst>
              <a:gd name="adj" fmla="val 7021"/>
            </a:avLst>
          </a:prstGeom>
          <a:solidFill>
            <a:srgbClr val="FFFFFF"/>
          </a:solidFill>
          <a:ln w="12700">
            <a:solidFill>
              <a:srgbClr val="DADCE0"/>
            </a:solidFill>
            <a:prstDash val="solid"/>
          </a:ln>
        </p:spPr>
      </p:sp>
      <p:sp>
        <p:nvSpPr>
          <p:cNvPr id="60" name="Cercle icona"/>
          <p:cNvSpPr/>
          <p:nvPr/>
        </p:nvSpPr>
        <p:spPr>
          <a:xfrm>
            <a:off x="3543986" y="4739640"/>
            <a:ext cx="502920" cy="502920"/>
          </a:xfrm>
          <a:prstGeom prst="ellipse">
            <a:avLst/>
          </a:prstGeom>
          <a:solidFill>
            <a:srgbClr val="E6F4EA"/>
          </a:solidFill>
          <a:ln/>
        </p:spPr>
      </p:sp>
      <p:pic>
        <p:nvPicPr>
          <p:cNvPr id="61" name="Icona TbHammer" descr="/home/claude/work/build/img/ic/TbHammer-g.png">    </p:cNvPr>
          <p:cNvPicPr>
            <a:picLocks noChangeAspect="1"/>
          </p:cNvPicPr>
          <p:nvPr/>
        </p:nvPicPr>
        <p:blipFill>
          <a:blip r:embed="rId10"/>
          <a:stretch>
            <a:fillRect/>
          </a:stretch>
        </p:blipFill>
        <p:spPr>
          <a:xfrm>
            <a:off x="3654628" y="4850282"/>
            <a:ext cx="281635" cy="281635"/>
          </a:xfrm>
          <a:prstGeom prst="rect">
            <a:avLst/>
          </a:prstGeom>
        </p:spPr>
      </p:pic>
      <p:sp>
        <p:nvSpPr>
          <p:cNvPr id="62" name="Text 50"/>
          <p:cNvSpPr txBox="1"/>
          <p:nvPr/>
        </p:nvSpPr>
        <p:spPr>
          <a:xfrm>
            <a:off x="4156634" y="4739640"/>
            <a:ext cx="1687754" cy="502920"/>
          </a:xfrm>
          <a:prstGeom prst="rect">
            <a:avLst/>
          </a:prstGeom>
          <a:noFill/>
          <a:ln/>
        </p:spPr>
        <p:txBody>
          <a:bodyPr wrap="square" lIns="0" tIns="0" rIns="0" bIns="0" rtlCol="0" anchor="ctr"/>
          <a:lstStyle/>
          <a:p>
            <a:pPr indent="0" marL="0">
              <a:buNone/>
            </a:pPr>
            <a:r>
              <a:rPr lang="en-US" sz="1800" b="1" dirty="0">
                <a:solidFill>
                  <a:srgbClr val="188038"/>
                </a:solidFill>
                <a:latin typeface="Roboto" pitchFamily="34" charset="0"/>
                <a:ea typeface="Roboto" pitchFamily="34" charset="-122"/>
                <a:cs typeface="Roboto" pitchFamily="34" charset="-120"/>
              </a:rPr>
              <a:t>Hefest</a:t>
            </a:r>
            <a:endParaRPr lang="en-US" sz="1800" dirty="0"/>
          </a:p>
        </p:txBody>
      </p:sp>
      <p:sp>
        <p:nvSpPr>
          <p:cNvPr id="63" name="Text 51"/>
          <p:cNvSpPr txBox="1"/>
          <p:nvPr/>
        </p:nvSpPr>
        <p:spPr>
          <a:xfrm>
            <a:off x="3562274" y="5260848"/>
            <a:ext cx="2236394" cy="457200"/>
          </a:xfrm>
          <a:prstGeom prst="rect">
            <a:avLst/>
          </a:prstGeom>
          <a:noFill/>
          <a:ln/>
        </p:spPr>
        <p:txBody>
          <a:bodyPr wrap="square" lIns="0" tIns="0" rIns="0" bIns="0" rtlCol="0" anchor="t"/>
          <a:lstStyle/>
          <a:p>
            <a:pPr indent="0" marL="0">
              <a:buNone/>
            </a:pPr>
            <a:r>
              <a:rPr lang="en-US" sz="1350" dirty="0">
                <a:solidFill>
                  <a:srgbClr val="202124"/>
                </a:solidFill>
                <a:latin typeface="Roboto" pitchFamily="34" charset="0"/>
                <a:ea typeface="Roboto" pitchFamily="34" charset="-122"/>
                <a:cs typeface="Roboto" pitchFamily="34" charset="-120"/>
              </a:rPr>
              <a:t>El foc i la forja</a:t>
            </a:r>
            <a:endParaRPr lang="en-US" sz="1350" dirty="0"/>
          </a:p>
        </p:txBody>
      </p:sp>
      <p:sp>
        <p:nvSpPr>
          <p:cNvPr id="64" name="Text 52"/>
          <p:cNvSpPr txBox="1"/>
          <p:nvPr/>
        </p:nvSpPr>
        <p:spPr>
          <a:xfrm>
            <a:off x="3562274" y="5733288"/>
            <a:ext cx="2236394" cy="256032"/>
          </a:xfrm>
          <a:prstGeom prst="rect">
            <a:avLst/>
          </a:prstGeom>
          <a:noFill/>
          <a:ln/>
        </p:spPr>
        <p:txBody>
          <a:bodyPr wrap="square" lIns="0" tIns="0" rIns="0" bIns="0" rtlCol="0" anchor="t"/>
          <a:lstStyle/>
          <a:p>
            <a:pPr indent="0" marL="0">
              <a:buNone/>
            </a:pPr>
            <a:r>
              <a:rPr lang="en-US" sz="1250" i="1" dirty="0">
                <a:solidFill>
                  <a:srgbClr val="5F6368"/>
                </a:solidFill>
                <a:latin typeface="Roboto" pitchFamily="34" charset="0"/>
                <a:ea typeface="Roboto" pitchFamily="34" charset="-122"/>
                <a:cs typeface="Roboto" pitchFamily="34" charset="-120"/>
              </a:rPr>
              <a:t>Martell, enclusa</a:t>
            </a:r>
            <a:endParaRPr lang="en-US" sz="1250" dirty="0"/>
          </a:p>
        </p:txBody>
      </p:sp>
      <p:sp>
        <p:nvSpPr>
          <p:cNvPr id="65" name="Déu Demèter"/>
          <p:cNvSpPr/>
          <p:nvPr/>
        </p:nvSpPr>
        <p:spPr>
          <a:xfrm>
            <a:off x="6210148" y="4602480"/>
            <a:ext cx="2602154" cy="1432560"/>
          </a:xfrm>
          <a:prstGeom prst="roundRect">
            <a:avLst>
              <a:gd name="adj" fmla="val 7021"/>
            </a:avLst>
          </a:prstGeom>
          <a:solidFill>
            <a:srgbClr val="FFFFFF"/>
          </a:solidFill>
          <a:ln w="12700">
            <a:solidFill>
              <a:srgbClr val="DADCE0"/>
            </a:solidFill>
            <a:prstDash val="solid"/>
          </a:ln>
        </p:spPr>
      </p:sp>
      <p:sp>
        <p:nvSpPr>
          <p:cNvPr id="66" name="Cercle icona"/>
          <p:cNvSpPr/>
          <p:nvPr/>
        </p:nvSpPr>
        <p:spPr>
          <a:xfrm>
            <a:off x="6374740" y="4739640"/>
            <a:ext cx="502920" cy="502920"/>
          </a:xfrm>
          <a:prstGeom prst="ellipse">
            <a:avLst/>
          </a:prstGeom>
          <a:solidFill>
            <a:srgbClr val="E6F4EA"/>
          </a:solidFill>
          <a:ln/>
        </p:spPr>
      </p:sp>
      <p:pic>
        <p:nvPicPr>
          <p:cNvPr id="67" name="Icona TbWheat" descr="/home/claude/work/build/img/ic/TbWheat-g.png">    </p:cNvPr>
          <p:cNvPicPr>
            <a:picLocks noChangeAspect="1"/>
          </p:cNvPicPr>
          <p:nvPr/>
        </p:nvPicPr>
        <p:blipFill>
          <a:blip r:embed="rId11"/>
          <a:stretch>
            <a:fillRect/>
          </a:stretch>
        </p:blipFill>
        <p:spPr>
          <a:xfrm>
            <a:off x="6485382" y="4850282"/>
            <a:ext cx="281635" cy="281635"/>
          </a:xfrm>
          <a:prstGeom prst="rect">
            <a:avLst/>
          </a:prstGeom>
        </p:spPr>
      </p:pic>
      <p:sp>
        <p:nvSpPr>
          <p:cNvPr id="68" name="Text 55"/>
          <p:cNvSpPr txBox="1"/>
          <p:nvPr/>
        </p:nvSpPr>
        <p:spPr>
          <a:xfrm>
            <a:off x="6987388" y="4739640"/>
            <a:ext cx="1687754" cy="502920"/>
          </a:xfrm>
          <a:prstGeom prst="rect">
            <a:avLst/>
          </a:prstGeom>
          <a:noFill/>
          <a:ln/>
        </p:spPr>
        <p:txBody>
          <a:bodyPr wrap="square" lIns="0" tIns="0" rIns="0" bIns="0" rtlCol="0" anchor="ctr"/>
          <a:lstStyle/>
          <a:p>
            <a:pPr indent="0" marL="0">
              <a:buNone/>
            </a:pPr>
            <a:r>
              <a:rPr lang="en-US" sz="1800" b="1" dirty="0">
                <a:solidFill>
                  <a:srgbClr val="188038"/>
                </a:solidFill>
                <a:latin typeface="Roboto" pitchFamily="34" charset="0"/>
                <a:ea typeface="Roboto" pitchFamily="34" charset="-122"/>
                <a:cs typeface="Roboto" pitchFamily="34" charset="-120"/>
              </a:rPr>
              <a:t>Demèter</a:t>
            </a:r>
            <a:endParaRPr lang="en-US" sz="1800" dirty="0"/>
          </a:p>
        </p:txBody>
      </p:sp>
      <p:sp>
        <p:nvSpPr>
          <p:cNvPr id="69" name="Text 56"/>
          <p:cNvSpPr txBox="1"/>
          <p:nvPr/>
        </p:nvSpPr>
        <p:spPr>
          <a:xfrm>
            <a:off x="6393028" y="5260848"/>
            <a:ext cx="2236394" cy="457200"/>
          </a:xfrm>
          <a:prstGeom prst="rect">
            <a:avLst/>
          </a:prstGeom>
          <a:noFill/>
          <a:ln/>
        </p:spPr>
        <p:txBody>
          <a:bodyPr wrap="square" lIns="0" tIns="0" rIns="0" bIns="0" rtlCol="0" anchor="t"/>
          <a:lstStyle/>
          <a:p>
            <a:pPr indent="0" marL="0">
              <a:buNone/>
            </a:pPr>
            <a:r>
              <a:rPr lang="en-US" sz="1350" dirty="0">
                <a:solidFill>
                  <a:srgbClr val="202124"/>
                </a:solidFill>
                <a:latin typeface="Roboto" pitchFamily="34" charset="0"/>
                <a:ea typeface="Roboto" pitchFamily="34" charset="-122"/>
                <a:cs typeface="Roboto" pitchFamily="34" charset="-120"/>
              </a:rPr>
              <a:t>L'agricultura i les collites</a:t>
            </a:r>
            <a:endParaRPr lang="en-US" sz="1350" dirty="0"/>
          </a:p>
        </p:txBody>
      </p:sp>
      <p:sp>
        <p:nvSpPr>
          <p:cNvPr id="70" name="Text 57"/>
          <p:cNvSpPr txBox="1"/>
          <p:nvPr/>
        </p:nvSpPr>
        <p:spPr>
          <a:xfrm>
            <a:off x="6393028" y="5733288"/>
            <a:ext cx="2236394" cy="256032"/>
          </a:xfrm>
          <a:prstGeom prst="rect">
            <a:avLst/>
          </a:prstGeom>
          <a:noFill/>
          <a:ln/>
        </p:spPr>
        <p:txBody>
          <a:bodyPr wrap="square" lIns="0" tIns="0" rIns="0" bIns="0" rtlCol="0" anchor="t"/>
          <a:lstStyle/>
          <a:p>
            <a:pPr indent="0" marL="0">
              <a:buNone/>
            </a:pPr>
            <a:r>
              <a:rPr lang="en-US" sz="1250" i="1" dirty="0">
                <a:solidFill>
                  <a:srgbClr val="5F6368"/>
                </a:solidFill>
                <a:latin typeface="Roboto" pitchFamily="34" charset="0"/>
                <a:ea typeface="Roboto" pitchFamily="34" charset="-122"/>
                <a:cs typeface="Roboto" pitchFamily="34" charset="-120"/>
              </a:rPr>
              <a:t>Espigues de blat</a:t>
            </a:r>
            <a:endParaRPr lang="en-US" sz="1250" dirty="0"/>
          </a:p>
        </p:txBody>
      </p:sp>
      <p:sp>
        <p:nvSpPr>
          <p:cNvPr id="71" name="Déu Dionís"/>
          <p:cNvSpPr/>
          <p:nvPr/>
        </p:nvSpPr>
        <p:spPr>
          <a:xfrm>
            <a:off x="9040901" y="4602480"/>
            <a:ext cx="2602154" cy="1432560"/>
          </a:xfrm>
          <a:prstGeom prst="roundRect">
            <a:avLst>
              <a:gd name="adj" fmla="val 7021"/>
            </a:avLst>
          </a:prstGeom>
          <a:solidFill>
            <a:srgbClr val="FFFFFF"/>
          </a:solidFill>
          <a:ln w="12700">
            <a:solidFill>
              <a:srgbClr val="DADCE0"/>
            </a:solidFill>
            <a:prstDash val="solid"/>
          </a:ln>
        </p:spPr>
      </p:sp>
      <p:sp>
        <p:nvSpPr>
          <p:cNvPr id="72" name="Cercle icona"/>
          <p:cNvSpPr/>
          <p:nvPr/>
        </p:nvSpPr>
        <p:spPr>
          <a:xfrm>
            <a:off x="9205493" y="4739640"/>
            <a:ext cx="502920" cy="502920"/>
          </a:xfrm>
          <a:prstGeom prst="ellipse">
            <a:avLst/>
          </a:prstGeom>
          <a:solidFill>
            <a:srgbClr val="E6F4EA"/>
          </a:solidFill>
          <a:ln/>
        </p:spPr>
      </p:sp>
      <p:pic>
        <p:nvPicPr>
          <p:cNvPr id="73" name="Icona TbGrape" descr="/home/claude/work/build/img/ic/TbGrape-g.png">    </p:cNvPr>
          <p:cNvPicPr>
            <a:picLocks noChangeAspect="1"/>
          </p:cNvPicPr>
          <p:nvPr/>
        </p:nvPicPr>
        <p:blipFill>
          <a:blip r:embed="rId12"/>
          <a:stretch>
            <a:fillRect/>
          </a:stretch>
        </p:blipFill>
        <p:spPr>
          <a:xfrm>
            <a:off x="9316136" y="4850282"/>
            <a:ext cx="281635" cy="281635"/>
          </a:xfrm>
          <a:prstGeom prst="rect">
            <a:avLst/>
          </a:prstGeom>
        </p:spPr>
      </p:pic>
      <p:sp>
        <p:nvSpPr>
          <p:cNvPr id="74" name="Text 60"/>
          <p:cNvSpPr txBox="1"/>
          <p:nvPr/>
        </p:nvSpPr>
        <p:spPr>
          <a:xfrm>
            <a:off x="9818141" y="4739640"/>
            <a:ext cx="1687754" cy="502920"/>
          </a:xfrm>
          <a:prstGeom prst="rect">
            <a:avLst/>
          </a:prstGeom>
          <a:noFill/>
          <a:ln/>
        </p:spPr>
        <p:txBody>
          <a:bodyPr wrap="square" lIns="0" tIns="0" rIns="0" bIns="0" rtlCol="0" anchor="ctr"/>
          <a:lstStyle/>
          <a:p>
            <a:pPr indent="0" marL="0">
              <a:buNone/>
            </a:pPr>
            <a:r>
              <a:rPr lang="en-US" sz="1800" b="1" dirty="0">
                <a:solidFill>
                  <a:srgbClr val="188038"/>
                </a:solidFill>
                <a:latin typeface="Roboto" pitchFamily="34" charset="0"/>
                <a:ea typeface="Roboto" pitchFamily="34" charset="-122"/>
                <a:cs typeface="Roboto" pitchFamily="34" charset="-120"/>
              </a:rPr>
              <a:t>Dionís</a:t>
            </a:r>
            <a:endParaRPr lang="en-US" sz="1800" dirty="0"/>
          </a:p>
        </p:txBody>
      </p:sp>
      <p:sp>
        <p:nvSpPr>
          <p:cNvPr id="75" name="Text 61"/>
          <p:cNvSpPr txBox="1"/>
          <p:nvPr/>
        </p:nvSpPr>
        <p:spPr>
          <a:xfrm>
            <a:off x="9223781" y="5260848"/>
            <a:ext cx="2236394" cy="457200"/>
          </a:xfrm>
          <a:prstGeom prst="rect">
            <a:avLst/>
          </a:prstGeom>
          <a:noFill/>
          <a:ln/>
        </p:spPr>
        <p:txBody>
          <a:bodyPr wrap="square" lIns="0" tIns="0" rIns="0" bIns="0" rtlCol="0" anchor="t"/>
          <a:lstStyle/>
          <a:p>
            <a:pPr indent="0" marL="0">
              <a:buNone/>
            </a:pPr>
            <a:r>
              <a:rPr lang="en-US" sz="1350" dirty="0">
                <a:solidFill>
                  <a:srgbClr val="202124"/>
                </a:solidFill>
                <a:latin typeface="Roboto" pitchFamily="34" charset="0"/>
                <a:ea typeface="Roboto" pitchFamily="34" charset="-122"/>
                <a:cs typeface="Roboto" pitchFamily="34" charset="-120"/>
              </a:rPr>
              <a:t>El vi, la festa i el teatre</a:t>
            </a:r>
            <a:endParaRPr lang="en-US" sz="1350" dirty="0"/>
          </a:p>
        </p:txBody>
      </p:sp>
      <p:sp>
        <p:nvSpPr>
          <p:cNvPr id="76" name="Text 62"/>
          <p:cNvSpPr txBox="1"/>
          <p:nvPr/>
        </p:nvSpPr>
        <p:spPr>
          <a:xfrm>
            <a:off x="9223781" y="5733288"/>
            <a:ext cx="2236394" cy="256032"/>
          </a:xfrm>
          <a:prstGeom prst="rect">
            <a:avLst/>
          </a:prstGeom>
          <a:noFill/>
          <a:ln/>
        </p:spPr>
        <p:txBody>
          <a:bodyPr wrap="square" lIns="0" tIns="0" rIns="0" bIns="0" rtlCol="0" anchor="t"/>
          <a:lstStyle/>
          <a:p>
            <a:pPr indent="0" marL="0">
              <a:buNone/>
            </a:pPr>
            <a:r>
              <a:rPr lang="en-US" sz="1250" i="1" dirty="0">
                <a:solidFill>
                  <a:srgbClr val="5F6368"/>
                </a:solidFill>
                <a:latin typeface="Roboto" pitchFamily="34" charset="0"/>
                <a:ea typeface="Roboto" pitchFamily="34" charset="-122"/>
                <a:cs typeface="Roboto" pitchFamily="34" charset="-120"/>
              </a:rPr>
              <a:t>Raïm, copa</a:t>
            </a:r>
            <a:endParaRPr lang="en-US" sz="12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6</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Herois, mites i oracles</a:t>
            </a:r>
            <a:endParaRPr lang="en-US" sz="2800" dirty="0"/>
          </a:p>
        </p:txBody>
      </p:sp>
      <p:sp>
        <p:nvSpPr>
          <p:cNvPr id="5" name="Fons El santuari de Delfos, amb les columnes del temple d'Apol·lo"/>
          <p:cNvSpPr/>
          <p:nvPr/>
        </p:nvSpPr>
        <p:spPr>
          <a:xfrm>
            <a:off x="548640" y="1371600"/>
            <a:ext cx="5669280" cy="3767328"/>
          </a:xfrm>
          <a:prstGeom prst="roundRect">
            <a:avLst>
              <a:gd name="adj" fmla="val 2670"/>
            </a:avLst>
          </a:prstGeom>
          <a:solidFill>
            <a:srgbClr val="F6F8FB"/>
          </a:solidFill>
          <a:ln/>
        </p:spPr>
      </p:sp>
      <p:pic>
        <p:nvPicPr>
          <p:cNvPr id="6" name="El santuari de Delfos, amb les columnes del temple d'Apol·lo" descr="/home/claude/work/build/img/delfos.jpg">    </p:cNvPr>
          <p:cNvPicPr>
            <a:picLocks noChangeAspect="1"/>
          </p:cNvPicPr>
          <p:nvPr/>
        </p:nvPicPr>
        <p:blipFill>
          <a:blip r:embed="rId1"/>
          <a:stretch>
            <a:fillRect/>
          </a:stretch>
        </p:blipFill>
        <p:spPr>
          <a:xfrm>
            <a:off x="550249" y="1371600"/>
            <a:ext cx="5666061" cy="3767328"/>
          </a:xfrm>
          <a:prstGeom prst="rect">
            <a:avLst/>
          </a:prstGeom>
        </p:spPr>
      </p:pic>
      <p:sp>
        <p:nvSpPr>
          <p:cNvPr id="7" name="Text 4"/>
          <p:cNvSpPr txBox="1"/>
          <p:nvPr/>
        </p:nvSpPr>
        <p:spPr>
          <a:xfrm>
            <a:off x="548640" y="5230368"/>
            <a:ext cx="5669280"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El santuari de Delfos, amb les columnes del temple d'Apol·lo. Foto: Berthold Werner, Wikimedia Commons, CC BY-SA 3.0.</a:t>
            </a:r>
            <a:endParaRPr lang="en-US" sz="1000" dirty="0"/>
          </a:p>
        </p:txBody>
      </p:sp>
      <p:sp>
        <p:nvSpPr>
          <p:cNvPr id="8" name="Cercle icona"/>
          <p:cNvSpPr/>
          <p:nvPr/>
        </p:nvSpPr>
        <p:spPr>
          <a:xfrm>
            <a:off x="6492240" y="1783080"/>
            <a:ext cx="512064" cy="512064"/>
          </a:xfrm>
          <a:prstGeom prst="ellipse">
            <a:avLst/>
          </a:prstGeom>
          <a:solidFill>
            <a:srgbClr val="E6F4EA"/>
          </a:solidFill>
          <a:ln/>
        </p:spPr>
      </p:sp>
      <p:pic>
        <p:nvPicPr>
          <p:cNvPr id="9" name="Icona TbSwords" descr="/home/claude/work/build/img/ic/TbSwords-g.png">    </p:cNvPr>
          <p:cNvPicPr>
            <a:picLocks noChangeAspect="1"/>
          </p:cNvPicPr>
          <p:nvPr/>
        </p:nvPicPr>
        <p:blipFill>
          <a:blip r:embed="rId2"/>
          <a:stretch>
            <a:fillRect/>
          </a:stretch>
        </p:blipFill>
        <p:spPr>
          <a:xfrm>
            <a:off x="6604894" y="1895734"/>
            <a:ext cx="286756" cy="286756"/>
          </a:xfrm>
          <a:prstGeom prst="rect">
            <a:avLst/>
          </a:prstGeom>
        </p:spPr>
      </p:pic>
      <p:sp>
        <p:nvSpPr>
          <p:cNvPr id="10" name="Text 6"/>
          <p:cNvSpPr txBox="1"/>
          <p:nvPr/>
        </p:nvSpPr>
        <p:spPr>
          <a:xfrm>
            <a:off x="7205472" y="1371600"/>
            <a:ext cx="4437583" cy="1444752"/>
          </a:xfrm>
          <a:prstGeom prst="rect">
            <a:avLst/>
          </a:prstGeom>
          <a:noFill/>
          <a:ln/>
        </p:spPr>
        <p:txBody>
          <a:bodyPr wrap="square" lIns="0" tIns="0" rIns="0" bIns="0" rtlCol="0" anchor="ctr"/>
          <a:lstStyle/>
          <a:p>
            <a:pPr indent="0" marL="0">
              <a:buNone/>
            </a:pPr>
            <a:r>
              <a:rPr lang="en-US" sz="1550" b="1" dirty="0">
                <a:solidFill>
                  <a:srgbClr val="202124"/>
                </a:solidFill>
                <a:latin typeface="Roboto" pitchFamily="34" charset="0"/>
                <a:ea typeface="Roboto" pitchFamily="34" charset="-122"/>
                <a:cs typeface="Roboto" pitchFamily="34" charset="-120"/>
              </a:rPr>
              <a:t>Els herois. </a:t>
            </a:r>
            <a:pPr indent="0" marL="0">
              <a:buNone/>
            </a:pPr>
            <a:r>
              <a:rPr lang="en-US" sz="1550" dirty="0">
                <a:solidFill>
                  <a:srgbClr val="202124"/>
                </a:solidFill>
                <a:latin typeface="Roboto" pitchFamily="34" charset="0"/>
                <a:ea typeface="Roboto" pitchFamily="34" charset="-122"/>
                <a:cs typeface="Roboto" pitchFamily="34" charset="-120"/>
              </a:rPr>
              <a:t>Sovint fills d'un déu i d'un mortal. Hèracles i els dotze treballs, Teseu i el Minotaure, Perseu i la Medusa, Ulisses…</a:t>
            </a:r>
            <a:endParaRPr lang="en-US" sz="1550" dirty="0"/>
          </a:p>
        </p:txBody>
      </p:sp>
      <p:sp>
        <p:nvSpPr>
          <p:cNvPr id="11" name="Cercle icona"/>
          <p:cNvSpPr/>
          <p:nvPr/>
        </p:nvSpPr>
        <p:spPr>
          <a:xfrm>
            <a:off x="6492240" y="3319272"/>
            <a:ext cx="512064" cy="512064"/>
          </a:xfrm>
          <a:prstGeom prst="ellipse">
            <a:avLst/>
          </a:prstGeom>
          <a:solidFill>
            <a:srgbClr val="E6F4EA"/>
          </a:solidFill>
          <a:ln/>
        </p:spPr>
      </p:sp>
      <p:pic>
        <p:nvPicPr>
          <p:cNvPr id="12" name="Icona TbBook2" descr="/home/claude/work/build/img/ic/TbBook2-g.png">    </p:cNvPr>
          <p:cNvPicPr>
            <a:picLocks noChangeAspect="1"/>
          </p:cNvPicPr>
          <p:nvPr/>
        </p:nvPicPr>
        <p:blipFill>
          <a:blip r:embed="rId3"/>
          <a:stretch>
            <a:fillRect/>
          </a:stretch>
        </p:blipFill>
        <p:spPr>
          <a:xfrm>
            <a:off x="6604894" y="3431926"/>
            <a:ext cx="286756" cy="286756"/>
          </a:xfrm>
          <a:prstGeom prst="rect">
            <a:avLst/>
          </a:prstGeom>
        </p:spPr>
      </p:pic>
      <p:sp>
        <p:nvSpPr>
          <p:cNvPr id="13" name="Text 8"/>
          <p:cNvSpPr txBox="1"/>
          <p:nvPr/>
        </p:nvSpPr>
        <p:spPr>
          <a:xfrm>
            <a:off x="7205472" y="2907792"/>
            <a:ext cx="4437583" cy="1444752"/>
          </a:xfrm>
          <a:prstGeom prst="rect">
            <a:avLst/>
          </a:prstGeom>
          <a:noFill/>
          <a:ln/>
        </p:spPr>
        <p:txBody>
          <a:bodyPr wrap="square" lIns="0" tIns="0" rIns="0" bIns="0" rtlCol="0" anchor="ctr"/>
          <a:lstStyle/>
          <a:p>
            <a:pPr indent="0" marL="0">
              <a:buNone/>
            </a:pPr>
            <a:r>
              <a:rPr lang="en-US" sz="1550" b="1" dirty="0">
                <a:solidFill>
                  <a:srgbClr val="202124"/>
                </a:solidFill>
                <a:latin typeface="Roboto" pitchFamily="34" charset="0"/>
                <a:ea typeface="Roboto" pitchFamily="34" charset="-122"/>
                <a:cs typeface="Roboto" pitchFamily="34" charset="-120"/>
              </a:rPr>
              <a:t>Els mites. </a:t>
            </a:r>
            <a:pPr indent="0" marL="0">
              <a:buNone/>
            </a:pPr>
            <a:r>
              <a:rPr lang="en-US" sz="1550" dirty="0">
                <a:solidFill>
                  <a:srgbClr val="202124"/>
                </a:solidFill>
                <a:latin typeface="Roboto" pitchFamily="34" charset="0"/>
                <a:ea typeface="Roboto" pitchFamily="34" charset="-122"/>
                <a:cs typeface="Roboto" pitchFamily="34" charset="-120"/>
              </a:rPr>
              <a:t>Explicaven el món, transmetien valors i alimentaven tot l'art grec.</a:t>
            </a:r>
            <a:endParaRPr lang="en-US" sz="1550" dirty="0"/>
          </a:p>
        </p:txBody>
      </p:sp>
      <p:sp>
        <p:nvSpPr>
          <p:cNvPr id="14" name="Cercle icona"/>
          <p:cNvSpPr/>
          <p:nvPr/>
        </p:nvSpPr>
        <p:spPr>
          <a:xfrm>
            <a:off x="6492240" y="4855464"/>
            <a:ext cx="512064" cy="512064"/>
          </a:xfrm>
          <a:prstGeom prst="ellipse">
            <a:avLst/>
          </a:prstGeom>
          <a:solidFill>
            <a:srgbClr val="E6F4EA"/>
          </a:solidFill>
          <a:ln/>
        </p:spPr>
      </p:sp>
      <p:pic>
        <p:nvPicPr>
          <p:cNvPr id="15" name="Icona TbEye" descr="/home/claude/work/build/img/ic/TbEye-g.png">    </p:cNvPr>
          <p:cNvPicPr>
            <a:picLocks noChangeAspect="1"/>
          </p:cNvPicPr>
          <p:nvPr/>
        </p:nvPicPr>
        <p:blipFill>
          <a:blip r:embed="rId4"/>
          <a:stretch>
            <a:fillRect/>
          </a:stretch>
        </p:blipFill>
        <p:spPr>
          <a:xfrm>
            <a:off x="6604894" y="4968118"/>
            <a:ext cx="286756" cy="286756"/>
          </a:xfrm>
          <a:prstGeom prst="rect">
            <a:avLst/>
          </a:prstGeom>
        </p:spPr>
      </p:pic>
      <p:sp>
        <p:nvSpPr>
          <p:cNvPr id="16" name="Text 10"/>
          <p:cNvSpPr txBox="1"/>
          <p:nvPr/>
        </p:nvSpPr>
        <p:spPr>
          <a:xfrm>
            <a:off x="7205472" y="4443984"/>
            <a:ext cx="4437583" cy="1444752"/>
          </a:xfrm>
          <a:prstGeom prst="rect">
            <a:avLst/>
          </a:prstGeom>
          <a:noFill/>
          <a:ln/>
        </p:spPr>
        <p:txBody>
          <a:bodyPr wrap="square" lIns="0" tIns="0" rIns="0" bIns="0" rtlCol="0" anchor="ctr"/>
          <a:lstStyle/>
          <a:p>
            <a:pPr indent="0" marL="0">
              <a:buNone/>
            </a:pPr>
            <a:r>
              <a:rPr lang="en-US" sz="1550" b="1" dirty="0">
                <a:solidFill>
                  <a:srgbClr val="202124"/>
                </a:solidFill>
                <a:latin typeface="Roboto" pitchFamily="34" charset="0"/>
                <a:ea typeface="Roboto" pitchFamily="34" charset="-122"/>
                <a:cs typeface="Roboto" pitchFamily="34" charset="-120"/>
              </a:rPr>
              <a:t>Els oracles. </a:t>
            </a:r>
            <a:pPr indent="0" marL="0">
              <a:buNone/>
            </a:pPr>
            <a:r>
              <a:rPr lang="en-US" sz="1550" dirty="0">
                <a:solidFill>
                  <a:srgbClr val="202124"/>
                </a:solidFill>
                <a:latin typeface="Roboto" pitchFamily="34" charset="0"/>
                <a:ea typeface="Roboto" pitchFamily="34" charset="-122"/>
                <a:cs typeface="Roboto" pitchFamily="34" charset="-120"/>
              </a:rPr>
              <a:t>Santuaris on els déus «parlaven», per saber el futur. El més famós, el de Delfos, dedicat a Apol·lo.</a:t>
            </a:r>
            <a:endParaRPr lang="en-US" sz="15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6</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Els Jocs Olímpics</a:t>
            </a:r>
            <a:endParaRPr lang="en-US" sz="2800" dirty="0"/>
          </a:p>
        </p:txBody>
      </p:sp>
      <p:sp>
        <p:nvSpPr>
          <p:cNvPr id="5" name="Fons L'entrada a l'estadi d'Olímpia, per on passaven els atletes"/>
          <p:cNvSpPr/>
          <p:nvPr/>
        </p:nvSpPr>
        <p:spPr>
          <a:xfrm>
            <a:off x="548640" y="1371600"/>
            <a:ext cx="4937760" cy="3291840"/>
          </a:xfrm>
          <a:prstGeom prst="roundRect">
            <a:avLst>
              <a:gd name="adj" fmla="val 3056"/>
            </a:avLst>
          </a:prstGeom>
          <a:solidFill>
            <a:srgbClr val="F6F8FB"/>
          </a:solidFill>
          <a:ln/>
        </p:spPr>
      </p:sp>
      <p:pic>
        <p:nvPicPr>
          <p:cNvPr id="6" name="L'entrada a l'estadi d'Olímpia, per on passaven els atletes" descr="/home/claude/work/build/img/olimpia.jpg">    </p:cNvPr>
          <p:cNvPicPr>
            <a:picLocks noChangeAspect="1"/>
          </p:cNvPicPr>
          <p:nvPr/>
        </p:nvPicPr>
        <p:blipFill>
          <a:blip r:embed="rId1"/>
          <a:stretch>
            <a:fillRect/>
          </a:stretch>
        </p:blipFill>
        <p:spPr>
          <a:xfrm>
            <a:off x="550286" y="1371600"/>
            <a:ext cx="4934468" cy="3291840"/>
          </a:xfrm>
          <a:prstGeom prst="rect">
            <a:avLst/>
          </a:prstGeom>
        </p:spPr>
      </p:pic>
      <p:sp>
        <p:nvSpPr>
          <p:cNvPr id="7" name="Text 4"/>
          <p:cNvSpPr txBox="1"/>
          <p:nvPr/>
        </p:nvSpPr>
        <p:spPr>
          <a:xfrm>
            <a:off x="548640" y="4754880"/>
            <a:ext cx="4937760"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L'entrada a l'estadi d'Olímpia, per on passaven els atletes. Foto: Annatsach, Wikimedia Commons, CC BY-SA 4.0.</a:t>
            </a:r>
            <a:endParaRPr lang="en-US" sz="1000" dirty="0"/>
          </a:p>
        </p:txBody>
      </p:sp>
      <p:sp>
        <p:nvSpPr>
          <p:cNvPr id="8" name="Text 5"/>
          <p:cNvSpPr txBox="1"/>
          <p:nvPr/>
        </p:nvSpPr>
        <p:spPr>
          <a:xfrm>
            <a:off x="5806440" y="1325880"/>
            <a:ext cx="5836615" cy="868680"/>
          </a:xfrm>
          <a:prstGeom prst="rect">
            <a:avLst/>
          </a:prstGeom>
          <a:noFill/>
          <a:ln/>
        </p:spPr>
        <p:txBody>
          <a:bodyPr wrap="square" lIns="0" tIns="0" rIns="0" bIns="0" rtlCol="0" anchor="t"/>
          <a:lstStyle/>
          <a:p>
            <a:pPr indent="0" marL="0">
              <a:buNone/>
            </a:pPr>
            <a:r>
              <a:rPr lang="en-US" sz="4000" b="1" dirty="0">
                <a:solidFill>
                  <a:srgbClr val="188038"/>
                </a:solidFill>
                <a:latin typeface="Roboto" pitchFamily="34" charset="0"/>
                <a:ea typeface="Roboto" pitchFamily="34" charset="-122"/>
                <a:cs typeface="Roboto" pitchFamily="34" charset="-120"/>
              </a:rPr>
              <a:t>776 aC</a:t>
            </a:r>
            <a:endParaRPr lang="en-US" sz="4000" dirty="0"/>
          </a:p>
        </p:txBody>
      </p:sp>
      <p:sp>
        <p:nvSpPr>
          <p:cNvPr id="9" name="Text 6"/>
          <p:cNvSpPr txBox="1"/>
          <p:nvPr/>
        </p:nvSpPr>
        <p:spPr>
          <a:xfrm>
            <a:off x="5806440" y="2240280"/>
            <a:ext cx="5836615" cy="91440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Des d'aquest any, cada quatre anys, totes les polis enviaven els seus millors atletes a Olímpia, en honor de Zeus.</a:t>
            </a:r>
            <a:endParaRPr lang="en-US" sz="1550" dirty="0"/>
          </a:p>
        </p:txBody>
      </p:sp>
      <p:sp>
        <p:nvSpPr>
          <p:cNvPr id="10" name="Cercle icona"/>
          <p:cNvSpPr/>
          <p:nvPr/>
        </p:nvSpPr>
        <p:spPr>
          <a:xfrm>
            <a:off x="5806440" y="3200400"/>
            <a:ext cx="457200" cy="457200"/>
          </a:xfrm>
          <a:prstGeom prst="ellipse">
            <a:avLst/>
          </a:prstGeom>
          <a:solidFill>
            <a:srgbClr val="E6F4EA"/>
          </a:solidFill>
          <a:ln/>
        </p:spPr>
      </p:sp>
      <p:pic>
        <p:nvPicPr>
          <p:cNvPr id="11" name="Icona TbRun" descr="/home/claude/work/build/img/ic/TbRun-g.png">    </p:cNvPr>
          <p:cNvPicPr>
            <a:picLocks noChangeAspect="1"/>
          </p:cNvPicPr>
          <p:nvPr/>
        </p:nvPicPr>
        <p:blipFill>
          <a:blip r:embed="rId2"/>
          <a:stretch>
            <a:fillRect/>
          </a:stretch>
        </p:blipFill>
        <p:spPr>
          <a:xfrm>
            <a:off x="5907024" y="3300984"/>
            <a:ext cx="256032" cy="256032"/>
          </a:xfrm>
          <a:prstGeom prst="rect">
            <a:avLst/>
          </a:prstGeom>
        </p:spPr>
      </p:pic>
      <p:sp>
        <p:nvSpPr>
          <p:cNvPr id="12" name="Text 8"/>
          <p:cNvSpPr txBox="1"/>
          <p:nvPr/>
        </p:nvSpPr>
        <p:spPr>
          <a:xfrm>
            <a:off x="6464808" y="3200400"/>
            <a:ext cx="5178247" cy="566928"/>
          </a:xfrm>
          <a:prstGeom prst="rect">
            <a:avLst/>
          </a:prstGeom>
          <a:noFill/>
          <a:ln/>
        </p:spPr>
        <p:txBody>
          <a:bodyPr wrap="square" lIns="0" tIns="0" rIns="0" bIns="0" rtlCol="0" anchor="ctr"/>
          <a:lstStyle/>
          <a:p>
            <a:pPr indent="0" marL="0">
              <a:buNone/>
            </a:pPr>
            <a:r>
              <a:rPr lang="en-US" sz="1500" b="1" dirty="0">
                <a:solidFill>
                  <a:srgbClr val="202124"/>
                </a:solidFill>
                <a:latin typeface="Roboto" pitchFamily="34" charset="0"/>
                <a:ea typeface="Roboto" pitchFamily="34" charset="-122"/>
                <a:cs typeface="Roboto" pitchFamily="34" charset="-120"/>
              </a:rPr>
              <a:t>Les proves. </a:t>
            </a:r>
            <a:pPr indent="0" marL="0">
              <a:buNone/>
            </a:pPr>
            <a:r>
              <a:rPr lang="en-US" sz="1500" dirty="0">
                <a:solidFill>
                  <a:srgbClr val="202124"/>
                </a:solidFill>
                <a:latin typeface="Roboto" pitchFamily="34" charset="0"/>
                <a:ea typeface="Roboto" pitchFamily="34" charset="-122"/>
                <a:cs typeface="Roboto" pitchFamily="34" charset="-120"/>
              </a:rPr>
              <a:t>Curses a peu i de carros, lluita, disc, javelina, pentatló…</a:t>
            </a:r>
            <a:endParaRPr lang="en-US" sz="1500" dirty="0"/>
          </a:p>
        </p:txBody>
      </p:sp>
      <p:sp>
        <p:nvSpPr>
          <p:cNvPr id="13" name="Cercle icona"/>
          <p:cNvSpPr/>
          <p:nvPr/>
        </p:nvSpPr>
        <p:spPr>
          <a:xfrm>
            <a:off x="5806440" y="3858768"/>
            <a:ext cx="457200" cy="457200"/>
          </a:xfrm>
          <a:prstGeom prst="ellipse">
            <a:avLst/>
          </a:prstGeom>
          <a:solidFill>
            <a:srgbClr val="E6F4EA"/>
          </a:solidFill>
          <a:ln/>
        </p:spPr>
      </p:sp>
      <p:pic>
        <p:nvPicPr>
          <p:cNvPr id="14" name="Icona TbPeace" descr="/home/claude/work/build/img/ic/TbPeace-g.png">    </p:cNvPr>
          <p:cNvPicPr>
            <a:picLocks noChangeAspect="1"/>
          </p:cNvPicPr>
          <p:nvPr/>
        </p:nvPicPr>
        <p:blipFill>
          <a:blip r:embed="rId3"/>
          <a:stretch>
            <a:fillRect/>
          </a:stretch>
        </p:blipFill>
        <p:spPr>
          <a:xfrm>
            <a:off x="5907024" y="3959352"/>
            <a:ext cx="256032" cy="256032"/>
          </a:xfrm>
          <a:prstGeom prst="rect">
            <a:avLst/>
          </a:prstGeom>
        </p:spPr>
      </p:pic>
      <p:sp>
        <p:nvSpPr>
          <p:cNvPr id="15" name="Text 10"/>
          <p:cNvSpPr txBox="1"/>
          <p:nvPr/>
        </p:nvSpPr>
        <p:spPr>
          <a:xfrm>
            <a:off x="6464808" y="3858768"/>
            <a:ext cx="5178247" cy="566928"/>
          </a:xfrm>
          <a:prstGeom prst="rect">
            <a:avLst/>
          </a:prstGeom>
          <a:noFill/>
          <a:ln/>
        </p:spPr>
        <p:txBody>
          <a:bodyPr wrap="square" lIns="0" tIns="0" rIns="0" bIns="0" rtlCol="0" anchor="ctr"/>
          <a:lstStyle/>
          <a:p>
            <a:pPr indent="0" marL="0">
              <a:buNone/>
            </a:pPr>
            <a:r>
              <a:rPr lang="en-US" sz="1500" b="1" dirty="0">
                <a:solidFill>
                  <a:srgbClr val="202124"/>
                </a:solidFill>
                <a:latin typeface="Roboto" pitchFamily="34" charset="0"/>
                <a:ea typeface="Roboto" pitchFamily="34" charset="-122"/>
                <a:cs typeface="Roboto" pitchFamily="34" charset="-120"/>
              </a:rPr>
              <a:t>La treva sagrada. </a:t>
            </a:r>
            <a:pPr indent="0" marL="0">
              <a:buNone/>
            </a:pPr>
            <a:r>
              <a:rPr lang="en-US" sz="1500" dirty="0">
                <a:solidFill>
                  <a:srgbClr val="202124"/>
                </a:solidFill>
                <a:latin typeface="Roboto" pitchFamily="34" charset="0"/>
                <a:ea typeface="Roboto" pitchFamily="34" charset="-122"/>
                <a:cs typeface="Roboto" pitchFamily="34" charset="-120"/>
              </a:rPr>
              <a:t>Les guerres s'aturaven perquè tothom pogués viatjar segur.</a:t>
            </a:r>
            <a:endParaRPr lang="en-US" sz="1500" dirty="0"/>
          </a:p>
        </p:txBody>
      </p:sp>
      <p:sp>
        <p:nvSpPr>
          <p:cNvPr id="16" name="Cercle icona"/>
          <p:cNvSpPr/>
          <p:nvPr/>
        </p:nvSpPr>
        <p:spPr>
          <a:xfrm>
            <a:off x="5806440" y="4517136"/>
            <a:ext cx="457200" cy="457200"/>
          </a:xfrm>
          <a:prstGeom prst="ellipse">
            <a:avLst/>
          </a:prstGeom>
          <a:solidFill>
            <a:srgbClr val="E6F4EA"/>
          </a:solidFill>
          <a:ln/>
        </p:spPr>
      </p:sp>
      <p:pic>
        <p:nvPicPr>
          <p:cNvPr id="17" name="Icona TbLaurelWreath" descr="/home/claude/work/build/img/ic/TbLaurelWreath-g.png">    </p:cNvPr>
          <p:cNvPicPr>
            <a:picLocks noChangeAspect="1"/>
          </p:cNvPicPr>
          <p:nvPr/>
        </p:nvPicPr>
        <p:blipFill>
          <a:blip r:embed="rId4"/>
          <a:stretch>
            <a:fillRect/>
          </a:stretch>
        </p:blipFill>
        <p:spPr>
          <a:xfrm>
            <a:off x="5907024" y="4617720"/>
            <a:ext cx="256032" cy="256032"/>
          </a:xfrm>
          <a:prstGeom prst="rect">
            <a:avLst/>
          </a:prstGeom>
        </p:spPr>
      </p:pic>
      <p:sp>
        <p:nvSpPr>
          <p:cNvPr id="18" name="Text 12"/>
          <p:cNvSpPr txBox="1"/>
          <p:nvPr/>
        </p:nvSpPr>
        <p:spPr>
          <a:xfrm>
            <a:off x="6464808" y="4517136"/>
            <a:ext cx="5178247" cy="566928"/>
          </a:xfrm>
          <a:prstGeom prst="rect">
            <a:avLst/>
          </a:prstGeom>
          <a:noFill/>
          <a:ln/>
        </p:spPr>
        <p:txBody>
          <a:bodyPr wrap="square" lIns="0" tIns="0" rIns="0" bIns="0" rtlCol="0" anchor="ctr"/>
          <a:lstStyle/>
          <a:p>
            <a:pPr indent="0" marL="0">
              <a:buNone/>
            </a:pPr>
            <a:r>
              <a:rPr lang="en-US" sz="1500" b="1" dirty="0">
                <a:solidFill>
                  <a:srgbClr val="202124"/>
                </a:solidFill>
                <a:latin typeface="Roboto" pitchFamily="34" charset="0"/>
                <a:ea typeface="Roboto" pitchFamily="34" charset="-122"/>
                <a:cs typeface="Roboto" pitchFamily="34" charset="-120"/>
              </a:rPr>
              <a:t>El premi. </a:t>
            </a:r>
            <a:pPr indent="0" marL="0">
              <a:buNone/>
            </a:pPr>
            <a:r>
              <a:rPr lang="en-US" sz="1500" dirty="0">
                <a:solidFill>
                  <a:srgbClr val="202124"/>
                </a:solidFill>
                <a:latin typeface="Roboto" pitchFamily="34" charset="0"/>
                <a:ea typeface="Roboto" pitchFamily="34" charset="-122"/>
                <a:cs typeface="Roboto" pitchFamily="34" charset="-120"/>
              </a:rPr>
              <a:t>Una corona d'olivera… i tornar a casa com un heroi.</a:t>
            </a:r>
            <a:endParaRPr lang="en-US" sz="1500" dirty="0"/>
          </a:p>
        </p:txBody>
      </p:sp>
      <p:sp>
        <p:nvSpPr>
          <p:cNvPr id="19" name="Saps que…?"/>
          <p:cNvSpPr/>
          <p:nvPr/>
        </p:nvSpPr>
        <p:spPr>
          <a:xfrm>
            <a:off x="548640" y="5193792"/>
            <a:ext cx="11094415" cy="804672"/>
          </a:xfrm>
          <a:prstGeom prst="roundRect">
            <a:avLst>
              <a:gd name="adj" fmla="val 12500"/>
            </a:avLst>
          </a:prstGeom>
          <a:solidFill>
            <a:srgbClr val="E6F4EA"/>
          </a:solidFill>
          <a:ln/>
        </p:spPr>
      </p:sp>
      <p:sp>
        <p:nvSpPr>
          <p:cNvPr id="20" name="Text 14"/>
          <p:cNvSpPr txBox="1"/>
          <p:nvPr/>
        </p:nvSpPr>
        <p:spPr>
          <a:xfrm>
            <a:off x="868680" y="5349240"/>
            <a:ext cx="1045433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Saps que…?</a:t>
            </a:r>
            <a:endParaRPr lang="en-US" sz="1400" dirty="0"/>
          </a:p>
        </p:txBody>
      </p:sp>
      <p:sp>
        <p:nvSpPr>
          <p:cNvPr id="21" name="Text 15"/>
          <p:cNvSpPr txBox="1"/>
          <p:nvPr/>
        </p:nvSpPr>
        <p:spPr>
          <a:xfrm>
            <a:off x="868680" y="5696712"/>
            <a:ext cx="10454335" cy="164592"/>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Abans de cada olimpíada, la flama olímpica s'encén a Olímpia, davant les ruïnes del temple d'Hera, amb els raigs del sol.</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6</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Comprova-ho</a:t>
            </a:r>
            <a:endParaRPr lang="en-US" sz="2800" dirty="0"/>
          </a:p>
        </p:txBody>
      </p:sp>
      <p:sp>
        <p:nvSpPr>
          <p:cNvPr id="5" name="Text 3"/>
          <p:cNvSpPr txBox="1"/>
          <p:nvPr/>
        </p:nvSpPr>
        <p:spPr>
          <a:xfrm>
            <a:off x="548640" y="1371600"/>
            <a:ext cx="3657600" cy="320040"/>
          </a:xfrm>
          <a:prstGeom prst="rect">
            <a:avLst/>
          </a:prstGeom>
          <a:noFill/>
          <a:ln/>
        </p:spPr>
        <p:txBody>
          <a:bodyPr wrap="square" lIns="0" tIns="0" rIns="0" bIns="0" rtlCol="0" anchor="t"/>
          <a:lstStyle/>
          <a:p>
            <a:pPr indent="0" marL="0">
              <a:buNone/>
            </a:pPr>
            <a:r>
              <a:rPr lang="en-US" sz="1400" b="1" dirty="0">
                <a:solidFill>
                  <a:srgbClr val="5F6368"/>
                </a:solidFill>
                <a:latin typeface="Roboto" pitchFamily="34" charset="0"/>
                <a:ea typeface="Roboto" pitchFamily="34" charset="-122"/>
                <a:cs typeface="Roboto" pitchFamily="34" charset="-120"/>
              </a:rPr>
              <a:t>Paraules clau</a:t>
            </a:r>
            <a:endParaRPr lang="en-US" sz="1400" dirty="0"/>
          </a:p>
        </p:txBody>
      </p:sp>
      <p:sp>
        <p:nvSpPr>
          <p:cNvPr id="6" name="Etiqueta Politeisme"/>
          <p:cNvSpPr/>
          <p:nvPr/>
        </p:nvSpPr>
        <p:spPr>
          <a:xfrm>
            <a:off x="548640" y="1755648"/>
            <a:ext cx="1316736" cy="384048"/>
          </a:xfrm>
          <a:prstGeom prst="roundRect">
            <a:avLst>
              <a:gd name="adj" fmla="val 50000"/>
            </a:avLst>
          </a:prstGeom>
          <a:solidFill>
            <a:srgbClr val="E6F4EA"/>
          </a:solidFill>
          <a:ln/>
        </p:spPr>
      </p:sp>
      <p:sp>
        <p:nvSpPr>
          <p:cNvPr id="7" name="Text 5"/>
          <p:cNvSpPr txBox="1"/>
          <p:nvPr/>
        </p:nvSpPr>
        <p:spPr>
          <a:xfrm>
            <a:off x="548640" y="1755648"/>
            <a:ext cx="131673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Politeisme</a:t>
            </a:r>
            <a:endParaRPr lang="en-US" sz="1500" dirty="0"/>
          </a:p>
        </p:txBody>
      </p:sp>
      <p:sp>
        <p:nvSpPr>
          <p:cNvPr id="8" name="Etiqueta Antropomorf"/>
          <p:cNvSpPr/>
          <p:nvPr/>
        </p:nvSpPr>
        <p:spPr>
          <a:xfrm>
            <a:off x="1975104" y="1755648"/>
            <a:ext cx="1417320" cy="384048"/>
          </a:xfrm>
          <a:prstGeom prst="roundRect">
            <a:avLst>
              <a:gd name="adj" fmla="val 50000"/>
            </a:avLst>
          </a:prstGeom>
          <a:solidFill>
            <a:srgbClr val="E6F4EA"/>
          </a:solidFill>
          <a:ln/>
        </p:spPr>
      </p:sp>
      <p:sp>
        <p:nvSpPr>
          <p:cNvPr id="9" name="Text 7"/>
          <p:cNvSpPr txBox="1"/>
          <p:nvPr/>
        </p:nvSpPr>
        <p:spPr>
          <a:xfrm>
            <a:off x="1975104" y="1755648"/>
            <a:ext cx="1417320"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Antropomorf</a:t>
            </a:r>
            <a:endParaRPr lang="en-US" sz="1500" dirty="0"/>
          </a:p>
        </p:txBody>
      </p:sp>
      <p:sp>
        <p:nvSpPr>
          <p:cNvPr id="10" name="Etiqueta Olimp"/>
          <p:cNvSpPr/>
          <p:nvPr/>
        </p:nvSpPr>
        <p:spPr>
          <a:xfrm>
            <a:off x="3502152" y="1755648"/>
            <a:ext cx="813816" cy="384048"/>
          </a:xfrm>
          <a:prstGeom prst="roundRect">
            <a:avLst>
              <a:gd name="adj" fmla="val 50000"/>
            </a:avLst>
          </a:prstGeom>
          <a:solidFill>
            <a:srgbClr val="E6F4EA"/>
          </a:solidFill>
          <a:ln/>
        </p:spPr>
      </p:sp>
      <p:sp>
        <p:nvSpPr>
          <p:cNvPr id="11" name="Text 9"/>
          <p:cNvSpPr txBox="1"/>
          <p:nvPr/>
        </p:nvSpPr>
        <p:spPr>
          <a:xfrm>
            <a:off x="3502152" y="1755648"/>
            <a:ext cx="81381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Olimp</a:t>
            </a:r>
            <a:endParaRPr lang="en-US" sz="1500" dirty="0"/>
          </a:p>
        </p:txBody>
      </p:sp>
      <p:sp>
        <p:nvSpPr>
          <p:cNvPr id="12" name="Etiqueta Mite"/>
          <p:cNvSpPr/>
          <p:nvPr/>
        </p:nvSpPr>
        <p:spPr>
          <a:xfrm>
            <a:off x="4425696" y="1755648"/>
            <a:ext cx="713232" cy="384048"/>
          </a:xfrm>
          <a:prstGeom prst="roundRect">
            <a:avLst>
              <a:gd name="adj" fmla="val 50000"/>
            </a:avLst>
          </a:prstGeom>
          <a:solidFill>
            <a:srgbClr val="E6F4EA"/>
          </a:solidFill>
          <a:ln/>
        </p:spPr>
      </p:sp>
      <p:sp>
        <p:nvSpPr>
          <p:cNvPr id="13" name="Text 11"/>
          <p:cNvSpPr txBox="1"/>
          <p:nvPr/>
        </p:nvSpPr>
        <p:spPr>
          <a:xfrm>
            <a:off x="4425696" y="1755648"/>
            <a:ext cx="713232"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Mite</a:t>
            </a:r>
            <a:endParaRPr lang="en-US" sz="1500" dirty="0"/>
          </a:p>
        </p:txBody>
      </p:sp>
      <p:sp>
        <p:nvSpPr>
          <p:cNvPr id="14" name="Etiqueta Oracle"/>
          <p:cNvSpPr/>
          <p:nvPr/>
        </p:nvSpPr>
        <p:spPr>
          <a:xfrm>
            <a:off x="5248656" y="1755648"/>
            <a:ext cx="914400" cy="384048"/>
          </a:xfrm>
          <a:prstGeom prst="roundRect">
            <a:avLst>
              <a:gd name="adj" fmla="val 50000"/>
            </a:avLst>
          </a:prstGeom>
          <a:solidFill>
            <a:srgbClr val="E6F4EA"/>
          </a:solidFill>
          <a:ln/>
        </p:spPr>
      </p:sp>
      <p:sp>
        <p:nvSpPr>
          <p:cNvPr id="15" name="Text 13"/>
          <p:cNvSpPr txBox="1"/>
          <p:nvPr/>
        </p:nvSpPr>
        <p:spPr>
          <a:xfrm>
            <a:off x="5248656" y="1755648"/>
            <a:ext cx="914400"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Oracle</a:t>
            </a:r>
            <a:endParaRPr lang="en-US" sz="1500" dirty="0"/>
          </a:p>
        </p:txBody>
      </p:sp>
      <p:sp>
        <p:nvSpPr>
          <p:cNvPr id="16" name="Etiqueta Treva sagrada"/>
          <p:cNvSpPr/>
          <p:nvPr/>
        </p:nvSpPr>
        <p:spPr>
          <a:xfrm>
            <a:off x="6272784" y="1755648"/>
            <a:ext cx="1618488" cy="384048"/>
          </a:xfrm>
          <a:prstGeom prst="roundRect">
            <a:avLst>
              <a:gd name="adj" fmla="val 50000"/>
            </a:avLst>
          </a:prstGeom>
          <a:solidFill>
            <a:srgbClr val="E6F4EA"/>
          </a:solidFill>
          <a:ln/>
        </p:spPr>
      </p:sp>
      <p:sp>
        <p:nvSpPr>
          <p:cNvPr id="17" name="Text 15"/>
          <p:cNvSpPr txBox="1"/>
          <p:nvPr/>
        </p:nvSpPr>
        <p:spPr>
          <a:xfrm>
            <a:off x="6272784" y="1755648"/>
            <a:ext cx="1618488"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Treva sagrada</a:t>
            </a:r>
            <a:endParaRPr lang="en-US" sz="1500" dirty="0"/>
          </a:p>
        </p:txBody>
      </p:sp>
      <p:sp>
        <p:nvSpPr>
          <p:cNvPr id="18" name="Pregunta 1"/>
          <p:cNvSpPr/>
          <p:nvPr/>
        </p:nvSpPr>
        <p:spPr>
          <a:xfrm>
            <a:off x="548640" y="2514600"/>
            <a:ext cx="11094415" cy="960120"/>
          </a:xfrm>
          <a:prstGeom prst="roundRect">
            <a:avLst>
              <a:gd name="adj" fmla="val 10476"/>
            </a:avLst>
          </a:prstGeom>
          <a:solidFill>
            <a:srgbClr val="FFFFFF"/>
          </a:solidFill>
          <a:ln w="12700">
            <a:solidFill>
              <a:srgbClr val="DADCE0"/>
            </a:solidFill>
            <a:prstDash val="solid"/>
          </a:ln>
        </p:spPr>
      </p:sp>
      <p:sp>
        <p:nvSpPr>
          <p:cNvPr id="19" name="Número 1"/>
          <p:cNvSpPr/>
          <p:nvPr/>
        </p:nvSpPr>
        <p:spPr>
          <a:xfrm>
            <a:off x="822960" y="2766060"/>
            <a:ext cx="457200" cy="457200"/>
          </a:xfrm>
          <a:prstGeom prst="ellipse">
            <a:avLst/>
          </a:prstGeom>
          <a:solidFill>
            <a:srgbClr val="188038"/>
          </a:solidFill>
          <a:ln/>
        </p:spPr>
      </p:sp>
      <p:sp>
        <p:nvSpPr>
          <p:cNvPr id="20" name="Text 18"/>
          <p:cNvSpPr txBox="1"/>
          <p:nvPr/>
        </p:nvSpPr>
        <p:spPr>
          <a:xfrm>
            <a:off x="822960" y="27660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1</a:t>
            </a:r>
            <a:endParaRPr lang="en-US" sz="1700" dirty="0"/>
          </a:p>
        </p:txBody>
      </p:sp>
      <p:sp>
        <p:nvSpPr>
          <p:cNvPr id="21" name="Text 19"/>
          <p:cNvSpPr txBox="1"/>
          <p:nvPr/>
        </p:nvSpPr>
        <p:spPr>
          <a:xfrm>
            <a:off x="1508760" y="2514600"/>
            <a:ext cx="9905695" cy="960120"/>
          </a:xfrm>
          <a:prstGeom prst="rect">
            <a:avLst/>
          </a:prstGeom>
          <a:noFill/>
          <a:ln/>
        </p:spPr>
        <p:txBody>
          <a:bodyPr wrap="square" lIns="0" tIns="0" rIns="0" bIns="0" rtlCol="0" anchor="ctr"/>
          <a:lstStyle/>
          <a:p>
            <a:pPr indent="0" marL="0">
              <a:buNone/>
            </a:pPr>
            <a:r>
              <a:rPr lang="en-US" sz="2000" dirty="0">
                <a:solidFill>
                  <a:srgbClr val="202124"/>
                </a:solidFill>
                <a:latin typeface="Roboto" pitchFamily="34" charset="0"/>
                <a:ea typeface="Roboto" pitchFamily="34" charset="-122"/>
                <a:cs typeface="Roboto" pitchFamily="34" charset="-120"/>
              </a:rPr>
              <a:t>Què vol dir que els déus grecs eren antropomorfs?</a:t>
            </a:r>
            <a:endParaRPr lang="en-US" sz="2000" dirty="0"/>
          </a:p>
        </p:txBody>
      </p:sp>
      <p:sp>
        <p:nvSpPr>
          <p:cNvPr id="22" name="Pregunta 2"/>
          <p:cNvSpPr/>
          <p:nvPr/>
        </p:nvSpPr>
        <p:spPr>
          <a:xfrm>
            <a:off x="548640" y="3657600"/>
            <a:ext cx="11094415" cy="960120"/>
          </a:xfrm>
          <a:prstGeom prst="roundRect">
            <a:avLst>
              <a:gd name="adj" fmla="val 10476"/>
            </a:avLst>
          </a:prstGeom>
          <a:solidFill>
            <a:srgbClr val="FFFFFF"/>
          </a:solidFill>
          <a:ln w="12700">
            <a:solidFill>
              <a:srgbClr val="DADCE0"/>
            </a:solidFill>
            <a:prstDash val="solid"/>
          </a:ln>
        </p:spPr>
      </p:sp>
      <p:sp>
        <p:nvSpPr>
          <p:cNvPr id="23" name="Número 2"/>
          <p:cNvSpPr/>
          <p:nvPr/>
        </p:nvSpPr>
        <p:spPr>
          <a:xfrm>
            <a:off x="822960" y="3909060"/>
            <a:ext cx="457200" cy="457200"/>
          </a:xfrm>
          <a:prstGeom prst="ellipse">
            <a:avLst/>
          </a:prstGeom>
          <a:solidFill>
            <a:srgbClr val="188038"/>
          </a:solidFill>
          <a:ln/>
        </p:spPr>
      </p:sp>
      <p:sp>
        <p:nvSpPr>
          <p:cNvPr id="24" name="Text 22"/>
          <p:cNvSpPr txBox="1"/>
          <p:nvPr/>
        </p:nvSpPr>
        <p:spPr>
          <a:xfrm>
            <a:off x="822960" y="39090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2</a:t>
            </a:r>
            <a:endParaRPr lang="en-US" sz="1700" dirty="0"/>
          </a:p>
        </p:txBody>
      </p:sp>
      <p:sp>
        <p:nvSpPr>
          <p:cNvPr id="25" name="Text 23"/>
          <p:cNvSpPr txBox="1"/>
          <p:nvPr/>
        </p:nvSpPr>
        <p:spPr>
          <a:xfrm>
            <a:off x="1508760" y="3657600"/>
            <a:ext cx="9905695" cy="960120"/>
          </a:xfrm>
          <a:prstGeom prst="rect">
            <a:avLst/>
          </a:prstGeom>
          <a:noFill/>
          <a:ln/>
        </p:spPr>
        <p:txBody>
          <a:bodyPr wrap="square" lIns="0" tIns="0" rIns="0" bIns="0" rtlCol="0" anchor="ctr"/>
          <a:lstStyle/>
          <a:p>
            <a:pPr indent="0" marL="0">
              <a:buNone/>
            </a:pPr>
            <a:r>
              <a:rPr lang="en-US" sz="2000" dirty="0">
                <a:solidFill>
                  <a:srgbClr val="202124"/>
                </a:solidFill>
                <a:latin typeface="Roboto" pitchFamily="34" charset="0"/>
                <a:ea typeface="Roboto" pitchFamily="34" charset="-122"/>
                <a:cs typeface="Roboto" pitchFamily="34" charset="-120"/>
              </a:rPr>
              <a:t>Per a què servia l'oracle de Delfos?</a:t>
            </a:r>
            <a:endParaRPr lang="en-US" sz="2000" dirty="0"/>
          </a:p>
        </p:txBody>
      </p:sp>
      <p:sp>
        <p:nvSpPr>
          <p:cNvPr id="26" name="Pregunta 3"/>
          <p:cNvSpPr/>
          <p:nvPr/>
        </p:nvSpPr>
        <p:spPr>
          <a:xfrm>
            <a:off x="548640" y="4800600"/>
            <a:ext cx="11094415" cy="960120"/>
          </a:xfrm>
          <a:prstGeom prst="roundRect">
            <a:avLst>
              <a:gd name="adj" fmla="val 10476"/>
            </a:avLst>
          </a:prstGeom>
          <a:solidFill>
            <a:srgbClr val="FFFFFF"/>
          </a:solidFill>
          <a:ln w="12700">
            <a:solidFill>
              <a:srgbClr val="DADCE0"/>
            </a:solidFill>
            <a:prstDash val="solid"/>
          </a:ln>
        </p:spPr>
      </p:sp>
      <p:sp>
        <p:nvSpPr>
          <p:cNvPr id="27" name="Número 3"/>
          <p:cNvSpPr/>
          <p:nvPr/>
        </p:nvSpPr>
        <p:spPr>
          <a:xfrm>
            <a:off x="822960" y="5052060"/>
            <a:ext cx="457200" cy="457200"/>
          </a:xfrm>
          <a:prstGeom prst="ellipse">
            <a:avLst/>
          </a:prstGeom>
          <a:solidFill>
            <a:srgbClr val="188038"/>
          </a:solidFill>
          <a:ln/>
        </p:spPr>
      </p:sp>
      <p:sp>
        <p:nvSpPr>
          <p:cNvPr id="28" name="Text 26"/>
          <p:cNvSpPr txBox="1"/>
          <p:nvPr/>
        </p:nvSpPr>
        <p:spPr>
          <a:xfrm>
            <a:off x="822960" y="50520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3</a:t>
            </a:r>
            <a:endParaRPr lang="en-US" sz="1700" dirty="0"/>
          </a:p>
        </p:txBody>
      </p:sp>
      <p:sp>
        <p:nvSpPr>
          <p:cNvPr id="29" name="Text 27"/>
          <p:cNvSpPr txBox="1"/>
          <p:nvPr/>
        </p:nvSpPr>
        <p:spPr>
          <a:xfrm>
            <a:off x="1508760" y="4800600"/>
            <a:ext cx="9905695" cy="960120"/>
          </a:xfrm>
          <a:prstGeom prst="rect">
            <a:avLst/>
          </a:prstGeom>
          <a:noFill/>
          <a:ln/>
        </p:spPr>
        <p:txBody>
          <a:bodyPr wrap="square" lIns="0" tIns="0" rIns="0" bIns="0" rtlCol="0" anchor="ctr"/>
          <a:lstStyle/>
          <a:p>
            <a:pPr indent="0" marL="0">
              <a:buNone/>
            </a:pPr>
            <a:r>
              <a:rPr lang="en-US" sz="2000" dirty="0">
                <a:solidFill>
                  <a:srgbClr val="202124"/>
                </a:solidFill>
                <a:latin typeface="Roboto" pitchFamily="34" charset="0"/>
                <a:ea typeface="Roboto" pitchFamily="34" charset="-122"/>
                <a:cs typeface="Roboto" pitchFamily="34" charset="-120"/>
              </a:rPr>
              <a:t>Què era la treva sagrada?</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Capçalera"/>
          <p:cNvSpPr/>
          <p:nvPr/>
        </p:nvSpPr>
        <p:spPr>
          <a:xfrm>
            <a:off x="548640" y="548640"/>
            <a:ext cx="6720840" cy="3657600"/>
          </a:xfrm>
          <a:prstGeom prst="roundRect">
            <a:avLst>
              <a:gd name="adj" fmla="val 2750"/>
            </a:avLst>
          </a:prstGeom>
          <a:solidFill>
            <a:srgbClr val="188038"/>
          </a:solidFill>
          <a:ln/>
        </p:spPr>
      </p:sp>
      <p:pic>
        <p:nvPicPr>
          <p:cNvPr id="3" name="Il·lustració d'un temple grec i el sol" descr="/home/claude/work/build/hero-crop.png">    </p:cNvPr>
          <p:cNvPicPr>
            <a:picLocks noChangeAspect="1"/>
          </p:cNvPicPr>
          <p:nvPr/>
        </p:nvPicPr>
        <p:blipFill>
          <a:blip r:embed="rId1"/>
          <a:stretch>
            <a:fillRect/>
          </a:stretch>
        </p:blipFill>
        <p:spPr>
          <a:xfrm>
            <a:off x="3520440" y="2395912"/>
            <a:ext cx="3566160" cy="1792040"/>
          </a:xfrm>
          <a:prstGeom prst="rect">
            <a:avLst/>
          </a:prstGeom>
        </p:spPr>
      </p:pic>
      <p:sp>
        <p:nvSpPr>
          <p:cNvPr id="4" name="Etiqueta Apartat 7"/>
          <p:cNvSpPr/>
          <p:nvPr/>
        </p:nvSpPr>
        <p:spPr>
          <a:xfrm>
            <a:off x="960120" y="896112"/>
            <a:ext cx="1035101" cy="310896"/>
          </a:xfrm>
          <a:prstGeom prst="roundRect">
            <a:avLst>
              <a:gd name="adj" fmla="val 50000"/>
            </a:avLst>
          </a:prstGeom>
          <a:solidFill>
            <a:srgbClr val="FFFFFF">
              <a:alpha val="18000"/>
            </a:srgbClr>
          </a:solidFill>
          <a:ln/>
        </p:spPr>
      </p:sp>
      <p:sp>
        <p:nvSpPr>
          <p:cNvPr id="5" name="Text 2"/>
          <p:cNvSpPr txBox="1"/>
          <p:nvPr/>
        </p:nvSpPr>
        <p:spPr>
          <a:xfrm>
            <a:off x="960120" y="896112"/>
            <a:ext cx="1035101" cy="310896"/>
          </a:xfrm>
          <a:prstGeom prst="rect">
            <a:avLst/>
          </a:prstGeom>
          <a:noFill/>
          <a:ln/>
        </p:spPr>
        <p:txBody>
          <a:bodyPr wrap="square" lIns="0" tIns="0" rIns="0" bIns="0" rtlCol="0" anchor="ctr"/>
          <a:lstStyle/>
          <a:p>
            <a:pPr algn="ctr" indent="0" marL="0">
              <a:buNone/>
            </a:pPr>
            <a:r>
              <a:rPr lang="en-US" sz="1250" dirty="0">
                <a:solidFill>
                  <a:srgbClr val="FFFFFF"/>
                </a:solidFill>
                <a:latin typeface="Roboto" pitchFamily="34" charset="0"/>
                <a:ea typeface="Roboto" pitchFamily="34" charset="-122"/>
                <a:cs typeface="Roboto" pitchFamily="34" charset="-120"/>
              </a:rPr>
              <a:t>Apartat 7</a:t>
            </a:r>
            <a:endParaRPr lang="en-US" sz="1250" dirty="0"/>
          </a:p>
        </p:txBody>
      </p:sp>
      <p:sp>
        <p:nvSpPr>
          <p:cNvPr id="6" name="Text 3"/>
          <p:cNvSpPr txBox="1"/>
          <p:nvPr/>
        </p:nvSpPr>
        <p:spPr>
          <a:xfrm>
            <a:off x="960120" y="1371600"/>
            <a:ext cx="5760720" cy="1280160"/>
          </a:xfrm>
          <a:prstGeom prst="rect">
            <a:avLst/>
          </a:prstGeom>
          <a:noFill/>
          <a:ln/>
        </p:spPr>
        <p:txBody>
          <a:bodyPr wrap="square" lIns="0" tIns="0" rIns="0" bIns="0" rtlCol="0" anchor="t"/>
          <a:lstStyle/>
          <a:p>
            <a:pPr indent="0" marL="0">
              <a:lnSpc>
                <a:spcPct val="95000"/>
              </a:lnSpc>
              <a:buNone/>
            </a:pPr>
            <a:r>
              <a:rPr lang="en-US" sz="3800" b="1" dirty="0">
                <a:solidFill>
                  <a:srgbClr val="FFFFFF"/>
                </a:solidFill>
                <a:latin typeface="Roboto" pitchFamily="34" charset="0"/>
                <a:ea typeface="Roboto" pitchFamily="34" charset="-122"/>
                <a:cs typeface="Roboto" pitchFamily="34" charset="-120"/>
              </a:rPr>
              <a:t>Filosofia, teatre i ciència</a:t>
            </a:r>
            <a:endParaRPr lang="en-US" sz="3800" dirty="0"/>
          </a:p>
        </p:txBody>
      </p:sp>
      <p:sp>
        <p:nvSpPr>
          <p:cNvPr id="7" name="Pregunta guia"/>
          <p:cNvSpPr/>
          <p:nvPr/>
        </p:nvSpPr>
        <p:spPr>
          <a:xfrm>
            <a:off x="548640" y="4389120"/>
            <a:ext cx="6720840" cy="1645920"/>
          </a:xfrm>
          <a:prstGeom prst="roundRect">
            <a:avLst>
              <a:gd name="adj" fmla="val 6111"/>
            </a:avLst>
          </a:prstGeom>
          <a:solidFill>
            <a:srgbClr val="F6F8FB"/>
          </a:solidFill>
          <a:ln/>
        </p:spPr>
      </p:sp>
      <p:sp>
        <p:nvSpPr>
          <p:cNvPr id="8" name="Text 5"/>
          <p:cNvSpPr txBox="1"/>
          <p:nvPr/>
        </p:nvSpPr>
        <p:spPr>
          <a:xfrm>
            <a:off x="914400" y="4590288"/>
            <a:ext cx="4572000" cy="320040"/>
          </a:xfrm>
          <a:prstGeom prst="rect">
            <a:avLst/>
          </a:prstGeom>
          <a:noFill/>
          <a:ln/>
        </p:spPr>
        <p:txBody>
          <a:bodyPr wrap="square" lIns="0" tIns="0" rIns="0" bIns="0" rtlCol="0" anchor="t"/>
          <a:lstStyle/>
          <a:p>
            <a:pPr indent="0" marL="0">
              <a:buNone/>
            </a:pPr>
            <a:r>
              <a:rPr lang="en-US" sz="1300" b="1" dirty="0">
                <a:solidFill>
                  <a:srgbClr val="188038"/>
                </a:solidFill>
                <a:latin typeface="Roboto" pitchFamily="34" charset="0"/>
                <a:ea typeface="Roboto" pitchFamily="34" charset="-122"/>
                <a:cs typeface="Roboto" pitchFamily="34" charset="-120"/>
              </a:rPr>
              <a:t>Pregunta guia</a:t>
            </a:r>
            <a:endParaRPr lang="en-US" sz="1300" dirty="0"/>
          </a:p>
        </p:txBody>
      </p:sp>
      <p:sp>
        <p:nvSpPr>
          <p:cNvPr id="9" name="Text 6"/>
          <p:cNvSpPr txBox="1"/>
          <p:nvPr/>
        </p:nvSpPr>
        <p:spPr>
          <a:xfrm>
            <a:off x="914400" y="4937760"/>
            <a:ext cx="6035040" cy="914400"/>
          </a:xfrm>
          <a:prstGeom prst="rect">
            <a:avLst/>
          </a:prstGeom>
          <a:noFill/>
          <a:ln/>
        </p:spPr>
        <p:txBody>
          <a:bodyPr wrap="square" lIns="0" tIns="0" rIns="0" bIns="0" rtlCol="0" anchor="t"/>
          <a:lstStyle/>
          <a:p>
            <a:pPr indent="0" marL="0">
              <a:buNone/>
            </a:pPr>
            <a:r>
              <a:rPr lang="en-US" sz="1900" dirty="0">
                <a:solidFill>
                  <a:srgbClr val="5F6368"/>
                </a:solidFill>
                <a:latin typeface="Roboto" pitchFamily="34" charset="0"/>
                <a:ea typeface="Roboto" pitchFamily="34" charset="-122"/>
                <a:cs typeface="Roboto" pitchFamily="34" charset="-120"/>
              </a:rPr>
              <a:t>Es pot entendre el món sense mites, només preguntant i raonant?</a:t>
            </a:r>
            <a:endParaRPr lang="en-US" sz="1900" dirty="0"/>
          </a:p>
        </p:txBody>
      </p:sp>
      <p:sp>
        <p:nvSpPr>
          <p:cNvPr id="10" name="Fons Filosofia, teatre i ciència"/>
          <p:cNvSpPr/>
          <p:nvPr/>
        </p:nvSpPr>
        <p:spPr>
          <a:xfrm>
            <a:off x="7635240" y="1559916"/>
            <a:ext cx="4007815" cy="2668319"/>
          </a:xfrm>
          <a:prstGeom prst="roundRect">
            <a:avLst>
              <a:gd name="adj" fmla="val 3770"/>
            </a:avLst>
          </a:prstGeom>
          <a:solidFill>
            <a:srgbClr val="F6F8FB"/>
          </a:solidFill>
          <a:ln/>
        </p:spPr>
      </p:sp>
      <p:pic>
        <p:nvPicPr>
          <p:cNvPr id="11" name="Filosofia, teatre i ciència" descr="/home/claude/work/build/img/epidaure.jpg">    </p:cNvPr>
          <p:cNvPicPr>
            <a:picLocks noChangeAspect="1"/>
          </p:cNvPicPr>
          <p:nvPr/>
        </p:nvPicPr>
        <p:blipFill>
          <a:blip r:embed="rId2"/>
          <a:stretch>
            <a:fillRect/>
          </a:stretch>
        </p:blipFill>
        <p:spPr>
          <a:xfrm>
            <a:off x="7635240" y="1559916"/>
            <a:ext cx="4007815" cy="2668319"/>
          </a:xfrm>
          <a:prstGeom prst="rect">
            <a:avLst/>
          </a:prstGeom>
        </p:spPr>
      </p:pic>
      <p:sp>
        <p:nvSpPr>
          <p:cNvPr id="12" name="Text 8"/>
          <p:cNvSpPr txBox="1"/>
          <p:nvPr/>
        </p:nvSpPr>
        <p:spPr>
          <a:xfrm>
            <a:off x="7635240" y="4337964"/>
            <a:ext cx="4007815"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El teatre d'Epidaure (Grècia), de la fi del segle IV aC. El cercle del fons és l'orquestra, on actuava el cor. Foto: Zde, Wikimedia Commons, CC BY-SA 4.0.</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7</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La filosofia. Atrevir-se a preguntar</a:t>
            </a:r>
            <a:endParaRPr lang="en-US" sz="2800" dirty="0"/>
          </a:p>
        </p:txBody>
      </p:sp>
      <p:sp>
        <p:nvSpPr>
          <p:cNvPr id="5" name="Paraula clau · Filosofia"/>
          <p:cNvSpPr/>
          <p:nvPr/>
        </p:nvSpPr>
        <p:spPr>
          <a:xfrm>
            <a:off x="548640" y="1371600"/>
            <a:ext cx="11094415" cy="1097280"/>
          </a:xfrm>
          <a:prstGeom prst="roundRect">
            <a:avLst>
              <a:gd name="adj" fmla="val 9167"/>
            </a:avLst>
          </a:prstGeom>
          <a:solidFill>
            <a:srgbClr val="E6F4EA"/>
          </a:solidFill>
          <a:ln/>
        </p:spPr>
      </p:sp>
      <p:sp>
        <p:nvSpPr>
          <p:cNvPr id="6" name="Text 4"/>
          <p:cNvSpPr txBox="1"/>
          <p:nvPr/>
        </p:nvSpPr>
        <p:spPr>
          <a:xfrm>
            <a:off x="868680" y="1527048"/>
            <a:ext cx="1045433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Paraula clau · Filosofia</a:t>
            </a:r>
            <a:endParaRPr lang="en-US" sz="1400" dirty="0"/>
          </a:p>
        </p:txBody>
      </p:sp>
      <p:sp>
        <p:nvSpPr>
          <p:cNvPr id="7" name="Text 5"/>
          <p:cNvSpPr txBox="1"/>
          <p:nvPr/>
        </p:nvSpPr>
        <p:spPr>
          <a:xfrm>
            <a:off x="868680" y="1874520"/>
            <a:ext cx="10454335" cy="45720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Intent d'explicar el món i la vida humana fent servir la raó en lloc dels mites. Literalment vol dir «amor a la saviesa».</a:t>
            </a:r>
            <a:endParaRPr lang="en-US" sz="1700" dirty="0"/>
          </a:p>
        </p:txBody>
      </p:sp>
      <p:sp>
        <p:nvSpPr>
          <p:cNvPr id="8" name="Text 6"/>
          <p:cNvSpPr txBox="1"/>
          <p:nvPr/>
        </p:nvSpPr>
        <p:spPr>
          <a:xfrm>
            <a:off x="548640" y="2670048"/>
            <a:ext cx="11094415" cy="365760"/>
          </a:xfrm>
          <a:prstGeom prst="rect">
            <a:avLst/>
          </a:prstGeom>
          <a:noFill/>
          <a:ln/>
        </p:spPr>
        <p:txBody>
          <a:bodyPr wrap="square" lIns="0" tIns="0" rIns="0" bIns="0" rtlCol="0" anchor="t"/>
          <a:lstStyle/>
          <a:p>
            <a:pPr indent="0" marL="0">
              <a:buNone/>
            </a:pPr>
            <a:r>
              <a:rPr lang="en-US" sz="1800" b="1" dirty="0">
                <a:solidFill>
                  <a:srgbClr val="188038"/>
                </a:solidFill>
                <a:latin typeface="Roboto" pitchFamily="34" charset="0"/>
                <a:ea typeface="Roboto" pitchFamily="34" charset="-122"/>
                <a:cs typeface="Roboto" pitchFamily="34" charset="-120"/>
              </a:rPr>
              <a:t>Els primers filòsofs</a:t>
            </a:r>
            <a:endParaRPr lang="en-US" sz="1800" dirty="0"/>
          </a:p>
        </p:txBody>
      </p:sp>
      <p:sp>
        <p:nvSpPr>
          <p:cNvPr id="9" name="Targeta Tales de Milet (segle VI aC)"/>
          <p:cNvSpPr/>
          <p:nvPr/>
        </p:nvSpPr>
        <p:spPr>
          <a:xfrm>
            <a:off x="548640" y="3108960"/>
            <a:ext cx="5410048" cy="2880360"/>
          </a:xfrm>
          <a:prstGeom prst="roundRect">
            <a:avLst>
              <a:gd name="adj" fmla="val 3492"/>
            </a:avLst>
          </a:prstGeom>
          <a:solidFill>
            <a:srgbClr val="FFFFFF"/>
          </a:solidFill>
          <a:ln w="12700">
            <a:solidFill>
              <a:srgbClr val="DADCE0"/>
            </a:solidFill>
            <a:prstDash val="solid"/>
          </a:ln>
        </p:spPr>
      </p:sp>
      <p:sp>
        <p:nvSpPr>
          <p:cNvPr id="10" name="Cercle icona"/>
          <p:cNvSpPr/>
          <p:nvPr/>
        </p:nvSpPr>
        <p:spPr>
          <a:xfrm>
            <a:off x="777240" y="3337560"/>
            <a:ext cx="640080" cy="640080"/>
          </a:xfrm>
          <a:prstGeom prst="ellipse">
            <a:avLst/>
          </a:prstGeom>
          <a:solidFill>
            <a:srgbClr val="E6F4EA"/>
          </a:solidFill>
          <a:ln/>
        </p:spPr>
      </p:sp>
      <p:pic>
        <p:nvPicPr>
          <p:cNvPr id="11" name="Icona TbDroplet" descr="/home/claude/work/build/img/ic/TbDroplet-g.png">    </p:cNvPr>
          <p:cNvPicPr>
            <a:picLocks noChangeAspect="1"/>
          </p:cNvPicPr>
          <p:nvPr/>
        </p:nvPicPr>
        <p:blipFill>
          <a:blip r:embed="rId1"/>
          <a:stretch>
            <a:fillRect/>
          </a:stretch>
        </p:blipFill>
        <p:spPr>
          <a:xfrm>
            <a:off x="918058" y="3478378"/>
            <a:ext cx="358445" cy="358445"/>
          </a:xfrm>
          <a:prstGeom prst="rect">
            <a:avLst/>
          </a:prstGeom>
        </p:spPr>
      </p:pic>
      <p:sp>
        <p:nvSpPr>
          <p:cNvPr id="12" name="Text 9"/>
          <p:cNvSpPr txBox="1"/>
          <p:nvPr/>
        </p:nvSpPr>
        <p:spPr>
          <a:xfrm>
            <a:off x="1554480" y="3337560"/>
            <a:ext cx="4175608" cy="640080"/>
          </a:xfrm>
          <a:prstGeom prst="rect">
            <a:avLst/>
          </a:prstGeom>
          <a:noFill/>
          <a:ln/>
        </p:spPr>
        <p:txBody>
          <a:bodyPr wrap="square" lIns="0" tIns="0" rIns="0" bIns="0" rtlCol="0" anchor="ctr"/>
          <a:lstStyle/>
          <a:p>
            <a:pPr indent="0" marL="0">
              <a:buNone/>
            </a:pPr>
            <a:r>
              <a:rPr lang="en-US" sz="1900" b="1" dirty="0">
                <a:solidFill>
                  <a:srgbClr val="188038"/>
                </a:solidFill>
                <a:latin typeface="Roboto" pitchFamily="34" charset="0"/>
                <a:ea typeface="Roboto" pitchFamily="34" charset="-122"/>
                <a:cs typeface="Roboto" pitchFamily="34" charset="-120"/>
              </a:rPr>
              <a:t>Tales de Milet (segle VI aC)</a:t>
            </a:r>
            <a:endParaRPr lang="en-US" sz="1900" dirty="0"/>
          </a:p>
        </p:txBody>
      </p:sp>
      <p:sp>
        <p:nvSpPr>
          <p:cNvPr id="13" name="Text 10"/>
          <p:cNvSpPr txBox="1"/>
          <p:nvPr/>
        </p:nvSpPr>
        <p:spPr>
          <a:xfrm>
            <a:off x="777240" y="4114800"/>
            <a:ext cx="4952848" cy="1737360"/>
          </a:xfrm>
          <a:prstGeom prst="rect">
            <a:avLst/>
          </a:prstGeom>
          <a:noFill/>
          <a:ln/>
        </p:spPr>
        <p:txBody>
          <a:bodyPr wrap="square" lIns="0" tIns="0" rIns="0" bIns="0" rtlCol="0" anchor="t"/>
          <a:lstStyle/>
          <a:p>
            <a:pPr indent="0" marL="0">
              <a:buNone/>
            </a:pPr>
            <a:r>
              <a:rPr lang="en-US" sz="1650" dirty="0">
                <a:solidFill>
                  <a:srgbClr val="202124"/>
                </a:solidFill>
                <a:latin typeface="Roboto" pitchFamily="34" charset="0"/>
                <a:ea typeface="Roboto" pitchFamily="34" charset="-122"/>
                <a:cs typeface="Roboto" pitchFamily="34" charset="-120"/>
              </a:rPr>
              <a:t>Es preguntava de què està fet el món i va respondre que tot ve de l'aigua. S'equivocava, però buscava una causa natural, que es podia discutir i comprovar, en lloc de dir que ho havien fet els déus.</a:t>
            </a:r>
            <a:endParaRPr lang="en-US" sz="1650" dirty="0"/>
          </a:p>
        </p:txBody>
      </p:sp>
      <p:sp>
        <p:nvSpPr>
          <p:cNvPr id="14" name="Targeta Demòcrit (un segle després)"/>
          <p:cNvSpPr/>
          <p:nvPr/>
        </p:nvSpPr>
        <p:spPr>
          <a:xfrm>
            <a:off x="6233008" y="3108960"/>
            <a:ext cx="5410048" cy="2880360"/>
          </a:xfrm>
          <a:prstGeom prst="roundRect">
            <a:avLst>
              <a:gd name="adj" fmla="val 3492"/>
            </a:avLst>
          </a:prstGeom>
          <a:solidFill>
            <a:srgbClr val="FFFFFF"/>
          </a:solidFill>
          <a:ln w="12700">
            <a:solidFill>
              <a:srgbClr val="DADCE0"/>
            </a:solidFill>
            <a:prstDash val="solid"/>
          </a:ln>
        </p:spPr>
      </p:sp>
      <p:sp>
        <p:nvSpPr>
          <p:cNvPr id="15" name="Cercle icona"/>
          <p:cNvSpPr/>
          <p:nvPr/>
        </p:nvSpPr>
        <p:spPr>
          <a:xfrm>
            <a:off x="6461608" y="3337560"/>
            <a:ext cx="640080" cy="640080"/>
          </a:xfrm>
          <a:prstGeom prst="ellipse">
            <a:avLst/>
          </a:prstGeom>
          <a:solidFill>
            <a:srgbClr val="E6F4EA"/>
          </a:solidFill>
          <a:ln/>
        </p:spPr>
      </p:sp>
      <p:pic>
        <p:nvPicPr>
          <p:cNvPr id="16" name="Icona TbAtom" descr="/home/claude/work/build/img/ic/TbAtom-g.png">    </p:cNvPr>
          <p:cNvPicPr>
            <a:picLocks noChangeAspect="1"/>
          </p:cNvPicPr>
          <p:nvPr/>
        </p:nvPicPr>
        <p:blipFill>
          <a:blip r:embed="rId2"/>
          <a:stretch>
            <a:fillRect/>
          </a:stretch>
        </p:blipFill>
        <p:spPr>
          <a:xfrm>
            <a:off x="6602425" y="3478378"/>
            <a:ext cx="358445" cy="358445"/>
          </a:xfrm>
          <a:prstGeom prst="rect">
            <a:avLst/>
          </a:prstGeom>
        </p:spPr>
      </p:pic>
      <p:sp>
        <p:nvSpPr>
          <p:cNvPr id="17" name="Text 13"/>
          <p:cNvSpPr txBox="1"/>
          <p:nvPr/>
        </p:nvSpPr>
        <p:spPr>
          <a:xfrm>
            <a:off x="7238848" y="3337560"/>
            <a:ext cx="4175608" cy="640080"/>
          </a:xfrm>
          <a:prstGeom prst="rect">
            <a:avLst/>
          </a:prstGeom>
          <a:noFill/>
          <a:ln/>
        </p:spPr>
        <p:txBody>
          <a:bodyPr wrap="square" lIns="0" tIns="0" rIns="0" bIns="0" rtlCol="0" anchor="ctr"/>
          <a:lstStyle/>
          <a:p>
            <a:pPr indent="0" marL="0">
              <a:buNone/>
            </a:pPr>
            <a:r>
              <a:rPr lang="en-US" sz="1900" b="1" dirty="0">
                <a:solidFill>
                  <a:srgbClr val="188038"/>
                </a:solidFill>
                <a:latin typeface="Roboto" pitchFamily="34" charset="0"/>
                <a:ea typeface="Roboto" pitchFamily="34" charset="-122"/>
                <a:cs typeface="Roboto" pitchFamily="34" charset="-120"/>
              </a:rPr>
              <a:t>Demòcrit (un segle després)</a:t>
            </a:r>
            <a:endParaRPr lang="en-US" sz="1900" dirty="0"/>
          </a:p>
        </p:txBody>
      </p:sp>
      <p:sp>
        <p:nvSpPr>
          <p:cNvPr id="18" name="Text 14"/>
          <p:cNvSpPr txBox="1"/>
          <p:nvPr/>
        </p:nvSpPr>
        <p:spPr>
          <a:xfrm>
            <a:off x="6461608" y="4114800"/>
            <a:ext cx="4952848" cy="1737360"/>
          </a:xfrm>
          <a:prstGeom prst="rect">
            <a:avLst/>
          </a:prstGeom>
          <a:noFill/>
          <a:ln/>
        </p:spPr>
        <p:txBody>
          <a:bodyPr wrap="square" lIns="0" tIns="0" rIns="0" bIns="0" rtlCol="0" anchor="t"/>
          <a:lstStyle/>
          <a:p>
            <a:pPr indent="0" marL="0">
              <a:buNone/>
            </a:pPr>
            <a:r>
              <a:rPr lang="en-US" sz="1650" dirty="0">
                <a:solidFill>
                  <a:srgbClr val="202124"/>
                </a:solidFill>
                <a:latin typeface="Roboto" pitchFamily="34" charset="0"/>
                <a:ea typeface="Roboto" pitchFamily="34" charset="-122"/>
                <a:cs typeface="Roboto" pitchFamily="34" charset="-120"/>
              </a:rPr>
              <a:t>Va dir que tot està fet de partícules petitíssimes i indivisibles, els àtoms. És una paraula grega que vol dir «que no es pot tallar».</a:t>
            </a:r>
            <a:endParaRPr lang="en-US" sz="16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7</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Sòcrates, Plató i Aristòtil</a:t>
            </a:r>
            <a:endParaRPr lang="en-US" sz="2800" dirty="0"/>
          </a:p>
        </p:txBody>
      </p:sp>
      <p:sp>
        <p:nvSpPr>
          <p:cNvPr id="5" name="Text 3"/>
          <p:cNvSpPr txBox="1"/>
          <p:nvPr/>
        </p:nvSpPr>
        <p:spPr>
          <a:xfrm>
            <a:off x="548640" y="1371600"/>
            <a:ext cx="11094415" cy="548640"/>
          </a:xfrm>
          <a:prstGeom prst="rect">
            <a:avLst/>
          </a:prstGeom>
          <a:noFill/>
          <a:ln/>
        </p:spPr>
        <p:txBody>
          <a:bodyPr wrap="square" lIns="0" tIns="0" rIns="0" bIns="0" rtlCol="0" anchor="t"/>
          <a:lstStyle/>
          <a:p>
            <a:pPr indent="0" marL="0">
              <a:buNone/>
            </a:pPr>
            <a:r>
              <a:rPr lang="en-US" sz="1600" dirty="0">
                <a:solidFill>
                  <a:srgbClr val="202124"/>
                </a:solidFill>
                <a:latin typeface="Roboto" pitchFamily="34" charset="0"/>
                <a:ea typeface="Roboto" pitchFamily="34" charset="-122"/>
                <a:cs typeface="Roboto" pitchFamily="34" charset="-120"/>
              </a:rPr>
              <a:t>Al segle V aC, Atenes es va convertir en el centre de la filosofia. Els tres grans noms són una cadena de mestre i deixeble.</a:t>
            </a:r>
            <a:endParaRPr lang="en-US" sz="1600" dirty="0"/>
          </a:p>
        </p:txBody>
      </p:sp>
      <p:sp>
        <p:nvSpPr>
          <p:cNvPr id="6" name="Fons Còpia romana"/>
          <p:cNvSpPr/>
          <p:nvPr/>
        </p:nvSpPr>
        <p:spPr>
          <a:xfrm>
            <a:off x="548640" y="1965960"/>
            <a:ext cx="3423818" cy="2011680"/>
          </a:xfrm>
          <a:prstGeom prst="roundRect">
            <a:avLst>
              <a:gd name="adj" fmla="val 5000"/>
            </a:avLst>
          </a:prstGeom>
          <a:solidFill>
            <a:srgbClr val="F6F8FB"/>
          </a:solidFill>
          <a:ln/>
        </p:spPr>
      </p:sp>
      <p:pic>
        <p:nvPicPr>
          <p:cNvPr id="7" name="Còpia romana" descr="/home/claude/work/build/img/socrates.jpg">    </p:cNvPr>
          <p:cNvPicPr>
            <a:picLocks noChangeAspect="1"/>
          </p:cNvPicPr>
          <p:nvPr/>
        </p:nvPicPr>
        <p:blipFill>
          <a:blip r:embed="rId1"/>
          <a:stretch>
            <a:fillRect/>
          </a:stretch>
        </p:blipFill>
        <p:spPr>
          <a:xfrm>
            <a:off x="1506169" y="1965960"/>
            <a:ext cx="1508760" cy="2011680"/>
          </a:xfrm>
          <a:prstGeom prst="rect">
            <a:avLst/>
          </a:prstGeom>
        </p:spPr>
      </p:pic>
      <p:sp>
        <p:nvSpPr>
          <p:cNvPr id="8" name="Text 5"/>
          <p:cNvSpPr txBox="1"/>
          <p:nvPr/>
        </p:nvSpPr>
        <p:spPr>
          <a:xfrm>
            <a:off x="548640" y="4069080"/>
            <a:ext cx="3423818"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Còpia romana. Museu del Louvre. Foto: Eric Gaba, Wikimedia Commons, domini públic.</a:t>
            </a:r>
            <a:endParaRPr lang="en-US" sz="1000" dirty="0"/>
          </a:p>
        </p:txBody>
      </p:sp>
      <p:sp>
        <p:nvSpPr>
          <p:cNvPr id="9" name="Text 6"/>
          <p:cNvSpPr txBox="1"/>
          <p:nvPr/>
        </p:nvSpPr>
        <p:spPr>
          <a:xfrm>
            <a:off x="548640" y="4526280"/>
            <a:ext cx="3423818" cy="365760"/>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Sòcrates</a:t>
            </a:r>
            <a:endParaRPr lang="en-US" sz="1900" dirty="0"/>
          </a:p>
        </p:txBody>
      </p:sp>
      <p:sp>
        <p:nvSpPr>
          <p:cNvPr id="10" name="Text 7"/>
          <p:cNvSpPr txBox="1"/>
          <p:nvPr/>
        </p:nvSpPr>
        <p:spPr>
          <a:xfrm>
            <a:off x="548640" y="4892040"/>
            <a:ext cx="3423818" cy="109728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Ensenyava fent preguntes pels carrers d'Atenes. Va ser condemnat a mort per «corrompre el jovent».</a:t>
            </a:r>
            <a:endParaRPr lang="en-US" sz="1450" dirty="0"/>
          </a:p>
        </p:txBody>
      </p:sp>
      <p:sp>
        <p:nvSpPr>
          <p:cNvPr id="11" name="Fletxa"/>
          <p:cNvSpPr/>
          <p:nvPr/>
        </p:nvSpPr>
        <p:spPr>
          <a:xfrm>
            <a:off x="4091330" y="2834640"/>
            <a:ext cx="182880" cy="274320"/>
          </a:xfrm>
          <a:prstGeom prst="chevron">
            <a:avLst/>
          </a:prstGeom>
          <a:solidFill>
            <a:srgbClr val="188038"/>
          </a:solidFill>
          <a:ln/>
        </p:spPr>
      </p:sp>
      <p:sp>
        <p:nvSpPr>
          <p:cNvPr id="12" name="Fons Còpia romana d'un original de Silanió"/>
          <p:cNvSpPr/>
          <p:nvPr/>
        </p:nvSpPr>
        <p:spPr>
          <a:xfrm>
            <a:off x="4383938" y="1965960"/>
            <a:ext cx="3423818" cy="2011680"/>
          </a:xfrm>
          <a:prstGeom prst="roundRect">
            <a:avLst>
              <a:gd name="adj" fmla="val 5000"/>
            </a:avLst>
          </a:prstGeom>
          <a:solidFill>
            <a:srgbClr val="F6F8FB"/>
          </a:solidFill>
          <a:ln/>
        </p:spPr>
      </p:sp>
      <p:pic>
        <p:nvPicPr>
          <p:cNvPr id="13" name="Còpia romana d'un original de Silanió" descr="/home/claude/work/build/img/plato.jpg">    </p:cNvPr>
          <p:cNvPicPr>
            <a:picLocks noChangeAspect="1"/>
          </p:cNvPicPr>
          <p:nvPr/>
        </p:nvPicPr>
        <p:blipFill>
          <a:blip r:embed="rId2"/>
          <a:stretch>
            <a:fillRect/>
          </a:stretch>
        </p:blipFill>
        <p:spPr>
          <a:xfrm>
            <a:off x="5380695" y="1965960"/>
            <a:ext cx="1430304" cy="2011680"/>
          </a:xfrm>
          <a:prstGeom prst="rect">
            <a:avLst/>
          </a:prstGeom>
        </p:spPr>
      </p:pic>
      <p:sp>
        <p:nvSpPr>
          <p:cNvPr id="14" name="Text 10"/>
          <p:cNvSpPr txBox="1"/>
          <p:nvPr/>
        </p:nvSpPr>
        <p:spPr>
          <a:xfrm>
            <a:off x="4383938" y="4069080"/>
            <a:ext cx="3423818"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Còpia romana d'un original de Silanió. Museus Capitolins, Roma. Foto: Marie-Lan Nguyen, domini públic.</a:t>
            </a:r>
            <a:endParaRPr lang="en-US" sz="1000" dirty="0"/>
          </a:p>
        </p:txBody>
      </p:sp>
      <p:sp>
        <p:nvSpPr>
          <p:cNvPr id="15" name="Text 11"/>
          <p:cNvSpPr txBox="1"/>
          <p:nvPr/>
        </p:nvSpPr>
        <p:spPr>
          <a:xfrm>
            <a:off x="4383938" y="4526280"/>
            <a:ext cx="3423818" cy="365760"/>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Plató</a:t>
            </a:r>
            <a:endParaRPr lang="en-US" sz="1900" dirty="0"/>
          </a:p>
        </p:txBody>
      </p:sp>
      <p:sp>
        <p:nvSpPr>
          <p:cNvPr id="16" name="Text 12"/>
          <p:cNvSpPr txBox="1"/>
          <p:nvPr/>
        </p:nvSpPr>
        <p:spPr>
          <a:xfrm>
            <a:off x="4383938" y="4892040"/>
            <a:ext cx="3423818" cy="109728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Deixeble de Sòcrates. Va fundar l'Acadèmia, la primera gran escola de filosofia.</a:t>
            </a:r>
            <a:endParaRPr lang="en-US" sz="1450" dirty="0"/>
          </a:p>
        </p:txBody>
      </p:sp>
      <p:sp>
        <p:nvSpPr>
          <p:cNvPr id="17" name="Fletxa"/>
          <p:cNvSpPr/>
          <p:nvPr/>
        </p:nvSpPr>
        <p:spPr>
          <a:xfrm>
            <a:off x="7926629" y="2834640"/>
            <a:ext cx="182880" cy="274320"/>
          </a:xfrm>
          <a:prstGeom prst="chevron">
            <a:avLst/>
          </a:prstGeom>
          <a:solidFill>
            <a:srgbClr val="188038"/>
          </a:solidFill>
          <a:ln/>
        </p:spPr>
      </p:sp>
      <p:sp>
        <p:nvSpPr>
          <p:cNvPr id="18" name="Fons Còpia romana d'un original de Lisip"/>
          <p:cNvSpPr/>
          <p:nvPr/>
        </p:nvSpPr>
        <p:spPr>
          <a:xfrm>
            <a:off x="8219237" y="1965960"/>
            <a:ext cx="3423818" cy="2011680"/>
          </a:xfrm>
          <a:prstGeom prst="roundRect">
            <a:avLst>
              <a:gd name="adj" fmla="val 5000"/>
            </a:avLst>
          </a:prstGeom>
          <a:solidFill>
            <a:srgbClr val="F6F8FB"/>
          </a:solidFill>
          <a:ln/>
        </p:spPr>
      </p:sp>
      <p:pic>
        <p:nvPicPr>
          <p:cNvPr id="19" name="Còpia romana d'un original de Lisip" descr="/home/claude/work/build/img/aristotil.jpg">    </p:cNvPr>
          <p:cNvPicPr>
            <a:picLocks noChangeAspect="1"/>
          </p:cNvPicPr>
          <p:nvPr/>
        </p:nvPicPr>
        <p:blipFill>
          <a:blip r:embed="rId3"/>
          <a:stretch>
            <a:fillRect/>
          </a:stretch>
        </p:blipFill>
        <p:spPr>
          <a:xfrm>
            <a:off x="9179784" y="1965960"/>
            <a:ext cx="1502725" cy="2011680"/>
          </a:xfrm>
          <a:prstGeom prst="rect">
            <a:avLst/>
          </a:prstGeom>
        </p:spPr>
      </p:pic>
      <p:sp>
        <p:nvSpPr>
          <p:cNvPr id="20" name="Text 15"/>
          <p:cNvSpPr txBox="1"/>
          <p:nvPr/>
        </p:nvSpPr>
        <p:spPr>
          <a:xfrm>
            <a:off x="8219237" y="4069080"/>
            <a:ext cx="3423818"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Còpia romana d'un original de Lisip. Palazzo Altemps, Roma. Foto: Jastrow, domini públic.</a:t>
            </a:r>
            <a:endParaRPr lang="en-US" sz="1000" dirty="0"/>
          </a:p>
        </p:txBody>
      </p:sp>
      <p:sp>
        <p:nvSpPr>
          <p:cNvPr id="21" name="Text 16"/>
          <p:cNvSpPr txBox="1"/>
          <p:nvPr/>
        </p:nvSpPr>
        <p:spPr>
          <a:xfrm>
            <a:off x="8219237" y="4526280"/>
            <a:ext cx="3423818" cy="365760"/>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Aristòtil</a:t>
            </a:r>
            <a:endParaRPr lang="en-US" sz="1900" dirty="0"/>
          </a:p>
        </p:txBody>
      </p:sp>
      <p:sp>
        <p:nvSpPr>
          <p:cNvPr id="22" name="Text 17"/>
          <p:cNvSpPr txBox="1"/>
          <p:nvPr/>
        </p:nvSpPr>
        <p:spPr>
          <a:xfrm>
            <a:off x="8219237" y="4892040"/>
            <a:ext cx="3423818" cy="109728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Deixeble de Plató i mestre d'Alexandre. Va estudiar i ordenar gairebé tots els camps del saber.</a:t>
            </a:r>
            <a:endParaRPr lang="en-US" sz="14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7</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El teatre. Néixer en una festa</a:t>
            </a:r>
            <a:endParaRPr lang="en-US" sz="2800" dirty="0"/>
          </a:p>
        </p:txBody>
      </p:sp>
      <p:sp>
        <p:nvSpPr>
          <p:cNvPr id="5" name="Text 3"/>
          <p:cNvSpPr txBox="1"/>
          <p:nvPr/>
        </p:nvSpPr>
        <p:spPr>
          <a:xfrm>
            <a:off x="548640" y="1371600"/>
            <a:ext cx="11094415" cy="82296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El teatre va néixer a Atenes, a les festes en honor del déu Dionís, i s'hi van crear els dos grans gèneres.</a:t>
            </a:r>
            <a:endParaRPr lang="en-US" sz="1800" dirty="0"/>
          </a:p>
        </p:txBody>
      </p:sp>
      <p:sp>
        <p:nvSpPr>
          <p:cNvPr id="6" name="Targeta La tragèdia"/>
          <p:cNvSpPr/>
          <p:nvPr/>
        </p:nvSpPr>
        <p:spPr>
          <a:xfrm>
            <a:off x="548640" y="2331720"/>
            <a:ext cx="5410048" cy="2103120"/>
          </a:xfrm>
          <a:prstGeom prst="roundRect">
            <a:avLst>
              <a:gd name="adj" fmla="val 4783"/>
            </a:avLst>
          </a:prstGeom>
          <a:solidFill>
            <a:srgbClr val="FFFFFF"/>
          </a:solidFill>
          <a:ln w="12700">
            <a:solidFill>
              <a:srgbClr val="DADCE0"/>
            </a:solidFill>
            <a:prstDash val="solid"/>
          </a:ln>
        </p:spPr>
      </p:sp>
      <p:sp>
        <p:nvSpPr>
          <p:cNvPr id="7" name="Cercle icona"/>
          <p:cNvSpPr/>
          <p:nvPr/>
        </p:nvSpPr>
        <p:spPr>
          <a:xfrm>
            <a:off x="777240" y="2560320"/>
            <a:ext cx="685800" cy="685800"/>
          </a:xfrm>
          <a:prstGeom prst="ellipse">
            <a:avLst/>
          </a:prstGeom>
          <a:solidFill>
            <a:srgbClr val="E6F4EA"/>
          </a:solidFill>
          <a:ln/>
        </p:spPr>
      </p:sp>
      <p:pic>
        <p:nvPicPr>
          <p:cNvPr id="8" name="Icona TbMasksTheater" descr="/home/claude/work/build/img/ic/TbMasksTheater-g.png">    </p:cNvPr>
          <p:cNvPicPr>
            <a:picLocks noChangeAspect="1"/>
          </p:cNvPicPr>
          <p:nvPr/>
        </p:nvPicPr>
        <p:blipFill>
          <a:blip r:embed="rId1"/>
          <a:stretch>
            <a:fillRect/>
          </a:stretch>
        </p:blipFill>
        <p:spPr>
          <a:xfrm>
            <a:off x="928116" y="2711196"/>
            <a:ext cx="384048" cy="384048"/>
          </a:xfrm>
          <a:prstGeom prst="rect">
            <a:avLst/>
          </a:prstGeom>
        </p:spPr>
      </p:pic>
      <p:sp>
        <p:nvSpPr>
          <p:cNvPr id="9" name="Text 6"/>
          <p:cNvSpPr txBox="1"/>
          <p:nvPr/>
        </p:nvSpPr>
        <p:spPr>
          <a:xfrm>
            <a:off x="1600200" y="2560320"/>
            <a:ext cx="4129888" cy="685800"/>
          </a:xfrm>
          <a:prstGeom prst="rect">
            <a:avLst/>
          </a:prstGeom>
          <a:noFill/>
          <a:ln/>
        </p:spPr>
        <p:txBody>
          <a:bodyPr wrap="square" lIns="0" tIns="0" rIns="0" bIns="0" rtlCol="0" anchor="ctr"/>
          <a:lstStyle/>
          <a:p>
            <a:pPr indent="0" marL="0">
              <a:buNone/>
            </a:pPr>
            <a:r>
              <a:rPr lang="en-US" sz="2000" b="1" dirty="0">
                <a:solidFill>
                  <a:srgbClr val="188038"/>
                </a:solidFill>
                <a:latin typeface="Roboto" pitchFamily="34" charset="0"/>
                <a:ea typeface="Roboto" pitchFamily="34" charset="-122"/>
                <a:cs typeface="Roboto" pitchFamily="34" charset="-120"/>
              </a:rPr>
              <a:t>La tragèdia</a:t>
            </a:r>
            <a:endParaRPr lang="en-US" sz="2000" dirty="0"/>
          </a:p>
        </p:txBody>
      </p:sp>
      <p:sp>
        <p:nvSpPr>
          <p:cNvPr id="10" name="Text 7"/>
          <p:cNvSpPr txBox="1"/>
          <p:nvPr/>
        </p:nvSpPr>
        <p:spPr>
          <a:xfrm>
            <a:off x="777240" y="3383280"/>
            <a:ext cx="4952848" cy="91440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Històries d'herois enfrontats a un destí terrible, per fer pensar i emocionar. Èsquil, Sòfocles i Eurípides.</a:t>
            </a:r>
            <a:endParaRPr lang="en-US" sz="1700" dirty="0"/>
          </a:p>
        </p:txBody>
      </p:sp>
      <p:sp>
        <p:nvSpPr>
          <p:cNvPr id="11" name="Targeta La comèdia"/>
          <p:cNvSpPr/>
          <p:nvPr/>
        </p:nvSpPr>
        <p:spPr>
          <a:xfrm>
            <a:off x="6233008" y="2331720"/>
            <a:ext cx="5410048" cy="2103120"/>
          </a:xfrm>
          <a:prstGeom prst="roundRect">
            <a:avLst>
              <a:gd name="adj" fmla="val 4783"/>
            </a:avLst>
          </a:prstGeom>
          <a:solidFill>
            <a:srgbClr val="FFFFFF"/>
          </a:solidFill>
          <a:ln w="12700">
            <a:solidFill>
              <a:srgbClr val="DADCE0"/>
            </a:solidFill>
            <a:prstDash val="solid"/>
          </a:ln>
        </p:spPr>
      </p:sp>
      <p:sp>
        <p:nvSpPr>
          <p:cNvPr id="12" name="Cercle icona"/>
          <p:cNvSpPr/>
          <p:nvPr/>
        </p:nvSpPr>
        <p:spPr>
          <a:xfrm>
            <a:off x="6461608" y="2560320"/>
            <a:ext cx="685800" cy="685800"/>
          </a:xfrm>
          <a:prstGeom prst="ellipse">
            <a:avLst/>
          </a:prstGeom>
          <a:solidFill>
            <a:srgbClr val="E6F4EA"/>
          </a:solidFill>
          <a:ln/>
        </p:spPr>
      </p:sp>
      <p:pic>
        <p:nvPicPr>
          <p:cNvPr id="13" name="Icona TbMoodHappy" descr="/home/claude/work/build/img/ic/TbMoodHappy-g.png">    </p:cNvPr>
          <p:cNvPicPr>
            <a:picLocks noChangeAspect="1"/>
          </p:cNvPicPr>
          <p:nvPr/>
        </p:nvPicPr>
        <p:blipFill>
          <a:blip r:embed="rId2"/>
          <a:stretch>
            <a:fillRect/>
          </a:stretch>
        </p:blipFill>
        <p:spPr>
          <a:xfrm>
            <a:off x="6612484" y="2711196"/>
            <a:ext cx="384048" cy="384048"/>
          </a:xfrm>
          <a:prstGeom prst="rect">
            <a:avLst/>
          </a:prstGeom>
        </p:spPr>
      </p:pic>
      <p:sp>
        <p:nvSpPr>
          <p:cNvPr id="14" name="Text 10"/>
          <p:cNvSpPr txBox="1"/>
          <p:nvPr/>
        </p:nvSpPr>
        <p:spPr>
          <a:xfrm>
            <a:off x="7284568" y="2560320"/>
            <a:ext cx="4129888" cy="685800"/>
          </a:xfrm>
          <a:prstGeom prst="rect">
            <a:avLst/>
          </a:prstGeom>
          <a:noFill/>
          <a:ln/>
        </p:spPr>
        <p:txBody>
          <a:bodyPr wrap="square" lIns="0" tIns="0" rIns="0" bIns="0" rtlCol="0" anchor="ctr"/>
          <a:lstStyle/>
          <a:p>
            <a:pPr indent="0" marL="0">
              <a:buNone/>
            </a:pPr>
            <a:r>
              <a:rPr lang="en-US" sz="2000" b="1" dirty="0">
                <a:solidFill>
                  <a:srgbClr val="188038"/>
                </a:solidFill>
                <a:latin typeface="Roboto" pitchFamily="34" charset="0"/>
                <a:ea typeface="Roboto" pitchFamily="34" charset="-122"/>
                <a:cs typeface="Roboto" pitchFamily="34" charset="-120"/>
              </a:rPr>
              <a:t>La comèdia</a:t>
            </a:r>
            <a:endParaRPr lang="en-US" sz="2000" dirty="0"/>
          </a:p>
        </p:txBody>
      </p:sp>
      <p:sp>
        <p:nvSpPr>
          <p:cNvPr id="15" name="Text 11"/>
          <p:cNvSpPr txBox="1"/>
          <p:nvPr/>
        </p:nvSpPr>
        <p:spPr>
          <a:xfrm>
            <a:off x="6461608" y="3383280"/>
            <a:ext cx="4952848" cy="91440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Sàtira i humor, sovint contra els polítics del moment. Aristòfanes.</a:t>
            </a:r>
            <a:endParaRPr lang="en-US" sz="1700" dirty="0"/>
          </a:p>
        </p:txBody>
      </p:sp>
      <p:sp>
        <p:nvSpPr>
          <p:cNvPr id="16" name="Paraula clau · Tragèdia"/>
          <p:cNvSpPr/>
          <p:nvPr/>
        </p:nvSpPr>
        <p:spPr>
          <a:xfrm>
            <a:off x="548640" y="4617720"/>
            <a:ext cx="5410048" cy="1371600"/>
          </a:xfrm>
          <a:prstGeom prst="roundRect">
            <a:avLst>
              <a:gd name="adj" fmla="val 7333"/>
            </a:avLst>
          </a:prstGeom>
          <a:solidFill>
            <a:srgbClr val="E6F4EA"/>
          </a:solidFill>
          <a:ln/>
        </p:spPr>
      </p:sp>
      <p:sp>
        <p:nvSpPr>
          <p:cNvPr id="17" name="Text 13"/>
          <p:cNvSpPr txBox="1"/>
          <p:nvPr/>
        </p:nvSpPr>
        <p:spPr>
          <a:xfrm>
            <a:off x="868680" y="4773168"/>
            <a:ext cx="4769968"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Paraula clau · Tragèdia</a:t>
            </a:r>
            <a:endParaRPr lang="en-US" sz="1400" dirty="0"/>
          </a:p>
        </p:txBody>
      </p:sp>
      <p:sp>
        <p:nvSpPr>
          <p:cNvPr id="18" name="Text 14"/>
          <p:cNvSpPr txBox="1"/>
          <p:nvPr/>
        </p:nvSpPr>
        <p:spPr>
          <a:xfrm>
            <a:off x="868680" y="5120640"/>
            <a:ext cx="4769968" cy="73152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Gènere teatral grec que presenta herois enfrontats a un destí advers per fer pensar i emocionar el públic.</a:t>
            </a:r>
            <a:endParaRPr lang="en-US" sz="1550" dirty="0"/>
          </a:p>
        </p:txBody>
      </p:sp>
      <p:sp>
        <p:nvSpPr>
          <p:cNvPr id="19" name="Una festa de tota la ciutat"/>
          <p:cNvSpPr/>
          <p:nvPr/>
        </p:nvSpPr>
        <p:spPr>
          <a:xfrm>
            <a:off x="6233008" y="4617720"/>
            <a:ext cx="5410048" cy="1371600"/>
          </a:xfrm>
          <a:prstGeom prst="roundRect">
            <a:avLst>
              <a:gd name="adj" fmla="val 7333"/>
            </a:avLst>
          </a:prstGeom>
          <a:solidFill>
            <a:srgbClr val="F6F8FB"/>
          </a:solidFill>
          <a:ln/>
        </p:spPr>
      </p:sp>
      <p:sp>
        <p:nvSpPr>
          <p:cNvPr id="20" name="Text 16"/>
          <p:cNvSpPr txBox="1"/>
          <p:nvPr/>
        </p:nvSpPr>
        <p:spPr>
          <a:xfrm>
            <a:off x="6553048" y="4773168"/>
            <a:ext cx="4769968"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Una festa de tota la ciutat</a:t>
            </a:r>
            <a:endParaRPr lang="en-US" sz="1400" dirty="0"/>
          </a:p>
        </p:txBody>
      </p:sp>
      <p:sp>
        <p:nvSpPr>
          <p:cNvPr id="21" name="Text 17"/>
          <p:cNvSpPr txBox="1"/>
          <p:nvPr/>
        </p:nvSpPr>
        <p:spPr>
          <a:xfrm>
            <a:off x="6553048" y="5120640"/>
            <a:ext cx="4769968" cy="731520"/>
          </a:xfrm>
          <a:prstGeom prst="rect">
            <a:avLst/>
          </a:prstGeom>
          <a:noFill/>
          <a:ln/>
        </p:spPr>
        <p:txBody>
          <a:bodyPr wrap="square" lIns="0" tIns="0" rIns="0" bIns="0" rtlCol="0" anchor="t"/>
          <a:lstStyle/>
          <a:p>
            <a:pPr indent="0" marL="0">
              <a:buNone/>
            </a:pPr>
            <a:r>
              <a:rPr lang="en-US" sz="1550" dirty="0">
                <a:solidFill>
                  <a:srgbClr val="5F6368"/>
                </a:solidFill>
                <a:latin typeface="Roboto" pitchFamily="34" charset="0"/>
                <a:ea typeface="Roboto" pitchFamily="34" charset="-122"/>
                <a:cs typeface="Roboto" pitchFamily="34" charset="-120"/>
              </a:rPr>
              <a:t>Les representacions eren multitudinàries. El teatre d'Epidaure, el de la portada de l'apartat, tenia lloc per a unes 14.000 persones.</a:t>
            </a:r>
            <a:endParaRPr lang="en-US" sz="15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7</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Ciència i història</a:t>
            </a:r>
            <a:endParaRPr lang="en-US" sz="2800" dirty="0"/>
          </a:p>
        </p:txBody>
      </p:sp>
      <p:sp>
        <p:nvSpPr>
          <p:cNvPr id="5" name="Text 3"/>
          <p:cNvSpPr txBox="1"/>
          <p:nvPr/>
        </p:nvSpPr>
        <p:spPr>
          <a:xfrm>
            <a:off x="548640" y="1371600"/>
            <a:ext cx="11094415" cy="45720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Els grecs van posar els fonaments de moltes ciències.</a:t>
            </a:r>
            <a:endParaRPr lang="en-US" sz="1800" dirty="0"/>
          </a:p>
        </p:txBody>
      </p:sp>
      <p:sp>
        <p:nvSpPr>
          <p:cNvPr id="6" name="Targeta Matemàtiques"/>
          <p:cNvSpPr/>
          <p:nvPr/>
        </p:nvSpPr>
        <p:spPr>
          <a:xfrm>
            <a:off x="548640" y="1965960"/>
            <a:ext cx="2567864" cy="2743200"/>
          </a:xfrm>
          <a:prstGeom prst="roundRect">
            <a:avLst>
              <a:gd name="adj" fmla="val 3917"/>
            </a:avLst>
          </a:prstGeom>
          <a:solidFill>
            <a:srgbClr val="FFFFFF"/>
          </a:solidFill>
          <a:ln w="12700">
            <a:solidFill>
              <a:srgbClr val="DADCE0"/>
            </a:solidFill>
            <a:prstDash val="solid"/>
          </a:ln>
        </p:spPr>
      </p:sp>
      <p:sp>
        <p:nvSpPr>
          <p:cNvPr id="7" name="Cercle icona"/>
          <p:cNvSpPr/>
          <p:nvPr/>
        </p:nvSpPr>
        <p:spPr>
          <a:xfrm>
            <a:off x="777240" y="2194560"/>
            <a:ext cx="685800" cy="685800"/>
          </a:xfrm>
          <a:prstGeom prst="ellipse">
            <a:avLst/>
          </a:prstGeom>
          <a:solidFill>
            <a:srgbClr val="E6F4EA"/>
          </a:solidFill>
          <a:ln/>
        </p:spPr>
      </p:sp>
      <p:pic>
        <p:nvPicPr>
          <p:cNvPr id="8" name="Icona TbMathFunction" descr="/home/claude/work/build/img/ic/TbMathFunction-g.png">    </p:cNvPr>
          <p:cNvPicPr>
            <a:picLocks noChangeAspect="1"/>
          </p:cNvPicPr>
          <p:nvPr/>
        </p:nvPicPr>
        <p:blipFill>
          <a:blip r:embed="rId1"/>
          <a:stretch>
            <a:fillRect/>
          </a:stretch>
        </p:blipFill>
        <p:spPr>
          <a:xfrm>
            <a:off x="928116" y="2345436"/>
            <a:ext cx="384048" cy="384048"/>
          </a:xfrm>
          <a:prstGeom prst="rect">
            <a:avLst/>
          </a:prstGeom>
        </p:spPr>
      </p:pic>
      <p:sp>
        <p:nvSpPr>
          <p:cNvPr id="9" name="Text 6"/>
          <p:cNvSpPr txBox="1"/>
          <p:nvPr/>
        </p:nvSpPr>
        <p:spPr>
          <a:xfrm>
            <a:off x="777240" y="3017520"/>
            <a:ext cx="2110664" cy="289560"/>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Matemàtiques</a:t>
            </a:r>
            <a:endParaRPr lang="en-US" sz="1900" dirty="0"/>
          </a:p>
        </p:txBody>
      </p:sp>
      <p:sp>
        <p:nvSpPr>
          <p:cNvPr id="10" name="Text 7"/>
          <p:cNvSpPr txBox="1"/>
          <p:nvPr/>
        </p:nvSpPr>
        <p:spPr>
          <a:xfrm>
            <a:off x="777240" y="3398520"/>
            <a:ext cx="2110664" cy="117348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Pitàgores, Euclides, Arquimedes.</a:t>
            </a:r>
            <a:endParaRPr lang="en-US" sz="1550" dirty="0"/>
          </a:p>
        </p:txBody>
      </p:sp>
      <p:sp>
        <p:nvSpPr>
          <p:cNvPr id="11" name="Targeta Medicina"/>
          <p:cNvSpPr/>
          <p:nvPr/>
        </p:nvSpPr>
        <p:spPr>
          <a:xfrm>
            <a:off x="3390824" y="1965960"/>
            <a:ext cx="2567864" cy="2743200"/>
          </a:xfrm>
          <a:prstGeom prst="roundRect">
            <a:avLst>
              <a:gd name="adj" fmla="val 3917"/>
            </a:avLst>
          </a:prstGeom>
          <a:solidFill>
            <a:srgbClr val="FFFFFF"/>
          </a:solidFill>
          <a:ln w="12700">
            <a:solidFill>
              <a:srgbClr val="DADCE0"/>
            </a:solidFill>
            <a:prstDash val="solid"/>
          </a:ln>
        </p:spPr>
      </p:sp>
      <p:sp>
        <p:nvSpPr>
          <p:cNvPr id="12" name="Cercle icona"/>
          <p:cNvSpPr/>
          <p:nvPr/>
        </p:nvSpPr>
        <p:spPr>
          <a:xfrm>
            <a:off x="3619424" y="2194560"/>
            <a:ext cx="685800" cy="685800"/>
          </a:xfrm>
          <a:prstGeom prst="ellipse">
            <a:avLst/>
          </a:prstGeom>
          <a:solidFill>
            <a:srgbClr val="E6F4EA"/>
          </a:solidFill>
          <a:ln/>
        </p:spPr>
      </p:sp>
      <p:pic>
        <p:nvPicPr>
          <p:cNvPr id="13" name="Icona TbStethoscope" descr="/home/claude/work/build/img/ic/TbStethoscope-g.png">    </p:cNvPr>
          <p:cNvPicPr>
            <a:picLocks noChangeAspect="1"/>
          </p:cNvPicPr>
          <p:nvPr/>
        </p:nvPicPr>
        <p:blipFill>
          <a:blip r:embed="rId2"/>
          <a:stretch>
            <a:fillRect/>
          </a:stretch>
        </p:blipFill>
        <p:spPr>
          <a:xfrm>
            <a:off x="3770300" y="2345436"/>
            <a:ext cx="384048" cy="384048"/>
          </a:xfrm>
          <a:prstGeom prst="rect">
            <a:avLst/>
          </a:prstGeom>
        </p:spPr>
      </p:pic>
      <p:sp>
        <p:nvSpPr>
          <p:cNvPr id="14" name="Text 10"/>
          <p:cNvSpPr txBox="1"/>
          <p:nvPr/>
        </p:nvSpPr>
        <p:spPr>
          <a:xfrm>
            <a:off x="3619424" y="3017520"/>
            <a:ext cx="2110664" cy="289560"/>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Medicina</a:t>
            </a:r>
            <a:endParaRPr lang="en-US" sz="1900" dirty="0"/>
          </a:p>
        </p:txBody>
      </p:sp>
      <p:sp>
        <p:nvSpPr>
          <p:cNvPr id="15" name="Text 11"/>
          <p:cNvSpPr txBox="1"/>
          <p:nvPr/>
        </p:nvSpPr>
        <p:spPr>
          <a:xfrm>
            <a:off x="3619424" y="3398520"/>
            <a:ext cx="2110664" cy="117348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Hipòcrates, de qui ve el jurament que encara fan els metges.</a:t>
            </a:r>
            <a:endParaRPr lang="en-US" sz="1550" dirty="0"/>
          </a:p>
        </p:txBody>
      </p:sp>
      <p:sp>
        <p:nvSpPr>
          <p:cNvPr id="16" name="Targeta Geografia"/>
          <p:cNvSpPr/>
          <p:nvPr/>
        </p:nvSpPr>
        <p:spPr>
          <a:xfrm>
            <a:off x="6233008" y="1965960"/>
            <a:ext cx="2567864" cy="2743200"/>
          </a:xfrm>
          <a:prstGeom prst="roundRect">
            <a:avLst>
              <a:gd name="adj" fmla="val 3917"/>
            </a:avLst>
          </a:prstGeom>
          <a:solidFill>
            <a:srgbClr val="FFFFFF"/>
          </a:solidFill>
          <a:ln w="12700">
            <a:solidFill>
              <a:srgbClr val="DADCE0"/>
            </a:solidFill>
            <a:prstDash val="solid"/>
          </a:ln>
        </p:spPr>
      </p:sp>
      <p:sp>
        <p:nvSpPr>
          <p:cNvPr id="17" name="Cercle icona"/>
          <p:cNvSpPr/>
          <p:nvPr/>
        </p:nvSpPr>
        <p:spPr>
          <a:xfrm>
            <a:off x="6461608" y="2194560"/>
            <a:ext cx="685800" cy="685800"/>
          </a:xfrm>
          <a:prstGeom prst="ellipse">
            <a:avLst/>
          </a:prstGeom>
          <a:solidFill>
            <a:srgbClr val="E6F4EA"/>
          </a:solidFill>
          <a:ln/>
        </p:spPr>
      </p:sp>
      <p:pic>
        <p:nvPicPr>
          <p:cNvPr id="18" name="Icona TbWorld" descr="/home/claude/work/build/img/ic/TbWorld-g.png">    </p:cNvPr>
          <p:cNvPicPr>
            <a:picLocks noChangeAspect="1"/>
          </p:cNvPicPr>
          <p:nvPr/>
        </p:nvPicPr>
        <p:blipFill>
          <a:blip r:embed="rId3"/>
          <a:stretch>
            <a:fillRect/>
          </a:stretch>
        </p:blipFill>
        <p:spPr>
          <a:xfrm>
            <a:off x="6612484" y="2345436"/>
            <a:ext cx="384048" cy="384048"/>
          </a:xfrm>
          <a:prstGeom prst="rect">
            <a:avLst/>
          </a:prstGeom>
        </p:spPr>
      </p:pic>
      <p:sp>
        <p:nvSpPr>
          <p:cNvPr id="19" name="Text 14"/>
          <p:cNvSpPr txBox="1"/>
          <p:nvPr/>
        </p:nvSpPr>
        <p:spPr>
          <a:xfrm>
            <a:off x="6461608" y="3017520"/>
            <a:ext cx="2110664" cy="289560"/>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Geografia</a:t>
            </a:r>
            <a:endParaRPr lang="en-US" sz="1900" dirty="0"/>
          </a:p>
        </p:txBody>
      </p:sp>
      <p:sp>
        <p:nvSpPr>
          <p:cNvPr id="20" name="Text 15"/>
          <p:cNvSpPr txBox="1"/>
          <p:nvPr/>
        </p:nvSpPr>
        <p:spPr>
          <a:xfrm>
            <a:off x="6461608" y="3398520"/>
            <a:ext cx="2110664" cy="117348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Eratòstenes va calcular la circumferència de la Terra amb un error sorprenentment petit.</a:t>
            </a:r>
            <a:endParaRPr lang="en-US" sz="1550" dirty="0"/>
          </a:p>
        </p:txBody>
      </p:sp>
      <p:sp>
        <p:nvSpPr>
          <p:cNvPr id="21" name="Targeta Història"/>
          <p:cNvSpPr/>
          <p:nvPr/>
        </p:nvSpPr>
        <p:spPr>
          <a:xfrm>
            <a:off x="9075191" y="1965960"/>
            <a:ext cx="2567864" cy="2743200"/>
          </a:xfrm>
          <a:prstGeom prst="roundRect">
            <a:avLst>
              <a:gd name="adj" fmla="val 3917"/>
            </a:avLst>
          </a:prstGeom>
          <a:solidFill>
            <a:srgbClr val="FFFFFF"/>
          </a:solidFill>
          <a:ln w="12700">
            <a:solidFill>
              <a:srgbClr val="DADCE0"/>
            </a:solidFill>
            <a:prstDash val="solid"/>
          </a:ln>
        </p:spPr>
      </p:sp>
      <p:sp>
        <p:nvSpPr>
          <p:cNvPr id="22" name="Cercle icona"/>
          <p:cNvSpPr/>
          <p:nvPr/>
        </p:nvSpPr>
        <p:spPr>
          <a:xfrm>
            <a:off x="9303791" y="2194560"/>
            <a:ext cx="685800" cy="685800"/>
          </a:xfrm>
          <a:prstGeom prst="ellipse">
            <a:avLst/>
          </a:prstGeom>
          <a:solidFill>
            <a:srgbClr val="E6F4EA"/>
          </a:solidFill>
          <a:ln/>
        </p:spPr>
      </p:sp>
      <p:pic>
        <p:nvPicPr>
          <p:cNvPr id="23" name="Icona TbBooks" descr="/home/claude/work/build/img/ic/TbBooks-g.png">    </p:cNvPr>
          <p:cNvPicPr>
            <a:picLocks noChangeAspect="1"/>
          </p:cNvPicPr>
          <p:nvPr/>
        </p:nvPicPr>
        <p:blipFill>
          <a:blip r:embed="rId4"/>
          <a:stretch>
            <a:fillRect/>
          </a:stretch>
        </p:blipFill>
        <p:spPr>
          <a:xfrm>
            <a:off x="9454667" y="2345436"/>
            <a:ext cx="384048" cy="384048"/>
          </a:xfrm>
          <a:prstGeom prst="rect">
            <a:avLst/>
          </a:prstGeom>
        </p:spPr>
      </p:pic>
      <p:sp>
        <p:nvSpPr>
          <p:cNvPr id="24" name="Text 18"/>
          <p:cNvSpPr txBox="1"/>
          <p:nvPr/>
        </p:nvSpPr>
        <p:spPr>
          <a:xfrm>
            <a:off x="9303791" y="3017520"/>
            <a:ext cx="2110664" cy="289560"/>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Història</a:t>
            </a:r>
            <a:endParaRPr lang="en-US" sz="1900" dirty="0"/>
          </a:p>
        </p:txBody>
      </p:sp>
      <p:sp>
        <p:nvSpPr>
          <p:cNvPr id="25" name="Text 19"/>
          <p:cNvSpPr txBox="1"/>
          <p:nvPr/>
        </p:nvSpPr>
        <p:spPr>
          <a:xfrm>
            <a:off x="9303791" y="3398520"/>
            <a:ext cx="2110664" cy="117348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Heròdot, el «pare de la història», investigava preguntant, viatjant i contrastant versions.</a:t>
            </a:r>
            <a:endParaRPr lang="en-US" sz="1550" dirty="0"/>
          </a:p>
        </p:txBody>
      </p:sp>
      <p:sp>
        <p:nvSpPr>
          <p:cNvPr id="26" name="Com a classe"/>
          <p:cNvSpPr/>
          <p:nvPr/>
        </p:nvSpPr>
        <p:spPr>
          <a:xfrm>
            <a:off x="548640" y="4937760"/>
            <a:ext cx="11094415" cy="1051560"/>
          </a:xfrm>
          <a:prstGeom prst="roundRect">
            <a:avLst>
              <a:gd name="adj" fmla="val 9565"/>
            </a:avLst>
          </a:prstGeom>
          <a:solidFill>
            <a:srgbClr val="E6F4EA"/>
          </a:solidFill>
          <a:ln/>
        </p:spPr>
      </p:sp>
      <p:sp>
        <p:nvSpPr>
          <p:cNvPr id="27" name="Text 21"/>
          <p:cNvSpPr txBox="1"/>
          <p:nvPr/>
        </p:nvSpPr>
        <p:spPr>
          <a:xfrm>
            <a:off x="868680" y="5093208"/>
            <a:ext cx="1045433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Com a classe</a:t>
            </a:r>
            <a:endParaRPr lang="en-US" sz="1400" dirty="0"/>
          </a:p>
        </p:txBody>
      </p:sp>
      <p:sp>
        <p:nvSpPr>
          <p:cNvPr id="28" name="Text 22"/>
          <p:cNvSpPr txBox="1"/>
          <p:nvPr/>
        </p:nvSpPr>
        <p:spPr>
          <a:xfrm>
            <a:off x="868680" y="5440680"/>
            <a:ext cx="10454335" cy="41148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Preguntar, buscar fonts i contrastar versions. Exactament el que fem a classe!</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7</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Comprova-ho</a:t>
            </a:r>
            <a:endParaRPr lang="en-US" sz="2800" dirty="0"/>
          </a:p>
        </p:txBody>
      </p:sp>
      <p:sp>
        <p:nvSpPr>
          <p:cNvPr id="5" name="Text 3"/>
          <p:cNvSpPr txBox="1"/>
          <p:nvPr/>
        </p:nvSpPr>
        <p:spPr>
          <a:xfrm>
            <a:off x="548640" y="1371600"/>
            <a:ext cx="3657600" cy="320040"/>
          </a:xfrm>
          <a:prstGeom prst="rect">
            <a:avLst/>
          </a:prstGeom>
          <a:noFill/>
          <a:ln/>
        </p:spPr>
        <p:txBody>
          <a:bodyPr wrap="square" lIns="0" tIns="0" rIns="0" bIns="0" rtlCol="0" anchor="t"/>
          <a:lstStyle/>
          <a:p>
            <a:pPr indent="0" marL="0">
              <a:buNone/>
            </a:pPr>
            <a:r>
              <a:rPr lang="en-US" sz="1400" b="1" dirty="0">
                <a:solidFill>
                  <a:srgbClr val="5F6368"/>
                </a:solidFill>
                <a:latin typeface="Roboto" pitchFamily="34" charset="0"/>
                <a:ea typeface="Roboto" pitchFamily="34" charset="-122"/>
                <a:cs typeface="Roboto" pitchFamily="34" charset="-120"/>
              </a:rPr>
              <a:t>Paraules clau</a:t>
            </a:r>
            <a:endParaRPr lang="en-US" sz="1400" dirty="0"/>
          </a:p>
        </p:txBody>
      </p:sp>
      <p:sp>
        <p:nvSpPr>
          <p:cNvPr id="6" name="Etiqueta Filosofia"/>
          <p:cNvSpPr/>
          <p:nvPr/>
        </p:nvSpPr>
        <p:spPr>
          <a:xfrm>
            <a:off x="548640" y="1755648"/>
            <a:ext cx="1216152" cy="384048"/>
          </a:xfrm>
          <a:prstGeom prst="roundRect">
            <a:avLst>
              <a:gd name="adj" fmla="val 50000"/>
            </a:avLst>
          </a:prstGeom>
          <a:solidFill>
            <a:srgbClr val="E6F4EA"/>
          </a:solidFill>
          <a:ln/>
        </p:spPr>
      </p:sp>
      <p:sp>
        <p:nvSpPr>
          <p:cNvPr id="7" name="Text 5"/>
          <p:cNvSpPr txBox="1"/>
          <p:nvPr/>
        </p:nvSpPr>
        <p:spPr>
          <a:xfrm>
            <a:off x="548640" y="1755648"/>
            <a:ext cx="1216152"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Filosofia</a:t>
            </a:r>
            <a:endParaRPr lang="en-US" sz="1500" dirty="0"/>
          </a:p>
        </p:txBody>
      </p:sp>
      <p:sp>
        <p:nvSpPr>
          <p:cNvPr id="8" name="Etiqueta Àtom"/>
          <p:cNvSpPr/>
          <p:nvPr/>
        </p:nvSpPr>
        <p:spPr>
          <a:xfrm>
            <a:off x="1874520" y="1755648"/>
            <a:ext cx="713232" cy="384048"/>
          </a:xfrm>
          <a:prstGeom prst="roundRect">
            <a:avLst>
              <a:gd name="adj" fmla="val 50000"/>
            </a:avLst>
          </a:prstGeom>
          <a:solidFill>
            <a:srgbClr val="E6F4EA"/>
          </a:solidFill>
          <a:ln/>
        </p:spPr>
      </p:sp>
      <p:sp>
        <p:nvSpPr>
          <p:cNvPr id="9" name="Text 7"/>
          <p:cNvSpPr txBox="1"/>
          <p:nvPr/>
        </p:nvSpPr>
        <p:spPr>
          <a:xfrm>
            <a:off x="1874520" y="1755648"/>
            <a:ext cx="713232"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Àtom</a:t>
            </a:r>
            <a:endParaRPr lang="en-US" sz="1500" dirty="0"/>
          </a:p>
        </p:txBody>
      </p:sp>
      <p:sp>
        <p:nvSpPr>
          <p:cNvPr id="10" name="Etiqueta Acadèmia"/>
          <p:cNvSpPr/>
          <p:nvPr/>
        </p:nvSpPr>
        <p:spPr>
          <a:xfrm>
            <a:off x="2697480" y="1755648"/>
            <a:ext cx="1115568" cy="384048"/>
          </a:xfrm>
          <a:prstGeom prst="roundRect">
            <a:avLst>
              <a:gd name="adj" fmla="val 50000"/>
            </a:avLst>
          </a:prstGeom>
          <a:solidFill>
            <a:srgbClr val="E6F4EA"/>
          </a:solidFill>
          <a:ln/>
        </p:spPr>
      </p:sp>
      <p:sp>
        <p:nvSpPr>
          <p:cNvPr id="11" name="Text 9"/>
          <p:cNvSpPr txBox="1"/>
          <p:nvPr/>
        </p:nvSpPr>
        <p:spPr>
          <a:xfrm>
            <a:off x="2697480" y="1755648"/>
            <a:ext cx="1115568"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Acadèmia</a:t>
            </a:r>
            <a:endParaRPr lang="en-US" sz="1500" dirty="0"/>
          </a:p>
        </p:txBody>
      </p:sp>
      <p:sp>
        <p:nvSpPr>
          <p:cNvPr id="12" name="Etiqueta Tragèdia"/>
          <p:cNvSpPr/>
          <p:nvPr/>
        </p:nvSpPr>
        <p:spPr>
          <a:xfrm>
            <a:off x="3922776" y="1755648"/>
            <a:ext cx="1115568" cy="384048"/>
          </a:xfrm>
          <a:prstGeom prst="roundRect">
            <a:avLst>
              <a:gd name="adj" fmla="val 50000"/>
            </a:avLst>
          </a:prstGeom>
          <a:solidFill>
            <a:srgbClr val="E6F4EA"/>
          </a:solidFill>
          <a:ln/>
        </p:spPr>
      </p:sp>
      <p:sp>
        <p:nvSpPr>
          <p:cNvPr id="13" name="Text 11"/>
          <p:cNvSpPr txBox="1"/>
          <p:nvPr/>
        </p:nvSpPr>
        <p:spPr>
          <a:xfrm>
            <a:off x="3922776" y="1755648"/>
            <a:ext cx="1115568"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Tragèdia</a:t>
            </a:r>
            <a:endParaRPr lang="en-US" sz="1500" dirty="0"/>
          </a:p>
        </p:txBody>
      </p:sp>
      <p:sp>
        <p:nvSpPr>
          <p:cNvPr id="14" name="Etiqueta Comèdia"/>
          <p:cNvSpPr/>
          <p:nvPr/>
        </p:nvSpPr>
        <p:spPr>
          <a:xfrm>
            <a:off x="5148072" y="1755648"/>
            <a:ext cx="1014984" cy="384048"/>
          </a:xfrm>
          <a:prstGeom prst="roundRect">
            <a:avLst>
              <a:gd name="adj" fmla="val 50000"/>
            </a:avLst>
          </a:prstGeom>
          <a:solidFill>
            <a:srgbClr val="E6F4EA"/>
          </a:solidFill>
          <a:ln/>
        </p:spPr>
      </p:sp>
      <p:sp>
        <p:nvSpPr>
          <p:cNvPr id="15" name="Text 13"/>
          <p:cNvSpPr txBox="1"/>
          <p:nvPr/>
        </p:nvSpPr>
        <p:spPr>
          <a:xfrm>
            <a:off x="5148072" y="1755648"/>
            <a:ext cx="1014984"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Comèdia</a:t>
            </a:r>
            <a:endParaRPr lang="en-US" sz="1500" dirty="0"/>
          </a:p>
        </p:txBody>
      </p:sp>
      <p:sp>
        <p:nvSpPr>
          <p:cNvPr id="16" name="Etiqueta Història"/>
          <p:cNvSpPr/>
          <p:nvPr/>
        </p:nvSpPr>
        <p:spPr>
          <a:xfrm>
            <a:off x="6272784" y="1755648"/>
            <a:ext cx="1115568" cy="384048"/>
          </a:xfrm>
          <a:prstGeom prst="roundRect">
            <a:avLst>
              <a:gd name="adj" fmla="val 50000"/>
            </a:avLst>
          </a:prstGeom>
          <a:solidFill>
            <a:srgbClr val="E6F4EA"/>
          </a:solidFill>
          <a:ln/>
        </p:spPr>
      </p:sp>
      <p:sp>
        <p:nvSpPr>
          <p:cNvPr id="17" name="Text 15"/>
          <p:cNvSpPr txBox="1"/>
          <p:nvPr/>
        </p:nvSpPr>
        <p:spPr>
          <a:xfrm>
            <a:off x="6272784" y="1755648"/>
            <a:ext cx="1115568"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Història</a:t>
            </a:r>
            <a:endParaRPr lang="en-US" sz="1500" dirty="0"/>
          </a:p>
        </p:txBody>
      </p:sp>
      <p:sp>
        <p:nvSpPr>
          <p:cNvPr id="18" name="Pregunta 1"/>
          <p:cNvSpPr/>
          <p:nvPr/>
        </p:nvSpPr>
        <p:spPr>
          <a:xfrm>
            <a:off x="548640" y="2514600"/>
            <a:ext cx="11094415" cy="777240"/>
          </a:xfrm>
          <a:prstGeom prst="roundRect">
            <a:avLst>
              <a:gd name="adj" fmla="val 12941"/>
            </a:avLst>
          </a:prstGeom>
          <a:solidFill>
            <a:srgbClr val="FFFFFF"/>
          </a:solidFill>
          <a:ln w="12700">
            <a:solidFill>
              <a:srgbClr val="DADCE0"/>
            </a:solidFill>
            <a:prstDash val="solid"/>
          </a:ln>
        </p:spPr>
      </p:sp>
      <p:sp>
        <p:nvSpPr>
          <p:cNvPr id="19" name="Número 1"/>
          <p:cNvSpPr/>
          <p:nvPr/>
        </p:nvSpPr>
        <p:spPr>
          <a:xfrm>
            <a:off x="822960" y="2674620"/>
            <a:ext cx="457200" cy="457200"/>
          </a:xfrm>
          <a:prstGeom prst="ellipse">
            <a:avLst/>
          </a:prstGeom>
          <a:solidFill>
            <a:srgbClr val="188038"/>
          </a:solidFill>
          <a:ln/>
        </p:spPr>
      </p:sp>
      <p:sp>
        <p:nvSpPr>
          <p:cNvPr id="20" name="Text 18"/>
          <p:cNvSpPr txBox="1"/>
          <p:nvPr/>
        </p:nvSpPr>
        <p:spPr>
          <a:xfrm>
            <a:off x="822960" y="267462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1</a:t>
            </a:r>
            <a:endParaRPr lang="en-US" sz="1700" dirty="0"/>
          </a:p>
        </p:txBody>
      </p:sp>
      <p:sp>
        <p:nvSpPr>
          <p:cNvPr id="21" name="Text 19"/>
          <p:cNvSpPr txBox="1"/>
          <p:nvPr/>
        </p:nvSpPr>
        <p:spPr>
          <a:xfrm>
            <a:off x="1508760" y="2514600"/>
            <a:ext cx="9905695" cy="777240"/>
          </a:xfrm>
          <a:prstGeom prst="rect">
            <a:avLst/>
          </a:prstGeom>
          <a:noFill/>
          <a:ln/>
        </p:spPr>
        <p:txBody>
          <a:bodyPr wrap="square" lIns="0" tIns="0" rIns="0" bIns="0" rtlCol="0" anchor="ctr"/>
          <a:lstStyle/>
          <a:p>
            <a:pPr indent="0" marL="0">
              <a:buNone/>
            </a:pPr>
            <a:r>
              <a:rPr lang="en-US" sz="1900" dirty="0">
                <a:solidFill>
                  <a:srgbClr val="202124"/>
                </a:solidFill>
                <a:latin typeface="Roboto" pitchFamily="34" charset="0"/>
                <a:ea typeface="Roboto" pitchFamily="34" charset="-122"/>
                <a:cs typeface="Roboto" pitchFamily="34" charset="-120"/>
              </a:rPr>
              <a:t>Ordena els tres grans filòsofs de mestre a deixeble.</a:t>
            </a:r>
            <a:endParaRPr lang="en-US" sz="1900" dirty="0"/>
          </a:p>
        </p:txBody>
      </p:sp>
      <p:sp>
        <p:nvSpPr>
          <p:cNvPr id="22" name="Pregunta 2"/>
          <p:cNvSpPr/>
          <p:nvPr/>
        </p:nvSpPr>
        <p:spPr>
          <a:xfrm>
            <a:off x="548640" y="3429000"/>
            <a:ext cx="11094415" cy="777240"/>
          </a:xfrm>
          <a:prstGeom prst="roundRect">
            <a:avLst>
              <a:gd name="adj" fmla="val 12941"/>
            </a:avLst>
          </a:prstGeom>
          <a:solidFill>
            <a:srgbClr val="FFFFFF"/>
          </a:solidFill>
          <a:ln w="12700">
            <a:solidFill>
              <a:srgbClr val="DADCE0"/>
            </a:solidFill>
            <a:prstDash val="solid"/>
          </a:ln>
        </p:spPr>
      </p:sp>
      <p:sp>
        <p:nvSpPr>
          <p:cNvPr id="23" name="Número 2"/>
          <p:cNvSpPr/>
          <p:nvPr/>
        </p:nvSpPr>
        <p:spPr>
          <a:xfrm>
            <a:off x="822960" y="3589020"/>
            <a:ext cx="457200" cy="457200"/>
          </a:xfrm>
          <a:prstGeom prst="ellipse">
            <a:avLst/>
          </a:prstGeom>
          <a:solidFill>
            <a:srgbClr val="188038"/>
          </a:solidFill>
          <a:ln/>
        </p:spPr>
      </p:sp>
      <p:sp>
        <p:nvSpPr>
          <p:cNvPr id="24" name="Text 22"/>
          <p:cNvSpPr txBox="1"/>
          <p:nvPr/>
        </p:nvSpPr>
        <p:spPr>
          <a:xfrm>
            <a:off x="822960" y="358902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2</a:t>
            </a:r>
            <a:endParaRPr lang="en-US" sz="1700" dirty="0"/>
          </a:p>
        </p:txBody>
      </p:sp>
      <p:sp>
        <p:nvSpPr>
          <p:cNvPr id="25" name="Text 23"/>
          <p:cNvSpPr txBox="1"/>
          <p:nvPr/>
        </p:nvSpPr>
        <p:spPr>
          <a:xfrm>
            <a:off x="1508760" y="3429000"/>
            <a:ext cx="9905695" cy="777240"/>
          </a:xfrm>
          <a:prstGeom prst="rect">
            <a:avLst/>
          </a:prstGeom>
          <a:noFill/>
          <a:ln/>
        </p:spPr>
        <p:txBody>
          <a:bodyPr wrap="square" lIns="0" tIns="0" rIns="0" bIns="0" rtlCol="0" anchor="ctr"/>
          <a:lstStyle/>
          <a:p>
            <a:pPr indent="0" marL="0">
              <a:buNone/>
            </a:pPr>
            <a:r>
              <a:rPr lang="en-US" sz="1900" dirty="0">
                <a:solidFill>
                  <a:srgbClr val="202124"/>
                </a:solidFill>
                <a:latin typeface="Roboto" pitchFamily="34" charset="0"/>
                <a:ea typeface="Roboto" pitchFamily="34" charset="-122"/>
                <a:cs typeface="Roboto" pitchFamily="34" charset="-120"/>
              </a:rPr>
              <a:t>Quina diferència hi ha entre la tragèdia i la comèdia?</a:t>
            </a:r>
            <a:endParaRPr lang="en-US" sz="1900" dirty="0"/>
          </a:p>
        </p:txBody>
      </p:sp>
      <p:sp>
        <p:nvSpPr>
          <p:cNvPr id="26" name="Pregunta 3"/>
          <p:cNvSpPr/>
          <p:nvPr/>
        </p:nvSpPr>
        <p:spPr>
          <a:xfrm>
            <a:off x="548640" y="4343400"/>
            <a:ext cx="11094415" cy="777240"/>
          </a:xfrm>
          <a:prstGeom prst="roundRect">
            <a:avLst>
              <a:gd name="adj" fmla="val 12941"/>
            </a:avLst>
          </a:prstGeom>
          <a:solidFill>
            <a:srgbClr val="FFFFFF"/>
          </a:solidFill>
          <a:ln w="12700">
            <a:solidFill>
              <a:srgbClr val="DADCE0"/>
            </a:solidFill>
            <a:prstDash val="solid"/>
          </a:ln>
        </p:spPr>
      </p:sp>
      <p:sp>
        <p:nvSpPr>
          <p:cNvPr id="27" name="Número 3"/>
          <p:cNvSpPr/>
          <p:nvPr/>
        </p:nvSpPr>
        <p:spPr>
          <a:xfrm>
            <a:off x="822960" y="4503420"/>
            <a:ext cx="457200" cy="457200"/>
          </a:xfrm>
          <a:prstGeom prst="ellipse">
            <a:avLst/>
          </a:prstGeom>
          <a:solidFill>
            <a:srgbClr val="188038"/>
          </a:solidFill>
          <a:ln/>
        </p:spPr>
      </p:sp>
      <p:sp>
        <p:nvSpPr>
          <p:cNvPr id="28" name="Text 26"/>
          <p:cNvSpPr txBox="1"/>
          <p:nvPr/>
        </p:nvSpPr>
        <p:spPr>
          <a:xfrm>
            <a:off x="822960" y="450342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3</a:t>
            </a:r>
            <a:endParaRPr lang="en-US" sz="1700" dirty="0"/>
          </a:p>
        </p:txBody>
      </p:sp>
      <p:sp>
        <p:nvSpPr>
          <p:cNvPr id="29" name="Text 27"/>
          <p:cNvSpPr txBox="1"/>
          <p:nvPr/>
        </p:nvSpPr>
        <p:spPr>
          <a:xfrm>
            <a:off x="1508760" y="4343400"/>
            <a:ext cx="9905695" cy="777240"/>
          </a:xfrm>
          <a:prstGeom prst="rect">
            <a:avLst/>
          </a:prstGeom>
          <a:noFill/>
          <a:ln/>
        </p:spPr>
        <p:txBody>
          <a:bodyPr wrap="square" lIns="0" tIns="0" rIns="0" bIns="0" rtlCol="0" anchor="ctr"/>
          <a:lstStyle/>
          <a:p>
            <a:pPr indent="0" marL="0">
              <a:buNone/>
            </a:pPr>
            <a:r>
              <a:rPr lang="en-US" sz="1900" dirty="0">
                <a:solidFill>
                  <a:srgbClr val="202124"/>
                </a:solidFill>
                <a:latin typeface="Roboto" pitchFamily="34" charset="0"/>
                <a:ea typeface="Roboto" pitchFamily="34" charset="-122"/>
                <a:cs typeface="Roboto" pitchFamily="34" charset="-120"/>
              </a:rPr>
              <a:t>Per què diem que Heròdot és el «pare de la història»?</a:t>
            </a:r>
            <a:endParaRPr lang="en-US" sz="1900" dirty="0"/>
          </a:p>
        </p:txBody>
      </p:sp>
      <p:sp>
        <p:nvSpPr>
          <p:cNvPr id="30" name="Pregunta 4"/>
          <p:cNvSpPr/>
          <p:nvPr/>
        </p:nvSpPr>
        <p:spPr>
          <a:xfrm>
            <a:off x="548640" y="5257800"/>
            <a:ext cx="11094415" cy="777240"/>
          </a:xfrm>
          <a:prstGeom prst="roundRect">
            <a:avLst>
              <a:gd name="adj" fmla="val 12941"/>
            </a:avLst>
          </a:prstGeom>
          <a:solidFill>
            <a:srgbClr val="FFFFFF"/>
          </a:solidFill>
          <a:ln w="12700">
            <a:solidFill>
              <a:srgbClr val="DADCE0"/>
            </a:solidFill>
            <a:prstDash val="solid"/>
          </a:ln>
        </p:spPr>
      </p:sp>
      <p:sp>
        <p:nvSpPr>
          <p:cNvPr id="31" name="Número 4"/>
          <p:cNvSpPr/>
          <p:nvPr/>
        </p:nvSpPr>
        <p:spPr>
          <a:xfrm>
            <a:off x="822960" y="5417820"/>
            <a:ext cx="457200" cy="457200"/>
          </a:xfrm>
          <a:prstGeom prst="ellipse">
            <a:avLst/>
          </a:prstGeom>
          <a:solidFill>
            <a:srgbClr val="188038"/>
          </a:solidFill>
          <a:ln/>
        </p:spPr>
      </p:sp>
      <p:sp>
        <p:nvSpPr>
          <p:cNvPr id="32" name="Text 30"/>
          <p:cNvSpPr txBox="1"/>
          <p:nvPr/>
        </p:nvSpPr>
        <p:spPr>
          <a:xfrm>
            <a:off x="822960" y="541782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4</a:t>
            </a:r>
            <a:endParaRPr lang="en-US" sz="1700" dirty="0"/>
          </a:p>
        </p:txBody>
      </p:sp>
      <p:sp>
        <p:nvSpPr>
          <p:cNvPr id="33" name="Text 31"/>
          <p:cNvSpPr txBox="1"/>
          <p:nvPr/>
        </p:nvSpPr>
        <p:spPr>
          <a:xfrm>
            <a:off x="1508760" y="5257800"/>
            <a:ext cx="9905695" cy="777240"/>
          </a:xfrm>
          <a:prstGeom prst="rect">
            <a:avLst/>
          </a:prstGeom>
          <a:noFill/>
          <a:ln/>
        </p:spPr>
        <p:txBody>
          <a:bodyPr wrap="square" lIns="0" tIns="0" rIns="0" bIns="0" rtlCol="0" anchor="ctr"/>
          <a:lstStyle/>
          <a:p>
            <a:pPr indent="0" marL="0">
              <a:buNone/>
            </a:pPr>
            <a:r>
              <a:rPr lang="en-US" sz="1900" dirty="0">
                <a:solidFill>
                  <a:srgbClr val="202124"/>
                </a:solidFill>
                <a:latin typeface="Roboto" pitchFamily="34" charset="0"/>
                <a:ea typeface="Roboto" pitchFamily="34" charset="-122"/>
                <a:cs typeface="Roboto" pitchFamily="34" charset="-120"/>
              </a:rPr>
              <a:t>Què tenia de nou la resposta de Tales?</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Capçalera"/>
          <p:cNvSpPr/>
          <p:nvPr/>
        </p:nvSpPr>
        <p:spPr>
          <a:xfrm>
            <a:off x="548640" y="548640"/>
            <a:ext cx="6720840" cy="3657600"/>
          </a:xfrm>
          <a:prstGeom prst="roundRect">
            <a:avLst>
              <a:gd name="adj" fmla="val 2750"/>
            </a:avLst>
          </a:prstGeom>
          <a:solidFill>
            <a:srgbClr val="188038"/>
          </a:solidFill>
          <a:ln/>
        </p:spPr>
      </p:sp>
      <p:pic>
        <p:nvPicPr>
          <p:cNvPr id="3" name="Il·lustració d'un temple grec i el sol" descr="/home/claude/work/build/hero-crop.png">    </p:cNvPr>
          <p:cNvPicPr>
            <a:picLocks noChangeAspect="1"/>
          </p:cNvPicPr>
          <p:nvPr/>
        </p:nvPicPr>
        <p:blipFill>
          <a:blip r:embed="rId1"/>
          <a:stretch>
            <a:fillRect/>
          </a:stretch>
        </p:blipFill>
        <p:spPr>
          <a:xfrm>
            <a:off x="3520440" y="2395912"/>
            <a:ext cx="3566160" cy="1792040"/>
          </a:xfrm>
          <a:prstGeom prst="rect">
            <a:avLst/>
          </a:prstGeom>
        </p:spPr>
      </p:pic>
      <p:sp>
        <p:nvSpPr>
          <p:cNvPr id="4" name="Etiqueta Apartat 8"/>
          <p:cNvSpPr/>
          <p:nvPr/>
        </p:nvSpPr>
        <p:spPr>
          <a:xfrm>
            <a:off x="960120" y="896112"/>
            <a:ext cx="1035101" cy="310896"/>
          </a:xfrm>
          <a:prstGeom prst="roundRect">
            <a:avLst>
              <a:gd name="adj" fmla="val 50000"/>
            </a:avLst>
          </a:prstGeom>
          <a:solidFill>
            <a:srgbClr val="FFFFFF">
              <a:alpha val="18000"/>
            </a:srgbClr>
          </a:solidFill>
          <a:ln/>
        </p:spPr>
      </p:sp>
      <p:sp>
        <p:nvSpPr>
          <p:cNvPr id="5" name="Text 2"/>
          <p:cNvSpPr txBox="1"/>
          <p:nvPr/>
        </p:nvSpPr>
        <p:spPr>
          <a:xfrm>
            <a:off x="960120" y="896112"/>
            <a:ext cx="1035101" cy="310896"/>
          </a:xfrm>
          <a:prstGeom prst="rect">
            <a:avLst/>
          </a:prstGeom>
          <a:noFill/>
          <a:ln/>
        </p:spPr>
        <p:txBody>
          <a:bodyPr wrap="square" lIns="0" tIns="0" rIns="0" bIns="0" rtlCol="0" anchor="ctr"/>
          <a:lstStyle/>
          <a:p>
            <a:pPr algn="ctr" indent="0" marL="0">
              <a:buNone/>
            </a:pPr>
            <a:r>
              <a:rPr lang="en-US" sz="1250" dirty="0">
                <a:solidFill>
                  <a:srgbClr val="FFFFFF"/>
                </a:solidFill>
                <a:latin typeface="Roboto" pitchFamily="34" charset="0"/>
                <a:ea typeface="Roboto" pitchFamily="34" charset="-122"/>
                <a:cs typeface="Roboto" pitchFamily="34" charset="-120"/>
              </a:rPr>
              <a:t>Apartat 8</a:t>
            </a:r>
            <a:endParaRPr lang="en-US" sz="1250" dirty="0"/>
          </a:p>
        </p:txBody>
      </p:sp>
      <p:sp>
        <p:nvSpPr>
          <p:cNvPr id="6" name="Text 3"/>
          <p:cNvSpPr txBox="1"/>
          <p:nvPr/>
        </p:nvSpPr>
        <p:spPr>
          <a:xfrm>
            <a:off x="960120" y="1371600"/>
            <a:ext cx="5760720" cy="1280160"/>
          </a:xfrm>
          <a:prstGeom prst="rect">
            <a:avLst/>
          </a:prstGeom>
          <a:noFill/>
          <a:ln/>
        </p:spPr>
        <p:txBody>
          <a:bodyPr wrap="square" lIns="0" tIns="0" rIns="0" bIns="0" rtlCol="0" anchor="t"/>
          <a:lstStyle/>
          <a:p>
            <a:pPr indent="0" marL="0">
              <a:lnSpc>
                <a:spcPct val="95000"/>
              </a:lnSpc>
              <a:buNone/>
            </a:pPr>
            <a:r>
              <a:rPr lang="en-US" sz="3400" b="1" dirty="0">
                <a:solidFill>
                  <a:srgbClr val="FFFFFF"/>
                </a:solidFill>
                <a:latin typeface="Roboto" pitchFamily="34" charset="0"/>
                <a:ea typeface="Roboto" pitchFamily="34" charset="-122"/>
                <a:cs typeface="Roboto" pitchFamily="34" charset="-120"/>
              </a:rPr>
              <a:t>L'art grec. Arquitectura i escultura</a:t>
            </a:r>
            <a:endParaRPr lang="en-US" sz="3400" dirty="0"/>
          </a:p>
        </p:txBody>
      </p:sp>
      <p:sp>
        <p:nvSpPr>
          <p:cNvPr id="7" name="Pregunta guia"/>
          <p:cNvSpPr/>
          <p:nvPr/>
        </p:nvSpPr>
        <p:spPr>
          <a:xfrm>
            <a:off x="548640" y="4389120"/>
            <a:ext cx="6720840" cy="1645920"/>
          </a:xfrm>
          <a:prstGeom prst="roundRect">
            <a:avLst>
              <a:gd name="adj" fmla="val 6111"/>
            </a:avLst>
          </a:prstGeom>
          <a:solidFill>
            <a:srgbClr val="F6F8FB"/>
          </a:solidFill>
          <a:ln/>
        </p:spPr>
      </p:sp>
      <p:sp>
        <p:nvSpPr>
          <p:cNvPr id="8" name="Text 5"/>
          <p:cNvSpPr txBox="1"/>
          <p:nvPr/>
        </p:nvSpPr>
        <p:spPr>
          <a:xfrm>
            <a:off x="914400" y="4590288"/>
            <a:ext cx="4572000" cy="320040"/>
          </a:xfrm>
          <a:prstGeom prst="rect">
            <a:avLst/>
          </a:prstGeom>
          <a:noFill/>
          <a:ln/>
        </p:spPr>
        <p:txBody>
          <a:bodyPr wrap="square" lIns="0" tIns="0" rIns="0" bIns="0" rtlCol="0" anchor="t"/>
          <a:lstStyle/>
          <a:p>
            <a:pPr indent="0" marL="0">
              <a:buNone/>
            </a:pPr>
            <a:r>
              <a:rPr lang="en-US" sz="1300" b="1" dirty="0">
                <a:solidFill>
                  <a:srgbClr val="188038"/>
                </a:solidFill>
                <a:latin typeface="Roboto" pitchFamily="34" charset="0"/>
                <a:ea typeface="Roboto" pitchFamily="34" charset="-122"/>
                <a:cs typeface="Roboto" pitchFamily="34" charset="-120"/>
              </a:rPr>
              <a:t>Pregunta guia</a:t>
            </a:r>
            <a:endParaRPr lang="en-US" sz="1300" dirty="0"/>
          </a:p>
        </p:txBody>
      </p:sp>
      <p:sp>
        <p:nvSpPr>
          <p:cNvPr id="9" name="Text 6"/>
          <p:cNvSpPr txBox="1"/>
          <p:nvPr/>
        </p:nvSpPr>
        <p:spPr>
          <a:xfrm>
            <a:off x="914400" y="4937760"/>
            <a:ext cx="6035040" cy="914400"/>
          </a:xfrm>
          <a:prstGeom prst="rect">
            <a:avLst/>
          </a:prstGeom>
          <a:noFill/>
          <a:ln/>
        </p:spPr>
        <p:txBody>
          <a:bodyPr wrap="square" lIns="0" tIns="0" rIns="0" bIns="0" rtlCol="0" anchor="t"/>
          <a:lstStyle/>
          <a:p>
            <a:pPr indent="0" marL="0">
              <a:buNone/>
            </a:pPr>
            <a:r>
              <a:rPr lang="en-US" sz="1900" dirty="0">
                <a:solidFill>
                  <a:srgbClr val="5F6368"/>
                </a:solidFill>
                <a:latin typeface="Roboto" pitchFamily="34" charset="0"/>
                <a:ea typeface="Roboto" pitchFamily="34" charset="-122"/>
                <a:cs typeface="Roboto" pitchFamily="34" charset="-120"/>
              </a:rPr>
              <a:t>Per què tants bancs, museus i parlaments del món tenen columnes gregues?</a:t>
            </a:r>
            <a:endParaRPr lang="en-US" sz="1900" dirty="0"/>
          </a:p>
        </p:txBody>
      </p:sp>
      <p:sp>
        <p:nvSpPr>
          <p:cNvPr id="10" name="Fons L'art grec. Arquitectura i escultura"/>
          <p:cNvSpPr/>
          <p:nvPr/>
        </p:nvSpPr>
        <p:spPr>
          <a:xfrm>
            <a:off x="7635240" y="1485849"/>
            <a:ext cx="4007815" cy="2816455"/>
          </a:xfrm>
          <a:prstGeom prst="roundRect">
            <a:avLst>
              <a:gd name="adj" fmla="val 3571"/>
            </a:avLst>
          </a:prstGeom>
          <a:solidFill>
            <a:srgbClr val="F6F8FB"/>
          </a:solidFill>
          <a:ln/>
        </p:spPr>
      </p:sp>
      <p:pic>
        <p:nvPicPr>
          <p:cNvPr id="11" name="L'art grec. Arquitectura i escultura" descr="/home/claude/work/build/img/partenon.jpg">    </p:cNvPr>
          <p:cNvPicPr>
            <a:picLocks noChangeAspect="1"/>
          </p:cNvPicPr>
          <p:nvPr/>
        </p:nvPicPr>
        <p:blipFill>
          <a:blip r:embed="rId2"/>
          <a:stretch>
            <a:fillRect/>
          </a:stretch>
        </p:blipFill>
        <p:spPr>
          <a:xfrm>
            <a:off x="7635240" y="1485849"/>
            <a:ext cx="4007815" cy="2816455"/>
          </a:xfrm>
          <a:prstGeom prst="rect">
            <a:avLst/>
          </a:prstGeom>
        </p:spPr>
      </p:pic>
      <p:sp>
        <p:nvSpPr>
          <p:cNvPr id="12" name="Text 8"/>
          <p:cNvSpPr txBox="1"/>
          <p:nvPr/>
        </p:nvSpPr>
        <p:spPr>
          <a:xfrm>
            <a:off x="7635240" y="4412031"/>
            <a:ext cx="4007815"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El Partenó, a l'Acròpolis d'Atenes. Es va construir entre el 447 i el 432 aC i és d'ordre dòric. Foto: Steve Swayne (1978), Wikimedia Commons, CC BY 2.0.</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8</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El temple i els tres ordres</a:t>
            </a:r>
            <a:endParaRPr lang="en-US" sz="2800" dirty="0"/>
          </a:p>
        </p:txBody>
      </p:sp>
      <p:sp>
        <p:nvSpPr>
          <p:cNvPr id="5" name="Fons Els tres ordres grecs"/>
          <p:cNvSpPr/>
          <p:nvPr/>
        </p:nvSpPr>
        <p:spPr>
          <a:xfrm>
            <a:off x="548640" y="1371600"/>
            <a:ext cx="6766560" cy="4343400"/>
          </a:xfrm>
          <a:prstGeom prst="roundRect">
            <a:avLst>
              <a:gd name="adj" fmla="val 2316"/>
            </a:avLst>
          </a:prstGeom>
          <a:solidFill>
            <a:srgbClr val="F6F8FB"/>
          </a:solidFill>
          <a:ln/>
        </p:spPr>
      </p:sp>
      <p:pic>
        <p:nvPicPr>
          <p:cNvPr id="6" name="Els tres ordres grecs" descr="/home/claude/work/build/img/ordres.jpg">    </p:cNvPr>
          <p:cNvPicPr>
            <a:picLocks noChangeAspect="1"/>
          </p:cNvPicPr>
          <p:nvPr/>
        </p:nvPicPr>
        <p:blipFill>
          <a:blip r:embed="rId1"/>
          <a:stretch>
            <a:fillRect/>
          </a:stretch>
        </p:blipFill>
        <p:spPr>
          <a:xfrm>
            <a:off x="754723" y="1371600"/>
            <a:ext cx="6354394" cy="4343400"/>
          </a:xfrm>
          <a:prstGeom prst="rect">
            <a:avLst/>
          </a:prstGeom>
        </p:spPr>
      </p:pic>
      <p:sp>
        <p:nvSpPr>
          <p:cNvPr id="7" name="Text 4"/>
          <p:cNvSpPr txBox="1"/>
          <p:nvPr/>
        </p:nvSpPr>
        <p:spPr>
          <a:xfrm>
            <a:off x="548640" y="5806440"/>
            <a:ext cx="6766560"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Els tres ordres grecs. Dibuix: professordesocials.cat, CC BY-SA 4.0.</a:t>
            </a:r>
            <a:endParaRPr lang="en-US" sz="1000" dirty="0"/>
          </a:p>
        </p:txBody>
      </p:sp>
      <p:sp>
        <p:nvSpPr>
          <p:cNvPr id="8" name="Text 5"/>
          <p:cNvSpPr txBox="1"/>
          <p:nvPr/>
        </p:nvSpPr>
        <p:spPr>
          <a:xfrm>
            <a:off x="7589520" y="1371600"/>
            <a:ext cx="4053535" cy="1417320"/>
          </a:xfrm>
          <a:prstGeom prst="rect">
            <a:avLst/>
          </a:prstGeom>
          <a:noFill/>
          <a:ln/>
        </p:spPr>
        <p:txBody>
          <a:bodyPr wrap="square" lIns="0" tIns="0" rIns="0" bIns="0" rtlCol="0" anchor="t"/>
          <a:lstStyle/>
          <a:p>
            <a:pPr indent="0" marL="0">
              <a:buNone/>
            </a:pPr>
            <a:r>
              <a:rPr lang="en-US" sz="1600" dirty="0">
                <a:solidFill>
                  <a:srgbClr val="202124"/>
                </a:solidFill>
                <a:latin typeface="Roboto" pitchFamily="34" charset="0"/>
                <a:ea typeface="Roboto" pitchFamily="34" charset="-122"/>
                <a:cs typeface="Roboto" pitchFamily="34" charset="-120"/>
              </a:rPr>
              <a:t>El temple era la casa de l'estàtua del déu. Les cerimònies es feien a fora. Els tres ordres es distingeixen sobretot per la columna.</a:t>
            </a:r>
            <a:endParaRPr lang="en-US" sz="1600" dirty="0"/>
          </a:p>
        </p:txBody>
      </p:sp>
      <p:sp>
        <p:nvSpPr>
          <p:cNvPr id="9" name="Text 6"/>
          <p:cNvSpPr txBox="1"/>
          <p:nvPr/>
        </p:nvSpPr>
        <p:spPr>
          <a:xfrm>
            <a:off x="7589520" y="2834640"/>
            <a:ext cx="4053535" cy="1463040"/>
          </a:xfrm>
          <a:prstGeom prst="rect">
            <a:avLst/>
          </a:prstGeom>
          <a:noFill/>
          <a:ln/>
        </p:spPr>
        <p:txBody>
          <a:bodyPr wrap="square" lIns="0" tIns="0" rIns="0" bIns="0" rtlCol="0" anchor="t"/>
          <a:lstStyle/>
          <a:p>
            <a:pPr marL="228600" indent="-228600">
              <a:spcAft>
                <a:spcPts val="500"/>
              </a:spcAft>
              <a:buSzPct val="100000"/>
              <a:buChar char="•"/>
            </a:pPr>
            <a:r>
              <a:rPr lang="en-US" sz="1550" b="1" dirty="0">
                <a:solidFill>
                  <a:srgbClr val="202124"/>
                </a:solidFill>
                <a:latin typeface="Roboto" pitchFamily="34" charset="0"/>
                <a:ea typeface="Roboto" pitchFamily="34" charset="-122"/>
                <a:cs typeface="Roboto" pitchFamily="34" charset="-120"/>
              </a:rPr>
              <a:t>Dòric. </a:t>
            </a:r>
            <a:pPr indent="0" marL="0">
              <a:spcAft>
                <a:spcPts val="500"/>
              </a:spcAft>
              <a:buNone/>
            </a:pPr>
            <a:r>
              <a:rPr lang="en-US" sz="1550" dirty="0">
                <a:solidFill>
                  <a:srgbClr val="202124"/>
                </a:solidFill>
                <a:latin typeface="Roboto" pitchFamily="34" charset="0"/>
                <a:ea typeface="Roboto" pitchFamily="34" charset="-122"/>
                <a:cs typeface="Roboto" pitchFamily="34" charset="-120"/>
              </a:rPr>
              <a:t>El més sobri i robust. L'ordre del Partenó.</a:t>
            </a:r>
            <a:endParaRPr lang="en-US" sz="1550" dirty="0"/>
          </a:p>
          <a:p>
            <a:pPr marL="228600" indent="-228600">
              <a:spcAft>
                <a:spcPts val="500"/>
              </a:spcAft>
              <a:buSzPct val="100000"/>
              <a:buChar char="•"/>
            </a:pPr>
            <a:r>
              <a:rPr lang="en-US" sz="1550" b="1" dirty="0">
                <a:solidFill>
                  <a:srgbClr val="202124"/>
                </a:solidFill>
                <a:latin typeface="Roboto" pitchFamily="34" charset="0"/>
                <a:ea typeface="Roboto" pitchFamily="34" charset="-122"/>
                <a:cs typeface="Roboto" pitchFamily="34" charset="-120"/>
              </a:rPr>
              <a:t>Jònic. </a:t>
            </a:r>
            <a:pPr indent="0" marL="0">
              <a:spcAft>
                <a:spcPts val="500"/>
              </a:spcAft>
              <a:buNone/>
            </a:pPr>
            <a:r>
              <a:rPr lang="en-US" sz="1550" dirty="0">
                <a:solidFill>
                  <a:srgbClr val="202124"/>
                </a:solidFill>
                <a:latin typeface="Roboto" pitchFamily="34" charset="0"/>
                <a:ea typeface="Roboto" pitchFamily="34" charset="-122"/>
                <a:cs typeface="Roboto" pitchFamily="34" charset="-120"/>
              </a:rPr>
              <a:t>Més esvelt i elegant.</a:t>
            </a:r>
            <a:endParaRPr lang="en-US" sz="1550" dirty="0"/>
          </a:p>
          <a:p>
            <a:pPr marL="228600" indent="-228600">
              <a:spcAft>
                <a:spcPts val="500"/>
              </a:spcAft>
              <a:buSzPct val="100000"/>
              <a:buChar char="•"/>
            </a:pPr>
            <a:r>
              <a:rPr lang="en-US" sz="1550" b="1" dirty="0">
                <a:solidFill>
                  <a:srgbClr val="202124"/>
                </a:solidFill>
                <a:latin typeface="Roboto" pitchFamily="34" charset="0"/>
                <a:ea typeface="Roboto" pitchFamily="34" charset="-122"/>
                <a:cs typeface="Roboto" pitchFamily="34" charset="-120"/>
              </a:rPr>
              <a:t>Corinti. </a:t>
            </a:r>
            <a:pPr indent="0" marL="0">
              <a:spcAft>
                <a:spcPts val="500"/>
              </a:spcAft>
              <a:buNone/>
            </a:pPr>
            <a:r>
              <a:rPr lang="en-US" sz="1550" dirty="0">
                <a:solidFill>
                  <a:srgbClr val="202124"/>
                </a:solidFill>
                <a:latin typeface="Roboto" pitchFamily="34" charset="0"/>
                <a:ea typeface="Roboto" pitchFamily="34" charset="-122"/>
                <a:cs typeface="Roboto" pitchFamily="34" charset="-120"/>
              </a:rPr>
              <a:t>El més decorat. El preferit dels romans.</a:t>
            </a:r>
            <a:endParaRPr lang="en-US" sz="1550" dirty="0"/>
          </a:p>
        </p:txBody>
      </p:sp>
      <p:sp>
        <p:nvSpPr>
          <p:cNvPr id="10" name="Paraula clau · Ordre arquitectònic"/>
          <p:cNvSpPr/>
          <p:nvPr/>
        </p:nvSpPr>
        <p:spPr>
          <a:xfrm>
            <a:off x="7589520" y="4434840"/>
            <a:ext cx="4053535" cy="1554480"/>
          </a:xfrm>
          <a:prstGeom prst="roundRect">
            <a:avLst>
              <a:gd name="adj" fmla="val 6471"/>
            </a:avLst>
          </a:prstGeom>
          <a:solidFill>
            <a:srgbClr val="E6F4EA"/>
          </a:solidFill>
          <a:ln/>
        </p:spPr>
      </p:sp>
      <p:sp>
        <p:nvSpPr>
          <p:cNvPr id="11" name="Text 8"/>
          <p:cNvSpPr txBox="1"/>
          <p:nvPr/>
        </p:nvSpPr>
        <p:spPr>
          <a:xfrm>
            <a:off x="7909560" y="4590288"/>
            <a:ext cx="341345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Paraula clau · Ordre arquitectònic</a:t>
            </a:r>
            <a:endParaRPr lang="en-US" sz="1400" dirty="0"/>
          </a:p>
        </p:txBody>
      </p:sp>
      <p:sp>
        <p:nvSpPr>
          <p:cNvPr id="12" name="Text 9"/>
          <p:cNvSpPr txBox="1"/>
          <p:nvPr/>
        </p:nvSpPr>
        <p:spPr>
          <a:xfrm>
            <a:off x="7909560" y="4937760"/>
            <a:ext cx="3413455" cy="91440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Cadascun dels tres estils de l'arquitectura grega, identificables sobretot per la columna.</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8</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El Partenó</a:t>
            </a:r>
            <a:endParaRPr lang="en-US" sz="2800" dirty="0"/>
          </a:p>
        </p:txBody>
      </p:sp>
      <p:sp>
        <p:nvSpPr>
          <p:cNvPr id="5" name="Xifra"/>
          <p:cNvSpPr/>
          <p:nvPr/>
        </p:nvSpPr>
        <p:spPr>
          <a:xfrm>
            <a:off x="548640" y="1371600"/>
            <a:ext cx="3291840" cy="4617720"/>
          </a:xfrm>
          <a:prstGeom prst="roundRect">
            <a:avLst>
              <a:gd name="adj" fmla="val 3056"/>
            </a:avLst>
          </a:prstGeom>
          <a:solidFill>
            <a:srgbClr val="F6F8FB"/>
          </a:solidFill>
          <a:ln/>
        </p:spPr>
      </p:sp>
      <p:sp>
        <p:nvSpPr>
          <p:cNvPr id="6" name="Text 4"/>
          <p:cNvSpPr txBox="1"/>
          <p:nvPr/>
        </p:nvSpPr>
        <p:spPr>
          <a:xfrm>
            <a:off x="822960" y="1600200"/>
            <a:ext cx="2743200" cy="868680"/>
          </a:xfrm>
          <a:prstGeom prst="rect">
            <a:avLst/>
          </a:prstGeom>
          <a:noFill/>
          <a:ln/>
        </p:spPr>
        <p:txBody>
          <a:bodyPr wrap="square" lIns="0" tIns="0" rIns="0" bIns="0" rtlCol="0" anchor="t"/>
          <a:lstStyle/>
          <a:p>
            <a:pPr indent="0" marL="0">
              <a:buNone/>
            </a:pPr>
            <a:r>
              <a:rPr lang="en-US" sz="3600" b="1" dirty="0">
                <a:solidFill>
                  <a:srgbClr val="188038"/>
                </a:solidFill>
                <a:latin typeface="Roboto" pitchFamily="34" charset="0"/>
                <a:ea typeface="Roboto" pitchFamily="34" charset="-122"/>
                <a:cs typeface="Roboto" pitchFamily="34" charset="-120"/>
              </a:rPr>
              <a:t>447-432 aC</a:t>
            </a:r>
            <a:endParaRPr lang="en-US" sz="3600" dirty="0"/>
          </a:p>
        </p:txBody>
      </p:sp>
      <p:sp>
        <p:nvSpPr>
          <p:cNvPr id="7" name="Text 5"/>
          <p:cNvSpPr txBox="1"/>
          <p:nvPr/>
        </p:nvSpPr>
        <p:spPr>
          <a:xfrm>
            <a:off x="822960" y="2514600"/>
            <a:ext cx="2743200" cy="118872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Anys de construcció del Partenó, en temps de Pèricles.</a:t>
            </a:r>
            <a:endParaRPr lang="en-US" sz="1700" dirty="0"/>
          </a:p>
        </p:txBody>
      </p:sp>
      <p:sp>
        <p:nvSpPr>
          <p:cNvPr id="8" name="Text 6"/>
          <p:cNvSpPr txBox="1"/>
          <p:nvPr/>
        </p:nvSpPr>
        <p:spPr>
          <a:xfrm>
            <a:off x="822960" y="3611880"/>
            <a:ext cx="2743200" cy="914400"/>
          </a:xfrm>
          <a:prstGeom prst="rect">
            <a:avLst/>
          </a:prstGeom>
          <a:noFill/>
          <a:ln/>
        </p:spPr>
        <p:txBody>
          <a:bodyPr wrap="square" lIns="0" tIns="0" rIns="0" bIns="0" rtlCol="0" anchor="t"/>
          <a:lstStyle/>
          <a:p>
            <a:pPr indent="0" marL="0">
              <a:buNone/>
            </a:pPr>
            <a:r>
              <a:rPr lang="en-US" sz="1700" dirty="0">
                <a:solidFill>
                  <a:srgbClr val="5F6368"/>
                </a:solidFill>
                <a:latin typeface="Roboto" pitchFamily="34" charset="0"/>
                <a:ea typeface="Roboto" pitchFamily="34" charset="-122"/>
                <a:cs typeface="Roboto" pitchFamily="34" charset="-120"/>
              </a:rPr>
              <a:t>És l'obra mestra de l'art grec.</a:t>
            </a:r>
            <a:endParaRPr lang="en-US" sz="1700" dirty="0"/>
          </a:p>
        </p:txBody>
      </p:sp>
      <p:sp>
        <p:nvSpPr>
          <p:cNvPr id="9" name="Targeta Per a Atena"/>
          <p:cNvSpPr/>
          <p:nvPr/>
        </p:nvSpPr>
        <p:spPr>
          <a:xfrm>
            <a:off x="4114800" y="1371600"/>
            <a:ext cx="2357018" cy="2926080"/>
          </a:xfrm>
          <a:prstGeom prst="roundRect">
            <a:avLst>
              <a:gd name="adj" fmla="val 4267"/>
            </a:avLst>
          </a:prstGeom>
          <a:solidFill>
            <a:srgbClr val="FFFFFF"/>
          </a:solidFill>
          <a:ln w="12700">
            <a:solidFill>
              <a:srgbClr val="DADCE0"/>
            </a:solidFill>
            <a:prstDash val="solid"/>
          </a:ln>
        </p:spPr>
      </p:sp>
      <p:sp>
        <p:nvSpPr>
          <p:cNvPr id="10" name="Cercle icona"/>
          <p:cNvSpPr/>
          <p:nvPr/>
        </p:nvSpPr>
        <p:spPr>
          <a:xfrm>
            <a:off x="4343400" y="1600200"/>
            <a:ext cx="594360" cy="594360"/>
          </a:xfrm>
          <a:prstGeom prst="ellipse">
            <a:avLst/>
          </a:prstGeom>
          <a:solidFill>
            <a:srgbClr val="E6F4EA"/>
          </a:solidFill>
          <a:ln/>
        </p:spPr>
      </p:sp>
      <p:pic>
        <p:nvPicPr>
          <p:cNvPr id="11" name="Icona TbBuildingBank" descr="/home/claude/work/build/img/ic/TbBuildingBank-g.png">    </p:cNvPr>
          <p:cNvPicPr>
            <a:picLocks noChangeAspect="1"/>
          </p:cNvPicPr>
          <p:nvPr/>
        </p:nvPicPr>
        <p:blipFill>
          <a:blip r:embed="rId1"/>
          <a:stretch>
            <a:fillRect/>
          </a:stretch>
        </p:blipFill>
        <p:spPr>
          <a:xfrm>
            <a:off x="4474159" y="1730959"/>
            <a:ext cx="332842" cy="332842"/>
          </a:xfrm>
          <a:prstGeom prst="rect">
            <a:avLst/>
          </a:prstGeom>
        </p:spPr>
      </p:pic>
      <p:sp>
        <p:nvSpPr>
          <p:cNvPr id="12" name="Text 9"/>
          <p:cNvSpPr txBox="1"/>
          <p:nvPr/>
        </p:nvSpPr>
        <p:spPr>
          <a:xfrm>
            <a:off x="4343400" y="2331720"/>
            <a:ext cx="1899818" cy="274320"/>
          </a:xfrm>
          <a:prstGeom prst="rect">
            <a:avLst/>
          </a:prstGeom>
          <a:noFill/>
          <a:ln/>
        </p:spPr>
        <p:txBody>
          <a:bodyPr wrap="square" lIns="0" tIns="0" rIns="0" bIns="0" rtlCol="0" anchor="t"/>
          <a:lstStyle/>
          <a:p>
            <a:pPr indent="0" marL="0">
              <a:buNone/>
            </a:pPr>
            <a:r>
              <a:rPr lang="en-US" sz="1800" b="1" dirty="0">
                <a:solidFill>
                  <a:srgbClr val="188038"/>
                </a:solidFill>
                <a:latin typeface="Roboto" pitchFamily="34" charset="0"/>
                <a:ea typeface="Roboto" pitchFamily="34" charset="-122"/>
                <a:cs typeface="Roboto" pitchFamily="34" charset="-120"/>
              </a:rPr>
              <a:t>Per a Atena</a:t>
            </a:r>
            <a:endParaRPr lang="en-US" sz="1800" dirty="0"/>
          </a:p>
        </p:txBody>
      </p:sp>
      <p:sp>
        <p:nvSpPr>
          <p:cNvPr id="13" name="Text 10"/>
          <p:cNvSpPr txBox="1"/>
          <p:nvPr/>
        </p:nvSpPr>
        <p:spPr>
          <a:xfrm>
            <a:off x="4343400" y="2697480"/>
            <a:ext cx="1899818" cy="146304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El temple de la deessa, a l'Acròpolis d'Atenes. D'ordre dòric.</a:t>
            </a:r>
            <a:endParaRPr lang="en-US" sz="1500" dirty="0"/>
          </a:p>
        </p:txBody>
      </p:sp>
      <p:sp>
        <p:nvSpPr>
          <p:cNvPr id="14" name="Targeta Fídies"/>
          <p:cNvSpPr/>
          <p:nvPr/>
        </p:nvSpPr>
        <p:spPr>
          <a:xfrm>
            <a:off x="6700418" y="1371600"/>
            <a:ext cx="2357018" cy="2926080"/>
          </a:xfrm>
          <a:prstGeom prst="roundRect">
            <a:avLst>
              <a:gd name="adj" fmla="val 4267"/>
            </a:avLst>
          </a:prstGeom>
          <a:solidFill>
            <a:srgbClr val="FFFFFF"/>
          </a:solidFill>
          <a:ln w="12700">
            <a:solidFill>
              <a:srgbClr val="DADCE0"/>
            </a:solidFill>
            <a:prstDash val="solid"/>
          </a:ln>
        </p:spPr>
      </p:sp>
      <p:sp>
        <p:nvSpPr>
          <p:cNvPr id="15" name="Cercle icona"/>
          <p:cNvSpPr/>
          <p:nvPr/>
        </p:nvSpPr>
        <p:spPr>
          <a:xfrm>
            <a:off x="6929018" y="1600200"/>
            <a:ext cx="594360" cy="594360"/>
          </a:xfrm>
          <a:prstGeom prst="ellipse">
            <a:avLst/>
          </a:prstGeom>
          <a:solidFill>
            <a:srgbClr val="E6F4EA"/>
          </a:solidFill>
          <a:ln/>
        </p:spPr>
      </p:sp>
      <p:pic>
        <p:nvPicPr>
          <p:cNvPr id="16" name="Icona TbPalette" descr="/home/claude/work/build/img/ic/TbPalette-g.png">    </p:cNvPr>
          <p:cNvPicPr>
            <a:picLocks noChangeAspect="1"/>
          </p:cNvPicPr>
          <p:nvPr/>
        </p:nvPicPr>
        <p:blipFill>
          <a:blip r:embed="rId2"/>
          <a:stretch>
            <a:fillRect/>
          </a:stretch>
        </p:blipFill>
        <p:spPr>
          <a:xfrm>
            <a:off x="7059778" y="1730959"/>
            <a:ext cx="332842" cy="332842"/>
          </a:xfrm>
          <a:prstGeom prst="rect">
            <a:avLst/>
          </a:prstGeom>
        </p:spPr>
      </p:pic>
      <p:sp>
        <p:nvSpPr>
          <p:cNvPr id="17" name="Text 13"/>
          <p:cNvSpPr txBox="1"/>
          <p:nvPr/>
        </p:nvSpPr>
        <p:spPr>
          <a:xfrm>
            <a:off x="6929018" y="2331720"/>
            <a:ext cx="1899818" cy="274320"/>
          </a:xfrm>
          <a:prstGeom prst="rect">
            <a:avLst/>
          </a:prstGeom>
          <a:noFill/>
          <a:ln/>
        </p:spPr>
        <p:txBody>
          <a:bodyPr wrap="square" lIns="0" tIns="0" rIns="0" bIns="0" rtlCol="0" anchor="t"/>
          <a:lstStyle/>
          <a:p>
            <a:pPr indent="0" marL="0">
              <a:buNone/>
            </a:pPr>
            <a:r>
              <a:rPr lang="en-US" sz="1800" b="1" dirty="0">
                <a:solidFill>
                  <a:srgbClr val="188038"/>
                </a:solidFill>
                <a:latin typeface="Roboto" pitchFamily="34" charset="0"/>
                <a:ea typeface="Roboto" pitchFamily="34" charset="-122"/>
                <a:cs typeface="Roboto" pitchFamily="34" charset="-120"/>
              </a:rPr>
              <a:t>Fídies</a:t>
            </a:r>
            <a:endParaRPr lang="en-US" sz="1800" dirty="0"/>
          </a:p>
        </p:txBody>
      </p:sp>
      <p:sp>
        <p:nvSpPr>
          <p:cNvPr id="18" name="Text 14"/>
          <p:cNvSpPr txBox="1"/>
          <p:nvPr/>
        </p:nvSpPr>
        <p:spPr>
          <a:xfrm>
            <a:off x="6929018" y="2697480"/>
            <a:ext cx="1899818" cy="146304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L'escultor que va dirigir les obres.</a:t>
            </a:r>
            <a:endParaRPr lang="en-US" sz="1500" dirty="0"/>
          </a:p>
        </p:txBody>
      </p:sp>
      <p:sp>
        <p:nvSpPr>
          <p:cNvPr id="19" name="Targeta Marbre i càlcul"/>
          <p:cNvSpPr/>
          <p:nvPr/>
        </p:nvSpPr>
        <p:spPr>
          <a:xfrm>
            <a:off x="9286037" y="1371600"/>
            <a:ext cx="2357018" cy="2926080"/>
          </a:xfrm>
          <a:prstGeom prst="roundRect">
            <a:avLst>
              <a:gd name="adj" fmla="val 4267"/>
            </a:avLst>
          </a:prstGeom>
          <a:solidFill>
            <a:srgbClr val="FFFFFF"/>
          </a:solidFill>
          <a:ln w="12700">
            <a:solidFill>
              <a:srgbClr val="DADCE0"/>
            </a:solidFill>
            <a:prstDash val="solid"/>
          </a:ln>
        </p:spPr>
      </p:sp>
      <p:sp>
        <p:nvSpPr>
          <p:cNvPr id="20" name="Cercle icona"/>
          <p:cNvSpPr/>
          <p:nvPr/>
        </p:nvSpPr>
        <p:spPr>
          <a:xfrm>
            <a:off x="9514637" y="1600200"/>
            <a:ext cx="594360" cy="594360"/>
          </a:xfrm>
          <a:prstGeom prst="ellipse">
            <a:avLst/>
          </a:prstGeom>
          <a:solidFill>
            <a:srgbClr val="E6F4EA"/>
          </a:solidFill>
          <a:ln/>
        </p:spPr>
      </p:sp>
      <p:pic>
        <p:nvPicPr>
          <p:cNvPr id="21" name="Icona TbMathFunction" descr="/home/claude/work/build/img/ic/TbMathFunction-g.png">    </p:cNvPr>
          <p:cNvPicPr>
            <a:picLocks noChangeAspect="1"/>
          </p:cNvPicPr>
          <p:nvPr/>
        </p:nvPicPr>
        <p:blipFill>
          <a:blip r:embed="rId3"/>
          <a:stretch>
            <a:fillRect/>
          </a:stretch>
        </p:blipFill>
        <p:spPr>
          <a:xfrm>
            <a:off x="9645396" y="1730959"/>
            <a:ext cx="332842" cy="332842"/>
          </a:xfrm>
          <a:prstGeom prst="rect">
            <a:avLst/>
          </a:prstGeom>
        </p:spPr>
      </p:pic>
      <p:sp>
        <p:nvSpPr>
          <p:cNvPr id="22" name="Text 17"/>
          <p:cNvSpPr txBox="1"/>
          <p:nvPr/>
        </p:nvSpPr>
        <p:spPr>
          <a:xfrm>
            <a:off x="9514637" y="2331720"/>
            <a:ext cx="1899818" cy="274320"/>
          </a:xfrm>
          <a:prstGeom prst="rect">
            <a:avLst/>
          </a:prstGeom>
          <a:noFill/>
          <a:ln/>
        </p:spPr>
        <p:txBody>
          <a:bodyPr wrap="square" lIns="0" tIns="0" rIns="0" bIns="0" rtlCol="0" anchor="t"/>
          <a:lstStyle/>
          <a:p>
            <a:pPr indent="0" marL="0">
              <a:buNone/>
            </a:pPr>
            <a:r>
              <a:rPr lang="en-US" sz="1800" b="1" dirty="0">
                <a:solidFill>
                  <a:srgbClr val="188038"/>
                </a:solidFill>
                <a:latin typeface="Roboto" pitchFamily="34" charset="0"/>
                <a:ea typeface="Roboto" pitchFamily="34" charset="-122"/>
                <a:cs typeface="Roboto" pitchFamily="34" charset="-120"/>
              </a:rPr>
              <a:t>Marbre i càlcul</a:t>
            </a:r>
            <a:endParaRPr lang="en-US" sz="1800" dirty="0"/>
          </a:p>
        </p:txBody>
      </p:sp>
      <p:sp>
        <p:nvSpPr>
          <p:cNvPr id="23" name="Text 18"/>
          <p:cNvSpPr txBox="1"/>
          <p:nvPr/>
        </p:nvSpPr>
        <p:spPr>
          <a:xfrm>
            <a:off x="9514637" y="2697480"/>
            <a:ext cx="1899818" cy="146304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Marbre blanc, proporcions calculadíssimes i correccions òptiques perquè, de lluny, sembli perfecte.</a:t>
            </a:r>
            <a:endParaRPr lang="en-US" sz="1500" dirty="0"/>
          </a:p>
        </p:txBody>
      </p:sp>
      <p:sp>
        <p:nvSpPr>
          <p:cNvPr id="24" name="D'on van sortir els diners?"/>
          <p:cNvSpPr/>
          <p:nvPr/>
        </p:nvSpPr>
        <p:spPr>
          <a:xfrm>
            <a:off x="4114800" y="4526280"/>
            <a:ext cx="7528255" cy="1463040"/>
          </a:xfrm>
          <a:prstGeom prst="roundRect">
            <a:avLst>
              <a:gd name="adj" fmla="val 6875"/>
            </a:avLst>
          </a:prstGeom>
          <a:solidFill>
            <a:srgbClr val="F6F8FB"/>
          </a:solidFill>
          <a:ln/>
        </p:spPr>
      </p:sp>
      <p:sp>
        <p:nvSpPr>
          <p:cNvPr id="25" name="Text 20"/>
          <p:cNvSpPr txBox="1"/>
          <p:nvPr/>
        </p:nvSpPr>
        <p:spPr>
          <a:xfrm>
            <a:off x="4434840" y="4681728"/>
            <a:ext cx="6888175"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D'on van sortir els diners?</a:t>
            </a:r>
            <a:endParaRPr lang="en-US" sz="1400" dirty="0"/>
          </a:p>
        </p:txBody>
      </p:sp>
      <p:sp>
        <p:nvSpPr>
          <p:cNvPr id="26" name="Text 21"/>
          <p:cNvSpPr txBox="1"/>
          <p:nvPr/>
        </p:nvSpPr>
        <p:spPr>
          <a:xfrm>
            <a:off x="4434840" y="5029200"/>
            <a:ext cx="6888175" cy="822960"/>
          </a:xfrm>
          <a:prstGeom prst="rect">
            <a:avLst/>
          </a:prstGeom>
          <a:noFill/>
          <a:ln/>
        </p:spPr>
        <p:txBody>
          <a:bodyPr wrap="square" lIns="0" tIns="0" rIns="0" bIns="0" rtlCol="0" anchor="t"/>
          <a:lstStyle/>
          <a:p>
            <a:pPr indent="0" marL="0">
              <a:buNone/>
            </a:pPr>
            <a:r>
              <a:rPr lang="en-US" sz="1700" dirty="0">
                <a:solidFill>
                  <a:srgbClr val="5F6368"/>
                </a:solidFill>
                <a:latin typeface="Roboto" pitchFamily="34" charset="0"/>
                <a:ea typeface="Roboto" pitchFamily="34" charset="-122"/>
                <a:cs typeface="Roboto" pitchFamily="34" charset="-120"/>
              </a:rPr>
              <a:t>En part, del tresor de la lliga de Delos (apartat 4).</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8</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L'escultura. La conquesta del moviment</a:t>
            </a:r>
            <a:endParaRPr lang="en-US" sz="2800" dirty="0"/>
          </a:p>
        </p:txBody>
      </p:sp>
      <p:sp>
        <p:nvSpPr>
          <p:cNvPr id="5" name="Text 3"/>
          <p:cNvSpPr txBox="1"/>
          <p:nvPr/>
        </p:nvSpPr>
        <p:spPr>
          <a:xfrm>
            <a:off x="548640" y="1371600"/>
            <a:ext cx="11094415" cy="457200"/>
          </a:xfrm>
          <a:prstGeom prst="rect">
            <a:avLst/>
          </a:prstGeom>
          <a:noFill/>
          <a:ln/>
        </p:spPr>
        <p:txBody>
          <a:bodyPr wrap="square" lIns="0" tIns="0" rIns="0" bIns="0" rtlCol="0" anchor="t"/>
          <a:lstStyle/>
          <a:p>
            <a:pPr indent="0" marL="0">
              <a:buNone/>
            </a:pPr>
            <a:r>
              <a:rPr lang="en-US" sz="1600" dirty="0">
                <a:solidFill>
                  <a:srgbClr val="202124"/>
                </a:solidFill>
                <a:latin typeface="Roboto" pitchFamily="34" charset="0"/>
                <a:ea typeface="Roboto" pitchFamily="34" charset="-122"/>
                <a:cs typeface="Roboto" pitchFamily="34" charset="-120"/>
              </a:rPr>
              <a:t>L'escultura grega va evolucionar en tres etapes, buscant la perfecció del cos humà.</a:t>
            </a:r>
            <a:endParaRPr lang="en-US" sz="1600" dirty="0"/>
          </a:p>
        </p:txBody>
      </p:sp>
      <p:sp>
        <p:nvSpPr>
          <p:cNvPr id="6" name="Fons Kuros d'Anàvissos, cap al 530 aC"/>
          <p:cNvSpPr/>
          <p:nvPr/>
        </p:nvSpPr>
        <p:spPr>
          <a:xfrm>
            <a:off x="548640" y="1874520"/>
            <a:ext cx="3423818" cy="2468880"/>
          </a:xfrm>
          <a:prstGeom prst="roundRect">
            <a:avLst>
              <a:gd name="adj" fmla="val 4074"/>
            </a:avLst>
          </a:prstGeom>
          <a:solidFill>
            <a:srgbClr val="F6F8FB"/>
          </a:solidFill>
          <a:ln/>
        </p:spPr>
      </p:sp>
      <p:pic>
        <p:nvPicPr>
          <p:cNvPr id="7" name="Kuros d'Anàvissos, cap al 530 aC" descr="/home/claude/work/build/img/kuros.jpg">    </p:cNvPr>
          <p:cNvPicPr>
            <a:picLocks noChangeAspect="1"/>
          </p:cNvPicPr>
          <p:nvPr/>
        </p:nvPicPr>
        <p:blipFill>
          <a:blip r:embed="rId1"/>
          <a:stretch>
            <a:fillRect/>
          </a:stretch>
        </p:blipFill>
        <p:spPr>
          <a:xfrm>
            <a:off x="1530995" y="1874520"/>
            <a:ext cx="1459108" cy="2468880"/>
          </a:xfrm>
          <a:prstGeom prst="rect">
            <a:avLst/>
          </a:prstGeom>
        </p:spPr>
      </p:pic>
      <p:sp>
        <p:nvSpPr>
          <p:cNvPr id="8" name="Text 5"/>
          <p:cNvSpPr txBox="1"/>
          <p:nvPr/>
        </p:nvSpPr>
        <p:spPr>
          <a:xfrm>
            <a:off x="548640" y="4434840"/>
            <a:ext cx="3423818"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Kuros d'Anàvissos, cap al 530 aC. Museu Arqueològic Nacional d'Atenes. Foto: Jebulon, CC0.</a:t>
            </a:r>
            <a:endParaRPr lang="en-US" sz="1000" dirty="0"/>
          </a:p>
        </p:txBody>
      </p:sp>
      <p:sp>
        <p:nvSpPr>
          <p:cNvPr id="9" name="Fons Còpia romana del Discòbol de Miró"/>
          <p:cNvSpPr/>
          <p:nvPr/>
        </p:nvSpPr>
        <p:spPr>
          <a:xfrm>
            <a:off x="4383938" y="1874520"/>
            <a:ext cx="3423818" cy="2468880"/>
          </a:xfrm>
          <a:prstGeom prst="roundRect">
            <a:avLst>
              <a:gd name="adj" fmla="val 4074"/>
            </a:avLst>
          </a:prstGeom>
          <a:solidFill>
            <a:srgbClr val="F6F8FB"/>
          </a:solidFill>
          <a:ln/>
        </p:spPr>
      </p:sp>
      <p:pic>
        <p:nvPicPr>
          <p:cNvPr id="10" name="Còpia romana del Discòbol de Miró" descr="/home/claude/work/build/img/discobol.jpg">    </p:cNvPr>
          <p:cNvPicPr>
            <a:picLocks noChangeAspect="1"/>
          </p:cNvPicPr>
          <p:nvPr/>
        </p:nvPicPr>
        <p:blipFill>
          <a:blip r:embed="rId2"/>
          <a:stretch>
            <a:fillRect/>
          </a:stretch>
        </p:blipFill>
        <p:spPr>
          <a:xfrm>
            <a:off x="5357652" y="1874520"/>
            <a:ext cx="1476390" cy="2468880"/>
          </a:xfrm>
          <a:prstGeom prst="rect">
            <a:avLst/>
          </a:prstGeom>
        </p:spPr>
      </p:pic>
      <p:sp>
        <p:nvSpPr>
          <p:cNvPr id="11" name="Text 7"/>
          <p:cNvSpPr txBox="1"/>
          <p:nvPr/>
        </p:nvSpPr>
        <p:spPr>
          <a:xfrm>
            <a:off x="4383938" y="4434840"/>
            <a:ext cx="3423818"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Còpia romana del Discòbol de Miró. Museu Nacional Romà. Foto: Livioandronico2013, CC BY-SA 4.0.</a:t>
            </a:r>
            <a:endParaRPr lang="en-US" sz="1000" dirty="0"/>
          </a:p>
        </p:txBody>
      </p:sp>
      <p:sp>
        <p:nvSpPr>
          <p:cNvPr id="12" name="Fons Laocoont"/>
          <p:cNvSpPr/>
          <p:nvPr/>
        </p:nvSpPr>
        <p:spPr>
          <a:xfrm>
            <a:off x="8219237" y="1874520"/>
            <a:ext cx="1643329" cy="2468880"/>
          </a:xfrm>
          <a:prstGeom prst="roundRect">
            <a:avLst>
              <a:gd name="adj" fmla="val 6121"/>
            </a:avLst>
          </a:prstGeom>
          <a:solidFill>
            <a:srgbClr val="F6F8FB"/>
          </a:solidFill>
          <a:ln/>
        </p:spPr>
      </p:sp>
      <p:pic>
        <p:nvPicPr>
          <p:cNvPr id="13" name="Laocoont" descr="/home/claude/work/build/img/laocoont.jpg">    </p:cNvPr>
          <p:cNvPicPr>
            <a:picLocks noChangeAspect="1"/>
          </p:cNvPicPr>
          <p:nvPr/>
        </p:nvPicPr>
        <p:blipFill>
          <a:blip r:embed="rId3"/>
          <a:stretch>
            <a:fillRect/>
          </a:stretch>
        </p:blipFill>
        <p:spPr>
          <a:xfrm>
            <a:off x="8219237" y="2215846"/>
            <a:ext cx="1643329" cy="1786227"/>
          </a:xfrm>
          <a:prstGeom prst="rect">
            <a:avLst/>
          </a:prstGeom>
        </p:spPr>
      </p:pic>
      <p:sp>
        <p:nvSpPr>
          <p:cNvPr id="14" name="Fons Victòria de Samotràcia"/>
          <p:cNvSpPr/>
          <p:nvPr/>
        </p:nvSpPr>
        <p:spPr>
          <a:xfrm>
            <a:off x="9999726" y="1874520"/>
            <a:ext cx="1643329" cy="2468880"/>
          </a:xfrm>
          <a:prstGeom prst="roundRect">
            <a:avLst>
              <a:gd name="adj" fmla="val 6121"/>
            </a:avLst>
          </a:prstGeom>
          <a:solidFill>
            <a:srgbClr val="F6F8FB"/>
          </a:solidFill>
          <a:ln/>
        </p:spPr>
      </p:sp>
      <p:pic>
        <p:nvPicPr>
          <p:cNvPr id="15" name="Victòria de Samotràcia" descr="/home/claude/work/build/img/nike.jpg">    </p:cNvPr>
          <p:cNvPicPr>
            <a:picLocks noChangeAspect="1"/>
          </p:cNvPicPr>
          <p:nvPr/>
        </p:nvPicPr>
        <p:blipFill>
          <a:blip r:embed="rId4"/>
          <a:stretch>
            <a:fillRect/>
          </a:stretch>
        </p:blipFill>
        <p:spPr>
          <a:xfrm>
            <a:off x="9999726" y="2208999"/>
            <a:ext cx="1643329" cy="1799922"/>
          </a:xfrm>
          <a:prstGeom prst="rect">
            <a:avLst/>
          </a:prstGeom>
        </p:spPr>
      </p:pic>
      <p:sp>
        <p:nvSpPr>
          <p:cNvPr id="16" name="Text 10"/>
          <p:cNvSpPr txBox="1"/>
          <p:nvPr/>
        </p:nvSpPr>
        <p:spPr>
          <a:xfrm>
            <a:off x="8219237" y="4434840"/>
            <a:ext cx="3423818" cy="4572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El Laocoont (Museus Vaticans) i la Victòria de Samotràcia (Louvre). Fotos: Wilfredor, CC0.</a:t>
            </a:r>
            <a:endParaRPr lang="en-US" sz="1000" dirty="0"/>
          </a:p>
        </p:txBody>
      </p:sp>
      <p:sp>
        <p:nvSpPr>
          <p:cNvPr id="17" name="Text 11"/>
          <p:cNvSpPr txBox="1"/>
          <p:nvPr/>
        </p:nvSpPr>
        <p:spPr>
          <a:xfrm>
            <a:off x="548640" y="4937760"/>
            <a:ext cx="3423818" cy="365760"/>
          </a:xfrm>
          <a:prstGeom prst="rect">
            <a:avLst/>
          </a:prstGeom>
          <a:noFill/>
          <a:ln/>
        </p:spPr>
        <p:txBody>
          <a:bodyPr wrap="square" lIns="0" tIns="0" rIns="0" bIns="0" rtlCol="0" anchor="t"/>
          <a:lstStyle/>
          <a:p>
            <a:pPr indent="0" marL="0">
              <a:buNone/>
            </a:pPr>
            <a:r>
              <a:rPr lang="en-US" sz="1800" b="1" dirty="0">
                <a:solidFill>
                  <a:srgbClr val="188038"/>
                </a:solidFill>
                <a:latin typeface="Roboto" pitchFamily="34" charset="0"/>
                <a:ea typeface="Roboto" pitchFamily="34" charset="-122"/>
                <a:cs typeface="Roboto" pitchFamily="34" charset="-120"/>
              </a:rPr>
              <a:t>Època arcaica</a:t>
            </a:r>
            <a:endParaRPr lang="en-US" sz="1800" dirty="0"/>
          </a:p>
        </p:txBody>
      </p:sp>
      <p:sp>
        <p:nvSpPr>
          <p:cNvPr id="18" name="Text 12"/>
          <p:cNvSpPr txBox="1"/>
          <p:nvPr/>
        </p:nvSpPr>
        <p:spPr>
          <a:xfrm>
            <a:off x="548640" y="5303520"/>
            <a:ext cx="3423818" cy="68580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Figures rígides i frontals, amb el «somriure arcaic».</a:t>
            </a:r>
            <a:endParaRPr lang="en-US" sz="1450" dirty="0"/>
          </a:p>
        </p:txBody>
      </p:sp>
      <p:sp>
        <p:nvSpPr>
          <p:cNvPr id="19" name="Fletxa"/>
          <p:cNvSpPr/>
          <p:nvPr/>
        </p:nvSpPr>
        <p:spPr>
          <a:xfrm>
            <a:off x="4091330" y="3017520"/>
            <a:ext cx="182880" cy="274320"/>
          </a:xfrm>
          <a:prstGeom prst="chevron">
            <a:avLst/>
          </a:prstGeom>
          <a:solidFill>
            <a:srgbClr val="188038"/>
          </a:solidFill>
          <a:ln/>
        </p:spPr>
      </p:sp>
      <p:sp>
        <p:nvSpPr>
          <p:cNvPr id="20" name="Text 14"/>
          <p:cNvSpPr txBox="1"/>
          <p:nvPr/>
        </p:nvSpPr>
        <p:spPr>
          <a:xfrm>
            <a:off x="4383938" y="4937760"/>
            <a:ext cx="3423818" cy="365760"/>
          </a:xfrm>
          <a:prstGeom prst="rect">
            <a:avLst/>
          </a:prstGeom>
          <a:noFill/>
          <a:ln/>
        </p:spPr>
        <p:txBody>
          <a:bodyPr wrap="square" lIns="0" tIns="0" rIns="0" bIns="0" rtlCol="0" anchor="t"/>
          <a:lstStyle/>
          <a:p>
            <a:pPr indent="0" marL="0">
              <a:buNone/>
            </a:pPr>
            <a:r>
              <a:rPr lang="en-US" sz="1800" b="1" dirty="0">
                <a:solidFill>
                  <a:srgbClr val="188038"/>
                </a:solidFill>
                <a:latin typeface="Roboto" pitchFamily="34" charset="0"/>
                <a:ea typeface="Roboto" pitchFamily="34" charset="-122"/>
                <a:cs typeface="Roboto" pitchFamily="34" charset="-120"/>
              </a:rPr>
              <a:t>Època clàssica</a:t>
            </a:r>
            <a:endParaRPr lang="en-US" sz="1800" dirty="0"/>
          </a:p>
        </p:txBody>
      </p:sp>
      <p:sp>
        <p:nvSpPr>
          <p:cNvPr id="21" name="Text 15"/>
          <p:cNvSpPr txBox="1"/>
          <p:nvPr/>
        </p:nvSpPr>
        <p:spPr>
          <a:xfrm>
            <a:off x="4383938" y="5303520"/>
            <a:ext cx="3423818" cy="68580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Equilibri i bellesa ideal. El Discòbol de Miró, el Dorífor de Policlet.</a:t>
            </a:r>
            <a:endParaRPr lang="en-US" sz="1450" dirty="0"/>
          </a:p>
        </p:txBody>
      </p:sp>
      <p:sp>
        <p:nvSpPr>
          <p:cNvPr id="22" name="Fletxa"/>
          <p:cNvSpPr/>
          <p:nvPr/>
        </p:nvSpPr>
        <p:spPr>
          <a:xfrm>
            <a:off x="7926629" y="3017520"/>
            <a:ext cx="182880" cy="274320"/>
          </a:xfrm>
          <a:prstGeom prst="chevron">
            <a:avLst/>
          </a:prstGeom>
          <a:solidFill>
            <a:srgbClr val="188038"/>
          </a:solidFill>
          <a:ln/>
        </p:spPr>
      </p:sp>
      <p:sp>
        <p:nvSpPr>
          <p:cNvPr id="23" name="Text 17"/>
          <p:cNvSpPr txBox="1"/>
          <p:nvPr/>
        </p:nvSpPr>
        <p:spPr>
          <a:xfrm>
            <a:off x="8219237" y="4937760"/>
            <a:ext cx="3423818" cy="365760"/>
          </a:xfrm>
          <a:prstGeom prst="rect">
            <a:avLst/>
          </a:prstGeom>
          <a:noFill/>
          <a:ln/>
        </p:spPr>
        <p:txBody>
          <a:bodyPr wrap="square" lIns="0" tIns="0" rIns="0" bIns="0" rtlCol="0" anchor="t"/>
          <a:lstStyle/>
          <a:p>
            <a:pPr indent="0" marL="0">
              <a:buNone/>
            </a:pPr>
            <a:r>
              <a:rPr lang="en-US" sz="1800" b="1" dirty="0">
                <a:solidFill>
                  <a:srgbClr val="188038"/>
                </a:solidFill>
                <a:latin typeface="Roboto" pitchFamily="34" charset="0"/>
                <a:ea typeface="Roboto" pitchFamily="34" charset="-122"/>
                <a:cs typeface="Roboto" pitchFamily="34" charset="-120"/>
              </a:rPr>
              <a:t>Hel·lenisme</a:t>
            </a:r>
            <a:endParaRPr lang="en-US" sz="1800" dirty="0"/>
          </a:p>
        </p:txBody>
      </p:sp>
      <p:sp>
        <p:nvSpPr>
          <p:cNvPr id="24" name="Text 18"/>
          <p:cNvSpPr txBox="1"/>
          <p:nvPr/>
        </p:nvSpPr>
        <p:spPr>
          <a:xfrm>
            <a:off x="8219237" y="5303520"/>
            <a:ext cx="3423818" cy="68580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Moviment, emoció i dramatisme. El Laocoont, la Victòria de Samotràcia.</a:t>
            </a:r>
            <a:endParaRPr lang="en-US" sz="14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8</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De quin color eren?</a:t>
            </a:r>
            <a:endParaRPr lang="en-US" sz="2800" dirty="0"/>
          </a:p>
        </p:txBody>
      </p:sp>
      <p:sp>
        <p:nvSpPr>
          <p:cNvPr id="5" name="Cercle icona"/>
          <p:cNvSpPr/>
          <p:nvPr/>
        </p:nvSpPr>
        <p:spPr>
          <a:xfrm>
            <a:off x="548640" y="1463040"/>
            <a:ext cx="1188720" cy="1188720"/>
          </a:xfrm>
          <a:prstGeom prst="ellipse">
            <a:avLst/>
          </a:prstGeom>
          <a:solidFill>
            <a:srgbClr val="E6F4EA"/>
          </a:solidFill>
          <a:ln/>
        </p:spPr>
      </p:sp>
      <p:pic>
        <p:nvPicPr>
          <p:cNvPr id="6" name="Icona TbPalette" descr="/home/claude/work/build/img/ic/TbPalette-g.png">    </p:cNvPr>
          <p:cNvPicPr>
            <a:picLocks noChangeAspect="1"/>
          </p:cNvPicPr>
          <p:nvPr/>
        </p:nvPicPr>
        <p:blipFill>
          <a:blip r:embed="rId1"/>
          <a:stretch>
            <a:fillRect/>
          </a:stretch>
        </p:blipFill>
        <p:spPr>
          <a:xfrm>
            <a:off x="810158" y="1724558"/>
            <a:ext cx="665683" cy="665683"/>
          </a:xfrm>
          <a:prstGeom prst="rect">
            <a:avLst/>
          </a:prstGeom>
        </p:spPr>
      </p:pic>
      <p:sp>
        <p:nvSpPr>
          <p:cNvPr id="7" name="Saps que…?"/>
          <p:cNvSpPr/>
          <p:nvPr/>
        </p:nvSpPr>
        <p:spPr>
          <a:xfrm>
            <a:off x="2011680" y="1371600"/>
            <a:ext cx="9631375" cy="2194560"/>
          </a:xfrm>
          <a:prstGeom prst="roundRect">
            <a:avLst>
              <a:gd name="adj" fmla="val 4583"/>
            </a:avLst>
          </a:prstGeom>
          <a:solidFill>
            <a:srgbClr val="E6F4EA"/>
          </a:solidFill>
          <a:ln/>
        </p:spPr>
      </p:sp>
      <p:sp>
        <p:nvSpPr>
          <p:cNvPr id="8" name="Text 5"/>
          <p:cNvSpPr txBox="1"/>
          <p:nvPr/>
        </p:nvSpPr>
        <p:spPr>
          <a:xfrm>
            <a:off x="2331720" y="1527048"/>
            <a:ext cx="899129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Saps que…?</a:t>
            </a:r>
            <a:endParaRPr lang="en-US" sz="1400" dirty="0"/>
          </a:p>
        </p:txBody>
      </p:sp>
      <p:sp>
        <p:nvSpPr>
          <p:cNvPr id="9" name="Text 6"/>
          <p:cNvSpPr txBox="1"/>
          <p:nvPr/>
        </p:nvSpPr>
        <p:spPr>
          <a:xfrm>
            <a:off x="2331720" y="1874520"/>
            <a:ext cx="8991295" cy="1554480"/>
          </a:xfrm>
          <a:prstGeom prst="rect">
            <a:avLst/>
          </a:prstGeom>
          <a:noFill/>
          <a:ln/>
        </p:spPr>
        <p:txBody>
          <a:bodyPr wrap="square" lIns="0" tIns="0" rIns="0" bIns="0" rtlCol="0" anchor="t"/>
          <a:lstStyle/>
          <a:p>
            <a:pPr indent="0" marL="0">
              <a:buNone/>
            </a:pPr>
            <a:r>
              <a:rPr lang="en-US" sz="1900" dirty="0">
                <a:solidFill>
                  <a:srgbClr val="202124"/>
                </a:solidFill>
                <a:latin typeface="Roboto" pitchFamily="34" charset="0"/>
                <a:ea typeface="Roboto" pitchFamily="34" charset="-122"/>
                <a:cs typeface="Roboto" pitchFamily="34" charset="-120"/>
              </a:rPr>
              <a:t>Els temples i les estàtues gregues que avui veiem de marbre blanc… estaven pintats de colors vius. Blaus, vermells, daurats. El pas dels segles va esborrar la pintura, i el Renaixement va convertir aquell blanc accidental en un ideal de bellesa.</a:t>
            </a:r>
            <a:endParaRPr lang="en-US" sz="1900" dirty="0"/>
          </a:p>
        </p:txBody>
      </p:sp>
      <p:sp>
        <p:nvSpPr>
          <p:cNvPr id="10" name="Pensa-hi"/>
          <p:cNvSpPr/>
          <p:nvPr/>
        </p:nvSpPr>
        <p:spPr>
          <a:xfrm>
            <a:off x="2011680" y="3794760"/>
            <a:ext cx="9631375" cy="1371600"/>
          </a:xfrm>
          <a:prstGeom prst="roundRect">
            <a:avLst>
              <a:gd name="adj" fmla="val 7333"/>
            </a:avLst>
          </a:prstGeom>
          <a:solidFill>
            <a:srgbClr val="F6F8FB"/>
          </a:solidFill>
          <a:ln/>
        </p:spPr>
      </p:sp>
      <p:sp>
        <p:nvSpPr>
          <p:cNvPr id="11" name="Text 8"/>
          <p:cNvSpPr txBox="1"/>
          <p:nvPr/>
        </p:nvSpPr>
        <p:spPr>
          <a:xfrm>
            <a:off x="2331720" y="3950208"/>
            <a:ext cx="8991295"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Pensa-hi</a:t>
            </a:r>
            <a:endParaRPr lang="en-US" sz="1400" dirty="0"/>
          </a:p>
        </p:txBody>
      </p:sp>
      <p:sp>
        <p:nvSpPr>
          <p:cNvPr id="12" name="Text 9"/>
          <p:cNvSpPr txBox="1"/>
          <p:nvPr/>
        </p:nvSpPr>
        <p:spPr>
          <a:xfrm>
            <a:off x="2331720" y="4297680"/>
            <a:ext cx="8991295" cy="731520"/>
          </a:xfrm>
          <a:prstGeom prst="rect">
            <a:avLst/>
          </a:prstGeom>
          <a:noFill/>
          <a:ln/>
        </p:spPr>
        <p:txBody>
          <a:bodyPr wrap="square" lIns="0" tIns="0" rIns="0" bIns="0" rtlCol="0" anchor="t"/>
          <a:lstStyle/>
          <a:p>
            <a:pPr indent="0" marL="0">
              <a:buNone/>
            </a:pPr>
            <a:r>
              <a:rPr lang="en-US" sz="1800" dirty="0">
                <a:solidFill>
                  <a:srgbClr val="5F6368"/>
                </a:solidFill>
                <a:latin typeface="Roboto" pitchFamily="34" charset="0"/>
                <a:ea typeface="Roboto" pitchFamily="34" charset="-122"/>
                <a:cs typeface="Roboto" pitchFamily="34" charset="-120"/>
              </a:rPr>
              <a:t>Mira les estàtues de les diapositives anteriors. Com et sembla que eren pintades?</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8</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Comprova-ho</a:t>
            </a:r>
            <a:endParaRPr lang="en-US" sz="2800" dirty="0"/>
          </a:p>
        </p:txBody>
      </p:sp>
      <p:sp>
        <p:nvSpPr>
          <p:cNvPr id="5" name="Text 3"/>
          <p:cNvSpPr txBox="1"/>
          <p:nvPr/>
        </p:nvSpPr>
        <p:spPr>
          <a:xfrm>
            <a:off x="548640" y="1371600"/>
            <a:ext cx="3657600" cy="320040"/>
          </a:xfrm>
          <a:prstGeom prst="rect">
            <a:avLst/>
          </a:prstGeom>
          <a:noFill/>
          <a:ln/>
        </p:spPr>
        <p:txBody>
          <a:bodyPr wrap="square" lIns="0" tIns="0" rIns="0" bIns="0" rtlCol="0" anchor="t"/>
          <a:lstStyle/>
          <a:p>
            <a:pPr indent="0" marL="0">
              <a:buNone/>
            </a:pPr>
            <a:r>
              <a:rPr lang="en-US" sz="1400" b="1" dirty="0">
                <a:solidFill>
                  <a:srgbClr val="5F6368"/>
                </a:solidFill>
                <a:latin typeface="Roboto" pitchFamily="34" charset="0"/>
                <a:ea typeface="Roboto" pitchFamily="34" charset="-122"/>
                <a:cs typeface="Roboto" pitchFamily="34" charset="-120"/>
              </a:rPr>
              <a:t>Paraules clau</a:t>
            </a:r>
            <a:endParaRPr lang="en-US" sz="1400" dirty="0"/>
          </a:p>
        </p:txBody>
      </p:sp>
      <p:sp>
        <p:nvSpPr>
          <p:cNvPr id="6" name="Etiqueta Temple"/>
          <p:cNvSpPr/>
          <p:nvPr/>
        </p:nvSpPr>
        <p:spPr>
          <a:xfrm>
            <a:off x="548640" y="1755648"/>
            <a:ext cx="914400" cy="384048"/>
          </a:xfrm>
          <a:prstGeom prst="roundRect">
            <a:avLst>
              <a:gd name="adj" fmla="val 50000"/>
            </a:avLst>
          </a:prstGeom>
          <a:solidFill>
            <a:srgbClr val="E6F4EA"/>
          </a:solidFill>
          <a:ln/>
        </p:spPr>
      </p:sp>
      <p:sp>
        <p:nvSpPr>
          <p:cNvPr id="7" name="Text 5"/>
          <p:cNvSpPr txBox="1"/>
          <p:nvPr/>
        </p:nvSpPr>
        <p:spPr>
          <a:xfrm>
            <a:off x="548640" y="1755648"/>
            <a:ext cx="914400"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Temple</a:t>
            </a:r>
            <a:endParaRPr lang="en-US" sz="1500" dirty="0"/>
          </a:p>
        </p:txBody>
      </p:sp>
      <p:sp>
        <p:nvSpPr>
          <p:cNvPr id="8" name="Etiqueta Dòric"/>
          <p:cNvSpPr/>
          <p:nvPr/>
        </p:nvSpPr>
        <p:spPr>
          <a:xfrm>
            <a:off x="1572768" y="1755648"/>
            <a:ext cx="813816" cy="384048"/>
          </a:xfrm>
          <a:prstGeom prst="roundRect">
            <a:avLst>
              <a:gd name="adj" fmla="val 50000"/>
            </a:avLst>
          </a:prstGeom>
          <a:solidFill>
            <a:srgbClr val="E6F4EA"/>
          </a:solidFill>
          <a:ln/>
        </p:spPr>
      </p:sp>
      <p:sp>
        <p:nvSpPr>
          <p:cNvPr id="9" name="Text 7"/>
          <p:cNvSpPr txBox="1"/>
          <p:nvPr/>
        </p:nvSpPr>
        <p:spPr>
          <a:xfrm>
            <a:off x="1572768" y="1755648"/>
            <a:ext cx="81381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Dòric</a:t>
            </a:r>
            <a:endParaRPr lang="en-US" sz="1500" dirty="0"/>
          </a:p>
        </p:txBody>
      </p:sp>
      <p:sp>
        <p:nvSpPr>
          <p:cNvPr id="10" name="Etiqueta Jònic"/>
          <p:cNvSpPr/>
          <p:nvPr/>
        </p:nvSpPr>
        <p:spPr>
          <a:xfrm>
            <a:off x="2496312" y="1755648"/>
            <a:ext cx="813816" cy="384048"/>
          </a:xfrm>
          <a:prstGeom prst="roundRect">
            <a:avLst>
              <a:gd name="adj" fmla="val 50000"/>
            </a:avLst>
          </a:prstGeom>
          <a:solidFill>
            <a:srgbClr val="E6F4EA"/>
          </a:solidFill>
          <a:ln/>
        </p:spPr>
      </p:sp>
      <p:sp>
        <p:nvSpPr>
          <p:cNvPr id="11" name="Text 9"/>
          <p:cNvSpPr txBox="1"/>
          <p:nvPr/>
        </p:nvSpPr>
        <p:spPr>
          <a:xfrm>
            <a:off x="2496312" y="1755648"/>
            <a:ext cx="81381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Jònic</a:t>
            </a:r>
            <a:endParaRPr lang="en-US" sz="1500" dirty="0"/>
          </a:p>
        </p:txBody>
      </p:sp>
      <p:sp>
        <p:nvSpPr>
          <p:cNvPr id="12" name="Etiqueta Corinti"/>
          <p:cNvSpPr/>
          <p:nvPr/>
        </p:nvSpPr>
        <p:spPr>
          <a:xfrm>
            <a:off x="3419856" y="1755648"/>
            <a:ext cx="1014984" cy="384048"/>
          </a:xfrm>
          <a:prstGeom prst="roundRect">
            <a:avLst>
              <a:gd name="adj" fmla="val 50000"/>
            </a:avLst>
          </a:prstGeom>
          <a:solidFill>
            <a:srgbClr val="E6F4EA"/>
          </a:solidFill>
          <a:ln/>
        </p:spPr>
      </p:sp>
      <p:sp>
        <p:nvSpPr>
          <p:cNvPr id="13" name="Text 11"/>
          <p:cNvSpPr txBox="1"/>
          <p:nvPr/>
        </p:nvSpPr>
        <p:spPr>
          <a:xfrm>
            <a:off x="3419856" y="1755648"/>
            <a:ext cx="1014984"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Corinti</a:t>
            </a:r>
            <a:endParaRPr lang="en-US" sz="1500" dirty="0"/>
          </a:p>
        </p:txBody>
      </p:sp>
      <p:sp>
        <p:nvSpPr>
          <p:cNvPr id="14" name="Etiqueta Partenó"/>
          <p:cNvSpPr/>
          <p:nvPr/>
        </p:nvSpPr>
        <p:spPr>
          <a:xfrm>
            <a:off x="4544568" y="1755648"/>
            <a:ext cx="1014984" cy="384048"/>
          </a:xfrm>
          <a:prstGeom prst="roundRect">
            <a:avLst>
              <a:gd name="adj" fmla="val 50000"/>
            </a:avLst>
          </a:prstGeom>
          <a:solidFill>
            <a:srgbClr val="E6F4EA"/>
          </a:solidFill>
          <a:ln/>
        </p:spPr>
      </p:sp>
      <p:sp>
        <p:nvSpPr>
          <p:cNvPr id="15" name="Text 13"/>
          <p:cNvSpPr txBox="1"/>
          <p:nvPr/>
        </p:nvSpPr>
        <p:spPr>
          <a:xfrm>
            <a:off x="4544568" y="1755648"/>
            <a:ext cx="1014984"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Partenó</a:t>
            </a:r>
            <a:endParaRPr lang="en-US" sz="1500" dirty="0"/>
          </a:p>
        </p:txBody>
      </p:sp>
      <p:sp>
        <p:nvSpPr>
          <p:cNvPr id="16" name="Etiqueta Somriure arcaic"/>
          <p:cNvSpPr/>
          <p:nvPr/>
        </p:nvSpPr>
        <p:spPr>
          <a:xfrm>
            <a:off x="5669280" y="1755648"/>
            <a:ext cx="1819656" cy="384048"/>
          </a:xfrm>
          <a:prstGeom prst="roundRect">
            <a:avLst>
              <a:gd name="adj" fmla="val 50000"/>
            </a:avLst>
          </a:prstGeom>
          <a:solidFill>
            <a:srgbClr val="E6F4EA"/>
          </a:solidFill>
          <a:ln/>
        </p:spPr>
      </p:sp>
      <p:sp>
        <p:nvSpPr>
          <p:cNvPr id="17" name="Text 15"/>
          <p:cNvSpPr txBox="1"/>
          <p:nvPr/>
        </p:nvSpPr>
        <p:spPr>
          <a:xfrm>
            <a:off x="5669280" y="1755648"/>
            <a:ext cx="181965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Somriure arcaic</a:t>
            </a:r>
            <a:endParaRPr lang="en-US" sz="1500" dirty="0"/>
          </a:p>
        </p:txBody>
      </p:sp>
      <p:sp>
        <p:nvSpPr>
          <p:cNvPr id="18" name="Pregunta 1"/>
          <p:cNvSpPr/>
          <p:nvPr/>
        </p:nvSpPr>
        <p:spPr>
          <a:xfrm>
            <a:off x="548640" y="2514600"/>
            <a:ext cx="11094415" cy="960120"/>
          </a:xfrm>
          <a:prstGeom prst="roundRect">
            <a:avLst>
              <a:gd name="adj" fmla="val 10476"/>
            </a:avLst>
          </a:prstGeom>
          <a:solidFill>
            <a:srgbClr val="FFFFFF"/>
          </a:solidFill>
          <a:ln w="12700">
            <a:solidFill>
              <a:srgbClr val="DADCE0"/>
            </a:solidFill>
            <a:prstDash val="solid"/>
          </a:ln>
        </p:spPr>
      </p:sp>
      <p:sp>
        <p:nvSpPr>
          <p:cNvPr id="19" name="Número 1"/>
          <p:cNvSpPr/>
          <p:nvPr/>
        </p:nvSpPr>
        <p:spPr>
          <a:xfrm>
            <a:off x="822960" y="2766060"/>
            <a:ext cx="457200" cy="457200"/>
          </a:xfrm>
          <a:prstGeom prst="ellipse">
            <a:avLst/>
          </a:prstGeom>
          <a:solidFill>
            <a:srgbClr val="188038"/>
          </a:solidFill>
          <a:ln/>
        </p:spPr>
      </p:sp>
      <p:sp>
        <p:nvSpPr>
          <p:cNvPr id="20" name="Text 18"/>
          <p:cNvSpPr txBox="1"/>
          <p:nvPr/>
        </p:nvSpPr>
        <p:spPr>
          <a:xfrm>
            <a:off x="822960" y="27660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1</a:t>
            </a:r>
            <a:endParaRPr lang="en-US" sz="1700" dirty="0"/>
          </a:p>
        </p:txBody>
      </p:sp>
      <p:sp>
        <p:nvSpPr>
          <p:cNvPr id="21" name="Text 19"/>
          <p:cNvSpPr txBox="1"/>
          <p:nvPr/>
        </p:nvSpPr>
        <p:spPr>
          <a:xfrm>
            <a:off x="1508760" y="2514600"/>
            <a:ext cx="9905695" cy="960120"/>
          </a:xfrm>
          <a:prstGeom prst="rect">
            <a:avLst/>
          </a:prstGeom>
          <a:noFill/>
          <a:ln/>
        </p:spPr>
        <p:txBody>
          <a:bodyPr wrap="square" lIns="0" tIns="0" rIns="0" bIns="0" rtlCol="0" anchor="ctr"/>
          <a:lstStyle/>
          <a:p>
            <a:pPr indent="0" marL="0">
              <a:buNone/>
            </a:pPr>
            <a:r>
              <a:rPr lang="en-US" sz="2000" dirty="0">
                <a:solidFill>
                  <a:srgbClr val="202124"/>
                </a:solidFill>
                <a:latin typeface="Roboto" pitchFamily="34" charset="0"/>
                <a:ea typeface="Roboto" pitchFamily="34" charset="-122"/>
                <a:cs typeface="Roboto" pitchFamily="34" charset="-120"/>
              </a:rPr>
              <a:t>Com distingiries un capitell dòric d'un de corinti?</a:t>
            </a:r>
            <a:endParaRPr lang="en-US" sz="2000" dirty="0"/>
          </a:p>
        </p:txBody>
      </p:sp>
      <p:sp>
        <p:nvSpPr>
          <p:cNvPr id="22" name="Pregunta 2"/>
          <p:cNvSpPr/>
          <p:nvPr/>
        </p:nvSpPr>
        <p:spPr>
          <a:xfrm>
            <a:off x="548640" y="3657600"/>
            <a:ext cx="11094415" cy="960120"/>
          </a:xfrm>
          <a:prstGeom prst="roundRect">
            <a:avLst>
              <a:gd name="adj" fmla="val 10476"/>
            </a:avLst>
          </a:prstGeom>
          <a:solidFill>
            <a:srgbClr val="FFFFFF"/>
          </a:solidFill>
          <a:ln w="12700">
            <a:solidFill>
              <a:srgbClr val="DADCE0"/>
            </a:solidFill>
            <a:prstDash val="solid"/>
          </a:ln>
        </p:spPr>
      </p:sp>
      <p:sp>
        <p:nvSpPr>
          <p:cNvPr id="23" name="Número 2"/>
          <p:cNvSpPr/>
          <p:nvPr/>
        </p:nvSpPr>
        <p:spPr>
          <a:xfrm>
            <a:off x="822960" y="3909060"/>
            <a:ext cx="457200" cy="457200"/>
          </a:xfrm>
          <a:prstGeom prst="ellipse">
            <a:avLst/>
          </a:prstGeom>
          <a:solidFill>
            <a:srgbClr val="188038"/>
          </a:solidFill>
          <a:ln/>
        </p:spPr>
      </p:sp>
      <p:sp>
        <p:nvSpPr>
          <p:cNvPr id="24" name="Text 22"/>
          <p:cNvSpPr txBox="1"/>
          <p:nvPr/>
        </p:nvSpPr>
        <p:spPr>
          <a:xfrm>
            <a:off x="822960" y="39090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2</a:t>
            </a:r>
            <a:endParaRPr lang="en-US" sz="1700" dirty="0"/>
          </a:p>
        </p:txBody>
      </p:sp>
      <p:sp>
        <p:nvSpPr>
          <p:cNvPr id="25" name="Text 23"/>
          <p:cNvSpPr txBox="1"/>
          <p:nvPr/>
        </p:nvSpPr>
        <p:spPr>
          <a:xfrm>
            <a:off x="1508760" y="3657600"/>
            <a:ext cx="9905695" cy="960120"/>
          </a:xfrm>
          <a:prstGeom prst="rect">
            <a:avLst/>
          </a:prstGeom>
          <a:noFill/>
          <a:ln/>
        </p:spPr>
        <p:txBody>
          <a:bodyPr wrap="square" lIns="0" tIns="0" rIns="0" bIns="0" rtlCol="0" anchor="ctr"/>
          <a:lstStyle/>
          <a:p>
            <a:pPr indent="0" marL="0">
              <a:buNone/>
            </a:pPr>
            <a:r>
              <a:rPr lang="en-US" sz="2000" dirty="0">
                <a:solidFill>
                  <a:srgbClr val="202124"/>
                </a:solidFill>
                <a:latin typeface="Roboto" pitchFamily="34" charset="0"/>
                <a:ea typeface="Roboto" pitchFamily="34" charset="-122"/>
                <a:cs typeface="Roboto" pitchFamily="34" charset="-120"/>
              </a:rPr>
              <a:t>A quina deessa estava dedicat el Partenó i qui en va dirigir les obres?</a:t>
            </a:r>
            <a:endParaRPr lang="en-US" sz="2000" dirty="0"/>
          </a:p>
        </p:txBody>
      </p:sp>
      <p:sp>
        <p:nvSpPr>
          <p:cNvPr id="26" name="Pregunta 3"/>
          <p:cNvSpPr/>
          <p:nvPr/>
        </p:nvSpPr>
        <p:spPr>
          <a:xfrm>
            <a:off x="548640" y="4800600"/>
            <a:ext cx="11094415" cy="960120"/>
          </a:xfrm>
          <a:prstGeom prst="roundRect">
            <a:avLst>
              <a:gd name="adj" fmla="val 10476"/>
            </a:avLst>
          </a:prstGeom>
          <a:solidFill>
            <a:srgbClr val="FFFFFF"/>
          </a:solidFill>
          <a:ln w="12700">
            <a:solidFill>
              <a:srgbClr val="DADCE0"/>
            </a:solidFill>
            <a:prstDash val="solid"/>
          </a:ln>
        </p:spPr>
      </p:sp>
      <p:sp>
        <p:nvSpPr>
          <p:cNvPr id="27" name="Número 3"/>
          <p:cNvSpPr/>
          <p:nvPr/>
        </p:nvSpPr>
        <p:spPr>
          <a:xfrm>
            <a:off x="822960" y="5052060"/>
            <a:ext cx="457200" cy="457200"/>
          </a:xfrm>
          <a:prstGeom prst="ellipse">
            <a:avLst/>
          </a:prstGeom>
          <a:solidFill>
            <a:srgbClr val="188038"/>
          </a:solidFill>
          <a:ln/>
        </p:spPr>
      </p:sp>
      <p:sp>
        <p:nvSpPr>
          <p:cNvPr id="28" name="Text 26"/>
          <p:cNvSpPr txBox="1"/>
          <p:nvPr/>
        </p:nvSpPr>
        <p:spPr>
          <a:xfrm>
            <a:off x="822960" y="50520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3</a:t>
            </a:r>
            <a:endParaRPr lang="en-US" sz="1700" dirty="0"/>
          </a:p>
        </p:txBody>
      </p:sp>
      <p:sp>
        <p:nvSpPr>
          <p:cNvPr id="29" name="Text 27"/>
          <p:cNvSpPr txBox="1"/>
          <p:nvPr/>
        </p:nvSpPr>
        <p:spPr>
          <a:xfrm>
            <a:off x="1508760" y="4800600"/>
            <a:ext cx="9905695" cy="960120"/>
          </a:xfrm>
          <a:prstGeom prst="rect">
            <a:avLst/>
          </a:prstGeom>
          <a:noFill/>
          <a:ln/>
        </p:spPr>
        <p:txBody>
          <a:bodyPr wrap="square" lIns="0" tIns="0" rIns="0" bIns="0" rtlCol="0" anchor="ctr"/>
          <a:lstStyle/>
          <a:p>
            <a:pPr indent="0" marL="0">
              <a:buNone/>
            </a:pPr>
            <a:r>
              <a:rPr lang="en-US" sz="2000" dirty="0">
                <a:solidFill>
                  <a:srgbClr val="202124"/>
                </a:solidFill>
                <a:latin typeface="Roboto" pitchFamily="34" charset="0"/>
                <a:ea typeface="Roboto" pitchFamily="34" charset="-122"/>
                <a:cs typeface="Roboto" pitchFamily="34" charset="-120"/>
              </a:rPr>
              <a:t>Com va canviar l'escultura de l'època arcaica a l'hel·lenisme?</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Capçalera"/>
          <p:cNvSpPr/>
          <p:nvPr/>
        </p:nvSpPr>
        <p:spPr>
          <a:xfrm>
            <a:off x="548640" y="548640"/>
            <a:ext cx="6720840" cy="3657600"/>
          </a:xfrm>
          <a:prstGeom prst="roundRect">
            <a:avLst>
              <a:gd name="adj" fmla="val 2750"/>
            </a:avLst>
          </a:prstGeom>
          <a:solidFill>
            <a:srgbClr val="188038"/>
          </a:solidFill>
          <a:ln/>
        </p:spPr>
      </p:sp>
      <p:pic>
        <p:nvPicPr>
          <p:cNvPr id="3" name="Il·lustració d'un temple grec i el sol" descr="/home/claude/work/build/hero-crop.png">    </p:cNvPr>
          <p:cNvPicPr>
            <a:picLocks noChangeAspect="1"/>
          </p:cNvPicPr>
          <p:nvPr/>
        </p:nvPicPr>
        <p:blipFill>
          <a:blip r:embed="rId1"/>
          <a:stretch>
            <a:fillRect/>
          </a:stretch>
        </p:blipFill>
        <p:spPr>
          <a:xfrm>
            <a:off x="3520440" y="2395912"/>
            <a:ext cx="3566160" cy="1792040"/>
          </a:xfrm>
          <a:prstGeom prst="rect">
            <a:avLst/>
          </a:prstGeom>
        </p:spPr>
      </p:pic>
      <p:sp>
        <p:nvSpPr>
          <p:cNvPr id="4" name="Etiqueta Apartat 9"/>
          <p:cNvSpPr/>
          <p:nvPr/>
        </p:nvSpPr>
        <p:spPr>
          <a:xfrm>
            <a:off x="960120" y="896112"/>
            <a:ext cx="1035101" cy="310896"/>
          </a:xfrm>
          <a:prstGeom prst="roundRect">
            <a:avLst>
              <a:gd name="adj" fmla="val 50000"/>
            </a:avLst>
          </a:prstGeom>
          <a:solidFill>
            <a:srgbClr val="FFFFFF">
              <a:alpha val="18000"/>
            </a:srgbClr>
          </a:solidFill>
          <a:ln/>
        </p:spPr>
      </p:sp>
      <p:sp>
        <p:nvSpPr>
          <p:cNvPr id="5" name="Text 2"/>
          <p:cNvSpPr txBox="1"/>
          <p:nvPr/>
        </p:nvSpPr>
        <p:spPr>
          <a:xfrm>
            <a:off x="960120" y="896112"/>
            <a:ext cx="1035101" cy="310896"/>
          </a:xfrm>
          <a:prstGeom prst="rect">
            <a:avLst/>
          </a:prstGeom>
          <a:noFill/>
          <a:ln/>
        </p:spPr>
        <p:txBody>
          <a:bodyPr wrap="square" lIns="0" tIns="0" rIns="0" bIns="0" rtlCol="0" anchor="ctr"/>
          <a:lstStyle/>
          <a:p>
            <a:pPr algn="ctr" indent="0" marL="0">
              <a:buNone/>
            </a:pPr>
            <a:r>
              <a:rPr lang="en-US" sz="1250" dirty="0">
                <a:solidFill>
                  <a:srgbClr val="FFFFFF"/>
                </a:solidFill>
                <a:latin typeface="Roboto" pitchFamily="34" charset="0"/>
                <a:ea typeface="Roboto" pitchFamily="34" charset="-122"/>
                <a:cs typeface="Roboto" pitchFamily="34" charset="-120"/>
              </a:rPr>
              <a:t>Apartat 9</a:t>
            </a:r>
            <a:endParaRPr lang="en-US" sz="1250" dirty="0"/>
          </a:p>
        </p:txBody>
      </p:sp>
      <p:sp>
        <p:nvSpPr>
          <p:cNvPr id="6" name="Text 3"/>
          <p:cNvSpPr txBox="1"/>
          <p:nvPr/>
        </p:nvSpPr>
        <p:spPr>
          <a:xfrm>
            <a:off x="960120" y="1371600"/>
            <a:ext cx="5760720" cy="1280160"/>
          </a:xfrm>
          <a:prstGeom prst="rect">
            <a:avLst/>
          </a:prstGeom>
          <a:noFill/>
          <a:ln/>
        </p:spPr>
        <p:txBody>
          <a:bodyPr wrap="square" lIns="0" tIns="0" rIns="0" bIns="0" rtlCol="0" anchor="t"/>
          <a:lstStyle/>
          <a:p>
            <a:pPr indent="0" marL="0">
              <a:lnSpc>
                <a:spcPct val="95000"/>
              </a:lnSpc>
              <a:buNone/>
            </a:pPr>
            <a:r>
              <a:rPr lang="en-US" sz="3800" b="1" dirty="0">
                <a:solidFill>
                  <a:srgbClr val="FFFFFF"/>
                </a:solidFill>
                <a:latin typeface="Roboto" pitchFamily="34" charset="0"/>
                <a:ea typeface="Roboto" pitchFamily="34" charset="-122"/>
                <a:cs typeface="Roboto" pitchFamily="34" charset="-120"/>
              </a:rPr>
              <a:t>El llegat grec. Grècia és aquí</a:t>
            </a:r>
            <a:endParaRPr lang="en-US" sz="3800" dirty="0"/>
          </a:p>
        </p:txBody>
      </p:sp>
      <p:sp>
        <p:nvSpPr>
          <p:cNvPr id="7" name="Pregunta guia"/>
          <p:cNvSpPr/>
          <p:nvPr/>
        </p:nvSpPr>
        <p:spPr>
          <a:xfrm>
            <a:off x="548640" y="4389120"/>
            <a:ext cx="6720840" cy="1645920"/>
          </a:xfrm>
          <a:prstGeom prst="roundRect">
            <a:avLst>
              <a:gd name="adj" fmla="val 6111"/>
            </a:avLst>
          </a:prstGeom>
          <a:solidFill>
            <a:srgbClr val="F6F8FB"/>
          </a:solidFill>
          <a:ln/>
        </p:spPr>
      </p:sp>
      <p:sp>
        <p:nvSpPr>
          <p:cNvPr id="8" name="Text 5"/>
          <p:cNvSpPr txBox="1"/>
          <p:nvPr/>
        </p:nvSpPr>
        <p:spPr>
          <a:xfrm>
            <a:off x="914400" y="4590288"/>
            <a:ext cx="4572000" cy="320040"/>
          </a:xfrm>
          <a:prstGeom prst="rect">
            <a:avLst/>
          </a:prstGeom>
          <a:noFill/>
          <a:ln/>
        </p:spPr>
        <p:txBody>
          <a:bodyPr wrap="square" lIns="0" tIns="0" rIns="0" bIns="0" rtlCol="0" anchor="t"/>
          <a:lstStyle/>
          <a:p>
            <a:pPr indent="0" marL="0">
              <a:buNone/>
            </a:pPr>
            <a:r>
              <a:rPr lang="en-US" sz="1300" b="1" dirty="0">
                <a:solidFill>
                  <a:srgbClr val="188038"/>
                </a:solidFill>
                <a:latin typeface="Roboto" pitchFamily="34" charset="0"/>
                <a:ea typeface="Roboto" pitchFamily="34" charset="-122"/>
                <a:cs typeface="Roboto" pitchFamily="34" charset="-120"/>
              </a:rPr>
              <a:t>Pregunta guia</a:t>
            </a:r>
            <a:endParaRPr lang="en-US" sz="1300" dirty="0"/>
          </a:p>
        </p:txBody>
      </p:sp>
      <p:sp>
        <p:nvSpPr>
          <p:cNvPr id="9" name="Text 6"/>
          <p:cNvSpPr txBox="1"/>
          <p:nvPr/>
        </p:nvSpPr>
        <p:spPr>
          <a:xfrm>
            <a:off x="914400" y="4937760"/>
            <a:ext cx="6035040" cy="914400"/>
          </a:xfrm>
          <a:prstGeom prst="rect">
            <a:avLst/>
          </a:prstGeom>
          <a:noFill/>
          <a:ln/>
        </p:spPr>
        <p:txBody>
          <a:bodyPr wrap="square" lIns="0" tIns="0" rIns="0" bIns="0" rtlCol="0" anchor="t"/>
          <a:lstStyle/>
          <a:p>
            <a:pPr indent="0" marL="0">
              <a:buNone/>
            </a:pPr>
            <a:r>
              <a:rPr lang="en-US" sz="1900" dirty="0">
                <a:solidFill>
                  <a:srgbClr val="5F6368"/>
                </a:solidFill>
                <a:latin typeface="Roboto" pitchFamily="34" charset="0"/>
                <a:ea typeface="Roboto" pitchFamily="34" charset="-122"/>
                <a:cs typeface="Roboto" pitchFamily="34" charset="-120"/>
              </a:rPr>
              <a:t>Quantes coses gregues has fet servir avui sense adonar-te'n?</a:t>
            </a:r>
            <a:endParaRPr lang="en-US" sz="1900" dirty="0"/>
          </a:p>
        </p:txBody>
      </p:sp>
      <p:sp>
        <p:nvSpPr>
          <p:cNvPr id="10" name="Paraules gregues"/>
          <p:cNvSpPr/>
          <p:nvPr/>
        </p:nvSpPr>
        <p:spPr>
          <a:xfrm>
            <a:off x="7635240" y="548640"/>
            <a:ext cx="4007815" cy="5669280"/>
          </a:xfrm>
          <a:prstGeom prst="roundRect">
            <a:avLst>
              <a:gd name="adj" fmla="val 2510"/>
            </a:avLst>
          </a:prstGeom>
          <a:solidFill>
            <a:srgbClr val="E6F4EA"/>
          </a:solidFill>
          <a:ln/>
        </p:spPr>
      </p:sp>
      <p:sp>
        <p:nvSpPr>
          <p:cNvPr id="11" name="Text 8"/>
          <p:cNvSpPr txBox="1"/>
          <p:nvPr/>
        </p:nvSpPr>
        <p:spPr>
          <a:xfrm>
            <a:off x="7955280" y="822960"/>
            <a:ext cx="3367735" cy="365760"/>
          </a:xfrm>
          <a:prstGeom prst="rect">
            <a:avLst/>
          </a:prstGeom>
          <a:noFill/>
          <a:ln/>
        </p:spPr>
        <p:txBody>
          <a:bodyPr wrap="square" lIns="0" tIns="0" rIns="0" bIns="0" rtlCol="0" anchor="t"/>
          <a:lstStyle/>
          <a:p>
            <a:pPr indent="0" marL="0">
              <a:buNone/>
            </a:pPr>
            <a:r>
              <a:rPr lang="en-US" sz="1600" b="1" dirty="0">
                <a:solidFill>
                  <a:srgbClr val="188038"/>
                </a:solidFill>
                <a:latin typeface="Roboto" pitchFamily="34" charset="0"/>
                <a:ea typeface="Roboto" pitchFamily="34" charset="-122"/>
                <a:cs typeface="Roboto" pitchFamily="34" charset="-120"/>
              </a:rPr>
              <a:t>Paraules d'origen grec</a:t>
            </a:r>
            <a:endParaRPr lang="en-US" sz="1600" dirty="0"/>
          </a:p>
        </p:txBody>
      </p:sp>
      <p:sp>
        <p:nvSpPr>
          <p:cNvPr id="12" name="Etiqueta democràcia"/>
          <p:cNvSpPr/>
          <p:nvPr/>
        </p:nvSpPr>
        <p:spPr>
          <a:xfrm>
            <a:off x="7955280" y="1417320"/>
            <a:ext cx="1225296" cy="384048"/>
          </a:xfrm>
          <a:prstGeom prst="roundRect">
            <a:avLst>
              <a:gd name="adj" fmla="val 50000"/>
            </a:avLst>
          </a:prstGeom>
          <a:solidFill>
            <a:srgbClr val="FFFFFF"/>
          </a:solidFill>
          <a:ln/>
        </p:spPr>
      </p:sp>
      <p:sp>
        <p:nvSpPr>
          <p:cNvPr id="13" name="Text 10"/>
          <p:cNvSpPr txBox="1"/>
          <p:nvPr/>
        </p:nvSpPr>
        <p:spPr>
          <a:xfrm>
            <a:off x="7955280" y="1417320"/>
            <a:ext cx="122529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democràcia</a:t>
            </a:r>
            <a:endParaRPr lang="en-US" sz="1500" dirty="0"/>
          </a:p>
        </p:txBody>
      </p:sp>
      <p:sp>
        <p:nvSpPr>
          <p:cNvPr id="14" name="Etiqueta política"/>
          <p:cNvSpPr/>
          <p:nvPr/>
        </p:nvSpPr>
        <p:spPr>
          <a:xfrm>
            <a:off x="9290304" y="1417320"/>
            <a:ext cx="1042416" cy="384048"/>
          </a:xfrm>
          <a:prstGeom prst="roundRect">
            <a:avLst>
              <a:gd name="adj" fmla="val 50000"/>
            </a:avLst>
          </a:prstGeom>
          <a:solidFill>
            <a:srgbClr val="FFFFFF"/>
          </a:solidFill>
          <a:ln/>
        </p:spPr>
      </p:sp>
      <p:sp>
        <p:nvSpPr>
          <p:cNvPr id="15" name="Text 12"/>
          <p:cNvSpPr txBox="1"/>
          <p:nvPr/>
        </p:nvSpPr>
        <p:spPr>
          <a:xfrm>
            <a:off x="9290304" y="1417320"/>
            <a:ext cx="104241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política</a:t>
            </a:r>
            <a:endParaRPr lang="en-US" sz="1500" dirty="0"/>
          </a:p>
        </p:txBody>
      </p:sp>
      <p:sp>
        <p:nvSpPr>
          <p:cNvPr id="16" name="Etiqueta monarquia"/>
          <p:cNvSpPr/>
          <p:nvPr/>
        </p:nvSpPr>
        <p:spPr>
          <a:xfrm>
            <a:off x="7955280" y="1929384"/>
            <a:ext cx="1133856" cy="384048"/>
          </a:xfrm>
          <a:prstGeom prst="roundRect">
            <a:avLst>
              <a:gd name="adj" fmla="val 50000"/>
            </a:avLst>
          </a:prstGeom>
          <a:solidFill>
            <a:srgbClr val="FFFFFF"/>
          </a:solidFill>
          <a:ln/>
        </p:spPr>
      </p:sp>
      <p:sp>
        <p:nvSpPr>
          <p:cNvPr id="17" name="Text 14"/>
          <p:cNvSpPr txBox="1"/>
          <p:nvPr/>
        </p:nvSpPr>
        <p:spPr>
          <a:xfrm>
            <a:off x="7955280" y="1929384"/>
            <a:ext cx="113385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monarquia</a:t>
            </a:r>
            <a:endParaRPr lang="en-US" sz="1500" dirty="0"/>
          </a:p>
        </p:txBody>
      </p:sp>
      <p:sp>
        <p:nvSpPr>
          <p:cNvPr id="18" name="Etiqueta tirania"/>
          <p:cNvSpPr/>
          <p:nvPr/>
        </p:nvSpPr>
        <p:spPr>
          <a:xfrm>
            <a:off x="9198864" y="1929384"/>
            <a:ext cx="950976" cy="384048"/>
          </a:xfrm>
          <a:prstGeom prst="roundRect">
            <a:avLst>
              <a:gd name="adj" fmla="val 50000"/>
            </a:avLst>
          </a:prstGeom>
          <a:solidFill>
            <a:srgbClr val="FFFFFF"/>
          </a:solidFill>
          <a:ln/>
        </p:spPr>
      </p:sp>
      <p:sp>
        <p:nvSpPr>
          <p:cNvPr id="19" name="Text 16"/>
          <p:cNvSpPr txBox="1"/>
          <p:nvPr/>
        </p:nvSpPr>
        <p:spPr>
          <a:xfrm>
            <a:off x="9198864" y="1929384"/>
            <a:ext cx="95097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tirania</a:t>
            </a:r>
            <a:endParaRPr lang="en-US" sz="1500" dirty="0"/>
          </a:p>
        </p:txBody>
      </p:sp>
      <p:sp>
        <p:nvSpPr>
          <p:cNvPr id="20" name="Etiqueta teatre"/>
          <p:cNvSpPr/>
          <p:nvPr/>
        </p:nvSpPr>
        <p:spPr>
          <a:xfrm>
            <a:off x="10259568" y="1929384"/>
            <a:ext cx="859536" cy="384048"/>
          </a:xfrm>
          <a:prstGeom prst="roundRect">
            <a:avLst>
              <a:gd name="adj" fmla="val 50000"/>
            </a:avLst>
          </a:prstGeom>
          <a:solidFill>
            <a:srgbClr val="FFFFFF"/>
          </a:solidFill>
          <a:ln/>
        </p:spPr>
      </p:sp>
      <p:sp>
        <p:nvSpPr>
          <p:cNvPr id="21" name="Text 18"/>
          <p:cNvSpPr txBox="1"/>
          <p:nvPr/>
        </p:nvSpPr>
        <p:spPr>
          <a:xfrm>
            <a:off x="10259568" y="1929384"/>
            <a:ext cx="85953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teatre</a:t>
            </a:r>
            <a:endParaRPr lang="en-US" sz="1500" dirty="0"/>
          </a:p>
        </p:txBody>
      </p:sp>
      <p:sp>
        <p:nvSpPr>
          <p:cNvPr id="22" name="Etiqueta tragèdia"/>
          <p:cNvSpPr/>
          <p:nvPr/>
        </p:nvSpPr>
        <p:spPr>
          <a:xfrm>
            <a:off x="7955280" y="2441448"/>
            <a:ext cx="1042416" cy="384048"/>
          </a:xfrm>
          <a:prstGeom prst="roundRect">
            <a:avLst>
              <a:gd name="adj" fmla="val 50000"/>
            </a:avLst>
          </a:prstGeom>
          <a:solidFill>
            <a:srgbClr val="FFFFFF"/>
          </a:solidFill>
          <a:ln/>
        </p:spPr>
      </p:sp>
      <p:sp>
        <p:nvSpPr>
          <p:cNvPr id="23" name="Text 20"/>
          <p:cNvSpPr txBox="1"/>
          <p:nvPr/>
        </p:nvSpPr>
        <p:spPr>
          <a:xfrm>
            <a:off x="7955280" y="2441448"/>
            <a:ext cx="104241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tragèdia</a:t>
            </a:r>
            <a:endParaRPr lang="en-US" sz="1500" dirty="0"/>
          </a:p>
        </p:txBody>
      </p:sp>
      <p:sp>
        <p:nvSpPr>
          <p:cNvPr id="24" name="Etiqueta filosofia"/>
          <p:cNvSpPr/>
          <p:nvPr/>
        </p:nvSpPr>
        <p:spPr>
          <a:xfrm>
            <a:off x="9107424" y="2441448"/>
            <a:ext cx="1133856" cy="384048"/>
          </a:xfrm>
          <a:prstGeom prst="roundRect">
            <a:avLst>
              <a:gd name="adj" fmla="val 50000"/>
            </a:avLst>
          </a:prstGeom>
          <a:solidFill>
            <a:srgbClr val="FFFFFF"/>
          </a:solidFill>
          <a:ln/>
        </p:spPr>
      </p:sp>
      <p:sp>
        <p:nvSpPr>
          <p:cNvPr id="25" name="Text 22"/>
          <p:cNvSpPr txBox="1"/>
          <p:nvPr/>
        </p:nvSpPr>
        <p:spPr>
          <a:xfrm>
            <a:off x="9107424" y="2441448"/>
            <a:ext cx="113385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filosofia</a:t>
            </a:r>
            <a:endParaRPr lang="en-US" sz="1500" dirty="0"/>
          </a:p>
        </p:txBody>
      </p:sp>
      <p:sp>
        <p:nvSpPr>
          <p:cNvPr id="26" name="Etiqueta història"/>
          <p:cNvSpPr/>
          <p:nvPr/>
        </p:nvSpPr>
        <p:spPr>
          <a:xfrm>
            <a:off x="7955280" y="2953512"/>
            <a:ext cx="1042416" cy="384048"/>
          </a:xfrm>
          <a:prstGeom prst="roundRect">
            <a:avLst>
              <a:gd name="adj" fmla="val 50000"/>
            </a:avLst>
          </a:prstGeom>
          <a:solidFill>
            <a:srgbClr val="FFFFFF"/>
          </a:solidFill>
          <a:ln/>
        </p:spPr>
      </p:sp>
      <p:sp>
        <p:nvSpPr>
          <p:cNvPr id="27" name="Text 24"/>
          <p:cNvSpPr txBox="1"/>
          <p:nvPr/>
        </p:nvSpPr>
        <p:spPr>
          <a:xfrm>
            <a:off x="7955280" y="2953512"/>
            <a:ext cx="104241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història</a:t>
            </a:r>
            <a:endParaRPr lang="en-US" sz="1500" dirty="0"/>
          </a:p>
        </p:txBody>
      </p:sp>
      <p:sp>
        <p:nvSpPr>
          <p:cNvPr id="28" name="Etiqueta geografia"/>
          <p:cNvSpPr/>
          <p:nvPr/>
        </p:nvSpPr>
        <p:spPr>
          <a:xfrm>
            <a:off x="9107424" y="2953512"/>
            <a:ext cx="1133856" cy="384048"/>
          </a:xfrm>
          <a:prstGeom prst="roundRect">
            <a:avLst>
              <a:gd name="adj" fmla="val 50000"/>
            </a:avLst>
          </a:prstGeom>
          <a:solidFill>
            <a:srgbClr val="FFFFFF"/>
          </a:solidFill>
          <a:ln/>
        </p:spPr>
      </p:sp>
      <p:sp>
        <p:nvSpPr>
          <p:cNvPr id="29" name="Text 26"/>
          <p:cNvSpPr txBox="1"/>
          <p:nvPr/>
        </p:nvSpPr>
        <p:spPr>
          <a:xfrm>
            <a:off x="9107424" y="2953512"/>
            <a:ext cx="113385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geografia</a:t>
            </a:r>
            <a:endParaRPr lang="en-US" sz="1500" dirty="0"/>
          </a:p>
        </p:txBody>
      </p:sp>
      <p:sp>
        <p:nvSpPr>
          <p:cNvPr id="30" name="Etiqueta biologia"/>
          <p:cNvSpPr/>
          <p:nvPr/>
        </p:nvSpPr>
        <p:spPr>
          <a:xfrm>
            <a:off x="7955280" y="3465576"/>
            <a:ext cx="1042416" cy="384048"/>
          </a:xfrm>
          <a:prstGeom prst="roundRect">
            <a:avLst>
              <a:gd name="adj" fmla="val 50000"/>
            </a:avLst>
          </a:prstGeom>
          <a:solidFill>
            <a:srgbClr val="FFFFFF"/>
          </a:solidFill>
          <a:ln/>
        </p:spPr>
      </p:sp>
      <p:sp>
        <p:nvSpPr>
          <p:cNvPr id="31" name="Text 28"/>
          <p:cNvSpPr txBox="1"/>
          <p:nvPr/>
        </p:nvSpPr>
        <p:spPr>
          <a:xfrm>
            <a:off x="7955280" y="3465576"/>
            <a:ext cx="104241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biologia</a:t>
            </a:r>
            <a:endParaRPr lang="en-US" sz="1500" dirty="0"/>
          </a:p>
        </p:txBody>
      </p:sp>
      <p:sp>
        <p:nvSpPr>
          <p:cNvPr id="32" name="Etiqueta planeta"/>
          <p:cNvSpPr/>
          <p:nvPr/>
        </p:nvSpPr>
        <p:spPr>
          <a:xfrm>
            <a:off x="9107424" y="3465576"/>
            <a:ext cx="950976" cy="384048"/>
          </a:xfrm>
          <a:prstGeom prst="roundRect">
            <a:avLst>
              <a:gd name="adj" fmla="val 50000"/>
            </a:avLst>
          </a:prstGeom>
          <a:solidFill>
            <a:srgbClr val="FFFFFF"/>
          </a:solidFill>
          <a:ln/>
        </p:spPr>
      </p:sp>
      <p:sp>
        <p:nvSpPr>
          <p:cNvPr id="33" name="Text 30"/>
          <p:cNvSpPr txBox="1"/>
          <p:nvPr/>
        </p:nvSpPr>
        <p:spPr>
          <a:xfrm>
            <a:off x="9107424" y="3465576"/>
            <a:ext cx="95097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planeta</a:t>
            </a:r>
            <a:endParaRPr lang="en-US" sz="1500" dirty="0"/>
          </a:p>
        </p:txBody>
      </p:sp>
      <p:sp>
        <p:nvSpPr>
          <p:cNvPr id="34" name="Etiqueta telèfon"/>
          <p:cNvSpPr/>
          <p:nvPr/>
        </p:nvSpPr>
        <p:spPr>
          <a:xfrm>
            <a:off x="10168128" y="3465576"/>
            <a:ext cx="950976" cy="384048"/>
          </a:xfrm>
          <a:prstGeom prst="roundRect">
            <a:avLst>
              <a:gd name="adj" fmla="val 50000"/>
            </a:avLst>
          </a:prstGeom>
          <a:solidFill>
            <a:srgbClr val="FFFFFF"/>
          </a:solidFill>
          <a:ln/>
        </p:spPr>
      </p:sp>
      <p:sp>
        <p:nvSpPr>
          <p:cNvPr id="35" name="Text 32"/>
          <p:cNvSpPr txBox="1"/>
          <p:nvPr/>
        </p:nvSpPr>
        <p:spPr>
          <a:xfrm>
            <a:off x="10168128" y="3465576"/>
            <a:ext cx="95097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telèfon</a:t>
            </a:r>
            <a:endParaRPr lang="en-US" sz="1500" dirty="0"/>
          </a:p>
        </p:txBody>
      </p:sp>
      <p:sp>
        <p:nvSpPr>
          <p:cNvPr id="36" name="Etiqueta símptoma"/>
          <p:cNvSpPr/>
          <p:nvPr/>
        </p:nvSpPr>
        <p:spPr>
          <a:xfrm>
            <a:off x="7955280" y="3977640"/>
            <a:ext cx="1042416" cy="384048"/>
          </a:xfrm>
          <a:prstGeom prst="roundRect">
            <a:avLst>
              <a:gd name="adj" fmla="val 50000"/>
            </a:avLst>
          </a:prstGeom>
          <a:solidFill>
            <a:srgbClr val="FFFFFF"/>
          </a:solidFill>
          <a:ln/>
        </p:spPr>
      </p:sp>
      <p:sp>
        <p:nvSpPr>
          <p:cNvPr id="37" name="Text 34"/>
          <p:cNvSpPr txBox="1"/>
          <p:nvPr/>
        </p:nvSpPr>
        <p:spPr>
          <a:xfrm>
            <a:off x="7955280" y="3977640"/>
            <a:ext cx="104241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símptoma</a:t>
            </a:r>
            <a:endParaRPr lang="en-US" sz="1500" dirty="0"/>
          </a:p>
        </p:txBody>
      </p:sp>
      <p:sp>
        <p:nvSpPr>
          <p:cNvPr id="38" name="Etiqueta àtom"/>
          <p:cNvSpPr/>
          <p:nvPr/>
        </p:nvSpPr>
        <p:spPr>
          <a:xfrm>
            <a:off x="9107424" y="3977640"/>
            <a:ext cx="676656" cy="384048"/>
          </a:xfrm>
          <a:prstGeom prst="roundRect">
            <a:avLst>
              <a:gd name="adj" fmla="val 50000"/>
            </a:avLst>
          </a:prstGeom>
          <a:solidFill>
            <a:srgbClr val="FFFFFF"/>
          </a:solidFill>
          <a:ln/>
        </p:spPr>
      </p:sp>
      <p:sp>
        <p:nvSpPr>
          <p:cNvPr id="39" name="Text 36"/>
          <p:cNvSpPr txBox="1"/>
          <p:nvPr/>
        </p:nvSpPr>
        <p:spPr>
          <a:xfrm>
            <a:off x="9107424" y="3977640"/>
            <a:ext cx="67665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àtom</a:t>
            </a:r>
            <a:endParaRPr lang="en-US" sz="1500" dirty="0"/>
          </a:p>
        </p:txBody>
      </p:sp>
      <p:sp>
        <p:nvSpPr>
          <p:cNvPr id="40" name="Etiqueta pedagogia"/>
          <p:cNvSpPr/>
          <p:nvPr/>
        </p:nvSpPr>
        <p:spPr>
          <a:xfrm>
            <a:off x="9893808" y="3977640"/>
            <a:ext cx="1133856" cy="384048"/>
          </a:xfrm>
          <a:prstGeom prst="roundRect">
            <a:avLst>
              <a:gd name="adj" fmla="val 50000"/>
            </a:avLst>
          </a:prstGeom>
          <a:solidFill>
            <a:srgbClr val="FFFFFF"/>
          </a:solidFill>
          <a:ln/>
        </p:spPr>
      </p:sp>
      <p:sp>
        <p:nvSpPr>
          <p:cNvPr id="41" name="Text 38"/>
          <p:cNvSpPr txBox="1"/>
          <p:nvPr/>
        </p:nvSpPr>
        <p:spPr>
          <a:xfrm>
            <a:off x="9893808" y="3977640"/>
            <a:ext cx="113385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pedagogia</a:t>
            </a:r>
            <a:endParaRPr lang="en-US" sz="1500" dirty="0"/>
          </a:p>
        </p:txBody>
      </p:sp>
      <p:sp>
        <p:nvSpPr>
          <p:cNvPr id="42" name="Etiqueta marató"/>
          <p:cNvSpPr/>
          <p:nvPr/>
        </p:nvSpPr>
        <p:spPr>
          <a:xfrm>
            <a:off x="7955280" y="4489704"/>
            <a:ext cx="859536" cy="384048"/>
          </a:xfrm>
          <a:prstGeom prst="roundRect">
            <a:avLst>
              <a:gd name="adj" fmla="val 50000"/>
            </a:avLst>
          </a:prstGeom>
          <a:solidFill>
            <a:srgbClr val="FFFFFF"/>
          </a:solidFill>
          <a:ln/>
        </p:spPr>
      </p:sp>
      <p:sp>
        <p:nvSpPr>
          <p:cNvPr id="43" name="Text 40"/>
          <p:cNvSpPr txBox="1"/>
          <p:nvPr/>
        </p:nvSpPr>
        <p:spPr>
          <a:xfrm>
            <a:off x="7955280" y="4489704"/>
            <a:ext cx="85953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marató</a:t>
            </a:r>
            <a:endParaRPr lang="en-US" sz="1500" dirty="0"/>
          </a:p>
        </p:txBody>
      </p:sp>
      <p:sp>
        <p:nvSpPr>
          <p:cNvPr id="44" name="Text 41"/>
          <p:cNvSpPr txBox="1"/>
          <p:nvPr/>
        </p:nvSpPr>
        <p:spPr>
          <a:xfrm>
            <a:off x="7955280" y="5175504"/>
            <a:ext cx="3367735" cy="548640"/>
          </a:xfrm>
          <a:prstGeom prst="rect">
            <a:avLst/>
          </a:prstGeom>
          <a:noFill/>
          <a:ln/>
        </p:spPr>
        <p:txBody>
          <a:bodyPr wrap="square" lIns="0" tIns="0" rIns="0" bIns="0" rtlCol="0" anchor="t"/>
          <a:lstStyle/>
          <a:p>
            <a:pPr indent="0" marL="0">
              <a:buNone/>
            </a:pPr>
            <a:r>
              <a:rPr lang="en-US" sz="1500" dirty="0">
                <a:solidFill>
                  <a:srgbClr val="5F6368"/>
                </a:solidFill>
                <a:latin typeface="Roboto" pitchFamily="34" charset="0"/>
                <a:ea typeface="Roboto" pitchFamily="34" charset="-122"/>
                <a:cs typeface="Roboto" pitchFamily="34" charset="-120"/>
              </a:rPr>
              <a:t>I centenars més, sobretot en ciència i tècnica.</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9</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Què devem als grecs?</a:t>
            </a:r>
            <a:endParaRPr lang="en-US" sz="2800" dirty="0"/>
          </a:p>
        </p:txBody>
      </p:sp>
      <p:sp>
        <p:nvSpPr>
          <p:cNvPr id="5" name="Text 3"/>
          <p:cNvSpPr txBox="1"/>
          <p:nvPr/>
        </p:nvSpPr>
        <p:spPr>
          <a:xfrm>
            <a:off x="548640" y="1371600"/>
            <a:ext cx="11094415" cy="45720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Pocs pobles han deixat una empremta tan profunda. Aquest és el balanç.</a:t>
            </a:r>
            <a:endParaRPr lang="en-US" sz="1800" dirty="0"/>
          </a:p>
        </p:txBody>
      </p:sp>
      <p:sp>
        <p:nvSpPr>
          <p:cNvPr id="6" name="Targeta La democràcia"/>
          <p:cNvSpPr/>
          <p:nvPr/>
        </p:nvSpPr>
        <p:spPr>
          <a:xfrm>
            <a:off x="548640" y="1965960"/>
            <a:ext cx="2602154" cy="1897380"/>
          </a:xfrm>
          <a:prstGeom prst="roundRect">
            <a:avLst>
              <a:gd name="adj" fmla="val 5301"/>
            </a:avLst>
          </a:prstGeom>
          <a:solidFill>
            <a:srgbClr val="FFFFFF"/>
          </a:solidFill>
          <a:ln w="12700">
            <a:solidFill>
              <a:srgbClr val="DADCE0"/>
            </a:solidFill>
            <a:prstDash val="solid"/>
          </a:ln>
        </p:spPr>
      </p:sp>
      <p:sp>
        <p:nvSpPr>
          <p:cNvPr id="7" name="Cercle icona"/>
          <p:cNvSpPr/>
          <p:nvPr/>
        </p:nvSpPr>
        <p:spPr>
          <a:xfrm>
            <a:off x="777240" y="2194560"/>
            <a:ext cx="548640" cy="548640"/>
          </a:xfrm>
          <a:prstGeom prst="ellipse">
            <a:avLst/>
          </a:prstGeom>
          <a:solidFill>
            <a:srgbClr val="E6F4EA"/>
          </a:solidFill>
          <a:ln/>
        </p:spPr>
      </p:sp>
      <p:pic>
        <p:nvPicPr>
          <p:cNvPr id="8" name="Icona TbUsersGroup" descr="/home/claude/work/build/img/ic/TbUsersGroup-g.png">    </p:cNvPr>
          <p:cNvPicPr>
            <a:picLocks noChangeAspect="1"/>
          </p:cNvPicPr>
          <p:nvPr/>
        </p:nvPicPr>
        <p:blipFill>
          <a:blip r:embed="rId1"/>
          <a:stretch>
            <a:fillRect/>
          </a:stretch>
        </p:blipFill>
        <p:spPr>
          <a:xfrm>
            <a:off x="897941" y="2315261"/>
            <a:ext cx="307238" cy="307238"/>
          </a:xfrm>
          <a:prstGeom prst="rect">
            <a:avLst/>
          </a:prstGeom>
        </p:spPr>
      </p:pic>
      <p:sp>
        <p:nvSpPr>
          <p:cNvPr id="9" name="Text 6"/>
          <p:cNvSpPr txBox="1"/>
          <p:nvPr/>
        </p:nvSpPr>
        <p:spPr>
          <a:xfrm>
            <a:off x="1463040" y="2194560"/>
            <a:ext cx="1459154" cy="548640"/>
          </a:xfrm>
          <a:prstGeom prst="rect">
            <a:avLst/>
          </a:prstGeom>
          <a:noFill/>
          <a:ln/>
        </p:spPr>
        <p:txBody>
          <a:bodyPr wrap="square" lIns="0" tIns="0" rIns="0" bIns="0" rtlCol="0" anchor="ctr"/>
          <a:lstStyle/>
          <a:p>
            <a:pPr indent="0" marL="0">
              <a:buNone/>
            </a:pPr>
            <a:r>
              <a:rPr lang="en-US" sz="1700" b="1" dirty="0">
                <a:solidFill>
                  <a:srgbClr val="188038"/>
                </a:solidFill>
                <a:latin typeface="Roboto" pitchFamily="34" charset="0"/>
                <a:ea typeface="Roboto" pitchFamily="34" charset="-122"/>
                <a:cs typeface="Roboto" pitchFamily="34" charset="-120"/>
              </a:rPr>
              <a:t>La democràcia</a:t>
            </a:r>
            <a:endParaRPr lang="en-US" sz="1700" dirty="0"/>
          </a:p>
        </p:txBody>
      </p:sp>
      <p:sp>
        <p:nvSpPr>
          <p:cNvPr id="10" name="Text 7"/>
          <p:cNvSpPr txBox="1"/>
          <p:nvPr/>
        </p:nvSpPr>
        <p:spPr>
          <a:xfrm>
            <a:off x="777240" y="2880360"/>
            <a:ext cx="2144954" cy="84582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I el vocabulari polític. Les idees de ciutadania i de debat públic.</a:t>
            </a:r>
            <a:endParaRPr lang="en-US" sz="1500" dirty="0"/>
          </a:p>
        </p:txBody>
      </p:sp>
      <p:sp>
        <p:nvSpPr>
          <p:cNvPr id="11" name="Targeta La filosofia i la ciència"/>
          <p:cNvSpPr/>
          <p:nvPr/>
        </p:nvSpPr>
        <p:spPr>
          <a:xfrm>
            <a:off x="3379394" y="1965960"/>
            <a:ext cx="2602154" cy="1897380"/>
          </a:xfrm>
          <a:prstGeom prst="roundRect">
            <a:avLst>
              <a:gd name="adj" fmla="val 5301"/>
            </a:avLst>
          </a:prstGeom>
          <a:solidFill>
            <a:srgbClr val="FFFFFF"/>
          </a:solidFill>
          <a:ln w="12700">
            <a:solidFill>
              <a:srgbClr val="DADCE0"/>
            </a:solidFill>
            <a:prstDash val="solid"/>
          </a:ln>
        </p:spPr>
      </p:sp>
      <p:sp>
        <p:nvSpPr>
          <p:cNvPr id="12" name="Cercle icona"/>
          <p:cNvSpPr/>
          <p:nvPr/>
        </p:nvSpPr>
        <p:spPr>
          <a:xfrm>
            <a:off x="3607994" y="2194560"/>
            <a:ext cx="548640" cy="548640"/>
          </a:xfrm>
          <a:prstGeom prst="ellipse">
            <a:avLst/>
          </a:prstGeom>
          <a:solidFill>
            <a:srgbClr val="E6F4EA"/>
          </a:solidFill>
          <a:ln/>
        </p:spPr>
      </p:sp>
      <p:pic>
        <p:nvPicPr>
          <p:cNvPr id="13" name="Icona TbBulb" descr="/home/claude/work/build/img/ic/TbBulb-g.png">    </p:cNvPr>
          <p:cNvPicPr>
            <a:picLocks noChangeAspect="1"/>
          </p:cNvPicPr>
          <p:nvPr/>
        </p:nvPicPr>
        <p:blipFill>
          <a:blip r:embed="rId2"/>
          <a:stretch>
            <a:fillRect/>
          </a:stretch>
        </p:blipFill>
        <p:spPr>
          <a:xfrm>
            <a:off x="3728695" y="2315261"/>
            <a:ext cx="307238" cy="307238"/>
          </a:xfrm>
          <a:prstGeom prst="rect">
            <a:avLst/>
          </a:prstGeom>
        </p:spPr>
      </p:pic>
      <p:sp>
        <p:nvSpPr>
          <p:cNvPr id="14" name="Text 10"/>
          <p:cNvSpPr txBox="1"/>
          <p:nvPr/>
        </p:nvSpPr>
        <p:spPr>
          <a:xfrm>
            <a:off x="4293794" y="2194560"/>
            <a:ext cx="1459154" cy="548640"/>
          </a:xfrm>
          <a:prstGeom prst="rect">
            <a:avLst/>
          </a:prstGeom>
          <a:noFill/>
          <a:ln/>
        </p:spPr>
        <p:txBody>
          <a:bodyPr wrap="square" lIns="0" tIns="0" rIns="0" bIns="0" rtlCol="0" anchor="ctr"/>
          <a:lstStyle/>
          <a:p>
            <a:pPr indent="0" marL="0">
              <a:buNone/>
            </a:pPr>
            <a:r>
              <a:rPr lang="en-US" sz="1700" b="1" dirty="0">
                <a:solidFill>
                  <a:srgbClr val="188038"/>
                </a:solidFill>
                <a:latin typeface="Roboto" pitchFamily="34" charset="0"/>
                <a:ea typeface="Roboto" pitchFamily="34" charset="-122"/>
                <a:cs typeface="Roboto" pitchFamily="34" charset="-120"/>
              </a:rPr>
              <a:t>La filosofia i la ciència</a:t>
            </a:r>
            <a:endParaRPr lang="en-US" sz="1700" dirty="0"/>
          </a:p>
        </p:txBody>
      </p:sp>
      <p:sp>
        <p:nvSpPr>
          <p:cNvPr id="15" name="Text 11"/>
          <p:cNvSpPr txBox="1"/>
          <p:nvPr/>
        </p:nvSpPr>
        <p:spPr>
          <a:xfrm>
            <a:off x="3607994" y="2880360"/>
            <a:ext cx="2144954" cy="84582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El món es pot entendre preguntant, observant i raonant.</a:t>
            </a:r>
            <a:endParaRPr lang="en-US" sz="1500" dirty="0"/>
          </a:p>
        </p:txBody>
      </p:sp>
      <p:sp>
        <p:nvSpPr>
          <p:cNvPr id="16" name="Targeta La llengua"/>
          <p:cNvSpPr/>
          <p:nvPr/>
        </p:nvSpPr>
        <p:spPr>
          <a:xfrm>
            <a:off x="6210148" y="1965960"/>
            <a:ext cx="2602154" cy="1897380"/>
          </a:xfrm>
          <a:prstGeom prst="roundRect">
            <a:avLst>
              <a:gd name="adj" fmla="val 5301"/>
            </a:avLst>
          </a:prstGeom>
          <a:solidFill>
            <a:srgbClr val="FFFFFF"/>
          </a:solidFill>
          <a:ln w="12700">
            <a:solidFill>
              <a:srgbClr val="DADCE0"/>
            </a:solidFill>
            <a:prstDash val="solid"/>
          </a:ln>
        </p:spPr>
      </p:sp>
      <p:sp>
        <p:nvSpPr>
          <p:cNvPr id="17" name="Cercle icona"/>
          <p:cNvSpPr/>
          <p:nvPr/>
        </p:nvSpPr>
        <p:spPr>
          <a:xfrm>
            <a:off x="6438748" y="2194560"/>
            <a:ext cx="548640" cy="548640"/>
          </a:xfrm>
          <a:prstGeom prst="ellipse">
            <a:avLst/>
          </a:prstGeom>
          <a:solidFill>
            <a:srgbClr val="E6F4EA"/>
          </a:solidFill>
          <a:ln/>
        </p:spPr>
      </p:sp>
      <p:pic>
        <p:nvPicPr>
          <p:cNvPr id="18" name="Icona TbAlphabetGreek" descr="/home/claude/work/build/img/ic/TbAlphabetGreek-g.png">    </p:cNvPr>
          <p:cNvPicPr>
            <a:picLocks noChangeAspect="1"/>
          </p:cNvPicPr>
          <p:nvPr/>
        </p:nvPicPr>
        <p:blipFill>
          <a:blip r:embed="rId3"/>
          <a:stretch>
            <a:fillRect/>
          </a:stretch>
        </p:blipFill>
        <p:spPr>
          <a:xfrm>
            <a:off x="6559448" y="2315261"/>
            <a:ext cx="307238" cy="307238"/>
          </a:xfrm>
          <a:prstGeom prst="rect">
            <a:avLst/>
          </a:prstGeom>
        </p:spPr>
      </p:pic>
      <p:sp>
        <p:nvSpPr>
          <p:cNvPr id="19" name="Text 14"/>
          <p:cNvSpPr txBox="1"/>
          <p:nvPr/>
        </p:nvSpPr>
        <p:spPr>
          <a:xfrm>
            <a:off x="7124548" y="2194560"/>
            <a:ext cx="1459154" cy="548640"/>
          </a:xfrm>
          <a:prstGeom prst="rect">
            <a:avLst/>
          </a:prstGeom>
          <a:noFill/>
          <a:ln/>
        </p:spPr>
        <p:txBody>
          <a:bodyPr wrap="square" lIns="0" tIns="0" rIns="0" bIns="0" rtlCol="0" anchor="ctr"/>
          <a:lstStyle/>
          <a:p>
            <a:pPr indent="0" marL="0">
              <a:buNone/>
            </a:pPr>
            <a:r>
              <a:rPr lang="en-US" sz="1700" b="1" dirty="0">
                <a:solidFill>
                  <a:srgbClr val="188038"/>
                </a:solidFill>
                <a:latin typeface="Roboto" pitchFamily="34" charset="0"/>
                <a:ea typeface="Roboto" pitchFamily="34" charset="-122"/>
                <a:cs typeface="Roboto" pitchFamily="34" charset="-120"/>
              </a:rPr>
              <a:t>La llengua</a:t>
            </a:r>
            <a:endParaRPr lang="en-US" sz="1700" dirty="0"/>
          </a:p>
        </p:txBody>
      </p:sp>
      <p:sp>
        <p:nvSpPr>
          <p:cNvPr id="20" name="Text 15"/>
          <p:cNvSpPr txBox="1"/>
          <p:nvPr/>
        </p:nvSpPr>
        <p:spPr>
          <a:xfrm>
            <a:off x="6438748" y="2880360"/>
            <a:ext cx="2144954" cy="84582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Milers de paraules catalanes d'origen grec, sobretot en ciència i tècnica.</a:t>
            </a:r>
            <a:endParaRPr lang="en-US" sz="1500" dirty="0"/>
          </a:p>
        </p:txBody>
      </p:sp>
      <p:sp>
        <p:nvSpPr>
          <p:cNvPr id="21" name="Targeta El teatre"/>
          <p:cNvSpPr/>
          <p:nvPr/>
        </p:nvSpPr>
        <p:spPr>
          <a:xfrm>
            <a:off x="9040901" y="1965960"/>
            <a:ext cx="2602154" cy="1897380"/>
          </a:xfrm>
          <a:prstGeom prst="roundRect">
            <a:avLst>
              <a:gd name="adj" fmla="val 5301"/>
            </a:avLst>
          </a:prstGeom>
          <a:solidFill>
            <a:srgbClr val="FFFFFF"/>
          </a:solidFill>
          <a:ln w="12700">
            <a:solidFill>
              <a:srgbClr val="DADCE0"/>
            </a:solidFill>
            <a:prstDash val="solid"/>
          </a:ln>
        </p:spPr>
      </p:sp>
      <p:sp>
        <p:nvSpPr>
          <p:cNvPr id="22" name="Cercle icona"/>
          <p:cNvSpPr/>
          <p:nvPr/>
        </p:nvSpPr>
        <p:spPr>
          <a:xfrm>
            <a:off x="9269501" y="2194560"/>
            <a:ext cx="548640" cy="548640"/>
          </a:xfrm>
          <a:prstGeom prst="ellipse">
            <a:avLst/>
          </a:prstGeom>
          <a:solidFill>
            <a:srgbClr val="E6F4EA"/>
          </a:solidFill>
          <a:ln/>
        </p:spPr>
      </p:sp>
      <p:pic>
        <p:nvPicPr>
          <p:cNvPr id="23" name="Icona TbMasksTheater" descr="/home/claude/work/build/img/ic/TbMasksTheater-g.png">    </p:cNvPr>
          <p:cNvPicPr>
            <a:picLocks noChangeAspect="1"/>
          </p:cNvPicPr>
          <p:nvPr/>
        </p:nvPicPr>
        <p:blipFill>
          <a:blip r:embed="rId4"/>
          <a:stretch>
            <a:fillRect/>
          </a:stretch>
        </p:blipFill>
        <p:spPr>
          <a:xfrm>
            <a:off x="9390202" y="2315261"/>
            <a:ext cx="307238" cy="307238"/>
          </a:xfrm>
          <a:prstGeom prst="rect">
            <a:avLst/>
          </a:prstGeom>
        </p:spPr>
      </p:pic>
      <p:sp>
        <p:nvSpPr>
          <p:cNvPr id="24" name="Text 18"/>
          <p:cNvSpPr txBox="1"/>
          <p:nvPr/>
        </p:nvSpPr>
        <p:spPr>
          <a:xfrm>
            <a:off x="9955301" y="2194560"/>
            <a:ext cx="1459154" cy="548640"/>
          </a:xfrm>
          <a:prstGeom prst="rect">
            <a:avLst/>
          </a:prstGeom>
          <a:noFill/>
          <a:ln/>
        </p:spPr>
        <p:txBody>
          <a:bodyPr wrap="square" lIns="0" tIns="0" rIns="0" bIns="0" rtlCol="0" anchor="ctr"/>
          <a:lstStyle/>
          <a:p>
            <a:pPr indent="0" marL="0">
              <a:buNone/>
            </a:pPr>
            <a:r>
              <a:rPr lang="en-US" sz="1700" b="1" dirty="0">
                <a:solidFill>
                  <a:srgbClr val="188038"/>
                </a:solidFill>
                <a:latin typeface="Roboto" pitchFamily="34" charset="0"/>
                <a:ea typeface="Roboto" pitchFamily="34" charset="-122"/>
                <a:cs typeface="Roboto" pitchFamily="34" charset="-120"/>
              </a:rPr>
              <a:t>El teatre</a:t>
            </a:r>
            <a:endParaRPr lang="en-US" sz="1700" dirty="0"/>
          </a:p>
        </p:txBody>
      </p:sp>
      <p:sp>
        <p:nvSpPr>
          <p:cNvPr id="25" name="Text 19"/>
          <p:cNvSpPr txBox="1"/>
          <p:nvPr/>
        </p:nvSpPr>
        <p:spPr>
          <a:xfrm>
            <a:off x="9269501" y="2880360"/>
            <a:ext cx="2144954" cy="84582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I els gèneres dramàtics, vius als escenaris i a les pantalles.</a:t>
            </a:r>
            <a:endParaRPr lang="en-US" sz="1500" dirty="0"/>
          </a:p>
        </p:txBody>
      </p:sp>
      <p:sp>
        <p:nvSpPr>
          <p:cNvPr id="26" name="Targeta L'esport"/>
          <p:cNvSpPr/>
          <p:nvPr/>
        </p:nvSpPr>
        <p:spPr>
          <a:xfrm>
            <a:off x="548640" y="4091940"/>
            <a:ext cx="2602154" cy="1897380"/>
          </a:xfrm>
          <a:prstGeom prst="roundRect">
            <a:avLst>
              <a:gd name="adj" fmla="val 5301"/>
            </a:avLst>
          </a:prstGeom>
          <a:solidFill>
            <a:srgbClr val="FFFFFF"/>
          </a:solidFill>
          <a:ln w="12700">
            <a:solidFill>
              <a:srgbClr val="DADCE0"/>
            </a:solidFill>
            <a:prstDash val="solid"/>
          </a:ln>
        </p:spPr>
      </p:sp>
      <p:sp>
        <p:nvSpPr>
          <p:cNvPr id="27" name="Cercle icona"/>
          <p:cNvSpPr/>
          <p:nvPr/>
        </p:nvSpPr>
        <p:spPr>
          <a:xfrm>
            <a:off x="777240" y="4320540"/>
            <a:ext cx="548640" cy="548640"/>
          </a:xfrm>
          <a:prstGeom prst="ellipse">
            <a:avLst/>
          </a:prstGeom>
          <a:solidFill>
            <a:srgbClr val="E6F4EA"/>
          </a:solidFill>
          <a:ln/>
        </p:spPr>
      </p:sp>
      <p:pic>
        <p:nvPicPr>
          <p:cNvPr id="28" name="Icona TbRun" descr="/home/claude/work/build/img/ic/TbRun-g.png">    </p:cNvPr>
          <p:cNvPicPr>
            <a:picLocks noChangeAspect="1"/>
          </p:cNvPicPr>
          <p:nvPr/>
        </p:nvPicPr>
        <p:blipFill>
          <a:blip r:embed="rId5"/>
          <a:stretch>
            <a:fillRect/>
          </a:stretch>
        </p:blipFill>
        <p:spPr>
          <a:xfrm>
            <a:off x="897941" y="4441241"/>
            <a:ext cx="307238" cy="307238"/>
          </a:xfrm>
          <a:prstGeom prst="rect">
            <a:avLst/>
          </a:prstGeom>
        </p:spPr>
      </p:pic>
      <p:sp>
        <p:nvSpPr>
          <p:cNvPr id="29" name="Text 22"/>
          <p:cNvSpPr txBox="1"/>
          <p:nvPr/>
        </p:nvSpPr>
        <p:spPr>
          <a:xfrm>
            <a:off x="1463040" y="4320540"/>
            <a:ext cx="1459154" cy="548640"/>
          </a:xfrm>
          <a:prstGeom prst="rect">
            <a:avLst/>
          </a:prstGeom>
          <a:noFill/>
          <a:ln/>
        </p:spPr>
        <p:txBody>
          <a:bodyPr wrap="square" lIns="0" tIns="0" rIns="0" bIns="0" rtlCol="0" anchor="ctr"/>
          <a:lstStyle/>
          <a:p>
            <a:pPr indent="0" marL="0">
              <a:buNone/>
            </a:pPr>
            <a:r>
              <a:rPr lang="en-US" sz="1700" b="1" dirty="0">
                <a:solidFill>
                  <a:srgbClr val="188038"/>
                </a:solidFill>
                <a:latin typeface="Roboto" pitchFamily="34" charset="0"/>
                <a:ea typeface="Roboto" pitchFamily="34" charset="-122"/>
                <a:cs typeface="Roboto" pitchFamily="34" charset="-120"/>
              </a:rPr>
              <a:t>L'esport</a:t>
            </a:r>
            <a:endParaRPr lang="en-US" sz="1700" dirty="0"/>
          </a:p>
        </p:txBody>
      </p:sp>
      <p:sp>
        <p:nvSpPr>
          <p:cNvPr id="30" name="Text 23"/>
          <p:cNvSpPr txBox="1"/>
          <p:nvPr/>
        </p:nvSpPr>
        <p:spPr>
          <a:xfrm>
            <a:off x="777240" y="5006340"/>
            <a:ext cx="2144954" cy="84582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I els Jocs Olímpics, amb la marató inclosa.</a:t>
            </a:r>
            <a:endParaRPr lang="en-US" sz="1500" dirty="0"/>
          </a:p>
        </p:txBody>
      </p:sp>
      <p:sp>
        <p:nvSpPr>
          <p:cNvPr id="31" name="Targeta L'art i l'arquitectura"/>
          <p:cNvSpPr/>
          <p:nvPr/>
        </p:nvSpPr>
        <p:spPr>
          <a:xfrm>
            <a:off x="3379394" y="4091940"/>
            <a:ext cx="2602154" cy="1897380"/>
          </a:xfrm>
          <a:prstGeom prst="roundRect">
            <a:avLst>
              <a:gd name="adj" fmla="val 5301"/>
            </a:avLst>
          </a:prstGeom>
          <a:solidFill>
            <a:srgbClr val="FFFFFF"/>
          </a:solidFill>
          <a:ln w="12700">
            <a:solidFill>
              <a:srgbClr val="DADCE0"/>
            </a:solidFill>
            <a:prstDash val="solid"/>
          </a:ln>
        </p:spPr>
      </p:sp>
      <p:sp>
        <p:nvSpPr>
          <p:cNvPr id="32" name="Cercle icona"/>
          <p:cNvSpPr/>
          <p:nvPr/>
        </p:nvSpPr>
        <p:spPr>
          <a:xfrm>
            <a:off x="3607994" y="4320540"/>
            <a:ext cx="548640" cy="548640"/>
          </a:xfrm>
          <a:prstGeom prst="ellipse">
            <a:avLst/>
          </a:prstGeom>
          <a:solidFill>
            <a:srgbClr val="E6F4EA"/>
          </a:solidFill>
          <a:ln/>
        </p:spPr>
      </p:sp>
      <p:pic>
        <p:nvPicPr>
          <p:cNvPr id="33" name="Icona TbBuildingBank" descr="/home/claude/work/build/img/ic/TbBuildingBank-g.png">    </p:cNvPr>
          <p:cNvPicPr>
            <a:picLocks noChangeAspect="1"/>
          </p:cNvPicPr>
          <p:nvPr/>
        </p:nvPicPr>
        <p:blipFill>
          <a:blip r:embed="rId6"/>
          <a:stretch>
            <a:fillRect/>
          </a:stretch>
        </p:blipFill>
        <p:spPr>
          <a:xfrm>
            <a:off x="3728695" y="4441241"/>
            <a:ext cx="307238" cy="307238"/>
          </a:xfrm>
          <a:prstGeom prst="rect">
            <a:avLst/>
          </a:prstGeom>
        </p:spPr>
      </p:pic>
      <p:sp>
        <p:nvSpPr>
          <p:cNvPr id="34" name="Text 26"/>
          <p:cNvSpPr txBox="1"/>
          <p:nvPr/>
        </p:nvSpPr>
        <p:spPr>
          <a:xfrm>
            <a:off x="4293794" y="4320540"/>
            <a:ext cx="1459154" cy="548640"/>
          </a:xfrm>
          <a:prstGeom prst="rect">
            <a:avLst/>
          </a:prstGeom>
          <a:noFill/>
          <a:ln/>
        </p:spPr>
        <p:txBody>
          <a:bodyPr wrap="square" lIns="0" tIns="0" rIns="0" bIns="0" rtlCol="0" anchor="ctr"/>
          <a:lstStyle/>
          <a:p>
            <a:pPr indent="0" marL="0">
              <a:buNone/>
            </a:pPr>
            <a:r>
              <a:rPr lang="en-US" sz="1700" b="1" dirty="0">
                <a:solidFill>
                  <a:srgbClr val="188038"/>
                </a:solidFill>
                <a:latin typeface="Roboto" pitchFamily="34" charset="0"/>
                <a:ea typeface="Roboto" pitchFamily="34" charset="-122"/>
                <a:cs typeface="Roboto" pitchFamily="34" charset="-120"/>
              </a:rPr>
              <a:t>L'art i l'arquitectura</a:t>
            </a:r>
            <a:endParaRPr lang="en-US" sz="1700" dirty="0"/>
          </a:p>
        </p:txBody>
      </p:sp>
      <p:sp>
        <p:nvSpPr>
          <p:cNvPr id="35" name="Text 27"/>
          <p:cNvSpPr txBox="1"/>
          <p:nvPr/>
        </p:nvSpPr>
        <p:spPr>
          <a:xfrm>
            <a:off x="3607994" y="5006340"/>
            <a:ext cx="2144954" cy="84582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Els ordres grecs decoren parlaments, museus i bancs de mig món.</a:t>
            </a:r>
            <a:endParaRPr lang="en-US" sz="1500" dirty="0"/>
          </a:p>
        </p:txBody>
      </p:sp>
      <p:sp>
        <p:nvSpPr>
          <p:cNvPr id="36" name="Targeta La història"/>
          <p:cNvSpPr/>
          <p:nvPr/>
        </p:nvSpPr>
        <p:spPr>
          <a:xfrm>
            <a:off x="6210148" y="4091940"/>
            <a:ext cx="2602154" cy="1897380"/>
          </a:xfrm>
          <a:prstGeom prst="roundRect">
            <a:avLst>
              <a:gd name="adj" fmla="val 5301"/>
            </a:avLst>
          </a:prstGeom>
          <a:solidFill>
            <a:srgbClr val="FFFFFF"/>
          </a:solidFill>
          <a:ln w="12700">
            <a:solidFill>
              <a:srgbClr val="DADCE0"/>
            </a:solidFill>
            <a:prstDash val="solid"/>
          </a:ln>
        </p:spPr>
      </p:sp>
      <p:sp>
        <p:nvSpPr>
          <p:cNvPr id="37" name="Cercle icona"/>
          <p:cNvSpPr/>
          <p:nvPr/>
        </p:nvSpPr>
        <p:spPr>
          <a:xfrm>
            <a:off x="6438748" y="4320540"/>
            <a:ext cx="548640" cy="548640"/>
          </a:xfrm>
          <a:prstGeom prst="ellipse">
            <a:avLst/>
          </a:prstGeom>
          <a:solidFill>
            <a:srgbClr val="E6F4EA"/>
          </a:solidFill>
          <a:ln/>
        </p:spPr>
      </p:sp>
      <p:pic>
        <p:nvPicPr>
          <p:cNvPr id="38" name="Icona TbBooks" descr="/home/claude/work/build/img/ic/TbBooks-g.png">    </p:cNvPr>
          <p:cNvPicPr>
            <a:picLocks noChangeAspect="1"/>
          </p:cNvPicPr>
          <p:nvPr/>
        </p:nvPicPr>
        <p:blipFill>
          <a:blip r:embed="rId7"/>
          <a:stretch>
            <a:fillRect/>
          </a:stretch>
        </p:blipFill>
        <p:spPr>
          <a:xfrm>
            <a:off x="6559448" y="4441241"/>
            <a:ext cx="307238" cy="307238"/>
          </a:xfrm>
          <a:prstGeom prst="rect">
            <a:avLst/>
          </a:prstGeom>
        </p:spPr>
      </p:pic>
      <p:sp>
        <p:nvSpPr>
          <p:cNvPr id="39" name="Text 30"/>
          <p:cNvSpPr txBox="1"/>
          <p:nvPr/>
        </p:nvSpPr>
        <p:spPr>
          <a:xfrm>
            <a:off x="7124548" y="4320540"/>
            <a:ext cx="1459154" cy="548640"/>
          </a:xfrm>
          <a:prstGeom prst="rect">
            <a:avLst/>
          </a:prstGeom>
          <a:noFill/>
          <a:ln/>
        </p:spPr>
        <p:txBody>
          <a:bodyPr wrap="square" lIns="0" tIns="0" rIns="0" bIns="0" rtlCol="0" anchor="ctr"/>
          <a:lstStyle/>
          <a:p>
            <a:pPr indent="0" marL="0">
              <a:buNone/>
            </a:pPr>
            <a:r>
              <a:rPr lang="en-US" sz="1700" b="1" dirty="0">
                <a:solidFill>
                  <a:srgbClr val="188038"/>
                </a:solidFill>
                <a:latin typeface="Roboto" pitchFamily="34" charset="0"/>
                <a:ea typeface="Roboto" pitchFamily="34" charset="-122"/>
                <a:cs typeface="Roboto" pitchFamily="34" charset="-120"/>
              </a:rPr>
              <a:t>La història</a:t>
            </a:r>
            <a:endParaRPr lang="en-US" sz="1700" dirty="0"/>
          </a:p>
        </p:txBody>
      </p:sp>
      <p:sp>
        <p:nvSpPr>
          <p:cNvPr id="40" name="Text 31"/>
          <p:cNvSpPr txBox="1"/>
          <p:nvPr/>
        </p:nvSpPr>
        <p:spPr>
          <a:xfrm>
            <a:off x="6438748" y="5006340"/>
            <a:ext cx="2144954" cy="84582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Investigar el passat amb mètode i esperit crític.</a:t>
            </a:r>
            <a:endParaRPr lang="en-US" sz="1500" dirty="0"/>
          </a:p>
        </p:txBody>
      </p:sp>
      <p:sp>
        <p:nvSpPr>
          <p:cNvPr id="41" name="Targeta La mitologia"/>
          <p:cNvSpPr/>
          <p:nvPr/>
        </p:nvSpPr>
        <p:spPr>
          <a:xfrm>
            <a:off x="9040901" y="4091940"/>
            <a:ext cx="2602154" cy="1897380"/>
          </a:xfrm>
          <a:prstGeom prst="roundRect">
            <a:avLst>
              <a:gd name="adj" fmla="val 5301"/>
            </a:avLst>
          </a:prstGeom>
          <a:solidFill>
            <a:srgbClr val="FFFFFF"/>
          </a:solidFill>
          <a:ln w="12700">
            <a:solidFill>
              <a:srgbClr val="DADCE0"/>
            </a:solidFill>
            <a:prstDash val="solid"/>
          </a:ln>
        </p:spPr>
      </p:sp>
      <p:sp>
        <p:nvSpPr>
          <p:cNvPr id="42" name="Cercle icona"/>
          <p:cNvSpPr/>
          <p:nvPr/>
        </p:nvSpPr>
        <p:spPr>
          <a:xfrm>
            <a:off x="9269501" y="4320540"/>
            <a:ext cx="548640" cy="548640"/>
          </a:xfrm>
          <a:prstGeom prst="ellipse">
            <a:avLst/>
          </a:prstGeom>
          <a:solidFill>
            <a:srgbClr val="E6F4EA"/>
          </a:solidFill>
          <a:ln/>
        </p:spPr>
      </p:sp>
      <p:pic>
        <p:nvPicPr>
          <p:cNvPr id="43" name="Icona TbDeviceGamepad2" descr="/home/claude/work/build/img/ic/TbDeviceGamepad2-g.png">    </p:cNvPr>
          <p:cNvPicPr>
            <a:picLocks noChangeAspect="1"/>
          </p:cNvPicPr>
          <p:nvPr/>
        </p:nvPicPr>
        <p:blipFill>
          <a:blip r:embed="rId8"/>
          <a:stretch>
            <a:fillRect/>
          </a:stretch>
        </p:blipFill>
        <p:spPr>
          <a:xfrm>
            <a:off x="9390202" y="4441241"/>
            <a:ext cx="307238" cy="307238"/>
          </a:xfrm>
          <a:prstGeom prst="rect">
            <a:avLst/>
          </a:prstGeom>
        </p:spPr>
      </p:pic>
      <p:sp>
        <p:nvSpPr>
          <p:cNvPr id="44" name="Text 34"/>
          <p:cNvSpPr txBox="1"/>
          <p:nvPr/>
        </p:nvSpPr>
        <p:spPr>
          <a:xfrm>
            <a:off x="9955301" y="4320540"/>
            <a:ext cx="1459154" cy="548640"/>
          </a:xfrm>
          <a:prstGeom prst="rect">
            <a:avLst/>
          </a:prstGeom>
          <a:noFill/>
          <a:ln/>
        </p:spPr>
        <p:txBody>
          <a:bodyPr wrap="square" lIns="0" tIns="0" rIns="0" bIns="0" rtlCol="0" anchor="ctr"/>
          <a:lstStyle/>
          <a:p>
            <a:pPr indent="0" marL="0">
              <a:buNone/>
            </a:pPr>
            <a:r>
              <a:rPr lang="en-US" sz="1700" b="1" dirty="0">
                <a:solidFill>
                  <a:srgbClr val="188038"/>
                </a:solidFill>
                <a:latin typeface="Roboto" pitchFamily="34" charset="0"/>
                <a:ea typeface="Roboto" pitchFamily="34" charset="-122"/>
                <a:cs typeface="Roboto" pitchFamily="34" charset="-120"/>
              </a:rPr>
              <a:t>La mitologia</a:t>
            </a:r>
            <a:endParaRPr lang="en-US" sz="1700" dirty="0"/>
          </a:p>
        </p:txBody>
      </p:sp>
      <p:sp>
        <p:nvSpPr>
          <p:cNvPr id="45" name="Text 35"/>
          <p:cNvSpPr txBox="1"/>
          <p:nvPr/>
        </p:nvSpPr>
        <p:spPr>
          <a:xfrm>
            <a:off x="9269501" y="5006340"/>
            <a:ext cx="2144954" cy="84582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Font de l'art, la literatura, el cinema i els videojocs, de l'Odissea a Percy Jackson.</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9</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Comprova-ho</a:t>
            </a:r>
            <a:endParaRPr lang="en-US" sz="2800" dirty="0"/>
          </a:p>
        </p:txBody>
      </p:sp>
      <p:sp>
        <p:nvSpPr>
          <p:cNvPr id="5" name="Text 3"/>
          <p:cNvSpPr txBox="1"/>
          <p:nvPr/>
        </p:nvSpPr>
        <p:spPr>
          <a:xfrm>
            <a:off x="548640" y="1371600"/>
            <a:ext cx="3657600" cy="320040"/>
          </a:xfrm>
          <a:prstGeom prst="rect">
            <a:avLst/>
          </a:prstGeom>
          <a:noFill/>
          <a:ln/>
        </p:spPr>
        <p:txBody>
          <a:bodyPr wrap="square" lIns="0" tIns="0" rIns="0" bIns="0" rtlCol="0" anchor="t"/>
          <a:lstStyle/>
          <a:p>
            <a:pPr indent="0" marL="0">
              <a:buNone/>
            </a:pPr>
            <a:r>
              <a:rPr lang="en-US" sz="1400" b="1" dirty="0">
                <a:solidFill>
                  <a:srgbClr val="5F6368"/>
                </a:solidFill>
                <a:latin typeface="Roboto" pitchFamily="34" charset="0"/>
                <a:ea typeface="Roboto" pitchFamily="34" charset="-122"/>
                <a:cs typeface="Roboto" pitchFamily="34" charset="-120"/>
              </a:rPr>
              <a:t>Paraules clau</a:t>
            </a:r>
            <a:endParaRPr lang="en-US" sz="1400" dirty="0"/>
          </a:p>
        </p:txBody>
      </p:sp>
      <p:sp>
        <p:nvSpPr>
          <p:cNvPr id="6" name="Etiqueta Llegat"/>
          <p:cNvSpPr/>
          <p:nvPr/>
        </p:nvSpPr>
        <p:spPr>
          <a:xfrm>
            <a:off x="548640" y="1755648"/>
            <a:ext cx="914400" cy="384048"/>
          </a:xfrm>
          <a:prstGeom prst="roundRect">
            <a:avLst>
              <a:gd name="adj" fmla="val 50000"/>
            </a:avLst>
          </a:prstGeom>
          <a:solidFill>
            <a:srgbClr val="E6F4EA"/>
          </a:solidFill>
          <a:ln/>
        </p:spPr>
      </p:sp>
      <p:sp>
        <p:nvSpPr>
          <p:cNvPr id="7" name="Text 5"/>
          <p:cNvSpPr txBox="1"/>
          <p:nvPr/>
        </p:nvSpPr>
        <p:spPr>
          <a:xfrm>
            <a:off x="548640" y="1755648"/>
            <a:ext cx="914400"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Llegat</a:t>
            </a:r>
            <a:endParaRPr lang="en-US" sz="1500" dirty="0"/>
          </a:p>
        </p:txBody>
      </p:sp>
      <p:sp>
        <p:nvSpPr>
          <p:cNvPr id="8" name="Etiqueta Democràcia"/>
          <p:cNvSpPr/>
          <p:nvPr/>
        </p:nvSpPr>
        <p:spPr>
          <a:xfrm>
            <a:off x="1572768" y="1755648"/>
            <a:ext cx="1316736" cy="384048"/>
          </a:xfrm>
          <a:prstGeom prst="roundRect">
            <a:avLst>
              <a:gd name="adj" fmla="val 50000"/>
            </a:avLst>
          </a:prstGeom>
          <a:solidFill>
            <a:srgbClr val="E6F4EA"/>
          </a:solidFill>
          <a:ln/>
        </p:spPr>
      </p:sp>
      <p:sp>
        <p:nvSpPr>
          <p:cNvPr id="9" name="Text 7"/>
          <p:cNvSpPr txBox="1"/>
          <p:nvPr/>
        </p:nvSpPr>
        <p:spPr>
          <a:xfrm>
            <a:off x="1572768" y="1755648"/>
            <a:ext cx="131673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Democràcia</a:t>
            </a:r>
            <a:endParaRPr lang="en-US" sz="1500" dirty="0"/>
          </a:p>
        </p:txBody>
      </p:sp>
      <p:sp>
        <p:nvSpPr>
          <p:cNvPr id="10" name="Etiqueta Filosofia"/>
          <p:cNvSpPr/>
          <p:nvPr/>
        </p:nvSpPr>
        <p:spPr>
          <a:xfrm>
            <a:off x="2999232" y="1755648"/>
            <a:ext cx="1216152" cy="384048"/>
          </a:xfrm>
          <a:prstGeom prst="roundRect">
            <a:avLst>
              <a:gd name="adj" fmla="val 50000"/>
            </a:avLst>
          </a:prstGeom>
          <a:solidFill>
            <a:srgbClr val="E6F4EA"/>
          </a:solidFill>
          <a:ln/>
        </p:spPr>
      </p:sp>
      <p:sp>
        <p:nvSpPr>
          <p:cNvPr id="11" name="Text 9"/>
          <p:cNvSpPr txBox="1"/>
          <p:nvPr/>
        </p:nvSpPr>
        <p:spPr>
          <a:xfrm>
            <a:off x="2999232" y="1755648"/>
            <a:ext cx="1216152"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Filosofia</a:t>
            </a:r>
            <a:endParaRPr lang="en-US" sz="1500" dirty="0"/>
          </a:p>
        </p:txBody>
      </p:sp>
      <p:sp>
        <p:nvSpPr>
          <p:cNvPr id="12" name="Etiqueta Teatre"/>
          <p:cNvSpPr/>
          <p:nvPr/>
        </p:nvSpPr>
        <p:spPr>
          <a:xfrm>
            <a:off x="4325112" y="1755648"/>
            <a:ext cx="914400" cy="384048"/>
          </a:xfrm>
          <a:prstGeom prst="roundRect">
            <a:avLst>
              <a:gd name="adj" fmla="val 50000"/>
            </a:avLst>
          </a:prstGeom>
          <a:solidFill>
            <a:srgbClr val="E6F4EA"/>
          </a:solidFill>
          <a:ln/>
        </p:spPr>
      </p:sp>
      <p:sp>
        <p:nvSpPr>
          <p:cNvPr id="13" name="Text 11"/>
          <p:cNvSpPr txBox="1"/>
          <p:nvPr/>
        </p:nvSpPr>
        <p:spPr>
          <a:xfrm>
            <a:off x="4325112" y="1755648"/>
            <a:ext cx="914400"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Teatre</a:t>
            </a:r>
            <a:endParaRPr lang="en-US" sz="1500" dirty="0"/>
          </a:p>
        </p:txBody>
      </p:sp>
      <p:sp>
        <p:nvSpPr>
          <p:cNvPr id="14" name="Etiqueta Jocs Olímpics"/>
          <p:cNvSpPr/>
          <p:nvPr/>
        </p:nvSpPr>
        <p:spPr>
          <a:xfrm>
            <a:off x="5349240" y="1755648"/>
            <a:ext cx="1618488" cy="384048"/>
          </a:xfrm>
          <a:prstGeom prst="roundRect">
            <a:avLst>
              <a:gd name="adj" fmla="val 50000"/>
            </a:avLst>
          </a:prstGeom>
          <a:solidFill>
            <a:srgbClr val="E6F4EA"/>
          </a:solidFill>
          <a:ln/>
        </p:spPr>
      </p:sp>
      <p:sp>
        <p:nvSpPr>
          <p:cNvPr id="15" name="Text 13"/>
          <p:cNvSpPr txBox="1"/>
          <p:nvPr/>
        </p:nvSpPr>
        <p:spPr>
          <a:xfrm>
            <a:off x="5349240" y="1755648"/>
            <a:ext cx="1618488"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Jocs Olímpics</a:t>
            </a:r>
            <a:endParaRPr lang="en-US" sz="1500" dirty="0"/>
          </a:p>
        </p:txBody>
      </p:sp>
      <p:sp>
        <p:nvSpPr>
          <p:cNvPr id="16" name="Etiqueta Mitologia"/>
          <p:cNvSpPr/>
          <p:nvPr/>
        </p:nvSpPr>
        <p:spPr>
          <a:xfrm>
            <a:off x="7077456" y="1755648"/>
            <a:ext cx="1216152" cy="384048"/>
          </a:xfrm>
          <a:prstGeom prst="roundRect">
            <a:avLst>
              <a:gd name="adj" fmla="val 50000"/>
            </a:avLst>
          </a:prstGeom>
          <a:solidFill>
            <a:srgbClr val="E6F4EA"/>
          </a:solidFill>
          <a:ln/>
        </p:spPr>
      </p:sp>
      <p:sp>
        <p:nvSpPr>
          <p:cNvPr id="17" name="Text 15"/>
          <p:cNvSpPr txBox="1"/>
          <p:nvPr/>
        </p:nvSpPr>
        <p:spPr>
          <a:xfrm>
            <a:off x="7077456" y="1755648"/>
            <a:ext cx="1216152"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Mitologia</a:t>
            </a:r>
            <a:endParaRPr lang="en-US" sz="1500" dirty="0"/>
          </a:p>
        </p:txBody>
      </p:sp>
      <p:sp>
        <p:nvSpPr>
          <p:cNvPr id="18" name="Pregunta 1"/>
          <p:cNvSpPr/>
          <p:nvPr/>
        </p:nvSpPr>
        <p:spPr>
          <a:xfrm>
            <a:off x="548640" y="2514600"/>
            <a:ext cx="11094415" cy="960120"/>
          </a:xfrm>
          <a:prstGeom prst="roundRect">
            <a:avLst>
              <a:gd name="adj" fmla="val 10476"/>
            </a:avLst>
          </a:prstGeom>
          <a:solidFill>
            <a:srgbClr val="FFFFFF"/>
          </a:solidFill>
          <a:ln w="12700">
            <a:solidFill>
              <a:srgbClr val="DADCE0"/>
            </a:solidFill>
            <a:prstDash val="solid"/>
          </a:ln>
        </p:spPr>
      </p:sp>
      <p:sp>
        <p:nvSpPr>
          <p:cNvPr id="19" name="Número 1"/>
          <p:cNvSpPr/>
          <p:nvPr/>
        </p:nvSpPr>
        <p:spPr>
          <a:xfrm>
            <a:off x="822960" y="2766060"/>
            <a:ext cx="457200" cy="457200"/>
          </a:xfrm>
          <a:prstGeom prst="ellipse">
            <a:avLst/>
          </a:prstGeom>
          <a:solidFill>
            <a:srgbClr val="188038"/>
          </a:solidFill>
          <a:ln/>
        </p:spPr>
      </p:sp>
      <p:sp>
        <p:nvSpPr>
          <p:cNvPr id="20" name="Text 18"/>
          <p:cNvSpPr txBox="1"/>
          <p:nvPr/>
        </p:nvSpPr>
        <p:spPr>
          <a:xfrm>
            <a:off x="822960" y="27660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1</a:t>
            </a:r>
            <a:endParaRPr lang="en-US" sz="1700" dirty="0"/>
          </a:p>
        </p:txBody>
      </p:sp>
      <p:sp>
        <p:nvSpPr>
          <p:cNvPr id="21" name="Text 19"/>
          <p:cNvSpPr txBox="1"/>
          <p:nvPr/>
        </p:nvSpPr>
        <p:spPr>
          <a:xfrm>
            <a:off x="1508760" y="2514600"/>
            <a:ext cx="9905695" cy="960120"/>
          </a:xfrm>
          <a:prstGeom prst="rect">
            <a:avLst/>
          </a:prstGeom>
          <a:noFill/>
          <a:ln/>
        </p:spPr>
        <p:txBody>
          <a:bodyPr wrap="square" lIns="0" tIns="0" rIns="0" bIns="0" rtlCol="0" anchor="ctr"/>
          <a:lstStyle/>
          <a:p>
            <a:pPr indent="0" marL="0">
              <a:buNone/>
            </a:pPr>
            <a:r>
              <a:rPr lang="en-US" sz="2000" dirty="0">
                <a:solidFill>
                  <a:srgbClr val="202124"/>
                </a:solidFill>
                <a:latin typeface="Roboto" pitchFamily="34" charset="0"/>
                <a:ea typeface="Roboto" pitchFamily="34" charset="-122"/>
                <a:cs typeface="Roboto" pitchFamily="34" charset="-120"/>
              </a:rPr>
              <a:t>Digues tres paraules catalanes d'origen grec.</a:t>
            </a:r>
            <a:endParaRPr lang="en-US" sz="2000" dirty="0"/>
          </a:p>
        </p:txBody>
      </p:sp>
      <p:sp>
        <p:nvSpPr>
          <p:cNvPr id="22" name="Pregunta 2"/>
          <p:cNvSpPr/>
          <p:nvPr/>
        </p:nvSpPr>
        <p:spPr>
          <a:xfrm>
            <a:off x="548640" y="3657600"/>
            <a:ext cx="11094415" cy="960120"/>
          </a:xfrm>
          <a:prstGeom prst="roundRect">
            <a:avLst>
              <a:gd name="adj" fmla="val 10476"/>
            </a:avLst>
          </a:prstGeom>
          <a:solidFill>
            <a:srgbClr val="FFFFFF"/>
          </a:solidFill>
          <a:ln w="12700">
            <a:solidFill>
              <a:srgbClr val="DADCE0"/>
            </a:solidFill>
            <a:prstDash val="solid"/>
          </a:ln>
        </p:spPr>
      </p:sp>
      <p:sp>
        <p:nvSpPr>
          <p:cNvPr id="23" name="Número 2"/>
          <p:cNvSpPr/>
          <p:nvPr/>
        </p:nvSpPr>
        <p:spPr>
          <a:xfrm>
            <a:off x="822960" y="3909060"/>
            <a:ext cx="457200" cy="457200"/>
          </a:xfrm>
          <a:prstGeom prst="ellipse">
            <a:avLst/>
          </a:prstGeom>
          <a:solidFill>
            <a:srgbClr val="188038"/>
          </a:solidFill>
          <a:ln/>
        </p:spPr>
      </p:sp>
      <p:sp>
        <p:nvSpPr>
          <p:cNvPr id="24" name="Text 22"/>
          <p:cNvSpPr txBox="1"/>
          <p:nvPr/>
        </p:nvSpPr>
        <p:spPr>
          <a:xfrm>
            <a:off x="822960" y="39090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2</a:t>
            </a:r>
            <a:endParaRPr lang="en-US" sz="1700" dirty="0"/>
          </a:p>
        </p:txBody>
      </p:sp>
      <p:sp>
        <p:nvSpPr>
          <p:cNvPr id="25" name="Text 23"/>
          <p:cNvSpPr txBox="1"/>
          <p:nvPr/>
        </p:nvSpPr>
        <p:spPr>
          <a:xfrm>
            <a:off x="1508760" y="3657600"/>
            <a:ext cx="9905695" cy="960120"/>
          </a:xfrm>
          <a:prstGeom prst="rect">
            <a:avLst/>
          </a:prstGeom>
          <a:noFill/>
          <a:ln/>
        </p:spPr>
        <p:txBody>
          <a:bodyPr wrap="square" lIns="0" tIns="0" rIns="0" bIns="0" rtlCol="0" anchor="ctr"/>
          <a:lstStyle/>
          <a:p>
            <a:pPr indent="0" marL="0">
              <a:buNone/>
            </a:pPr>
            <a:r>
              <a:rPr lang="en-US" sz="2000" dirty="0">
                <a:solidFill>
                  <a:srgbClr val="202124"/>
                </a:solidFill>
                <a:latin typeface="Roboto" pitchFamily="34" charset="0"/>
                <a:ea typeface="Roboto" pitchFamily="34" charset="-122"/>
                <a:cs typeface="Roboto" pitchFamily="34" charset="-120"/>
              </a:rPr>
              <a:t>Quin element del llegat grec trobes en una pel·lícula, una sèrie o un videojoc que coneguis?</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68</a:t>
            </a:fld>
            <a:endParaRPr lang="en-US"/>
          </a:p>
        </p:txBody>
      </p:sp>
    </p:spTree>
  </p:cSld>
  <p:clrMapOvr>
    <a:masterClrMapping/>
  </p:clrMapOvr>
</p:sld>
</file>

<file path=ppt/theme/theme1.xml><?xml version="1.0" encoding="utf-8"?>
<a:theme xmlns:a="http://schemas.openxmlformats.org/drawingml/2006/main" name="Professor de socials · 1r ESO">
  <a:themeElements>
    <a:clrScheme name="Professor de socials · 1r ESO">
      <a:dk1>
        <a:srgbClr val="202124"/>
      </a:dk1>
      <a:lt1>
        <a:srgbClr val="FFFFFF"/>
      </a:lt1>
      <a:dk2>
        <a:srgbClr val="5F6368"/>
      </a:dk2>
      <a:lt2>
        <a:srgbClr val="E6F4EA"/>
      </a:lt2>
      <a:accent1>
        <a:srgbClr val="188038"/>
      </a:accent1>
      <a:accent2>
        <a:srgbClr val="12632B"/>
      </a:accent2>
      <a:accent3>
        <a:srgbClr val="DADCE0"/>
      </a:accent3>
      <a:accent4>
        <a:srgbClr val="80868B"/>
      </a:accent4>
      <a:accent5>
        <a:srgbClr val="F6F8FB"/>
      </a:accent5>
      <a:accent6>
        <a:srgbClr val="188038"/>
      </a:accent6>
      <a:hlink>
        <a:srgbClr val="188038"/>
      </a:hlink>
      <a:folHlink>
        <a:srgbClr val="12632B"/>
      </a:folHlink>
    </a:clrScheme>
    <a:fontScheme name="Professor de socials · 1r ESO">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68</Slides>
  <Notes>68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68</vt:i4>
      </vt:variant>
    </vt:vector>
  </HeadingPairs>
  <TitlesOfParts>
    <vt:vector size="7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vector>
  </TitlesOfParts>
  <Company>professordesocials.cat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L'Antiga Grècia</dc:title>
  <dc:subject>PptxGenJS Presentation</dc:subject>
  <dc:creator>Professor de socials</dc:creator>
  <cp:lastModifiedBy>Professor de socials</cp:lastModifiedBy>
  <cp:revision>1</cp:revision>
  <dcterms:created xsi:type="dcterms:W3CDTF">2026-10-12T15:11:16Z</dcterms:created>
  <dcterms:modified xsi:type="dcterms:W3CDTF">2026-10-12T15:11:16Z</dcterms:modified>
</cp:coreProperties>
</file>